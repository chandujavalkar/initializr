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embeddedFontLst>
    <p:embeddedFont>
      <p:font typeface="Plus Jakarta Sans ExtraBold"/>
      <p:bold r:id="rId38"/>
      <p:boldItalic r:id="rId39"/>
    </p:embeddedFont>
    <p:embeddedFont>
      <p:font typeface="Plus Jakarta Sans"/>
      <p:regular r:id="rId40"/>
      <p:bold r:id="rId41"/>
      <p:italic r:id="rId42"/>
      <p:boldItalic r:id="rId43"/>
    </p:embeddedFont>
    <p:embeddedFont>
      <p:font typeface="JetBrains Mono SemiBold"/>
      <p:regular r:id="rId44"/>
      <p:bold r:id="rId45"/>
      <p:italic r:id="rId46"/>
      <p:boldItalic r:id="rId47"/>
    </p:embeddedFont>
    <p:embeddedFont>
      <p:font typeface="Plus Jakarta Sans SemiBold"/>
      <p:regular r:id="rId48"/>
      <p:bold r:id="rId49"/>
      <p:italic r:id="rId50"/>
      <p:boldItalic r:id="rId51"/>
    </p:embeddedFont>
    <p:embeddedFont>
      <p:font typeface="JetBrains Mon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82E842-8FCA-41A0-AF41-31C70471DD3A}">
  <a:tblStyle styleId="{4082E842-8FCA-41A0-AF41-31C70471DD3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regular.fntdata"/><Relationship Id="rId42" Type="http://schemas.openxmlformats.org/officeDocument/2006/relationships/font" Target="fonts/PlusJakartaSans-italic.fntdata"/><Relationship Id="rId41" Type="http://schemas.openxmlformats.org/officeDocument/2006/relationships/font" Target="fonts/PlusJakartaSans-bold.fntdata"/><Relationship Id="rId44" Type="http://schemas.openxmlformats.org/officeDocument/2006/relationships/font" Target="fonts/JetBrainsMonoSemiBold-regular.fntdata"/><Relationship Id="rId43" Type="http://schemas.openxmlformats.org/officeDocument/2006/relationships/font" Target="fonts/PlusJakartaSans-boldItalic.fntdata"/><Relationship Id="rId46" Type="http://schemas.openxmlformats.org/officeDocument/2006/relationships/font" Target="fonts/JetBrainsMonoSemiBold-italic.fntdata"/><Relationship Id="rId45" Type="http://schemas.openxmlformats.org/officeDocument/2006/relationships/font" Target="fonts/JetBrainsMono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lusJakartaSansSemiBold-regular.fntdata"/><Relationship Id="rId47" Type="http://schemas.openxmlformats.org/officeDocument/2006/relationships/font" Target="fonts/JetBrainsMonoSemiBold-boldItalic.fntdata"/><Relationship Id="rId49" Type="http://schemas.openxmlformats.org/officeDocument/2006/relationships/font" Target="fonts/PlusJakartaSansSemi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PlusJakartaSansExtraBold-boldItalic.fntdata"/><Relationship Id="rId38" Type="http://schemas.openxmlformats.org/officeDocument/2006/relationships/font" Target="fonts/PlusJakartaSansExtraBold-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SemiBold-boldItalic.fntdata"/><Relationship Id="rId50" Type="http://schemas.openxmlformats.org/officeDocument/2006/relationships/font" Target="fonts/PlusJakartaSansSemiBold-italic.fntdata"/><Relationship Id="rId53" Type="http://schemas.openxmlformats.org/officeDocument/2006/relationships/font" Target="fonts/JetBrainsMono-bold.fntdata"/><Relationship Id="rId52" Type="http://schemas.openxmlformats.org/officeDocument/2006/relationships/font" Target="fonts/JetBrainsMono-regular.fntdata"/><Relationship Id="rId11" Type="http://schemas.openxmlformats.org/officeDocument/2006/relationships/slide" Target="slides/slide5.xml"/><Relationship Id="rId55" Type="http://schemas.openxmlformats.org/officeDocument/2006/relationships/font" Target="fonts/JetBrainsMono-boldItalic.fntdata"/><Relationship Id="rId10" Type="http://schemas.openxmlformats.org/officeDocument/2006/relationships/slide" Target="slides/slide4.xml"/><Relationship Id="rId54" Type="http://schemas.openxmlformats.org/officeDocument/2006/relationships/font" Target="fonts/JetBrainsMon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4.png"/><Relationship Id="rId9" Type="http://schemas.openxmlformats.org/officeDocument/2006/relationships/image" Target="../media/image25.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 Id="rId10" Type="http://schemas.openxmlformats.org/officeDocument/2006/relationships/image" Target="../media/image19.png"/><Relationship Id="rId9" Type="http://schemas.openxmlformats.org/officeDocument/2006/relationships/image" Target="../media/image28.png"/><Relationship Id="rId5" Type="http://schemas.openxmlformats.org/officeDocument/2006/relationships/image" Target="../media/image22.png"/><Relationship Id="rId6" Type="http://schemas.openxmlformats.org/officeDocument/2006/relationships/image" Target="../media/image35.png"/><Relationship Id="rId7" Type="http://schemas.openxmlformats.org/officeDocument/2006/relationships/image" Target="../media/image4.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20" Type="http://schemas.openxmlformats.org/officeDocument/2006/relationships/image" Target="../media/image30.png"/><Relationship Id="rId22" Type="http://schemas.openxmlformats.org/officeDocument/2006/relationships/image" Target="../media/image26.png"/><Relationship Id="rId21" Type="http://schemas.openxmlformats.org/officeDocument/2006/relationships/image" Target="../media/image42.png"/><Relationship Id="rId24" Type="http://schemas.openxmlformats.org/officeDocument/2006/relationships/image" Target="../media/image39.png"/><Relationship Id="rId23"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4.png"/><Relationship Id="rId26" Type="http://schemas.openxmlformats.org/officeDocument/2006/relationships/image" Target="../media/image47.png"/><Relationship Id="rId25" Type="http://schemas.openxmlformats.org/officeDocument/2006/relationships/image" Target="../media/image29.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24.png"/><Relationship Id="rId8" Type="http://schemas.openxmlformats.org/officeDocument/2006/relationships/image" Target="../media/image32.png"/><Relationship Id="rId11" Type="http://schemas.openxmlformats.org/officeDocument/2006/relationships/image" Target="../media/image51.png"/><Relationship Id="rId10" Type="http://schemas.openxmlformats.org/officeDocument/2006/relationships/image" Target="../media/image15.png"/><Relationship Id="rId13" Type="http://schemas.openxmlformats.org/officeDocument/2006/relationships/image" Target="../media/image31.png"/><Relationship Id="rId12" Type="http://schemas.openxmlformats.org/officeDocument/2006/relationships/image" Target="../media/image17.png"/><Relationship Id="rId15" Type="http://schemas.openxmlformats.org/officeDocument/2006/relationships/image" Target="../media/image18.png"/><Relationship Id="rId14" Type="http://schemas.openxmlformats.org/officeDocument/2006/relationships/image" Target="../media/image37.png"/><Relationship Id="rId17" Type="http://schemas.openxmlformats.org/officeDocument/2006/relationships/image" Target="../media/image36.png"/><Relationship Id="rId16" Type="http://schemas.openxmlformats.org/officeDocument/2006/relationships/image" Target="../media/image23.png"/><Relationship Id="rId19" Type="http://schemas.openxmlformats.org/officeDocument/2006/relationships/image" Target="../media/image27.png"/><Relationship Id="rId18" Type="http://schemas.openxmlformats.org/officeDocument/2006/relationships/image" Target="../media/image38.png"/></Relationships>
</file>

<file path=ppt/slides/_rels/slide6.xml.rels><?xml version="1.0" encoding="UTF-8" standalone="yes"?><Relationships xmlns="http://schemas.openxmlformats.org/package/2006/relationships"><Relationship Id="rId20" Type="http://schemas.openxmlformats.org/officeDocument/2006/relationships/image" Target="../media/image65.png"/><Relationship Id="rId22" Type="http://schemas.openxmlformats.org/officeDocument/2006/relationships/image" Target="../media/image56.png"/><Relationship Id="rId21" Type="http://schemas.openxmlformats.org/officeDocument/2006/relationships/image" Target="../media/image60.png"/><Relationship Id="rId24" Type="http://schemas.openxmlformats.org/officeDocument/2006/relationships/image" Target="../media/image53.png"/><Relationship Id="rId23"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5.png"/><Relationship Id="rId9" Type="http://schemas.openxmlformats.org/officeDocument/2006/relationships/image" Target="../media/image41.png"/><Relationship Id="rId26" Type="http://schemas.openxmlformats.org/officeDocument/2006/relationships/image" Target="../media/image55.png"/><Relationship Id="rId25" Type="http://schemas.openxmlformats.org/officeDocument/2006/relationships/image" Target="../media/image54.png"/><Relationship Id="rId27" Type="http://schemas.openxmlformats.org/officeDocument/2006/relationships/image" Target="../media/image57.png"/><Relationship Id="rId5" Type="http://schemas.openxmlformats.org/officeDocument/2006/relationships/image" Target="../media/image43.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40.png"/><Relationship Id="rId11" Type="http://schemas.openxmlformats.org/officeDocument/2006/relationships/image" Target="../media/image68.png"/><Relationship Id="rId10" Type="http://schemas.openxmlformats.org/officeDocument/2006/relationships/image" Target="../media/image4.png"/><Relationship Id="rId13" Type="http://schemas.openxmlformats.org/officeDocument/2006/relationships/image" Target="../media/image58.png"/><Relationship Id="rId12" Type="http://schemas.openxmlformats.org/officeDocument/2006/relationships/image" Target="../media/image61.png"/><Relationship Id="rId15" Type="http://schemas.openxmlformats.org/officeDocument/2006/relationships/image" Target="../media/image50.png"/><Relationship Id="rId14" Type="http://schemas.openxmlformats.org/officeDocument/2006/relationships/image" Target="../media/image48.png"/><Relationship Id="rId17" Type="http://schemas.openxmlformats.org/officeDocument/2006/relationships/image" Target="../media/image49.png"/><Relationship Id="rId16" Type="http://schemas.openxmlformats.org/officeDocument/2006/relationships/image" Target="../media/image46.png"/><Relationship Id="rId19" Type="http://schemas.openxmlformats.org/officeDocument/2006/relationships/image" Target="../media/image71.png"/><Relationship Id="rId18" Type="http://schemas.openxmlformats.org/officeDocument/2006/relationships/image" Target="../media/image7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97.png"/><Relationship Id="rId9" Type="http://schemas.openxmlformats.org/officeDocument/2006/relationships/image" Target="../media/image4.png"/><Relationship Id="rId5" Type="http://schemas.openxmlformats.org/officeDocument/2006/relationships/image" Target="../media/image59.png"/><Relationship Id="rId6" Type="http://schemas.openxmlformats.org/officeDocument/2006/relationships/image" Target="../media/image70.png"/><Relationship Id="rId7" Type="http://schemas.openxmlformats.org/officeDocument/2006/relationships/image" Target="../media/image52.png"/><Relationship Id="rId8" Type="http://schemas.openxmlformats.org/officeDocument/2006/relationships/image" Target="../media/image72.png"/><Relationship Id="rId11" Type="http://schemas.openxmlformats.org/officeDocument/2006/relationships/image" Target="../media/image66.png"/><Relationship Id="rId10" Type="http://schemas.openxmlformats.org/officeDocument/2006/relationships/image" Target="../media/image87.png"/><Relationship Id="rId13" Type="http://schemas.openxmlformats.org/officeDocument/2006/relationships/image" Target="../media/image67.png"/><Relationship Id="rId12" Type="http://schemas.openxmlformats.org/officeDocument/2006/relationships/image" Target="../media/image62.png"/><Relationship Id="rId15" Type="http://schemas.openxmlformats.org/officeDocument/2006/relationships/image" Target="../media/image69.png"/><Relationship Id="rId14" Type="http://schemas.openxmlformats.org/officeDocument/2006/relationships/image" Target="../media/image78.png"/><Relationship Id="rId17" Type="http://schemas.openxmlformats.org/officeDocument/2006/relationships/image" Target="../media/image75.png"/><Relationship Id="rId16" Type="http://schemas.openxmlformats.org/officeDocument/2006/relationships/image" Target="../media/image64.png"/><Relationship Id="rId19" Type="http://schemas.openxmlformats.org/officeDocument/2006/relationships/image" Target="../media/image76.png"/><Relationship Id="rId18" Type="http://schemas.openxmlformats.org/officeDocument/2006/relationships/image" Target="../media/image8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3.png"/><Relationship Id="rId6" Type="http://schemas.openxmlformats.org/officeDocument/2006/relationships/image" Target="../media/image102.png"/><Relationship Id="rId7" Type="http://schemas.openxmlformats.org/officeDocument/2006/relationships/image" Target="../media/image10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7.png"/><Relationship Id="rId9" Type="http://schemas.openxmlformats.org/officeDocument/2006/relationships/image" Target="../media/image95.png"/><Relationship Id="rId5" Type="http://schemas.openxmlformats.org/officeDocument/2006/relationships/image" Target="../media/image4.png"/><Relationship Id="rId6" Type="http://schemas.openxmlformats.org/officeDocument/2006/relationships/image" Target="../media/image85.png"/><Relationship Id="rId7" Type="http://schemas.openxmlformats.org/officeDocument/2006/relationships/image" Target="../media/image81.png"/><Relationship Id="rId8" Type="http://schemas.openxmlformats.org/officeDocument/2006/relationships/image" Target="../media/image79.png"/><Relationship Id="rId11" Type="http://schemas.openxmlformats.org/officeDocument/2006/relationships/image" Target="../media/image96.png"/><Relationship Id="rId10" Type="http://schemas.openxmlformats.org/officeDocument/2006/relationships/image" Target="../media/image91.png"/><Relationship Id="rId13" Type="http://schemas.openxmlformats.org/officeDocument/2006/relationships/image" Target="../media/image86.png"/><Relationship Id="rId12" Type="http://schemas.openxmlformats.org/officeDocument/2006/relationships/image" Target="../media/image83.png"/><Relationship Id="rId15" Type="http://schemas.openxmlformats.org/officeDocument/2006/relationships/image" Target="../media/image92.png"/><Relationship Id="rId14" Type="http://schemas.openxmlformats.org/officeDocument/2006/relationships/image" Target="../media/image80.png"/><Relationship Id="rId17" Type="http://schemas.openxmlformats.org/officeDocument/2006/relationships/image" Target="../media/image73.png"/><Relationship Id="rId16" Type="http://schemas.openxmlformats.org/officeDocument/2006/relationships/image" Target="../media/image84.png"/><Relationship Id="rId18" Type="http://schemas.openxmlformats.org/officeDocument/2006/relationships/image" Target="../media/image8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8.png"/><Relationship Id="rId9" Type="http://schemas.openxmlformats.org/officeDocument/2006/relationships/image" Target="../media/image93.png"/><Relationship Id="rId5" Type="http://schemas.openxmlformats.org/officeDocument/2006/relationships/image" Target="../media/image90.png"/><Relationship Id="rId6" Type="http://schemas.openxmlformats.org/officeDocument/2006/relationships/image" Target="../media/image99.png"/><Relationship Id="rId7" Type="http://schemas.openxmlformats.org/officeDocument/2006/relationships/image" Target="../media/image94.png"/><Relationship Id="rId8" Type="http://schemas.openxmlformats.org/officeDocument/2006/relationships/image" Target="../media/image4.png"/><Relationship Id="rId11" Type="http://schemas.openxmlformats.org/officeDocument/2006/relationships/image" Target="../media/image89.png"/><Relationship Id="rId10" Type="http://schemas.openxmlformats.org/officeDocument/2006/relationships/image" Target="../media/image7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98.png"/><Relationship Id="rId5" Type="http://schemas.openxmlformats.org/officeDocument/2006/relationships/image" Target="../media/image4.png"/><Relationship Id="rId6" Type="http://schemas.openxmlformats.org/officeDocument/2006/relationships/image" Target="../media/image125.png"/><Relationship Id="rId7" Type="http://schemas.openxmlformats.org/officeDocument/2006/relationships/image" Target="../media/image101.png"/><Relationship Id="rId8" Type="http://schemas.openxmlformats.org/officeDocument/2006/relationships/image" Target="../media/image10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00.png"/><Relationship Id="rId5" Type="http://schemas.openxmlformats.org/officeDocument/2006/relationships/image" Target="../media/image4.png"/><Relationship Id="rId6" Type="http://schemas.openxmlformats.org/officeDocument/2006/relationships/image" Target="../media/image107.png"/><Relationship Id="rId7" Type="http://schemas.openxmlformats.org/officeDocument/2006/relationships/image" Target="../media/image73.png"/><Relationship Id="rId8" Type="http://schemas.openxmlformats.org/officeDocument/2006/relationships/image" Target="../media/image8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05.png"/><Relationship Id="rId9" Type="http://schemas.openxmlformats.org/officeDocument/2006/relationships/image" Target="../media/image104.png"/><Relationship Id="rId5" Type="http://schemas.openxmlformats.org/officeDocument/2006/relationships/image" Target="../media/image106.png"/><Relationship Id="rId6" Type="http://schemas.openxmlformats.org/officeDocument/2006/relationships/image" Target="../media/image4.png"/><Relationship Id="rId7" Type="http://schemas.openxmlformats.org/officeDocument/2006/relationships/image" Target="../media/image108.png"/><Relationship Id="rId8" Type="http://schemas.openxmlformats.org/officeDocument/2006/relationships/image" Target="../media/image10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14.png"/><Relationship Id="rId9" Type="http://schemas.openxmlformats.org/officeDocument/2006/relationships/image" Target="../media/image4.png"/><Relationship Id="rId5" Type="http://schemas.openxmlformats.org/officeDocument/2006/relationships/image" Target="../media/image118.png"/><Relationship Id="rId6" Type="http://schemas.openxmlformats.org/officeDocument/2006/relationships/image" Target="../media/image113.png"/><Relationship Id="rId7" Type="http://schemas.openxmlformats.org/officeDocument/2006/relationships/image" Target="../media/image117.png"/><Relationship Id="rId8" Type="http://schemas.openxmlformats.org/officeDocument/2006/relationships/image" Target="../media/image111.png"/><Relationship Id="rId11" Type="http://schemas.openxmlformats.org/officeDocument/2006/relationships/image" Target="../media/image101.png"/><Relationship Id="rId10" Type="http://schemas.openxmlformats.org/officeDocument/2006/relationships/image" Target="../media/image122.png"/><Relationship Id="rId12" Type="http://schemas.openxmlformats.org/officeDocument/2006/relationships/image" Target="../media/image10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3.png"/><Relationship Id="rId6" Type="http://schemas.openxmlformats.org/officeDocument/2006/relationships/image" Target="../media/image119.png"/><Relationship Id="rId7" Type="http://schemas.openxmlformats.org/officeDocument/2006/relationships/image" Target="../media/image8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12.png"/><Relationship Id="rId9" Type="http://schemas.openxmlformats.org/officeDocument/2006/relationships/image" Target="../media/image4.png"/><Relationship Id="rId5" Type="http://schemas.openxmlformats.org/officeDocument/2006/relationships/image" Target="../media/image124.png"/><Relationship Id="rId6" Type="http://schemas.openxmlformats.org/officeDocument/2006/relationships/image" Target="../media/image110.png"/><Relationship Id="rId7" Type="http://schemas.openxmlformats.org/officeDocument/2006/relationships/image" Target="../media/image115.png"/><Relationship Id="rId8" Type="http://schemas.openxmlformats.org/officeDocument/2006/relationships/image" Target="../media/image141.png"/><Relationship Id="rId11" Type="http://schemas.openxmlformats.org/officeDocument/2006/relationships/image" Target="../media/image132.png"/><Relationship Id="rId10" Type="http://schemas.openxmlformats.org/officeDocument/2006/relationships/image" Target="../media/image139.png"/><Relationship Id="rId13" Type="http://schemas.openxmlformats.org/officeDocument/2006/relationships/image" Target="../media/image156.png"/><Relationship Id="rId12" Type="http://schemas.openxmlformats.org/officeDocument/2006/relationships/image" Target="../media/image73.png"/><Relationship Id="rId14" Type="http://schemas.openxmlformats.org/officeDocument/2006/relationships/image" Target="../media/image8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16.png"/><Relationship Id="rId9" Type="http://schemas.openxmlformats.org/officeDocument/2006/relationships/image" Target="../media/image134.png"/><Relationship Id="rId5" Type="http://schemas.openxmlformats.org/officeDocument/2006/relationships/image" Target="../media/image129.png"/><Relationship Id="rId6" Type="http://schemas.openxmlformats.org/officeDocument/2006/relationships/image" Target="../media/image121.png"/><Relationship Id="rId7" Type="http://schemas.openxmlformats.org/officeDocument/2006/relationships/image" Target="../media/image120.png"/><Relationship Id="rId8" Type="http://schemas.openxmlformats.org/officeDocument/2006/relationships/image" Target="../media/image123.png"/><Relationship Id="rId11" Type="http://schemas.openxmlformats.org/officeDocument/2006/relationships/image" Target="../media/image4.png"/><Relationship Id="rId10" Type="http://schemas.openxmlformats.org/officeDocument/2006/relationships/image" Target="../media/image126.png"/><Relationship Id="rId13" Type="http://schemas.openxmlformats.org/officeDocument/2006/relationships/image" Target="../media/image154.png"/><Relationship Id="rId12" Type="http://schemas.openxmlformats.org/officeDocument/2006/relationships/image" Target="../media/image164.png"/><Relationship Id="rId15" Type="http://schemas.openxmlformats.org/officeDocument/2006/relationships/image" Target="../media/image174.png"/><Relationship Id="rId14" Type="http://schemas.openxmlformats.org/officeDocument/2006/relationships/image" Target="../media/image133.png"/><Relationship Id="rId17" Type="http://schemas.openxmlformats.org/officeDocument/2006/relationships/image" Target="../media/image76.png"/><Relationship Id="rId16" Type="http://schemas.openxmlformats.org/officeDocument/2006/relationships/image" Target="../media/image130.png"/><Relationship Id="rId18" Type="http://schemas.openxmlformats.org/officeDocument/2006/relationships/image" Target="../media/image1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27.png"/><Relationship Id="rId9" Type="http://schemas.openxmlformats.org/officeDocument/2006/relationships/image" Target="../media/image4.png"/><Relationship Id="rId5" Type="http://schemas.openxmlformats.org/officeDocument/2006/relationships/image" Target="../media/image128.png"/><Relationship Id="rId6" Type="http://schemas.openxmlformats.org/officeDocument/2006/relationships/image" Target="../media/image183.png"/><Relationship Id="rId7" Type="http://schemas.openxmlformats.org/officeDocument/2006/relationships/image" Target="../media/image136.png"/><Relationship Id="rId8" Type="http://schemas.openxmlformats.org/officeDocument/2006/relationships/image" Target="../media/image1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31.png"/><Relationship Id="rId5" Type="http://schemas.openxmlformats.org/officeDocument/2006/relationships/image" Target="../media/image138.png"/><Relationship Id="rId6" Type="http://schemas.openxmlformats.org/officeDocument/2006/relationships/image" Target="../media/image137.png"/><Relationship Id="rId7" Type="http://schemas.openxmlformats.org/officeDocument/2006/relationships/image" Target="../media/image147.png"/><Relationship Id="rId8"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45.png"/><Relationship Id="rId9" Type="http://schemas.openxmlformats.org/officeDocument/2006/relationships/image" Target="../media/image146.png"/><Relationship Id="rId5" Type="http://schemas.openxmlformats.org/officeDocument/2006/relationships/image" Target="../media/image140.png"/><Relationship Id="rId6" Type="http://schemas.openxmlformats.org/officeDocument/2006/relationships/image" Target="../media/image4.png"/><Relationship Id="rId7" Type="http://schemas.openxmlformats.org/officeDocument/2006/relationships/image" Target="../media/image144.png"/><Relationship Id="rId8" Type="http://schemas.openxmlformats.org/officeDocument/2006/relationships/image" Target="../media/image173.png"/><Relationship Id="rId11" Type="http://schemas.openxmlformats.org/officeDocument/2006/relationships/image" Target="../media/image148.png"/><Relationship Id="rId10" Type="http://schemas.openxmlformats.org/officeDocument/2006/relationships/image" Target="../media/image157.png"/><Relationship Id="rId13" Type="http://schemas.openxmlformats.org/officeDocument/2006/relationships/image" Target="../media/image168.png"/><Relationship Id="rId12" Type="http://schemas.openxmlformats.org/officeDocument/2006/relationships/image" Target="../media/image150.png"/><Relationship Id="rId15" Type="http://schemas.openxmlformats.org/officeDocument/2006/relationships/image" Target="../media/image143.png"/><Relationship Id="rId14" Type="http://schemas.openxmlformats.org/officeDocument/2006/relationships/image" Target="../media/image1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60.png"/><Relationship Id="rId9" Type="http://schemas.openxmlformats.org/officeDocument/2006/relationships/image" Target="../media/image151.png"/><Relationship Id="rId5" Type="http://schemas.openxmlformats.org/officeDocument/2006/relationships/image" Target="../media/image153.png"/><Relationship Id="rId6" Type="http://schemas.openxmlformats.org/officeDocument/2006/relationships/image" Target="../media/image158.png"/><Relationship Id="rId7" Type="http://schemas.openxmlformats.org/officeDocument/2006/relationships/image" Target="../media/image4.png"/><Relationship Id="rId8" Type="http://schemas.openxmlformats.org/officeDocument/2006/relationships/image" Target="../media/image171.png"/><Relationship Id="rId11" Type="http://schemas.openxmlformats.org/officeDocument/2006/relationships/image" Target="../media/image159.png"/><Relationship Id="rId10" Type="http://schemas.openxmlformats.org/officeDocument/2006/relationships/image" Target="../media/image155.png"/><Relationship Id="rId13" Type="http://schemas.openxmlformats.org/officeDocument/2006/relationships/image" Target="../media/image167.png"/><Relationship Id="rId12" Type="http://schemas.openxmlformats.org/officeDocument/2006/relationships/image" Target="../media/image152.png"/><Relationship Id="rId15" Type="http://schemas.openxmlformats.org/officeDocument/2006/relationships/image" Target="../media/image178.png"/><Relationship Id="rId14" Type="http://schemas.openxmlformats.org/officeDocument/2006/relationships/image" Target="../media/image172.png"/><Relationship Id="rId16" Type="http://schemas.openxmlformats.org/officeDocument/2006/relationships/image" Target="../media/image17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66.png"/><Relationship Id="rId9" Type="http://schemas.openxmlformats.org/officeDocument/2006/relationships/image" Target="../media/image162.png"/><Relationship Id="rId5" Type="http://schemas.openxmlformats.org/officeDocument/2006/relationships/image" Target="../media/image161.png"/><Relationship Id="rId6" Type="http://schemas.openxmlformats.org/officeDocument/2006/relationships/image" Target="../media/image175.png"/><Relationship Id="rId7" Type="http://schemas.openxmlformats.org/officeDocument/2006/relationships/image" Target="../media/image165.png"/><Relationship Id="rId8" Type="http://schemas.openxmlformats.org/officeDocument/2006/relationships/image" Target="../media/image210.png"/><Relationship Id="rId11" Type="http://schemas.openxmlformats.org/officeDocument/2006/relationships/image" Target="../media/image163.png"/><Relationship Id="rId10" Type="http://schemas.openxmlformats.org/officeDocument/2006/relationships/image" Target="../media/image169.png"/><Relationship Id="rId13" Type="http://schemas.openxmlformats.org/officeDocument/2006/relationships/image" Target="../media/image181.png"/><Relationship Id="rId12" Type="http://schemas.openxmlformats.org/officeDocument/2006/relationships/image" Target="../media/image4.png"/><Relationship Id="rId14" Type="http://schemas.openxmlformats.org/officeDocument/2006/relationships/image" Target="../media/image1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208.png"/><Relationship Id="rId9" Type="http://schemas.openxmlformats.org/officeDocument/2006/relationships/image" Target="../media/image184.png"/><Relationship Id="rId5" Type="http://schemas.openxmlformats.org/officeDocument/2006/relationships/image" Target="../media/image202.png"/><Relationship Id="rId6" Type="http://schemas.openxmlformats.org/officeDocument/2006/relationships/image" Target="../media/image182.png"/><Relationship Id="rId7" Type="http://schemas.openxmlformats.org/officeDocument/2006/relationships/image" Target="../media/image193.png"/><Relationship Id="rId8" Type="http://schemas.openxmlformats.org/officeDocument/2006/relationships/image" Target="../media/image179.png"/><Relationship Id="rId11" Type="http://schemas.openxmlformats.org/officeDocument/2006/relationships/image" Target="../media/image194.png"/><Relationship Id="rId10" Type="http://schemas.openxmlformats.org/officeDocument/2006/relationships/image" Target="../media/image4.png"/><Relationship Id="rId13" Type="http://schemas.openxmlformats.org/officeDocument/2006/relationships/image" Target="../media/image176.png"/><Relationship Id="rId12" Type="http://schemas.openxmlformats.org/officeDocument/2006/relationships/image" Target="../media/image180.png"/><Relationship Id="rId15" Type="http://schemas.openxmlformats.org/officeDocument/2006/relationships/image" Target="../media/image201.png"/><Relationship Id="rId14" Type="http://schemas.openxmlformats.org/officeDocument/2006/relationships/image" Target="../media/image188.png"/><Relationship Id="rId16" Type="http://schemas.openxmlformats.org/officeDocument/2006/relationships/image" Target="../media/image18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89.png"/><Relationship Id="rId9" Type="http://schemas.openxmlformats.org/officeDocument/2006/relationships/image" Target="../media/image191.png"/><Relationship Id="rId5" Type="http://schemas.openxmlformats.org/officeDocument/2006/relationships/image" Target="../media/image192.png"/><Relationship Id="rId6" Type="http://schemas.openxmlformats.org/officeDocument/2006/relationships/image" Target="../media/image186.png"/><Relationship Id="rId7" Type="http://schemas.openxmlformats.org/officeDocument/2006/relationships/image" Target="../media/image4.png"/><Relationship Id="rId8" Type="http://schemas.openxmlformats.org/officeDocument/2006/relationships/image" Target="../media/image185.png"/><Relationship Id="rId11" Type="http://schemas.openxmlformats.org/officeDocument/2006/relationships/image" Target="../media/image195.png"/><Relationship Id="rId10" Type="http://schemas.openxmlformats.org/officeDocument/2006/relationships/image" Target="../media/image19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203.png"/><Relationship Id="rId9" Type="http://schemas.openxmlformats.org/officeDocument/2006/relationships/image" Target="../media/image209.png"/><Relationship Id="rId5" Type="http://schemas.openxmlformats.org/officeDocument/2006/relationships/image" Target="../media/image215.png"/><Relationship Id="rId6" Type="http://schemas.openxmlformats.org/officeDocument/2006/relationships/image" Target="../media/image200.png"/><Relationship Id="rId7" Type="http://schemas.openxmlformats.org/officeDocument/2006/relationships/image" Target="../media/image199.png"/><Relationship Id="rId8" Type="http://schemas.openxmlformats.org/officeDocument/2006/relationships/image" Target="../media/image197.png"/><Relationship Id="rId11" Type="http://schemas.openxmlformats.org/officeDocument/2006/relationships/image" Target="../media/image198.png"/><Relationship Id="rId10" Type="http://schemas.openxmlformats.org/officeDocument/2006/relationships/image" Target="../media/image196.png"/><Relationship Id="rId1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189.png"/><Relationship Id="rId5" Type="http://schemas.openxmlformats.org/officeDocument/2006/relationships/image" Target="../media/image4.png"/><Relationship Id="rId6" Type="http://schemas.openxmlformats.org/officeDocument/2006/relationships/image" Target="../media/image204.png"/><Relationship Id="rId7" Type="http://schemas.openxmlformats.org/officeDocument/2006/relationships/image" Target="../media/image2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203.png"/><Relationship Id="rId9" Type="http://schemas.openxmlformats.org/officeDocument/2006/relationships/image" Target="../media/image209.png"/><Relationship Id="rId5" Type="http://schemas.openxmlformats.org/officeDocument/2006/relationships/image" Target="../media/image215.png"/><Relationship Id="rId6" Type="http://schemas.openxmlformats.org/officeDocument/2006/relationships/image" Target="../media/image200.png"/><Relationship Id="rId7" Type="http://schemas.openxmlformats.org/officeDocument/2006/relationships/image" Target="../media/image199.png"/><Relationship Id="rId8" Type="http://schemas.openxmlformats.org/officeDocument/2006/relationships/image" Target="../media/image197.png"/><Relationship Id="rId11" Type="http://schemas.openxmlformats.org/officeDocument/2006/relationships/image" Target="../media/image198.png"/><Relationship Id="rId10" Type="http://schemas.openxmlformats.org/officeDocument/2006/relationships/image" Target="../media/image196.png"/><Relationship Id="rId12"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211.png"/><Relationship Id="rId5" Type="http://schemas.openxmlformats.org/officeDocument/2006/relationships/image" Target="../media/image205.png"/><Relationship Id="rId6" Type="http://schemas.openxmlformats.org/officeDocument/2006/relationships/image" Target="../media/image213.png"/><Relationship Id="rId7" Type="http://schemas.openxmlformats.org/officeDocument/2006/relationships/image" Target="../media/image225.png"/><Relationship Id="rId8" Type="http://schemas.openxmlformats.org/officeDocument/2006/relationships/image" Target="../media/image2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206.png"/><Relationship Id="rId9" Type="http://schemas.openxmlformats.org/officeDocument/2006/relationships/image" Target="../media/image228.png"/><Relationship Id="rId5" Type="http://schemas.openxmlformats.org/officeDocument/2006/relationships/image" Target="../media/image207.png"/><Relationship Id="rId6" Type="http://schemas.openxmlformats.org/officeDocument/2006/relationships/image" Target="../media/image214.png"/><Relationship Id="rId7" Type="http://schemas.openxmlformats.org/officeDocument/2006/relationships/image" Target="../media/image223.png"/><Relationship Id="rId8" Type="http://schemas.openxmlformats.org/officeDocument/2006/relationships/image" Target="../media/image213.png"/><Relationship Id="rId11" Type="http://schemas.openxmlformats.org/officeDocument/2006/relationships/image" Target="../media/image219.png"/><Relationship Id="rId10" Type="http://schemas.openxmlformats.org/officeDocument/2006/relationships/image" Target="../media/image2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221.png"/><Relationship Id="rId9" Type="http://schemas.openxmlformats.org/officeDocument/2006/relationships/image" Target="../media/image229.png"/><Relationship Id="rId5" Type="http://schemas.openxmlformats.org/officeDocument/2006/relationships/image" Target="../media/image227.png"/><Relationship Id="rId6" Type="http://schemas.openxmlformats.org/officeDocument/2006/relationships/image" Target="../media/image222.png"/><Relationship Id="rId7" Type="http://schemas.openxmlformats.org/officeDocument/2006/relationships/image" Target="../media/image220.png"/><Relationship Id="rId8" Type="http://schemas.openxmlformats.org/officeDocument/2006/relationships/image" Target="../media/image216.png"/><Relationship Id="rId11" Type="http://schemas.openxmlformats.org/officeDocument/2006/relationships/image" Target="../media/image213.png"/><Relationship Id="rId10" Type="http://schemas.openxmlformats.org/officeDocument/2006/relationships/image" Target="../media/image2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231.png"/><Relationship Id="rId9" Type="http://schemas.openxmlformats.org/officeDocument/2006/relationships/image" Target="../media/image233.png"/><Relationship Id="rId5" Type="http://schemas.openxmlformats.org/officeDocument/2006/relationships/image" Target="../media/image232.png"/><Relationship Id="rId6" Type="http://schemas.openxmlformats.org/officeDocument/2006/relationships/image" Target="../media/image230.png"/><Relationship Id="rId7" Type="http://schemas.openxmlformats.org/officeDocument/2006/relationships/image" Target="../media/image213.png"/><Relationship Id="rId8" Type="http://schemas.openxmlformats.org/officeDocument/2006/relationships/image" Target="../media/image2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1676400" y="4495800"/>
            <a:ext cx="8839200" cy="342900"/>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4695825" y="2019300"/>
            <a:ext cx="2800350" cy="228600"/>
          </a:xfrm>
          <a:prstGeom prst="rect">
            <a:avLst/>
          </a:prstGeom>
          <a:noFill/>
          <a:ln>
            <a:noFill/>
          </a:ln>
        </p:spPr>
      </p:pic>
      <p:sp>
        <p:nvSpPr>
          <p:cNvPr id="87" name="Google Shape;87;p13"/>
          <p:cNvSpPr txBox="1"/>
          <p:nvPr/>
        </p:nvSpPr>
        <p:spPr>
          <a:xfrm>
            <a:off x="5145881" y="2390775"/>
            <a:ext cx="1900237" cy="628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900" u="none" cap="none" strike="noStrike">
                <a:solidFill>
                  <a:srgbClr val="0F172A"/>
                </a:solidFill>
                <a:latin typeface="Plus Jakarta Sans ExtraBold"/>
                <a:ea typeface="Plus Jakarta Sans ExtraBold"/>
                <a:cs typeface="Plus Jakarta Sans ExtraBold"/>
                <a:sym typeface="Plus Jakarta Sans ExtraBold"/>
              </a:rPr>
              <a:t>Devin AI</a:t>
            </a:r>
            <a:endParaRPr/>
          </a:p>
        </p:txBody>
      </p:sp>
      <p:sp>
        <p:nvSpPr>
          <p:cNvPr id="88" name="Google Shape;88;p13"/>
          <p:cNvSpPr txBox="1"/>
          <p:nvPr/>
        </p:nvSpPr>
        <p:spPr>
          <a:xfrm>
            <a:off x="3813214" y="3133725"/>
            <a:ext cx="4565570"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475569"/>
                </a:solidFill>
                <a:latin typeface="Plus Jakarta Sans SemiBold"/>
                <a:ea typeface="Plus Jakarta Sans SemiBold"/>
                <a:cs typeface="Plus Jakarta Sans SemiBold"/>
                <a:sym typeface="Plus Jakarta Sans SemiBold"/>
              </a:rPr>
              <a:t>The Autonomous Software Engineering Agent</a:t>
            </a:r>
            <a:endParaRPr/>
          </a:p>
        </p:txBody>
      </p:sp>
      <p:sp>
        <p:nvSpPr>
          <p:cNvPr id="89" name="Google Shape;89;p13"/>
          <p:cNvSpPr txBox="1"/>
          <p:nvPr/>
        </p:nvSpPr>
        <p:spPr>
          <a:xfrm>
            <a:off x="2524125" y="3686175"/>
            <a:ext cx="714375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Complete Architectural Deep-Dive, Enterprise Adoption Models, and Core Operational Best Practices for Engineering Leaders.</a:t>
            </a:r>
            <a:endParaRPr/>
          </a:p>
        </p:txBody>
      </p:sp>
      <p:sp>
        <p:nvSpPr>
          <p:cNvPr id="90" name="Google Shape;90;p13"/>
          <p:cNvSpPr txBox="1"/>
          <p:nvPr/>
        </p:nvSpPr>
        <p:spPr>
          <a:xfrm>
            <a:off x="3976687" y="4705350"/>
            <a:ext cx="1266825" cy="133350"/>
          </a:xfrm>
          <a:prstGeom prst="rect">
            <a:avLst/>
          </a:prstGeom>
          <a:noFill/>
          <a:ln>
            <a:noFill/>
          </a:ln>
        </p:spPr>
        <p:txBody>
          <a:bodyPr anchorCtr="0" anchor="t" bIns="0" lIns="123825" spcFirstLastPara="1" rIns="0" wrap="square" tIns="0">
            <a:spAutoFit/>
          </a:bodyPr>
          <a:lstStyle/>
          <a:p>
            <a:pPr indent="0" lvl="0" marL="0" marR="0" rtl="0" algn="ctr">
              <a:spcBef>
                <a:spcPts val="0"/>
              </a:spcBef>
              <a:spcAft>
                <a:spcPts val="0"/>
              </a:spcAft>
              <a:buNone/>
            </a:pPr>
            <a:r>
              <a:rPr b="0" i="0" lang="en-US" sz="825" u="none" cap="none" strike="noStrike">
                <a:solidFill>
                  <a:srgbClr val="64748B"/>
                </a:solidFill>
                <a:latin typeface="JetBrains Mono SemiBold"/>
                <a:ea typeface="JetBrains Mono SemiBold"/>
                <a:cs typeface="JetBrains Mono SemiBold"/>
                <a:sym typeface="JetBrains Mono SemiBold"/>
              </a:rPr>
              <a:t>PLATFORM DEPTH</a:t>
            </a:r>
            <a:endParaRPr/>
          </a:p>
        </p:txBody>
      </p:sp>
      <p:sp>
        <p:nvSpPr>
          <p:cNvPr id="91" name="Google Shape;91;p13"/>
          <p:cNvSpPr txBox="1"/>
          <p:nvPr/>
        </p:nvSpPr>
        <p:spPr>
          <a:xfrm>
            <a:off x="5624512" y="4705350"/>
            <a:ext cx="952500" cy="133350"/>
          </a:xfrm>
          <a:prstGeom prst="rect">
            <a:avLst/>
          </a:prstGeom>
          <a:noFill/>
          <a:ln>
            <a:noFill/>
          </a:ln>
        </p:spPr>
        <p:txBody>
          <a:bodyPr anchorCtr="0" anchor="t" bIns="0" lIns="114300" spcFirstLastPara="1" rIns="0" wrap="square" tIns="0">
            <a:spAutoFit/>
          </a:bodyPr>
          <a:lstStyle/>
          <a:p>
            <a:pPr indent="0" lvl="0" marL="0" marR="0" rtl="0" algn="ctr">
              <a:spcBef>
                <a:spcPts val="0"/>
              </a:spcBef>
              <a:spcAft>
                <a:spcPts val="0"/>
              </a:spcAft>
              <a:buNone/>
            </a:pPr>
            <a:r>
              <a:rPr b="0" i="0" lang="en-US" sz="825" u="none" cap="none" strike="noStrike">
                <a:solidFill>
                  <a:srgbClr val="64748B"/>
                </a:solidFill>
                <a:latin typeface="JetBrains Mono SemiBold"/>
                <a:ea typeface="JetBrains Mono SemiBold"/>
                <a:cs typeface="JetBrains Mono SemiBold"/>
                <a:sym typeface="JetBrains Mono SemiBold"/>
              </a:rPr>
              <a:t>GOVERNANCE</a:t>
            </a:r>
            <a:endParaRPr/>
          </a:p>
        </p:txBody>
      </p:sp>
      <p:sp>
        <p:nvSpPr>
          <p:cNvPr id="92" name="Google Shape;92;p13"/>
          <p:cNvSpPr txBox="1"/>
          <p:nvPr/>
        </p:nvSpPr>
        <p:spPr>
          <a:xfrm>
            <a:off x="6958012" y="4705350"/>
            <a:ext cx="1257300" cy="133350"/>
          </a:xfrm>
          <a:prstGeom prst="rect">
            <a:avLst/>
          </a:prstGeom>
          <a:noFill/>
          <a:ln>
            <a:noFill/>
          </a:ln>
        </p:spPr>
        <p:txBody>
          <a:bodyPr anchorCtr="0" anchor="t" bIns="0" lIns="114300" spcFirstLastPara="1" rIns="0" wrap="square" tIns="0">
            <a:spAutoFit/>
          </a:bodyPr>
          <a:lstStyle/>
          <a:p>
            <a:pPr indent="0" lvl="0" marL="0" marR="0" rtl="0" algn="ctr">
              <a:spcBef>
                <a:spcPts val="0"/>
              </a:spcBef>
              <a:spcAft>
                <a:spcPts val="0"/>
              </a:spcAft>
              <a:buNone/>
            </a:pPr>
            <a:r>
              <a:rPr b="0" i="0" lang="en-US" sz="825" u="none" cap="none" strike="noStrike">
                <a:solidFill>
                  <a:srgbClr val="64748B"/>
                </a:solidFill>
                <a:latin typeface="JetBrains Mono SemiBold"/>
                <a:ea typeface="JetBrains Mono SemiBold"/>
                <a:cs typeface="JetBrains Mono SemiBold"/>
                <a:sym typeface="JetBrains Mono SemiBold"/>
              </a:rPr>
              <a:t>BEST PRACTICES</a:t>
            </a:r>
            <a:endParaRPr/>
          </a:p>
        </p:txBody>
      </p:sp>
      <p:pic>
        <p:nvPicPr>
          <p:cNvPr descr="image.png" id="93" name="Google Shape;93;p13"/>
          <p:cNvPicPr preferRelativeResize="0"/>
          <p:nvPr/>
        </p:nvPicPr>
        <p:blipFill rotWithShape="1">
          <a:blip r:embed="rId6">
            <a:alphaModFix/>
          </a:blip>
          <a:srcRect b="0" l="0" r="0" t="0"/>
          <a:stretch/>
        </p:blipFill>
        <p:spPr>
          <a:xfrm>
            <a:off x="3976687" y="4724400"/>
            <a:ext cx="123825" cy="104775"/>
          </a:xfrm>
          <a:prstGeom prst="rect">
            <a:avLst/>
          </a:prstGeom>
          <a:noFill/>
          <a:ln>
            <a:noFill/>
          </a:ln>
        </p:spPr>
      </p:pic>
      <p:pic>
        <p:nvPicPr>
          <p:cNvPr descr="image.png" id="94" name="Google Shape;94;p13"/>
          <p:cNvPicPr preferRelativeResize="0"/>
          <p:nvPr/>
        </p:nvPicPr>
        <p:blipFill rotWithShape="1">
          <a:blip r:embed="rId7">
            <a:alphaModFix/>
          </a:blip>
          <a:srcRect b="0" l="0" r="0" t="0"/>
          <a:stretch/>
        </p:blipFill>
        <p:spPr>
          <a:xfrm>
            <a:off x="5624512" y="4724400"/>
            <a:ext cx="114300" cy="104775"/>
          </a:xfrm>
          <a:prstGeom prst="rect">
            <a:avLst/>
          </a:prstGeom>
          <a:noFill/>
          <a:ln>
            <a:noFill/>
          </a:ln>
        </p:spPr>
      </p:pic>
      <p:pic>
        <p:nvPicPr>
          <p:cNvPr descr="image.png" id="95" name="Google Shape;95;p13"/>
          <p:cNvPicPr preferRelativeResize="0"/>
          <p:nvPr/>
        </p:nvPicPr>
        <p:blipFill rotWithShape="1">
          <a:blip r:embed="rId8">
            <a:alphaModFix/>
          </a:blip>
          <a:srcRect b="0" l="0" r="0" t="0"/>
          <a:stretch/>
        </p:blipFill>
        <p:spPr>
          <a:xfrm>
            <a:off x="6958012" y="4724400"/>
            <a:ext cx="114300" cy="104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descr="image.png"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1" name="Google Shape;101;p14"/>
          <p:cNvPicPr preferRelativeResize="0"/>
          <p:nvPr/>
        </p:nvPicPr>
        <p:blipFill rotWithShape="1">
          <a:blip r:embed="rId4">
            <a:alphaModFix/>
          </a:blip>
          <a:srcRect b="0" l="0" r="0" t="0"/>
          <a:stretch/>
        </p:blipFill>
        <p:spPr>
          <a:xfrm>
            <a:off x="7584281" y="3116460"/>
            <a:ext cx="4036218" cy="1310878"/>
          </a:xfrm>
          <a:prstGeom prst="rect">
            <a:avLst/>
          </a:prstGeom>
          <a:noFill/>
          <a:ln>
            <a:noFill/>
          </a:ln>
        </p:spPr>
      </p:pic>
      <p:pic>
        <p:nvPicPr>
          <p:cNvPr descr="image.png" id="102" name="Google Shape;102;p14"/>
          <p:cNvPicPr preferRelativeResize="0"/>
          <p:nvPr/>
        </p:nvPicPr>
        <p:blipFill rotWithShape="1">
          <a:blip r:embed="rId5">
            <a:alphaModFix/>
          </a:blip>
          <a:srcRect b="0" l="0" r="0" t="0"/>
          <a:stretch/>
        </p:blipFill>
        <p:spPr>
          <a:xfrm>
            <a:off x="571500" y="3214538"/>
            <a:ext cx="3292078" cy="1007566"/>
          </a:xfrm>
          <a:prstGeom prst="rect">
            <a:avLst/>
          </a:prstGeom>
          <a:noFill/>
          <a:ln>
            <a:noFill/>
          </a:ln>
        </p:spPr>
      </p:pic>
      <p:pic>
        <p:nvPicPr>
          <p:cNvPr descr="image.png" id="103" name="Google Shape;103;p14"/>
          <p:cNvPicPr preferRelativeResize="0"/>
          <p:nvPr/>
        </p:nvPicPr>
        <p:blipFill rotWithShape="1">
          <a:blip r:embed="rId6">
            <a:alphaModFix/>
          </a:blip>
          <a:srcRect b="0" l="0" r="0" t="0"/>
          <a:stretch/>
        </p:blipFill>
        <p:spPr>
          <a:xfrm>
            <a:off x="4006453" y="3214538"/>
            <a:ext cx="3292078" cy="1007566"/>
          </a:xfrm>
          <a:prstGeom prst="rect">
            <a:avLst/>
          </a:prstGeom>
          <a:noFill/>
          <a:ln>
            <a:noFill/>
          </a:ln>
        </p:spPr>
      </p:pic>
      <p:pic>
        <p:nvPicPr>
          <p:cNvPr descr="image.png" id="104" name="Google Shape;104;p14"/>
          <p:cNvPicPr preferRelativeResize="0"/>
          <p:nvPr/>
        </p:nvPicPr>
        <p:blipFill rotWithShape="1">
          <a:blip r:embed="rId7">
            <a:alphaModFix/>
          </a:blip>
          <a:srcRect b="0" l="0" r="0" t="0"/>
          <a:stretch/>
        </p:blipFill>
        <p:spPr>
          <a:xfrm>
            <a:off x="571500" y="466725"/>
            <a:ext cx="857250" cy="209550"/>
          </a:xfrm>
          <a:prstGeom prst="rect">
            <a:avLst/>
          </a:prstGeom>
          <a:noFill/>
          <a:ln>
            <a:noFill/>
          </a:ln>
        </p:spPr>
      </p:pic>
      <p:sp>
        <p:nvSpPr>
          <p:cNvPr id="105" name="Google Shape;105;p14"/>
          <p:cNvSpPr txBox="1"/>
          <p:nvPr/>
        </p:nvSpPr>
        <p:spPr>
          <a:xfrm>
            <a:off x="571500" y="2592734"/>
            <a:ext cx="6727031" cy="469403"/>
          </a:xfrm>
          <a:prstGeom prst="rect">
            <a:avLst/>
          </a:prstGeom>
          <a:noFill/>
          <a:ln>
            <a:noFill/>
          </a:ln>
        </p:spPr>
        <p:txBody>
          <a:bodyPr anchorCtr="0" anchor="t" bIns="0" lIns="0" spcFirstLastPara="1" rIns="0" wrap="square" tIns="0">
            <a:spAutoFit/>
          </a:bodyPr>
          <a:lstStyle/>
          <a:p>
            <a:pPr indent="0" lvl="0" marL="0" marR="0" rtl="0" algn="l">
              <a:lnSpc>
                <a:spcPct val="144941"/>
              </a:lnSpc>
              <a:spcBef>
                <a:spcPts val="0"/>
              </a:spcBef>
              <a:spcAft>
                <a:spcPts val="0"/>
              </a:spcAft>
              <a:buNone/>
            </a:pPr>
            <a:r>
              <a:rPr b="0" i="0" lang="en-US" sz="1275" u="none" cap="none" strike="noStrike">
                <a:solidFill>
                  <a:srgbClr val="0F172A"/>
                </a:solidFill>
                <a:latin typeface="Plus Jakarta Sans SemiBold"/>
                <a:ea typeface="Plus Jakarta Sans SemiBold"/>
                <a:cs typeface="Plus Jakarta Sans SemiBold"/>
                <a:sym typeface="Plus Jakarta Sans SemiBold"/>
              </a:rPr>
              <a:t>An autonomous software engineering agent — built by Cognition — operating as a virtualized engineer inside an isolated machine environment.</a:t>
            </a:r>
            <a:endParaRPr/>
          </a:p>
        </p:txBody>
      </p:sp>
      <p:sp>
        <p:nvSpPr>
          <p:cNvPr id="106" name="Google Shape;106;p14"/>
          <p:cNvSpPr txBox="1"/>
          <p:nvPr/>
        </p:nvSpPr>
        <p:spPr>
          <a:xfrm>
            <a:off x="7746206" y="3278385"/>
            <a:ext cx="3712368"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64748B"/>
                </a:solidFill>
                <a:latin typeface="JetBrains Mono"/>
                <a:ea typeface="JetBrains Mono"/>
                <a:cs typeface="JetBrains Mono"/>
                <a:sym typeface="JetBrains Mono"/>
              </a:rPr>
              <a:t>// Devin Runtime VM Snapshot</a:t>
            </a:r>
            <a:endParaRPr/>
          </a:p>
        </p:txBody>
      </p:sp>
      <p:sp>
        <p:nvSpPr>
          <p:cNvPr id="107" name="Google Shape;107;p14"/>
          <p:cNvSpPr txBox="1"/>
          <p:nvPr/>
        </p:nvSpPr>
        <p:spPr>
          <a:xfrm>
            <a:off x="7746206" y="3506390"/>
            <a:ext cx="66675" cy="13335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F472B6"/>
                </a:solidFill>
                <a:latin typeface="JetBrains Mono"/>
                <a:ea typeface="JetBrains Mono"/>
                <a:cs typeface="JetBrains Mono"/>
                <a:sym typeface="JetBrains Mono"/>
              </a:rPr>
              <a:t>$</a:t>
            </a:r>
            <a:endParaRPr/>
          </a:p>
        </p:txBody>
      </p:sp>
      <p:sp>
        <p:nvSpPr>
          <p:cNvPr id="108" name="Google Shape;108;p14"/>
          <p:cNvSpPr txBox="1"/>
          <p:nvPr/>
        </p:nvSpPr>
        <p:spPr>
          <a:xfrm>
            <a:off x="7746206" y="3658195"/>
            <a:ext cx="2400300" cy="13335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8BDF8"/>
                </a:solidFill>
                <a:latin typeface="JetBrains Mono"/>
                <a:ea typeface="JetBrains Mono"/>
                <a:cs typeface="JetBrains Mono"/>
                <a:sym typeface="JetBrains Mono"/>
              </a:rPr>
              <a:t>&gt; Loading base workspace snapshot...</a:t>
            </a:r>
            <a:endParaRPr/>
          </a:p>
        </p:txBody>
      </p:sp>
      <p:sp>
        <p:nvSpPr>
          <p:cNvPr id="109" name="Google Shape;109;p14"/>
          <p:cNvSpPr txBox="1"/>
          <p:nvPr/>
        </p:nvSpPr>
        <p:spPr>
          <a:xfrm>
            <a:off x="7746206" y="3810000"/>
            <a:ext cx="2200275" cy="13335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ADE80"/>
                </a:solidFill>
                <a:latin typeface="JetBrains Mono"/>
                <a:ea typeface="JetBrains Mono"/>
                <a:cs typeface="JetBrains Mono"/>
                <a:sym typeface="JetBrains Mono"/>
              </a:rPr>
              <a:t>&gt; Cloned repo: payment-service-v2</a:t>
            </a:r>
            <a:endParaRPr/>
          </a:p>
        </p:txBody>
      </p:sp>
      <p:sp>
        <p:nvSpPr>
          <p:cNvPr id="110" name="Google Shape;110;p14"/>
          <p:cNvSpPr txBox="1"/>
          <p:nvPr/>
        </p:nvSpPr>
        <p:spPr>
          <a:xfrm>
            <a:off x="7746206" y="3961804"/>
            <a:ext cx="2400300" cy="13335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CBD5E1"/>
                </a:solidFill>
                <a:latin typeface="JetBrains Mono"/>
                <a:ea typeface="JetBrains Mono"/>
                <a:cs typeface="JetBrains Mono"/>
                <a:sym typeface="JetBrains Mono"/>
              </a:rPr>
              <a:t>&gt; Running tests: 42 passed, 0 failed</a:t>
            </a:r>
            <a:endParaRPr/>
          </a:p>
        </p:txBody>
      </p:sp>
      <p:sp>
        <p:nvSpPr>
          <p:cNvPr id="111" name="Google Shape;111;p14"/>
          <p:cNvSpPr txBox="1"/>
          <p:nvPr/>
        </p:nvSpPr>
        <p:spPr>
          <a:xfrm>
            <a:off x="7746206" y="4113609"/>
            <a:ext cx="2400300" cy="13335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8BDF8"/>
                </a:solidFill>
                <a:latin typeface="JetBrains Mono"/>
                <a:ea typeface="JetBrains Mono"/>
                <a:cs typeface="JetBrains Mono"/>
                <a:sym typeface="JetBrains Mono"/>
              </a:rPr>
              <a:t>&gt; Pull request created successfully!</a:t>
            </a:r>
            <a:endParaRPr/>
          </a:p>
        </p:txBody>
      </p:sp>
      <p:sp>
        <p:nvSpPr>
          <p:cNvPr id="112" name="Google Shape;112;p14"/>
          <p:cNvSpPr txBox="1"/>
          <p:nvPr/>
        </p:nvSpPr>
        <p:spPr>
          <a:xfrm>
            <a:off x="619125" y="4364980"/>
            <a:ext cx="6679406"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Key Distinction:</a:t>
            </a:r>
            <a:endParaRPr/>
          </a:p>
        </p:txBody>
      </p:sp>
      <p:sp>
        <p:nvSpPr>
          <p:cNvPr id="113" name="Google Shape;113;p14"/>
          <p:cNvSpPr txBox="1"/>
          <p:nvPr/>
        </p:nvSpPr>
        <p:spPr>
          <a:xfrm>
            <a:off x="619125" y="4592091"/>
            <a:ext cx="6679406" cy="358973"/>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0" i="0" lang="en-US" sz="975" u="none" cap="none" strike="noStrike">
                <a:solidFill>
                  <a:srgbClr val="475569"/>
                </a:solidFill>
                <a:latin typeface="Plus Jakarta Sans"/>
                <a:ea typeface="Plus Jakarta Sans"/>
                <a:cs typeface="Plus Jakarta Sans"/>
                <a:sym typeface="Plus Jakarta Sans"/>
              </a:rPr>
              <a:t>Devin is not a suggestion engine. It is an agent that takes a task, reasons about it, executes it autonomously, and delivers a result — typically a pull request.</a:t>
            </a:r>
            <a:endParaRPr/>
          </a:p>
        </p:txBody>
      </p:sp>
      <p:sp>
        <p:nvSpPr>
          <p:cNvPr id="114" name="Google Shape;114;p14"/>
          <p:cNvSpPr txBox="1"/>
          <p:nvPr/>
        </p:nvSpPr>
        <p:spPr>
          <a:xfrm>
            <a:off x="1038225" y="3414563"/>
            <a:ext cx="2756594"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Runtime Engine</a:t>
            </a:r>
            <a:endParaRPr/>
          </a:p>
        </p:txBody>
      </p:sp>
      <p:sp>
        <p:nvSpPr>
          <p:cNvPr id="115" name="Google Shape;115;p14"/>
          <p:cNvSpPr txBox="1"/>
          <p:nvPr/>
        </p:nvSpPr>
        <p:spPr>
          <a:xfrm>
            <a:off x="771525" y="3690788"/>
            <a:ext cx="2892028"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Full Ubuntu VM with workspace browser, secure IDE, terminal integration, and execution sandboxing.</a:t>
            </a:r>
            <a:endParaRPr/>
          </a:p>
        </p:txBody>
      </p:sp>
      <p:sp>
        <p:nvSpPr>
          <p:cNvPr id="116" name="Google Shape;116;p14"/>
          <p:cNvSpPr txBox="1"/>
          <p:nvPr/>
        </p:nvSpPr>
        <p:spPr>
          <a:xfrm>
            <a:off x="4454128" y="3414563"/>
            <a:ext cx="2776597"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Memory Fabrics</a:t>
            </a:r>
            <a:endParaRPr/>
          </a:p>
        </p:txBody>
      </p:sp>
      <p:sp>
        <p:nvSpPr>
          <p:cNvPr id="117" name="Google Shape;117;p14"/>
          <p:cNvSpPr txBox="1"/>
          <p:nvPr/>
        </p:nvSpPr>
        <p:spPr>
          <a:xfrm>
            <a:off x="4206478" y="3690788"/>
            <a:ext cx="2892028"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Grows with use. Utilizes custom Knowledge repositories, user Skills, and Playbook modules.</a:t>
            </a:r>
            <a:endParaRPr/>
          </a:p>
        </p:txBody>
      </p:sp>
      <p:pic>
        <p:nvPicPr>
          <p:cNvPr descr="image.png" id="118" name="Google Shape;118;p14"/>
          <p:cNvPicPr preferRelativeResize="0"/>
          <p:nvPr/>
        </p:nvPicPr>
        <p:blipFill rotWithShape="1">
          <a:blip r:embed="rId8">
            <a:alphaModFix/>
          </a:blip>
          <a:srcRect b="0" l="0" r="0" t="0"/>
          <a:stretch/>
        </p:blipFill>
        <p:spPr>
          <a:xfrm>
            <a:off x="771525" y="3438376"/>
            <a:ext cx="171450" cy="152400"/>
          </a:xfrm>
          <a:prstGeom prst="rect">
            <a:avLst/>
          </a:prstGeom>
          <a:noFill/>
          <a:ln>
            <a:noFill/>
          </a:ln>
        </p:spPr>
      </p:pic>
      <p:pic>
        <p:nvPicPr>
          <p:cNvPr descr="image.png" id="119" name="Google Shape;119;p14"/>
          <p:cNvPicPr preferRelativeResize="0"/>
          <p:nvPr/>
        </p:nvPicPr>
        <p:blipFill rotWithShape="1">
          <a:blip r:embed="rId9">
            <a:alphaModFix/>
          </a:blip>
          <a:srcRect b="0" l="0" r="0" t="0"/>
          <a:stretch/>
        </p:blipFill>
        <p:spPr>
          <a:xfrm>
            <a:off x="4206478" y="3438376"/>
            <a:ext cx="152400" cy="152400"/>
          </a:xfrm>
          <a:prstGeom prst="rect">
            <a:avLst/>
          </a:prstGeom>
          <a:noFill/>
          <a:ln>
            <a:noFill/>
          </a:ln>
        </p:spPr>
      </p:pic>
      <p:sp>
        <p:nvSpPr>
          <p:cNvPr id="120" name="Google Shape;120;p14"/>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What is Devin AI?</a:t>
            </a:r>
            <a:endParaRPr/>
          </a:p>
        </p:txBody>
      </p:sp>
      <p:sp>
        <p:nvSpPr>
          <p:cNvPr id="121" name="Google Shape;121;p14"/>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pic>
        <p:nvPicPr>
          <p:cNvPr descr="image.png" id="126" name="Google Shape;12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7" name="Google Shape;127;p15"/>
          <p:cNvPicPr preferRelativeResize="0"/>
          <p:nvPr/>
        </p:nvPicPr>
        <p:blipFill rotWithShape="1">
          <a:blip r:embed="rId4">
            <a:alphaModFix/>
          </a:blip>
          <a:srcRect b="0" l="0" r="0" t="0"/>
          <a:stretch/>
        </p:blipFill>
        <p:spPr>
          <a:xfrm>
            <a:off x="571500" y="2721024"/>
            <a:ext cx="3587650" cy="2101601"/>
          </a:xfrm>
          <a:prstGeom prst="rect">
            <a:avLst/>
          </a:prstGeom>
          <a:noFill/>
          <a:ln>
            <a:noFill/>
          </a:ln>
        </p:spPr>
      </p:pic>
      <p:pic>
        <p:nvPicPr>
          <p:cNvPr descr="image.png" id="128" name="Google Shape;128;p15"/>
          <p:cNvPicPr preferRelativeResize="0"/>
          <p:nvPr/>
        </p:nvPicPr>
        <p:blipFill rotWithShape="1">
          <a:blip r:embed="rId5">
            <a:alphaModFix/>
          </a:blip>
          <a:srcRect b="0" l="0" r="0" t="0"/>
          <a:stretch/>
        </p:blipFill>
        <p:spPr>
          <a:xfrm>
            <a:off x="4302025" y="2721024"/>
            <a:ext cx="3587799" cy="2101601"/>
          </a:xfrm>
          <a:prstGeom prst="rect">
            <a:avLst/>
          </a:prstGeom>
          <a:noFill/>
          <a:ln>
            <a:noFill/>
          </a:ln>
        </p:spPr>
      </p:pic>
      <p:pic>
        <p:nvPicPr>
          <p:cNvPr descr="image.png" id="129" name="Google Shape;129;p15"/>
          <p:cNvPicPr preferRelativeResize="0"/>
          <p:nvPr/>
        </p:nvPicPr>
        <p:blipFill rotWithShape="1">
          <a:blip r:embed="rId6">
            <a:alphaModFix/>
          </a:blip>
          <a:srcRect b="0" l="0" r="0" t="0"/>
          <a:stretch/>
        </p:blipFill>
        <p:spPr>
          <a:xfrm>
            <a:off x="8032700" y="2721024"/>
            <a:ext cx="3587650" cy="2101601"/>
          </a:xfrm>
          <a:prstGeom prst="rect">
            <a:avLst/>
          </a:prstGeom>
          <a:noFill/>
          <a:ln>
            <a:noFill/>
          </a:ln>
        </p:spPr>
      </p:pic>
      <p:pic>
        <p:nvPicPr>
          <p:cNvPr descr="image.png" id="130" name="Google Shape;130;p15"/>
          <p:cNvPicPr preferRelativeResize="0"/>
          <p:nvPr/>
        </p:nvPicPr>
        <p:blipFill rotWithShape="1">
          <a:blip r:embed="rId7">
            <a:alphaModFix/>
          </a:blip>
          <a:srcRect b="0" l="0" r="0" t="0"/>
          <a:stretch/>
        </p:blipFill>
        <p:spPr>
          <a:xfrm>
            <a:off x="571500" y="466725"/>
            <a:ext cx="857250" cy="209550"/>
          </a:xfrm>
          <a:prstGeom prst="rect">
            <a:avLst/>
          </a:prstGeom>
          <a:noFill/>
          <a:ln>
            <a:noFill/>
          </a:ln>
        </p:spPr>
      </p:pic>
      <p:pic>
        <p:nvPicPr>
          <p:cNvPr descr="image.png" id="131" name="Google Shape;131;p15"/>
          <p:cNvPicPr preferRelativeResize="0"/>
          <p:nvPr/>
        </p:nvPicPr>
        <p:blipFill rotWithShape="1">
          <a:blip r:embed="rId8">
            <a:alphaModFix/>
          </a:blip>
          <a:srcRect b="0" l="0" r="0" t="0"/>
          <a:stretch/>
        </p:blipFill>
        <p:spPr>
          <a:xfrm>
            <a:off x="800100" y="2930574"/>
            <a:ext cx="1504950" cy="228600"/>
          </a:xfrm>
          <a:prstGeom prst="rect">
            <a:avLst/>
          </a:prstGeom>
          <a:noFill/>
          <a:ln>
            <a:noFill/>
          </a:ln>
        </p:spPr>
      </p:pic>
      <p:sp>
        <p:nvSpPr>
          <p:cNvPr id="132" name="Google Shape;132;p15"/>
          <p:cNvSpPr txBox="1"/>
          <p:nvPr/>
        </p:nvSpPr>
        <p:spPr>
          <a:xfrm>
            <a:off x="800100" y="3302049"/>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Problem:</a:t>
            </a:r>
            <a:endParaRPr/>
          </a:p>
        </p:txBody>
      </p:sp>
      <p:sp>
        <p:nvSpPr>
          <p:cNvPr id="133" name="Google Shape;133;p15"/>
          <p:cNvSpPr txBox="1"/>
          <p:nvPr/>
        </p:nvSpPr>
        <p:spPr>
          <a:xfrm>
            <a:off x="800100" y="3519636"/>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Engineering backlogs grow faster than teams can clear them. Context-switching costs productivity.</a:t>
            </a:r>
            <a:endParaRPr/>
          </a:p>
        </p:txBody>
      </p:sp>
      <p:sp>
        <p:nvSpPr>
          <p:cNvPr id="134" name="Google Shape;134;p15"/>
          <p:cNvSpPr txBox="1"/>
          <p:nvPr/>
        </p:nvSpPr>
        <p:spPr>
          <a:xfrm>
            <a:off x="800100" y="3927127"/>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Devin's Solution:</a:t>
            </a:r>
            <a:endParaRPr/>
          </a:p>
        </p:txBody>
      </p:sp>
      <p:sp>
        <p:nvSpPr>
          <p:cNvPr id="135" name="Google Shape;135;p15"/>
          <p:cNvSpPr txBox="1"/>
          <p:nvPr/>
        </p:nvSpPr>
        <p:spPr>
          <a:xfrm>
            <a:off x="800100" y="4125664"/>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Handles high-volume, repetitive, well-defined tasks in parallel so engineers focus on high-complexity work.</a:t>
            </a:r>
            <a:endParaRPr/>
          </a:p>
        </p:txBody>
      </p:sp>
      <p:pic>
        <p:nvPicPr>
          <p:cNvPr descr="image.png" id="136" name="Google Shape;136;p15"/>
          <p:cNvPicPr preferRelativeResize="0"/>
          <p:nvPr/>
        </p:nvPicPr>
        <p:blipFill rotWithShape="1">
          <a:blip r:embed="rId9">
            <a:alphaModFix/>
          </a:blip>
          <a:srcRect b="0" l="0" r="0" t="0"/>
          <a:stretch/>
        </p:blipFill>
        <p:spPr>
          <a:xfrm>
            <a:off x="4530625" y="2930574"/>
            <a:ext cx="1962150" cy="228600"/>
          </a:xfrm>
          <a:prstGeom prst="rect">
            <a:avLst/>
          </a:prstGeom>
          <a:noFill/>
          <a:ln>
            <a:noFill/>
          </a:ln>
        </p:spPr>
      </p:pic>
      <p:sp>
        <p:nvSpPr>
          <p:cNvPr id="137" name="Google Shape;137;p15"/>
          <p:cNvSpPr txBox="1"/>
          <p:nvPr/>
        </p:nvSpPr>
        <p:spPr>
          <a:xfrm>
            <a:off x="4530625" y="3302049"/>
            <a:ext cx="3159174"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Problem:</a:t>
            </a:r>
            <a:endParaRPr/>
          </a:p>
        </p:txBody>
      </p:sp>
      <p:sp>
        <p:nvSpPr>
          <p:cNvPr id="138" name="Google Shape;138;p15"/>
          <p:cNvSpPr txBox="1"/>
          <p:nvPr/>
        </p:nvSpPr>
        <p:spPr>
          <a:xfrm>
            <a:off x="4530625" y="3519636"/>
            <a:ext cx="3159174"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Migrations, refactors, and updates are expensive. Onboarding to large codebases is slow.</a:t>
            </a:r>
            <a:endParaRPr/>
          </a:p>
        </p:txBody>
      </p:sp>
      <p:sp>
        <p:nvSpPr>
          <p:cNvPr id="139" name="Google Shape;139;p15"/>
          <p:cNvSpPr txBox="1"/>
          <p:nvPr/>
        </p:nvSpPr>
        <p:spPr>
          <a:xfrm>
            <a:off x="4530625" y="3927127"/>
            <a:ext cx="3159174"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Devin's Solution:</a:t>
            </a:r>
            <a:endParaRPr/>
          </a:p>
        </p:txBody>
      </p:sp>
      <p:sp>
        <p:nvSpPr>
          <p:cNvPr id="140" name="Google Shape;140;p15"/>
          <p:cNvSpPr txBox="1"/>
          <p:nvPr/>
        </p:nvSpPr>
        <p:spPr>
          <a:xfrm>
            <a:off x="4530625" y="4125664"/>
            <a:ext cx="3159174"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Indexes repos and uses Knowledge to operate immediately, executing isolated, incremental slices at scale.</a:t>
            </a:r>
            <a:endParaRPr/>
          </a:p>
        </p:txBody>
      </p:sp>
      <p:pic>
        <p:nvPicPr>
          <p:cNvPr descr="image.png" id="141" name="Google Shape;141;p15"/>
          <p:cNvPicPr preferRelativeResize="0"/>
          <p:nvPr/>
        </p:nvPicPr>
        <p:blipFill rotWithShape="1">
          <a:blip r:embed="rId10">
            <a:alphaModFix/>
          </a:blip>
          <a:srcRect b="0" l="0" r="0" t="0"/>
          <a:stretch/>
        </p:blipFill>
        <p:spPr>
          <a:xfrm>
            <a:off x="8261300" y="2930574"/>
            <a:ext cx="1504950" cy="228600"/>
          </a:xfrm>
          <a:prstGeom prst="rect">
            <a:avLst/>
          </a:prstGeom>
          <a:noFill/>
          <a:ln>
            <a:noFill/>
          </a:ln>
        </p:spPr>
      </p:pic>
      <p:sp>
        <p:nvSpPr>
          <p:cNvPr id="142" name="Google Shape;142;p15"/>
          <p:cNvSpPr txBox="1"/>
          <p:nvPr/>
        </p:nvSpPr>
        <p:spPr>
          <a:xfrm>
            <a:off x="8261300" y="3302049"/>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Problem:</a:t>
            </a:r>
            <a:endParaRPr/>
          </a:p>
        </p:txBody>
      </p:sp>
      <p:sp>
        <p:nvSpPr>
          <p:cNvPr id="143" name="Google Shape;143;p15"/>
          <p:cNvSpPr txBox="1"/>
          <p:nvPr/>
        </p:nvSpPr>
        <p:spPr>
          <a:xfrm>
            <a:off x="8261300" y="3519636"/>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Code review bottlenecks slow delivery. Repetitive workflows (CI fixes) consume senior time.</a:t>
            </a:r>
            <a:endParaRPr/>
          </a:p>
        </p:txBody>
      </p:sp>
      <p:sp>
        <p:nvSpPr>
          <p:cNvPr id="144" name="Google Shape;144;p15"/>
          <p:cNvSpPr txBox="1"/>
          <p:nvPr/>
        </p:nvSpPr>
        <p:spPr>
          <a:xfrm>
            <a:off x="8261300" y="3927127"/>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Devin's Solution:</a:t>
            </a:r>
            <a:endParaRPr/>
          </a:p>
        </p:txBody>
      </p:sp>
      <p:sp>
        <p:nvSpPr>
          <p:cNvPr id="145" name="Google Shape;145;p15"/>
          <p:cNvSpPr txBox="1"/>
          <p:nvPr/>
        </p:nvSpPr>
        <p:spPr>
          <a:xfrm>
            <a:off x="8261300" y="4125664"/>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Devin Review provides auto-PR scans, and Automations trigger Devin on events without human intervention.</a:t>
            </a:r>
            <a:endParaRPr/>
          </a:p>
        </p:txBody>
      </p:sp>
      <p:sp>
        <p:nvSpPr>
          <p:cNvPr id="146" name="Google Shape;146;p15"/>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Strategic Need for Devin</a:t>
            </a:r>
            <a:endParaRPr/>
          </a:p>
        </p:txBody>
      </p:sp>
      <p:sp>
        <p:nvSpPr>
          <p:cNvPr id="147" name="Google Shape;147;p15"/>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pic>
        <p:nvPicPr>
          <p:cNvPr descr="image.png" id="152" name="Google Shape;152;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3" name="Google Shape;153;p16"/>
          <p:cNvPicPr preferRelativeResize="0"/>
          <p:nvPr/>
        </p:nvPicPr>
        <p:blipFill rotWithShape="1">
          <a:blip r:embed="rId4">
            <a:alphaModFix/>
          </a:blip>
          <a:srcRect b="0" l="0" r="0" t="0"/>
          <a:stretch/>
        </p:blipFill>
        <p:spPr>
          <a:xfrm>
            <a:off x="571500" y="1066800"/>
            <a:ext cx="11049000" cy="2047875"/>
          </a:xfrm>
          <a:prstGeom prst="rect">
            <a:avLst/>
          </a:prstGeom>
          <a:noFill/>
          <a:ln>
            <a:noFill/>
          </a:ln>
        </p:spPr>
      </p:pic>
      <p:pic>
        <p:nvPicPr>
          <p:cNvPr descr="image.png" id="154" name="Google Shape;154;p16"/>
          <p:cNvPicPr preferRelativeResize="0"/>
          <p:nvPr/>
        </p:nvPicPr>
        <p:blipFill rotWithShape="1">
          <a:blip r:embed="rId5">
            <a:alphaModFix/>
          </a:blip>
          <a:srcRect b="0" l="0" r="0" t="0"/>
          <a:stretch/>
        </p:blipFill>
        <p:spPr>
          <a:xfrm>
            <a:off x="571500" y="466725"/>
            <a:ext cx="857250" cy="209550"/>
          </a:xfrm>
          <a:prstGeom prst="rect">
            <a:avLst/>
          </a:prstGeom>
          <a:noFill/>
          <a:ln>
            <a:noFill/>
          </a:ln>
        </p:spPr>
      </p:pic>
      <p:graphicFrame>
        <p:nvGraphicFramePr>
          <p:cNvPr id="155" name="Google Shape;155;p16"/>
          <p:cNvGraphicFramePr/>
          <p:nvPr/>
        </p:nvGraphicFramePr>
        <p:xfrm>
          <a:off x="581025" y="1076325"/>
          <a:ext cx="3000000" cy="3000000"/>
        </p:xfrm>
        <a:graphic>
          <a:graphicData uri="http://schemas.openxmlformats.org/drawingml/2006/table">
            <a:tbl>
              <a:tblPr bandRow="1" firstRow="1">
                <a:noFill/>
                <a:tableStyleId>{4082E842-8FCA-41A0-AF41-31C70471DD3A}</a:tableStyleId>
              </a:tblPr>
              <a:tblGrid>
                <a:gridCol w="1974650"/>
                <a:gridCol w="1833550"/>
                <a:gridCol w="1664350"/>
                <a:gridCol w="1621925"/>
                <a:gridCol w="1678325"/>
                <a:gridCol w="2257125"/>
              </a:tblGrid>
              <a:tr h="33812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Capability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GitHub Copilot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Cursor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Claude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ChatGPT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Devin AI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381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Interaction 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Inline suggestion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IDE chat + edit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Terminal agent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Conversational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Autonomous agent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381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Execution Env</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None (IDE only)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None (IDE only)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Local machine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Isolated Linux VM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381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Persistent 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Yes (Knowledge)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381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Parallel Exec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Yes (Managed Devins)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38150">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Code Review Plat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Yes (Devin 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bl>
          </a:graphicData>
        </a:graphic>
      </p:graphicFrame>
      <p:sp>
        <p:nvSpPr>
          <p:cNvPr id="156" name="Google Shape;156;p16"/>
          <p:cNvSpPr/>
          <p:nvPr/>
        </p:nvSpPr>
        <p:spPr>
          <a:xfrm>
            <a:off x="581025" y="1385887"/>
            <a:ext cx="197465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6"/>
          <p:cNvSpPr/>
          <p:nvPr/>
        </p:nvSpPr>
        <p:spPr>
          <a:xfrm>
            <a:off x="2555676" y="1385887"/>
            <a:ext cx="18335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6"/>
          <p:cNvSpPr/>
          <p:nvPr/>
        </p:nvSpPr>
        <p:spPr>
          <a:xfrm>
            <a:off x="4389239" y="1385887"/>
            <a:ext cx="16643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6"/>
          <p:cNvSpPr/>
          <p:nvPr/>
        </p:nvSpPr>
        <p:spPr>
          <a:xfrm>
            <a:off x="6053583" y="1385887"/>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6"/>
          <p:cNvSpPr/>
          <p:nvPr/>
        </p:nvSpPr>
        <p:spPr>
          <a:xfrm>
            <a:off x="7675512" y="1385887"/>
            <a:ext cx="1678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6"/>
          <p:cNvSpPr/>
          <p:nvPr/>
        </p:nvSpPr>
        <p:spPr>
          <a:xfrm>
            <a:off x="9353847" y="1385887"/>
            <a:ext cx="22571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6"/>
          <p:cNvSpPr txBox="1"/>
          <p:nvPr/>
        </p:nvSpPr>
        <p:spPr>
          <a:xfrm>
            <a:off x="571500" y="3257550"/>
            <a:ext cx="5429250"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Landscape Differentiators:</a:t>
            </a:r>
            <a:endParaRPr/>
          </a:p>
        </p:txBody>
      </p:sp>
      <p:sp>
        <p:nvSpPr>
          <p:cNvPr id="163" name="Google Shape;163;p16"/>
          <p:cNvSpPr txBox="1"/>
          <p:nvPr/>
        </p:nvSpPr>
        <p:spPr>
          <a:xfrm>
            <a:off x="571500" y="3475136"/>
            <a:ext cx="54292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Devin provides unique advantages in </a:t>
            </a:r>
            <a:r>
              <a:rPr b="1" i="0" lang="en-US" sz="900" u="none" cap="none" strike="noStrike">
                <a:solidFill>
                  <a:srgbClr val="475569"/>
                </a:solidFill>
                <a:latin typeface="Plus Jakarta Sans"/>
                <a:ea typeface="Plus Jakarta Sans"/>
                <a:cs typeface="Plus Jakarta Sans"/>
                <a:sym typeface="Plus Jakarta Sans"/>
              </a:rPr>
              <a:t>autonomous execution</a:t>
            </a:r>
            <a:r>
              <a:rPr b="0" i="0" lang="en-US" sz="900" u="none" cap="none" strike="noStrike">
                <a:solidFill>
                  <a:srgbClr val="475569"/>
                </a:solidFill>
                <a:latin typeface="Plus Jakarta Sans"/>
                <a:ea typeface="Plus Jakarta Sans"/>
                <a:cs typeface="Plus Jakarta Sans"/>
                <a:sym typeface="Plus Jakarta Sans"/>
              </a:rPr>
              <a:t> (no human in loop), </a:t>
            </a:r>
            <a:r>
              <a:rPr b="1" i="0" lang="en-US" sz="900" u="none" cap="none" strike="noStrike">
                <a:solidFill>
                  <a:srgbClr val="475569"/>
                </a:solidFill>
                <a:latin typeface="Plus Jakarta Sans"/>
                <a:ea typeface="Plus Jakarta Sans"/>
                <a:cs typeface="Plus Jakarta Sans"/>
                <a:sym typeface="Plus Jakarta Sans"/>
              </a:rPr>
              <a:t>persistent memory</a:t>
            </a:r>
            <a:r>
              <a:rPr b="0" i="0" lang="en-US" sz="900" u="none" cap="none" strike="noStrike">
                <a:solidFill>
                  <a:srgbClr val="475569"/>
                </a:solidFill>
                <a:latin typeface="Plus Jakarta Sans"/>
                <a:ea typeface="Plus Jakarta Sans"/>
                <a:cs typeface="Plus Jakarta Sans"/>
                <a:sym typeface="Plus Jakarta Sans"/>
              </a:rPr>
              <a:t> (Knowledge, Skills), </a:t>
            </a:r>
            <a:r>
              <a:rPr b="1" i="0" lang="en-US" sz="900" u="none" cap="none" strike="noStrike">
                <a:solidFill>
                  <a:srgbClr val="475569"/>
                </a:solidFill>
                <a:latin typeface="Plus Jakarta Sans"/>
                <a:ea typeface="Plus Jakarta Sans"/>
                <a:cs typeface="Plus Jakarta Sans"/>
                <a:sym typeface="Plus Jakarta Sans"/>
              </a:rPr>
              <a:t>parallel workstreams</a:t>
            </a:r>
            <a:r>
              <a:rPr b="0" i="0" lang="en-US" sz="900" u="none" cap="none" strike="noStrike">
                <a:solidFill>
                  <a:srgbClr val="475569"/>
                </a:solidFill>
                <a:latin typeface="Plus Jakarta Sans"/>
                <a:ea typeface="Plus Jakarta Sans"/>
                <a:cs typeface="Plus Jakarta Sans"/>
                <a:sym typeface="Plus Jakarta Sans"/>
              </a:rPr>
              <a:t>, and </a:t>
            </a:r>
            <a:r>
              <a:rPr b="1" i="0" lang="en-US" sz="900" u="none" cap="none" strike="noStrike">
                <a:solidFill>
                  <a:srgbClr val="475569"/>
                </a:solidFill>
                <a:latin typeface="Plus Jakarta Sans"/>
                <a:ea typeface="Plus Jakarta Sans"/>
                <a:cs typeface="Plus Jakarta Sans"/>
                <a:sym typeface="Plus Jakarta Sans"/>
              </a:rPr>
              <a:t>event-driven integrations</a:t>
            </a:r>
            <a:r>
              <a:rPr b="0" i="0" lang="en-US" sz="900" u="none" cap="none" strike="noStrike">
                <a:solidFill>
                  <a:srgbClr val="475569"/>
                </a:solidFill>
                <a:latin typeface="Plus Jakarta Sans"/>
                <a:ea typeface="Plus Jakarta Sans"/>
                <a:cs typeface="Plus Jakarta Sans"/>
                <a:sym typeface="Plus Jakarta Sans"/>
              </a:rPr>
              <a:t>.</a:t>
            </a:r>
            <a:endParaRPr/>
          </a:p>
        </p:txBody>
      </p:sp>
      <p:sp>
        <p:nvSpPr>
          <p:cNvPr id="164" name="Google Shape;164;p16"/>
          <p:cNvSpPr txBox="1"/>
          <p:nvPr/>
        </p:nvSpPr>
        <p:spPr>
          <a:xfrm>
            <a:off x="6191250" y="3257550"/>
            <a:ext cx="5429250"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Enterprise Governance:</a:t>
            </a:r>
            <a:endParaRPr/>
          </a:p>
        </p:txBody>
      </p:sp>
      <p:sp>
        <p:nvSpPr>
          <p:cNvPr id="165" name="Google Shape;165;p16"/>
          <p:cNvSpPr txBox="1"/>
          <p:nvPr/>
        </p:nvSpPr>
        <p:spPr>
          <a:xfrm>
            <a:off x="6191250" y="3475136"/>
            <a:ext cx="54292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Features industrial security out of the box: Single Sign-On (SSO), Role-Based Access Control (RBAC), IP Access lists, ACU Budgets, and comprehensive audit trails.</a:t>
            </a:r>
            <a:endParaRPr/>
          </a:p>
        </p:txBody>
      </p:sp>
      <p:sp>
        <p:nvSpPr>
          <p:cNvPr id="166" name="Google Shape;166;p16"/>
          <p:cNvSpPr/>
          <p:nvPr/>
        </p:nvSpPr>
        <p:spPr>
          <a:xfrm>
            <a:off x="581025" y="1728787"/>
            <a:ext cx="197465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6"/>
          <p:cNvSpPr/>
          <p:nvPr/>
        </p:nvSpPr>
        <p:spPr>
          <a:xfrm>
            <a:off x="2555676" y="1728787"/>
            <a:ext cx="18335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6"/>
          <p:cNvSpPr/>
          <p:nvPr/>
        </p:nvSpPr>
        <p:spPr>
          <a:xfrm>
            <a:off x="4389239" y="1728787"/>
            <a:ext cx="16643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6"/>
          <p:cNvSpPr/>
          <p:nvPr/>
        </p:nvSpPr>
        <p:spPr>
          <a:xfrm>
            <a:off x="6053583" y="1728787"/>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6"/>
          <p:cNvSpPr/>
          <p:nvPr/>
        </p:nvSpPr>
        <p:spPr>
          <a:xfrm>
            <a:off x="7675512" y="1728787"/>
            <a:ext cx="1678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6"/>
          <p:cNvSpPr/>
          <p:nvPr/>
        </p:nvSpPr>
        <p:spPr>
          <a:xfrm>
            <a:off x="9353847" y="1728787"/>
            <a:ext cx="22571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6"/>
          <p:cNvSpPr/>
          <p:nvPr/>
        </p:nvSpPr>
        <p:spPr>
          <a:xfrm>
            <a:off x="581025" y="2071687"/>
            <a:ext cx="197465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6"/>
          <p:cNvSpPr/>
          <p:nvPr/>
        </p:nvSpPr>
        <p:spPr>
          <a:xfrm>
            <a:off x="2555676" y="2071687"/>
            <a:ext cx="18335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6"/>
          <p:cNvSpPr/>
          <p:nvPr/>
        </p:nvSpPr>
        <p:spPr>
          <a:xfrm>
            <a:off x="4389239" y="2071687"/>
            <a:ext cx="16643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6"/>
          <p:cNvSpPr/>
          <p:nvPr/>
        </p:nvSpPr>
        <p:spPr>
          <a:xfrm>
            <a:off x="6053583" y="2071687"/>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6"/>
          <p:cNvSpPr/>
          <p:nvPr/>
        </p:nvSpPr>
        <p:spPr>
          <a:xfrm>
            <a:off x="7675512" y="2071687"/>
            <a:ext cx="1678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6"/>
          <p:cNvSpPr/>
          <p:nvPr/>
        </p:nvSpPr>
        <p:spPr>
          <a:xfrm>
            <a:off x="9353847" y="2071687"/>
            <a:ext cx="22571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6"/>
          <p:cNvSpPr/>
          <p:nvPr/>
        </p:nvSpPr>
        <p:spPr>
          <a:xfrm>
            <a:off x="581025" y="2414587"/>
            <a:ext cx="197465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6"/>
          <p:cNvSpPr/>
          <p:nvPr/>
        </p:nvSpPr>
        <p:spPr>
          <a:xfrm>
            <a:off x="2555676" y="2414587"/>
            <a:ext cx="18335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6"/>
          <p:cNvSpPr/>
          <p:nvPr/>
        </p:nvSpPr>
        <p:spPr>
          <a:xfrm>
            <a:off x="4389239" y="2414587"/>
            <a:ext cx="16643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6"/>
          <p:cNvSpPr/>
          <p:nvPr/>
        </p:nvSpPr>
        <p:spPr>
          <a:xfrm>
            <a:off x="6053583" y="2414587"/>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6"/>
          <p:cNvSpPr/>
          <p:nvPr/>
        </p:nvSpPr>
        <p:spPr>
          <a:xfrm>
            <a:off x="7675512" y="2414587"/>
            <a:ext cx="1678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6"/>
          <p:cNvSpPr/>
          <p:nvPr/>
        </p:nvSpPr>
        <p:spPr>
          <a:xfrm>
            <a:off x="9353847" y="2414587"/>
            <a:ext cx="22571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6"/>
          <p:cNvSpPr/>
          <p:nvPr/>
        </p:nvSpPr>
        <p:spPr>
          <a:xfrm>
            <a:off x="581025" y="2757487"/>
            <a:ext cx="197465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6"/>
          <p:cNvSpPr/>
          <p:nvPr/>
        </p:nvSpPr>
        <p:spPr>
          <a:xfrm>
            <a:off x="2555676" y="2757487"/>
            <a:ext cx="18335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6"/>
          <p:cNvSpPr/>
          <p:nvPr/>
        </p:nvSpPr>
        <p:spPr>
          <a:xfrm>
            <a:off x="4389239" y="2757487"/>
            <a:ext cx="16643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6"/>
          <p:cNvSpPr/>
          <p:nvPr/>
        </p:nvSpPr>
        <p:spPr>
          <a:xfrm>
            <a:off x="6053583" y="2757487"/>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6"/>
          <p:cNvSpPr/>
          <p:nvPr/>
        </p:nvSpPr>
        <p:spPr>
          <a:xfrm>
            <a:off x="7675512" y="2757487"/>
            <a:ext cx="1678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6"/>
          <p:cNvSpPr/>
          <p:nvPr/>
        </p:nvSpPr>
        <p:spPr>
          <a:xfrm>
            <a:off x="9353847" y="2757487"/>
            <a:ext cx="22571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6"/>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Landscape Capabilities Matrix</a:t>
            </a:r>
            <a:endParaRPr/>
          </a:p>
        </p:txBody>
      </p:sp>
      <p:sp>
        <p:nvSpPr>
          <p:cNvPr id="191" name="Google Shape;191;p16"/>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pic>
        <p:nvPicPr>
          <p:cNvPr descr="image.png" id="196" name="Google Shape;19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7" name="Google Shape;197;p17"/>
          <p:cNvPicPr preferRelativeResize="0"/>
          <p:nvPr/>
        </p:nvPicPr>
        <p:blipFill rotWithShape="1">
          <a:blip r:embed="rId4">
            <a:alphaModFix/>
          </a:blip>
          <a:srcRect b="0" l="0" r="0" t="0"/>
          <a:stretch/>
        </p:blipFill>
        <p:spPr>
          <a:xfrm>
            <a:off x="571500" y="2219325"/>
            <a:ext cx="5919787" cy="571500"/>
          </a:xfrm>
          <a:prstGeom prst="rect">
            <a:avLst/>
          </a:prstGeom>
          <a:noFill/>
          <a:ln>
            <a:noFill/>
          </a:ln>
        </p:spPr>
      </p:pic>
      <p:pic>
        <p:nvPicPr>
          <p:cNvPr descr="image.png" id="198" name="Google Shape;198;p17"/>
          <p:cNvPicPr preferRelativeResize="0"/>
          <p:nvPr/>
        </p:nvPicPr>
        <p:blipFill rotWithShape="1">
          <a:blip r:embed="rId5">
            <a:alphaModFix/>
          </a:blip>
          <a:srcRect b="0" l="0" r="0" t="0"/>
          <a:stretch/>
        </p:blipFill>
        <p:spPr>
          <a:xfrm>
            <a:off x="571500" y="3048000"/>
            <a:ext cx="5919787" cy="571500"/>
          </a:xfrm>
          <a:prstGeom prst="rect">
            <a:avLst/>
          </a:prstGeom>
          <a:noFill/>
          <a:ln>
            <a:noFill/>
          </a:ln>
        </p:spPr>
      </p:pic>
      <p:pic>
        <p:nvPicPr>
          <p:cNvPr descr="image.png" id="199" name="Google Shape;199;p17"/>
          <p:cNvPicPr preferRelativeResize="0"/>
          <p:nvPr/>
        </p:nvPicPr>
        <p:blipFill rotWithShape="1">
          <a:blip r:embed="rId6">
            <a:alphaModFix/>
          </a:blip>
          <a:srcRect b="0" l="0" r="0" t="0"/>
          <a:stretch/>
        </p:blipFill>
        <p:spPr>
          <a:xfrm>
            <a:off x="571500" y="3876675"/>
            <a:ext cx="5919787" cy="771525"/>
          </a:xfrm>
          <a:prstGeom prst="rect">
            <a:avLst/>
          </a:prstGeom>
          <a:noFill/>
          <a:ln>
            <a:noFill/>
          </a:ln>
        </p:spPr>
      </p:pic>
      <p:pic>
        <p:nvPicPr>
          <p:cNvPr descr="image.png" id="200" name="Google Shape;200;p17"/>
          <p:cNvPicPr preferRelativeResize="0"/>
          <p:nvPr/>
        </p:nvPicPr>
        <p:blipFill rotWithShape="1">
          <a:blip r:embed="rId7">
            <a:alphaModFix/>
          </a:blip>
          <a:srcRect b="0" l="0" r="0" t="0"/>
          <a:stretch/>
        </p:blipFill>
        <p:spPr>
          <a:xfrm>
            <a:off x="571500" y="4905375"/>
            <a:ext cx="5919787" cy="419100"/>
          </a:xfrm>
          <a:prstGeom prst="rect">
            <a:avLst/>
          </a:prstGeom>
          <a:noFill/>
          <a:ln>
            <a:noFill/>
          </a:ln>
        </p:spPr>
      </p:pic>
      <p:pic>
        <p:nvPicPr>
          <p:cNvPr descr="image.png" id="201" name="Google Shape;201;p17"/>
          <p:cNvPicPr preferRelativeResize="0"/>
          <p:nvPr/>
        </p:nvPicPr>
        <p:blipFill rotWithShape="1">
          <a:blip r:embed="rId8">
            <a:alphaModFix/>
          </a:blip>
          <a:srcRect b="0" l="0" r="0" t="0"/>
          <a:stretch/>
        </p:blipFill>
        <p:spPr>
          <a:xfrm>
            <a:off x="6777037" y="3066454"/>
            <a:ext cx="4843462" cy="1744265"/>
          </a:xfrm>
          <a:prstGeom prst="rect">
            <a:avLst/>
          </a:prstGeom>
          <a:noFill/>
          <a:ln>
            <a:noFill/>
          </a:ln>
        </p:spPr>
      </p:pic>
      <p:pic>
        <p:nvPicPr>
          <p:cNvPr descr="image.png" id="202" name="Google Shape;202;p17"/>
          <p:cNvPicPr preferRelativeResize="0"/>
          <p:nvPr/>
        </p:nvPicPr>
        <p:blipFill rotWithShape="1">
          <a:blip r:embed="rId9">
            <a:alphaModFix/>
          </a:blip>
          <a:srcRect b="0" l="0" r="0" t="0"/>
          <a:stretch/>
        </p:blipFill>
        <p:spPr>
          <a:xfrm>
            <a:off x="571500" y="466725"/>
            <a:ext cx="857250" cy="209550"/>
          </a:xfrm>
          <a:prstGeom prst="rect">
            <a:avLst/>
          </a:prstGeom>
          <a:noFill/>
          <a:ln>
            <a:noFill/>
          </a:ln>
        </p:spPr>
      </p:pic>
      <p:sp>
        <p:nvSpPr>
          <p:cNvPr id="203" name="Google Shape;203;p17"/>
          <p:cNvSpPr txBox="1"/>
          <p:nvPr/>
        </p:nvSpPr>
        <p:spPr>
          <a:xfrm>
            <a:off x="6777037" y="2733079"/>
            <a:ext cx="508563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Core Architectural Principles</a:t>
            </a:r>
            <a:endParaRPr/>
          </a:p>
        </p:txBody>
      </p:sp>
      <p:sp>
        <p:nvSpPr>
          <p:cNvPr id="204" name="Google Shape;204;p17"/>
          <p:cNvSpPr txBox="1"/>
          <p:nvPr/>
        </p:nvSpPr>
        <p:spPr>
          <a:xfrm>
            <a:off x="723900" y="2324100"/>
            <a:ext cx="5614987"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01. INTERACTION LAYER</a:t>
            </a:r>
            <a:endParaRPr/>
          </a:p>
        </p:txBody>
      </p:sp>
      <p:pic>
        <p:nvPicPr>
          <p:cNvPr descr="image.png" id="205" name="Google Shape;205;p17"/>
          <p:cNvPicPr preferRelativeResize="0"/>
          <p:nvPr/>
        </p:nvPicPr>
        <p:blipFill rotWithShape="1">
          <a:blip r:embed="rId10">
            <a:alphaModFix/>
          </a:blip>
          <a:srcRect b="0" l="0" r="0" t="0"/>
          <a:stretch/>
        </p:blipFill>
        <p:spPr>
          <a:xfrm>
            <a:off x="3488531" y="2867025"/>
            <a:ext cx="85725" cy="114300"/>
          </a:xfrm>
          <a:prstGeom prst="rect">
            <a:avLst/>
          </a:prstGeom>
          <a:noFill/>
          <a:ln>
            <a:noFill/>
          </a:ln>
        </p:spPr>
      </p:pic>
      <p:sp>
        <p:nvSpPr>
          <p:cNvPr id="206" name="Google Shape;206;p17"/>
          <p:cNvSpPr txBox="1"/>
          <p:nvPr/>
        </p:nvSpPr>
        <p:spPr>
          <a:xfrm>
            <a:off x="723900" y="3152775"/>
            <a:ext cx="5614987"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7C3AED"/>
                </a:solidFill>
                <a:latin typeface="JetBrains Mono"/>
                <a:ea typeface="JetBrains Mono"/>
                <a:cs typeface="JetBrains Mono"/>
                <a:sym typeface="JetBrains Mono"/>
              </a:rPr>
              <a:t>02. ORGANIZATIONAL MEMORY LAYER</a:t>
            </a:r>
            <a:endParaRPr/>
          </a:p>
        </p:txBody>
      </p:sp>
      <p:pic>
        <p:nvPicPr>
          <p:cNvPr descr="image.png" id="207" name="Google Shape;207;p17"/>
          <p:cNvPicPr preferRelativeResize="0"/>
          <p:nvPr/>
        </p:nvPicPr>
        <p:blipFill rotWithShape="1">
          <a:blip r:embed="rId10">
            <a:alphaModFix/>
          </a:blip>
          <a:srcRect b="0" l="0" r="0" t="0"/>
          <a:stretch/>
        </p:blipFill>
        <p:spPr>
          <a:xfrm>
            <a:off x="3488531" y="3695700"/>
            <a:ext cx="85725" cy="114300"/>
          </a:xfrm>
          <a:prstGeom prst="rect">
            <a:avLst/>
          </a:prstGeom>
          <a:noFill/>
          <a:ln>
            <a:noFill/>
          </a:ln>
        </p:spPr>
      </p:pic>
      <p:sp>
        <p:nvSpPr>
          <p:cNvPr id="208" name="Google Shape;208;p17"/>
          <p:cNvSpPr txBox="1"/>
          <p:nvPr/>
        </p:nvSpPr>
        <p:spPr>
          <a:xfrm>
            <a:off x="723900" y="3981450"/>
            <a:ext cx="5614987"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D9488"/>
                </a:solidFill>
                <a:latin typeface="JetBrains Mono"/>
                <a:ea typeface="JetBrains Mono"/>
                <a:cs typeface="JetBrains Mono"/>
                <a:sym typeface="JetBrains Mono"/>
              </a:rPr>
              <a:t>03. ENVIRONMENT &amp; INTEGRATION LAYERS</a:t>
            </a:r>
            <a:endParaRPr/>
          </a:p>
        </p:txBody>
      </p:sp>
      <p:pic>
        <p:nvPicPr>
          <p:cNvPr descr="image.png" id="209" name="Google Shape;209;p17"/>
          <p:cNvPicPr preferRelativeResize="0"/>
          <p:nvPr/>
        </p:nvPicPr>
        <p:blipFill rotWithShape="1">
          <a:blip r:embed="rId10">
            <a:alphaModFix/>
          </a:blip>
          <a:srcRect b="0" l="0" r="0" t="0"/>
          <a:stretch/>
        </p:blipFill>
        <p:spPr>
          <a:xfrm>
            <a:off x="3488531" y="4724400"/>
            <a:ext cx="85725" cy="114300"/>
          </a:xfrm>
          <a:prstGeom prst="rect">
            <a:avLst/>
          </a:prstGeom>
          <a:noFill/>
          <a:ln>
            <a:noFill/>
          </a:ln>
        </p:spPr>
      </p:pic>
      <p:sp>
        <p:nvSpPr>
          <p:cNvPr id="210" name="Google Shape;210;p17"/>
          <p:cNvSpPr txBox="1"/>
          <p:nvPr/>
        </p:nvSpPr>
        <p:spPr>
          <a:xfrm>
            <a:off x="723900" y="4991100"/>
            <a:ext cx="5614987"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 u="none" cap="none" strike="noStrike">
                <a:solidFill>
                  <a:srgbClr val="475569"/>
                </a:solidFill>
                <a:latin typeface="JetBrains Mono"/>
                <a:ea typeface="JetBrains Mono"/>
                <a:cs typeface="JetBrains Mono"/>
                <a:sym typeface="JetBrains Mono"/>
              </a:rPr>
              <a:t>04. ENTERPRISE GOVERNANCE LAYER</a:t>
            </a:r>
            <a:endParaRPr/>
          </a:p>
        </p:txBody>
      </p:sp>
      <p:sp>
        <p:nvSpPr>
          <p:cNvPr id="211" name="Google Shape;211;p17"/>
          <p:cNvSpPr txBox="1"/>
          <p:nvPr/>
        </p:nvSpPr>
        <p:spPr>
          <a:xfrm>
            <a:off x="723900" y="5124450"/>
            <a:ext cx="5614987"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RBAC • SSO/IdP Group Mapping • ACU Budgets • IP Access Lists • Audit Trails</a:t>
            </a:r>
            <a:endParaRPr/>
          </a:p>
        </p:txBody>
      </p:sp>
      <p:sp>
        <p:nvSpPr>
          <p:cNvPr id="212" name="Google Shape;212;p17"/>
          <p:cNvSpPr txBox="1"/>
          <p:nvPr/>
        </p:nvSpPr>
        <p:spPr>
          <a:xfrm>
            <a:off x="6958012" y="3190279"/>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1. Isolation</a:t>
            </a:r>
            <a:r>
              <a:rPr b="0" i="0" lang="en-US" sz="900" u="none" cap="none" strike="noStrike">
                <a:solidFill>
                  <a:srgbClr val="475569"/>
                </a:solidFill>
                <a:latin typeface="Plus Jakarta Sans"/>
                <a:ea typeface="Plus Jakarta Sans"/>
                <a:cs typeface="Plus Jakarta Sans"/>
                <a:sym typeface="Plus Jakarta Sans"/>
              </a:rPr>
              <a:t> — Every session boots from a clean snapshot; changes don't persist back directly to base images.</a:t>
            </a:r>
            <a:endParaRPr/>
          </a:p>
        </p:txBody>
      </p:sp>
      <p:sp>
        <p:nvSpPr>
          <p:cNvPr id="213" name="Google Shape;213;p17"/>
          <p:cNvSpPr txBox="1"/>
          <p:nvPr/>
        </p:nvSpPr>
        <p:spPr>
          <a:xfrm>
            <a:off x="6958012" y="3578721"/>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2. Layered Memory</a:t>
            </a:r>
            <a:r>
              <a:rPr b="0" i="0" lang="en-US" sz="900" u="none" cap="none" strike="noStrike">
                <a:solidFill>
                  <a:srgbClr val="475569"/>
                </a:solidFill>
                <a:latin typeface="Plus Jakarta Sans"/>
                <a:ea typeface="Plus Jakarta Sans"/>
                <a:cs typeface="Plus Jakarta Sans"/>
                <a:sym typeface="Plus Jakarta Sans"/>
              </a:rPr>
              <a:t> — Knowledge, Skills, and Playbooks provide persistent organizational context over time.</a:t>
            </a:r>
            <a:endParaRPr/>
          </a:p>
        </p:txBody>
      </p:sp>
      <p:sp>
        <p:nvSpPr>
          <p:cNvPr id="214" name="Google Shape;214;p17"/>
          <p:cNvSpPr txBox="1"/>
          <p:nvPr/>
        </p:nvSpPr>
        <p:spPr>
          <a:xfrm>
            <a:off x="6958012" y="3967162"/>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3. Event-driven Flow</a:t>
            </a:r>
            <a:r>
              <a:rPr b="0" i="0" lang="en-US" sz="900" u="none" cap="none" strike="noStrike">
                <a:solidFill>
                  <a:srgbClr val="475569"/>
                </a:solidFill>
                <a:latin typeface="Plus Jakarta Sans"/>
                <a:ea typeface="Plus Jakarta Sans"/>
                <a:cs typeface="Plus Jakarta Sans"/>
                <a:sym typeface="Plus Jakarta Sans"/>
              </a:rPr>
              <a:t> — Automations seamlessly bind external check failures or triggers to live sessions.</a:t>
            </a:r>
            <a:endParaRPr/>
          </a:p>
        </p:txBody>
      </p:sp>
      <p:sp>
        <p:nvSpPr>
          <p:cNvPr id="215" name="Google Shape;215;p17"/>
          <p:cNvSpPr txBox="1"/>
          <p:nvPr/>
        </p:nvSpPr>
        <p:spPr>
          <a:xfrm>
            <a:off x="6958012" y="4355603"/>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4. Hierarchical Governance</a:t>
            </a:r>
            <a:r>
              <a:rPr b="0" i="0" lang="en-US" sz="900" u="none" cap="none" strike="noStrike">
                <a:solidFill>
                  <a:srgbClr val="475569"/>
                </a:solidFill>
                <a:latin typeface="Plus Jakarta Sans"/>
                <a:ea typeface="Plus Jakarta Sans"/>
                <a:cs typeface="Plus Jakarta Sans"/>
                <a:sym typeface="Plus Jakarta Sans"/>
              </a:rPr>
              <a:t> — Structured additive layers: Enterprise → Organization → Repository blueprints.</a:t>
            </a:r>
            <a:endParaRPr/>
          </a:p>
        </p:txBody>
      </p:sp>
      <p:pic>
        <p:nvPicPr>
          <p:cNvPr descr="image.png" id="216" name="Google Shape;216;p17"/>
          <p:cNvPicPr preferRelativeResize="0"/>
          <p:nvPr/>
        </p:nvPicPr>
        <p:blipFill rotWithShape="1">
          <a:blip r:embed="rId11">
            <a:alphaModFix/>
          </a:blip>
          <a:srcRect b="0" l="0" r="0" t="0"/>
          <a:stretch/>
        </p:blipFill>
        <p:spPr>
          <a:xfrm>
            <a:off x="1431131" y="2486025"/>
            <a:ext cx="1314450" cy="200025"/>
          </a:xfrm>
          <a:prstGeom prst="rect">
            <a:avLst/>
          </a:prstGeom>
          <a:noFill/>
          <a:ln>
            <a:noFill/>
          </a:ln>
        </p:spPr>
      </p:pic>
      <p:pic>
        <p:nvPicPr>
          <p:cNvPr descr="image.png" id="217" name="Google Shape;217;p17"/>
          <p:cNvPicPr preferRelativeResize="0"/>
          <p:nvPr/>
        </p:nvPicPr>
        <p:blipFill rotWithShape="1">
          <a:blip r:embed="rId12">
            <a:alphaModFix/>
          </a:blip>
          <a:srcRect b="0" l="0" r="0" t="0"/>
          <a:stretch/>
        </p:blipFill>
        <p:spPr>
          <a:xfrm>
            <a:off x="2821781" y="2486025"/>
            <a:ext cx="1219200" cy="200025"/>
          </a:xfrm>
          <a:prstGeom prst="rect">
            <a:avLst/>
          </a:prstGeom>
          <a:noFill/>
          <a:ln>
            <a:noFill/>
          </a:ln>
        </p:spPr>
      </p:pic>
      <p:pic>
        <p:nvPicPr>
          <p:cNvPr descr="image.png" id="218" name="Google Shape;218;p17"/>
          <p:cNvPicPr preferRelativeResize="0"/>
          <p:nvPr/>
        </p:nvPicPr>
        <p:blipFill rotWithShape="1">
          <a:blip r:embed="rId13">
            <a:alphaModFix/>
          </a:blip>
          <a:srcRect b="0" l="0" r="0" t="0"/>
          <a:stretch/>
        </p:blipFill>
        <p:spPr>
          <a:xfrm>
            <a:off x="4117181" y="2486025"/>
            <a:ext cx="1514475" cy="200025"/>
          </a:xfrm>
          <a:prstGeom prst="rect">
            <a:avLst/>
          </a:prstGeom>
          <a:noFill/>
          <a:ln>
            <a:noFill/>
          </a:ln>
        </p:spPr>
      </p:pic>
      <p:pic>
        <p:nvPicPr>
          <p:cNvPr descr="image.png" id="219" name="Google Shape;219;p17"/>
          <p:cNvPicPr preferRelativeResize="0"/>
          <p:nvPr/>
        </p:nvPicPr>
        <p:blipFill rotWithShape="1">
          <a:blip r:embed="rId14">
            <a:alphaModFix/>
          </a:blip>
          <a:srcRect b="0" l="0" r="0" t="0"/>
          <a:stretch/>
        </p:blipFill>
        <p:spPr>
          <a:xfrm>
            <a:off x="2074068" y="3314700"/>
            <a:ext cx="742950" cy="200025"/>
          </a:xfrm>
          <a:prstGeom prst="rect">
            <a:avLst/>
          </a:prstGeom>
          <a:noFill/>
          <a:ln>
            <a:noFill/>
          </a:ln>
        </p:spPr>
      </p:pic>
      <p:pic>
        <p:nvPicPr>
          <p:cNvPr descr="image.png" id="220" name="Google Shape;220;p17"/>
          <p:cNvPicPr preferRelativeResize="0"/>
          <p:nvPr/>
        </p:nvPicPr>
        <p:blipFill rotWithShape="1">
          <a:blip r:embed="rId15">
            <a:alphaModFix/>
          </a:blip>
          <a:srcRect b="0" l="0" r="0" t="0"/>
          <a:stretch/>
        </p:blipFill>
        <p:spPr>
          <a:xfrm>
            <a:off x="2893218" y="3314700"/>
            <a:ext cx="438150" cy="200025"/>
          </a:xfrm>
          <a:prstGeom prst="rect">
            <a:avLst/>
          </a:prstGeom>
          <a:noFill/>
          <a:ln>
            <a:noFill/>
          </a:ln>
        </p:spPr>
      </p:pic>
      <p:pic>
        <p:nvPicPr>
          <p:cNvPr descr="image.png" id="221" name="Google Shape;221;p17"/>
          <p:cNvPicPr preferRelativeResize="0"/>
          <p:nvPr/>
        </p:nvPicPr>
        <p:blipFill rotWithShape="1">
          <a:blip r:embed="rId16">
            <a:alphaModFix/>
          </a:blip>
          <a:srcRect b="0" l="0" r="0" t="0"/>
          <a:stretch/>
        </p:blipFill>
        <p:spPr>
          <a:xfrm>
            <a:off x="3407568" y="3314700"/>
            <a:ext cx="695325" cy="200025"/>
          </a:xfrm>
          <a:prstGeom prst="rect">
            <a:avLst/>
          </a:prstGeom>
          <a:noFill/>
          <a:ln>
            <a:noFill/>
          </a:ln>
        </p:spPr>
      </p:pic>
      <p:pic>
        <p:nvPicPr>
          <p:cNvPr descr="image.png" id="222" name="Google Shape;222;p17"/>
          <p:cNvPicPr preferRelativeResize="0"/>
          <p:nvPr/>
        </p:nvPicPr>
        <p:blipFill rotWithShape="1">
          <a:blip r:embed="rId17">
            <a:alphaModFix/>
          </a:blip>
          <a:srcRect b="0" l="0" r="0" t="0"/>
          <a:stretch/>
        </p:blipFill>
        <p:spPr>
          <a:xfrm>
            <a:off x="4179093" y="3314700"/>
            <a:ext cx="809625" cy="200025"/>
          </a:xfrm>
          <a:prstGeom prst="rect">
            <a:avLst/>
          </a:prstGeom>
          <a:noFill/>
          <a:ln>
            <a:noFill/>
          </a:ln>
        </p:spPr>
      </p:pic>
      <p:pic>
        <p:nvPicPr>
          <p:cNvPr descr="image.png" id="223" name="Google Shape;223;p17"/>
          <p:cNvPicPr preferRelativeResize="0"/>
          <p:nvPr/>
        </p:nvPicPr>
        <p:blipFill rotWithShape="1">
          <a:blip r:embed="rId18">
            <a:alphaModFix/>
          </a:blip>
          <a:srcRect b="0" l="0" r="0" t="0"/>
          <a:stretch/>
        </p:blipFill>
        <p:spPr>
          <a:xfrm>
            <a:off x="2126456" y="4143375"/>
            <a:ext cx="828675" cy="200025"/>
          </a:xfrm>
          <a:prstGeom prst="rect">
            <a:avLst/>
          </a:prstGeom>
          <a:noFill/>
          <a:ln>
            <a:noFill/>
          </a:ln>
        </p:spPr>
      </p:pic>
      <p:pic>
        <p:nvPicPr>
          <p:cNvPr descr="image.png" id="224" name="Google Shape;224;p17"/>
          <p:cNvPicPr preferRelativeResize="0"/>
          <p:nvPr/>
        </p:nvPicPr>
        <p:blipFill rotWithShape="1">
          <a:blip r:embed="rId19">
            <a:alphaModFix/>
          </a:blip>
          <a:srcRect b="0" l="0" r="0" t="0"/>
          <a:stretch/>
        </p:blipFill>
        <p:spPr>
          <a:xfrm>
            <a:off x="3031331" y="4143375"/>
            <a:ext cx="495300" cy="200025"/>
          </a:xfrm>
          <a:prstGeom prst="rect">
            <a:avLst/>
          </a:prstGeom>
          <a:noFill/>
          <a:ln>
            <a:noFill/>
          </a:ln>
        </p:spPr>
      </p:pic>
      <p:pic>
        <p:nvPicPr>
          <p:cNvPr descr="image.png" id="225" name="Google Shape;225;p17"/>
          <p:cNvPicPr preferRelativeResize="0"/>
          <p:nvPr/>
        </p:nvPicPr>
        <p:blipFill rotWithShape="1">
          <a:blip r:embed="rId20">
            <a:alphaModFix/>
          </a:blip>
          <a:srcRect b="0" l="0" r="0" t="0"/>
          <a:stretch/>
        </p:blipFill>
        <p:spPr>
          <a:xfrm>
            <a:off x="3602831" y="4143375"/>
            <a:ext cx="571500" cy="200025"/>
          </a:xfrm>
          <a:prstGeom prst="rect">
            <a:avLst/>
          </a:prstGeom>
          <a:noFill/>
          <a:ln>
            <a:noFill/>
          </a:ln>
        </p:spPr>
      </p:pic>
      <p:pic>
        <p:nvPicPr>
          <p:cNvPr descr="image.png" id="226" name="Google Shape;226;p17"/>
          <p:cNvPicPr preferRelativeResize="0"/>
          <p:nvPr/>
        </p:nvPicPr>
        <p:blipFill rotWithShape="1">
          <a:blip r:embed="rId21">
            <a:alphaModFix/>
          </a:blip>
          <a:srcRect b="0" l="0" r="0" t="0"/>
          <a:stretch/>
        </p:blipFill>
        <p:spPr>
          <a:xfrm>
            <a:off x="4250531" y="4143375"/>
            <a:ext cx="685800" cy="200025"/>
          </a:xfrm>
          <a:prstGeom prst="rect">
            <a:avLst/>
          </a:prstGeom>
          <a:noFill/>
          <a:ln>
            <a:noFill/>
          </a:ln>
        </p:spPr>
      </p:pic>
      <p:pic>
        <p:nvPicPr>
          <p:cNvPr descr="image.png" id="227" name="Google Shape;227;p17"/>
          <p:cNvPicPr preferRelativeResize="0"/>
          <p:nvPr/>
        </p:nvPicPr>
        <p:blipFill rotWithShape="1">
          <a:blip r:embed="rId22">
            <a:alphaModFix/>
          </a:blip>
          <a:srcRect b="0" l="0" r="0" t="0"/>
          <a:stretch/>
        </p:blipFill>
        <p:spPr>
          <a:xfrm>
            <a:off x="2350293" y="4391025"/>
            <a:ext cx="438150" cy="152400"/>
          </a:xfrm>
          <a:prstGeom prst="rect">
            <a:avLst/>
          </a:prstGeom>
          <a:noFill/>
          <a:ln>
            <a:noFill/>
          </a:ln>
        </p:spPr>
      </p:pic>
      <p:pic>
        <p:nvPicPr>
          <p:cNvPr descr="image.png" id="228" name="Google Shape;228;p17"/>
          <p:cNvPicPr preferRelativeResize="0"/>
          <p:nvPr/>
        </p:nvPicPr>
        <p:blipFill rotWithShape="1">
          <a:blip r:embed="rId23">
            <a:alphaModFix/>
          </a:blip>
          <a:srcRect b="0" l="0" r="0" t="0"/>
          <a:stretch/>
        </p:blipFill>
        <p:spPr>
          <a:xfrm>
            <a:off x="2845593" y="4391025"/>
            <a:ext cx="419100" cy="152400"/>
          </a:xfrm>
          <a:prstGeom prst="rect">
            <a:avLst/>
          </a:prstGeom>
          <a:noFill/>
          <a:ln>
            <a:noFill/>
          </a:ln>
        </p:spPr>
      </p:pic>
      <p:pic>
        <p:nvPicPr>
          <p:cNvPr descr="image.png" id="229" name="Google Shape;229;p17"/>
          <p:cNvPicPr preferRelativeResize="0"/>
          <p:nvPr/>
        </p:nvPicPr>
        <p:blipFill rotWithShape="1">
          <a:blip r:embed="rId24">
            <a:alphaModFix/>
          </a:blip>
          <a:srcRect b="0" l="0" r="0" t="0"/>
          <a:stretch/>
        </p:blipFill>
        <p:spPr>
          <a:xfrm>
            <a:off x="3321843" y="4391025"/>
            <a:ext cx="352425" cy="152400"/>
          </a:xfrm>
          <a:prstGeom prst="rect">
            <a:avLst/>
          </a:prstGeom>
          <a:noFill/>
          <a:ln>
            <a:noFill/>
          </a:ln>
        </p:spPr>
      </p:pic>
      <p:pic>
        <p:nvPicPr>
          <p:cNvPr descr="image.png" id="230" name="Google Shape;230;p17"/>
          <p:cNvPicPr preferRelativeResize="0"/>
          <p:nvPr/>
        </p:nvPicPr>
        <p:blipFill rotWithShape="1">
          <a:blip r:embed="rId25">
            <a:alphaModFix/>
          </a:blip>
          <a:srcRect b="0" l="0" r="0" t="0"/>
          <a:stretch/>
        </p:blipFill>
        <p:spPr>
          <a:xfrm>
            <a:off x="3731418" y="4391025"/>
            <a:ext cx="257175" cy="152400"/>
          </a:xfrm>
          <a:prstGeom prst="rect">
            <a:avLst/>
          </a:prstGeom>
          <a:noFill/>
          <a:ln>
            <a:noFill/>
          </a:ln>
        </p:spPr>
      </p:pic>
      <p:pic>
        <p:nvPicPr>
          <p:cNvPr descr="image.png" id="231" name="Google Shape;231;p17"/>
          <p:cNvPicPr preferRelativeResize="0"/>
          <p:nvPr/>
        </p:nvPicPr>
        <p:blipFill rotWithShape="1">
          <a:blip r:embed="rId26">
            <a:alphaModFix/>
          </a:blip>
          <a:srcRect b="0" l="0" r="0" t="0"/>
          <a:stretch/>
        </p:blipFill>
        <p:spPr>
          <a:xfrm>
            <a:off x="4045743" y="4391025"/>
            <a:ext cx="666750" cy="152400"/>
          </a:xfrm>
          <a:prstGeom prst="rect">
            <a:avLst/>
          </a:prstGeom>
          <a:noFill/>
          <a:ln>
            <a:noFill/>
          </a:ln>
        </p:spPr>
      </p:pic>
      <p:sp>
        <p:nvSpPr>
          <p:cNvPr id="232" name="Google Shape;232;p17"/>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High-Level Architecture Blueprint</a:t>
            </a:r>
            <a:endParaRPr/>
          </a:p>
        </p:txBody>
      </p:sp>
      <p:sp>
        <p:nvSpPr>
          <p:cNvPr id="233" name="Google Shape;233;p17"/>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pic>
        <p:nvPicPr>
          <p:cNvPr descr="image.png" id="238" name="Google Shape;238;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9" name="Google Shape;239;p18"/>
          <p:cNvPicPr preferRelativeResize="0"/>
          <p:nvPr/>
        </p:nvPicPr>
        <p:blipFill rotWithShape="1">
          <a:blip r:embed="rId4">
            <a:alphaModFix/>
          </a:blip>
          <a:srcRect b="0" l="0" r="0" t="0"/>
          <a:stretch/>
        </p:blipFill>
        <p:spPr>
          <a:xfrm>
            <a:off x="571500" y="2810916"/>
            <a:ext cx="11049000" cy="1152525"/>
          </a:xfrm>
          <a:prstGeom prst="rect">
            <a:avLst/>
          </a:prstGeom>
          <a:noFill/>
          <a:ln>
            <a:noFill/>
          </a:ln>
        </p:spPr>
      </p:pic>
      <p:pic>
        <p:nvPicPr>
          <p:cNvPr descr="image.png" id="240" name="Google Shape;240;p18"/>
          <p:cNvPicPr preferRelativeResize="0"/>
          <p:nvPr/>
        </p:nvPicPr>
        <p:blipFill rotWithShape="1">
          <a:blip r:embed="rId5">
            <a:alphaModFix/>
          </a:blip>
          <a:srcRect b="0" l="0" r="0" t="0"/>
          <a:stretch/>
        </p:blipFill>
        <p:spPr>
          <a:xfrm>
            <a:off x="571500" y="4153941"/>
            <a:ext cx="11049000" cy="578941"/>
          </a:xfrm>
          <a:prstGeom prst="rect">
            <a:avLst/>
          </a:prstGeom>
          <a:noFill/>
          <a:ln>
            <a:noFill/>
          </a:ln>
        </p:spPr>
      </p:pic>
      <p:pic>
        <p:nvPicPr>
          <p:cNvPr descr="image.png" id="241" name="Google Shape;241;p18"/>
          <p:cNvPicPr preferRelativeResize="0"/>
          <p:nvPr/>
        </p:nvPicPr>
        <p:blipFill rotWithShape="1">
          <a:blip r:embed="rId6">
            <a:alphaModFix/>
          </a:blip>
          <a:srcRect b="0" l="0" r="0" t="0"/>
          <a:stretch/>
        </p:blipFill>
        <p:spPr>
          <a:xfrm>
            <a:off x="723900" y="2963316"/>
            <a:ext cx="2557462" cy="209550"/>
          </a:xfrm>
          <a:prstGeom prst="rect">
            <a:avLst/>
          </a:prstGeom>
          <a:noFill/>
          <a:ln>
            <a:noFill/>
          </a:ln>
        </p:spPr>
      </p:pic>
      <p:pic>
        <p:nvPicPr>
          <p:cNvPr descr="image.png" id="242" name="Google Shape;242;p18"/>
          <p:cNvPicPr preferRelativeResize="0"/>
          <p:nvPr/>
        </p:nvPicPr>
        <p:blipFill rotWithShape="1">
          <a:blip r:embed="rId7">
            <a:alphaModFix/>
          </a:blip>
          <a:srcRect b="0" l="0" r="0" t="0"/>
          <a:stretch/>
        </p:blipFill>
        <p:spPr>
          <a:xfrm>
            <a:off x="3481387" y="2963316"/>
            <a:ext cx="2509837" cy="209550"/>
          </a:xfrm>
          <a:prstGeom prst="rect">
            <a:avLst/>
          </a:prstGeom>
          <a:noFill/>
          <a:ln>
            <a:noFill/>
          </a:ln>
        </p:spPr>
      </p:pic>
      <p:pic>
        <p:nvPicPr>
          <p:cNvPr descr="image.png" id="243" name="Google Shape;243;p18"/>
          <p:cNvPicPr preferRelativeResize="0"/>
          <p:nvPr/>
        </p:nvPicPr>
        <p:blipFill rotWithShape="1">
          <a:blip r:embed="rId8">
            <a:alphaModFix/>
          </a:blip>
          <a:srcRect b="0" l="0" r="0" t="0"/>
          <a:stretch/>
        </p:blipFill>
        <p:spPr>
          <a:xfrm>
            <a:off x="6191250" y="2963316"/>
            <a:ext cx="2509837" cy="209550"/>
          </a:xfrm>
          <a:prstGeom prst="rect">
            <a:avLst/>
          </a:prstGeom>
          <a:noFill/>
          <a:ln>
            <a:noFill/>
          </a:ln>
        </p:spPr>
      </p:pic>
      <p:pic>
        <p:nvPicPr>
          <p:cNvPr descr="image.png" id="244" name="Google Shape;244;p18"/>
          <p:cNvPicPr preferRelativeResize="0"/>
          <p:nvPr/>
        </p:nvPicPr>
        <p:blipFill rotWithShape="1">
          <a:blip r:embed="rId9">
            <a:alphaModFix/>
          </a:blip>
          <a:srcRect b="0" l="0" r="0" t="0"/>
          <a:stretch/>
        </p:blipFill>
        <p:spPr>
          <a:xfrm>
            <a:off x="8901112" y="2963316"/>
            <a:ext cx="2566987" cy="209550"/>
          </a:xfrm>
          <a:prstGeom prst="rect">
            <a:avLst/>
          </a:prstGeom>
          <a:noFill/>
          <a:ln>
            <a:noFill/>
          </a:ln>
        </p:spPr>
      </p:pic>
      <p:pic>
        <p:nvPicPr>
          <p:cNvPr descr="image.png" id="245" name="Google Shape;245;p18"/>
          <p:cNvPicPr preferRelativeResize="0"/>
          <p:nvPr/>
        </p:nvPicPr>
        <p:blipFill rotWithShape="1">
          <a:blip r:embed="rId10">
            <a:alphaModFix/>
          </a:blip>
          <a:srcRect b="0" l="0" r="0" t="0"/>
          <a:stretch/>
        </p:blipFill>
        <p:spPr>
          <a:xfrm>
            <a:off x="571500" y="466725"/>
            <a:ext cx="857250" cy="209550"/>
          </a:xfrm>
          <a:prstGeom prst="rect">
            <a:avLst/>
          </a:prstGeom>
          <a:noFill/>
          <a:ln>
            <a:noFill/>
          </a:ln>
        </p:spPr>
      </p:pic>
      <p:sp>
        <p:nvSpPr>
          <p:cNvPr id="246" name="Google Shape;246;p18"/>
          <p:cNvSpPr txBox="1"/>
          <p:nvPr/>
        </p:nvSpPr>
        <p:spPr>
          <a:xfrm>
            <a:off x="771525" y="4277766"/>
            <a:ext cx="851907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Asynchronous Pipelines:</a:t>
            </a:r>
            <a:r>
              <a:rPr b="0" i="0" lang="en-US" sz="900" u="none" cap="none" strike="noStrike">
                <a:solidFill>
                  <a:srgbClr val="475569"/>
                </a:solidFill>
                <a:latin typeface="Plus Jakarta Sans"/>
                <a:ea typeface="Plus Jakarta Sans"/>
                <a:cs typeface="Plus Jakarta Sans"/>
                <a:sym typeface="Plus Jakarta Sans"/>
              </a:rPr>
              <a:t> Engineers kick off multiple isolated sessions at the start of the day and return to draft PRs waiting for review. The session status is visible directly inside Slack, Jira, or the Ask Devin conversation to prevent context-switching overhead.</a:t>
            </a:r>
            <a:endParaRPr/>
          </a:p>
        </p:txBody>
      </p:sp>
      <p:pic>
        <p:nvPicPr>
          <p:cNvPr descr="image.png" id="247" name="Google Shape;247;p18"/>
          <p:cNvPicPr preferRelativeResize="0"/>
          <p:nvPr/>
        </p:nvPicPr>
        <p:blipFill rotWithShape="1">
          <a:blip r:embed="rId11">
            <a:alphaModFix/>
          </a:blip>
          <a:srcRect b="0" l="0" r="0" t="0"/>
          <a:stretch/>
        </p:blipFill>
        <p:spPr>
          <a:xfrm>
            <a:off x="9763125" y="4329112"/>
            <a:ext cx="1657350" cy="228600"/>
          </a:xfrm>
          <a:prstGeom prst="rect">
            <a:avLst/>
          </a:prstGeom>
          <a:noFill/>
          <a:ln>
            <a:noFill/>
          </a:ln>
        </p:spPr>
      </p:pic>
      <p:pic>
        <p:nvPicPr>
          <p:cNvPr descr="image.png" id="248" name="Google Shape;248;p18"/>
          <p:cNvPicPr preferRelativeResize="0"/>
          <p:nvPr/>
        </p:nvPicPr>
        <p:blipFill rotWithShape="1">
          <a:blip r:embed="rId12">
            <a:alphaModFix/>
          </a:blip>
          <a:srcRect b="0" l="0" r="0" t="0"/>
          <a:stretch/>
        </p:blipFill>
        <p:spPr>
          <a:xfrm>
            <a:off x="723900" y="3268116"/>
            <a:ext cx="2557462" cy="247650"/>
          </a:xfrm>
          <a:prstGeom prst="rect">
            <a:avLst/>
          </a:prstGeom>
          <a:noFill/>
          <a:ln>
            <a:noFill/>
          </a:ln>
        </p:spPr>
      </p:pic>
      <p:pic>
        <p:nvPicPr>
          <p:cNvPr descr="image.png" id="249" name="Google Shape;249;p18"/>
          <p:cNvPicPr preferRelativeResize="0"/>
          <p:nvPr/>
        </p:nvPicPr>
        <p:blipFill rotWithShape="1">
          <a:blip r:embed="rId13">
            <a:alphaModFix/>
          </a:blip>
          <a:srcRect b="0" l="0" r="0" t="0"/>
          <a:stretch/>
        </p:blipFill>
        <p:spPr>
          <a:xfrm>
            <a:off x="723900" y="3563391"/>
            <a:ext cx="2557462" cy="247650"/>
          </a:xfrm>
          <a:prstGeom prst="rect">
            <a:avLst/>
          </a:prstGeom>
          <a:noFill/>
          <a:ln>
            <a:noFill/>
          </a:ln>
        </p:spPr>
      </p:pic>
      <p:pic>
        <p:nvPicPr>
          <p:cNvPr descr="image.png" id="250" name="Google Shape;250;p18"/>
          <p:cNvPicPr preferRelativeResize="0"/>
          <p:nvPr/>
        </p:nvPicPr>
        <p:blipFill rotWithShape="1">
          <a:blip r:embed="rId14">
            <a:alphaModFix/>
          </a:blip>
          <a:srcRect b="0" l="0" r="0" t="0"/>
          <a:stretch/>
        </p:blipFill>
        <p:spPr>
          <a:xfrm>
            <a:off x="3481387" y="3268116"/>
            <a:ext cx="2509837" cy="247650"/>
          </a:xfrm>
          <a:prstGeom prst="rect">
            <a:avLst/>
          </a:prstGeom>
          <a:noFill/>
          <a:ln>
            <a:noFill/>
          </a:ln>
        </p:spPr>
      </p:pic>
      <p:pic>
        <p:nvPicPr>
          <p:cNvPr descr="image.png" id="251" name="Google Shape;251;p18"/>
          <p:cNvPicPr preferRelativeResize="0"/>
          <p:nvPr/>
        </p:nvPicPr>
        <p:blipFill rotWithShape="1">
          <a:blip r:embed="rId15">
            <a:alphaModFix/>
          </a:blip>
          <a:srcRect b="0" l="0" r="0" t="0"/>
          <a:stretch/>
        </p:blipFill>
        <p:spPr>
          <a:xfrm>
            <a:off x="3481387" y="3563391"/>
            <a:ext cx="2509837" cy="247650"/>
          </a:xfrm>
          <a:prstGeom prst="rect">
            <a:avLst/>
          </a:prstGeom>
          <a:noFill/>
          <a:ln>
            <a:noFill/>
          </a:ln>
        </p:spPr>
      </p:pic>
      <p:pic>
        <p:nvPicPr>
          <p:cNvPr descr="image.png" id="252" name="Google Shape;252;p18"/>
          <p:cNvPicPr preferRelativeResize="0"/>
          <p:nvPr/>
        </p:nvPicPr>
        <p:blipFill rotWithShape="1">
          <a:blip r:embed="rId16">
            <a:alphaModFix/>
          </a:blip>
          <a:srcRect b="0" l="0" r="0" t="0"/>
          <a:stretch/>
        </p:blipFill>
        <p:spPr>
          <a:xfrm>
            <a:off x="6191250" y="3268116"/>
            <a:ext cx="2509837" cy="247650"/>
          </a:xfrm>
          <a:prstGeom prst="rect">
            <a:avLst/>
          </a:prstGeom>
          <a:noFill/>
          <a:ln>
            <a:noFill/>
          </a:ln>
        </p:spPr>
      </p:pic>
      <p:pic>
        <p:nvPicPr>
          <p:cNvPr descr="image.png" id="253" name="Google Shape;253;p18"/>
          <p:cNvPicPr preferRelativeResize="0"/>
          <p:nvPr/>
        </p:nvPicPr>
        <p:blipFill rotWithShape="1">
          <a:blip r:embed="rId17">
            <a:alphaModFix/>
          </a:blip>
          <a:srcRect b="0" l="0" r="0" t="0"/>
          <a:stretch/>
        </p:blipFill>
        <p:spPr>
          <a:xfrm>
            <a:off x="6191250" y="3563391"/>
            <a:ext cx="2509837" cy="247650"/>
          </a:xfrm>
          <a:prstGeom prst="rect">
            <a:avLst/>
          </a:prstGeom>
          <a:noFill/>
          <a:ln>
            <a:noFill/>
          </a:ln>
        </p:spPr>
      </p:pic>
      <p:pic>
        <p:nvPicPr>
          <p:cNvPr descr="image.png" id="254" name="Google Shape;254;p18"/>
          <p:cNvPicPr preferRelativeResize="0"/>
          <p:nvPr/>
        </p:nvPicPr>
        <p:blipFill rotWithShape="1">
          <a:blip r:embed="rId18">
            <a:alphaModFix/>
          </a:blip>
          <a:srcRect b="0" l="0" r="0" t="0"/>
          <a:stretch/>
        </p:blipFill>
        <p:spPr>
          <a:xfrm>
            <a:off x="8901112" y="3268116"/>
            <a:ext cx="2566987" cy="247650"/>
          </a:xfrm>
          <a:prstGeom prst="rect">
            <a:avLst/>
          </a:prstGeom>
          <a:noFill/>
          <a:ln>
            <a:noFill/>
          </a:ln>
        </p:spPr>
      </p:pic>
      <p:pic>
        <p:nvPicPr>
          <p:cNvPr descr="image.png" id="255" name="Google Shape;255;p18"/>
          <p:cNvPicPr preferRelativeResize="0"/>
          <p:nvPr/>
        </p:nvPicPr>
        <p:blipFill rotWithShape="1">
          <a:blip r:embed="rId19">
            <a:alphaModFix/>
          </a:blip>
          <a:srcRect b="0" l="0" r="0" t="0"/>
          <a:stretch/>
        </p:blipFill>
        <p:spPr>
          <a:xfrm>
            <a:off x="8901112" y="3563391"/>
            <a:ext cx="2566987" cy="247650"/>
          </a:xfrm>
          <a:prstGeom prst="rect">
            <a:avLst/>
          </a:prstGeom>
          <a:noFill/>
          <a:ln>
            <a:noFill/>
          </a:ln>
        </p:spPr>
      </p:pic>
      <p:pic>
        <p:nvPicPr>
          <p:cNvPr descr="image.png" id="256" name="Google Shape;256;p18"/>
          <p:cNvPicPr preferRelativeResize="0"/>
          <p:nvPr/>
        </p:nvPicPr>
        <p:blipFill rotWithShape="1">
          <a:blip r:embed="rId20">
            <a:alphaModFix/>
          </a:blip>
          <a:srcRect b="0" l="0" r="0" t="0"/>
          <a:stretch/>
        </p:blipFill>
        <p:spPr>
          <a:xfrm>
            <a:off x="790575" y="3344316"/>
            <a:ext cx="104775" cy="95250"/>
          </a:xfrm>
          <a:prstGeom prst="rect">
            <a:avLst/>
          </a:prstGeom>
          <a:noFill/>
          <a:ln>
            <a:noFill/>
          </a:ln>
        </p:spPr>
      </p:pic>
      <p:pic>
        <p:nvPicPr>
          <p:cNvPr descr="image.png" id="257" name="Google Shape;257;p18"/>
          <p:cNvPicPr preferRelativeResize="0"/>
          <p:nvPr/>
        </p:nvPicPr>
        <p:blipFill rotWithShape="1">
          <a:blip r:embed="rId21">
            <a:alphaModFix/>
          </a:blip>
          <a:srcRect b="0" l="0" r="0" t="0"/>
          <a:stretch/>
        </p:blipFill>
        <p:spPr>
          <a:xfrm>
            <a:off x="790575" y="3639591"/>
            <a:ext cx="76200" cy="95250"/>
          </a:xfrm>
          <a:prstGeom prst="rect">
            <a:avLst/>
          </a:prstGeom>
          <a:noFill/>
          <a:ln>
            <a:noFill/>
          </a:ln>
        </p:spPr>
      </p:pic>
      <p:pic>
        <p:nvPicPr>
          <p:cNvPr descr="image.png" id="258" name="Google Shape;258;p18"/>
          <p:cNvPicPr preferRelativeResize="0"/>
          <p:nvPr/>
        </p:nvPicPr>
        <p:blipFill rotWithShape="1">
          <a:blip r:embed="rId22">
            <a:alphaModFix/>
          </a:blip>
          <a:srcRect b="0" l="0" r="0" t="0"/>
          <a:stretch/>
        </p:blipFill>
        <p:spPr>
          <a:xfrm>
            <a:off x="3548062" y="3344316"/>
            <a:ext cx="95250" cy="95250"/>
          </a:xfrm>
          <a:prstGeom prst="rect">
            <a:avLst/>
          </a:prstGeom>
          <a:noFill/>
          <a:ln>
            <a:noFill/>
          </a:ln>
        </p:spPr>
      </p:pic>
      <p:pic>
        <p:nvPicPr>
          <p:cNvPr descr="image.png" id="259" name="Google Shape;259;p18"/>
          <p:cNvPicPr preferRelativeResize="0"/>
          <p:nvPr/>
        </p:nvPicPr>
        <p:blipFill rotWithShape="1">
          <a:blip r:embed="rId23">
            <a:alphaModFix/>
          </a:blip>
          <a:srcRect b="0" l="0" r="0" t="0"/>
          <a:stretch/>
        </p:blipFill>
        <p:spPr>
          <a:xfrm>
            <a:off x="3548062" y="3639591"/>
            <a:ext cx="85725" cy="95250"/>
          </a:xfrm>
          <a:prstGeom prst="rect">
            <a:avLst/>
          </a:prstGeom>
          <a:noFill/>
          <a:ln>
            <a:noFill/>
          </a:ln>
        </p:spPr>
      </p:pic>
      <p:pic>
        <p:nvPicPr>
          <p:cNvPr descr="image.png" id="260" name="Google Shape;260;p18"/>
          <p:cNvPicPr preferRelativeResize="0"/>
          <p:nvPr/>
        </p:nvPicPr>
        <p:blipFill rotWithShape="1">
          <a:blip r:embed="rId24">
            <a:alphaModFix/>
          </a:blip>
          <a:srcRect b="0" l="0" r="0" t="0"/>
          <a:stretch/>
        </p:blipFill>
        <p:spPr>
          <a:xfrm>
            <a:off x="6257925" y="3344316"/>
            <a:ext cx="85725" cy="95250"/>
          </a:xfrm>
          <a:prstGeom prst="rect">
            <a:avLst/>
          </a:prstGeom>
          <a:noFill/>
          <a:ln>
            <a:noFill/>
          </a:ln>
        </p:spPr>
      </p:pic>
      <p:pic>
        <p:nvPicPr>
          <p:cNvPr descr="image.png" id="261" name="Google Shape;261;p18"/>
          <p:cNvPicPr preferRelativeResize="0"/>
          <p:nvPr/>
        </p:nvPicPr>
        <p:blipFill rotWithShape="1">
          <a:blip r:embed="rId25">
            <a:alphaModFix/>
          </a:blip>
          <a:srcRect b="0" l="0" r="0" t="0"/>
          <a:stretch/>
        </p:blipFill>
        <p:spPr>
          <a:xfrm>
            <a:off x="6257925" y="3639591"/>
            <a:ext cx="123825" cy="95250"/>
          </a:xfrm>
          <a:prstGeom prst="rect">
            <a:avLst/>
          </a:prstGeom>
          <a:noFill/>
          <a:ln>
            <a:noFill/>
          </a:ln>
        </p:spPr>
      </p:pic>
      <p:pic>
        <p:nvPicPr>
          <p:cNvPr descr="image.png" id="262" name="Google Shape;262;p18"/>
          <p:cNvPicPr preferRelativeResize="0"/>
          <p:nvPr/>
        </p:nvPicPr>
        <p:blipFill rotWithShape="1">
          <a:blip r:embed="rId26">
            <a:alphaModFix/>
          </a:blip>
          <a:srcRect b="0" l="0" r="0" t="0"/>
          <a:stretch/>
        </p:blipFill>
        <p:spPr>
          <a:xfrm>
            <a:off x="8967787" y="3344316"/>
            <a:ext cx="95250" cy="95250"/>
          </a:xfrm>
          <a:prstGeom prst="rect">
            <a:avLst/>
          </a:prstGeom>
          <a:noFill/>
          <a:ln>
            <a:noFill/>
          </a:ln>
        </p:spPr>
      </p:pic>
      <p:pic>
        <p:nvPicPr>
          <p:cNvPr descr="image.png" id="263" name="Google Shape;263;p18"/>
          <p:cNvPicPr preferRelativeResize="0"/>
          <p:nvPr/>
        </p:nvPicPr>
        <p:blipFill rotWithShape="1">
          <a:blip r:embed="rId27">
            <a:alphaModFix/>
          </a:blip>
          <a:srcRect b="0" l="0" r="0" t="0"/>
          <a:stretch/>
        </p:blipFill>
        <p:spPr>
          <a:xfrm>
            <a:off x="8967787" y="3639591"/>
            <a:ext cx="95250" cy="95250"/>
          </a:xfrm>
          <a:prstGeom prst="rect">
            <a:avLst/>
          </a:prstGeom>
          <a:noFill/>
          <a:ln>
            <a:noFill/>
          </a:ln>
        </p:spPr>
      </p:pic>
      <p:sp>
        <p:nvSpPr>
          <p:cNvPr id="264" name="Google Shape;264;p18"/>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Devin Workflow Horizon</a:t>
            </a:r>
            <a:endParaRPr/>
          </a:p>
        </p:txBody>
      </p:sp>
      <p:sp>
        <p:nvSpPr>
          <p:cNvPr id="265" name="Google Shape;265;p18"/>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pic>
        <p:nvPicPr>
          <p:cNvPr descr="image.png" id="270" name="Google Shape;27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1" name="Google Shape;271;p19"/>
          <p:cNvPicPr preferRelativeResize="0"/>
          <p:nvPr/>
        </p:nvPicPr>
        <p:blipFill rotWithShape="1">
          <a:blip r:embed="rId4">
            <a:alphaModFix/>
          </a:blip>
          <a:srcRect b="0" l="0" r="0" t="0"/>
          <a:stretch/>
        </p:blipFill>
        <p:spPr>
          <a:xfrm>
            <a:off x="571500" y="1066800"/>
            <a:ext cx="3587650" cy="1651396"/>
          </a:xfrm>
          <a:prstGeom prst="rect">
            <a:avLst/>
          </a:prstGeom>
          <a:noFill/>
          <a:ln>
            <a:noFill/>
          </a:ln>
        </p:spPr>
      </p:pic>
      <p:pic>
        <p:nvPicPr>
          <p:cNvPr descr="image.png" id="272" name="Google Shape;272;p19"/>
          <p:cNvPicPr preferRelativeResize="0"/>
          <p:nvPr/>
        </p:nvPicPr>
        <p:blipFill rotWithShape="1">
          <a:blip r:embed="rId5">
            <a:alphaModFix/>
          </a:blip>
          <a:srcRect b="0" l="0" r="0" t="0"/>
          <a:stretch/>
        </p:blipFill>
        <p:spPr>
          <a:xfrm>
            <a:off x="4302025" y="1066800"/>
            <a:ext cx="3587799" cy="1651396"/>
          </a:xfrm>
          <a:prstGeom prst="rect">
            <a:avLst/>
          </a:prstGeom>
          <a:noFill/>
          <a:ln>
            <a:noFill/>
          </a:ln>
        </p:spPr>
      </p:pic>
      <p:pic>
        <p:nvPicPr>
          <p:cNvPr descr="image.png" id="273" name="Google Shape;273;p19"/>
          <p:cNvPicPr preferRelativeResize="0"/>
          <p:nvPr/>
        </p:nvPicPr>
        <p:blipFill rotWithShape="1">
          <a:blip r:embed="rId6">
            <a:alphaModFix/>
          </a:blip>
          <a:srcRect b="0" l="0" r="0" t="0"/>
          <a:stretch/>
        </p:blipFill>
        <p:spPr>
          <a:xfrm>
            <a:off x="8032700" y="1066800"/>
            <a:ext cx="3587650" cy="1651396"/>
          </a:xfrm>
          <a:prstGeom prst="rect">
            <a:avLst/>
          </a:prstGeom>
          <a:noFill/>
          <a:ln>
            <a:noFill/>
          </a:ln>
        </p:spPr>
      </p:pic>
      <p:pic>
        <p:nvPicPr>
          <p:cNvPr descr="image.png" id="274" name="Google Shape;274;p19"/>
          <p:cNvPicPr preferRelativeResize="0"/>
          <p:nvPr/>
        </p:nvPicPr>
        <p:blipFill rotWithShape="1">
          <a:blip r:embed="rId7">
            <a:alphaModFix/>
          </a:blip>
          <a:srcRect b="0" l="0" r="0" t="0"/>
          <a:stretch/>
        </p:blipFill>
        <p:spPr>
          <a:xfrm>
            <a:off x="571500" y="2861071"/>
            <a:ext cx="3587650" cy="1651396"/>
          </a:xfrm>
          <a:prstGeom prst="rect">
            <a:avLst/>
          </a:prstGeom>
          <a:noFill/>
          <a:ln>
            <a:noFill/>
          </a:ln>
        </p:spPr>
      </p:pic>
      <p:pic>
        <p:nvPicPr>
          <p:cNvPr descr="image.png" id="275" name="Google Shape;275;p19"/>
          <p:cNvPicPr preferRelativeResize="0"/>
          <p:nvPr/>
        </p:nvPicPr>
        <p:blipFill rotWithShape="1">
          <a:blip r:embed="rId8">
            <a:alphaModFix/>
          </a:blip>
          <a:srcRect b="0" l="0" r="0" t="0"/>
          <a:stretch/>
        </p:blipFill>
        <p:spPr>
          <a:xfrm>
            <a:off x="4302025" y="2861071"/>
            <a:ext cx="3587799" cy="1651396"/>
          </a:xfrm>
          <a:prstGeom prst="rect">
            <a:avLst/>
          </a:prstGeom>
          <a:noFill/>
          <a:ln>
            <a:noFill/>
          </a:ln>
        </p:spPr>
      </p:pic>
      <p:pic>
        <p:nvPicPr>
          <p:cNvPr descr="image.png" id="276" name="Google Shape;276;p19"/>
          <p:cNvPicPr preferRelativeResize="0"/>
          <p:nvPr/>
        </p:nvPicPr>
        <p:blipFill rotWithShape="1">
          <a:blip r:embed="rId7">
            <a:alphaModFix/>
          </a:blip>
          <a:srcRect b="0" l="0" r="0" t="0"/>
          <a:stretch/>
        </p:blipFill>
        <p:spPr>
          <a:xfrm>
            <a:off x="8032700" y="2861071"/>
            <a:ext cx="3587650" cy="1651396"/>
          </a:xfrm>
          <a:prstGeom prst="rect">
            <a:avLst/>
          </a:prstGeom>
          <a:noFill/>
          <a:ln>
            <a:noFill/>
          </a:ln>
        </p:spPr>
      </p:pic>
      <p:pic>
        <p:nvPicPr>
          <p:cNvPr descr="image.png" id="277" name="Google Shape;277;p19"/>
          <p:cNvPicPr preferRelativeResize="0"/>
          <p:nvPr/>
        </p:nvPicPr>
        <p:blipFill rotWithShape="1">
          <a:blip r:embed="rId9">
            <a:alphaModFix/>
          </a:blip>
          <a:srcRect b="0" l="0" r="0" t="0"/>
          <a:stretch/>
        </p:blipFill>
        <p:spPr>
          <a:xfrm>
            <a:off x="571500" y="466725"/>
            <a:ext cx="857250" cy="209550"/>
          </a:xfrm>
          <a:prstGeom prst="rect">
            <a:avLst/>
          </a:prstGeom>
          <a:noFill/>
          <a:ln>
            <a:noFill/>
          </a:ln>
        </p:spPr>
      </p:pic>
      <p:sp>
        <p:nvSpPr>
          <p:cNvPr id="278" name="Google Shape;278;p19"/>
          <p:cNvSpPr txBox="1"/>
          <p:nvPr/>
        </p:nvSpPr>
        <p:spPr>
          <a:xfrm>
            <a:off x="942975" y="1209675"/>
            <a:ext cx="3226965"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INTERACTION</a:t>
            </a:r>
            <a:endParaRPr/>
          </a:p>
        </p:txBody>
      </p:sp>
      <p:sp>
        <p:nvSpPr>
          <p:cNvPr id="279" name="Google Shape;279;p19"/>
          <p:cNvSpPr/>
          <p:nvPr/>
        </p:nvSpPr>
        <p:spPr>
          <a:xfrm>
            <a:off x="714375" y="1419225"/>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19"/>
          <p:cNvSpPr txBox="1"/>
          <p:nvPr/>
        </p:nvSpPr>
        <p:spPr>
          <a:xfrm>
            <a:off x="4673500" y="1209675"/>
            <a:ext cx="3227122"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C3AED"/>
                </a:solidFill>
                <a:latin typeface="Plus Jakarta Sans"/>
                <a:ea typeface="Plus Jakarta Sans"/>
                <a:cs typeface="Plus Jakarta Sans"/>
                <a:sym typeface="Plus Jakarta Sans"/>
              </a:rPr>
              <a:t>MEMORY</a:t>
            </a:r>
            <a:endParaRPr/>
          </a:p>
        </p:txBody>
      </p:sp>
      <p:sp>
        <p:nvSpPr>
          <p:cNvPr id="281" name="Google Shape;281;p19"/>
          <p:cNvSpPr/>
          <p:nvPr/>
        </p:nvSpPr>
        <p:spPr>
          <a:xfrm>
            <a:off x="4444900" y="1419225"/>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9"/>
          <p:cNvSpPr txBox="1"/>
          <p:nvPr/>
        </p:nvSpPr>
        <p:spPr>
          <a:xfrm>
            <a:off x="8442275" y="1209675"/>
            <a:ext cx="318696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EXECUTION</a:t>
            </a:r>
            <a:endParaRPr/>
          </a:p>
        </p:txBody>
      </p:sp>
      <p:sp>
        <p:nvSpPr>
          <p:cNvPr id="283" name="Google Shape;283;p19"/>
          <p:cNvSpPr/>
          <p:nvPr/>
        </p:nvSpPr>
        <p:spPr>
          <a:xfrm>
            <a:off x="8175575" y="1419225"/>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19"/>
          <p:cNvSpPr txBox="1"/>
          <p:nvPr/>
        </p:nvSpPr>
        <p:spPr>
          <a:xfrm>
            <a:off x="923925" y="3003946"/>
            <a:ext cx="3246968"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A580C"/>
                </a:solidFill>
                <a:latin typeface="Plus Jakarta Sans"/>
                <a:ea typeface="Plus Jakarta Sans"/>
                <a:cs typeface="Plus Jakarta Sans"/>
                <a:sym typeface="Plus Jakarta Sans"/>
              </a:rPr>
              <a:t>AUTOMATION</a:t>
            </a:r>
            <a:endParaRPr/>
          </a:p>
        </p:txBody>
      </p:sp>
      <p:sp>
        <p:nvSpPr>
          <p:cNvPr id="285" name="Google Shape;285;p19"/>
          <p:cNvSpPr/>
          <p:nvPr/>
        </p:nvSpPr>
        <p:spPr>
          <a:xfrm>
            <a:off x="714375" y="3213496"/>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19"/>
          <p:cNvSpPr txBox="1"/>
          <p:nvPr/>
        </p:nvSpPr>
        <p:spPr>
          <a:xfrm>
            <a:off x="4673500" y="3003946"/>
            <a:ext cx="3227122"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GOVERNANCE</a:t>
            </a:r>
            <a:endParaRPr/>
          </a:p>
        </p:txBody>
      </p:sp>
      <p:sp>
        <p:nvSpPr>
          <p:cNvPr id="287" name="Google Shape;287;p19"/>
          <p:cNvSpPr/>
          <p:nvPr/>
        </p:nvSpPr>
        <p:spPr>
          <a:xfrm>
            <a:off x="4444900" y="3213496"/>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19"/>
          <p:cNvSpPr txBox="1"/>
          <p:nvPr/>
        </p:nvSpPr>
        <p:spPr>
          <a:xfrm>
            <a:off x="8375600" y="3003946"/>
            <a:ext cx="3256969"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INTEGRATIONS</a:t>
            </a:r>
            <a:endParaRPr/>
          </a:p>
        </p:txBody>
      </p:sp>
      <p:sp>
        <p:nvSpPr>
          <p:cNvPr id="289" name="Google Shape;289;p19"/>
          <p:cNvSpPr/>
          <p:nvPr/>
        </p:nvSpPr>
        <p:spPr>
          <a:xfrm>
            <a:off x="8175575" y="3213496"/>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0" name="Google Shape;290;p19"/>
          <p:cNvPicPr preferRelativeResize="0"/>
          <p:nvPr/>
        </p:nvPicPr>
        <p:blipFill rotWithShape="1">
          <a:blip r:embed="rId10">
            <a:alphaModFix/>
          </a:blip>
          <a:srcRect b="0" l="0" r="0" t="0"/>
          <a:stretch/>
        </p:blipFill>
        <p:spPr>
          <a:xfrm>
            <a:off x="714375" y="1228725"/>
            <a:ext cx="133350" cy="133350"/>
          </a:xfrm>
          <a:prstGeom prst="rect">
            <a:avLst/>
          </a:prstGeom>
          <a:noFill/>
          <a:ln>
            <a:noFill/>
          </a:ln>
        </p:spPr>
      </p:pic>
      <p:sp>
        <p:nvSpPr>
          <p:cNvPr id="291" name="Google Shape;291;p19"/>
          <p:cNvSpPr txBox="1"/>
          <p:nvPr/>
        </p:nvSpPr>
        <p:spPr>
          <a:xfrm>
            <a:off x="942975" y="1524000"/>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Ask Devin:</a:t>
            </a:r>
            <a:r>
              <a:rPr b="0" i="0" lang="en-US" sz="1050" u="none" cap="none" strike="noStrike">
                <a:solidFill>
                  <a:srgbClr val="334155"/>
                </a:solidFill>
                <a:latin typeface="Plus Jakarta Sans"/>
                <a:ea typeface="Plus Jakarta Sans"/>
                <a:cs typeface="Plus Jakarta Sans"/>
                <a:sym typeface="Plus Jakarta Sans"/>
              </a:rPr>
              <a:t> Codebase Q&amp;A / Plans</a:t>
            </a:r>
            <a:endParaRPr/>
          </a:p>
        </p:txBody>
      </p:sp>
      <p:sp>
        <p:nvSpPr>
          <p:cNvPr id="292" name="Google Shape;292;p19"/>
          <p:cNvSpPr txBox="1"/>
          <p:nvPr/>
        </p:nvSpPr>
        <p:spPr>
          <a:xfrm>
            <a:off x="942975" y="1786830"/>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Review:</a:t>
            </a:r>
            <a:r>
              <a:rPr b="0" i="0" lang="en-US" sz="1050" u="none" cap="none" strike="noStrike">
                <a:solidFill>
                  <a:srgbClr val="334155"/>
                </a:solidFill>
                <a:latin typeface="Plus Jakarta Sans"/>
                <a:ea typeface="Plus Jakarta Sans"/>
                <a:cs typeface="Plus Jakarta Sans"/>
                <a:sym typeface="Plus Jakarta Sans"/>
              </a:rPr>
              <a:t> Automated PR scans</a:t>
            </a:r>
            <a:endParaRPr/>
          </a:p>
        </p:txBody>
      </p:sp>
      <p:sp>
        <p:nvSpPr>
          <p:cNvPr id="293" name="Google Shape;293;p19"/>
          <p:cNvSpPr txBox="1"/>
          <p:nvPr/>
        </p:nvSpPr>
        <p:spPr>
          <a:xfrm>
            <a:off x="942975" y="2049660"/>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Slash Commands / Chat:</a:t>
            </a:r>
            <a:r>
              <a:rPr b="0" i="0" lang="en-US" sz="1050" u="none" cap="none" strike="noStrike">
                <a:solidFill>
                  <a:srgbClr val="334155"/>
                </a:solidFill>
                <a:latin typeface="Plus Jakarta Sans"/>
                <a:ea typeface="Plus Jakarta Sans"/>
                <a:cs typeface="Plus Jakarta Sans"/>
                <a:sym typeface="Plus Jakarta Sans"/>
              </a:rPr>
              <a:t> Quick controls</a:t>
            </a:r>
            <a:endParaRPr/>
          </a:p>
        </p:txBody>
      </p:sp>
      <p:sp>
        <p:nvSpPr>
          <p:cNvPr id="294" name="Google Shape;294;p19"/>
          <p:cNvSpPr txBox="1"/>
          <p:nvPr/>
        </p:nvSpPr>
        <p:spPr>
          <a:xfrm>
            <a:off x="942975" y="2312491"/>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Slack &amp; Teams Links:</a:t>
            </a:r>
            <a:r>
              <a:rPr b="0" i="0" lang="en-US" sz="1050" u="none" cap="none" strike="noStrike">
                <a:solidFill>
                  <a:srgbClr val="334155"/>
                </a:solidFill>
                <a:latin typeface="Plus Jakarta Sans"/>
                <a:ea typeface="Plus Jakarta Sans"/>
                <a:cs typeface="Plus Jakarta Sans"/>
                <a:sym typeface="Plus Jakarta Sans"/>
              </a:rPr>
              <a:t> Team updates</a:t>
            </a:r>
            <a:endParaRPr/>
          </a:p>
        </p:txBody>
      </p:sp>
      <p:pic>
        <p:nvPicPr>
          <p:cNvPr descr="image.png" id="295" name="Google Shape;295;p19"/>
          <p:cNvPicPr preferRelativeResize="0"/>
          <p:nvPr/>
        </p:nvPicPr>
        <p:blipFill rotWithShape="1">
          <a:blip r:embed="rId11">
            <a:alphaModFix/>
          </a:blip>
          <a:srcRect b="0" l="0" r="0" t="0"/>
          <a:stretch/>
        </p:blipFill>
        <p:spPr>
          <a:xfrm>
            <a:off x="4444900" y="1228725"/>
            <a:ext cx="133350" cy="133350"/>
          </a:xfrm>
          <a:prstGeom prst="rect">
            <a:avLst/>
          </a:prstGeom>
          <a:noFill/>
          <a:ln>
            <a:noFill/>
          </a:ln>
        </p:spPr>
      </p:pic>
      <p:sp>
        <p:nvSpPr>
          <p:cNvPr id="296" name="Google Shape;296;p19"/>
          <p:cNvSpPr txBox="1"/>
          <p:nvPr/>
        </p:nvSpPr>
        <p:spPr>
          <a:xfrm>
            <a:off x="4673500" y="1524000"/>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Knowledge:</a:t>
            </a:r>
            <a:r>
              <a:rPr b="0" i="0" lang="en-US" sz="1050" u="none" cap="none" strike="noStrike">
                <a:solidFill>
                  <a:srgbClr val="334155"/>
                </a:solidFill>
                <a:latin typeface="Plus Jakarta Sans"/>
                <a:ea typeface="Plus Jakarta Sans"/>
                <a:cs typeface="Plus Jakarta Sans"/>
                <a:sym typeface="Plus Jakarta Sans"/>
              </a:rPr>
              <a:t> Global &amp; team standards</a:t>
            </a:r>
            <a:endParaRPr/>
          </a:p>
        </p:txBody>
      </p:sp>
      <p:sp>
        <p:nvSpPr>
          <p:cNvPr id="297" name="Google Shape;297;p19"/>
          <p:cNvSpPr txBox="1"/>
          <p:nvPr/>
        </p:nvSpPr>
        <p:spPr>
          <a:xfrm>
            <a:off x="4673500" y="1786830"/>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Skills:</a:t>
            </a:r>
            <a:r>
              <a:rPr b="0" i="0" lang="en-US" sz="1050" u="none" cap="none" strike="noStrike">
                <a:solidFill>
                  <a:srgbClr val="334155"/>
                </a:solidFill>
                <a:latin typeface="Plus Jakarta Sans"/>
                <a:ea typeface="Plus Jakarta Sans"/>
                <a:cs typeface="Plus Jakarta Sans"/>
                <a:sym typeface="Plus Jakarta Sans"/>
              </a:rPr>
              <a:t> Executable `.md` scripts</a:t>
            </a:r>
            <a:endParaRPr/>
          </a:p>
        </p:txBody>
      </p:sp>
      <p:sp>
        <p:nvSpPr>
          <p:cNvPr id="298" name="Google Shape;298;p19"/>
          <p:cNvSpPr txBox="1"/>
          <p:nvPr/>
        </p:nvSpPr>
        <p:spPr>
          <a:xfrm>
            <a:off x="4673500" y="2049660"/>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Playbooks:</a:t>
            </a:r>
            <a:r>
              <a:rPr b="0" i="0" lang="en-US" sz="1050" u="none" cap="none" strike="noStrike">
                <a:solidFill>
                  <a:srgbClr val="334155"/>
                </a:solidFill>
                <a:latin typeface="Plus Jakarta Sans"/>
                <a:ea typeface="Plus Jakarta Sans"/>
                <a:cs typeface="Plus Jakarta Sans"/>
                <a:sym typeface="Plus Jakarta Sans"/>
              </a:rPr>
              <a:t> Reusable prompt templates</a:t>
            </a:r>
            <a:endParaRPr/>
          </a:p>
        </p:txBody>
      </p:sp>
      <p:sp>
        <p:nvSpPr>
          <p:cNvPr id="299" name="Google Shape;299;p19"/>
          <p:cNvSpPr txBox="1"/>
          <p:nvPr/>
        </p:nvSpPr>
        <p:spPr>
          <a:xfrm>
            <a:off x="4673500" y="2312491"/>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AGENTS.md:</a:t>
            </a:r>
            <a:r>
              <a:rPr b="0" i="0" lang="en-US" sz="1050" u="none" cap="none" strike="noStrike">
                <a:solidFill>
                  <a:srgbClr val="334155"/>
                </a:solidFill>
                <a:latin typeface="Plus Jakarta Sans"/>
                <a:ea typeface="Plus Jakarta Sans"/>
                <a:cs typeface="Plus Jakarta Sans"/>
                <a:sym typeface="Plus Jakarta Sans"/>
              </a:rPr>
              <a:t> Project instructions</a:t>
            </a:r>
            <a:endParaRPr/>
          </a:p>
        </p:txBody>
      </p:sp>
      <p:pic>
        <p:nvPicPr>
          <p:cNvPr descr="image.png" id="300" name="Google Shape;300;p19"/>
          <p:cNvPicPr preferRelativeResize="0"/>
          <p:nvPr/>
        </p:nvPicPr>
        <p:blipFill rotWithShape="1">
          <a:blip r:embed="rId12">
            <a:alphaModFix/>
          </a:blip>
          <a:srcRect b="0" l="0" r="0" t="0"/>
          <a:stretch/>
        </p:blipFill>
        <p:spPr>
          <a:xfrm>
            <a:off x="8175575" y="1228725"/>
            <a:ext cx="171450" cy="133350"/>
          </a:xfrm>
          <a:prstGeom prst="rect">
            <a:avLst/>
          </a:prstGeom>
          <a:noFill/>
          <a:ln>
            <a:noFill/>
          </a:ln>
        </p:spPr>
      </p:pic>
      <p:sp>
        <p:nvSpPr>
          <p:cNvPr id="301" name="Google Shape;301;p19"/>
          <p:cNvSpPr txBox="1"/>
          <p:nvPr/>
        </p:nvSpPr>
        <p:spPr>
          <a:xfrm>
            <a:off x="8404175" y="1524000"/>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Sessions:</a:t>
            </a:r>
            <a:r>
              <a:rPr b="0" i="0" lang="en-US" sz="1050" u="none" cap="none" strike="noStrike">
                <a:solidFill>
                  <a:srgbClr val="334155"/>
                </a:solidFill>
                <a:latin typeface="Plus Jakarta Sans"/>
                <a:ea typeface="Plus Jakarta Sans"/>
                <a:cs typeface="Plus Jakarta Sans"/>
                <a:sym typeface="Plus Jakarta Sans"/>
              </a:rPr>
              <a:t> Sandboxed VM Linux runs</a:t>
            </a:r>
            <a:endParaRPr/>
          </a:p>
        </p:txBody>
      </p:sp>
      <p:sp>
        <p:nvSpPr>
          <p:cNvPr id="302" name="Google Shape;302;p19"/>
          <p:cNvSpPr txBox="1"/>
          <p:nvPr/>
        </p:nvSpPr>
        <p:spPr>
          <a:xfrm>
            <a:off x="8404175" y="1786830"/>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Blueprints:</a:t>
            </a:r>
            <a:r>
              <a:rPr b="0" i="0" lang="en-US" sz="1050" u="none" cap="none" strike="noStrike">
                <a:solidFill>
                  <a:srgbClr val="334155"/>
                </a:solidFill>
                <a:latin typeface="Plus Jakarta Sans"/>
                <a:ea typeface="Plus Jakarta Sans"/>
                <a:cs typeface="Plus Jakarta Sans"/>
                <a:sym typeface="Plus Jakarta Sans"/>
              </a:rPr>
              <a:t> Custom Docker env layers</a:t>
            </a:r>
            <a:endParaRPr/>
          </a:p>
        </p:txBody>
      </p:sp>
      <p:sp>
        <p:nvSpPr>
          <p:cNvPr id="303" name="Google Shape;303;p19"/>
          <p:cNvSpPr txBox="1"/>
          <p:nvPr/>
        </p:nvSpPr>
        <p:spPr>
          <a:xfrm>
            <a:off x="8404175" y="2049660"/>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IDE:</a:t>
            </a:r>
            <a:r>
              <a:rPr b="0" i="0" lang="en-US" sz="1050" u="none" cap="none" strike="noStrike">
                <a:solidFill>
                  <a:srgbClr val="334155"/>
                </a:solidFill>
                <a:latin typeface="Plus Jakarta Sans"/>
                <a:ea typeface="Plus Jakarta Sans"/>
                <a:cs typeface="Plus Jakarta Sans"/>
                <a:sym typeface="Plus Jakarta Sans"/>
              </a:rPr>
              <a:t> Built-in workspace editor</a:t>
            </a:r>
            <a:endParaRPr/>
          </a:p>
        </p:txBody>
      </p:sp>
      <p:sp>
        <p:nvSpPr>
          <p:cNvPr id="304" name="Google Shape;304;p19"/>
          <p:cNvSpPr txBox="1"/>
          <p:nvPr/>
        </p:nvSpPr>
        <p:spPr>
          <a:xfrm>
            <a:off x="8404175" y="2312491"/>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Browser:</a:t>
            </a:r>
            <a:r>
              <a:rPr b="0" i="0" lang="en-US" sz="1050" u="none" cap="none" strike="noStrike">
                <a:solidFill>
                  <a:srgbClr val="334155"/>
                </a:solidFill>
                <a:latin typeface="Plus Jakarta Sans"/>
                <a:ea typeface="Plus Jakarta Sans"/>
                <a:cs typeface="Plus Jakarta Sans"/>
                <a:sym typeface="Plus Jakarta Sans"/>
              </a:rPr>
              <a:t> Web interface rendering</a:t>
            </a:r>
            <a:endParaRPr/>
          </a:p>
        </p:txBody>
      </p:sp>
      <p:pic>
        <p:nvPicPr>
          <p:cNvPr descr="image.png" id="305" name="Google Shape;305;p19"/>
          <p:cNvPicPr preferRelativeResize="0"/>
          <p:nvPr/>
        </p:nvPicPr>
        <p:blipFill rotWithShape="1">
          <a:blip r:embed="rId13">
            <a:alphaModFix/>
          </a:blip>
          <a:srcRect b="0" l="0" r="0" t="0"/>
          <a:stretch/>
        </p:blipFill>
        <p:spPr>
          <a:xfrm>
            <a:off x="714375" y="3022996"/>
            <a:ext cx="114300" cy="133350"/>
          </a:xfrm>
          <a:prstGeom prst="rect">
            <a:avLst/>
          </a:prstGeom>
          <a:noFill/>
          <a:ln>
            <a:noFill/>
          </a:ln>
        </p:spPr>
      </p:pic>
      <p:sp>
        <p:nvSpPr>
          <p:cNvPr id="306" name="Google Shape;306;p19"/>
          <p:cNvSpPr txBox="1"/>
          <p:nvPr/>
        </p:nvSpPr>
        <p:spPr>
          <a:xfrm>
            <a:off x="942975" y="3318271"/>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Automations:</a:t>
            </a:r>
            <a:r>
              <a:rPr b="0" i="0" lang="en-US" sz="1050" u="none" cap="none" strike="noStrike">
                <a:solidFill>
                  <a:srgbClr val="334155"/>
                </a:solidFill>
                <a:latin typeface="Plus Jakarta Sans"/>
                <a:ea typeface="Plus Jakarta Sans"/>
                <a:cs typeface="Plus Jakarta Sans"/>
                <a:sym typeface="Plus Jakarta Sans"/>
              </a:rPr>
              <a:t> Trigger-action models</a:t>
            </a:r>
            <a:endParaRPr/>
          </a:p>
        </p:txBody>
      </p:sp>
      <p:sp>
        <p:nvSpPr>
          <p:cNvPr id="307" name="Google Shape;307;p19"/>
          <p:cNvSpPr txBox="1"/>
          <p:nvPr/>
        </p:nvSpPr>
        <p:spPr>
          <a:xfrm>
            <a:off x="942975" y="3581102"/>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Schedules:</a:t>
            </a:r>
            <a:r>
              <a:rPr b="0" i="0" lang="en-US" sz="1050" u="none" cap="none" strike="noStrike">
                <a:solidFill>
                  <a:srgbClr val="334155"/>
                </a:solidFill>
                <a:latin typeface="Plus Jakarta Sans"/>
                <a:ea typeface="Plus Jakarta Sans"/>
                <a:cs typeface="Plus Jakarta Sans"/>
                <a:sym typeface="Plus Jakarta Sans"/>
              </a:rPr>
              <a:t> Regular cron sessions</a:t>
            </a:r>
            <a:endParaRPr/>
          </a:p>
        </p:txBody>
      </p:sp>
      <p:sp>
        <p:nvSpPr>
          <p:cNvPr id="308" name="Google Shape;308;p19"/>
          <p:cNvSpPr txBox="1"/>
          <p:nvPr/>
        </p:nvSpPr>
        <p:spPr>
          <a:xfrm>
            <a:off x="942975" y="3843932"/>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Auto-Triage:</a:t>
            </a:r>
            <a:r>
              <a:rPr b="0" i="0" lang="en-US" sz="1050" u="none" cap="none" strike="noStrike">
                <a:solidFill>
                  <a:srgbClr val="334155"/>
                </a:solidFill>
                <a:latin typeface="Plus Jakarta Sans"/>
                <a:ea typeface="Plus Jakarta Sans"/>
                <a:cs typeface="Plus Jakarta Sans"/>
                <a:sym typeface="Plus Jakarta Sans"/>
              </a:rPr>
              <a:t> Log anomaly sweeps</a:t>
            </a:r>
            <a:endParaRPr/>
          </a:p>
        </p:txBody>
      </p:sp>
      <p:sp>
        <p:nvSpPr>
          <p:cNvPr id="309" name="Google Shape;309;p19"/>
          <p:cNvSpPr txBox="1"/>
          <p:nvPr/>
        </p:nvSpPr>
        <p:spPr>
          <a:xfrm>
            <a:off x="942975" y="4106763"/>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Managed Devins:</a:t>
            </a:r>
            <a:r>
              <a:rPr b="0" i="0" lang="en-US" sz="1050" u="none" cap="none" strike="noStrike">
                <a:solidFill>
                  <a:srgbClr val="334155"/>
                </a:solidFill>
                <a:latin typeface="Plus Jakarta Sans"/>
                <a:ea typeface="Plus Jakarta Sans"/>
                <a:cs typeface="Plus Jakarta Sans"/>
                <a:sym typeface="Plus Jakarta Sans"/>
              </a:rPr>
              <a:t> Parallel sub-agents</a:t>
            </a:r>
            <a:endParaRPr/>
          </a:p>
        </p:txBody>
      </p:sp>
      <p:pic>
        <p:nvPicPr>
          <p:cNvPr descr="image.png" id="310" name="Google Shape;310;p19"/>
          <p:cNvPicPr preferRelativeResize="0"/>
          <p:nvPr/>
        </p:nvPicPr>
        <p:blipFill rotWithShape="1">
          <a:blip r:embed="rId14">
            <a:alphaModFix/>
          </a:blip>
          <a:srcRect b="0" l="0" r="0" t="0"/>
          <a:stretch/>
        </p:blipFill>
        <p:spPr>
          <a:xfrm>
            <a:off x="4444900" y="3022996"/>
            <a:ext cx="133350" cy="133350"/>
          </a:xfrm>
          <a:prstGeom prst="rect">
            <a:avLst/>
          </a:prstGeom>
          <a:noFill/>
          <a:ln>
            <a:noFill/>
          </a:ln>
        </p:spPr>
      </p:pic>
      <p:sp>
        <p:nvSpPr>
          <p:cNvPr id="311" name="Google Shape;311;p19"/>
          <p:cNvSpPr txBox="1"/>
          <p:nvPr/>
        </p:nvSpPr>
        <p:spPr>
          <a:xfrm>
            <a:off x="4673500" y="3318271"/>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RBAC Roles:</a:t>
            </a:r>
            <a:r>
              <a:rPr b="0" i="0" lang="en-US" sz="1050" u="none" cap="none" strike="noStrike">
                <a:solidFill>
                  <a:srgbClr val="334155"/>
                </a:solidFill>
                <a:latin typeface="Plus Jakarta Sans"/>
                <a:ea typeface="Plus Jakarta Sans"/>
                <a:cs typeface="Plus Jakarta Sans"/>
                <a:sym typeface="Plus Jakarta Sans"/>
              </a:rPr>
              <a:t> Action configurations</a:t>
            </a:r>
            <a:endParaRPr/>
          </a:p>
        </p:txBody>
      </p:sp>
      <p:sp>
        <p:nvSpPr>
          <p:cNvPr id="312" name="Google Shape;312;p19"/>
          <p:cNvSpPr txBox="1"/>
          <p:nvPr/>
        </p:nvSpPr>
        <p:spPr>
          <a:xfrm>
            <a:off x="4673500" y="3581102"/>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SSO Integrations:</a:t>
            </a:r>
            <a:r>
              <a:rPr b="0" i="0" lang="en-US" sz="1050" u="none" cap="none" strike="noStrike">
                <a:solidFill>
                  <a:srgbClr val="334155"/>
                </a:solidFill>
                <a:latin typeface="Plus Jakarta Sans"/>
                <a:ea typeface="Plus Jakarta Sans"/>
                <a:cs typeface="Plus Jakarta Sans"/>
                <a:sym typeface="Plus Jakarta Sans"/>
              </a:rPr>
              <a:t> Identity syncs</a:t>
            </a:r>
            <a:endParaRPr/>
          </a:p>
        </p:txBody>
      </p:sp>
      <p:sp>
        <p:nvSpPr>
          <p:cNvPr id="313" name="Google Shape;313;p19"/>
          <p:cNvSpPr txBox="1"/>
          <p:nvPr/>
        </p:nvSpPr>
        <p:spPr>
          <a:xfrm>
            <a:off x="4673500" y="3843932"/>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ACU Budgets:</a:t>
            </a:r>
            <a:r>
              <a:rPr b="0" i="0" lang="en-US" sz="1050" u="none" cap="none" strike="noStrike">
                <a:solidFill>
                  <a:srgbClr val="334155"/>
                </a:solidFill>
                <a:latin typeface="Plus Jakarta Sans"/>
                <a:ea typeface="Plus Jakarta Sans"/>
                <a:cs typeface="Plus Jakarta Sans"/>
                <a:sym typeface="Plus Jakarta Sans"/>
              </a:rPr>
              <a:t> Cost controls</a:t>
            </a:r>
            <a:endParaRPr/>
          </a:p>
        </p:txBody>
      </p:sp>
      <p:sp>
        <p:nvSpPr>
          <p:cNvPr id="314" name="Google Shape;314;p19"/>
          <p:cNvSpPr txBox="1"/>
          <p:nvPr/>
        </p:nvSpPr>
        <p:spPr>
          <a:xfrm>
            <a:off x="4673500" y="4106763"/>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IP Lists:</a:t>
            </a:r>
            <a:r>
              <a:rPr b="0" i="0" lang="en-US" sz="1050" u="none" cap="none" strike="noStrike">
                <a:solidFill>
                  <a:srgbClr val="334155"/>
                </a:solidFill>
                <a:latin typeface="Plus Jakarta Sans"/>
                <a:ea typeface="Plus Jakarta Sans"/>
                <a:cs typeface="Plus Jakarta Sans"/>
                <a:sym typeface="Plus Jakarta Sans"/>
              </a:rPr>
              <a:t> Virtual private networking</a:t>
            </a:r>
            <a:endParaRPr/>
          </a:p>
        </p:txBody>
      </p:sp>
      <p:pic>
        <p:nvPicPr>
          <p:cNvPr descr="image.png" id="315" name="Google Shape;315;p19"/>
          <p:cNvPicPr preferRelativeResize="0"/>
          <p:nvPr/>
        </p:nvPicPr>
        <p:blipFill rotWithShape="1">
          <a:blip r:embed="rId15">
            <a:alphaModFix/>
          </a:blip>
          <a:srcRect b="0" l="0" r="0" t="0"/>
          <a:stretch/>
        </p:blipFill>
        <p:spPr>
          <a:xfrm>
            <a:off x="8175575" y="3022996"/>
            <a:ext cx="104775" cy="133350"/>
          </a:xfrm>
          <a:prstGeom prst="rect">
            <a:avLst/>
          </a:prstGeom>
          <a:noFill/>
          <a:ln>
            <a:noFill/>
          </a:ln>
        </p:spPr>
      </p:pic>
      <p:sp>
        <p:nvSpPr>
          <p:cNvPr id="316" name="Google Shape;316;p19"/>
          <p:cNvSpPr txBox="1"/>
          <p:nvPr/>
        </p:nvSpPr>
        <p:spPr>
          <a:xfrm>
            <a:off x="8404175" y="3318271"/>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VCS Hooks:</a:t>
            </a:r>
            <a:r>
              <a:rPr b="0" i="0" lang="en-US" sz="1050" u="none" cap="none" strike="noStrike">
                <a:solidFill>
                  <a:srgbClr val="334155"/>
                </a:solidFill>
                <a:latin typeface="Plus Jakarta Sans"/>
                <a:ea typeface="Plus Jakarta Sans"/>
                <a:cs typeface="Plus Jakarta Sans"/>
                <a:sym typeface="Plus Jakarta Sans"/>
              </a:rPr>
              <a:t> GitHub, GitLab server links</a:t>
            </a:r>
            <a:endParaRPr/>
          </a:p>
        </p:txBody>
      </p:sp>
      <p:sp>
        <p:nvSpPr>
          <p:cNvPr id="317" name="Google Shape;317;p19"/>
          <p:cNvSpPr txBox="1"/>
          <p:nvPr/>
        </p:nvSpPr>
        <p:spPr>
          <a:xfrm>
            <a:off x="8404175" y="3581102"/>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PMS:</a:t>
            </a:r>
            <a:r>
              <a:rPr b="0" i="0" lang="en-US" sz="1050" u="none" cap="none" strike="noStrike">
                <a:solidFill>
                  <a:srgbClr val="334155"/>
                </a:solidFill>
                <a:latin typeface="Plus Jakarta Sans"/>
                <a:ea typeface="Plus Jakarta Sans"/>
                <a:cs typeface="Plus Jakarta Sans"/>
                <a:sym typeface="Plus Jakarta Sans"/>
              </a:rPr>
              <a:t> Jira &amp; Linear issue mounts</a:t>
            </a:r>
            <a:endParaRPr/>
          </a:p>
        </p:txBody>
      </p:sp>
      <p:sp>
        <p:nvSpPr>
          <p:cNvPr id="318" name="Google Shape;318;p19"/>
          <p:cNvSpPr txBox="1"/>
          <p:nvPr/>
        </p:nvSpPr>
        <p:spPr>
          <a:xfrm>
            <a:off x="8404175" y="3843932"/>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MCP Transports:</a:t>
            </a:r>
            <a:r>
              <a:rPr b="0" i="0" lang="en-US" sz="1050" u="none" cap="none" strike="noStrike">
                <a:solidFill>
                  <a:srgbClr val="334155"/>
                </a:solidFill>
                <a:latin typeface="Plus Jakarta Sans"/>
                <a:ea typeface="Plus Jakarta Sans"/>
                <a:cs typeface="Plus Jakarta Sans"/>
                <a:sym typeface="Plus Jakarta Sans"/>
              </a:rPr>
              <a:t> Standard protocol hubs</a:t>
            </a:r>
            <a:endParaRPr/>
          </a:p>
        </p:txBody>
      </p:sp>
      <p:sp>
        <p:nvSpPr>
          <p:cNvPr id="319" name="Google Shape;319;p19"/>
          <p:cNvSpPr txBox="1"/>
          <p:nvPr/>
        </p:nvSpPr>
        <p:spPr>
          <a:xfrm>
            <a:off x="8404175" y="4106763"/>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API:</a:t>
            </a:r>
            <a:r>
              <a:rPr b="0" i="0" lang="en-US" sz="1050" u="none" cap="none" strike="noStrike">
                <a:solidFill>
                  <a:srgbClr val="334155"/>
                </a:solidFill>
                <a:latin typeface="Plus Jakarta Sans"/>
                <a:ea typeface="Plus Jakarta Sans"/>
                <a:cs typeface="Plus Jakarta Sans"/>
                <a:sym typeface="Plus Jakarta Sans"/>
              </a:rPr>
              <a:t> Programmatic triggers</a:t>
            </a:r>
            <a:endParaRPr/>
          </a:p>
        </p:txBody>
      </p:sp>
      <p:pic>
        <p:nvPicPr>
          <p:cNvPr descr="image.png" id="320" name="Google Shape;320;p19"/>
          <p:cNvPicPr preferRelativeResize="0"/>
          <p:nvPr/>
        </p:nvPicPr>
        <p:blipFill rotWithShape="1">
          <a:blip r:embed="rId16">
            <a:alphaModFix/>
          </a:blip>
          <a:srcRect b="0" l="0" r="0" t="0"/>
          <a:stretch/>
        </p:blipFill>
        <p:spPr>
          <a:xfrm>
            <a:off x="714375" y="1547812"/>
            <a:ext cx="85725" cy="142875"/>
          </a:xfrm>
          <a:prstGeom prst="rect">
            <a:avLst/>
          </a:prstGeom>
          <a:noFill/>
          <a:ln>
            <a:noFill/>
          </a:ln>
        </p:spPr>
      </p:pic>
      <p:pic>
        <p:nvPicPr>
          <p:cNvPr descr="image.png" id="321" name="Google Shape;321;p19"/>
          <p:cNvPicPr preferRelativeResize="0"/>
          <p:nvPr/>
        </p:nvPicPr>
        <p:blipFill rotWithShape="1">
          <a:blip r:embed="rId17">
            <a:alphaModFix/>
          </a:blip>
          <a:srcRect b="0" l="0" r="0" t="0"/>
          <a:stretch/>
        </p:blipFill>
        <p:spPr>
          <a:xfrm>
            <a:off x="714375" y="1810642"/>
            <a:ext cx="133350" cy="142875"/>
          </a:xfrm>
          <a:prstGeom prst="rect">
            <a:avLst/>
          </a:prstGeom>
          <a:noFill/>
          <a:ln>
            <a:noFill/>
          </a:ln>
        </p:spPr>
      </p:pic>
      <p:pic>
        <p:nvPicPr>
          <p:cNvPr descr="image.png" id="322" name="Google Shape;322;p19"/>
          <p:cNvPicPr preferRelativeResize="0"/>
          <p:nvPr/>
        </p:nvPicPr>
        <p:blipFill rotWithShape="1">
          <a:blip r:embed="rId18">
            <a:alphaModFix/>
          </a:blip>
          <a:srcRect b="0" l="0" r="0" t="0"/>
          <a:stretch/>
        </p:blipFill>
        <p:spPr>
          <a:xfrm>
            <a:off x="714375" y="2073473"/>
            <a:ext cx="152400" cy="142875"/>
          </a:xfrm>
          <a:prstGeom prst="rect">
            <a:avLst/>
          </a:prstGeom>
          <a:noFill/>
          <a:ln>
            <a:noFill/>
          </a:ln>
        </p:spPr>
      </p:pic>
      <p:pic>
        <p:nvPicPr>
          <p:cNvPr descr="image.png" id="323" name="Google Shape;323;p19"/>
          <p:cNvPicPr preferRelativeResize="0"/>
          <p:nvPr/>
        </p:nvPicPr>
        <p:blipFill rotWithShape="1">
          <a:blip r:embed="rId19">
            <a:alphaModFix/>
          </a:blip>
          <a:srcRect b="0" l="0" r="0" t="0"/>
          <a:stretch/>
        </p:blipFill>
        <p:spPr>
          <a:xfrm>
            <a:off x="714375" y="2336303"/>
            <a:ext cx="171450" cy="142875"/>
          </a:xfrm>
          <a:prstGeom prst="rect">
            <a:avLst/>
          </a:prstGeom>
          <a:noFill/>
          <a:ln>
            <a:noFill/>
          </a:ln>
        </p:spPr>
      </p:pic>
      <p:pic>
        <p:nvPicPr>
          <p:cNvPr descr="image.png" id="324" name="Google Shape;324;p19"/>
          <p:cNvPicPr preferRelativeResize="0"/>
          <p:nvPr/>
        </p:nvPicPr>
        <p:blipFill rotWithShape="1">
          <a:blip r:embed="rId16">
            <a:alphaModFix/>
          </a:blip>
          <a:srcRect b="0" l="0" r="0" t="0"/>
          <a:stretch/>
        </p:blipFill>
        <p:spPr>
          <a:xfrm>
            <a:off x="4444900" y="1547812"/>
            <a:ext cx="85725" cy="142875"/>
          </a:xfrm>
          <a:prstGeom prst="rect">
            <a:avLst/>
          </a:prstGeom>
          <a:noFill/>
          <a:ln>
            <a:noFill/>
          </a:ln>
        </p:spPr>
      </p:pic>
      <p:pic>
        <p:nvPicPr>
          <p:cNvPr descr="image.png" id="325" name="Google Shape;325;p19"/>
          <p:cNvPicPr preferRelativeResize="0"/>
          <p:nvPr/>
        </p:nvPicPr>
        <p:blipFill rotWithShape="1">
          <a:blip r:embed="rId16">
            <a:alphaModFix/>
          </a:blip>
          <a:srcRect b="0" l="0" r="0" t="0"/>
          <a:stretch/>
        </p:blipFill>
        <p:spPr>
          <a:xfrm>
            <a:off x="4444900" y="1810642"/>
            <a:ext cx="85725" cy="142875"/>
          </a:xfrm>
          <a:prstGeom prst="rect">
            <a:avLst/>
          </a:prstGeom>
          <a:noFill/>
          <a:ln>
            <a:noFill/>
          </a:ln>
        </p:spPr>
      </p:pic>
      <p:pic>
        <p:nvPicPr>
          <p:cNvPr descr="image.png" id="326" name="Google Shape;326;p19"/>
          <p:cNvPicPr preferRelativeResize="0"/>
          <p:nvPr/>
        </p:nvPicPr>
        <p:blipFill rotWithShape="1">
          <a:blip r:embed="rId16">
            <a:alphaModFix/>
          </a:blip>
          <a:srcRect b="0" l="0" r="0" t="0"/>
          <a:stretch/>
        </p:blipFill>
        <p:spPr>
          <a:xfrm>
            <a:off x="4444900" y="2073473"/>
            <a:ext cx="85725" cy="142875"/>
          </a:xfrm>
          <a:prstGeom prst="rect">
            <a:avLst/>
          </a:prstGeom>
          <a:noFill/>
          <a:ln>
            <a:noFill/>
          </a:ln>
        </p:spPr>
      </p:pic>
      <p:pic>
        <p:nvPicPr>
          <p:cNvPr descr="image.png" id="327" name="Google Shape;327;p19"/>
          <p:cNvPicPr preferRelativeResize="0"/>
          <p:nvPr/>
        </p:nvPicPr>
        <p:blipFill rotWithShape="1">
          <a:blip r:embed="rId16">
            <a:alphaModFix/>
          </a:blip>
          <a:srcRect b="0" l="0" r="0" t="0"/>
          <a:stretch/>
        </p:blipFill>
        <p:spPr>
          <a:xfrm>
            <a:off x="4444900" y="2336303"/>
            <a:ext cx="85725" cy="142875"/>
          </a:xfrm>
          <a:prstGeom prst="rect">
            <a:avLst/>
          </a:prstGeom>
          <a:noFill/>
          <a:ln>
            <a:noFill/>
          </a:ln>
        </p:spPr>
      </p:pic>
      <p:pic>
        <p:nvPicPr>
          <p:cNvPr descr="image.png" id="328" name="Google Shape;328;p19"/>
          <p:cNvPicPr preferRelativeResize="0"/>
          <p:nvPr/>
        </p:nvPicPr>
        <p:blipFill rotWithShape="1">
          <a:blip r:embed="rId16">
            <a:alphaModFix/>
          </a:blip>
          <a:srcRect b="0" l="0" r="0" t="0"/>
          <a:stretch/>
        </p:blipFill>
        <p:spPr>
          <a:xfrm>
            <a:off x="8175575" y="1547812"/>
            <a:ext cx="85725" cy="142875"/>
          </a:xfrm>
          <a:prstGeom prst="rect">
            <a:avLst/>
          </a:prstGeom>
          <a:noFill/>
          <a:ln>
            <a:noFill/>
          </a:ln>
        </p:spPr>
      </p:pic>
      <p:pic>
        <p:nvPicPr>
          <p:cNvPr descr="image.png" id="329" name="Google Shape;329;p19"/>
          <p:cNvPicPr preferRelativeResize="0"/>
          <p:nvPr/>
        </p:nvPicPr>
        <p:blipFill rotWithShape="1">
          <a:blip r:embed="rId16">
            <a:alphaModFix/>
          </a:blip>
          <a:srcRect b="0" l="0" r="0" t="0"/>
          <a:stretch/>
        </p:blipFill>
        <p:spPr>
          <a:xfrm>
            <a:off x="8175575" y="1810642"/>
            <a:ext cx="85725" cy="142875"/>
          </a:xfrm>
          <a:prstGeom prst="rect">
            <a:avLst/>
          </a:prstGeom>
          <a:noFill/>
          <a:ln>
            <a:noFill/>
          </a:ln>
        </p:spPr>
      </p:pic>
      <p:pic>
        <p:nvPicPr>
          <p:cNvPr descr="image.png" id="330" name="Google Shape;330;p19"/>
          <p:cNvPicPr preferRelativeResize="0"/>
          <p:nvPr/>
        </p:nvPicPr>
        <p:blipFill rotWithShape="1">
          <a:blip r:embed="rId16">
            <a:alphaModFix/>
          </a:blip>
          <a:srcRect b="0" l="0" r="0" t="0"/>
          <a:stretch/>
        </p:blipFill>
        <p:spPr>
          <a:xfrm>
            <a:off x="8175575" y="2073473"/>
            <a:ext cx="85725" cy="142875"/>
          </a:xfrm>
          <a:prstGeom prst="rect">
            <a:avLst/>
          </a:prstGeom>
          <a:noFill/>
          <a:ln>
            <a:noFill/>
          </a:ln>
        </p:spPr>
      </p:pic>
      <p:pic>
        <p:nvPicPr>
          <p:cNvPr descr="image.png" id="331" name="Google Shape;331;p19"/>
          <p:cNvPicPr preferRelativeResize="0"/>
          <p:nvPr/>
        </p:nvPicPr>
        <p:blipFill rotWithShape="1">
          <a:blip r:embed="rId16">
            <a:alphaModFix/>
          </a:blip>
          <a:srcRect b="0" l="0" r="0" t="0"/>
          <a:stretch/>
        </p:blipFill>
        <p:spPr>
          <a:xfrm>
            <a:off x="8175575" y="2336303"/>
            <a:ext cx="85725" cy="142875"/>
          </a:xfrm>
          <a:prstGeom prst="rect">
            <a:avLst/>
          </a:prstGeom>
          <a:noFill/>
          <a:ln>
            <a:noFill/>
          </a:ln>
        </p:spPr>
      </p:pic>
      <p:pic>
        <p:nvPicPr>
          <p:cNvPr descr="image.png" id="332" name="Google Shape;332;p19"/>
          <p:cNvPicPr preferRelativeResize="0"/>
          <p:nvPr/>
        </p:nvPicPr>
        <p:blipFill rotWithShape="1">
          <a:blip r:embed="rId16">
            <a:alphaModFix/>
          </a:blip>
          <a:srcRect b="0" l="0" r="0" t="0"/>
          <a:stretch/>
        </p:blipFill>
        <p:spPr>
          <a:xfrm>
            <a:off x="714375" y="3342084"/>
            <a:ext cx="85725" cy="142875"/>
          </a:xfrm>
          <a:prstGeom prst="rect">
            <a:avLst/>
          </a:prstGeom>
          <a:noFill/>
          <a:ln>
            <a:noFill/>
          </a:ln>
        </p:spPr>
      </p:pic>
      <p:pic>
        <p:nvPicPr>
          <p:cNvPr descr="image.png" id="333" name="Google Shape;333;p19"/>
          <p:cNvPicPr preferRelativeResize="0"/>
          <p:nvPr/>
        </p:nvPicPr>
        <p:blipFill rotWithShape="1">
          <a:blip r:embed="rId16">
            <a:alphaModFix/>
          </a:blip>
          <a:srcRect b="0" l="0" r="0" t="0"/>
          <a:stretch/>
        </p:blipFill>
        <p:spPr>
          <a:xfrm>
            <a:off x="714375" y="3604914"/>
            <a:ext cx="85725" cy="142875"/>
          </a:xfrm>
          <a:prstGeom prst="rect">
            <a:avLst/>
          </a:prstGeom>
          <a:noFill/>
          <a:ln>
            <a:noFill/>
          </a:ln>
        </p:spPr>
      </p:pic>
      <p:pic>
        <p:nvPicPr>
          <p:cNvPr descr="image.png" id="334" name="Google Shape;334;p19"/>
          <p:cNvPicPr preferRelativeResize="0"/>
          <p:nvPr/>
        </p:nvPicPr>
        <p:blipFill rotWithShape="1">
          <a:blip r:embed="rId16">
            <a:alphaModFix/>
          </a:blip>
          <a:srcRect b="0" l="0" r="0" t="0"/>
          <a:stretch/>
        </p:blipFill>
        <p:spPr>
          <a:xfrm>
            <a:off x="714375" y="3867745"/>
            <a:ext cx="85725" cy="142875"/>
          </a:xfrm>
          <a:prstGeom prst="rect">
            <a:avLst/>
          </a:prstGeom>
          <a:noFill/>
          <a:ln>
            <a:noFill/>
          </a:ln>
        </p:spPr>
      </p:pic>
      <p:pic>
        <p:nvPicPr>
          <p:cNvPr descr="image.png" id="335" name="Google Shape;335;p19"/>
          <p:cNvPicPr preferRelativeResize="0"/>
          <p:nvPr/>
        </p:nvPicPr>
        <p:blipFill rotWithShape="1">
          <a:blip r:embed="rId16">
            <a:alphaModFix/>
          </a:blip>
          <a:srcRect b="0" l="0" r="0" t="0"/>
          <a:stretch/>
        </p:blipFill>
        <p:spPr>
          <a:xfrm>
            <a:off x="714375" y="4130575"/>
            <a:ext cx="85725" cy="142875"/>
          </a:xfrm>
          <a:prstGeom prst="rect">
            <a:avLst/>
          </a:prstGeom>
          <a:noFill/>
          <a:ln>
            <a:noFill/>
          </a:ln>
        </p:spPr>
      </p:pic>
      <p:pic>
        <p:nvPicPr>
          <p:cNvPr descr="image.png" id="336" name="Google Shape;336;p19"/>
          <p:cNvPicPr preferRelativeResize="0"/>
          <p:nvPr/>
        </p:nvPicPr>
        <p:blipFill rotWithShape="1">
          <a:blip r:embed="rId16">
            <a:alphaModFix/>
          </a:blip>
          <a:srcRect b="0" l="0" r="0" t="0"/>
          <a:stretch/>
        </p:blipFill>
        <p:spPr>
          <a:xfrm>
            <a:off x="4444900" y="3342084"/>
            <a:ext cx="85725" cy="142875"/>
          </a:xfrm>
          <a:prstGeom prst="rect">
            <a:avLst/>
          </a:prstGeom>
          <a:noFill/>
          <a:ln>
            <a:noFill/>
          </a:ln>
        </p:spPr>
      </p:pic>
      <p:pic>
        <p:nvPicPr>
          <p:cNvPr descr="image.png" id="337" name="Google Shape;337;p19"/>
          <p:cNvPicPr preferRelativeResize="0"/>
          <p:nvPr/>
        </p:nvPicPr>
        <p:blipFill rotWithShape="1">
          <a:blip r:embed="rId16">
            <a:alphaModFix/>
          </a:blip>
          <a:srcRect b="0" l="0" r="0" t="0"/>
          <a:stretch/>
        </p:blipFill>
        <p:spPr>
          <a:xfrm>
            <a:off x="4444900" y="3604914"/>
            <a:ext cx="85725" cy="142875"/>
          </a:xfrm>
          <a:prstGeom prst="rect">
            <a:avLst/>
          </a:prstGeom>
          <a:noFill/>
          <a:ln>
            <a:noFill/>
          </a:ln>
        </p:spPr>
      </p:pic>
      <p:pic>
        <p:nvPicPr>
          <p:cNvPr descr="image.png" id="338" name="Google Shape;338;p19"/>
          <p:cNvPicPr preferRelativeResize="0"/>
          <p:nvPr/>
        </p:nvPicPr>
        <p:blipFill rotWithShape="1">
          <a:blip r:embed="rId16">
            <a:alphaModFix/>
          </a:blip>
          <a:srcRect b="0" l="0" r="0" t="0"/>
          <a:stretch/>
        </p:blipFill>
        <p:spPr>
          <a:xfrm>
            <a:off x="4444900" y="3867745"/>
            <a:ext cx="85725" cy="142875"/>
          </a:xfrm>
          <a:prstGeom prst="rect">
            <a:avLst/>
          </a:prstGeom>
          <a:noFill/>
          <a:ln>
            <a:noFill/>
          </a:ln>
        </p:spPr>
      </p:pic>
      <p:pic>
        <p:nvPicPr>
          <p:cNvPr descr="image.png" id="339" name="Google Shape;339;p19"/>
          <p:cNvPicPr preferRelativeResize="0"/>
          <p:nvPr/>
        </p:nvPicPr>
        <p:blipFill rotWithShape="1">
          <a:blip r:embed="rId16">
            <a:alphaModFix/>
          </a:blip>
          <a:srcRect b="0" l="0" r="0" t="0"/>
          <a:stretch/>
        </p:blipFill>
        <p:spPr>
          <a:xfrm>
            <a:off x="4444900" y="4130575"/>
            <a:ext cx="85725" cy="142875"/>
          </a:xfrm>
          <a:prstGeom prst="rect">
            <a:avLst/>
          </a:prstGeom>
          <a:noFill/>
          <a:ln>
            <a:noFill/>
          </a:ln>
        </p:spPr>
      </p:pic>
      <p:pic>
        <p:nvPicPr>
          <p:cNvPr descr="image.png" id="340" name="Google Shape;340;p19"/>
          <p:cNvPicPr preferRelativeResize="0"/>
          <p:nvPr/>
        </p:nvPicPr>
        <p:blipFill rotWithShape="1">
          <a:blip r:embed="rId16">
            <a:alphaModFix/>
          </a:blip>
          <a:srcRect b="0" l="0" r="0" t="0"/>
          <a:stretch/>
        </p:blipFill>
        <p:spPr>
          <a:xfrm>
            <a:off x="8175575" y="3342084"/>
            <a:ext cx="85725" cy="142875"/>
          </a:xfrm>
          <a:prstGeom prst="rect">
            <a:avLst/>
          </a:prstGeom>
          <a:noFill/>
          <a:ln>
            <a:noFill/>
          </a:ln>
        </p:spPr>
      </p:pic>
      <p:pic>
        <p:nvPicPr>
          <p:cNvPr descr="image.png" id="341" name="Google Shape;341;p19"/>
          <p:cNvPicPr preferRelativeResize="0"/>
          <p:nvPr/>
        </p:nvPicPr>
        <p:blipFill rotWithShape="1">
          <a:blip r:embed="rId16">
            <a:alphaModFix/>
          </a:blip>
          <a:srcRect b="0" l="0" r="0" t="0"/>
          <a:stretch/>
        </p:blipFill>
        <p:spPr>
          <a:xfrm>
            <a:off x="8175575" y="3604914"/>
            <a:ext cx="85725" cy="142875"/>
          </a:xfrm>
          <a:prstGeom prst="rect">
            <a:avLst/>
          </a:prstGeom>
          <a:noFill/>
          <a:ln>
            <a:noFill/>
          </a:ln>
        </p:spPr>
      </p:pic>
      <p:pic>
        <p:nvPicPr>
          <p:cNvPr descr="image.png" id="342" name="Google Shape;342;p19"/>
          <p:cNvPicPr preferRelativeResize="0"/>
          <p:nvPr/>
        </p:nvPicPr>
        <p:blipFill rotWithShape="1">
          <a:blip r:embed="rId16">
            <a:alphaModFix/>
          </a:blip>
          <a:srcRect b="0" l="0" r="0" t="0"/>
          <a:stretch/>
        </p:blipFill>
        <p:spPr>
          <a:xfrm>
            <a:off x="8175575" y="3867745"/>
            <a:ext cx="85725" cy="142875"/>
          </a:xfrm>
          <a:prstGeom prst="rect">
            <a:avLst/>
          </a:prstGeom>
          <a:noFill/>
          <a:ln>
            <a:noFill/>
          </a:ln>
        </p:spPr>
      </p:pic>
      <p:pic>
        <p:nvPicPr>
          <p:cNvPr descr="image.png" id="343" name="Google Shape;343;p19"/>
          <p:cNvPicPr preferRelativeResize="0"/>
          <p:nvPr/>
        </p:nvPicPr>
        <p:blipFill rotWithShape="1">
          <a:blip r:embed="rId16">
            <a:alphaModFix/>
          </a:blip>
          <a:srcRect b="0" l="0" r="0" t="0"/>
          <a:stretch/>
        </p:blipFill>
        <p:spPr>
          <a:xfrm>
            <a:off x="8175575" y="4130575"/>
            <a:ext cx="85725" cy="142875"/>
          </a:xfrm>
          <a:prstGeom prst="rect">
            <a:avLst/>
          </a:prstGeom>
          <a:noFill/>
          <a:ln>
            <a:noFill/>
          </a:ln>
        </p:spPr>
      </p:pic>
      <p:sp>
        <p:nvSpPr>
          <p:cNvPr id="344" name="Google Shape;344;p19"/>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Devin Core Feature Ecosystem</a:t>
            </a:r>
            <a:endParaRPr/>
          </a:p>
        </p:txBody>
      </p:sp>
      <p:sp>
        <p:nvSpPr>
          <p:cNvPr id="345" name="Google Shape;345;p19"/>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pic>
        <p:nvPicPr>
          <p:cNvPr descr="image.png" id="350" name="Google Shape;35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1" name="Google Shape;351;p20"/>
          <p:cNvPicPr preferRelativeResize="0"/>
          <p:nvPr/>
        </p:nvPicPr>
        <p:blipFill rotWithShape="1">
          <a:blip r:embed="rId4">
            <a:alphaModFix/>
          </a:blip>
          <a:srcRect b="0" l="0" r="0" t="0"/>
          <a:stretch/>
        </p:blipFill>
        <p:spPr>
          <a:xfrm>
            <a:off x="571500" y="466725"/>
            <a:ext cx="857250" cy="209550"/>
          </a:xfrm>
          <a:prstGeom prst="rect">
            <a:avLst/>
          </a:prstGeom>
          <a:noFill/>
          <a:ln>
            <a:noFill/>
          </a:ln>
        </p:spPr>
      </p:pic>
      <p:sp>
        <p:nvSpPr>
          <p:cNvPr id="352" name="Google Shape;352;p20"/>
          <p:cNvSpPr txBox="1"/>
          <p:nvPr/>
        </p:nvSpPr>
        <p:spPr>
          <a:xfrm>
            <a:off x="571500" y="230103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353" name="Google Shape;353;p20"/>
          <p:cNvSpPr txBox="1"/>
          <p:nvPr/>
        </p:nvSpPr>
        <p:spPr>
          <a:xfrm>
            <a:off x="571500" y="2490936"/>
            <a:ext cx="6196012" cy="158799"/>
          </a:xfrm>
          <a:prstGeom prst="rect">
            <a:avLst/>
          </a:prstGeom>
          <a:noFill/>
          <a:ln>
            <a:noFill/>
          </a:ln>
        </p:spPr>
        <p:txBody>
          <a:bodyPr anchorCtr="0" anchor="t" bIns="0" lIns="0" spcFirstLastPara="1" rIns="0" wrap="square" tIns="0">
            <a:spAutoFit/>
          </a:bodyPr>
          <a:lstStyle/>
          <a:p>
            <a:pPr indent="0" lvl="0" marL="0" marR="0" rtl="0" algn="l">
              <a:lnSpc>
                <a:spcPct val="145011"/>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Provide a fast, codebase-grounded Q&amp;A and task planning interface before committing to a full agent session.</a:t>
            </a:r>
            <a:endParaRPr/>
          </a:p>
        </p:txBody>
      </p:sp>
      <p:sp>
        <p:nvSpPr>
          <p:cNvPr id="354" name="Google Shape;354;p20"/>
          <p:cNvSpPr txBox="1"/>
          <p:nvPr/>
        </p:nvSpPr>
        <p:spPr>
          <a:xfrm>
            <a:off x="571500" y="2725935"/>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355" name="Google Shape;355;p20"/>
          <p:cNvSpPr txBox="1"/>
          <p:nvPr/>
        </p:nvSpPr>
        <p:spPr>
          <a:xfrm>
            <a:off x="571500" y="2915840"/>
            <a:ext cx="6196012" cy="317599"/>
          </a:xfrm>
          <a:prstGeom prst="rect">
            <a:avLst/>
          </a:prstGeom>
          <a:noFill/>
          <a:ln>
            <a:noFill/>
          </a:ln>
        </p:spPr>
        <p:txBody>
          <a:bodyPr anchorCtr="0" anchor="t" bIns="0" lIns="0" spcFirstLastPara="1" rIns="0" wrap="square" tIns="0">
            <a:spAutoFit/>
          </a:bodyPr>
          <a:lstStyle/>
          <a:p>
            <a:pPr indent="0" lvl="0" marL="0" marR="0" rtl="0" algn="l">
              <a:lnSpc>
                <a:spcPct val="145011"/>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Engineers waste significant time exploring unfamiliar codebases. Ask Devin indexes repositories and answers questions with precise code citations, reducing onboarding time and improving task scoping.</a:t>
            </a:r>
            <a:endParaRPr/>
          </a:p>
        </p:txBody>
      </p:sp>
      <p:sp>
        <p:nvSpPr>
          <p:cNvPr id="356" name="Google Shape;356;p20"/>
          <p:cNvSpPr txBox="1"/>
          <p:nvPr/>
        </p:nvSpPr>
        <p:spPr>
          <a:xfrm>
            <a:off x="571500" y="3309639"/>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357" name="Google Shape;357;p20"/>
          <p:cNvSpPr txBox="1"/>
          <p:nvPr/>
        </p:nvSpPr>
        <p:spPr>
          <a:xfrm>
            <a:off x="571500" y="3499544"/>
            <a:ext cx="6196012" cy="317599"/>
          </a:xfrm>
          <a:prstGeom prst="rect">
            <a:avLst/>
          </a:prstGeom>
          <a:noFill/>
          <a:ln>
            <a:noFill/>
          </a:ln>
        </p:spPr>
        <p:txBody>
          <a:bodyPr anchorCtr="0" anchor="t" bIns="0" lIns="0" spcFirstLastPara="1" rIns="0" wrap="square" tIns="0">
            <a:spAutoFit/>
          </a:bodyPr>
          <a:lstStyle/>
          <a:p>
            <a:pPr indent="0" lvl="0" marL="0" marR="0" rtl="0" algn="l">
              <a:lnSpc>
                <a:spcPct val="145011"/>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Repositories are automatically indexed after connection. Ask Devin uses advanced code search to produce answers grounded in actual code, not general knowledge. It has two modes:</a:t>
            </a:r>
            <a:endParaRPr/>
          </a:p>
        </p:txBody>
      </p:sp>
      <p:sp>
        <p:nvSpPr>
          <p:cNvPr id="358" name="Google Shape;358;p20"/>
          <p:cNvSpPr txBox="1"/>
          <p:nvPr/>
        </p:nvSpPr>
        <p:spPr>
          <a:xfrm>
            <a:off x="571500" y="4586585"/>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359" name="Google Shape;359;p20"/>
          <p:cNvSpPr txBox="1"/>
          <p:nvPr/>
        </p:nvSpPr>
        <p:spPr>
          <a:xfrm>
            <a:off x="571500" y="4776489"/>
            <a:ext cx="6196012" cy="317599"/>
          </a:xfrm>
          <a:prstGeom prst="rect">
            <a:avLst/>
          </a:prstGeom>
          <a:noFill/>
          <a:ln>
            <a:noFill/>
          </a:ln>
        </p:spPr>
        <p:txBody>
          <a:bodyPr anchorCtr="0" anchor="t" bIns="0" lIns="0" spcFirstLastPara="1" rIns="0" wrap="square" tIns="0">
            <a:spAutoFit/>
          </a:bodyPr>
          <a:lstStyle/>
          <a:p>
            <a:pPr indent="0" lvl="0" marL="0" marR="0" rtl="0" algn="l">
              <a:lnSpc>
                <a:spcPct val="145011"/>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A new engineer joins a team with a 500k-line codebase. Instead of spending days reading code, they use Ask Devin to understand the authentication flow, data model, and service boundaries in hours.</a:t>
            </a:r>
            <a:endParaRPr/>
          </a:p>
        </p:txBody>
      </p:sp>
      <p:sp>
        <p:nvSpPr>
          <p:cNvPr id="360" name="Google Shape;360;p20"/>
          <p:cNvSpPr txBox="1"/>
          <p:nvPr/>
        </p:nvSpPr>
        <p:spPr>
          <a:xfrm>
            <a:off x="7005637" y="2301031"/>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ADVANTAGES:</a:t>
            </a:r>
            <a:endParaRPr/>
          </a:p>
        </p:txBody>
      </p:sp>
      <p:sp>
        <p:nvSpPr>
          <p:cNvPr id="361" name="Google Shape;361;p20"/>
          <p:cNvSpPr txBox="1"/>
          <p:nvPr/>
        </p:nvSpPr>
        <p:spPr>
          <a:xfrm>
            <a:off x="7005637" y="346605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EF4444"/>
                </a:solidFill>
                <a:latin typeface="Plus Jakarta Sans"/>
                <a:ea typeface="Plus Jakarta Sans"/>
                <a:cs typeface="Plus Jakarta Sans"/>
                <a:sym typeface="Plus Jakarta Sans"/>
              </a:rPr>
              <a:t>LIMITATIONS:</a:t>
            </a:r>
            <a:endParaRPr/>
          </a:p>
        </p:txBody>
      </p:sp>
      <p:sp>
        <p:nvSpPr>
          <p:cNvPr id="362" name="Google Shape;362;p20"/>
          <p:cNvSpPr txBox="1"/>
          <p:nvPr/>
        </p:nvSpPr>
        <p:spPr>
          <a:xfrm>
            <a:off x="7005637" y="3655962"/>
            <a:ext cx="4567237" cy="158799"/>
          </a:xfrm>
          <a:prstGeom prst="rect">
            <a:avLst/>
          </a:prstGeom>
          <a:noFill/>
          <a:ln>
            <a:noFill/>
          </a:ln>
        </p:spPr>
        <p:txBody>
          <a:bodyPr anchorCtr="0" anchor="t" bIns="0" lIns="0" spcFirstLastPara="1" rIns="0" wrap="square" tIns="0">
            <a:spAutoFit/>
          </a:bodyPr>
          <a:lstStyle/>
          <a:p>
            <a:pPr indent="0" lvl="0" marL="0" marR="0" rtl="0" algn="l">
              <a:lnSpc>
                <a:spcPct val="145011"/>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Ask Devin is a read-only interface — it does not execute code or make changes.</a:t>
            </a:r>
            <a:endParaRPr/>
          </a:p>
        </p:txBody>
      </p:sp>
      <p:sp>
        <p:nvSpPr>
          <p:cNvPr id="363" name="Google Shape;363;p20"/>
          <p:cNvSpPr txBox="1"/>
          <p:nvPr/>
        </p:nvSpPr>
        <p:spPr>
          <a:xfrm>
            <a:off x="7005637" y="3890962"/>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364" name="Google Shape;364;p20"/>
          <p:cNvSpPr txBox="1"/>
          <p:nvPr/>
        </p:nvSpPr>
        <p:spPr>
          <a:xfrm>
            <a:off x="800100" y="387429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Ask mode</a:t>
            </a:r>
            <a:r>
              <a:rPr b="0" i="0" lang="en-US" sz="1050" u="none" cap="none" strike="noStrike">
                <a:solidFill>
                  <a:srgbClr val="334155"/>
                </a:solidFill>
                <a:latin typeface="Plus Jakarta Sans"/>
                <a:ea typeface="Plus Jakarta Sans"/>
                <a:cs typeface="Plus Jakarta Sans"/>
                <a:sym typeface="Plus Jakarta Sans"/>
              </a:rPr>
              <a:t> — Answer questions about architecture, dependencies, functions</a:t>
            </a:r>
            <a:endParaRPr/>
          </a:p>
        </p:txBody>
      </p:sp>
      <p:sp>
        <p:nvSpPr>
          <p:cNvPr id="365" name="Google Shape;365;p20"/>
          <p:cNvSpPr txBox="1"/>
          <p:nvPr/>
        </p:nvSpPr>
        <p:spPr>
          <a:xfrm>
            <a:off x="800100" y="4137124"/>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Plan mode</a:t>
            </a:r>
            <a:r>
              <a:rPr b="0" i="0" lang="en-US" sz="1050" u="none" cap="none" strike="noStrike">
                <a:solidFill>
                  <a:srgbClr val="334155"/>
                </a:solidFill>
                <a:latin typeface="Plus Jakarta Sans"/>
                <a:ea typeface="Plus Jakarta Sans"/>
                <a:cs typeface="Plus Jakarta Sans"/>
                <a:sym typeface="Plus Jakarta Sans"/>
              </a:rPr>
              <a:t> — Scope a task, break it down, and generate a context-rich prompt ready for an agent session</a:t>
            </a:r>
            <a:endParaRPr/>
          </a:p>
        </p:txBody>
      </p:sp>
      <p:sp>
        <p:nvSpPr>
          <p:cNvPr id="366" name="Google Shape;366;p20"/>
          <p:cNvSpPr txBox="1"/>
          <p:nvPr/>
        </p:nvSpPr>
        <p:spPr>
          <a:xfrm>
            <a:off x="7234237" y="2490936"/>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Answers are cited — every claim links to specific files and lines</a:t>
            </a:r>
            <a:endParaRPr/>
          </a:p>
        </p:txBody>
      </p:sp>
      <p:sp>
        <p:nvSpPr>
          <p:cNvPr id="367" name="Google Shape;367;p20"/>
          <p:cNvSpPr txBox="1"/>
          <p:nvPr/>
        </p:nvSpPr>
        <p:spPr>
          <a:xfrm>
            <a:off x="7234237" y="2753766"/>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 status is visible directly in the Ask Devin conversation</a:t>
            </a:r>
            <a:endParaRPr/>
          </a:p>
        </p:txBody>
      </p:sp>
      <p:sp>
        <p:nvSpPr>
          <p:cNvPr id="368" name="Google Shape;368;p20"/>
          <p:cNvSpPr txBox="1"/>
          <p:nvPr/>
        </p:nvSpPr>
        <p:spPr>
          <a:xfrm>
            <a:off x="7234237" y="3016597"/>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Starting a session from Ask Devin pre-loads context, improving session quality</a:t>
            </a:r>
            <a:endParaRPr/>
          </a:p>
        </p:txBody>
      </p:sp>
      <p:sp>
        <p:nvSpPr>
          <p:cNvPr id="369" name="Google Shape;369;p20"/>
          <p:cNvSpPr txBox="1"/>
          <p:nvPr/>
        </p:nvSpPr>
        <p:spPr>
          <a:xfrm>
            <a:off x="7234237" y="4080867"/>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Always use Ask Devin to plan before starting an agent session for complex tasks</a:t>
            </a:r>
            <a:endParaRPr/>
          </a:p>
        </p:txBody>
      </p:sp>
      <p:sp>
        <p:nvSpPr>
          <p:cNvPr id="370" name="Google Shape;370;p20"/>
          <p:cNvSpPr txBox="1"/>
          <p:nvPr/>
        </p:nvSpPr>
        <p:spPr>
          <a:xfrm>
            <a:off x="7234237" y="4530328"/>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Plan mode to generate the session prompt — it produces better-scoped, higher-quality prompts than writing from scratch</a:t>
            </a:r>
            <a:endParaRPr/>
          </a:p>
        </p:txBody>
      </p:sp>
      <p:sp>
        <p:nvSpPr>
          <p:cNvPr id="371" name="Google Shape;371;p20"/>
          <p:cNvSpPr txBox="1"/>
          <p:nvPr/>
        </p:nvSpPr>
        <p:spPr>
          <a:xfrm>
            <a:off x="7234237" y="4979789"/>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Index all repositories before onboarding engineers</a:t>
            </a:r>
            <a:endParaRPr/>
          </a:p>
        </p:txBody>
      </p:sp>
      <p:pic>
        <p:nvPicPr>
          <p:cNvPr descr="image.png" id="372" name="Google Shape;372;p20"/>
          <p:cNvPicPr preferRelativeResize="0"/>
          <p:nvPr/>
        </p:nvPicPr>
        <p:blipFill rotWithShape="1">
          <a:blip r:embed="rId5">
            <a:alphaModFix/>
          </a:blip>
          <a:srcRect b="0" l="0" r="0" t="0"/>
          <a:stretch/>
        </p:blipFill>
        <p:spPr>
          <a:xfrm>
            <a:off x="571500" y="3902868"/>
            <a:ext cx="57150" cy="95250"/>
          </a:xfrm>
          <a:prstGeom prst="rect">
            <a:avLst/>
          </a:prstGeom>
          <a:noFill/>
          <a:ln>
            <a:noFill/>
          </a:ln>
        </p:spPr>
      </p:pic>
      <p:pic>
        <p:nvPicPr>
          <p:cNvPr descr="image.png" id="373" name="Google Shape;373;p20"/>
          <p:cNvPicPr preferRelativeResize="0"/>
          <p:nvPr/>
        </p:nvPicPr>
        <p:blipFill rotWithShape="1">
          <a:blip r:embed="rId5">
            <a:alphaModFix/>
          </a:blip>
          <a:srcRect b="0" l="0" r="0" t="0"/>
          <a:stretch/>
        </p:blipFill>
        <p:spPr>
          <a:xfrm>
            <a:off x="571500" y="4165699"/>
            <a:ext cx="57150" cy="95250"/>
          </a:xfrm>
          <a:prstGeom prst="rect">
            <a:avLst/>
          </a:prstGeom>
          <a:noFill/>
          <a:ln>
            <a:noFill/>
          </a:ln>
        </p:spPr>
      </p:pic>
      <p:pic>
        <p:nvPicPr>
          <p:cNvPr descr="image.png" id="374" name="Google Shape;374;p20"/>
          <p:cNvPicPr preferRelativeResize="0"/>
          <p:nvPr/>
        </p:nvPicPr>
        <p:blipFill rotWithShape="1">
          <a:blip r:embed="rId6">
            <a:alphaModFix/>
          </a:blip>
          <a:srcRect b="0" l="0" r="0" t="0"/>
          <a:stretch/>
        </p:blipFill>
        <p:spPr>
          <a:xfrm>
            <a:off x="7005637" y="2519511"/>
            <a:ext cx="95250" cy="95250"/>
          </a:xfrm>
          <a:prstGeom prst="rect">
            <a:avLst/>
          </a:prstGeom>
          <a:noFill/>
          <a:ln>
            <a:noFill/>
          </a:ln>
        </p:spPr>
      </p:pic>
      <p:pic>
        <p:nvPicPr>
          <p:cNvPr descr="image.png" id="375" name="Google Shape;375;p20"/>
          <p:cNvPicPr preferRelativeResize="0"/>
          <p:nvPr/>
        </p:nvPicPr>
        <p:blipFill rotWithShape="1">
          <a:blip r:embed="rId6">
            <a:alphaModFix/>
          </a:blip>
          <a:srcRect b="0" l="0" r="0" t="0"/>
          <a:stretch/>
        </p:blipFill>
        <p:spPr>
          <a:xfrm>
            <a:off x="7005637" y="2782341"/>
            <a:ext cx="95250" cy="95250"/>
          </a:xfrm>
          <a:prstGeom prst="rect">
            <a:avLst/>
          </a:prstGeom>
          <a:noFill/>
          <a:ln>
            <a:noFill/>
          </a:ln>
        </p:spPr>
      </p:pic>
      <p:pic>
        <p:nvPicPr>
          <p:cNvPr descr="image.png" id="376" name="Google Shape;376;p20"/>
          <p:cNvPicPr preferRelativeResize="0"/>
          <p:nvPr/>
        </p:nvPicPr>
        <p:blipFill rotWithShape="1">
          <a:blip r:embed="rId6">
            <a:alphaModFix/>
          </a:blip>
          <a:srcRect b="0" l="0" r="0" t="0"/>
          <a:stretch/>
        </p:blipFill>
        <p:spPr>
          <a:xfrm>
            <a:off x="7005637" y="3045172"/>
            <a:ext cx="95250" cy="95250"/>
          </a:xfrm>
          <a:prstGeom prst="rect">
            <a:avLst/>
          </a:prstGeom>
          <a:noFill/>
          <a:ln>
            <a:noFill/>
          </a:ln>
        </p:spPr>
      </p:pic>
      <p:pic>
        <p:nvPicPr>
          <p:cNvPr descr="image.png" id="377" name="Google Shape;377;p20"/>
          <p:cNvPicPr preferRelativeResize="0"/>
          <p:nvPr/>
        </p:nvPicPr>
        <p:blipFill rotWithShape="1">
          <a:blip r:embed="rId7">
            <a:alphaModFix/>
          </a:blip>
          <a:srcRect b="0" l="0" r="0" t="0"/>
          <a:stretch/>
        </p:blipFill>
        <p:spPr>
          <a:xfrm>
            <a:off x="7005637" y="4109442"/>
            <a:ext cx="57150" cy="95250"/>
          </a:xfrm>
          <a:prstGeom prst="rect">
            <a:avLst/>
          </a:prstGeom>
          <a:noFill/>
          <a:ln>
            <a:noFill/>
          </a:ln>
        </p:spPr>
      </p:pic>
      <p:pic>
        <p:nvPicPr>
          <p:cNvPr descr="image.png" id="378" name="Google Shape;378;p20"/>
          <p:cNvPicPr preferRelativeResize="0"/>
          <p:nvPr/>
        </p:nvPicPr>
        <p:blipFill rotWithShape="1">
          <a:blip r:embed="rId7">
            <a:alphaModFix/>
          </a:blip>
          <a:srcRect b="0" l="0" r="0" t="0"/>
          <a:stretch/>
        </p:blipFill>
        <p:spPr>
          <a:xfrm>
            <a:off x="7005637" y="4558903"/>
            <a:ext cx="57150" cy="95250"/>
          </a:xfrm>
          <a:prstGeom prst="rect">
            <a:avLst/>
          </a:prstGeom>
          <a:noFill/>
          <a:ln>
            <a:noFill/>
          </a:ln>
        </p:spPr>
      </p:pic>
      <p:pic>
        <p:nvPicPr>
          <p:cNvPr descr="image.png" id="379" name="Google Shape;379;p20"/>
          <p:cNvPicPr preferRelativeResize="0"/>
          <p:nvPr/>
        </p:nvPicPr>
        <p:blipFill rotWithShape="1">
          <a:blip r:embed="rId7">
            <a:alphaModFix/>
          </a:blip>
          <a:srcRect b="0" l="0" r="0" t="0"/>
          <a:stretch/>
        </p:blipFill>
        <p:spPr>
          <a:xfrm>
            <a:off x="7005637" y="5008364"/>
            <a:ext cx="57150" cy="95250"/>
          </a:xfrm>
          <a:prstGeom prst="rect">
            <a:avLst/>
          </a:prstGeom>
          <a:noFill/>
          <a:ln>
            <a:noFill/>
          </a:ln>
        </p:spPr>
      </p:pic>
      <p:sp>
        <p:nvSpPr>
          <p:cNvPr id="380" name="Google Shape;380;p20"/>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Ask Devin</a:t>
            </a:r>
            <a:endParaRPr/>
          </a:p>
        </p:txBody>
      </p:sp>
      <p:sp>
        <p:nvSpPr>
          <p:cNvPr id="381" name="Google Shape;381;p20"/>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pic>
        <p:nvPicPr>
          <p:cNvPr descr="image.png" id="386" name="Google Shape;386;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87" name="Google Shape;387;p21"/>
          <p:cNvPicPr preferRelativeResize="0"/>
          <p:nvPr/>
        </p:nvPicPr>
        <p:blipFill rotWithShape="1">
          <a:blip r:embed="rId4">
            <a:alphaModFix/>
          </a:blip>
          <a:srcRect b="0" l="0" r="0" t="0"/>
          <a:stretch/>
        </p:blipFill>
        <p:spPr>
          <a:xfrm>
            <a:off x="7005637" y="1485900"/>
            <a:ext cx="4614862" cy="4461420"/>
          </a:xfrm>
          <a:prstGeom prst="rect">
            <a:avLst/>
          </a:prstGeom>
          <a:noFill/>
          <a:ln>
            <a:noFill/>
          </a:ln>
        </p:spPr>
      </p:pic>
      <p:pic>
        <p:nvPicPr>
          <p:cNvPr descr="image.png" id="388" name="Google Shape;388;p21"/>
          <p:cNvPicPr preferRelativeResize="0"/>
          <p:nvPr/>
        </p:nvPicPr>
        <p:blipFill rotWithShape="1">
          <a:blip r:embed="rId5">
            <a:alphaModFix/>
          </a:blip>
          <a:srcRect b="0" l="0" r="0" t="0"/>
          <a:stretch/>
        </p:blipFill>
        <p:spPr>
          <a:xfrm>
            <a:off x="571500" y="466725"/>
            <a:ext cx="857250" cy="209550"/>
          </a:xfrm>
          <a:prstGeom prst="rect">
            <a:avLst/>
          </a:prstGeom>
          <a:noFill/>
          <a:ln>
            <a:noFill/>
          </a:ln>
        </p:spPr>
      </p:pic>
      <p:sp>
        <p:nvSpPr>
          <p:cNvPr id="389" name="Google Shape;389;p21"/>
          <p:cNvSpPr txBox="1"/>
          <p:nvPr/>
        </p:nvSpPr>
        <p:spPr>
          <a:xfrm>
            <a:off x="571500" y="148590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390" name="Google Shape;390;p21"/>
          <p:cNvSpPr txBox="1"/>
          <p:nvPr/>
        </p:nvSpPr>
        <p:spPr>
          <a:xfrm>
            <a:off x="571500" y="1656754"/>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core execution unit — an isolated, autonomous agent run inside a Linux VM.</a:t>
            </a:r>
            <a:endParaRPr/>
          </a:p>
        </p:txBody>
      </p:sp>
      <p:sp>
        <p:nvSpPr>
          <p:cNvPr id="391" name="Google Shape;391;p21"/>
          <p:cNvSpPr txBox="1"/>
          <p:nvPr/>
        </p:nvSpPr>
        <p:spPr>
          <a:xfrm>
            <a:off x="571500" y="192628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392" name="Google Shape;392;p21"/>
          <p:cNvSpPr txBox="1"/>
          <p:nvPr/>
        </p:nvSpPr>
        <p:spPr>
          <a:xfrm>
            <a:off x="571500" y="2097137"/>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task Devin executes happens inside a session. Sessions provide isolation, reproducibility, and a clean audit trail.</a:t>
            </a:r>
            <a:endParaRPr/>
          </a:p>
        </p:txBody>
      </p:sp>
      <p:sp>
        <p:nvSpPr>
          <p:cNvPr id="393" name="Google Shape;393;p21"/>
          <p:cNvSpPr txBox="1"/>
          <p:nvPr/>
        </p:nvSpPr>
        <p:spPr>
          <a:xfrm>
            <a:off x="571500" y="255999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394" name="Google Shape;394;p21"/>
          <p:cNvSpPr txBox="1"/>
          <p:nvPr/>
        </p:nvSpPr>
        <p:spPr>
          <a:xfrm>
            <a:off x="571500" y="3782169"/>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395" name="Google Shape;395;p21"/>
          <p:cNvSpPr txBox="1"/>
          <p:nvPr/>
        </p:nvSpPr>
        <p:spPr>
          <a:xfrm>
            <a:off x="571500" y="3953023"/>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CI check fails on a PR. An Automation triggers a Devin session automatically. Devin boots, reads the failure, fixes the code, runs tests, and pushes a fix — without human intervention.</a:t>
            </a:r>
            <a:endParaRPr/>
          </a:p>
        </p:txBody>
      </p:sp>
      <p:sp>
        <p:nvSpPr>
          <p:cNvPr id="396" name="Google Shape;396;p21"/>
          <p:cNvSpPr txBox="1"/>
          <p:nvPr/>
        </p:nvSpPr>
        <p:spPr>
          <a:xfrm>
            <a:off x="571500" y="495285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397" name="Google Shape;397;p21"/>
          <p:cNvSpPr txBox="1"/>
          <p:nvPr/>
        </p:nvSpPr>
        <p:spPr>
          <a:xfrm>
            <a:off x="7158037" y="1638300"/>
            <a:ext cx="4310062" cy="165645"/>
          </a:xfrm>
          <a:prstGeom prst="rect">
            <a:avLst/>
          </a:prstGeom>
          <a:noFill/>
          <a:ln>
            <a:noFill/>
          </a:ln>
        </p:spPr>
        <p:txBody>
          <a:bodyPr anchorCtr="0" anchor="t" bIns="0" lIns="11430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VISUAL SESSION LIFECYCLE</a:t>
            </a:r>
            <a:endParaRPr/>
          </a:p>
        </p:txBody>
      </p:sp>
      <p:sp>
        <p:nvSpPr>
          <p:cNvPr id="398" name="Google Shape;398;p21"/>
          <p:cNvSpPr txBox="1"/>
          <p:nvPr/>
        </p:nvSpPr>
        <p:spPr>
          <a:xfrm>
            <a:off x="800100" y="273084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session boots from a </a:t>
            </a:r>
            <a:r>
              <a:rPr b="1" i="0" lang="en-US" sz="1050" u="none" cap="none" strike="noStrike">
                <a:solidFill>
                  <a:srgbClr val="334155"/>
                </a:solidFill>
                <a:latin typeface="Plus Jakarta Sans"/>
                <a:ea typeface="Plus Jakarta Sans"/>
                <a:cs typeface="Plus Jakarta Sans"/>
                <a:sym typeface="Plus Jakarta Sans"/>
              </a:rPr>
              <a:t>snapshot</a:t>
            </a:r>
            <a:r>
              <a:rPr b="0" i="0" lang="en-US" sz="1050" u="none" cap="none" strike="noStrike">
                <a:solidFill>
                  <a:srgbClr val="334155"/>
                </a:solidFill>
                <a:latin typeface="Plus Jakarta Sans"/>
                <a:ea typeface="Plus Jakarta Sans"/>
                <a:cs typeface="Plus Jakarta Sans"/>
                <a:sym typeface="Plus Jakarta Sans"/>
              </a:rPr>
              <a:t> — a frozen, bootable image of the environment</a:t>
            </a:r>
            <a:endParaRPr/>
          </a:p>
        </p:txBody>
      </p:sp>
      <p:sp>
        <p:nvSpPr>
          <p:cNvPr id="399" name="Google Shape;399;p21"/>
          <p:cNvSpPr txBox="1"/>
          <p:nvPr/>
        </p:nvSpPr>
        <p:spPr>
          <a:xfrm>
            <a:off x="800100" y="299367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snapshot contains cloned repos, installed dependencies, configured tools, and secrets</a:t>
            </a:r>
            <a:endParaRPr/>
          </a:p>
        </p:txBody>
      </p:sp>
      <p:sp>
        <p:nvSpPr>
          <p:cNvPr id="400" name="Google Shape;400;p21"/>
          <p:cNvSpPr txBox="1"/>
          <p:nvPr/>
        </p:nvSpPr>
        <p:spPr>
          <a:xfrm>
            <a:off x="800100" y="325650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 changes do not persist back to the snapshot — every session starts clean</a:t>
            </a:r>
            <a:endParaRPr/>
          </a:p>
        </p:txBody>
      </p:sp>
      <p:sp>
        <p:nvSpPr>
          <p:cNvPr id="401" name="Google Shape;401;p21"/>
          <p:cNvSpPr txBox="1"/>
          <p:nvPr/>
        </p:nvSpPr>
        <p:spPr>
          <a:xfrm>
            <a:off x="800100" y="351933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Sessions have a full timeline of events, accessible for analysis</a:t>
            </a:r>
            <a:endParaRPr/>
          </a:p>
        </p:txBody>
      </p:sp>
      <p:sp>
        <p:nvSpPr>
          <p:cNvPr id="402" name="Google Shape;402;p21"/>
          <p:cNvSpPr txBox="1"/>
          <p:nvPr/>
        </p:nvSpPr>
        <p:spPr>
          <a:xfrm>
            <a:off x="800100" y="512370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Keep tasks scoped to under 90 minutes of equivalent manual engineering work</a:t>
            </a:r>
            <a:endParaRPr/>
          </a:p>
        </p:txBody>
      </p:sp>
      <p:sp>
        <p:nvSpPr>
          <p:cNvPr id="403" name="Google Shape;403;p21"/>
          <p:cNvSpPr txBox="1"/>
          <p:nvPr/>
        </p:nvSpPr>
        <p:spPr>
          <a:xfrm>
            <a:off x="800100" y="5386536"/>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the snapshot is correctly configured — this is the single highest-leverage setup investment</a:t>
            </a:r>
            <a:endParaRPr/>
          </a:p>
        </p:txBody>
      </p:sp>
      <p:sp>
        <p:nvSpPr>
          <p:cNvPr id="404" name="Google Shape;404;p21"/>
          <p:cNvSpPr txBox="1"/>
          <p:nvPr/>
        </p:nvSpPr>
        <p:spPr>
          <a:xfrm>
            <a:off x="800100" y="583599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session insights to analyze why sessions succeed or fail</a:t>
            </a:r>
            <a:endParaRPr/>
          </a:p>
        </p:txBody>
      </p:sp>
      <p:pic>
        <p:nvPicPr>
          <p:cNvPr descr="image.png" id="405" name="Google Shape;405;p21"/>
          <p:cNvPicPr preferRelativeResize="0"/>
          <p:nvPr/>
        </p:nvPicPr>
        <p:blipFill rotWithShape="1">
          <a:blip r:embed="rId6">
            <a:alphaModFix/>
          </a:blip>
          <a:srcRect b="0" l="0" r="0" t="0"/>
          <a:stretch/>
        </p:blipFill>
        <p:spPr>
          <a:xfrm>
            <a:off x="8455818" y="1666875"/>
            <a:ext cx="114300" cy="114300"/>
          </a:xfrm>
          <a:prstGeom prst="rect">
            <a:avLst/>
          </a:prstGeom>
          <a:noFill/>
          <a:ln>
            <a:noFill/>
          </a:ln>
        </p:spPr>
      </p:pic>
      <p:sp>
        <p:nvSpPr>
          <p:cNvPr id="406" name="Google Shape;406;p21"/>
          <p:cNvSpPr/>
          <p:nvPr/>
        </p:nvSpPr>
        <p:spPr>
          <a:xfrm>
            <a:off x="7291387" y="2013495"/>
            <a:ext cx="14287" cy="36671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1"/>
          <p:cNvSpPr txBox="1"/>
          <p:nvPr/>
        </p:nvSpPr>
        <p:spPr>
          <a:xfrm>
            <a:off x="571500" y="4415879"/>
            <a:ext cx="3050381"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408" name="Google Shape;408;p21"/>
          <p:cNvSpPr txBox="1"/>
          <p:nvPr/>
        </p:nvSpPr>
        <p:spPr>
          <a:xfrm>
            <a:off x="571500" y="4573041"/>
            <a:ext cx="3050381"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Full isolation, reproducible state, complete audit trail, parallel execution</a:t>
            </a:r>
            <a:endParaRPr/>
          </a:p>
        </p:txBody>
      </p:sp>
      <p:sp>
        <p:nvSpPr>
          <p:cNvPr id="409" name="Google Shape;409;p21"/>
          <p:cNvSpPr txBox="1"/>
          <p:nvPr/>
        </p:nvSpPr>
        <p:spPr>
          <a:xfrm>
            <a:off x="3717131" y="4415879"/>
            <a:ext cx="3050381"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410" name="Google Shape;410;p21"/>
          <p:cNvSpPr txBox="1"/>
          <p:nvPr/>
        </p:nvSpPr>
        <p:spPr>
          <a:xfrm>
            <a:off x="3717131" y="4573041"/>
            <a:ext cx="3050381"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Sessions do not share state with each other; coordination requires the Managed Devins pattern</a:t>
            </a:r>
            <a:endParaRPr/>
          </a:p>
        </p:txBody>
      </p:sp>
      <p:pic>
        <p:nvPicPr>
          <p:cNvPr descr="image.png" id="411" name="Google Shape;411;p21"/>
          <p:cNvPicPr preferRelativeResize="0"/>
          <p:nvPr/>
        </p:nvPicPr>
        <p:blipFill rotWithShape="1">
          <a:blip r:embed="rId7">
            <a:alphaModFix/>
          </a:blip>
          <a:srcRect b="0" l="0" r="0" t="0"/>
          <a:stretch/>
        </p:blipFill>
        <p:spPr>
          <a:xfrm>
            <a:off x="7158037" y="1899195"/>
            <a:ext cx="266700" cy="266700"/>
          </a:xfrm>
          <a:prstGeom prst="rect">
            <a:avLst/>
          </a:prstGeom>
          <a:noFill/>
          <a:ln>
            <a:noFill/>
          </a:ln>
        </p:spPr>
      </p:pic>
      <p:pic>
        <p:nvPicPr>
          <p:cNvPr descr="image.png" id="412" name="Google Shape;412;p21"/>
          <p:cNvPicPr preferRelativeResize="0"/>
          <p:nvPr/>
        </p:nvPicPr>
        <p:blipFill rotWithShape="1">
          <a:blip r:embed="rId8">
            <a:alphaModFix/>
          </a:blip>
          <a:srcRect b="0" l="0" r="0" t="0"/>
          <a:stretch/>
        </p:blipFill>
        <p:spPr>
          <a:xfrm>
            <a:off x="7158037" y="2294483"/>
            <a:ext cx="266700" cy="266700"/>
          </a:xfrm>
          <a:prstGeom prst="rect">
            <a:avLst/>
          </a:prstGeom>
          <a:noFill/>
          <a:ln>
            <a:noFill/>
          </a:ln>
        </p:spPr>
      </p:pic>
      <p:pic>
        <p:nvPicPr>
          <p:cNvPr descr="image.png" id="413" name="Google Shape;413;p21"/>
          <p:cNvPicPr preferRelativeResize="0"/>
          <p:nvPr/>
        </p:nvPicPr>
        <p:blipFill rotWithShape="1">
          <a:blip r:embed="rId9">
            <a:alphaModFix/>
          </a:blip>
          <a:srcRect b="0" l="0" r="0" t="0"/>
          <a:stretch/>
        </p:blipFill>
        <p:spPr>
          <a:xfrm>
            <a:off x="7158037" y="2689770"/>
            <a:ext cx="266700" cy="266700"/>
          </a:xfrm>
          <a:prstGeom prst="rect">
            <a:avLst/>
          </a:prstGeom>
          <a:noFill/>
          <a:ln>
            <a:noFill/>
          </a:ln>
        </p:spPr>
      </p:pic>
      <p:pic>
        <p:nvPicPr>
          <p:cNvPr descr="image.png" id="414" name="Google Shape;414;p21"/>
          <p:cNvPicPr preferRelativeResize="0"/>
          <p:nvPr/>
        </p:nvPicPr>
        <p:blipFill rotWithShape="1">
          <a:blip r:embed="rId10">
            <a:alphaModFix/>
          </a:blip>
          <a:srcRect b="0" l="0" r="0" t="0"/>
          <a:stretch/>
        </p:blipFill>
        <p:spPr>
          <a:xfrm>
            <a:off x="7158037" y="3085058"/>
            <a:ext cx="266700" cy="266700"/>
          </a:xfrm>
          <a:prstGeom prst="rect">
            <a:avLst/>
          </a:prstGeom>
          <a:noFill/>
          <a:ln>
            <a:noFill/>
          </a:ln>
        </p:spPr>
      </p:pic>
      <p:pic>
        <p:nvPicPr>
          <p:cNvPr descr="image.png" id="415" name="Google Shape;415;p21"/>
          <p:cNvPicPr preferRelativeResize="0"/>
          <p:nvPr/>
        </p:nvPicPr>
        <p:blipFill rotWithShape="1">
          <a:blip r:embed="rId11">
            <a:alphaModFix/>
          </a:blip>
          <a:srcRect b="0" l="0" r="0" t="0"/>
          <a:stretch/>
        </p:blipFill>
        <p:spPr>
          <a:xfrm>
            <a:off x="7158037" y="3480345"/>
            <a:ext cx="266700" cy="266700"/>
          </a:xfrm>
          <a:prstGeom prst="rect">
            <a:avLst/>
          </a:prstGeom>
          <a:noFill/>
          <a:ln>
            <a:noFill/>
          </a:ln>
        </p:spPr>
      </p:pic>
      <p:pic>
        <p:nvPicPr>
          <p:cNvPr descr="image.png" id="416" name="Google Shape;416;p21"/>
          <p:cNvPicPr preferRelativeResize="0"/>
          <p:nvPr/>
        </p:nvPicPr>
        <p:blipFill rotWithShape="1">
          <a:blip r:embed="rId12">
            <a:alphaModFix/>
          </a:blip>
          <a:srcRect b="0" l="0" r="0" t="0"/>
          <a:stretch/>
        </p:blipFill>
        <p:spPr>
          <a:xfrm>
            <a:off x="7158037" y="3875633"/>
            <a:ext cx="266700" cy="266700"/>
          </a:xfrm>
          <a:prstGeom prst="rect">
            <a:avLst/>
          </a:prstGeom>
          <a:noFill/>
          <a:ln>
            <a:noFill/>
          </a:ln>
        </p:spPr>
      </p:pic>
      <p:pic>
        <p:nvPicPr>
          <p:cNvPr descr="image.png" id="417" name="Google Shape;417;p21"/>
          <p:cNvPicPr preferRelativeResize="0"/>
          <p:nvPr/>
        </p:nvPicPr>
        <p:blipFill rotWithShape="1">
          <a:blip r:embed="rId13">
            <a:alphaModFix/>
          </a:blip>
          <a:srcRect b="0" l="0" r="0" t="0"/>
          <a:stretch/>
        </p:blipFill>
        <p:spPr>
          <a:xfrm>
            <a:off x="7158037" y="4270920"/>
            <a:ext cx="266700" cy="266700"/>
          </a:xfrm>
          <a:prstGeom prst="rect">
            <a:avLst/>
          </a:prstGeom>
          <a:noFill/>
          <a:ln>
            <a:noFill/>
          </a:ln>
        </p:spPr>
      </p:pic>
      <p:pic>
        <p:nvPicPr>
          <p:cNvPr descr="image.png" id="418" name="Google Shape;418;p21"/>
          <p:cNvPicPr preferRelativeResize="0"/>
          <p:nvPr/>
        </p:nvPicPr>
        <p:blipFill rotWithShape="1">
          <a:blip r:embed="rId14">
            <a:alphaModFix/>
          </a:blip>
          <a:srcRect b="0" l="0" r="0" t="0"/>
          <a:stretch/>
        </p:blipFill>
        <p:spPr>
          <a:xfrm>
            <a:off x="7158037" y="4666208"/>
            <a:ext cx="266700" cy="266700"/>
          </a:xfrm>
          <a:prstGeom prst="rect">
            <a:avLst/>
          </a:prstGeom>
          <a:noFill/>
          <a:ln>
            <a:noFill/>
          </a:ln>
        </p:spPr>
      </p:pic>
      <p:pic>
        <p:nvPicPr>
          <p:cNvPr descr="image.png" id="419" name="Google Shape;419;p21"/>
          <p:cNvPicPr preferRelativeResize="0"/>
          <p:nvPr/>
        </p:nvPicPr>
        <p:blipFill rotWithShape="1">
          <a:blip r:embed="rId15">
            <a:alphaModFix/>
          </a:blip>
          <a:srcRect b="0" l="0" r="0" t="0"/>
          <a:stretch/>
        </p:blipFill>
        <p:spPr>
          <a:xfrm>
            <a:off x="7158037" y="5061495"/>
            <a:ext cx="266700" cy="266700"/>
          </a:xfrm>
          <a:prstGeom prst="rect">
            <a:avLst/>
          </a:prstGeom>
          <a:noFill/>
          <a:ln>
            <a:noFill/>
          </a:ln>
        </p:spPr>
      </p:pic>
      <p:pic>
        <p:nvPicPr>
          <p:cNvPr descr="image.png" id="420" name="Google Shape;420;p21"/>
          <p:cNvPicPr preferRelativeResize="0"/>
          <p:nvPr/>
        </p:nvPicPr>
        <p:blipFill rotWithShape="1">
          <a:blip r:embed="rId16">
            <a:alphaModFix/>
          </a:blip>
          <a:srcRect b="0" l="0" r="0" t="0"/>
          <a:stretch/>
        </p:blipFill>
        <p:spPr>
          <a:xfrm>
            <a:off x="7158037" y="5456783"/>
            <a:ext cx="266700" cy="266700"/>
          </a:xfrm>
          <a:prstGeom prst="rect">
            <a:avLst/>
          </a:prstGeom>
          <a:noFill/>
          <a:ln>
            <a:noFill/>
          </a:ln>
        </p:spPr>
      </p:pic>
      <p:pic>
        <p:nvPicPr>
          <p:cNvPr descr="image.png" id="421" name="Google Shape;421;p21"/>
          <p:cNvPicPr preferRelativeResize="0"/>
          <p:nvPr/>
        </p:nvPicPr>
        <p:blipFill rotWithShape="1">
          <a:blip r:embed="rId17">
            <a:alphaModFix/>
          </a:blip>
          <a:srcRect b="0" l="0" r="0" t="0"/>
          <a:stretch/>
        </p:blipFill>
        <p:spPr>
          <a:xfrm>
            <a:off x="571500" y="2759422"/>
            <a:ext cx="57150" cy="95250"/>
          </a:xfrm>
          <a:prstGeom prst="rect">
            <a:avLst/>
          </a:prstGeom>
          <a:noFill/>
          <a:ln>
            <a:noFill/>
          </a:ln>
        </p:spPr>
      </p:pic>
      <p:pic>
        <p:nvPicPr>
          <p:cNvPr descr="image.png" id="422" name="Google Shape;422;p21"/>
          <p:cNvPicPr preferRelativeResize="0"/>
          <p:nvPr/>
        </p:nvPicPr>
        <p:blipFill rotWithShape="1">
          <a:blip r:embed="rId17">
            <a:alphaModFix/>
          </a:blip>
          <a:srcRect b="0" l="0" r="0" t="0"/>
          <a:stretch/>
        </p:blipFill>
        <p:spPr>
          <a:xfrm>
            <a:off x="571500" y="3022252"/>
            <a:ext cx="57150" cy="95250"/>
          </a:xfrm>
          <a:prstGeom prst="rect">
            <a:avLst/>
          </a:prstGeom>
          <a:noFill/>
          <a:ln>
            <a:noFill/>
          </a:ln>
        </p:spPr>
      </p:pic>
      <p:pic>
        <p:nvPicPr>
          <p:cNvPr descr="image.png" id="423" name="Google Shape;423;p21"/>
          <p:cNvPicPr preferRelativeResize="0"/>
          <p:nvPr/>
        </p:nvPicPr>
        <p:blipFill rotWithShape="1">
          <a:blip r:embed="rId17">
            <a:alphaModFix/>
          </a:blip>
          <a:srcRect b="0" l="0" r="0" t="0"/>
          <a:stretch/>
        </p:blipFill>
        <p:spPr>
          <a:xfrm>
            <a:off x="571500" y="3285083"/>
            <a:ext cx="57150" cy="95250"/>
          </a:xfrm>
          <a:prstGeom prst="rect">
            <a:avLst/>
          </a:prstGeom>
          <a:noFill/>
          <a:ln>
            <a:noFill/>
          </a:ln>
        </p:spPr>
      </p:pic>
      <p:pic>
        <p:nvPicPr>
          <p:cNvPr descr="image.png" id="424" name="Google Shape;424;p21"/>
          <p:cNvPicPr preferRelativeResize="0"/>
          <p:nvPr/>
        </p:nvPicPr>
        <p:blipFill rotWithShape="1">
          <a:blip r:embed="rId17">
            <a:alphaModFix/>
          </a:blip>
          <a:srcRect b="0" l="0" r="0" t="0"/>
          <a:stretch/>
        </p:blipFill>
        <p:spPr>
          <a:xfrm>
            <a:off x="571500" y="3547913"/>
            <a:ext cx="57150" cy="95250"/>
          </a:xfrm>
          <a:prstGeom prst="rect">
            <a:avLst/>
          </a:prstGeom>
          <a:noFill/>
          <a:ln>
            <a:noFill/>
          </a:ln>
        </p:spPr>
      </p:pic>
      <p:pic>
        <p:nvPicPr>
          <p:cNvPr descr="image.png" id="425" name="Google Shape;425;p21"/>
          <p:cNvPicPr preferRelativeResize="0"/>
          <p:nvPr/>
        </p:nvPicPr>
        <p:blipFill rotWithShape="1">
          <a:blip r:embed="rId18">
            <a:alphaModFix/>
          </a:blip>
          <a:srcRect b="0" l="0" r="0" t="0"/>
          <a:stretch/>
        </p:blipFill>
        <p:spPr>
          <a:xfrm>
            <a:off x="571500" y="5152280"/>
            <a:ext cx="95250" cy="95250"/>
          </a:xfrm>
          <a:prstGeom prst="rect">
            <a:avLst/>
          </a:prstGeom>
          <a:noFill/>
          <a:ln>
            <a:noFill/>
          </a:ln>
        </p:spPr>
      </p:pic>
      <p:pic>
        <p:nvPicPr>
          <p:cNvPr descr="image.png" id="426" name="Google Shape;426;p21"/>
          <p:cNvPicPr preferRelativeResize="0"/>
          <p:nvPr/>
        </p:nvPicPr>
        <p:blipFill rotWithShape="1">
          <a:blip r:embed="rId18">
            <a:alphaModFix/>
          </a:blip>
          <a:srcRect b="0" l="0" r="0" t="0"/>
          <a:stretch/>
        </p:blipFill>
        <p:spPr>
          <a:xfrm>
            <a:off x="571500" y="5415111"/>
            <a:ext cx="95250" cy="95250"/>
          </a:xfrm>
          <a:prstGeom prst="rect">
            <a:avLst/>
          </a:prstGeom>
          <a:noFill/>
          <a:ln>
            <a:noFill/>
          </a:ln>
        </p:spPr>
      </p:pic>
      <p:pic>
        <p:nvPicPr>
          <p:cNvPr descr="image.png" id="427" name="Google Shape;427;p21"/>
          <p:cNvPicPr preferRelativeResize="0"/>
          <p:nvPr/>
        </p:nvPicPr>
        <p:blipFill rotWithShape="1">
          <a:blip r:embed="rId18">
            <a:alphaModFix/>
          </a:blip>
          <a:srcRect b="0" l="0" r="0" t="0"/>
          <a:stretch/>
        </p:blipFill>
        <p:spPr>
          <a:xfrm>
            <a:off x="571500" y="5864572"/>
            <a:ext cx="95250" cy="95250"/>
          </a:xfrm>
          <a:prstGeom prst="rect">
            <a:avLst/>
          </a:prstGeom>
          <a:noFill/>
          <a:ln>
            <a:noFill/>
          </a:ln>
        </p:spPr>
      </p:pic>
      <p:sp>
        <p:nvSpPr>
          <p:cNvPr id="428" name="Google Shape;428;p21"/>
          <p:cNvSpPr txBox="1"/>
          <p:nvPr/>
        </p:nvSpPr>
        <p:spPr>
          <a:xfrm>
            <a:off x="7519987" y="1946820"/>
            <a:ext cx="3714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Trigger</a:t>
            </a:r>
            <a:endParaRPr/>
          </a:p>
        </p:txBody>
      </p:sp>
      <p:sp>
        <p:nvSpPr>
          <p:cNvPr id="429" name="Google Shape;429;p21"/>
          <p:cNvSpPr txBox="1"/>
          <p:nvPr/>
        </p:nvSpPr>
        <p:spPr>
          <a:xfrm>
            <a:off x="7519987" y="2099220"/>
            <a:ext cx="1181100"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Manual / Automation / API</a:t>
            </a:r>
            <a:endParaRPr/>
          </a:p>
        </p:txBody>
      </p:sp>
      <p:sp>
        <p:nvSpPr>
          <p:cNvPr id="430" name="Google Shape;430;p21"/>
          <p:cNvSpPr txBox="1"/>
          <p:nvPr/>
        </p:nvSpPr>
        <p:spPr>
          <a:xfrm>
            <a:off x="7519987" y="2342108"/>
            <a:ext cx="8191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Boot Snapshot</a:t>
            </a:r>
            <a:endParaRPr/>
          </a:p>
        </p:txBody>
      </p:sp>
      <p:sp>
        <p:nvSpPr>
          <p:cNvPr id="431" name="Google Shape;431;p21"/>
          <p:cNvSpPr txBox="1"/>
          <p:nvPr/>
        </p:nvSpPr>
        <p:spPr>
          <a:xfrm>
            <a:off x="7519987" y="2494508"/>
            <a:ext cx="145732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Starts a clean VM container layer</a:t>
            </a:r>
            <a:endParaRPr/>
          </a:p>
        </p:txBody>
      </p:sp>
      <p:sp>
        <p:nvSpPr>
          <p:cNvPr id="432" name="Google Shape;432;p21"/>
          <p:cNvSpPr txBox="1"/>
          <p:nvPr/>
        </p:nvSpPr>
        <p:spPr>
          <a:xfrm>
            <a:off x="7519987" y="2737395"/>
            <a:ext cx="9239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Load Knowledge</a:t>
            </a:r>
            <a:endParaRPr/>
          </a:p>
        </p:txBody>
      </p:sp>
      <p:sp>
        <p:nvSpPr>
          <p:cNvPr id="433" name="Google Shape;433;p21"/>
          <p:cNvSpPr txBox="1"/>
          <p:nvPr/>
        </p:nvSpPr>
        <p:spPr>
          <a:xfrm>
            <a:off x="7519987" y="2889795"/>
            <a:ext cx="149542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Triggered context auto-retrieved</a:t>
            </a:r>
            <a:endParaRPr/>
          </a:p>
        </p:txBody>
      </p:sp>
      <p:sp>
        <p:nvSpPr>
          <p:cNvPr id="434" name="Google Shape;434;p21"/>
          <p:cNvSpPr txBox="1"/>
          <p:nvPr/>
        </p:nvSpPr>
        <p:spPr>
          <a:xfrm>
            <a:off x="7519987" y="3132683"/>
            <a:ext cx="5715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Load Skills</a:t>
            </a:r>
            <a:endParaRPr/>
          </a:p>
        </p:txBody>
      </p:sp>
      <p:sp>
        <p:nvSpPr>
          <p:cNvPr id="435" name="Google Shape;435;p21"/>
          <p:cNvSpPr txBox="1"/>
          <p:nvPr/>
        </p:nvSpPr>
        <p:spPr>
          <a:xfrm>
            <a:off x="7519987" y="3285083"/>
            <a:ext cx="1600200"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Discovers `.agents/skills` structures</a:t>
            </a:r>
            <a:endParaRPr/>
          </a:p>
        </p:txBody>
      </p:sp>
      <p:sp>
        <p:nvSpPr>
          <p:cNvPr id="436" name="Google Shape;436;p21"/>
          <p:cNvSpPr txBox="1"/>
          <p:nvPr/>
        </p:nvSpPr>
        <p:spPr>
          <a:xfrm>
            <a:off x="7519987" y="3527970"/>
            <a:ext cx="8667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Apply Playbook</a:t>
            </a:r>
            <a:endParaRPr/>
          </a:p>
        </p:txBody>
      </p:sp>
      <p:sp>
        <p:nvSpPr>
          <p:cNvPr id="437" name="Google Shape;437;p21"/>
          <p:cNvSpPr txBox="1"/>
          <p:nvPr/>
        </p:nvSpPr>
        <p:spPr>
          <a:xfrm>
            <a:off x="7519987" y="3680370"/>
            <a:ext cx="193357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Enforces systematic procedural templates</a:t>
            </a:r>
            <a:endParaRPr/>
          </a:p>
        </p:txBody>
      </p:sp>
      <p:sp>
        <p:nvSpPr>
          <p:cNvPr id="438" name="Google Shape;438;p21"/>
          <p:cNvSpPr txBox="1"/>
          <p:nvPr/>
        </p:nvSpPr>
        <p:spPr>
          <a:xfrm>
            <a:off x="7519987" y="3923258"/>
            <a:ext cx="4857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Plan Task</a:t>
            </a:r>
            <a:endParaRPr/>
          </a:p>
        </p:txBody>
      </p:sp>
      <p:sp>
        <p:nvSpPr>
          <p:cNvPr id="439" name="Google Shape;439;p21"/>
          <p:cNvSpPr txBox="1"/>
          <p:nvPr/>
        </p:nvSpPr>
        <p:spPr>
          <a:xfrm>
            <a:off x="7519987" y="4075658"/>
            <a:ext cx="1447800"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Scoping dependencies &amp; paths</a:t>
            </a:r>
            <a:endParaRPr/>
          </a:p>
        </p:txBody>
      </p:sp>
      <p:sp>
        <p:nvSpPr>
          <p:cNvPr id="440" name="Google Shape;440;p21"/>
          <p:cNvSpPr txBox="1"/>
          <p:nvPr/>
        </p:nvSpPr>
        <p:spPr>
          <a:xfrm>
            <a:off x="7519987" y="4318545"/>
            <a:ext cx="4381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Execute</a:t>
            </a:r>
            <a:endParaRPr/>
          </a:p>
        </p:txBody>
      </p:sp>
      <p:sp>
        <p:nvSpPr>
          <p:cNvPr id="441" name="Google Shape;441;p21"/>
          <p:cNvSpPr txBox="1"/>
          <p:nvPr/>
        </p:nvSpPr>
        <p:spPr>
          <a:xfrm>
            <a:off x="7519987" y="4470945"/>
            <a:ext cx="1828800"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Writes code, runs terminal, browses web</a:t>
            </a:r>
            <a:endParaRPr/>
          </a:p>
        </p:txBody>
      </p:sp>
      <p:sp>
        <p:nvSpPr>
          <p:cNvPr id="442" name="Google Shape;442;p21"/>
          <p:cNvSpPr txBox="1"/>
          <p:nvPr/>
        </p:nvSpPr>
        <p:spPr>
          <a:xfrm>
            <a:off x="7519987" y="4713833"/>
            <a:ext cx="3143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F172A"/>
                </a:solidFill>
                <a:latin typeface="Plus Jakarta Sans"/>
                <a:ea typeface="Plus Jakarta Sans"/>
                <a:cs typeface="Plus Jakarta Sans"/>
                <a:sym typeface="Plus Jakarta Sans"/>
              </a:rPr>
              <a:t>Verify</a:t>
            </a:r>
            <a:endParaRPr/>
          </a:p>
        </p:txBody>
      </p:sp>
      <p:sp>
        <p:nvSpPr>
          <p:cNvPr id="443" name="Google Shape;443;p21"/>
          <p:cNvSpPr txBox="1"/>
          <p:nvPr/>
        </p:nvSpPr>
        <p:spPr>
          <a:xfrm>
            <a:off x="7519987" y="4866233"/>
            <a:ext cx="151447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Executes lints &amp; validation checks</a:t>
            </a:r>
            <a:endParaRPr/>
          </a:p>
        </p:txBody>
      </p:sp>
      <p:sp>
        <p:nvSpPr>
          <p:cNvPr id="444" name="Google Shape;444;p21"/>
          <p:cNvSpPr txBox="1"/>
          <p:nvPr/>
        </p:nvSpPr>
        <p:spPr>
          <a:xfrm>
            <a:off x="7519987" y="5109120"/>
            <a:ext cx="5334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D9488"/>
                </a:solidFill>
                <a:latin typeface="Plus Jakarta Sans"/>
                <a:ea typeface="Plus Jakarta Sans"/>
                <a:cs typeface="Plus Jakarta Sans"/>
                <a:sym typeface="Plus Jakarta Sans"/>
              </a:rPr>
              <a:t>Create PR</a:t>
            </a:r>
            <a:endParaRPr/>
          </a:p>
        </p:txBody>
      </p:sp>
      <p:sp>
        <p:nvSpPr>
          <p:cNvPr id="445" name="Google Shape;445;p21"/>
          <p:cNvSpPr txBox="1"/>
          <p:nvPr/>
        </p:nvSpPr>
        <p:spPr>
          <a:xfrm>
            <a:off x="7519987" y="5261520"/>
            <a:ext cx="180022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Delivers pull requests to code platforms</a:t>
            </a:r>
            <a:endParaRPr/>
          </a:p>
        </p:txBody>
      </p:sp>
      <p:sp>
        <p:nvSpPr>
          <p:cNvPr id="446" name="Google Shape;446;p21"/>
          <p:cNvSpPr txBox="1"/>
          <p:nvPr/>
        </p:nvSpPr>
        <p:spPr>
          <a:xfrm>
            <a:off x="7519987" y="5504408"/>
            <a:ext cx="9525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D9488"/>
                </a:solidFill>
                <a:latin typeface="Plus Jakarta Sans"/>
                <a:ea typeface="Plus Jakarta Sans"/>
                <a:cs typeface="Plus Jakarta Sans"/>
                <a:sym typeface="Plus Jakarta Sans"/>
              </a:rPr>
              <a:t>Sleep / Complete</a:t>
            </a:r>
            <a:endParaRPr/>
          </a:p>
        </p:txBody>
      </p:sp>
      <p:sp>
        <p:nvSpPr>
          <p:cNvPr id="447" name="Google Shape;447;p21"/>
          <p:cNvSpPr txBox="1"/>
          <p:nvPr/>
        </p:nvSpPr>
        <p:spPr>
          <a:xfrm>
            <a:off x="7519987" y="5656808"/>
            <a:ext cx="147637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Enters archive / standby lifecycle</a:t>
            </a:r>
            <a:endParaRPr/>
          </a:p>
        </p:txBody>
      </p:sp>
      <p:sp>
        <p:nvSpPr>
          <p:cNvPr id="448" name="Google Shape;448;p21"/>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Sessions</a:t>
            </a:r>
            <a:endParaRPr/>
          </a:p>
        </p:txBody>
      </p:sp>
      <p:sp>
        <p:nvSpPr>
          <p:cNvPr id="449" name="Google Shape;449;p21"/>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pic>
        <p:nvPicPr>
          <p:cNvPr descr="image.png" id="454" name="Google Shape;454;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55" name="Google Shape;455;p22"/>
          <p:cNvPicPr preferRelativeResize="0"/>
          <p:nvPr/>
        </p:nvPicPr>
        <p:blipFill rotWithShape="1">
          <a:blip r:embed="rId4">
            <a:alphaModFix/>
          </a:blip>
          <a:srcRect b="0" l="0" r="0" t="0"/>
          <a:stretch/>
        </p:blipFill>
        <p:spPr>
          <a:xfrm>
            <a:off x="7005637" y="1727745"/>
            <a:ext cx="4567237" cy="498574"/>
          </a:xfrm>
          <a:prstGeom prst="rect">
            <a:avLst/>
          </a:prstGeom>
          <a:noFill/>
          <a:ln>
            <a:noFill/>
          </a:ln>
        </p:spPr>
      </p:pic>
      <p:pic>
        <p:nvPicPr>
          <p:cNvPr descr="image.png" id="456" name="Google Shape;456;p22"/>
          <p:cNvPicPr preferRelativeResize="0"/>
          <p:nvPr/>
        </p:nvPicPr>
        <p:blipFill rotWithShape="1">
          <a:blip r:embed="rId5">
            <a:alphaModFix/>
          </a:blip>
          <a:srcRect b="0" l="0" r="0" t="0"/>
          <a:stretch/>
        </p:blipFill>
        <p:spPr>
          <a:xfrm>
            <a:off x="7005637" y="2283469"/>
            <a:ext cx="4567237" cy="498574"/>
          </a:xfrm>
          <a:prstGeom prst="rect">
            <a:avLst/>
          </a:prstGeom>
          <a:noFill/>
          <a:ln>
            <a:noFill/>
          </a:ln>
        </p:spPr>
      </p:pic>
      <p:pic>
        <p:nvPicPr>
          <p:cNvPr descr="image.png" id="457" name="Google Shape;457;p22"/>
          <p:cNvPicPr preferRelativeResize="0"/>
          <p:nvPr/>
        </p:nvPicPr>
        <p:blipFill rotWithShape="1">
          <a:blip r:embed="rId6">
            <a:alphaModFix/>
          </a:blip>
          <a:srcRect b="0" l="0" r="0" t="0"/>
          <a:stretch/>
        </p:blipFill>
        <p:spPr>
          <a:xfrm>
            <a:off x="7005637" y="2839194"/>
            <a:ext cx="4567237" cy="498574"/>
          </a:xfrm>
          <a:prstGeom prst="rect">
            <a:avLst/>
          </a:prstGeom>
          <a:noFill/>
          <a:ln>
            <a:noFill/>
          </a:ln>
        </p:spPr>
      </p:pic>
      <p:pic>
        <p:nvPicPr>
          <p:cNvPr descr="image.png" id="458" name="Google Shape;458;p22"/>
          <p:cNvPicPr preferRelativeResize="0"/>
          <p:nvPr/>
        </p:nvPicPr>
        <p:blipFill rotWithShape="1">
          <a:blip r:embed="rId7">
            <a:alphaModFix/>
          </a:blip>
          <a:srcRect b="0" l="0" r="0" t="0"/>
          <a:stretch/>
        </p:blipFill>
        <p:spPr>
          <a:xfrm>
            <a:off x="7005637" y="3394918"/>
            <a:ext cx="4567237" cy="498574"/>
          </a:xfrm>
          <a:prstGeom prst="rect">
            <a:avLst/>
          </a:prstGeom>
          <a:noFill/>
          <a:ln>
            <a:noFill/>
          </a:ln>
        </p:spPr>
      </p:pic>
      <p:pic>
        <p:nvPicPr>
          <p:cNvPr descr="image.png" id="459" name="Google Shape;459;p22"/>
          <p:cNvPicPr preferRelativeResize="0"/>
          <p:nvPr/>
        </p:nvPicPr>
        <p:blipFill rotWithShape="1">
          <a:blip r:embed="rId8">
            <a:alphaModFix/>
          </a:blip>
          <a:srcRect b="0" l="0" r="0" t="0"/>
          <a:stretch/>
        </p:blipFill>
        <p:spPr>
          <a:xfrm>
            <a:off x="571500" y="466725"/>
            <a:ext cx="857250" cy="209550"/>
          </a:xfrm>
          <a:prstGeom prst="rect">
            <a:avLst/>
          </a:prstGeom>
          <a:noFill/>
          <a:ln>
            <a:noFill/>
          </a:ln>
        </p:spPr>
      </p:pic>
      <p:sp>
        <p:nvSpPr>
          <p:cNvPr id="460" name="Google Shape;460;p22"/>
          <p:cNvSpPr txBox="1"/>
          <p:nvPr/>
        </p:nvSpPr>
        <p:spPr>
          <a:xfrm>
            <a:off x="571500" y="148590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461" name="Google Shape;461;p22"/>
          <p:cNvSpPr txBox="1"/>
          <p:nvPr/>
        </p:nvSpPr>
        <p:spPr>
          <a:xfrm>
            <a:off x="571500" y="1656754"/>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persistent, organization-wide context that Devin automatically retrieves during sessions.</a:t>
            </a:r>
            <a:endParaRPr/>
          </a:p>
        </p:txBody>
      </p:sp>
      <p:sp>
        <p:nvSpPr>
          <p:cNvPr id="462" name="Google Shape;462;p22"/>
          <p:cNvSpPr txBox="1"/>
          <p:nvPr/>
        </p:nvSpPr>
        <p:spPr>
          <a:xfrm>
            <a:off x="571500" y="192628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463" name="Google Shape;463;p22"/>
          <p:cNvSpPr txBox="1"/>
          <p:nvPr/>
        </p:nvSpPr>
        <p:spPr>
          <a:xfrm>
            <a:off x="571500" y="2097137"/>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Just like onboarding a new engineer, Devin needs institutional context — coding standards, deployment workflows, proprietary tool usage, PR conventions. Knowledge is the mechanism for transferring this context once and having it available in every future session.</a:t>
            </a:r>
            <a:endParaRPr/>
          </a:p>
        </p:txBody>
      </p:sp>
      <p:sp>
        <p:nvSpPr>
          <p:cNvPr id="464" name="Google Shape;464;p22"/>
          <p:cNvSpPr txBox="1"/>
          <p:nvPr/>
        </p:nvSpPr>
        <p:spPr>
          <a:xfrm>
            <a:off x="571500" y="275332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465" name="Google Shape;465;p22"/>
          <p:cNvSpPr txBox="1"/>
          <p:nvPr/>
        </p:nvSpPr>
        <p:spPr>
          <a:xfrm>
            <a:off x="571500" y="5061049"/>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466" name="Google Shape;466;p22"/>
          <p:cNvSpPr txBox="1"/>
          <p:nvPr/>
        </p:nvSpPr>
        <p:spPr>
          <a:xfrm>
            <a:off x="571500" y="5231903"/>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enterprise has a company-wide coding standard for error handling. An Enterprise Knowledge item captures this. Every Devin session across all teams automatically applies it without engineers needing to repeat it in every prompt.</a:t>
            </a:r>
            <a:endParaRPr/>
          </a:p>
        </p:txBody>
      </p:sp>
      <p:sp>
        <p:nvSpPr>
          <p:cNvPr id="467" name="Google Shape;467;p22"/>
          <p:cNvSpPr txBox="1"/>
          <p:nvPr/>
        </p:nvSpPr>
        <p:spPr>
          <a:xfrm>
            <a:off x="571500" y="5888087"/>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468" name="Google Shape;468;p22"/>
          <p:cNvSpPr txBox="1"/>
          <p:nvPr/>
        </p:nvSpPr>
        <p:spPr>
          <a:xfrm>
            <a:off x="571500" y="6045249"/>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Accumulates over time; shared across the organization; reduces prompt repetition; auto-suggested</a:t>
            </a:r>
            <a:endParaRPr/>
          </a:p>
        </p:txBody>
      </p:sp>
      <p:sp>
        <p:nvSpPr>
          <p:cNvPr id="469" name="Google Shape;469;p22"/>
          <p:cNvSpPr txBox="1"/>
          <p:nvPr/>
        </p:nvSpPr>
        <p:spPr>
          <a:xfrm>
            <a:off x="571500" y="6276677"/>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470" name="Google Shape;470;p22"/>
          <p:cNvSpPr txBox="1"/>
          <p:nvPr/>
        </p:nvSpPr>
        <p:spPr>
          <a:xfrm>
            <a:off x="571500" y="6433839"/>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Knowledge is retrieved based on relevance — overly broad triggers may cause irrelevant retrieval; overly narrow triggers may cause missed retrieval</a:t>
            </a:r>
            <a:endParaRPr/>
          </a:p>
        </p:txBody>
      </p:sp>
      <p:sp>
        <p:nvSpPr>
          <p:cNvPr id="471" name="Google Shape;471;p22"/>
          <p:cNvSpPr txBox="1"/>
          <p:nvPr/>
        </p:nvSpPr>
        <p:spPr>
          <a:xfrm>
            <a:off x="7005637" y="1485900"/>
            <a:ext cx="4567237" cy="165645"/>
          </a:xfrm>
          <a:prstGeom prst="rect">
            <a:avLst/>
          </a:prstGeom>
          <a:noFill/>
          <a:ln>
            <a:noFill/>
          </a:ln>
        </p:spPr>
        <p:txBody>
          <a:bodyPr anchorCtr="0" anchor="t" bIns="0" lIns="13335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SCOPE HIERARCHY MAP</a:t>
            </a:r>
            <a:endParaRPr/>
          </a:p>
        </p:txBody>
      </p:sp>
      <p:sp>
        <p:nvSpPr>
          <p:cNvPr id="472" name="Google Shape;472;p22"/>
          <p:cNvSpPr txBox="1"/>
          <p:nvPr/>
        </p:nvSpPr>
        <p:spPr>
          <a:xfrm>
            <a:off x="7005637" y="4007792"/>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473" name="Google Shape;473;p22"/>
          <p:cNvSpPr txBox="1"/>
          <p:nvPr/>
        </p:nvSpPr>
        <p:spPr>
          <a:xfrm>
            <a:off x="800100" y="2924175"/>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Knowledge items have a </a:t>
            </a:r>
            <a:r>
              <a:rPr b="1" i="0" lang="en-US" sz="1050" u="none" cap="none" strike="noStrike">
                <a:solidFill>
                  <a:srgbClr val="334155"/>
                </a:solidFill>
                <a:latin typeface="Plus Jakarta Sans"/>
                <a:ea typeface="Plus Jakarta Sans"/>
                <a:cs typeface="Plus Jakarta Sans"/>
                <a:sym typeface="Plus Jakarta Sans"/>
              </a:rPr>
              <a:t>trigger description</a:t>
            </a:r>
            <a:r>
              <a:rPr b="0" i="0" lang="en-US" sz="1050" u="none" cap="none" strike="noStrike">
                <a:solidFill>
                  <a:srgbClr val="334155"/>
                </a:solidFill>
                <a:latin typeface="Plus Jakarta Sans"/>
                <a:ea typeface="Plus Jakarta Sans"/>
                <a:cs typeface="Plus Jakarta Sans"/>
                <a:sym typeface="Plus Jakarta Sans"/>
              </a:rPr>
              <a:t> — a phrase or sentence that tells Devin when to retrieve the item</a:t>
            </a:r>
            <a:endParaRPr/>
          </a:p>
        </p:txBody>
      </p:sp>
      <p:sp>
        <p:nvSpPr>
          <p:cNvPr id="474" name="Google Shape;474;p22"/>
          <p:cNvSpPr txBox="1"/>
          <p:nvPr/>
        </p:nvSpPr>
        <p:spPr>
          <a:xfrm>
            <a:off x="800100" y="3373635"/>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retrieves Knowledge </a:t>
            </a:r>
            <a:r>
              <a:rPr b="1" i="0" lang="en-US" sz="1050" u="none" cap="none" strike="noStrike">
                <a:solidFill>
                  <a:srgbClr val="334155"/>
                </a:solidFill>
                <a:latin typeface="Plus Jakarta Sans"/>
                <a:ea typeface="Plus Jakarta Sans"/>
                <a:cs typeface="Plus Jakarta Sans"/>
                <a:sym typeface="Plus Jakarta Sans"/>
              </a:rPr>
              <a:t>automatically</a:t>
            </a:r>
            <a:r>
              <a:rPr b="0" i="0" lang="en-US" sz="1050" u="none" cap="none" strike="noStrike">
                <a:solidFill>
                  <a:srgbClr val="334155"/>
                </a:solidFill>
                <a:latin typeface="Plus Jakarta Sans"/>
                <a:ea typeface="Plus Jakarta Sans"/>
                <a:cs typeface="Plus Jakarta Sans"/>
                <a:sym typeface="Plus Jakarta Sans"/>
              </a:rPr>
              <a:t> when its current work is related to the trigger — not all at once, not all at the beginning</a:t>
            </a:r>
            <a:endParaRPr/>
          </a:p>
        </p:txBody>
      </p:sp>
      <p:sp>
        <p:nvSpPr>
          <p:cNvPr id="475" name="Google Shape;475;p22"/>
          <p:cNvSpPr txBox="1"/>
          <p:nvPr/>
        </p:nvSpPr>
        <p:spPr>
          <a:xfrm>
            <a:off x="800100" y="382309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Knowledge can be </a:t>
            </a:r>
            <a:r>
              <a:rPr b="1" i="0" lang="en-US" sz="1050" u="none" cap="none" strike="noStrike">
                <a:solidFill>
                  <a:srgbClr val="334155"/>
                </a:solidFill>
                <a:latin typeface="Plus Jakarta Sans"/>
                <a:ea typeface="Plus Jakarta Sans"/>
                <a:cs typeface="Plus Jakarta Sans"/>
                <a:sym typeface="Plus Jakarta Sans"/>
              </a:rPr>
              <a:t>pinned to a specific repo</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all repos</a:t>
            </a:r>
            <a:r>
              <a:rPr b="0" i="0" lang="en-US" sz="1050" u="none" cap="none" strike="noStrike">
                <a:solidFill>
                  <a:srgbClr val="334155"/>
                </a:solidFill>
                <a:latin typeface="Plus Jakarta Sans"/>
                <a:ea typeface="Plus Jakarta Sans"/>
                <a:cs typeface="Plus Jakarta Sans"/>
                <a:sym typeface="Plus Jakarta Sans"/>
              </a:rPr>
              <a:t>, or </a:t>
            </a:r>
            <a:r>
              <a:rPr b="1" i="0" lang="en-US" sz="1050" u="none" cap="none" strike="noStrike">
                <a:solidFill>
                  <a:srgbClr val="334155"/>
                </a:solidFill>
                <a:latin typeface="Plus Jakarta Sans"/>
                <a:ea typeface="Plus Jakarta Sans"/>
                <a:cs typeface="Plus Jakarta Sans"/>
                <a:sym typeface="Plus Jakarta Sans"/>
              </a:rPr>
              <a:t>no repo</a:t>
            </a:r>
            <a:r>
              <a:rPr b="0" i="0" lang="en-US" sz="1050" u="none" cap="none" strike="noStrike">
                <a:solidFill>
                  <a:srgbClr val="334155"/>
                </a:solidFill>
                <a:latin typeface="Plus Jakarta Sans"/>
                <a:ea typeface="Plus Jakarta Sans"/>
                <a:cs typeface="Plus Jakarta Sans"/>
                <a:sym typeface="Plus Jakarta Sans"/>
              </a:rPr>
              <a:t> (trigger-only)</a:t>
            </a:r>
            <a:endParaRPr/>
          </a:p>
        </p:txBody>
      </p:sp>
      <p:sp>
        <p:nvSpPr>
          <p:cNvPr id="476" name="Google Shape;476;p22"/>
          <p:cNvSpPr txBox="1"/>
          <p:nvPr/>
        </p:nvSpPr>
        <p:spPr>
          <a:xfrm>
            <a:off x="800100" y="408592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Knowledge is organized in </a:t>
            </a:r>
            <a:r>
              <a:rPr b="1" i="0" lang="en-US" sz="1050" u="none" cap="none" strike="noStrike">
                <a:solidFill>
                  <a:srgbClr val="334155"/>
                </a:solidFill>
                <a:latin typeface="Plus Jakarta Sans"/>
                <a:ea typeface="Plus Jakarta Sans"/>
                <a:cs typeface="Plus Jakarta Sans"/>
                <a:sym typeface="Plus Jakarta Sans"/>
              </a:rPr>
              <a:t>folders</a:t>
            </a:r>
            <a:r>
              <a:rPr b="0" i="0" lang="en-US" sz="1050" u="none" cap="none" strike="noStrike">
                <a:solidFill>
                  <a:srgbClr val="334155"/>
                </a:solidFill>
                <a:latin typeface="Plus Jakarta Sans"/>
                <a:ea typeface="Plus Jakarta Sans"/>
                <a:cs typeface="Plus Jakarta Sans"/>
                <a:sym typeface="Plus Jakarta Sans"/>
              </a:rPr>
              <a:t> with nested hierarchy, bulk enable/disable, and auto-organize</a:t>
            </a:r>
            <a:endParaRPr/>
          </a:p>
        </p:txBody>
      </p:sp>
      <p:sp>
        <p:nvSpPr>
          <p:cNvPr id="477" name="Google Shape;477;p22"/>
          <p:cNvSpPr txBox="1"/>
          <p:nvPr/>
        </p:nvSpPr>
        <p:spPr>
          <a:xfrm>
            <a:off x="800100" y="434875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a:t>
            </a:r>
            <a:r>
              <a:rPr b="1" i="0" lang="en-US" sz="1050" u="none" cap="none" strike="noStrike">
                <a:solidFill>
                  <a:srgbClr val="334155"/>
                </a:solidFill>
                <a:latin typeface="Plus Jakarta Sans"/>
                <a:ea typeface="Plus Jakarta Sans"/>
                <a:cs typeface="Plus Jakarta Sans"/>
                <a:sym typeface="Plus Jakarta Sans"/>
              </a:rPr>
              <a:t>suggests new Knowledge</a:t>
            </a:r>
            <a:r>
              <a:rPr b="0" i="0" lang="en-US" sz="1050" u="none" cap="none" strike="noStrike">
                <a:solidFill>
                  <a:srgbClr val="334155"/>
                </a:solidFill>
                <a:latin typeface="Plus Jakarta Sans"/>
                <a:ea typeface="Plus Jakarta Sans"/>
                <a:cs typeface="Plus Jakarta Sans"/>
                <a:sym typeface="Plus Jakarta Sans"/>
              </a:rPr>
              <a:t> based on session feedback — engineers review and approve</a:t>
            </a:r>
            <a:endParaRPr/>
          </a:p>
        </p:txBody>
      </p:sp>
      <p:sp>
        <p:nvSpPr>
          <p:cNvPr id="478" name="Google Shape;478;p22"/>
          <p:cNvSpPr txBox="1"/>
          <p:nvPr/>
        </p:nvSpPr>
        <p:spPr>
          <a:xfrm>
            <a:off x="800100" y="4611588"/>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Enterprise Knowledge applies </a:t>
            </a:r>
            <a:r>
              <a:rPr b="1" i="0" lang="en-US" sz="1050" u="none" cap="none" strike="noStrike">
                <a:solidFill>
                  <a:srgbClr val="334155"/>
                </a:solidFill>
                <a:latin typeface="Plus Jakarta Sans"/>
                <a:ea typeface="Plus Jakarta Sans"/>
                <a:cs typeface="Plus Jakarta Sans"/>
                <a:sym typeface="Plus Jakarta Sans"/>
              </a:rPr>
              <a:t>across all organizations</a:t>
            </a:r>
            <a:r>
              <a:rPr b="0" i="0" lang="en-US" sz="1050" u="none" cap="none" strike="noStrike">
                <a:solidFill>
                  <a:srgbClr val="334155"/>
                </a:solidFill>
                <a:latin typeface="Plus Jakarta Sans"/>
                <a:ea typeface="Plus Jakarta Sans"/>
                <a:cs typeface="Plus Jakarta Sans"/>
                <a:sym typeface="Plus Jakarta Sans"/>
              </a:rPr>
              <a:t> in an enterprise; Organization Knowledge applies within one org</a:t>
            </a:r>
            <a:endParaRPr/>
          </a:p>
        </p:txBody>
      </p:sp>
      <p:pic>
        <p:nvPicPr>
          <p:cNvPr descr="image.png" id="479" name="Google Shape;479;p22"/>
          <p:cNvPicPr preferRelativeResize="0"/>
          <p:nvPr/>
        </p:nvPicPr>
        <p:blipFill rotWithShape="1">
          <a:blip r:embed="rId9">
            <a:alphaModFix/>
          </a:blip>
          <a:srcRect b="0" l="0" r="0" t="0"/>
          <a:stretch/>
        </p:blipFill>
        <p:spPr>
          <a:xfrm>
            <a:off x="8522493" y="1514475"/>
            <a:ext cx="133350" cy="114300"/>
          </a:xfrm>
          <a:prstGeom prst="rect">
            <a:avLst/>
          </a:prstGeom>
          <a:noFill/>
          <a:ln>
            <a:noFill/>
          </a:ln>
        </p:spPr>
      </p:pic>
      <p:sp>
        <p:nvSpPr>
          <p:cNvPr id="480" name="Google Shape;480;p22"/>
          <p:cNvSpPr txBox="1"/>
          <p:nvPr/>
        </p:nvSpPr>
        <p:spPr>
          <a:xfrm>
            <a:off x="7234237" y="4197697"/>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Create specific, targeted Knowledge items — one workflow or action per item</a:t>
            </a:r>
            <a:endParaRPr/>
          </a:p>
        </p:txBody>
      </p:sp>
      <p:sp>
        <p:nvSpPr>
          <p:cNvPr id="481" name="Google Shape;481;p22"/>
          <p:cNvSpPr txBox="1"/>
          <p:nvPr/>
        </p:nvSpPr>
        <p:spPr>
          <a:xfrm>
            <a:off x="7234237" y="464715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Make trigger descriptions highly relevant to the content</a:t>
            </a:r>
            <a:endParaRPr/>
          </a:p>
        </p:txBody>
      </p:sp>
      <p:sp>
        <p:nvSpPr>
          <p:cNvPr id="482" name="Google Shape;482;p22"/>
          <p:cNvSpPr txBox="1"/>
          <p:nvPr/>
        </p:nvSpPr>
        <p:spPr>
          <a:xfrm>
            <a:off x="7234237" y="490998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folders to organize by team, project, or workflow</a:t>
            </a:r>
            <a:endParaRPr/>
          </a:p>
        </p:txBody>
      </p:sp>
      <p:sp>
        <p:nvSpPr>
          <p:cNvPr id="483" name="Google Shape;483;p22"/>
          <p:cNvSpPr txBox="1"/>
          <p:nvPr/>
        </p:nvSpPr>
        <p:spPr>
          <a:xfrm>
            <a:off x="7234237" y="5172819"/>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Regularly review and update Knowledge — stale Knowledge degrades quality</a:t>
            </a:r>
            <a:endParaRPr/>
          </a:p>
        </p:txBody>
      </p:sp>
      <p:sp>
        <p:nvSpPr>
          <p:cNvPr id="484" name="Google Shape;484;p22"/>
          <p:cNvSpPr txBox="1"/>
          <p:nvPr/>
        </p:nvSpPr>
        <p:spPr>
          <a:xfrm>
            <a:off x="7234237" y="5622280"/>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Promote high-value Organization Knowledge to Enterprise Knowledge</a:t>
            </a:r>
            <a:endParaRPr/>
          </a:p>
        </p:txBody>
      </p:sp>
      <p:sp>
        <p:nvSpPr>
          <p:cNvPr id="485" name="Google Shape;485;p22"/>
          <p:cNvSpPr txBox="1"/>
          <p:nvPr/>
        </p:nvSpPr>
        <p:spPr>
          <a:xfrm>
            <a:off x="7234237" y="6071741"/>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macros (`!deploy-checklist`) for frequently referenced items</a:t>
            </a:r>
            <a:endParaRPr/>
          </a:p>
        </p:txBody>
      </p:sp>
      <p:sp>
        <p:nvSpPr>
          <p:cNvPr id="486" name="Google Shape;486;p22"/>
          <p:cNvSpPr txBox="1"/>
          <p:nvPr/>
        </p:nvSpPr>
        <p:spPr>
          <a:xfrm>
            <a:off x="8712993" y="1842045"/>
            <a:ext cx="1152525" cy="123825"/>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Knowledge</a:t>
            </a:r>
            <a:endParaRPr/>
          </a:p>
        </p:txBody>
      </p:sp>
      <p:sp>
        <p:nvSpPr>
          <p:cNvPr id="487" name="Google Shape;487;p22"/>
          <p:cNvSpPr txBox="1"/>
          <p:nvPr/>
        </p:nvSpPr>
        <p:spPr>
          <a:xfrm>
            <a:off x="7110412" y="1983432"/>
            <a:ext cx="435768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All organizations, all repositories</a:t>
            </a:r>
            <a:endParaRPr/>
          </a:p>
        </p:txBody>
      </p:sp>
      <p:sp>
        <p:nvSpPr>
          <p:cNvPr id="488" name="Google Shape;488;p22"/>
          <p:cNvSpPr txBox="1"/>
          <p:nvPr/>
        </p:nvSpPr>
        <p:spPr>
          <a:xfrm>
            <a:off x="8651081" y="2397769"/>
            <a:ext cx="1276350" cy="123825"/>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Organization Knowledge</a:t>
            </a:r>
            <a:endParaRPr/>
          </a:p>
        </p:txBody>
      </p:sp>
      <p:sp>
        <p:nvSpPr>
          <p:cNvPr id="489" name="Google Shape;489;p22"/>
          <p:cNvSpPr txBox="1"/>
          <p:nvPr/>
        </p:nvSpPr>
        <p:spPr>
          <a:xfrm>
            <a:off x="7110412" y="2539156"/>
            <a:ext cx="435768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organization, all repositories</a:t>
            </a:r>
            <a:endParaRPr/>
          </a:p>
        </p:txBody>
      </p:sp>
      <p:sp>
        <p:nvSpPr>
          <p:cNvPr id="490" name="Google Shape;490;p22"/>
          <p:cNvSpPr txBox="1"/>
          <p:nvPr/>
        </p:nvSpPr>
        <p:spPr>
          <a:xfrm>
            <a:off x="8636793" y="2953494"/>
            <a:ext cx="1304925" cy="123825"/>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Repo-pinned Knowledge</a:t>
            </a:r>
            <a:endParaRPr/>
          </a:p>
        </p:txBody>
      </p:sp>
      <p:sp>
        <p:nvSpPr>
          <p:cNvPr id="491" name="Google Shape;491;p22"/>
          <p:cNvSpPr txBox="1"/>
          <p:nvPr/>
        </p:nvSpPr>
        <p:spPr>
          <a:xfrm>
            <a:off x="7110412" y="3094880"/>
            <a:ext cx="435768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specific repository</a:t>
            </a:r>
            <a:endParaRPr/>
          </a:p>
        </p:txBody>
      </p:sp>
      <p:sp>
        <p:nvSpPr>
          <p:cNvPr id="492" name="Google Shape;492;p22"/>
          <p:cNvSpPr txBox="1"/>
          <p:nvPr/>
        </p:nvSpPr>
        <p:spPr>
          <a:xfrm>
            <a:off x="8665368" y="3509218"/>
            <a:ext cx="1247775" cy="123825"/>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Trigger-only Knowledge</a:t>
            </a:r>
            <a:endParaRPr/>
          </a:p>
        </p:txBody>
      </p:sp>
      <p:sp>
        <p:nvSpPr>
          <p:cNvPr id="493" name="Google Shape;493;p22"/>
          <p:cNvSpPr txBox="1"/>
          <p:nvPr/>
        </p:nvSpPr>
        <p:spPr>
          <a:xfrm>
            <a:off x="7110412" y="3650605"/>
            <a:ext cx="435768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Retrieved when contextually relevant</a:t>
            </a:r>
            <a:endParaRPr/>
          </a:p>
        </p:txBody>
      </p:sp>
      <p:pic>
        <p:nvPicPr>
          <p:cNvPr descr="image.png" id="494" name="Google Shape;494;p22"/>
          <p:cNvPicPr preferRelativeResize="0"/>
          <p:nvPr/>
        </p:nvPicPr>
        <p:blipFill rotWithShape="1">
          <a:blip r:embed="rId10">
            <a:alphaModFix/>
          </a:blip>
          <a:srcRect b="0" l="0" r="0" t="0"/>
          <a:stretch/>
        </p:blipFill>
        <p:spPr>
          <a:xfrm>
            <a:off x="571500" y="2952750"/>
            <a:ext cx="57150" cy="95250"/>
          </a:xfrm>
          <a:prstGeom prst="rect">
            <a:avLst/>
          </a:prstGeom>
          <a:noFill/>
          <a:ln>
            <a:noFill/>
          </a:ln>
        </p:spPr>
      </p:pic>
      <p:pic>
        <p:nvPicPr>
          <p:cNvPr descr="image.png" id="495" name="Google Shape;495;p22"/>
          <p:cNvPicPr preferRelativeResize="0"/>
          <p:nvPr/>
        </p:nvPicPr>
        <p:blipFill rotWithShape="1">
          <a:blip r:embed="rId10">
            <a:alphaModFix/>
          </a:blip>
          <a:srcRect b="0" l="0" r="0" t="0"/>
          <a:stretch/>
        </p:blipFill>
        <p:spPr>
          <a:xfrm>
            <a:off x="571500" y="3402210"/>
            <a:ext cx="57150" cy="95250"/>
          </a:xfrm>
          <a:prstGeom prst="rect">
            <a:avLst/>
          </a:prstGeom>
          <a:noFill/>
          <a:ln>
            <a:noFill/>
          </a:ln>
        </p:spPr>
      </p:pic>
      <p:pic>
        <p:nvPicPr>
          <p:cNvPr descr="image.png" id="496" name="Google Shape;496;p22"/>
          <p:cNvPicPr preferRelativeResize="0"/>
          <p:nvPr/>
        </p:nvPicPr>
        <p:blipFill rotWithShape="1">
          <a:blip r:embed="rId10">
            <a:alphaModFix/>
          </a:blip>
          <a:srcRect b="0" l="0" r="0" t="0"/>
          <a:stretch/>
        </p:blipFill>
        <p:spPr>
          <a:xfrm>
            <a:off x="571500" y="3851671"/>
            <a:ext cx="57150" cy="95250"/>
          </a:xfrm>
          <a:prstGeom prst="rect">
            <a:avLst/>
          </a:prstGeom>
          <a:noFill/>
          <a:ln>
            <a:noFill/>
          </a:ln>
        </p:spPr>
      </p:pic>
      <p:pic>
        <p:nvPicPr>
          <p:cNvPr descr="image.png" id="497" name="Google Shape;497;p22"/>
          <p:cNvPicPr preferRelativeResize="0"/>
          <p:nvPr/>
        </p:nvPicPr>
        <p:blipFill rotWithShape="1">
          <a:blip r:embed="rId10">
            <a:alphaModFix/>
          </a:blip>
          <a:srcRect b="0" l="0" r="0" t="0"/>
          <a:stretch/>
        </p:blipFill>
        <p:spPr>
          <a:xfrm>
            <a:off x="571500" y="4114502"/>
            <a:ext cx="57150" cy="95250"/>
          </a:xfrm>
          <a:prstGeom prst="rect">
            <a:avLst/>
          </a:prstGeom>
          <a:noFill/>
          <a:ln>
            <a:noFill/>
          </a:ln>
        </p:spPr>
      </p:pic>
      <p:pic>
        <p:nvPicPr>
          <p:cNvPr descr="image.png" id="498" name="Google Shape;498;p22"/>
          <p:cNvPicPr preferRelativeResize="0"/>
          <p:nvPr/>
        </p:nvPicPr>
        <p:blipFill rotWithShape="1">
          <a:blip r:embed="rId10">
            <a:alphaModFix/>
          </a:blip>
          <a:srcRect b="0" l="0" r="0" t="0"/>
          <a:stretch/>
        </p:blipFill>
        <p:spPr>
          <a:xfrm>
            <a:off x="571500" y="4377332"/>
            <a:ext cx="57150" cy="95250"/>
          </a:xfrm>
          <a:prstGeom prst="rect">
            <a:avLst/>
          </a:prstGeom>
          <a:noFill/>
          <a:ln>
            <a:noFill/>
          </a:ln>
        </p:spPr>
      </p:pic>
      <p:pic>
        <p:nvPicPr>
          <p:cNvPr descr="image.png" id="499" name="Google Shape;499;p22"/>
          <p:cNvPicPr preferRelativeResize="0"/>
          <p:nvPr/>
        </p:nvPicPr>
        <p:blipFill rotWithShape="1">
          <a:blip r:embed="rId10">
            <a:alphaModFix/>
          </a:blip>
          <a:srcRect b="0" l="0" r="0" t="0"/>
          <a:stretch/>
        </p:blipFill>
        <p:spPr>
          <a:xfrm>
            <a:off x="571500" y="4640163"/>
            <a:ext cx="57150" cy="95250"/>
          </a:xfrm>
          <a:prstGeom prst="rect">
            <a:avLst/>
          </a:prstGeom>
          <a:noFill/>
          <a:ln>
            <a:noFill/>
          </a:ln>
        </p:spPr>
      </p:pic>
      <p:pic>
        <p:nvPicPr>
          <p:cNvPr descr="image.png" id="500" name="Google Shape;500;p22"/>
          <p:cNvPicPr preferRelativeResize="0"/>
          <p:nvPr/>
        </p:nvPicPr>
        <p:blipFill rotWithShape="1">
          <a:blip r:embed="rId11">
            <a:alphaModFix/>
          </a:blip>
          <a:srcRect b="0" l="0" r="0" t="0"/>
          <a:stretch/>
        </p:blipFill>
        <p:spPr>
          <a:xfrm>
            <a:off x="7005637" y="4226272"/>
            <a:ext cx="95250" cy="95250"/>
          </a:xfrm>
          <a:prstGeom prst="rect">
            <a:avLst/>
          </a:prstGeom>
          <a:noFill/>
          <a:ln>
            <a:noFill/>
          </a:ln>
        </p:spPr>
      </p:pic>
      <p:pic>
        <p:nvPicPr>
          <p:cNvPr descr="image.png" id="501" name="Google Shape;501;p22"/>
          <p:cNvPicPr preferRelativeResize="0"/>
          <p:nvPr/>
        </p:nvPicPr>
        <p:blipFill rotWithShape="1">
          <a:blip r:embed="rId11">
            <a:alphaModFix/>
          </a:blip>
          <a:srcRect b="0" l="0" r="0" t="0"/>
          <a:stretch/>
        </p:blipFill>
        <p:spPr>
          <a:xfrm>
            <a:off x="7005637" y="4675733"/>
            <a:ext cx="95250" cy="95250"/>
          </a:xfrm>
          <a:prstGeom prst="rect">
            <a:avLst/>
          </a:prstGeom>
          <a:noFill/>
          <a:ln>
            <a:noFill/>
          </a:ln>
        </p:spPr>
      </p:pic>
      <p:pic>
        <p:nvPicPr>
          <p:cNvPr descr="image.png" id="502" name="Google Shape;502;p22"/>
          <p:cNvPicPr preferRelativeResize="0"/>
          <p:nvPr/>
        </p:nvPicPr>
        <p:blipFill rotWithShape="1">
          <a:blip r:embed="rId11">
            <a:alphaModFix/>
          </a:blip>
          <a:srcRect b="0" l="0" r="0" t="0"/>
          <a:stretch/>
        </p:blipFill>
        <p:spPr>
          <a:xfrm>
            <a:off x="7005637" y="4938563"/>
            <a:ext cx="95250" cy="95250"/>
          </a:xfrm>
          <a:prstGeom prst="rect">
            <a:avLst/>
          </a:prstGeom>
          <a:noFill/>
          <a:ln>
            <a:noFill/>
          </a:ln>
        </p:spPr>
      </p:pic>
      <p:pic>
        <p:nvPicPr>
          <p:cNvPr descr="image.png" id="503" name="Google Shape;503;p22"/>
          <p:cNvPicPr preferRelativeResize="0"/>
          <p:nvPr/>
        </p:nvPicPr>
        <p:blipFill rotWithShape="1">
          <a:blip r:embed="rId11">
            <a:alphaModFix/>
          </a:blip>
          <a:srcRect b="0" l="0" r="0" t="0"/>
          <a:stretch/>
        </p:blipFill>
        <p:spPr>
          <a:xfrm>
            <a:off x="7005637" y="5201394"/>
            <a:ext cx="95250" cy="95250"/>
          </a:xfrm>
          <a:prstGeom prst="rect">
            <a:avLst/>
          </a:prstGeom>
          <a:noFill/>
          <a:ln>
            <a:noFill/>
          </a:ln>
        </p:spPr>
      </p:pic>
      <p:pic>
        <p:nvPicPr>
          <p:cNvPr descr="image.png" id="504" name="Google Shape;504;p22"/>
          <p:cNvPicPr preferRelativeResize="0"/>
          <p:nvPr/>
        </p:nvPicPr>
        <p:blipFill rotWithShape="1">
          <a:blip r:embed="rId11">
            <a:alphaModFix/>
          </a:blip>
          <a:srcRect b="0" l="0" r="0" t="0"/>
          <a:stretch/>
        </p:blipFill>
        <p:spPr>
          <a:xfrm>
            <a:off x="7005637" y="5650855"/>
            <a:ext cx="95250" cy="95250"/>
          </a:xfrm>
          <a:prstGeom prst="rect">
            <a:avLst/>
          </a:prstGeom>
          <a:noFill/>
          <a:ln>
            <a:noFill/>
          </a:ln>
        </p:spPr>
      </p:pic>
      <p:pic>
        <p:nvPicPr>
          <p:cNvPr descr="image.png" id="505" name="Google Shape;505;p22"/>
          <p:cNvPicPr preferRelativeResize="0"/>
          <p:nvPr/>
        </p:nvPicPr>
        <p:blipFill rotWithShape="1">
          <a:blip r:embed="rId11">
            <a:alphaModFix/>
          </a:blip>
          <a:srcRect b="0" l="0" r="0" t="0"/>
          <a:stretch/>
        </p:blipFill>
        <p:spPr>
          <a:xfrm>
            <a:off x="7005637" y="6100316"/>
            <a:ext cx="95250" cy="95250"/>
          </a:xfrm>
          <a:prstGeom prst="rect">
            <a:avLst/>
          </a:prstGeom>
          <a:noFill/>
          <a:ln>
            <a:noFill/>
          </a:ln>
        </p:spPr>
      </p:pic>
      <p:sp>
        <p:nvSpPr>
          <p:cNvPr id="506" name="Google Shape;506;p22"/>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Knowledge</a:t>
            </a:r>
            <a:endParaRPr/>
          </a:p>
        </p:txBody>
      </p:sp>
      <p:sp>
        <p:nvSpPr>
          <p:cNvPr id="507" name="Google Shape;507;p22"/>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pic>
        <p:nvPicPr>
          <p:cNvPr descr="image.png" id="512" name="Google Shape;512;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13" name="Google Shape;513;p23"/>
          <p:cNvPicPr preferRelativeResize="0"/>
          <p:nvPr/>
        </p:nvPicPr>
        <p:blipFill rotWithShape="1">
          <a:blip r:embed="rId4">
            <a:alphaModFix/>
          </a:blip>
          <a:srcRect b="0" l="0" r="0" t="0"/>
          <a:stretch/>
        </p:blipFill>
        <p:spPr>
          <a:xfrm>
            <a:off x="7005637" y="1694854"/>
            <a:ext cx="4567237" cy="2217539"/>
          </a:xfrm>
          <a:prstGeom prst="rect">
            <a:avLst/>
          </a:prstGeom>
          <a:noFill/>
          <a:ln>
            <a:noFill/>
          </a:ln>
        </p:spPr>
      </p:pic>
      <p:pic>
        <p:nvPicPr>
          <p:cNvPr descr="image.png" id="514" name="Google Shape;514;p23"/>
          <p:cNvPicPr preferRelativeResize="0"/>
          <p:nvPr/>
        </p:nvPicPr>
        <p:blipFill rotWithShape="1">
          <a:blip r:embed="rId5">
            <a:alphaModFix/>
          </a:blip>
          <a:srcRect b="0" l="0" r="0" t="0"/>
          <a:stretch/>
        </p:blipFill>
        <p:spPr>
          <a:xfrm>
            <a:off x="571500" y="466725"/>
            <a:ext cx="857250" cy="209550"/>
          </a:xfrm>
          <a:prstGeom prst="rect">
            <a:avLst/>
          </a:prstGeom>
          <a:noFill/>
          <a:ln>
            <a:noFill/>
          </a:ln>
        </p:spPr>
      </p:pic>
      <p:sp>
        <p:nvSpPr>
          <p:cNvPr id="515" name="Google Shape;515;p23"/>
          <p:cNvSpPr txBox="1"/>
          <p:nvPr/>
        </p:nvSpPr>
        <p:spPr>
          <a:xfrm>
            <a:off x="571500" y="1485900"/>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516" name="Google Shape;516;p23"/>
          <p:cNvSpPr txBox="1"/>
          <p:nvPr/>
        </p:nvSpPr>
        <p:spPr>
          <a:xfrm>
            <a:off x="571500" y="1643062"/>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Teach Devin reusable, step-by-step procedures that it follows consistently every time.</a:t>
            </a:r>
            <a:endParaRPr/>
          </a:p>
        </p:txBody>
      </p:sp>
      <p:sp>
        <p:nvSpPr>
          <p:cNvPr id="517" name="Google Shape;517;p23"/>
          <p:cNvSpPr txBox="1"/>
          <p:nvPr/>
        </p:nvSpPr>
        <p:spPr>
          <a:xfrm>
            <a:off x="571500" y="1893540"/>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518" name="Google Shape;518;p23"/>
          <p:cNvSpPr txBox="1"/>
          <p:nvPr/>
        </p:nvSpPr>
        <p:spPr>
          <a:xfrm>
            <a:off x="571500" y="2050702"/>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Without Skills, Devin must figure out workflows from scratch every session. Skills encode procedures once — how to test, how to deploy, how to investigate — and Devin follows them reliably.</a:t>
            </a:r>
            <a:endParaRPr/>
          </a:p>
        </p:txBody>
      </p:sp>
      <p:sp>
        <p:nvSpPr>
          <p:cNvPr id="519" name="Google Shape;519;p23"/>
          <p:cNvSpPr txBox="1"/>
          <p:nvPr/>
        </p:nvSpPr>
        <p:spPr>
          <a:xfrm>
            <a:off x="571500" y="2494508"/>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520" name="Google Shape;520;p23"/>
          <p:cNvSpPr txBox="1"/>
          <p:nvPr/>
        </p:nvSpPr>
        <p:spPr>
          <a:xfrm>
            <a:off x="571500" y="5314205"/>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521" name="Google Shape;521;p23"/>
          <p:cNvSpPr txBox="1"/>
          <p:nvPr/>
        </p:nvSpPr>
        <p:spPr>
          <a:xfrm>
            <a:off x="571500" y="5471368"/>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repository has a `test-before-pr` skill. Before Devin opens any PR touching frontend code, it automatically runs the dev server, checks affected pages, runs lint and tests, and includes screenshots in the PR description — consistently, every time.</a:t>
            </a:r>
            <a:endParaRPr/>
          </a:p>
        </p:txBody>
      </p:sp>
      <p:sp>
        <p:nvSpPr>
          <p:cNvPr id="522" name="Google Shape;522;p23"/>
          <p:cNvSpPr txBox="1"/>
          <p:nvPr/>
        </p:nvSpPr>
        <p:spPr>
          <a:xfrm>
            <a:off x="7005637" y="1485900"/>
            <a:ext cx="4567237" cy="151804"/>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SKILLS VS. PLAYBOOKS</a:t>
            </a:r>
            <a:endParaRPr/>
          </a:p>
        </p:txBody>
      </p:sp>
      <p:sp>
        <p:nvSpPr>
          <p:cNvPr id="523" name="Google Shape;523;p23"/>
          <p:cNvSpPr txBox="1"/>
          <p:nvPr/>
        </p:nvSpPr>
        <p:spPr>
          <a:xfrm>
            <a:off x="7005637" y="4510236"/>
            <a:ext cx="4567237"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524" name="Google Shape;524;p23"/>
          <p:cNvSpPr txBox="1"/>
          <p:nvPr/>
        </p:nvSpPr>
        <p:spPr>
          <a:xfrm>
            <a:off x="800100" y="2651670"/>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Skills are `SKILL.md` files committed to repositories at `.agents/skills/SKILL.md`</a:t>
            </a:r>
            <a:endParaRPr/>
          </a:p>
        </p:txBody>
      </p:sp>
      <p:sp>
        <p:nvSpPr>
          <p:cNvPr id="525" name="Google Shape;525;p23"/>
          <p:cNvSpPr txBox="1"/>
          <p:nvPr/>
        </p:nvSpPr>
        <p:spPr>
          <a:xfrm>
            <a:off x="800100" y="2914501"/>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They follow the open </a:t>
            </a:r>
            <a:r>
              <a:rPr b="1" i="0" lang="en-US" sz="1050" u="none" cap="none" strike="noStrike">
                <a:solidFill>
                  <a:srgbClr val="334155"/>
                </a:solidFill>
                <a:latin typeface="Plus Jakarta Sans"/>
                <a:ea typeface="Plus Jakarta Sans"/>
                <a:cs typeface="Plus Jakarta Sans"/>
                <a:sym typeface="Plus Jakarta Sans"/>
              </a:rPr>
              <a:t>Agent Skills standard</a:t>
            </a:r>
            <a:r>
              <a:rPr b="0" i="0" lang="en-US" sz="1050" u="none" cap="none" strike="noStrike">
                <a:solidFill>
                  <a:srgbClr val="334155"/>
                </a:solidFill>
                <a:latin typeface="Plus Jakarta Sans"/>
                <a:ea typeface="Plus Jakarta Sans"/>
                <a:cs typeface="Plus Jakarta Sans"/>
                <a:sym typeface="Plus Jakarta Sans"/>
              </a:rPr>
              <a:t> (agentskills.io), making them portable across AI tools</a:t>
            </a:r>
            <a:endParaRPr/>
          </a:p>
        </p:txBody>
      </p:sp>
      <p:sp>
        <p:nvSpPr>
          <p:cNvPr id="526" name="Google Shape;526;p23"/>
          <p:cNvSpPr txBox="1"/>
          <p:nvPr/>
        </p:nvSpPr>
        <p:spPr>
          <a:xfrm>
            <a:off x="800100" y="3177331"/>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discovers Skills from two sources: </a:t>
            </a:r>
            <a:r>
              <a:rPr b="1" i="0" lang="en-US" sz="1050" u="none" cap="none" strike="noStrike">
                <a:solidFill>
                  <a:srgbClr val="334155"/>
                </a:solidFill>
                <a:latin typeface="Plus Jakarta Sans"/>
                <a:ea typeface="Plus Jakarta Sans"/>
                <a:cs typeface="Plus Jakarta Sans"/>
                <a:sym typeface="Plus Jakarta Sans"/>
              </a:rPr>
              <a:t>indexed repos</a:t>
            </a:r>
            <a:r>
              <a:rPr b="0" i="0" lang="en-US" sz="1050" u="none" cap="none" strike="noStrike">
                <a:solidFill>
                  <a:srgbClr val="334155"/>
                </a:solidFill>
                <a:latin typeface="Plus Jakarta Sans"/>
                <a:ea typeface="Plus Jakarta Sans"/>
                <a:cs typeface="Plus Jakarta Sans"/>
                <a:sym typeface="Plus Jakarta Sans"/>
              </a:rPr>
              <a:t> (available before cloning) and </a:t>
            </a:r>
            <a:r>
              <a:rPr b="1" i="0" lang="en-US" sz="1050" u="none" cap="none" strike="noStrike">
                <a:solidFill>
                  <a:srgbClr val="334155"/>
                </a:solidFill>
                <a:latin typeface="Plus Jakarta Sans"/>
                <a:ea typeface="Plus Jakarta Sans"/>
                <a:cs typeface="Plus Jakarta Sans"/>
                <a:sym typeface="Plus Jakarta Sans"/>
              </a:rPr>
              <a:t>cloned repos</a:t>
            </a:r>
            <a:r>
              <a:rPr b="0" i="0" lang="en-US" sz="1050" u="none" cap="none" strike="noStrike">
                <a:solidFill>
                  <a:srgbClr val="334155"/>
                </a:solidFill>
                <a:latin typeface="Plus Jakarta Sans"/>
                <a:ea typeface="Plus Jakarta Sans"/>
                <a:cs typeface="Plus Jakarta Sans"/>
                <a:sym typeface="Plus Jakarta Sans"/>
              </a:rPr>
              <a:t> (disk-scanned, always latest)</a:t>
            </a:r>
            <a:endParaRPr/>
          </a:p>
        </p:txBody>
      </p:sp>
      <p:sp>
        <p:nvSpPr>
          <p:cNvPr id="527" name="Google Shape;527;p23"/>
          <p:cNvSpPr txBox="1"/>
          <p:nvPr/>
        </p:nvSpPr>
        <p:spPr>
          <a:xfrm>
            <a:off x="800100" y="3626792"/>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When a Skill is invoked, its body is injected into Devin's context as a system-level instruction — Devin actively follows the steps</a:t>
            </a:r>
            <a:endParaRPr/>
          </a:p>
        </p:txBody>
      </p:sp>
      <p:sp>
        <p:nvSpPr>
          <p:cNvPr id="528" name="Google Shape;528;p23"/>
          <p:cNvSpPr txBox="1"/>
          <p:nvPr/>
        </p:nvSpPr>
        <p:spPr>
          <a:xfrm>
            <a:off x="800100" y="407625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Skills support </a:t>
            </a:r>
            <a:r>
              <a:rPr b="1" i="0" lang="en-US" sz="1050" u="none" cap="none" strike="noStrike">
                <a:solidFill>
                  <a:srgbClr val="334155"/>
                </a:solidFill>
                <a:latin typeface="Plus Jakarta Sans"/>
                <a:ea typeface="Plus Jakarta Sans"/>
                <a:cs typeface="Plus Jakarta Sans"/>
                <a:sym typeface="Plus Jakarta Sans"/>
              </a:rPr>
              <a:t>dynamic content injection</a:t>
            </a:r>
            <a:r>
              <a:rPr b="0" i="0" lang="en-US" sz="1050" u="none" cap="none" strike="noStrike">
                <a:solidFill>
                  <a:srgbClr val="334155"/>
                </a:solidFill>
                <a:latin typeface="Plus Jakarta Sans"/>
                <a:ea typeface="Plus Jakarta Sans"/>
                <a:cs typeface="Plus Jakarta Sans"/>
                <a:sym typeface="Plus Jakarta Sans"/>
              </a:rPr>
              <a:t> (live git info, branch names, environment data)</a:t>
            </a:r>
            <a:endParaRPr/>
          </a:p>
        </p:txBody>
      </p:sp>
      <p:sp>
        <p:nvSpPr>
          <p:cNvPr id="529" name="Google Shape;529;p23"/>
          <p:cNvSpPr txBox="1"/>
          <p:nvPr/>
        </p:nvSpPr>
        <p:spPr>
          <a:xfrm>
            <a:off x="800100" y="433908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Skills support </a:t>
            </a:r>
            <a:r>
              <a:rPr b="1" i="0" lang="en-US" sz="1050" u="none" cap="none" strike="noStrike">
                <a:solidFill>
                  <a:srgbClr val="334155"/>
                </a:solidFill>
                <a:latin typeface="Plus Jakarta Sans"/>
                <a:ea typeface="Plus Jakarta Sans"/>
                <a:cs typeface="Plus Jakarta Sans"/>
                <a:sym typeface="Plus Jakarta Sans"/>
              </a:rPr>
              <a:t>argument passing</a:t>
            </a:r>
            <a:r>
              <a:rPr b="0" i="0" lang="en-US" sz="1050" u="none" cap="none" strike="noStrike">
                <a:solidFill>
                  <a:srgbClr val="334155"/>
                </a:solidFill>
                <a:latin typeface="Plus Jakarta Sans"/>
                <a:ea typeface="Plus Jakarta Sans"/>
                <a:cs typeface="Plus Jakarta Sans"/>
                <a:sym typeface="Plus Jakarta Sans"/>
              </a:rPr>
              <a:t> (`@skills:deploy staging`)</a:t>
            </a:r>
            <a:endParaRPr/>
          </a:p>
        </p:txBody>
      </p:sp>
      <p:sp>
        <p:nvSpPr>
          <p:cNvPr id="530" name="Google Shape;530;p23"/>
          <p:cNvSpPr txBox="1"/>
          <p:nvPr/>
        </p:nvSpPr>
        <p:spPr>
          <a:xfrm>
            <a:off x="800100" y="4601914"/>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`triggers` field controls whether Devin auto-invokes or waits for explicit invocation</a:t>
            </a:r>
            <a:endParaRPr/>
          </a:p>
        </p:txBody>
      </p:sp>
      <p:sp>
        <p:nvSpPr>
          <p:cNvPr id="531" name="Google Shape;531;p23"/>
          <p:cNvSpPr txBox="1"/>
          <p:nvPr/>
        </p:nvSpPr>
        <p:spPr>
          <a:xfrm>
            <a:off x="800100" y="4864744"/>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`allowed-tools` field restricts which tools Devin can use during the skill (e.g., read-only investigation)</a:t>
            </a:r>
            <a:endParaRPr/>
          </a:p>
        </p:txBody>
      </p:sp>
      <p:pic>
        <p:nvPicPr>
          <p:cNvPr descr="image.png" id="532" name="Google Shape;532;p23"/>
          <p:cNvPicPr preferRelativeResize="0"/>
          <p:nvPr/>
        </p:nvPicPr>
        <p:blipFill rotWithShape="1">
          <a:blip r:embed="rId6">
            <a:alphaModFix/>
          </a:blip>
          <a:srcRect b="0" l="0" r="0" t="0"/>
          <a:stretch/>
        </p:blipFill>
        <p:spPr>
          <a:xfrm>
            <a:off x="8603456" y="1514475"/>
            <a:ext cx="133350" cy="104775"/>
          </a:xfrm>
          <a:prstGeom prst="rect">
            <a:avLst/>
          </a:prstGeom>
          <a:noFill/>
          <a:ln>
            <a:noFill/>
          </a:ln>
        </p:spPr>
      </p:pic>
      <p:graphicFrame>
        <p:nvGraphicFramePr>
          <p:cNvPr id="533" name="Google Shape;533;p23"/>
          <p:cNvGraphicFramePr/>
          <p:nvPr/>
        </p:nvGraphicFramePr>
        <p:xfrm>
          <a:off x="7015162" y="1704379"/>
          <a:ext cx="3000000" cy="3000000"/>
        </p:xfrm>
        <a:graphic>
          <a:graphicData uri="http://schemas.openxmlformats.org/drawingml/2006/table">
            <a:tbl>
              <a:tblPr bandRow="1" firstRow="1">
                <a:noFill/>
                <a:tableStyleId>{4082E842-8FCA-41A0-AF41-31C70471DD3A}</a:tableStyleId>
              </a:tblPr>
              <a:tblGrid>
                <a:gridCol w="838200"/>
                <a:gridCol w="1893550"/>
                <a:gridCol w="1816450"/>
              </a:tblGrid>
              <a:tr h="43970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Criteria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Skills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Location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repo as `SKILL.md` (vcs-tracked)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Devin web app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Trigger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Auto-discovered or `@skills:name`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Manually attached to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Scope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Repo-scoped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Org-wide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Best For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Testing, deployments, workflows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Task prompts, onboarding guides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34" name="Google Shape;534;p23"/>
          <p:cNvSpPr txBox="1"/>
          <p:nvPr/>
        </p:nvSpPr>
        <p:spPr>
          <a:xfrm>
            <a:off x="7234237" y="466739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 Skills to repos for repeatable workflows</a:t>
            </a:r>
            <a:endParaRPr/>
          </a:p>
        </p:txBody>
      </p:sp>
      <p:sp>
        <p:nvSpPr>
          <p:cNvPr id="535" name="Google Shape;535;p23"/>
          <p:cNvSpPr txBox="1"/>
          <p:nvPr/>
        </p:nvSpPr>
        <p:spPr>
          <a:xfrm>
            <a:off x="7234237" y="4930229"/>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`triggers: ["user"]` for sensitive steps (production deploy)</a:t>
            </a:r>
            <a:endParaRPr/>
          </a:p>
        </p:txBody>
      </p:sp>
      <p:sp>
        <p:nvSpPr>
          <p:cNvPr id="536" name="Google Shape;536;p23"/>
          <p:cNvSpPr txBox="1"/>
          <p:nvPr/>
        </p:nvSpPr>
        <p:spPr>
          <a:xfrm>
            <a:off x="7234237" y="5193059"/>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`allowed-tools` to restrict skills to read-only</a:t>
            </a:r>
            <a:endParaRPr/>
          </a:p>
        </p:txBody>
      </p:sp>
      <p:sp>
        <p:nvSpPr>
          <p:cNvPr id="537" name="Google Shape;537;p23"/>
          <p:cNvSpPr txBox="1"/>
          <p:nvPr/>
        </p:nvSpPr>
        <p:spPr>
          <a:xfrm>
            <a:off x="7234237" y="5455890"/>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Let Devin suggest Skills and accept the recommendations</a:t>
            </a:r>
            <a:endParaRPr/>
          </a:p>
        </p:txBody>
      </p:sp>
      <p:sp>
        <p:nvSpPr>
          <p:cNvPr id="538" name="Google Shape;538;p23"/>
          <p:cNvSpPr/>
          <p:nvPr/>
        </p:nvSpPr>
        <p:spPr>
          <a:xfrm>
            <a:off x="7015162" y="2018704"/>
            <a:ext cx="838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23"/>
          <p:cNvSpPr/>
          <p:nvPr/>
        </p:nvSpPr>
        <p:spPr>
          <a:xfrm>
            <a:off x="7853362" y="2018704"/>
            <a:ext cx="18935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23"/>
          <p:cNvSpPr/>
          <p:nvPr/>
        </p:nvSpPr>
        <p:spPr>
          <a:xfrm>
            <a:off x="9746902" y="2018704"/>
            <a:ext cx="181644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23"/>
          <p:cNvSpPr txBox="1"/>
          <p:nvPr/>
        </p:nvSpPr>
        <p:spPr>
          <a:xfrm>
            <a:off x="7005637" y="4007643"/>
            <a:ext cx="2245518"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542" name="Google Shape;542;p23"/>
          <p:cNvSpPr txBox="1"/>
          <p:nvPr/>
        </p:nvSpPr>
        <p:spPr>
          <a:xfrm>
            <a:off x="7005637" y="4157811"/>
            <a:ext cx="2245518" cy="2762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Version-controlled; portable; auto-suggested; dynamic contexts</a:t>
            </a:r>
            <a:endParaRPr/>
          </a:p>
        </p:txBody>
      </p:sp>
      <p:sp>
        <p:nvSpPr>
          <p:cNvPr id="543" name="Google Shape;543;p23"/>
          <p:cNvSpPr txBox="1"/>
          <p:nvPr/>
        </p:nvSpPr>
        <p:spPr>
          <a:xfrm>
            <a:off x="9327356" y="4007643"/>
            <a:ext cx="2245518"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544" name="Google Shape;544;p23"/>
          <p:cNvSpPr txBox="1"/>
          <p:nvPr/>
        </p:nvSpPr>
        <p:spPr>
          <a:xfrm>
            <a:off x="9327356" y="4157811"/>
            <a:ext cx="2245518" cy="2762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One Skill active at a time; skills repo required for org-wide workaround</a:t>
            </a:r>
            <a:endParaRPr/>
          </a:p>
        </p:txBody>
      </p:sp>
      <p:pic>
        <p:nvPicPr>
          <p:cNvPr descr="image.png" id="545" name="Google Shape;545;p23"/>
          <p:cNvPicPr preferRelativeResize="0"/>
          <p:nvPr/>
        </p:nvPicPr>
        <p:blipFill rotWithShape="1">
          <a:blip r:embed="rId7">
            <a:alphaModFix/>
          </a:blip>
          <a:srcRect b="0" l="0" r="0" t="0"/>
          <a:stretch/>
        </p:blipFill>
        <p:spPr>
          <a:xfrm>
            <a:off x="571500" y="2680245"/>
            <a:ext cx="57150" cy="85725"/>
          </a:xfrm>
          <a:prstGeom prst="rect">
            <a:avLst/>
          </a:prstGeom>
          <a:noFill/>
          <a:ln>
            <a:noFill/>
          </a:ln>
        </p:spPr>
      </p:pic>
      <p:pic>
        <p:nvPicPr>
          <p:cNvPr descr="image.png" id="546" name="Google Shape;546;p23"/>
          <p:cNvPicPr preferRelativeResize="0"/>
          <p:nvPr/>
        </p:nvPicPr>
        <p:blipFill rotWithShape="1">
          <a:blip r:embed="rId7">
            <a:alphaModFix/>
          </a:blip>
          <a:srcRect b="0" l="0" r="0" t="0"/>
          <a:stretch/>
        </p:blipFill>
        <p:spPr>
          <a:xfrm>
            <a:off x="571500" y="2943076"/>
            <a:ext cx="57150" cy="85725"/>
          </a:xfrm>
          <a:prstGeom prst="rect">
            <a:avLst/>
          </a:prstGeom>
          <a:noFill/>
          <a:ln>
            <a:noFill/>
          </a:ln>
        </p:spPr>
      </p:pic>
      <p:pic>
        <p:nvPicPr>
          <p:cNvPr descr="image.png" id="547" name="Google Shape;547;p23"/>
          <p:cNvPicPr preferRelativeResize="0"/>
          <p:nvPr/>
        </p:nvPicPr>
        <p:blipFill rotWithShape="1">
          <a:blip r:embed="rId7">
            <a:alphaModFix/>
          </a:blip>
          <a:srcRect b="0" l="0" r="0" t="0"/>
          <a:stretch/>
        </p:blipFill>
        <p:spPr>
          <a:xfrm>
            <a:off x="571500" y="3205906"/>
            <a:ext cx="57150" cy="85725"/>
          </a:xfrm>
          <a:prstGeom prst="rect">
            <a:avLst/>
          </a:prstGeom>
          <a:noFill/>
          <a:ln>
            <a:noFill/>
          </a:ln>
        </p:spPr>
      </p:pic>
      <p:pic>
        <p:nvPicPr>
          <p:cNvPr descr="image.png" id="548" name="Google Shape;548;p23"/>
          <p:cNvPicPr preferRelativeResize="0"/>
          <p:nvPr/>
        </p:nvPicPr>
        <p:blipFill rotWithShape="1">
          <a:blip r:embed="rId7">
            <a:alphaModFix/>
          </a:blip>
          <a:srcRect b="0" l="0" r="0" t="0"/>
          <a:stretch/>
        </p:blipFill>
        <p:spPr>
          <a:xfrm>
            <a:off x="571500" y="3655367"/>
            <a:ext cx="57150" cy="85725"/>
          </a:xfrm>
          <a:prstGeom prst="rect">
            <a:avLst/>
          </a:prstGeom>
          <a:noFill/>
          <a:ln>
            <a:noFill/>
          </a:ln>
        </p:spPr>
      </p:pic>
      <p:pic>
        <p:nvPicPr>
          <p:cNvPr descr="image.png" id="549" name="Google Shape;549;p23"/>
          <p:cNvPicPr preferRelativeResize="0"/>
          <p:nvPr/>
        </p:nvPicPr>
        <p:blipFill rotWithShape="1">
          <a:blip r:embed="rId7">
            <a:alphaModFix/>
          </a:blip>
          <a:srcRect b="0" l="0" r="0" t="0"/>
          <a:stretch/>
        </p:blipFill>
        <p:spPr>
          <a:xfrm>
            <a:off x="571500" y="4104828"/>
            <a:ext cx="57150" cy="85725"/>
          </a:xfrm>
          <a:prstGeom prst="rect">
            <a:avLst/>
          </a:prstGeom>
          <a:noFill/>
          <a:ln>
            <a:noFill/>
          </a:ln>
        </p:spPr>
      </p:pic>
      <p:pic>
        <p:nvPicPr>
          <p:cNvPr descr="image.png" id="550" name="Google Shape;550;p23"/>
          <p:cNvPicPr preferRelativeResize="0"/>
          <p:nvPr/>
        </p:nvPicPr>
        <p:blipFill rotWithShape="1">
          <a:blip r:embed="rId7">
            <a:alphaModFix/>
          </a:blip>
          <a:srcRect b="0" l="0" r="0" t="0"/>
          <a:stretch/>
        </p:blipFill>
        <p:spPr>
          <a:xfrm>
            <a:off x="571500" y="4367658"/>
            <a:ext cx="57150" cy="85725"/>
          </a:xfrm>
          <a:prstGeom prst="rect">
            <a:avLst/>
          </a:prstGeom>
          <a:noFill/>
          <a:ln>
            <a:noFill/>
          </a:ln>
        </p:spPr>
      </p:pic>
      <p:pic>
        <p:nvPicPr>
          <p:cNvPr descr="image.png" id="551" name="Google Shape;551;p23"/>
          <p:cNvPicPr preferRelativeResize="0"/>
          <p:nvPr/>
        </p:nvPicPr>
        <p:blipFill rotWithShape="1">
          <a:blip r:embed="rId7">
            <a:alphaModFix/>
          </a:blip>
          <a:srcRect b="0" l="0" r="0" t="0"/>
          <a:stretch/>
        </p:blipFill>
        <p:spPr>
          <a:xfrm>
            <a:off x="571500" y="4630489"/>
            <a:ext cx="57150" cy="85725"/>
          </a:xfrm>
          <a:prstGeom prst="rect">
            <a:avLst/>
          </a:prstGeom>
          <a:noFill/>
          <a:ln>
            <a:noFill/>
          </a:ln>
        </p:spPr>
      </p:pic>
      <p:pic>
        <p:nvPicPr>
          <p:cNvPr descr="image.png" id="552" name="Google Shape;552;p23"/>
          <p:cNvPicPr preferRelativeResize="0"/>
          <p:nvPr/>
        </p:nvPicPr>
        <p:blipFill rotWithShape="1">
          <a:blip r:embed="rId7">
            <a:alphaModFix/>
          </a:blip>
          <a:srcRect b="0" l="0" r="0" t="0"/>
          <a:stretch/>
        </p:blipFill>
        <p:spPr>
          <a:xfrm>
            <a:off x="571500" y="4893319"/>
            <a:ext cx="57150" cy="85725"/>
          </a:xfrm>
          <a:prstGeom prst="rect">
            <a:avLst/>
          </a:prstGeom>
          <a:noFill/>
          <a:ln>
            <a:noFill/>
          </a:ln>
        </p:spPr>
      </p:pic>
      <p:sp>
        <p:nvSpPr>
          <p:cNvPr id="553" name="Google Shape;553;p23"/>
          <p:cNvSpPr/>
          <p:nvPr/>
        </p:nvSpPr>
        <p:spPr>
          <a:xfrm>
            <a:off x="7015162" y="2527101"/>
            <a:ext cx="838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4" name="Google Shape;554;p23"/>
          <p:cNvSpPr/>
          <p:nvPr/>
        </p:nvSpPr>
        <p:spPr>
          <a:xfrm>
            <a:off x="7853362" y="2527101"/>
            <a:ext cx="18935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23"/>
          <p:cNvSpPr/>
          <p:nvPr/>
        </p:nvSpPr>
        <p:spPr>
          <a:xfrm>
            <a:off x="9746902" y="2527101"/>
            <a:ext cx="181644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23"/>
          <p:cNvSpPr/>
          <p:nvPr/>
        </p:nvSpPr>
        <p:spPr>
          <a:xfrm>
            <a:off x="7015162" y="3035498"/>
            <a:ext cx="838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23"/>
          <p:cNvSpPr/>
          <p:nvPr/>
        </p:nvSpPr>
        <p:spPr>
          <a:xfrm>
            <a:off x="7853362" y="3035498"/>
            <a:ext cx="18935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23"/>
          <p:cNvSpPr/>
          <p:nvPr/>
        </p:nvSpPr>
        <p:spPr>
          <a:xfrm>
            <a:off x="9746902" y="3035498"/>
            <a:ext cx="181644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23"/>
          <p:cNvSpPr/>
          <p:nvPr/>
        </p:nvSpPr>
        <p:spPr>
          <a:xfrm>
            <a:off x="7015162" y="3389709"/>
            <a:ext cx="8382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0" name="Google Shape;560;p23"/>
          <p:cNvSpPr/>
          <p:nvPr/>
        </p:nvSpPr>
        <p:spPr>
          <a:xfrm>
            <a:off x="7853362" y="3389709"/>
            <a:ext cx="18935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23"/>
          <p:cNvSpPr/>
          <p:nvPr/>
        </p:nvSpPr>
        <p:spPr>
          <a:xfrm>
            <a:off x="9746902" y="3389709"/>
            <a:ext cx="181644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62" name="Google Shape;562;p23"/>
          <p:cNvPicPr preferRelativeResize="0"/>
          <p:nvPr/>
        </p:nvPicPr>
        <p:blipFill rotWithShape="1">
          <a:blip r:embed="rId8">
            <a:alphaModFix/>
          </a:blip>
          <a:srcRect b="0" l="0" r="0" t="0"/>
          <a:stretch/>
        </p:blipFill>
        <p:spPr>
          <a:xfrm>
            <a:off x="7005637" y="4695973"/>
            <a:ext cx="85725" cy="85725"/>
          </a:xfrm>
          <a:prstGeom prst="rect">
            <a:avLst/>
          </a:prstGeom>
          <a:noFill/>
          <a:ln>
            <a:noFill/>
          </a:ln>
        </p:spPr>
      </p:pic>
      <p:pic>
        <p:nvPicPr>
          <p:cNvPr descr="image.png" id="563" name="Google Shape;563;p23"/>
          <p:cNvPicPr preferRelativeResize="0"/>
          <p:nvPr/>
        </p:nvPicPr>
        <p:blipFill rotWithShape="1">
          <a:blip r:embed="rId8">
            <a:alphaModFix/>
          </a:blip>
          <a:srcRect b="0" l="0" r="0" t="0"/>
          <a:stretch/>
        </p:blipFill>
        <p:spPr>
          <a:xfrm>
            <a:off x="7005637" y="4958804"/>
            <a:ext cx="85725" cy="85725"/>
          </a:xfrm>
          <a:prstGeom prst="rect">
            <a:avLst/>
          </a:prstGeom>
          <a:noFill/>
          <a:ln>
            <a:noFill/>
          </a:ln>
        </p:spPr>
      </p:pic>
      <p:pic>
        <p:nvPicPr>
          <p:cNvPr descr="image.png" id="564" name="Google Shape;564;p23"/>
          <p:cNvPicPr preferRelativeResize="0"/>
          <p:nvPr/>
        </p:nvPicPr>
        <p:blipFill rotWithShape="1">
          <a:blip r:embed="rId8">
            <a:alphaModFix/>
          </a:blip>
          <a:srcRect b="0" l="0" r="0" t="0"/>
          <a:stretch/>
        </p:blipFill>
        <p:spPr>
          <a:xfrm>
            <a:off x="7005637" y="5221634"/>
            <a:ext cx="85725" cy="85725"/>
          </a:xfrm>
          <a:prstGeom prst="rect">
            <a:avLst/>
          </a:prstGeom>
          <a:noFill/>
          <a:ln>
            <a:noFill/>
          </a:ln>
        </p:spPr>
      </p:pic>
      <p:pic>
        <p:nvPicPr>
          <p:cNvPr descr="image.png" id="565" name="Google Shape;565;p23"/>
          <p:cNvPicPr preferRelativeResize="0"/>
          <p:nvPr/>
        </p:nvPicPr>
        <p:blipFill rotWithShape="1">
          <a:blip r:embed="rId8">
            <a:alphaModFix/>
          </a:blip>
          <a:srcRect b="0" l="0" r="0" t="0"/>
          <a:stretch/>
        </p:blipFill>
        <p:spPr>
          <a:xfrm>
            <a:off x="7005637" y="5484465"/>
            <a:ext cx="85725" cy="85725"/>
          </a:xfrm>
          <a:prstGeom prst="rect">
            <a:avLst/>
          </a:prstGeom>
          <a:noFill/>
          <a:ln>
            <a:noFill/>
          </a:ln>
        </p:spPr>
      </p:pic>
      <p:sp>
        <p:nvSpPr>
          <p:cNvPr id="566" name="Google Shape;566;p23"/>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Agent Skills</a:t>
            </a:r>
            <a:endParaRPr/>
          </a:p>
        </p:txBody>
      </p:sp>
      <p:sp>
        <p:nvSpPr>
          <p:cNvPr id="567" name="Google Shape;567;p23"/>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pic>
        <p:nvPicPr>
          <p:cNvPr descr="image.png" id="572" name="Google Shape;572;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73" name="Google Shape;573;p24"/>
          <p:cNvPicPr preferRelativeResize="0"/>
          <p:nvPr/>
        </p:nvPicPr>
        <p:blipFill rotWithShape="1">
          <a:blip r:embed="rId4">
            <a:alphaModFix/>
          </a:blip>
          <a:srcRect b="0" l="0" r="0" t="0"/>
          <a:stretch/>
        </p:blipFill>
        <p:spPr>
          <a:xfrm>
            <a:off x="7005637" y="1746795"/>
            <a:ext cx="4567237" cy="3086100"/>
          </a:xfrm>
          <a:prstGeom prst="rect">
            <a:avLst/>
          </a:prstGeom>
          <a:noFill/>
          <a:ln>
            <a:noFill/>
          </a:ln>
        </p:spPr>
      </p:pic>
      <p:pic>
        <p:nvPicPr>
          <p:cNvPr descr="image.png" id="574" name="Google Shape;574;p24"/>
          <p:cNvPicPr preferRelativeResize="0"/>
          <p:nvPr/>
        </p:nvPicPr>
        <p:blipFill rotWithShape="1">
          <a:blip r:embed="rId5">
            <a:alphaModFix/>
          </a:blip>
          <a:srcRect b="0" l="0" r="0" t="0"/>
          <a:stretch/>
        </p:blipFill>
        <p:spPr>
          <a:xfrm>
            <a:off x="571500" y="466725"/>
            <a:ext cx="857250" cy="209550"/>
          </a:xfrm>
          <a:prstGeom prst="rect">
            <a:avLst/>
          </a:prstGeom>
          <a:noFill/>
          <a:ln>
            <a:noFill/>
          </a:ln>
        </p:spPr>
      </p:pic>
      <p:sp>
        <p:nvSpPr>
          <p:cNvPr id="575" name="Google Shape;575;p24"/>
          <p:cNvSpPr txBox="1"/>
          <p:nvPr/>
        </p:nvSpPr>
        <p:spPr>
          <a:xfrm>
            <a:off x="571500" y="148590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576" name="Google Shape;576;p24"/>
          <p:cNvSpPr txBox="1"/>
          <p:nvPr/>
        </p:nvSpPr>
        <p:spPr>
          <a:xfrm>
            <a:off x="571500" y="1656754"/>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reusable, org-wide prompt templates for repeated task patterns.</a:t>
            </a:r>
            <a:endParaRPr/>
          </a:p>
        </p:txBody>
      </p:sp>
      <p:sp>
        <p:nvSpPr>
          <p:cNvPr id="577" name="Google Shape;577;p24"/>
          <p:cNvSpPr txBox="1"/>
          <p:nvPr/>
        </p:nvSpPr>
        <p:spPr>
          <a:xfrm>
            <a:off x="571500" y="192628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578" name="Google Shape;578;p24"/>
          <p:cNvSpPr txBox="1"/>
          <p:nvPr/>
        </p:nvSpPr>
        <p:spPr>
          <a:xfrm>
            <a:off x="571500" y="2097137"/>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When the same type of task is run repeatedly across different repos or teams, Playbooks standardize the approach, encode best practices, and enable anyone to replicate a successful workflow.</a:t>
            </a:r>
            <a:endParaRPr/>
          </a:p>
        </p:txBody>
      </p:sp>
      <p:sp>
        <p:nvSpPr>
          <p:cNvPr id="579" name="Google Shape;579;p24"/>
          <p:cNvSpPr txBox="1"/>
          <p:nvPr/>
        </p:nvSpPr>
        <p:spPr>
          <a:xfrm>
            <a:off x="571500" y="275332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580" name="Google Shape;580;p24"/>
          <p:cNvSpPr txBox="1"/>
          <p:nvPr/>
        </p:nvSpPr>
        <p:spPr>
          <a:xfrm>
            <a:off x="571500" y="4874418"/>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581" name="Google Shape;581;p24"/>
          <p:cNvSpPr txBox="1"/>
          <p:nvPr/>
        </p:nvSpPr>
        <p:spPr>
          <a:xfrm>
            <a:off x="571500" y="5045273"/>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team has successfully migrated 10 services from REST to GraphQL. They create a Playbook from those sessions. Now any engineer — or an Automation — can attach the Playbook to a new session and Devin follows the proven procedure for the next 40 services.</a:t>
            </a:r>
            <a:endParaRPr/>
          </a:p>
        </p:txBody>
      </p:sp>
      <p:sp>
        <p:nvSpPr>
          <p:cNvPr id="582" name="Google Shape;582;p24"/>
          <p:cNvSpPr txBox="1"/>
          <p:nvPr/>
        </p:nvSpPr>
        <p:spPr>
          <a:xfrm>
            <a:off x="571500" y="6238428"/>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583" name="Google Shape;583;p24"/>
          <p:cNvSpPr txBox="1"/>
          <p:nvPr/>
        </p:nvSpPr>
        <p:spPr>
          <a:xfrm>
            <a:off x="7005637" y="1485900"/>
            <a:ext cx="4567237" cy="165645"/>
          </a:xfrm>
          <a:prstGeom prst="rect">
            <a:avLst/>
          </a:prstGeom>
          <a:noFill/>
          <a:ln>
            <a:noFill/>
          </a:ln>
        </p:spPr>
        <p:txBody>
          <a:bodyPr anchorCtr="0" anchor="t" bIns="0" lIns="8572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PLAYBOOK STRUCTURE TEMPLATE</a:t>
            </a:r>
            <a:endParaRPr/>
          </a:p>
        </p:txBody>
      </p:sp>
      <p:sp>
        <p:nvSpPr>
          <p:cNvPr id="584" name="Google Shape;584;p24"/>
          <p:cNvSpPr txBox="1"/>
          <p:nvPr/>
        </p:nvSpPr>
        <p:spPr>
          <a:xfrm>
            <a:off x="800100" y="2924175"/>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Playbook is a structured document with sections: </a:t>
            </a:r>
            <a:r>
              <a:rPr b="1" i="0" lang="en-US" sz="1050" u="none" cap="none" strike="noStrike">
                <a:solidFill>
                  <a:srgbClr val="334155"/>
                </a:solidFill>
                <a:latin typeface="Plus Jakarta Sans"/>
                <a:ea typeface="Plus Jakarta Sans"/>
                <a:cs typeface="Plus Jakarta Sans"/>
                <a:sym typeface="Plus Jakarta Sans"/>
              </a:rPr>
              <a:t>Procedure</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Specifications</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Advice</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Forbidden Actions</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Required from User</a:t>
            </a:r>
            <a:endParaRPr/>
          </a:p>
        </p:txBody>
      </p:sp>
      <p:sp>
        <p:nvSpPr>
          <p:cNvPr id="585" name="Google Shape;585;p24"/>
          <p:cNvSpPr txBox="1"/>
          <p:nvPr/>
        </p:nvSpPr>
        <p:spPr>
          <a:xfrm>
            <a:off x="800100" y="337363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Playbooks are attached to a session at start time (via UI, macro, or `.devin.md` file)</a:t>
            </a:r>
            <a:endParaRPr/>
          </a:p>
        </p:txBody>
      </p:sp>
      <p:sp>
        <p:nvSpPr>
          <p:cNvPr id="586" name="Google Shape;586;p24"/>
          <p:cNvSpPr txBox="1"/>
          <p:nvPr/>
        </p:nvSpPr>
        <p:spPr>
          <a:xfrm>
            <a:off x="800100" y="363646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Playbooks have </a:t>
            </a:r>
            <a:r>
              <a:rPr b="1" i="0" lang="en-US" sz="1050" u="none" cap="none" strike="noStrike">
                <a:solidFill>
                  <a:srgbClr val="334155"/>
                </a:solidFill>
                <a:latin typeface="Plus Jakarta Sans"/>
                <a:ea typeface="Plus Jakarta Sans"/>
                <a:cs typeface="Plus Jakarta Sans"/>
                <a:sym typeface="Plus Jakarta Sans"/>
              </a:rPr>
              <a:t>version history</a:t>
            </a:r>
            <a:r>
              <a:rPr b="0" i="0" lang="en-US" sz="1050" u="none" cap="none" strike="noStrike">
                <a:solidFill>
                  <a:srgbClr val="334155"/>
                </a:solidFill>
                <a:latin typeface="Plus Jakarta Sans"/>
                <a:ea typeface="Plus Jakarta Sans"/>
                <a:cs typeface="Plus Jakarta Sans"/>
                <a:sym typeface="Plus Jakarta Sans"/>
              </a:rPr>
              <a:t> — every edit creates a new version; rollback is supported</a:t>
            </a:r>
            <a:endParaRPr/>
          </a:p>
        </p:txBody>
      </p:sp>
      <p:sp>
        <p:nvSpPr>
          <p:cNvPr id="587" name="Google Shape;587;p24"/>
          <p:cNvSpPr txBox="1"/>
          <p:nvPr/>
        </p:nvSpPr>
        <p:spPr>
          <a:xfrm>
            <a:off x="800100" y="389929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Enterprise Playbooks are shared across all organizations in an enterprise</a:t>
            </a:r>
            <a:endParaRPr/>
          </a:p>
        </p:txBody>
      </p:sp>
      <p:sp>
        <p:nvSpPr>
          <p:cNvPr id="588" name="Google Shape;588;p24"/>
          <p:cNvSpPr txBox="1"/>
          <p:nvPr/>
        </p:nvSpPr>
        <p:spPr>
          <a:xfrm>
            <a:off x="800100" y="4162127"/>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Playbooks can be created from successful sessions — Devin analyzes the session and produces a structured Playbook</a:t>
            </a:r>
            <a:endParaRPr/>
          </a:p>
        </p:txBody>
      </p:sp>
      <p:sp>
        <p:nvSpPr>
          <p:cNvPr id="589" name="Google Shape;589;p24"/>
          <p:cNvSpPr txBox="1"/>
          <p:nvPr/>
        </p:nvSpPr>
        <p:spPr>
          <a:xfrm>
            <a:off x="800100" y="461158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Macros (`!data-tutorial`) allow quick attachment via prompt input</a:t>
            </a:r>
            <a:endParaRPr/>
          </a:p>
        </p:txBody>
      </p:sp>
      <p:sp>
        <p:nvSpPr>
          <p:cNvPr id="590" name="Google Shape;590;p24"/>
          <p:cNvSpPr txBox="1"/>
          <p:nvPr/>
        </p:nvSpPr>
        <p:spPr>
          <a:xfrm>
            <a:off x="800100" y="640928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Write Procedures with one step per line, using imperative verbs</a:t>
            </a:r>
            <a:endParaRPr/>
          </a:p>
        </p:txBody>
      </p:sp>
      <p:sp>
        <p:nvSpPr>
          <p:cNvPr id="591" name="Google Shape;591;p24"/>
          <p:cNvSpPr txBox="1"/>
          <p:nvPr/>
        </p:nvSpPr>
        <p:spPr>
          <a:xfrm>
            <a:off x="800100" y="6672113"/>
            <a:ext cx="5967412" cy="18588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Make steps Mutually Exclusive and Collectively Exhaustive (MECE)</a:t>
            </a:r>
            <a:endParaRPr/>
          </a:p>
        </p:txBody>
      </p:sp>
      <p:sp>
        <p:nvSpPr>
          <p:cNvPr id="592" name="Google Shape;592;p24"/>
          <p:cNvSpPr txBox="1"/>
          <p:nvPr/>
        </p:nvSpPr>
        <p:spPr>
          <a:xfrm>
            <a:off x="800100" y="6934944"/>
            <a:ext cx="5967412" cy="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Include before/after examples in Advice sections</a:t>
            </a:r>
            <a:endParaRPr/>
          </a:p>
        </p:txBody>
      </p:sp>
      <p:sp>
        <p:nvSpPr>
          <p:cNvPr id="593" name="Google Shape;593;p24"/>
          <p:cNvSpPr txBox="1"/>
          <p:nvPr/>
        </p:nvSpPr>
        <p:spPr>
          <a:xfrm>
            <a:off x="800100" y="7197774"/>
            <a:ext cx="5967412" cy="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Run 2+ Devins in parallel with the same Playbook to quickly identify errors</a:t>
            </a:r>
            <a:endParaRPr/>
          </a:p>
        </p:txBody>
      </p:sp>
      <p:sp>
        <p:nvSpPr>
          <p:cNvPr id="594" name="Google Shape;594;p24"/>
          <p:cNvSpPr txBox="1"/>
          <p:nvPr/>
        </p:nvSpPr>
        <p:spPr>
          <a:xfrm>
            <a:off x="800100" y="7460605"/>
            <a:ext cx="5967412" cy="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Iterate: if Devin needs help mid-session, add the fix to the Playbook for next time</a:t>
            </a:r>
            <a:endParaRPr/>
          </a:p>
        </p:txBody>
      </p:sp>
      <p:sp>
        <p:nvSpPr>
          <p:cNvPr id="595" name="Google Shape;595;p24"/>
          <p:cNvSpPr txBox="1"/>
          <p:nvPr/>
        </p:nvSpPr>
        <p:spPr>
          <a:xfrm>
            <a:off x="800100" y="7723435"/>
            <a:ext cx="5967412" cy="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Enterprise Playbooks for company-wide standards</a:t>
            </a:r>
            <a:endParaRPr/>
          </a:p>
        </p:txBody>
      </p:sp>
      <p:pic>
        <p:nvPicPr>
          <p:cNvPr descr="image.png" id="596" name="Google Shape;596;p24"/>
          <p:cNvPicPr preferRelativeResize="0"/>
          <p:nvPr/>
        </p:nvPicPr>
        <p:blipFill rotWithShape="1">
          <a:blip r:embed="rId6">
            <a:alphaModFix/>
          </a:blip>
          <a:srcRect b="0" l="0" r="0" t="0"/>
          <a:stretch/>
        </p:blipFill>
        <p:spPr>
          <a:xfrm>
            <a:off x="8251031" y="1514475"/>
            <a:ext cx="85725" cy="114300"/>
          </a:xfrm>
          <a:prstGeom prst="rect">
            <a:avLst/>
          </a:prstGeom>
          <a:noFill/>
          <a:ln>
            <a:noFill/>
          </a:ln>
        </p:spPr>
      </p:pic>
      <p:sp>
        <p:nvSpPr>
          <p:cNvPr id="597" name="Google Shape;597;p24"/>
          <p:cNvSpPr txBox="1"/>
          <p:nvPr/>
        </p:nvSpPr>
        <p:spPr>
          <a:xfrm>
            <a:off x="7167562" y="1908720"/>
            <a:ext cx="91440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2E8F0"/>
                </a:solidFill>
                <a:latin typeface="JetBrains Mono"/>
                <a:ea typeface="JetBrains Mono"/>
                <a:cs typeface="JetBrains Mono"/>
                <a:sym typeface="JetBrains Mono"/>
              </a:rPr>
              <a:t>Playbook: [Name]</a:t>
            </a:r>
            <a:endParaRPr/>
          </a:p>
        </p:txBody>
      </p:sp>
      <p:sp>
        <p:nvSpPr>
          <p:cNvPr id="598" name="Google Shape;598;p24"/>
          <p:cNvSpPr txBox="1"/>
          <p:nvPr/>
        </p:nvSpPr>
        <p:spPr>
          <a:xfrm>
            <a:off x="7167562" y="2184945"/>
            <a:ext cx="62865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Overview</a:t>
            </a:r>
            <a:endParaRPr/>
          </a:p>
        </p:txBody>
      </p:sp>
      <p:sp>
        <p:nvSpPr>
          <p:cNvPr id="599" name="Google Shape;599;p24"/>
          <p:cNvSpPr txBox="1"/>
          <p:nvPr/>
        </p:nvSpPr>
        <p:spPr>
          <a:xfrm>
            <a:off x="7167562" y="2599283"/>
            <a:ext cx="148590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What's Needed From User</a:t>
            </a:r>
            <a:endParaRPr/>
          </a:p>
        </p:txBody>
      </p:sp>
      <p:sp>
        <p:nvSpPr>
          <p:cNvPr id="600" name="Google Shape;600;p24"/>
          <p:cNvSpPr txBox="1"/>
          <p:nvPr/>
        </p:nvSpPr>
        <p:spPr>
          <a:xfrm>
            <a:off x="7167562" y="3013620"/>
            <a:ext cx="68580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Procedure</a:t>
            </a:r>
            <a:endParaRPr/>
          </a:p>
        </p:txBody>
      </p:sp>
      <p:sp>
        <p:nvSpPr>
          <p:cNvPr id="601" name="Google Shape;601;p24"/>
          <p:cNvSpPr txBox="1"/>
          <p:nvPr/>
        </p:nvSpPr>
        <p:spPr>
          <a:xfrm>
            <a:off x="7167562" y="3566070"/>
            <a:ext cx="97155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Specifications</a:t>
            </a:r>
            <a:endParaRPr/>
          </a:p>
        </p:txBody>
      </p:sp>
      <p:sp>
        <p:nvSpPr>
          <p:cNvPr id="602" name="Google Shape;602;p24"/>
          <p:cNvSpPr txBox="1"/>
          <p:nvPr/>
        </p:nvSpPr>
        <p:spPr>
          <a:xfrm>
            <a:off x="7167562" y="3980408"/>
            <a:ext cx="125730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Advice and Pointers</a:t>
            </a:r>
            <a:endParaRPr/>
          </a:p>
        </p:txBody>
      </p:sp>
      <p:sp>
        <p:nvSpPr>
          <p:cNvPr id="603" name="Google Shape;603;p24"/>
          <p:cNvSpPr txBox="1"/>
          <p:nvPr/>
        </p:nvSpPr>
        <p:spPr>
          <a:xfrm>
            <a:off x="7167562" y="4394745"/>
            <a:ext cx="1143000" cy="1238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F472B6"/>
                </a:solidFill>
                <a:latin typeface="JetBrains Mono"/>
                <a:ea typeface="JetBrains Mono"/>
                <a:cs typeface="JetBrains Mono"/>
                <a:sym typeface="JetBrains Mono"/>
              </a:rPr>
              <a:t>## Forbidden Actions</a:t>
            </a:r>
            <a:endParaRPr/>
          </a:p>
        </p:txBody>
      </p:sp>
      <p:sp>
        <p:nvSpPr>
          <p:cNvPr id="604" name="Google Shape;604;p24"/>
          <p:cNvSpPr txBox="1"/>
          <p:nvPr/>
        </p:nvSpPr>
        <p:spPr>
          <a:xfrm>
            <a:off x="571500" y="5701456"/>
            <a:ext cx="3050381"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605" name="Google Shape;605;p24"/>
          <p:cNvSpPr txBox="1"/>
          <p:nvPr/>
        </p:nvSpPr>
        <p:spPr>
          <a:xfrm>
            <a:off x="571500" y="5858619"/>
            <a:ext cx="3050381"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Org-wide sharing; version history; session conversion; Community Gallery</a:t>
            </a:r>
            <a:endParaRPr/>
          </a:p>
        </p:txBody>
      </p:sp>
      <p:sp>
        <p:nvSpPr>
          <p:cNvPr id="606" name="Google Shape;606;p24"/>
          <p:cNvSpPr txBox="1"/>
          <p:nvPr/>
        </p:nvSpPr>
        <p:spPr>
          <a:xfrm>
            <a:off x="3717131" y="5701456"/>
            <a:ext cx="3050381"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607" name="Google Shape;607;p24"/>
          <p:cNvSpPr txBox="1"/>
          <p:nvPr/>
        </p:nvSpPr>
        <p:spPr>
          <a:xfrm>
            <a:off x="3717131" y="5858619"/>
            <a:ext cx="3050381"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Requires prompt engineering skill; iterative trial and error necessary</a:t>
            </a:r>
            <a:endParaRPr/>
          </a:p>
        </p:txBody>
      </p:sp>
      <p:pic>
        <p:nvPicPr>
          <p:cNvPr descr="image.png" id="608" name="Google Shape;608;p24"/>
          <p:cNvPicPr preferRelativeResize="0"/>
          <p:nvPr/>
        </p:nvPicPr>
        <p:blipFill rotWithShape="1">
          <a:blip r:embed="rId7">
            <a:alphaModFix/>
          </a:blip>
          <a:srcRect b="0" l="0" r="0" t="0"/>
          <a:stretch/>
        </p:blipFill>
        <p:spPr>
          <a:xfrm>
            <a:off x="571500" y="2952750"/>
            <a:ext cx="57150" cy="95250"/>
          </a:xfrm>
          <a:prstGeom prst="rect">
            <a:avLst/>
          </a:prstGeom>
          <a:noFill/>
          <a:ln>
            <a:noFill/>
          </a:ln>
        </p:spPr>
      </p:pic>
      <p:pic>
        <p:nvPicPr>
          <p:cNvPr descr="image.png" id="609" name="Google Shape;609;p24"/>
          <p:cNvPicPr preferRelativeResize="0"/>
          <p:nvPr/>
        </p:nvPicPr>
        <p:blipFill rotWithShape="1">
          <a:blip r:embed="rId7">
            <a:alphaModFix/>
          </a:blip>
          <a:srcRect b="0" l="0" r="0" t="0"/>
          <a:stretch/>
        </p:blipFill>
        <p:spPr>
          <a:xfrm>
            <a:off x="571500" y="3402210"/>
            <a:ext cx="57150" cy="95250"/>
          </a:xfrm>
          <a:prstGeom prst="rect">
            <a:avLst/>
          </a:prstGeom>
          <a:noFill/>
          <a:ln>
            <a:noFill/>
          </a:ln>
        </p:spPr>
      </p:pic>
      <p:pic>
        <p:nvPicPr>
          <p:cNvPr descr="image.png" id="610" name="Google Shape;610;p24"/>
          <p:cNvPicPr preferRelativeResize="0"/>
          <p:nvPr/>
        </p:nvPicPr>
        <p:blipFill rotWithShape="1">
          <a:blip r:embed="rId7">
            <a:alphaModFix/>
          </a:blip>
          <a:srcRect b="0" l="0" r="0" t="0"/>
          <a:stretch/>
        </p:blipFill>
        <p:spPr>
          <a:xfrm>
            <a:off x="571500" y="3665041"/>
            <a:ext cx="57150" cy="95250"/>
          </a:xfrm>
          <a:prstGeom prst="rect">
            <a:avLst/>
          </a:prstGeom>
          <a:noFill/>
          <a:ln>
            <a:noFill/>
          </a:ln>
        </p:spPr>
      </p:pic>
      <p:pic>
        <p:nvPicPr>
          <p:cNvPr descr="image.png" id="611" name="Google Shape;611;p24"/>
          <p:cNvPicPr preferRelativeResize="0"/>
          <p:nvPr/>
        </p:nvPicPr>
        <p:blipFill rotWithShape="1">
          <a:blip r:embed="rId7">
            <a:alphaModFix/>
          </a:blip>
          <a:srcRect b="0" l="0" r="0" t="0"/>
          <a:stretch/>
        </p:blipFill>
        <p:spPr>
          <a:xfrm>
            <a:off x="571500" y="3927871"/>
            <a:ext cx="57150" cy="95250"/>
          </a:xfrm>
          <a:prstGeom prst="rect">
            <a:avLst/>
          </a:prstGeom>
          <a:noFill/>
          <a:ln>
            <a:noFill/>
          </a:ln>
        </p:spPr>
      </p:pic>
      <p:pic>
        <p:nvPicPr>
          <p:cNvPr descr="image.png" id="612" name="Google Shape;612;p24"/>
          <p:cNvPicPr preferRelativeResize="0"/>
          <p:nvPr/>
        </p:nvPicPr>
        <p:blipFill rotWithShape="1">
          <a:blip r:embed="rId7">
            <a:alphaModFix/>
          </a:blip>
          <a:srcRect b="0" l="0" r="0" t="0"/>
          <a:stretch/>
        </p:blipFill>
        <p:spPr>
          <a:xfrm>
            <a:off x="571500" y="4190702"/>
            <a:ext cx="57150" cy="95250"/>
          </a:xfrm>
          <a:prstGeom prst="rect">
            <a:avLst/>
          </a:prstGeom>
          <a:noFill/>
          <a:ln>
            <a:noFill/>
          </a:ln>
        </p:spPr>
      </p:pic>
      <p:pic>
        <p:nvPicPr>
          <p:cNvPr descr="image.png" id="613" name="Google Shape;613;p24"/>
          <p:cNvPicPr preferRelativeResize="0"/>
          <p:nvPr/>
        </p:nvPicPr>
        <p:blipFill rotWithShape="1">
          <a:blip r:embed="rId7">
            <a:alphaModFix/>
          </a:blip>
          <a:srcRect b="0" l="0" r="0" t="0"/>
          <a:stretch/>
        </p:blipFill>
        <p:spPr>
          <a:xfrm>
            <a:off x="571500" y="4640163"/>
            <a:ext cx="57150" cy="95250"/>
          </a:xfrm>
          <a:prstGeom prst="rect">
            <a:avLst/>
          </a:prstGeom>
          <a:noFill/>
          <a:ln>
            <a:noFill/>
          </a:ln>
        </p:spPr>
      </p:pic>
      <p:pic>
        <p:nvPicPr>
          <p:cNvPr descr="image.png" id="614" name="Google Shape;614;p24"/>
          <p:cNvPicPr preferRelativeResize="0"/>
          <p:nvPr/>
        </p:nvPicPr>
        <p:blipFill rotWithShape="1">
          <a:blip r:embed="rId8">
            <a:alphaModFix/>
          </a:blip>
          <a:srcRect b="0" l="0" r="0" t="0"/>
          <a:stretch/>
        </p:blipFill>
        <p:spPr>
          <a:xfrm>
            <a:off x="571500" y="6437858"/>
            <a:ext cx="95250" cy="95250"/>
          </a:xfrm>
          <a:prstGeom prst="rect">
            <a:avLst/>
          </a:prstGeom>
          <a:noFill/>
          <a:ln>
            <a:noFill/>
          </a:ln>
        </p:spPr>
      </p:pic>
      <p:pic>
        <p:nvPicPr>
          <p:cNvPr descr="image.png" id="615" name="Google Shape;615;p24"/>
          <p:cNvPicPr preferRelativeResize="0"/>
          <p:nvPr/>
        </p:nvPicPr>
        <p:blipFill rotWithShape="1">
          <a:blip r:embed="rId8">
            <a:alphaModFix/>
          </a:blip>
          <a:srcRect b="0" l="0" r="0" t="0"/>
          <a:stretch/>
        </p:blipFill>
        <p:spPr>
          <a:xfrm>
            <a:off x="571500" y="6700688"/>
            <a:ext cx="95250" cy="95250"/>
          </a:xfrm>
          <a:prstGeom prst="rect">
            <a:avLst/>
          </a:prstGeom>
          <a:noFill/>
          <a:ln>
            <a:noFill/>
          </a:ln>
        </p:spPr>
      </p:pic>
      <p:pic>
        <p:nvPicPr>
          <p:cNvPr descr="image.png" id="616" name="Google Shape;616;p24"/>
          <p:cNvPicPr preferRelativeResize="0"/>
          <p:nvPr/>
        </p:nvPicPr>
        <p:blipFill rotWithShape="1">
          <a:blip r:embed="rId8">
            <a:alphaModFix/>
          </a:blip>
          <a:srcRect b="0" l="0" r="0" t="0"/>
          <a:stretch/>
        </p:blipFill>
        <p:spPr>
          <a:xfrm>
            <a:off x="571500" y="6963519"/>
            <a:ext cx="95250" cy="95250"/>
          </a:xfrm>
          <a:prstGeom prst="rect">
            <a:avLst/>
          </a:prstGeom>
          <a:noFill/>
          <a:ln>
            <a:noFill/>
          </a:ln>
        </p:spPr>
      </p:pic>
      <p:pic>
        <p:nvPicPr>
          <p:cNvPr descr="image.png" id="617" name="Google Shape;617;p24"/>
          <p:cNvPicPr preferRelativeResize="0"/>
          <p:nvPr/>
        </p:nvPicPr>
        <p:blipFill rotWithShape="1">
          <a:blip r:embed="rId8">
            <a:alphaModFix/>
          </a:blip>
          <a:srcRect b="0" l="0" r="0" t="0"/>
          <a:stretch/>
        </p:blipFill>
        <p:spPr>
          <a:xfrm>
            <a:off x="571500" y="7226349"/>
            <a:ext cx="95250" cy="95250"/>
          </a:xfrm>
          <a:prstGeom prst="rect">
            <a:avLst/>
          </a:prstGeom>
          <a:noFill/>
          <a:ln>
            <a:noFill/>
          </a:ln>
        </p:spPr>
      </p:pic>
      <p:pic>
        <p:nvPicPr>
          <p:cNvPr descr="image.png" id="618" name="Google Shape;618;p24"/>
          <p:cNvPicPr preferRelativeResize="0"/>
          <p:nvPr/>
        </p:nvPicPr>
        <p:blipFill rotWithShape="1">
          <a:blip r:embed="rId8">
            <a:alphaModFix/>
          </a:blip>
          <a:srcRect b="0" l="0" r="0" t="0"/>
          <a:stretch/>
        </p:blipFill>
        <p:spPr>
          <a:xfrm>
            <a:off x="571500" y="7489180"/>
            <a:ext cx="95250" cy="95250"/>
          </a:xfrm>
          <a:prstGeom prst="rect">
            <a:avLst/>
          </a:prstGeom>
          <a:noFill/>
          <a:ln>
            <a:noFill/>
          </a:ln>
        </p:spPr>
      </p:pic>
      <p:pic>
        <p:nvPicPr>
          <p:cNvPr descr="image.png" id="619" name="Google Shape;619;p24"/>
          <p:cNvPicPr preferRelativeResize="0"/>
          <p:nvPr/>
        </p:nvPicPr>
        <p:blipFill rotWithShape="1">
          <a:blip r:embed="rId8">
            <a:alphaModFix/>
          </a:blip>
          <a:srcRect b="0" l="0" r="0" t="0"/>
          <a:stretch/>
        </p:blipFill>
        <p:spPr>
          <a:xfrm>
            <a:off x="571500" y="7752010"/>
            <a:ext cx="95250" cy="95250"/>
          </a:xfrm>
          <a:prstGeom prst="rect">
            <a:avLst/>
          </a:prstGeom>
          <a:noFill/>
          <a:ln>
            <a:noFill/>
          </a:ln>
        </p:spPr>
      </p:pic>
      <p:sp>
        <p:nvSpPr>
          <p:cNvPr id="620" name="Google Shape;620;p24"/>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Playbooks</a:t>
            </a:r>
            <a:endParaRPr/>
          </a:p>
        </p:txBody>
      </p:sp>
      <p:sp>
        <p:nvSpPr>
          <p:cNvPr id="621" name="Google Shape;621;p24"/>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pic>
        <p:nvPicPr>
          <p:cNvPr descr="image.png" id="626" name="Google Shape;626;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27" name="Google Shape;627;p25"/>
          <p:cNvPicPr preferRelativeResize="0"/>
          <p:nvPr/>
        </p:nvPicPr>
        <p:blipFill rotWithShape="1">
          <a:blip r:embed="rId4">
            <a:alphaModFix/>
          </a:blip>
          <a:srcRect b="0" l="0" r="0" t="0"/>
          <a:stretch/>
        </p:blipFill>
        <p:spPr>
          <a:xfrm>
            <a:off x="7005637" y="1792188"/>
            <a:ext cx="4567237" cy="2109192"/>
          </a:xfrm>
          <a:prstGeom prst="rect">
            <a:avLst/>
          </a:prstGeom>
          <a:noFill/>
          <a:ln>
            <a:noFill/>
          </a:ln>
        </p:spPr>
      </p:pic>
      <p:pic>
        <p:nvPicPr>
          <p:cNvPr descr="image.png" id="628" name="Google Shape;628;p25"/>
          <p:cNvPicPr preferRelativeResize="0"/>
          <p:nvPr/>
        </p:nvPicPr>
        <p:blipFill rotWithShape="1">
          <a:blip r:embed="rId5">
            <a:alphaModFix/>
          </a:blip>
          <a:srcRect b="0" l="0" r="0" t="0"/>
          <a:stretch/>
        </p:blipFill>
        <p:spPr>
          <a:xfrm>
            <a:off x="7005637" y="4186535"/>
            <a:ext cx="4567237" cy="1754981"/>
          </a:xfrm>
          <a:prstGeom prst="rect">
            <a:avLst/>
          </a:prstGeom>
          <a:noFill/>
          <a:ln>
            <a:noFill/>
          </a:ln>
        </p:spPr>
      </p:pic>
      <p:pic>
        <p:nvPicPr>
          <p:cNvPr descr="image.png" id="629" name="Google Shape;629;p25"/>
          <p:cNvPicPr preferRelativeResize="0"/>
          <p:nvPr/>
        </p:nvPicPr>
        <p:blipFill rotWithShape="1">
          <a:blip r:embed="rId6">
            <a:alphaModFix/>
          </a:blip>
          <a:srcRect b="0" l="0" r="0" t="0"/>
          <a:stretch/>
        </p:blipFill>
        <p:spPr>
          <a:xfrm>
            <a:off x="571500" y="466725"/>
            <a:ext cx="857250" cy="209550"/>
          </a:xfrm>
          <a:prstGeom prst="rect">
            <a:avLst/>
          </a:prstGeom>
          <a:noFill/>
          <a:ln>
            <a:noFill/>
          </a:ln>
        </p:spPr>
      </p:pic>
      <p:sp>
        <p:nvSpPr>
          <p:cNvPr id="630" name="Google Shape;630;p25"/>
          <p:cNvSpPr txBox="1"/>
          <p:nvPr/>
        </p:nvSpPr>
        <p:spPr>
          <a:xfrm>
            <a:off x="571500" y="1602283"/>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631" name="Google Shape;631;p25"/>
          <p:cNvSpPr txBox="1"/>
          <p:nvPr/>
        </p:nvSpPr>
        <p:spPr>
          <a:xfrm>
            <a:off x="571500" y="1759446"/>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Wire external events to Devin sessions automatically — no human trigger required.</a:t>
            </a:r>
            <a:endParaRPr/>
          </a:p>
        </p:txBody>
      </p:sp>
      <p:sp>
        <p:nvSpPr>
          <p:cNvPr id="632" name="Google Shape;632;p25"/>
          <p:cNvSpPr txBox="1"/>
          <p:nvPr/>
        </p:nvSpPr>
        <p:spPr>
          <a:xfrm>
            <a:off x="571500" y="2009923"/>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633" name="Google Shape;633;p25"/>
          <p:cNvSpPr txBox="1"/>
          <p:nvPr/>
        </p:nvSpPr>
        <p:spPr>
          <a:xfrm>
            <a:off x="571500" y="2167086"/>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highest-value use of Devin is when it operates without requiring an engineer to manually start it. Automations enable event-driven, always-on engineering workflows.</a:t>
            </a:r>
            <a:endParaRPr/>
          </a:p>
        </p:txBody>
      </p:sp>
      <p:sp>
        <p:nvSpPr>
          <p:cNvPr id="634" name="Google Shape;634;p25"/>
          <p:cNvSpPr txBox="1"/>
          <p:nvPr/>
        </p:nvSpPr>
        <p:spPr>
          <a:xfrm>
            <a:off x="571500" y="2610891"/>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635" name="Google Shape;635;p25"/>
          <p:cNvSpPr txBox="1"/>
          <p:nvPr/>
        </p:nvSpPr>
        <p:spPr>
          <a:xfrm>
            <a:off x="571500" y="2768054"/>
            <a:ext cx="6196012" cy="773310"/>
          </a:xfrm>
          <a:prstGeom prst="rect">
            <a:avLst/>
          </a:prstGeom>
          <a:noFill/>
          <a:ln>
            <a:noFill/>
          </a:ln>
        </p:spPr>
        <p:txBody>
          <a:bodyPr anchorCtr="0" anchor="t" bIns="0" lIns="0" spcFirstLastPara="1" rIns="0" wrap="square" tIns="0">
            <a:spAutoFit/>
          </a:bodyPr>
          <a:lstStyle/>
          <a:p>
            <a:pPr indent="0" lvl="0" marL="0" marR="0" rtl="0" algn="l">
              <a:lnSpc>
                <a:spcPct val="84555"/>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Automation has three parts:</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Trigger</a:t>
            </a:r>
            <a:r>
              <a:rPr b="0" i="0" lang="en-US" sz="1050" u="none" cap="none" strike="noStrike">
                <a:solidFill>
                  <a:srgbClr val="334155"/>
                </a:solidFill>
                <a:latin typeface="Plus Jakarta Sans"/>
                <a:ea typeface="Plus Jakarta Sans"/>
                <a:cs typeface="Plus Jakarta Sans"/>
                <a:sym typeface="Plus Jakarta Sans"/>
              </a:rPr>
              <a:t> — The event that fires it (Slack message, GitHub CI failure, Linear label, schedule, webhook)</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Conditions</a:t>
            </a:r>
            <a:r>
              <a:rPr b="0" i="0" lang="en-US" sz="1050" u="none" cap="none" strike="noStrike">
                <a:solidFill>
                  <a:srgbClr val="334155"/>
                </a:solidFill>
                <a:latin typeface="Plus Jakarta Sans"/>
                <a:ea typeface="Plus Jakarta Sans"/>
                <a:cs typeface="Plus Jakarta Sans"/>
                <a:sym typeface="Plus Jakarta Sans"/>
              </a:rPr>
              <a:t> — Optional filters (only fire for `bug` label, only for a specific repo)</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Action</a:t>
            </a:r>
            <a:r>
              <a:rPr b="0" i="0" lang="en-US" sz="1050" u="none" cap="none" strike="noStrike">
                <a:solidFill>
                  <a:srgbClr val="334155"/>
                </a:solidFill>
                <a:latin typeface="Plus Jakarta Sans"/>
                <a:ea typeface="Plus Jakarta Sans"/>
                <a:cs typeface="Plus Jakarta Sans"/>
                <a:sym typeface="Plus Jakarta Sans"/>
              </a:rPr>
              <a:t> — What Devin does (start session, message session, triage monitor, email notification)</a:t>
            </a:r>
            <a:endParaRPr/>
          </a:p>
        </p:txBody>
      </p:sp>
      <p:sp>
        <p:nvSpPr>
          <p:cNvPr id="636" name="Google Shape;636;p25"/>
          <p:cNvSpPr txBox="1"/>
          <p:nvPr/>
        </p:nvSpPr>
        <p:spPr>
          <a:xfrm>
            <a:off x="571500" y="3598515"/>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637" name="Google Shape;637;p25"/>
          <p:cNvSpPr txBox="1"/>
          <p:nvPr/>
        </p:nvSpPr>
        <p:spPr>
          <a:xfrm>
            <a:off x="571500" y="3755677"/>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GitHub CI check fails. An Automation fires. Devin boots, reads the failure log, fixes the code, runs tests, and pushes a fix to the same branch — all without any engineer being paged.</a:t>
            </a:r>
            <a:endParaRPr/>
          </a:p>
        </p:txBody>
      </p:sp>
      <p:sp>
        <p:nvSpPr>
          <p:cNvPr id="638" name="Google Shape;638;p25"/>
          <p:cNvSpPr txBox="1"/>
          <p:nvPr/>
        </p:nvSpPr>
        <p:spPr>
          <a:xfrm>
            <a:off x="571500" y="4544913"/>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639" name="Google Shape;639;p25"/>
          <p:cNvSpPr txBox="1"/>
          <p:nvPr/>
        </p:nvSpPr>
        <p:spPr>
          <a:xfrm>
            <a:off x="7005637" y="1602283"/>
            <a:ext cx="4567237" cy="151804"/>
          </a:xfrm>
          <a:prstGeom prst="rect">
            <a:avLst/>
          </a:prstGeom>
          <a:noFill/>
          <a:ln>
            <a:noFill/>
          </a:ln>
        </p:spPr>
        <p:txBody>
          <a:bodyPr anchorCtr="0" anchor="t" bIns="0" lIns="952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TRIGGER SOURCES</a:t>
            </a:r>
            <a:endParaRPr/>
          </a:p>
        </p:txBody>
      </p:sp>
      <p:sp>
        <p:nvSpPr>
          <p:cNvPr id="640" name="Google Shape;640;p25"/>
          <p:cNvSpPr txBox="1"/>
          <p:nvPr/>
        </p:nvSpPr>
        <p:spPr>
          <a:xfrm>
            <a:off x="7005637" y="3996630"/>
            <a:ext cx="4567237" cy="151804"/>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ACTION TYPES</a:t>
            </a:r>
            <a:endParaRPr/>
          </a:p>
        </p:txBody>
      </p:sp>
      <p:sp>
        <p:nvSpPr>
          <p:cNvPr id="641" name="Google Shape;641;p25"/>
          <p:cNvSpPr txBox="1"/>
          <p:nvPr/>
        </p:nvSpPr>
        <p:spPr>
          <a:xfrm>
            <a:off x="800100" y="470207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Start with high-value, low-risk automations (CI fix, issue triage) before production workflows</a:t>
            </a:r>
            <a:endParaRPr/>
          </a:p>
        </p:txBody>
      </p:sp>
      <p:sp>
        <p:nvSpPr>
          <p:cNvPr id="642" name="Google Shape;642;p25"/>
          <p:cNvSpPr txBox="1"/>
          <p:nvPr/>
        </p:nvSpPr>
        <p:spPr>
          <a:xfrm>
            <a:off x="800100" y="496490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conditions to narrow triggers — avoid firing on every event</a:t>
            </a:r>
            <a:endParaRPr/>
          </a:p>
        </p:txBody>
      </p:sp>
      <p:sp>
        <p:nvSpPr>
          <p:cNvPr id="643" name="Google Shape;643;p25"/>
          <p:cNvSpPr txBox="1"/>
          <p:nvPr/>
        </p:nvSpPr>
        <p:spPr>
          <a:xfrm>
            <a:off x="800100" y="522773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automated sessions to control cost</a:t>
            </a:r>
            <a:endParaRPr/>
          </a:p>
        </p:txBody>
      </p:sp>
      <p:sp>
        <p:nvSpPr>
          <p:cNvPr id="644" name="Google Shape;644;p25"/>
          <p:cNvSpPr txBox="1"/>
          <p:nvPr/>
        </p:nvSpPr>
        <p:spPr>
          <a:xfrm>
            <a:off x="800100" y="549056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Triage Devin action for high-volume Slack channels (e.g., `#customer-bugs`)</a:t>
            </a:r>
            <a:endParaRPr/>
          </a:p>
        </p:txBody>
      </p:sp>
      <p:pic>
        <p:nvPicPr>
          <p:cNvPr descr="image.png" id="645" name="Google Shape;645;p25"/>
          <p:cNvPicPr preferRelativeResize="0"/>
          <p:nvPr/>
        </p:nvPicPr>
        <p:blipFill rotWithShape="1">
          <a:blip r:embed="rId7">
            <a:alphaModFix/>
          </a:blip>
          <a:srcRect b="0" l="0" r="0" t="0"/>
          <a:stretch/>
        </p:blipFill>
        <p:spPr>
          <a:xfrm>
            <a:off x="8732043" y="1630858"/>
            <a:ext cx="95250" cy="104775"/>
          </a:xfrm>
          <a:prstGeom prst="rect">
            <a:avLst/>
          </a:prstGeom>
          <a:noFill/>
          <a:ln>
            <a:noFill/>
          </a:ln>
        </p:spPr>
      </p:pic>
      <p:graphicFrame>
        <p:nvGraphicFramePr>
          <p:cNvPr id="646" name="Google Shape;646;p25"/>
          <p:cNvGraphicFramePr/>
          <p:nvPr/>
        </p:nvGraphicFramePr>
        <p:xfrm>
          <a:off x="7015162" y="1801713"/>
          <a:ext cx="3000000" cy="3000000"/>
        </p:xfrm>
        <a:graphic>
          <a:graphicData uri="http://schemas.openxmlformats.org/drawingml/2006/table">
            <a:tbl>
              <a:tblPr bandRow="1" firstRow="1">
                <a:noFill/>
                <a:tableStyleId>{4082E842-8FCA-41A0-AF41-31C70471DD3A}</a:tableStyleId>
              </a:tblPr>
              <a:tblGrid>
                <a:gridCol w="883750"/>
                <a:gridCol w="1866900"/>
                <a:gridCol w="1797550"/>
              </a:tblGrid>
              <a:tr h="3483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Event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Example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Slack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Message, Emoji Reaction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Triage bugs in `#incidents`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GitHub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Comment, PR, CI Fail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Auto-fix failing checks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Linear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Issue Label / Status Change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Implement assigned task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Schedule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Cron or One-time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Daily dependency audit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Webhook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Incoming HTTP POST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Datadog/Sentry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647" name="Google Shape;647;p25"/>
          <p:cNvPicPr preferRelativeResize="0"/>
          <p:nvPr/>
        </p:nvPicPr>
        <p:blipFill rotWithShape="1">
          <a:blip r:embed="rId8">
            <a:alphaModFix/>
          </a:blip>
          <a:srcRect b="0" l="0" r="0" t="0"/>
          <a:stretch/>
        </p:blipFill>
        <p:spPr>
          <a:xfrm>
            <a:off x="8832056" y="4025205"/>
            <a:ext cx="133350" cy="104775"/>
          </a:xfrm>
          <a:prstGeom prst="rect">
            <a:avLst/>
          </a:prstGeom>
          <a:noFill/>
          <a:ln>
            <a:noFill/>
          </a:ln>
        </p:spPr>
      </p:pic>
      <p:graphicFrame>
        <p:nvGraphicFramePr>
          <p:cNvPr id="648" name="Google Shape;648;p25"/>
          <p:cNvGraphicFramePr/>
          <p:nvPr/>
        </p:nvGraphicFramePr>
        <p:xfrm>
          <a:off x="7015162" y="4196060"/>
          <a:ext cx="3000000" cy="3000000"/>
        </p:xfrm>
        <a:graphic>
          <a:graphicData uri="http://schemas.openxmlformats.org/drawingml/2006/table">
            <a:tbl>
              <a:tblPr bandRow="1" firstRow="1">
                <a:noFill/>
                <a:tableStyleId>{4082E842-8FCA-41A0-AF41-31C70471DD3A}</a:tableStyleId>
              </a:tblPr>
              <a:tblGrid>
                <a:gridCol w="1519975"/>
                <a:gridCol w="3028200"/>
              </a:tblGrid>
              <a:tr h="34717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Start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Creates new session with event context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Message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input data to running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Triage Devin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Watches channel, spawns sub-sessions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Email notify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run, success, or fail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49" name="Google Shape;649;p25"/>
          <p:cNvSpPr txBox="1"/>
          <p:nvPr/>
        </p:nvSpPr>
        <p:spPr>
          <a:xfrm>
            <a:off x="571500" y="4199483"/>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650" name="Google Shape;650;p25"/>
          <p:cNvSpPr txBox="1"/>
          <p:nvPr/>
        </p:nvSpPr>
        <p:spPr>
          <a:xfrm>
            <a:off x="571500" y="4349650"/>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Fully event-driven; multi-triggers; natural prompts; templates</a:t>
            </a:r>
            <a:endParaRPr/>
          </a:p>
        </p:txBody>
      </p:sp>
      <p:sp>
        <p:nvSpPr>
          <p:cNvPr id="651" name="Google Shape;651;p25"/>
          <p:cNvSpPr txBox="1"/>
          <p:nvPr/>
        </p:nvSpPr>
        <p:spPr>
          <a:xfrm>
            <a:off x="3707606" y="4199483"/>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652" name="Google Shape;652;p25"/>
          <p:cNvSpPr txBox="1"/>
          <p:nvPr/>
        </p:nvSpPr>
        <p:spPr>
          <a:xfrm>
            <a:off x="3707606" y="4349650"/>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VCS private repos restriction; Slack channel joins required</a:t>
            </a:r>
            <a:endParaRPr/>
          </a:p>
        </p:txBody>
      </p:sp>
      <p:sp>
        <p:nvSpPr>
          <p:cNvPr id="653" name="Google Shape;653;p25"/>
          <p:cNvSpPr/>
          <p:nvPr/>
        </p:nvSpPr>
        <p:spPr>
          <a:xfrm>
            <a:off x="7015162" y="2116038"/>
            <a:ext cx="8837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25"/>
          <p:cNvSpPr/>
          <p:nvPr/>
        </p:nvSpPr>
        <p:spPr>
          <a:xfrm>
            <a:off x="7898903" y="2116038"/>
            <a:ext cx="18669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5" name="Google Shape;655;p25"/>
          <p:cNvSpPr/>
          <p:nvPr/>
        </p:nvSpPr>
        <p:spPr>
          <a:xfrm>
            <a:off x="9765803" y="2116038"/>
            <a:ext cx="17975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25"/>
          <p:cNvSpPr/>
          <p:nvPr/>
        </p:nvSpPr>
        <p:spPr>
          <a:xfrm>
            <a:off x="7015162" y="4510385"/>
            <a:ext cx="151998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7" name="Google Shape;657;p25"/>
          <p:cNvSpPr/>
          <p:nvPr/>
        </p:nvSpPr>
        <p:spPr>
          <a:xfrm>
            <a:off x="8535144" y="4510385"/>
            <a:ext cx="3028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58" name="Google Shape;658;p25"/>
          <p:cNvPicPr preferRelativeResize="0"/>
          <p:nvPr/>
        </p:nvPicPr>
        <p:blipFill rotWithShape="1">
          <a:blip r:embed="rId9">
            <a:alphaModFix/>
          </a:blip>
          <a:srcRect b="0" l="0" r="0" t="0"/>
          <a:stretch/>
        </p:blipFill>
        <p:spPr>
          <a:xfrm>
            <a:off x="571500" y="4730650"/>
            <a:ext cx="85725" cy="85725"/>
          </a:xfrm>
          <a:prstGeom prst="rect">
            <a:avLst/>
          </a:prstGeom>
          <a:noFill/>
          <a:ln>
            <a:noFill/>
          </a:ln>
        </p:spPr>
      </p:pic>
      <p:pic>
        <p:nvPicPr>
          <p:cNvPr descr="image.png" id="659" name="Google Shape;659;p25"/>
          <p:cNvPicPr preferRelativeResize="0"/>
          <p:nvPr/>
        </p:nvPicPr>
        <p:blipFill rotWithShape="1">
          <a:blip r:embed="rId9">
            <a:alphaModFix/>
          </a:blip>
          <a:srcRect b="0" l="0" r="0" t="0"/>
          <a:stretch/>
        </p:blipFill>
        <p:spPr>
          <a:xfrm>
            <a:off x="571500" y="4993481"/>
            <a:ext cx="85725" cy="85725"/>
          </a:xfrm>
          <a:prstGeom prst="rect">
            <a:avLst/>
          </a:prstGeom>
          <a:noFill/>
          <a:ln>
            <a:noFill/>
          </a:ln>
        </p:spPr>
      </p:pic>
      <p:pic>
        <p:nvPicPr>
          <p:cNvPr descr="image.png" id="660" name="Google Shape;660;p25"/>
          <p:cNvPicPr preferRelativeResize="0"/>
          <p:nvPr/>
        </p:nvPicPr>
        <p:blipFill rotWithShape="1">
          <a:blip r:embed="rId9">
            <a:alphaModFix/>
          </a:blip>
          <a:srcRect b="0" l="0" r="0" t="0"/>
          <a:stretch/>
        </p:blipFill>
        <p:spPr>
          <a:xfrm>
            <a:off x="571500" y="5256311"/>
            <a:ext cx="85725" cy="85725"/>
          </a:xfrm>
          <a:prstGeom prst="rect">
            <a:avLst/>
          </a:prstGeom>
          <a:noFill/>
          <a:ln>
            <a:noFill/>
          </a:ln>
        </p:spPr>
      </p:pic>
      <p:pic>
        <p:nvPicPr>
          <p:cNvPr descr="image.png" id="661" name="Google Shape;661;p25"/>
          <p:cNvPicPr preferRelativeResize="0"/>
          <p:nvPr/>
        </p:nvPicPr>
        <p:blipFill rotWithShape="1">
          <a:blip r:embed="rId9">
            <a:alphaModFix/>
          </a:blip>
          <a:srcRect b="0" l="0" r="0" t="0"/>
          <a:stretch/>
        </p:blipFill>
        <p:spPr>
          <a:xfrm>
            <a:off x="571500" y="5519142"/>
            <a:ext cx="85725" cy="85725"/>
          </a:xfrm>
          <a:prstGeom prst="rect">
            <a:avLst/>
          </a:prstGeom>
          <a:noFill/>
          <a:ln>
            <a:noFill/>
          </a:ln>
        </p:spPr>
      </p:pic>
      <p:sp>
        <p:nvSpPr>
          <p:cNvPr id="662" name="Google Shape;662;p25"/>
          <p:cNvSpPr/>
          <p:nvPr/>
        </p:nvSpPr>
        <p:spPr>
          <a:xfrm>
            <a:off x="7015162" y="2470249"/>
            <a:ext cx="8837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3" name="Google Shape;663;p25"/>
          <p:cNvSpPr/>
          <p:nvPr/>
        </p:nvSpPr>
        <p:spPr>
          <a:xfrm>
            <a:off x="7898903" y="2470249"/>
            <a:ext cx="18669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25"/>
          <p:cNvSpPr/>
          <p:nvPr/>
        </p:nvSpPr>
        <p:spPr>
          <a:xfrm>
            <a:off x="9765803" y="2470249"/>
            <a:ext cx="17975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5" name="Google Shape;665;p25"/>
          <p:cNvSpPr/>
          <p:nvPr/>
        </p:nvSpPr>
        <p:spPr>
          <a:xfrm>
            <a:off x="7015162" y="2824460"/>
            <a:ext cx="8837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25"/>
          <p:cNvSpPr/>
          <p:nvPr/>
        </p:nvSpPr>
        <p:spPr>
          <a:xfrm>
            <a:off x="7898903" y="2824460"/>
            <a:ext cx="18669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7" name="Google Shape;667;p25"/>
          <p:cNvSpPr/>
          <p:nvPr/>
        </p:nvSpPr>
        <p:spPr>
          <a:xfrm>
            <a:off x="9765803" y="2824460"/>
            <a:ext cx="17975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25"/>
          <p:cNvSpPr/>
          <p:nvPr/>
        </p:nvSpPr>
        <p:spPr>
          <a:xfrm>
            <a:off x="7015162" y="3178671"/>
            <a:ext cx="8837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9" name="Google Shape;669;p25"/>
          <p:cNvSpPr/>
          <p:nvPr/>
        </p:nvSpPr>
        <p:spPr>
          <a:xfrm>
            <a:off x="7898903" y="3178671"/>
            <a:ext cx="18669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25"/>
          <p:cNvSpPr/>
          <p:nvPr/>
        </p:nvSpPr>
        <p:spPr>
          <a:xfrm>
            <a:off x="9765803" y="3178671"/>
            <a:ext cx="17975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1" name="Google Shape;671;p25"/>
          <p:cNvSpPr/>
          <p:nvPr/>
        </p:nvSpPr>
        <p:spPr>
          <a:xfrm>
            <a:off x="7015162" y="3532882"/>
            <a:ext cx="8837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25"/>
          <p:cNvSpPr/>
          <p:nvPr/>
        </p:nvSpPr>
        <p:spPr>
          <a:xfrm>
            <a:off x="7898903" y="3532882"/>
            <a:ext cx="18669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p25"/>
          <p:cNvSpPr/>
          <p:nvPr/>
        </p:nvSpPr>
        <p:spPr>
          <a:xfrm>
            <a:off x="9765803" y="3532882"/>
            <a:ext cx="17975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25"/>
          <p:cNvSpPr/>
          <p:nvPr/>
        </p:nvSpPr>
        <p:spPr>
          <a:xfrm>
            <a:off x="7015162" y="4864596"/>
            <a:ext cx="151998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5" name="Google Shape;675;p25"/>
          <p:cNvSpPr/>
          <p:nvPr/>
        </p:nvSpPr>
        <p:spPr>
          <a:xfrm>
            <a:off x="8535144" y="4864596"/>
            <a:ext cx="3028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25"/>
          <p:cNvSpPr/>
          <p:nvPr/>
        </p:nvSpPr>
        <p:spPr>
          <a:xfrm>
            <a:off x="7015162" y="5218807"/>
            <a:ext cx="151998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7" name="Google Shape;677;p25"/>
          <p:cNvSpPr/>
          <p:nvPr/>
        </p:nvSpPr>
        <p:spPr>
          <a:xfrm>
            <a:off x="8535144" y="5218807"/>
            <a:ext cx="3028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25"/>
          <p:cNvSpPr/>
          <p:nvPr/>
        </p:nvSpPr>
        <p:spPr>
          <a:xfrm>
            <a:off x="7015162" y="5573017"/>
            <a:ext cx="151998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9" name="Google Shape;679;p25"/>
          <p:cNvSpPr/>
          <p:nvPr/>
        </p:nvSpPr>
        <p:spPr>
          <a:xfrm>
            <a:off x="8535144" y="5573017"/>
            <a:ext cx="3028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25"/>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Automations</a:t>
            </a:r>
            <a:endParaRPr/>
          </a:p>
        </p:txBody>
      </p:sp>
      <p:sp>
        <p:nvSpPr>
          <p:cNvPr id="681" name="Google Shape;681;p25"/>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pic>
        <p:nvPicPr>
          <p:cNvPr descr="image.png" id="686" name="Google Shape;686;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87" name="Google Shape;687;p26"/>
          <p:cNvPicPr preferRelativeResize="0"/>
          <p:nvPr/>
        </p:nvPicPr>
        <p:blipFill rotWithShape="1">
          <a:blip r:embed="rId4">
            <a:alphaModFix/>
          </a:blip>
          <a:srcRect b="0" l="0" r="0" t="0"/>
          <a:stretch/>
        </p:blipFill>
        <p:spPr>
          <a:xfrm>
            <a:off x="7005637" y="1694854"/>
            <a:ext cx="4567237" cy="268337"/>
          </a:xfrm>
          <a:prstGeom prst="rect">
            <a:avLst/>
          </a:prstGeom>
          <a:noFill/>
          <a:ln>
            <a:noFill/>
          </a:ln>
        </p:spPr>
      </p:pic>
      <p:pic>
        <p:nvPicPr>
          <p:cNvPr descr="image.png" id="688" name="Google Shape;688;p26"/>
          <p:cNvPicPr preferRelativeResize="0"/>
          <p:nvPr/>
        </p:nvPicPr>
        <p:blipFill rotWithShape="1">
          <a:blip r:embed="rId5">
            <a:alphaModFix/>
          </a:blip>
          <a:srcRect b="0" l="0" r="0" t="0"/>
          <a:stretch/>
        </p:blipFill>
        <p:spPr>
          <a:xfrm>
            <a:off x="7005637" y="2010816"/>
            <a:ext cx="4567237" cy="268337"/>
          </a:xfrm>
          <a:prstGeom prst="rect">
            <a:avLst/>
          </a:prstGeom>
          <a:noFill/>
          <a:ln>
            <a:noFill/>
          </a:ln>
        </p:spPr>
      </p:pic>
      <p:pic>
        <p:nvPicPr>
          <p:cNvPr descr="image.png" id="689" name="Google Shape;689;p26"/>
          <p:cNvPicPr preferRelativeResize="0"/>
          <p:nvPr/>
        </p:nvPicPr>
        <p:blipFill rotWithShape="1">
          <a:blip r:embed="rId6">
            <a:alphaModFix/>
          </a:blip>
          <a:srcRect b="0" l="0" r="0" t="0"/>
          <a:stretch/>
        </p:blipFill>
        <p:spPr>
          <a:xfrm>
            <a:off x="7005637" y="2326778"/>
            <a:ext cx="4567237" cy="268337"/>
          </a:xfrm>
          <a:prstGeom prst="rect">
            <a:avLst/>
          </a:prstGeom>
          <a:noFill/>
          <a:ln>
            <a:noFill/>
          </a:ln>
        </p:spPr>
      </p:pic>
      <p:pic>
        <p:nvPicPr>
          <p:cNvPr descr="image.png" id="690" name="Google Shape;690;p26"/>
          <p:cNvPicPr preferRelativeResize="0"/>
          <p:nvPr/>
        </p:nvPicPr>
        <p:blipFill rotWithShape="1">
          <a:blip r:embed="rId7">
            <a:alphaModFix/>
          </a:blip>
          <a:srcRect b="0" l="0" r="0" t="0"/>
          <a:stretch/>
        </p:blipFill>
        <p:spPr>
          <a:xfrm>
            <a:off x="7005637" y="2642741"/>
            <a:ext cx="4567237" cy="268337"/>
          </a:xfrm>
          <a:prstGeom prst="rect">
            <a:avLst/>
          </a:prstGeom>
          <a:noFill/>
          <a:ln>
            <a:noFill/>
          </a:ln>
        </p:spPr>
      </p:pic>
      <p:pic>
        <p:nvPicPr>
          <p:cNvPr descr="image.png" id="691" name="Google Shape;691;p26"/>
          <p:cNvPicPr preferRelativeResize="0"/>
          <p:nvPr/>
        </p:nvPicPr>
        <p:blipFill rotWithShape="1">
          <a:blip r:embed="rId8">
            <a:alphaModFix/>
          </a:blip>
          <a:srcRect b="0" l="0" r="0" t="0"/>
          <a:stretch/>
        </p:blipFill>
        <p:spPr>
          <a:xfrm>
            <a:off x="7005637" y="2958703"/>
            <a:ext cx="4567237" cy="268337"/>
          </a:xfrm>
          <a:prstGeom prst="rect">
            <a:avLst/>
          </a:prstGeom>
          <a:noFill/>
          <a:ln>
            <a:noFill/>
          </a:ln>
        </p:spPr>
      </p:pic>
      <p:pic>
        <p:nvPicPr>
          <p:cNvPr descr="image.png" id="692" name="Google Shape;692;p26"/>
          <p:cNvPicPr preferRelativeResize="0"/>
          <p:nvPr/>
        </p:nvPicPr>
        <p:blipFill rotWithShape="1">
          <a:blip r:embed="rId8">
            <a:alphaModFix/>
          </a:blip>
          <a:srcRect b="0" l="0" r="0" t="0"/>
          <a:stretch/>
        </p:blipFill>
        <p:spPr>
          <a:xfrm>
            <a:off x="7005637" y="3274665"/>
            <a:ext cx="4567237" cy="268337"/>
          </a:xfrm>
          <a:prstGeom prst="rect">
            <a:avLst/>
          </a:prstGeom>
          <a:noFill/>
          <a:ln>
            <a:noFill/>
          </a:ln>
        </p:spPr>
      </p:pic>
      <p:pic>
        <p:nvPicPr>
          <p:cNvPr descr="image.png" id="693" name="Google Shape;693;p26"/>
          <p:cNvPicPr preferRelativeResize="0"/>
          <p:nvPr/>
        </p:nvPicPr>
        <p:blipFill rotWithShape="1">
          <a:blip r:embed="rId9">
            <a:alphaModFix/>
          </a:blip>
          <a:srcRect b="0" l="0" r="0" t="0"/>
          <a:stretch/>
        </p:blipFill>
        <p:spPr>
          <a:xfrm>
            <a:off x="571500" y="466725"/>
            <a:ext cx="857250" cy="209550"/>
          </a:xfrm>
          <a:prstGeom prst="rect">
            <a:avLst/>
          </a:prstGeom>
          <a:noFill/>
          <a:ln>
            <a:noFill/>
          </a:ln>
        </p:spPr>
      </p:pic>
      <p:sp>
        <p:nvSpPr>
          <p:cNvPr id="694" name="Google Shape;694;p26"/>
          <p:cNvSpPr txBox="1"/>
          <p:nvPr/>
        </p:nvSpPr>
        <p:spPr>
          <a:xfrm>
            <a:off x="571500" y="1485900"/>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695" name="Google Shape;695;p26"/>
          <p:cNvSpPr txBox="1"/>
          <p:nvPr/>
        </p:nvSpPr>
        <p:spPr>
          <a:xfrm>
            <a:off x="571500" y="1643062"/>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Devin with a pre-configured, reproducible workspace for every session.</a:t>
            </a:r>
            <a:endParaRPr/>
          </a:p>
        </p:txBody>
      </p:sp>
      <p:sp>
        <p:nvSpPr>
          <p:cNvPr id="696" name="Google Shape;696;p26"/>
          <p:cNvSpPr txBox="1"/>
          <p:nvPr/>
        </p:nvSpPr>
        <p:spPr>
          <a:xfrm>
            <a:off x="571500" y="1893540"/>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697" name="Google Shape;697;p26"/>
          <p:cNvSpPr txBox="1"/>
          <p:nvPr/>
        </p:nvSpPr>
        <p:spPr>
          <a:xfrm>
            <a:off x="571500" y="2050702"/>
            <a:ext cx="6196012" cy="77331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Without a properly configured environment, Devin cannot build, test, or verify its work. The environment is the equivalent of a developer's laptop — it must be set up correctly before productive work can begin. This is documented as </a:t>
            </a:r>
            <a:r>
              <a:rPr b="1" i="0" lang="en-US" sz="1050" u="none" cap="none" strike="noStrike">
                <a:solidFill>
                  <a:srgbClr val="334155"/>
                </a:solidFill>
                <a:latin typeface="Plus Jakarta Sans"/>
                <a:ea typeface="Plus Jakarta Sans"/>
                <a:cs typeface="Plus Jakarta Sans"/>
                <a:sym typeface="Plus Jakarta Sans"/>
              </a:rPr>
              <a:t>"the single highest-leverage thing you can do to improve Devin's effectiveness."</a:t>
            </a:r>
            <a:endParaRPr/>
          </a:p>
        </p:txBody>
      </p:sp>
      <p:sp>
        <p:nvSpPr>
          <p:cNvPr id="698" name="Google Shape;698;p26"/>
          <p:cNvSpPr txBox="1"/>
          <p:nvPr/>
        </p:nvSpPr>
        <p:spPr>
          <a:xfrm>
            <a:off x="571500" y="2881163"/>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699" name="Google Shape;699;p26"/>
          <p:cNvSpPr txBox="1"/>
          <p:nvPr/>
        </p:nvSpPr>
        <p:spPr>
          <a:xfrm>
            <a:off x="571500" y="4539108"/>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700" name="Google Shape;700;p26"/>
          <p:cNvSpPr txBox="1"/>
          <p:nvPr/>
        </p:nvSpPr>
        <p:spPr>
          <a:xfrm>
            <a:off x="571500" y="4696271"/>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enterprise standardizes Python 3.12, Node 20, and internal security scanning tools in the Enterprise Blueprint. Every team's environment inherits this baseline. Teams add their own registry configuration at the Org level. Individual repos add project-specific setup at the Repo level.</a:t>
            </a:r>
            <a:endParaRPr/>
          </a:p>
        </p:txBody>
      </p:sp>
      <p:sp>
        <p:nvSpPr>
          <p:cNvPr id="701" name="Google Shape;701;p26"/>
          <p:cNvSpPr txBox="1"/>
          <p:nvPr/>
        </p:nvSpPr>
        <p:spPr>
          <a:xfrm>
            <a:off x="7005637" y="1485900"/>
            <a:ext cx="4567237" cy="151804"/>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SETUP STEPS (CLASSIC WIZARD)</a:t>
            </a:r>
            <a:endParaRPr/>
          </a:p>
        </p:txBody>
      </p:sp>
      <p:sp>
        <p:nvSpPr>
          <p:cNvPr id="702" name="Google Shape;702;p26"/>
          <p:cNvSpPr txBox="1"/>
          <p:nvPr/>
        </p:nvSpPr>
        <p:spPr>
          <a:xfrm>
            <a:off x="7005637" y="3657302"/>
            <a:ext cx="4567237"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703" name="Google Shape;703;p26"/>
          <p:cNvSpPr txBox="1"/>
          <p:nvPr/>
        </p:nvSpPr>
        <p:spPr>
          <a:xfrm>
            <a:off x="800100" y="303832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operates inside a </a:t>
            </a:r>
            <a:r>
              <a:rPr b="1" i="0" lang="en-US" sz="1050" u="none" cap="none" strike="noStrike">
                <a:solidFill>
                  <a:srgbClr val="334155"/>
                </a:solidFill>
                <a:latin typeface="Plus Jakarta Sans"/>
                <a:ea typeface="Plus Jakarta Sans"/>
                <a:cs typeface="Plus Jakarta Sans"/>
                <a:sym typeface="Plus Jakarta Sans"/>
              </a:rPr>
              <a:t>Linux-based VM (Ubuntu 22.04 x86_64)</a:t>
            </a:r>
            <a:endParaRPr/>
          </a:p>
        </p:txBody>
      </p:sp>
      <p:sp>
        <p:nvSpPr>
          <p:cNvPr id="704" name="Google Shape;704;p26"/>
          <p:cNvSpPr txBox="1"/>
          <p:nvPr/>
        </p:nvSpPr>
        <p:spPr>
          <a:xfrm>
            <a:off x="800100" y="3301156"/>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environment is saved as a </a:t>
            </a:r>
            <a:r>
              <a:rPr b="1" i="0" lang="en-US" sz="1050" u="none" cap="none" strike="noStrike">
                <a:solidFill>
                  <a:srgbClr val="334155"/>
                </a:solidFill>
                <a:latin typeface="Plus Jakarta Sans"/>
                <a:ea typeface="Plus Jakarta Sans"/>
                <a:cs typeface="Plus Jakarta Sans"/>
                <a:sym typeface="Plus Jakarta Sans"/>
              </a:rPr>
              <a:t>snapshot</a:t>
            </a:r>
            <a:r>
              <a:rPr b="0" i="0" lang="en-US" sz="1050" u="none" cap="none" strike="noStrike">
                <a:solidFill>
                  <a:srgbClr val="334155"/>
                </a:solidFill>
                <a:latin typeface="Plus Jakarta Sans"/>
                <a:ea typeface="Plus Jakarta Sans"/>
                <a:cs typeface="Plus Jakarta Sans"/>
                <a:sym typeface="Plus Jakarta Sans"/>
              </a:rPr>
              <a:t> — a frozen, bootable image</a:t>
            </a:r>
            <a:endParaRPr/>
          </a:p>
        </p:txBody>
      </p:sp>
      <p:sp>
        <p:nvSpPr>
          <p:cNvPr id="705" name="Google Shape;705;p26"/>
          <p:cNvSpPr txBox="1"/>
          <p:nvPr/>
        </p:nvSpPr>
        <p:spPr>
          <a:xfrm>
            <a:off x="800100" y="356398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session boots from the same snapshot; session changes do not persist back</a:t>
            </a:r>
            <a:endParaRPr/>
          </a:p>
        </p:txBody>
      </p:sp>
      <p:sp>
        <p:nvSpPr>
          <p:cNvPr id="706" name="Google Shape;706;p26"/>
          <p:cNvSpPr txBox="1"/>
          <p:nvPr/>
        </p:nvSpPr>
        <p:spPr>
          <a:xfrm>
            <a:off x="800100" y="382681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Configuration is defined via </a:t>
            </a:r>
            <a:r>
              <a:rPr b="1" i="0" lang="en-US" sz="1050" u="none" cap="none" strike="noStrike">
                <a:solidFill>
                  <a:srgbClr val="334155"/>
                </a:solidFill>
                <a:latin typeface="Plus Jakarta Sans"/>
                <a:ea typeface="Plus Jakarta Sans"/>
                <a:cs typeface="Plus Jakarta Sans"/>
                <a:sym typeface="Plus Jakarta Sans"/>
              </a:rPr>
              <a:t>declarative blueprints</a:t>
            </a:r>
            <a:r>
              <a:rPr b="0" i="0" lang="en-US" sz="1050" u="none" cap="none" strike="noStrike">
                <a:solidFill>
                  <a:srgbClr val="334155"/>
                </a:solidFill>
                <a:latin typeface="Plus Jakarta Sans"/>
                <a:ea typeface="Plus Jakarta Sans"/>
                <a:cs typeface="Plus Jakarta Sans"/>
                <a:sym typeface="Plus Jakarta Sans"/>
              </a:rPr>
              <a:t> (YAML) or an interactive wizard</a:t>
            </a:r>
            <a:endParaRPr/>
          </a:p>
        </p:txBody>
      </p:sp>
      <p:sp>
        <p:nvSpPr>
          <p:cNvPr id="707" name="Google Shape;707;p26"/>
          <p:cNvSpPr txBox="1"/>
          <p:nvPr/>
        </p:nvSpPr>
        <p:spPr>
          <a:xfrm>
            <a:off x="800100" y="4089648"/>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a:t>
            </a:r>
            <a:r>
              <a:rPr b="1" i="0" lang="en-US" sz="1050" u="none" cap="none" strike="noStrike">
                <a:solidFill>
                  <a:srgbClr val="334155"/>
                </a:solidFill>
                <a:latin typeface="Plus Jakarta Sans"/>
                <a:ea typeface="Plus Jakarta Sans"/>
                <a:cs typeface="Plus Jakarta Sans"/>
                <a:sym typeface="Plus Jakarta Sans"/>
              </a:rPr>
              <a:t>blueprint hierarchy</a:t>
            </a:r>
            <a:r>
              <a:rPr b="0" i="0" lang="en-US" sz="1050" u="none" cap="none" strike="noStrike">
                <a:solidFill>
                  <a:srgbClr val="334155"/>
                </a:solidFill>
                <a:latin typeface="Plus Jakarta Sans"/>
                <a:ea typeface="Plus Jakarta Sans"/>
                <a:cs typeface="Plus Jakarta Sans"/>
                <a:sym typeface="Plus Jakarta Sans"/>
              </a:rPr>
              <a:t> is three-tiered: Enterprise → Organization → Repository (additive, not replacing)</a:t>
            </a:r>
            <a:endParaRPr/>
          </a:p>
        </p:txBody>
      </p:sp>
      <p:pic>
        <p:nvPicPr>
          <p:cNvPr descr="image.png" id="708" name="Google Shape;708;p26"/>
          <p:cNvPicPr preferRelativeResize="0"/>
          <p:nvPr/>
        </p:nvPicPr>
        <p:blipFill rotWithShape="1">
          <a:blip r:embed="rId10">
            <a:alphaModFix/>
          </a:blip>
          <a:srcRect b="0" l="0" r="0" t="0"/>
          <a:stretch/>
        </p:blipFill>
        <p:spPr>
          <a:xfrm>
            <a:off x="8379618" y="1514475"/>
            <a:ext cx="133350" cy="104775"/>
          </a:xfrm>
          <a:prstGeom prst="rect">
            <a:avLst/>
          </a:prstGeom>
          <a:noFill/>
          <a:ln>
            <a:noFill/>
          </a:ln>
        </p:spPr>
      </p:pic>
      <p:sp>
        <p:nvSpPr>
          <p:cNvPr id="709" name="Google Shape;709;p26"/>
          <p:cNvSpPr txBox="1"/>
          <p:nvPr/>
        </p:nvSpPr>
        <p:spPr>
          <a:xfrm>
            <a:off x="7234237" y="3814464"/>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Invest in environment setup before anything else — it is the highest-leverage action</a:t>
            </a:r>
            <a:endParaRPr/>
          </a:p>
        </p:txBody>
      </p:sp>
      <p:sp>
        <p:nvSpPr>
          <p:cNvPr id="710" name="Google Shape;710;p26"/>
          <p:cNvSpPr txBox="1"/>
          <p:nvPr/>
        </p:nvSpPr>
        <p:spPr>
          <a:xfrm>
            <a:off x="7234237" y="426392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declarative blueprints (YAML) for version control and reproducibility</a:t>
            </a:r>
            <a:endParaRPr/>
          </a:p>
        </p:txBody>
      </p:sp>
      <p:sp>
        <p:nvSpPr>
          <p:cNvPr id="711" name="Google Shape;711;p26"/>
          <p:cNvSpPr txBox="1"/>
          <p:nvPr/>
        </p:nvSpPr>
        <p:spPr>
          <a:xfrm>
            <a:off x="7234237" y="4713386"/>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Enterprise Blueprint for company-wide toolchain standardization</a:t>
            </a:r>
            <a:endParaRPr/>
          </a:p>
        </p:txBody>
      </p:sp>
      <p:sp>
        <p:nvSpPr>
          <p:cNvPr id="712" name="Google Shape;712;p26"/>
          <p:cNvSpPr txBox="1"/>
          <p:nvPr/>
        </p:nvSpPr>
        <p:spPr>
          <a:xfrm>
            <a:off x="7234237" y="516284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Store secrets in the Secrets dashboard, not in blueprints</a:t>
            </a:r>
            <a:endParaRPr/>
          </a:p>
        </p:txBody>
      </p:sp>
      <p:sp>
        <p:nvSpPr>
          <p:cNvPr id="713" name="Google Shape;713;p26"/>
          <p:cNvSpPr txBox="1"/>
          <p:nvPr/>
        </p:nvSpPr>
        <p:spPr>
          <a:xfrm>
            <a:off x="7234237" y="542567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`direnv` for per-repo environment variable management</a:t>
            </a:r>
            <a:endParaRPr/>
          </a:p>
        </p:txBody>
      </p:sp>
      <p:sp>
        <p:nvSpPr>
          <p:cNvPr id="714" name="Google Shape;714;p26"/>
          <p:cNvSpPr txBox="1"/>
          <p:nvPr/>
        </p:nvSpPr>
        <p:spPr>
          <a:xfrm>
            <a:off x="7234237" y="5688508"/>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Maintain snapshot version history — roll back if a setup change breaks things</a:t>
            </a:r>
            <a:endParaRPr/>
          </a:p>
        </p:txBody>
      </p:sp>
      <p:sp>
        <p:nvSpPr>
          <p:cNvPr id="715" name="Google Shape;715;p26"/>
          <p:cNvSpPr txBox="1"/>
          <p:nvPr/>
        </p:nvSpPr>
        <p:spPr>
          <a:xfrm>
            <a:off x="571500" y="5333404"/>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716" name="Google Shape;716;p26"/>
          <p:cNvSpPr txBox="1"/>
          <p:nvPr/>
        </p:nvSpPr>
        <p:spPr>
          <a:xfrm>
            <a:off x="571500" y="5483572"/>
            <a:ext cx="3059906" cy="2762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Reproducible; YAML blueprints; custom enterprise hierarchy; snapshot version history rollbacks</a:t>
            </a:r>
            <a:endParaRPr/>
          </a:p>
        </p:txBody>
      </p:sp>
      <p:sp>
        <p:nvSpPr>
          <p:cNvPr id="717" name="Google Shape;717;p26"/>
          <p:cNvSpPr txBox="1"/>
          <p:nvPr/>
        </p:nvSpPr>
        <p:spPr>
          <a:xfrm>
            <a:off x="3707606" y="5333404"/>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718" name="Google Shape;718;p26"/>
          <p:cNvSpPr txBox="1"/>
          <p:nvPr/>
        </p:nvSpPr>
        <p:spPr>
          <a:xfrm>
            <a:off x="3707606" y="5483572"/>
            <a:ext cx="3059906" cy="27622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One active snapshot per organization; environment change requires rebuild</a:t>
            </a:r>
            <a:endParaRPr/>
          </a:p>
        </p:txBody>
      </p:sp>
      <p:sp>
        <p:nvSpPr>
          <p:cNvPr id="719" name="Google Shape;719;p26"/>
          <p:cNvSpPr txBox="1"/>
          <p:nvPr/>
        </p:nvSpPr>
        <p:spPr>
          <a:xfrm>
            <a:off x="7129462" y="1764655"/>
            <a:ext cx="57150" cy="128587"/>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1</a:t>
            </a:r>
            <a:endParaRPr/>
          </a:p>
        </p:txBody>
      </p:sp>
      <p:sp>
        <p:nvSpPr>
          <p:cNvPr id="720" name="Google Shape;720;p26"/>
          <p:cNvSpPr txBox="1"/>
          <p:nvPr/>
        </p:nvSpPr>
        <p:spPr>
          <a:xfrm>
            <a:off x="7262812" y="1761529"/>
            <a:ext cx="1143000" cy="134987"/>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Git Pull (Session Startup)</a:t>
            </a:r>
            <a:endParaRPr/>
          </a:p>
        </p:txBody>
      </p:sp>
      <p:sp>
        <p:nvSpPr>
          <p:cNvPr id="721" name="Google Shape;721;p26"/>
          <p:cNvSpPr txBox="1"/>
          <p:nvPr/>
        </p:nvSpPr>
        <p:spPr>
          <a:xfrm>
            <a:off x="7129462" y="2080617"/>
            <a:ext cx="57150" cy="128587"/>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2</a:t>
            </a:r>
            <a:endParaRPr/>
          </a:p>
        </p:txBody>
      </p:sp>
      <p:sp>
        <p:nvSpPr>
          <p:cNvPr id="722" name="Google Shape;722;p26"/>
          <p:cNvSpPr txBox="1"/>
          <p:nvPr/>
        </p:nvSpPr>
        <p:spPr>
          <a:xfrm>
            <a:off x="7262812" y="2077491"/>
            <a:ext cx="857250" cy="134987"/>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Configure Secrets</a:t>
            </a:r>
            <a:endParaRPr/>
          </a:p>
        </p:txBody>
      </p:sp>
      <p:sp>
        <p:nvSpPr>
          <p:cNvPr id="723" name="Google Shape;723;p26"/>
          <p:cNvSpPr txBox="1"/>
          <p:nvPr/>
        </p:nvSpPr>
        <p:spPr>
          <a:xfrm>
            <a:off x="7129462" y="2396579"/>
            <a:ext cx="57150" cy="128587"/>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3</a:t>
            </a:r>
            <a:endParaRPr/>
          </a:p>
        </p:txBody>
      </p:sp>
      <p:sp>
        <p:nvSpPr>
          <p:cNvPr id="724" name="Google Shape;724;p26"/>
          <p:cNvSpPr txBox="1"/>
          <p:nvPr/>
        </p:nvSpPr>
        <p:spPr>
          <a:xfrm>
            <a:off x="7262812" y="2393453"/>
            <a:ext cx="1933575" cy="134987"/>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Install Dependencies (Once, during setup)</a:t>
            </a:r>
            <a:endParaRPr/>
          </a:p>
        </p:txBody>
      </p:sp>
      <p:sp>
        <p:nvSpPr>
          <p:cNvPr id="725" name="Google Shape;725;p26"/>
          <p:cNvSpPr txBox="1"/>
          <p:nvPr/>
        </p:nvSpPr>
        <p:spPr>
          <a:xfrm>
            <a:off x="7129462" y="2712541"/>
            <a:ext cx="57150" cy="128587"/>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4</a:t>
            </a:r>
            <a:endParaRPr/>
          </a:p>
        </p:txBody>
      </p:sp>
      <p:sp>
        <p:nvSpPr>
          <p:cNvPr id="726" name="Google Shape;726;p26"/>
          <p:cNvSpPr txBox="1"/>
          <p:nvPr/>
        </p:nvSpPr>
        <p:spPr>
          <a:xfrm>
            <a:off x="7262812" y="2709416"/>
            <a:ext cx="2057400" cy="134987"/>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Maintain Dependencies (Session startup run)</a:t>
            </a:r>
            <a:endParaRPr/>
          </a:p>
        </p:txBody>
      </p:sp>
      <p:sp>
        <p:nvSpPr>
          <p:cNvPr id="727" name="Google Shape;727;p26"/>
          <p:cNvSpPr txBox="1"/>
          <p:nvPr/>
        </p:nvSpPr>
        <p:spPr>
          <a:xfrm>
            <a:off x="7129462" y="3028503"/>
            <a:ext cx="57150" cy="128587"/>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5</a:t>
            </a:r>
            <a:endParaRPr/>
          </a:p>
        </p:txBody>
      </p:sp>
      <p:sp>
        <p:nvSpPr>
          <p:cNvPr id="728" name="Google Shape;728;p26"/>
          <p:cNvSpPr txBox="1"/>
          <p:nvPr/>
        </p:nvSpPr>
        <p:spPr>
          <a:xfrm>
            <a:off x="7262812" y="3025378"/>
            <a:ext cx="1123950" cy="134987"/>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Set up Lint &amp; Verify tests</a:t>
            </a:r>
            <a:endParaRPr/>
          </a:p>
        </p:txBody>
      </p:sp>
      <p:sp>
        <p:nvSpPr>
          <p:cNvPr id="729" name="Google Shape;729;p26"/>
          <p:cNvSpPr txBox="1"/>
          <p:nvPr/>
        </p:nvSpPr>
        <p:spPr>
          <a:xfrm>
            <a:off x="7129462" y="3344465"/>
            <a:ext cx="57150" cy="128587"/>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6</a:t>
            </a:r>
            <a:endParaRPr/>
          </a:p>
        </p:txBody>
      </p:sp>
      <p:sp>
        <p:nvSpPr>
          <p:cNvPr id="730" name="Google Shape;730;p26"/>
          <p:cNvSpPr txBox="1"/>
          <p:nvPr/>
        </p:nvSpPr>
        <p:spPr>
          <a:xfrm>
            <a:off x="7262812" y="3341340"/>
            <a:ext cx="1333500" cy="134987"/>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Run Local App &amp; Verify Ports</a:t>
            </a:r>
            <a:endParaRPr/>
          </a:p>
        </p:txBody>
      </p:sp>
      <p:pic>
        <p:nvPicPr>
          <p:cNvPr descr="image.png" id="731" name="Google Shape;731;p26"/>
          <p:cNvPicPr preferRelativeResize="0"/>
          <p:nvPr/>
        </p:nvPicPr>
        <p:blipFill rotWithShape="1">
          <a:blip r:embed="rId11">
            <a:alphaModFix/>
          </a:blip>
          <a:srcRect b="0" l="0" r="0" t="0"/>
          <a:stretch/>
        </p:blipFill>
        <p:spPr>
          <a:xfrm>
            <a:off x="571500" y="3066901"/>
            <a:ext cx="57150" cy="85725"/>
          </a:xfrm>
          <a:prstGeom prst="rect">
            <a:avLst/>
          </a:prstGeom>
          <a:noFill/>
          <a:ln>
            <a:noFill/>
          </a:ln>
        </p:spPr>
      </p:pic>
      <p:pic>
        <p:nvPicPr>
          <p:cNvPr descr="image.png" id="732" name="Google Shape;732;p26"/>
          <p:cNvPicPr preferRelativeResize="0"/>
          <p:nvPr/>
        </p:nvPicPr>
        <p:blipFill rotWithShape="1">
          <a:blip r:embed="rId11">
            <a:alphaModFix/>
          </a:blip>
          <a:srcRect b="0" l="0" r="0" t="0"/>
          <a:stretch/>
        </p:blipFill>
        <p:spPr>
          <a:xfrm>
            <a:off x="571500" y="3329731"/>
            <a:ext cx="57150" cy="85725"/>
          </a:xfrm>
          <a:prstGeom prst="rect">
            <a:avLst/>
          </a:prstGeom>
          <a:noFill/>
          <a:ln>
            <a:noFill/>
          </a:ln>
        </p:spPr>
      </p:pic>
      <p:pic>
        <p:nvPicPr>
          <p:cNvPr descr="image.png" id="733" name="Google Shape;733;p26"/>
          <p:cNvPicPr preferRelativeResize="0"/>
          <p:nvPr/>
        </p:nvPicPr>
        <p:blipFill rotWithShape="1">
          <a:blip r:embed="rId11">
            <a:alphaModFix/>
          </a:blip>
          <a:srcRect b="0" l="0" r="0" t="0"/>
          <a:stretch/>
        </p:blipFill>
        <p:spPr>
          <a:xfrm>
            <a:off x="571500" y="3592562"/>
            <a:ext cx="57150" cy="85725"/>
          </a:xfrm>
          <a:prstGeom prst="rect">
            <a:avLst/>
          </a:prstGeom>
          <a:noFill/>
          <a:ln>
            <a:noFill/>
          </a:ln>
        </p:spPr>
      </p:pic>
      <p:pic>
        <p:nvPicPr>
          <p:cNvPr descr="image.png" id="734" name="Google Shape;734;p26"/>
          <p:cNvPicPr preferRelativeResize="0"/>
          <p:nvPr/>
        </p:nvPicPr>
        <p:blipFill rotWithShape="1">
          <a:blip r:embed="rId11">
            <a:alphaModFix/>
          </a:blip>
          <a:srcRect b="0" l="0" r="0" t="0"/>
          <a:stretch/>
        </p:blipFill>
        <p:spPr>
          <a:xfrm>
            <a:off x="571500" y="3855392"/>
            <a:ext cx="57150" cy="85725"/>
          </a:xfrm>
          <a:prstGeom prst="rect">
            <a:avLst/>
          </a:prstGeom>
          <a:noFill/>
          <a:ln>
            <a:noFill/>
          </a:ln>
        </p:spPr>
      </p:pic>
      <p:pic>
        <p:nvPicPr>
          <p:cNvPr descr="image.png" id="735" name="Google Shape;735;p26"/>
          <p:cNvPicPr preferRelativeResize="0"/>
          <p:nvPr/>
        </p:nvPicPr>
        <p:blipFill rotWithShape="1">
          <a:blip r:embed="rId11">
            <a:alphaModFix/>
          </a:blip>
          <a:srcRect b="0" l="0" r="0" t="0"/>
          <a:stretch/>
        </p:blipFill>
        <p:spPr>
          <a:xfrm>
            <a:off x="571500" y="4118223"/>
            <a:ext cx="57150" cy="85725"/>
          </a:xfrm>
          <a:prstGeom prst="rect">
            <a:avLst/>
          </a:prstGeom>
          <a:noFill/>
          <a:ln>
            <a:noFill/>
          </a:ln>
        </p:spPr>
      </p:pic>
      <p:pic>
        <p:nvPicPr>
          <p:cNvPr descr="image.png" id="736" name="Google Shape;736;p26"/>
          <p:cNvPicPr preferRelativeResize="0"/>
          <p:nvPr/>
        </p:nvPicPr>
        <p:blipFill rotWithShape="1">
          <a:blip r:embed="rId12">
            <a:alphaModFix/>
          </a:blip>
          <a:srcRect b="0" l="0" r="0" t="0"/>
          <a:stretch/>
        </p:blipFill>
        <p:spPr>
          <a:xfrm>
            <a:off x="7005637" y="3843039"/>
            <a:ext cx="85725" cy="85725"/>
          </a:xfrm>
          <a:prstGeom prst="rect">
            <a:avLst/>
          </a:prstGeom>
          <a:noFill/>
          <a:ln>
            <a:noFill/>
          </a:ln>
        </p:spPr>
      </p:pic>
      <p:pic>
        <p:nvPicPr>
          <p:cNvPr descr="image.png" id="737" name="Google Shape;737;p26"/>
          <p:cNvPicPr preferRelativeResize="0"/>
          <p:nvPr/>
        </p:nvPicPr>
        <p:blipFill rotWithShape="1">
          <a:blip r:embed="rId12">
            <a:alphaModFix/>
          </a:blip>
          <a:srcRect b="0" l="0" r="0" t="0"/>
          <a:stretch/>
        </p:blipFill>
        <p:spPr>
          <a:xfrm>
            <a:off x="7005637" y="4292500"/>
            <a:ext cx="85725" cy="85725"/>
          </a:xfrm>
          <a:prstGeom prst="rect">
            <a:avLst/>
          </a:prstGeom>
          <a:noFill/>
          <a:ln>
            <a:noFill/>
          </a:ln>
        </p:spPr>
      </p:pic>
      <p:pic>
        <p:nvPicPr>
          <p:cNvPr descr="image.png" id="738" name="Google Shape;738;p26"/>
          <p:cNvPicPr preferRelativeResize="0"/>
          <p:nvPr/>
        </p:nvPicPr>
        <p:blipFill rotWithShape="1">
          <a:blip r:embed="rId12">
            <a:alphaModFix/>
          </a:blip>
          <a:srcRect b="0" l="0" r="0" t="0"/>
          <a:stretch/>
        </p:blipFill>
        <p:spPr>
          <a:xfrm>
            <a:off x="7005637" y="4741961"/>
            <a:ext cx="85725" cy="85725"/>
          </a:xfrm>
          <a:prstGeom prst="rect">
            <a:avLst/>
          </a:prstGeom>
          <a:noFill/>
          <a:ln>
            <a:noFill/>
          </a:ln>
        </p:spPr>
      </p:pic>
      <p:pic>
        <p:nvPicPr>
          <p:cNvPr descr="image.png" id="739" name="Google Shape;739;p26"/>
          <p:cNvPicPr preferRelativeResize="0"/>
          <p:nvPr/>
        </p:nvPicPr>
        <p:blipFill rotWithShape="1">
          <a:blip r:embed="rId12">
            <a:alphaModFix/>
          </a:blip>
          <a:srcRect b="0" l="0" r="0" t="0"/>
          <a:stretch/>
        </p:blipFill>
        <p:spPr>
          <a:xfrm>
            <a:off x="7005637" y="5191422"/>
            <a:ext cx="85725" cy="85725"/>
          </a:xfrm>
          <a:prstGeom prst="rect">
            <a:avLst/>
          </a:prstGeom>
          <a:noFill/>
          <a:ln>
            <a:noFill/>
          </a:ln>
        </p:spPr>
      </p:pic>
      <p:pic>
        <p:nvPicPr>
          <p:cNvPr descr="image.png" id="740" name="Google Shape;740;p26"/>
          <p:cNvPicPr preferRelativeResize="0"/>
          <p:nvPr/>
        </p:nvPicPr>
        <p:blipFill rotWithShape="1">
          <a:blip r:embed="rId12">
            <a:alphaModFix/>
          </a:blip>
          <a:srcRect b="0" l="0" r="0" t="0"/>
          <a:stretch/>
        </p:blipFill>
        <p:spPr>
          <a:xfrm>
            <a:off x="7005637" y="5454253"/>
            <a:ext cx="85725" cy="85725"/>
          </a:xfrm>
          <a:prstGeom prst="rect">
            <a:avLst/>
          </a:prstGeom>
          <a:noFill/>
          <a:ln>
            <a:noFill/>
          </a:ln>
        </p:spPr>
      </p:pic>
      <p:pic>
        <p:nvPicPr>
          <p:cNvPr descr="image.png" id="741" name="Google Shape;741;p26"/>
          <p:cNvPicPr preferRelativeResize="0"/>
          <p:nvPr/>
        </p:nvPicPr>
        <p:blipFill rotWithShape="1">
          <a:blip r:embed="rId12">
            <a:alphaModFix/>
          </a:blip>
          <a:srcRect b="0" l="0" r="0" t="0"/>
          <a:stretch/>
        </p:blipFill>
        <p:spPr>
          <a:xfrm>
            <a:off x="7005637" y="5717083"/>
            <a:ext cx="85725" cy="85725"/>
          </a:xfrm>
          <a:prstGeom prst="rect">
            <a:avLst/>
          </a:prstGeom>
          <a:noFill/>
          <a:ln>
            <a:noFill/>
          </a:ln>
        </p:spPr>
      </p:pic>
      <p:sp>
        <p:nvSpPr>
          <p:cNvPr id="742" name="Google Shape;742;p26"/>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Environment &amp; Snapshots Setup</a:t>
            </a:r>
            <a:endParaRPr/>
          </a:p>
        </p:txBody>
      </p:sp>
      <p:sp>
        <p:nvSpPr>
          <p:cNvPr id="743" name="Google Shape;743;p26"/>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7" name="Shape 747"/>
        <p:cNvGrpSpPr/>
        <p:nvPr/>
      </p:nvGrpSpPr>
      <p:grpSpPr>
        <a:xfrm>
          <a:off x="0" y="0"/>
          <a:ext cx="0" cy="0"/>
          <a:chOff x="0" y="0"/>
          <a:chExt cx="0" cy="0"/>
        </a:xfrm>
      </p:grpSpPr>
      <p:pic>
        <p:nvPicPr>
          <p:cNvPr descr="image.png" id="748" name="Google Shape;748;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49" name="Google Shape;749;p27"/>
          <p:cNvPicPr preferRelativeResize="0"/>
          <p:nvPr/>
        </p:nvPicPr>
        <p:blipFill rotWithShape="1">
          <a:blip r:embed="rId4">
            <a:alphaModFix/>
          </a:blip>
          <a:srcRect b="0" l="0" r="0" t="0"/>
          <a:stretch/>
        </p:blipFill>
        <p:spPr>
          <a:xfrm>
            <a:off x="571500" y="466725"/>
            <a:ext cx="857250" cy="209550"/>
          </a:xfrm>
          <a:prstGeom prst="rect">
            <a:avLst/>
          </a:prstGeom>
          <a:noFill/>
          <a:ln>
            <a:noFill/>
          </a:ln>
        </p:spPr>
      </p:pic>
      <p:sp>
        <p:nvSpPr>
          <p:cNvPr id="750" name="Google Shape;750;p27"/>
          <p:cNvSpPr txBox="1"/>
          <p:nvPr/>
        </p:nvSpPr>
        <p:spPr>
          <a:xfrm>
            <a:off x="571500" y="1762869"/>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751" name="Google Shape;751;p27"/>
          <p:cNvSpPr txBox="1"/>
          <p:nvPr/>
        </p:nvSpPr>
        <p:spPr>
          <a:xfrm>
            <a:off x="571500" y="1933723"/>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full-service, codebase-aware code review platform for PRs.</a:t>
            </a:r>
            <a:endParaRPr/>
          </a:p>
        </p:txBody>
      </p:sp>
      <p:sp>
        <p:nvSpPr>
          <p:cNvPr id="752" name="Google Shape;752;p27"/>
          <p:cNvSpPr txBox="1"/>
          <p:nvPr/>
        </p:nvSpPr>
        <p:spPr>
          <a:xfrm>
            <a:off x="571500" y="220325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753" name="Google Shape;753;p27"/>
          <p:cNvSpPr txBox="1"/>
          <p:nvPr/>
        </p:nvSpPr>
        <p:spPr>
          <a:xfrm>
            <a:off x="571500" y="2374106"/>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As AI agents generate more code, the bottleneck shifts from writing to reviewing. Devin Review turns large, complex PRs into organized, analyzed, actionable reviews.</a:t>
            </a:r>
            <a:endParaRPr/>
          </a:p>
        </p:txBody>
      </p:sp>
      <p:sp>
        <p:nvSpPr>
          <p:cNvPr id="754" name="Google Shape;754;p27"/>
          <p:cNvSpPr txBox="1"/>
          <p:nvPr/>
        </p:nvSpPr>
        <p:spPr>
          <a:xfrm>
            <a:off x="571500" y="283696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755" name="Google Shape;755;p27"/>
          <p:cNvSpPr txBox="1"/>
          <p:nvPr/>
        </p:nvSpPr>
        <p:spPr>
          <a:xfrm>
            <a:off x="7005637" y="1762869"/>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ENTERPRISE GOVERNANCE:</a:t>
            </a:r>
            <a:endParaRPr/>
          </a:p>
        </p:txBody>
      </p:sp>
      <p:sp>
        <p:nvSpPr>
          <p:cNvPr id="756" name="Google Shape;756;p27"/>
          <p:cNvSpPr txBox="1"/>
          <p:nvPr/>
        </p:nvSpPr>
        <p:spPr>
          <a:xfrm>
            <a:off x="7005637" y="3377356"/>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757" name="Google Shape;757;p27"/>
          <p:cNvSpPr txBox="1"/>
          <p:nvPr/>
        </p:nvSpPr>
        <p:spPr>
          <a:xfrm>
            <a:off x="800100" y="3007816"/>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Review is accessible at `app.devin.ai/review` or by replacing `github.com` with `devinreview.com` in any PR URL</a:t>
            </a:r>
            <a:endParaRPr/>
          </a:p>
        </p:txBody>
      </p:sp>
      <p:sp>
        <p:nvSpPr>
          <p:cNvPr id="758" name="Google Shape;758;p27"/>
          <p:cNvSpPr txBox="1"/>
          <p:nvPr/>
        </p:nvSpPr>
        <p:spPr>
          <a:xfrm>
            <a:off x="800100" y="3457277"/>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provides: smart diff organization, copy/move detection, bug catching, security scanning, codebase-aware chat, and PR workflow actions</a:t>
            </a:r>
            <a:endParaRPr/>
          </a:p>
        </p:txBody>
      </p:sp>
      <p:sp>
        <p:nvSpPr>
          <p:cNvPr id="759" name="Google Shape;759;p27"/>
          <p:cNvSpPr txBox="1"/>
          <p:nvPr/>
        </p:nvSpPr>
        <p:spPr>
          <a:xfrm>
            <a:off x="800100" y="390673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Bug Catcher</a:t>
            </a:r>
            <a:r>
              <a:rPr b="0" i="0" lang="en-US" sz="1050" u="none" cap="none" strike="noStrike">
                <a:solidFill>
                  <a:srgbClr val="334155"/>
                </a:solidFill>
                <a:latin typeface="Plus Jakarta Sans"/>
                <a:ea typeface="Plus Jakarta Sans"/>
                <a:cs typeface="Plus Jakarta Sans"/>
                <a:sym typeface="Plus Jakarta Sans"/>
              </a:rPr>
              <a:t> classifies findings as Bugs (actionable errors) or Flags (investigate/informational)</a:t>
            </a:r>
            <a:endParaRPr/>
          </a:p>
        </p:txBody>
      </p:sp>
      <p:sp>
        <p:nvSpPr>
          <p:cNvPr id="760" name="Google Shape;760;p27"/>
          <p:cNvSpPr txBox="1"/>
          <p:nvPr/>
        </p:nvSpPr>
        <p:spPr>
          <a:xfrm>
            <a:off x="800100" y="4169568"/>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Security Scanner</a:t>
            </a:r>
            <a:r>
              <a:rPr b="0" i="0" lang="en-US" sz="1050" u="none" cap="none" strike="noStrike">
                <a:solidFill>
                  <a:srgbClr val="334155"/>
                </a:solidFill>
                <a:latin typeface="Plus Jakarta Sans"/>
                <a:ea typeface="Plus Jakarta Sans"/>
                <a:cs typeface="Plus Jakarta Sans"/>
                <a:sym typeface="Plus Jakarta Sans"/>
              </a:rPr>
              <a:t> checks for injection, auth flaws, secrets exposure, SSRF, insecure deserialization, weak cryptography, and more — with CWE classification</a:t>
            </a:r>
            <a:endParaRPr/>
          </a:p>
        </p:txBody>
      </p:sp>
      <p:sp>
        <p:nvSpPr>
          <p:cNvPr id="761" name="Google Shape;761;p27"/>
          <p:cNvSpPr txBox="1"/>
          <p:nvPr/>
        </p:nvSpPr>
        <p:spPr>
          <a:xfrm>
            <a:off x="800100" y="4619029"/>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Auto-Review</a:t>
            </a:r>
            <a:r>
              <a:rPr b="0" i="0" lang="en-US" sz="1050" u="none" cap="none" strike="noStrike">
                <a:solidFill>
                  <a:srgbClr val="334155"/>
                </a:solidFill>
                <a:latin typeface="Plus Jakarta Sans"/>
                <a:ea typeface="Plus Jakarta Sans"/>
                <a:cs typeface="Plus Jakarta Sans"/>
                <a:sym typeface="Plus Jakarta Sans"/>
              </a:rPr>
              <a:t> can trigger automatically on PR open, new commits, draft-to-ready, or reviewer assignment</a:t>
            </a:r>
            <a:endParaRPr/>
          </a:p>
        </p:txBody>
      </p:sp>
      <p:sp>
        <p:nvSpPr>
          <p:cNvPr id="762" name="Google Shape;762;p27"/>
          <p:cNvSpPr txBox="1"/>
          <p:nvPr/>
        </p:nvSpPr>
        <p:spPr>
          <a:xfrm>
            <a:off x="800100" y="5068490"/>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Code changes from chat</a:t>
            </a:r>
            <a:r>
              <a:rPr b="0" i="0" lang="en-US" sz="1050" u="none" cap="none" strike="noStrike">
                <a:solidFill>
                  <a:srgbClr val="334155"/>
                </a:solidFill>
                <a:latin typeface="Plus Jakarta Sans"/>
                <a:ea typeface="Plus Jakarta Sans"/>
                <a:cs typeface="Plus Jakarta Sans"/>
                <a:sym typeface="Plus Jakarta Sans"/>
              </a:rPr>
              <a:t> — ask the review agent to make edits; apply as a commit without leaving the page</a:t>
            </a:r>
            <a:endParaRPr/>
          </a:p>
        </p:txBody>
      </p:sp>
      <p:sp>
        <p:nvSpPr>
          <p:cNvPr id="763" name="Google Shape;763;p27"/>
          <p:cNvSpPr txBox="1"/>
          <p:nvPr/>
        </p:nvSpPr>
        <p:spPr>
          <a:xfrm>
            <a:off x="800100" y="5517951"/>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Supports GitHub (including Enterprise Server and Cloud) and GitLab (including Self-Managed)</a:t>
            </a:r>
            <a:endParaRPr/>
          </a:p>
        </p:txBody>
      </p:sp>
      <p:sp>
        <p:nvSpPr>
          <p:cNvPr id="764" name="Google Shape;764;p27"/>
          <p:cNvSpPr txBox="1"/>
          <p:nvPr/>
        </p:nvSpPr>
        <p:spPr>
          <a:xfrm>
            <a:off x="7234237" y="195277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ACU consumption tracked separately from sessions (does not count against per-org session limits)</a:t>
            </a:r>
            <a:endParaRPr/>
          </a:p>
        </p:txBody>
      </p:sp>
      <p:sp>
        <p:nvSpPr>
          <p:cNvPr id="765" name="Google Shape;765;p27"/>
          <p:cNvSpPr txBox="1"/>
          <p:nvPr/>
        </p:nvSpPr>
        <p:spPr>
          <a:xfrm>
            <a:off x="7234237" y="240223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Per-PR auto-review spend limits configurable by admins</a:t>
            </a:r>
            <a:endParaRPr/>
          </a:p>
        </p:txBody>
      </p:sp>
      <p:sp>
        <p:nvSpPr>
          <p:cNvPr id="766" name="Google Shape;766;p27"/>
          <p:cNvSpPr txBox="1"/>
          <p:nvPr/>
        </p:nvSpPr>
        <p:spPr>
          <a:xfrm>
            <a:off x="7234237" y="2665065"/>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Per-user and per-repository breakdown in consumption dashboard</a:t>
            </a:r>
            <a:endParaRPr/>
          </a:p>
        </p:txBody>
      </p:sp>
      <p:sp>
        <p:nvSpPr>
          <p:cNvPr id="767" name="Google Shape;767;p27"/>
          <p:cNvSpPr txBox="1"/>
          <p:nvPr/>
        </p:nvSpPr>
        <p:spPr>
          <a:xfrm>
            <a:off x="7234237" y="292789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Custom Roles control access tiers (auto-review, on-PR-creation, manual)</a:t>
            </a:r>
            <a:endParaRPr/>
          </a:p>
        </p:txBody>
      </p:sp>
      <p:sp>
        <p:nvSpPr>
          <p:cNvPr id="768" name="Google Shape;768;p27"/>
          <p:cNvSpPr txBox="1"/>
          <p:nvPr/>
        </p:nvSpPr>
        <p:spPr>
          <a:xfrm>
            <a:off x="7234237" y="3567261"/>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auto-review on all repositories where Devin generates PRs</a:t>
            </a:r>
            <a:endParaRPr/>
          </a:p>
        </p:txBody>
      </p:sp>
      <p:sp>
        <p:nvSpPr>
          <p:cNvPr id="769" name="Google Shape;769;p27"/>
          <p:cNvSpPr txBox="1"/>
          <p:nvPr/>
        </p:nvSpPr>
        <p:spPr>
          <a:xfrm>
            <a:off x="7234237" y="3830091"/>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Configure `REVIEW.md` with security policies and threat models for the security scanner</a:t>
            </a:r>
            <a:endParaRPr/>
          </a:p>
        </p:txBody>
      </p:sp>
      <p:sp>
        <p:nvSpPr>
          <p:cNvPr id="770" name="Google Shape;770;p27"/>
          <p:cNvSpPr txBox="1"/>
          <p:nvPr/>
        </p:nvSpPr>
        <p:spPr>
          <a:xfrm>
            <a:off x="7234237" y="4279552"/>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per-PR spend limit to control costs on high-churn PRs</a:t>
            </a:r>
            <a:endParaRPr/>
          </a:p>
        </p:txBody>
      </p:sp>
      <p:sp>
        <p:nvSpPr>
          <p:cNvPr id="771" name="Google Shape;771;p27"/>
          <p:cNvSpPr txBox="1"/>
          <p:nvPr/>
        </p:nvSpPr>
        <p:spPr>
          <a:xfrm>
            <a:off x="7234237" y="454238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codebase-aware chat to ask questions about the PR in context of the full codebase</a:t>
            </a:r>
            <a:endParaRPr/>
          </a:p>
        </p:txBody>
      </p:sp>
      <p:pic>
        <p:nvPicPr>
          <p:cNvPr descr="image.png" id="772" name="Google Shape;772;p27"/>
          <p:cNvPicPr preferRelativeResize="0"/>
          <p:nvPr/>
        </p:nvPicPr>
        <p:blipFill rotWithShape="1">
          <a:blip r:embed="rId5">
            <a:alphaModFix/>
          </a:blip>
          <a:srcRect b="0" l="0" r="0" t="0"/>
          <a:stretch/>
        </p:blipFill>
        <p:spPr>
          <a:xfrm>
            <a:off x="571500" y="3036391"/>
            <a:ext cx="57150" cy="95250"/>
          </a:xfrm>
          <a:prstGeom prst="rect">
            <a:avLst/>
          </a:prstGeom>
          <a:noFill/>
          <a:ln>
            <a:noFill/>
          </a:ln>
        </p:spPr>
      </p:pic>
      <p:pic>
        <p:nvPicPr>
          <p:cNvPr descr="image.png" id="773" name="Google Shape;773;p27"/>
          <p:cNvPicPr preferRelativeResize="0"/>
          <p:nvPr/>
        </p:nvPicPr>
        <p:blipFill rotWithShape="1">
          <a:blip r:embed="rId5">
            <a:alphaModFix/>
          </a:blip>
          <a:srcRect b="0" l="0" r="0" t="0"/>
          <a:stretch/>
        </p:blipFill>
        <p:spPr>
          <a:xfrm>
            <a:off x="571500" y="3485852"/>
            <a:ext cx="57150" cy="95250"/>
          </a:xfrm>
          <a:prstGeom prst="rect">
            <a:avLst/>
          </a:prstGeom>
          <a:noFill/>
          <a:ln>
            <a:noFill/>
          </a:ln>
        </p:spPr>
      </p:pic>
      <p:pic>
        <p:nvPicPr>
          <p:cNvPr descr="image.png" id="774" name="Google Shape;774;p27"/>
          <p:cNvPicPr preferRelativeResize="0"/>
          <p:nvPr/>
        </p:nvPicPr>
        <p:blipFill rotWithShape="1">
          <a:blip r:embed="rId5">
            <a:alphaModFix/>
          </a:blip>
          <a:srcRect b="0" l="0" r="0" t="0"/>
          <a:stretch/>
        </p:blipFill>
        <p:spPr>
          <a:xfrm>
            <a:off x="571500" y="3935313"/>
            <a:ext cx="57150" cy="95250"/>
          </a:xfrm>
          <a:prstGeom prst="rect">
            <a:avLst/>
          </a:prstGeom>
          <a:noFill/>
          <a:ln>
            <a:noFill/>
          </a:ln>
        </p:spPr>
      </p:pic>
      <p:pic>
        <p:nvPicPr>
          <p:cNvPr descr="image.png" id="775" name="Google Shape;775;p27"/>
          <p:cNvPicPr preferRelativeResize="0"/>
          <p:nvPr/>
        </p:nvPicPr>
        <p:blipFill rotWithShape="1">
          <a:blip r:embed="rId5">
            <a:alphaModFix/>
          </a:blip>
          <a:srcRect b="0" l="0" r="0" t="0"/>
          <a:stretch/>
        </p:blipFill>
        <p:spPr>
          <a:xfrm>
            <a:off x="571500" y="4198143"/>
            <a:ext cx="57150" cy="95250"/>
          </a:xfrm>
          <a:prstGeom prst="rect">
            <a:avLst/>
          </a:prstGeom>
          <a:noFill/>
          <a:ln>
            <a:noFill/>
          </a:ln>
        </p:spPr>
      </p:pic>
      <p:pic>
        <p:nvPicPr>
          <p:cNvPr descr="image.png" id="776" name="Google Shape;776;p27"/>
          <p:cNvPicPr preferRelativeResize="0"/>
          <p:nvPr/>
        </p:nvPicPr>
        <p:blipFill rotWithShape="1">
          <a:blip r:embed="rId5">
            <a:alphaModFix/>
          </a:blip>
          <a:srcRect b="0" l="0" r="0" t="0"/>
          <a:stretch/>
        </p:blipFill>
        <p:spPr>
          <a:xfrm>
            <a:off x="571500" y="4647604"/>
            <a:ext cx="57150" cy="95250"/>
          </a:xfrm>
          <a:prstGeom prst="rect">
            <a:avLst/>
          </a:prstGeom>
          <a:noFill/>
          <a:ln>
            <a:noFill/>
          </a:ln>
        </p:spPr>
      </p:pic>
      <p:pic>
        <p:nvPicPr>
          <p:cNvPr descr="image.png" id="777" name="Google Shape;777;p27"/>
          <p:cNvPicPr preferRelativeResize="0"/>
          <p:nvPr/>
        </p:nvPicPr>
        <p:blipFill rotWithShape="1">
          <a:blip r:embed="rId5">
            <a:alphaModFix/>
          </a:blip>
          <a:srcRect b="0" l="0" r="0" t="0"/>
          <a:stretch/>
        </p:blipFill>
        <p:spPr>
          <a:xfrm>
            <a:off x="571500" y="5097065"/>
            <a:ext cx="57150" cy="95250"/>
          </a:xfrm>
          <a:prstGeom prst="rect">
            <a:avLst/>
          </a:prstGeom>
          <a:noFill/>
          <a:ln>
            <a:noFill/>
          </a:ln>
        </p:spPr>
      </p:pic>
      <p:pic>
        <p:nvPicPr>
          <p:cNvPr descr="image.png" id="778" name="Google Shape;778;p27"/>
          <p:cNvPicPr preferRelativeResize="0"/>
          <p:nvPr/>
        </p:nvPicPr>
        <p:blipFill rotWithShape="1">
          <a:blip r:embed="rId5">
            <a:alphaModFix/>
          </a:blip>
          <a:srcRect b="0" l="0" r="0" t="0"/>
          <a:stretch/>
        </p:blipFill>
        <p:spPr>
          <a:xfrm>
            <a:off x="571500" y="5546526"/>
            <a:ext cx="57150" cy="95250"/>
          </a:xfrm>
          <a:prstGeom prst="rect">
            <a:avLst/>
          </a:prstGeom>
          <a:noFill/>
          <a:ln>
            <a:noFill/>
          </a:ln>
        </p:spPr>
      </p:pic>
      <p:pic>
        <p:nvPicPr>
          <p:cNvPr descr="image.png" id="779" name="Google Shape;779;p27"/>
          <p:cNvPicPr preferRelativeResize="0"/>
          <p:nvPr/>
        </p:nvPicPr>
        <p:blipFill rotWithShape="1">
          <a:blip r:embed="rId6">
            <a:alphaModFix/>
          </a:blip>
          <a:srcRect b="0" l="0" r="0" t="0"/>
          <a:stretch/>
        </p:blipFill>
        <p:spPr>
          <a:xfrm>
            <a:off x="7005637" y="1981348"/>
            <a:ext cx="95250" cy="95250"/>
          </a:xfrm>
          <a:prstGeom prst="rect">
            <a:avLst/>
          </a:prstGeom>
          <a:noFill/>
          <a:ln>
            <a:noFill/>
          </a:ln>
        </p:spPr>
      </p:pic>
      <p:pic>
        <p:nvPicPr>
          <p:cNvPr descr="image.png" id="780" name="Google Shape;780;p27"/>
          <p:cNvPicPr preferRelativeResize="0"/>
          <p:nvPr/>
        </p:nvPicPr>
        <p:blipFill rotWithShape="1">
          <a:blip r:embed="rId6">
            <a:alphaModFix/>
          </a:blip>
          <a:srcRect b="0" l="0" r="0" t="0"/>
          <a:stretch/>
        </p:blipFill>
        <p:spPr>
          <a:xfrm>
            <a:off x="7005637" y="2430809"/>
            <a:ext cx="95250" cy="95250"/>
          </a:xfrm>
          <a:prstGeom prst="rect">
            <a:avLst/>
          </a:prstGeom>
          <a:noFill/>
          <a:ln>
            <a:noFill/>
          </a:ln>
        </p:spPr>
      </p:pic>
      <p:pic>
        <p:nvPicPr>
          <p:cNvPr descr="image.png" id="781" name="Google Shape;781;p27"/>
          <p:cNvPicPr preferRelativeResize="0"/>
          <p:nvPr/>
        </p:nvPicPr>
        <p:blipFill rotWithShape="1">
          <a:blip r:embed="rId6">
            <a:alphaModFix/>
          </a:blip>
          <a:srcRect b="0" l="0" r="0" t="0"/>
          <a:stretch/>
        </p:blipFill>
        <p:spPr>
          <a:xfrm>
            <a:off x="7005637" y="2693640"/>
            <a:ext cx="95250" cy="95250"/>
          </a:xfrm>
          <a:prstGeom prst="rect">
            <a:avLst/>
          </a:prstGeom>
          <a:noFill/>
          <a:ln>
            <a:noFill/>
          </a:ln>
        </p:spPr>
      </p:pic>
      <p:pic>
        <p:nvPicPr>
          <p:cNvPr descr="image.png" id="782" name="Google Shape;782;p27"/>
          <p:cNvPicPr preferRelativeResize="0"/>
          <p:nvPr/>
        </p:nvPicPr>
        <p:blipFill rotWithShape="1">
          <a:blip r:embed="rId6">
            <a:alphaModFix/>
          </a:blip>
          <a:srcRect b="0" l="0" r="0" t="0"/>
          <a:stretch/>
        </p:blipFill>
        <p:spPr>
          <a:xfrm>
            <a:off x="7005637" y="2956470"/>
            <a:ext cx="95250" cy="95250"/>
          </a:xfrm>
          <a:prstGeom prst="rect">
            <a:avLst/>
          </a:prstGeom>
          <a:noFill/>
          <a:ln>
            <a:noFill/>
          </a:ln>
        </p:spPr>
      </p:pic>
      <p:pic>
        <p:nvPicPr>
          <p:cNvPr descr="image.png" id="783" name="Google Shape;783;p27"/>
          <p:cNvPicPr preferRelativeResize="0"/>
          <p:nvPr/>
        </p:nvPicPr>
        <p:blipFill rotWithShape="1">
          <a:blip r:embed="rId7">
            <a:alphaModFix/>
          </a:blip>
          <a:srcRect b="0" l="0" r="0" t="0"/>
          <a:stretch/>
        </p:blipFill>
        <p:spPr>
          <a:xfrm>
            <a:off x="7005637" y="3595836"/>
            <a:ext cx="95250" cy="95250"/>
          </a:xfrm>
          <a:prstGeom prst="rect">
            <a:avLst/>
          </a:prstGeom>
          <a:noFill/>
          <a:ln>
            <a:noFill/>
          </a:ln>
        </p:spPr>
      </p:pic>
      <p:pic>
        <p:nvPicPr>
          <p:cNvPr descr="image.png" id="784" name="Google Shape;784;p27"/>
          <p:cNvPicPr preferRelativeResize="0"/>
          <p:nvPr/>
        </p:nvPicPr>
        <p:blipFill rotWithShape="1">
          <a:blip r:embed="rId7">
            <a:alphaModFix/>
          </a:blip>
          <a:srcRect b="0" l="0" r="0" t="0"/>
          <a:stretch/>
        </p:blipFill>
        <p:spPr>
          <a:xfrm>
            <a:off x="7005637" y="3858666"/>
            <a:ext cx="95250" cy="95250"/>
          </a:xfrm>
          <a:prstGeom prst="rect">
            <a:avLst/>
          </a:prstGeom>
          <a:noFill/>
          <a:ln>
            <a:noFill/>
          </a:ln>
        </p:spPr>
      </p:pic>
      <p:pic>
        <p:nvPicPr>
          <p:cNvPr descr="image.png" id="785" name="Google Shape;785;p27"/>
          <p:cNvPicPr preferRelativeResize="0"/>
          <p:nvPr/>
        </p:nvPicPr>
        <p:blipFill rotWithShape="1">
          <a:blip r:embed="rId7">
            <a:alphaModFix/>
          </a:blip>
          <a:srcRect b="0" l="0" r="0" t="0"/>
          <a:stretch/>
        </p:blipFill>
        <p:spPr>
          <a:xfrm>
            <a:off x="7005637" y="4308127"/>
            <a:ext cx="95250" cy="95250"/>
          </a:xfrm>
          <a:prstGeom prst="rect">
            <a:avLst/>
          </a:prstGeom>
          <a:noFill/>
          <a:ln>
            <a:noFill/>
          </a:ln>
        </p:spPr>
      </p:pic>
      <p:pic>
        <p:nvPicPr>
          <p:cNvPr descr="image.png" id="786" name="Google Shape;786;p27"/>
          <p:cNvPicPr preferRelativeResize="0"/>
          <p:nvPr/>
        </p:nvPicPr>
        <p:blipFill rotWithShape="1">
          <a:blip r:embed="rId7">
            <a:alphaModFix/>
          </a:blip>
          <a:srcRect b="0" l="0" r="0" t="0"/>
          <a:stretch/>
        </p:blipFill>
        <p:spPr>
          <a:xfrm>
            <a:off x="7005637" y="4570958"/>
            <a:ext cx="95250" cy="95250"/>
          </a:xfrm>
          <a:prstGeom prst="rect">
            <a:avLst/>
          </a:prstGeom>
          <a:noFill/>
          <a:ln>
            <a:noFill/>
          </a:ln>
        </p:spPr>
      </p:pic>
      <p:sp>
        <p:nvSpPr>
          <p:cNvPr id="787" name="Google Shape;787;p27"/>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Devin Review</a:t>
            </a:r>
            <a:endParaRPr/>
          </a:p>
        </p:txBody>
      </p:sp>
      <p:sp>
        <p:nvSpPr>
          <p:cNvPr id="788" name="Google Shape;788;p27"/>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pic>
        <p:nvPicPr>
          <p:cNvPr descr="image.png" id="793" name="Google Shape;793;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94" name="Google Shape;794;p28"/>
          <p:cNvPicPr preferRelativeResize="0"/>
          <p:nvPr/>
        </p:nvPicPr>
        <p:blipFill rotWithShape="1">
          <a:blip r:embed="rId4">
            <a:alphaModFix/>
          </a:blip>
          <a:srcRect b="0" l="0" r="0" t="0"/>
          <a:stretch/>
        </p:blipFill>
        <p:spPr>
          <a:xfrm>
            <a:off x="7005637" y="2130623"/>
            <a:ext cx="4567237" cy="1315938"/>
          </a:xfrm>
          <a:prstGeom prst="rect">
            <a:avLst/>
          </a:prstGeom>
          <a:noFill/>
          <a:ln>
            <a:noFill/>
          </a:ln>
        </p:spPr>
      </p:pic>
      <p:pic>
        <p:nvPicPr>
          <p:cNvPr descr="image.png" id="795" name="Google Shape;795;p28"/>
          <p:cNvPicPr preferRelativeResize="0"/>
          <p:nvPr/>
        </p:nvPicPr>
        <p:blipFill rotWithShape="1">
          <a:blip r:embed="rId5">
            <a:alphaModFix/>
          </a:blip>
          <a:srcRect b="0" l="0" r="0" t="0"/>
          <a:stretch/>
        </p:blipFill>
        <p:spPr>
          <a:xfrm>
            <a:off x="7129462" y="2254448"/>
            <a:ext cx="4319587" cy="460474"/>
          </a:xfrm>
          <a:prstGeom prst="rect">
            <a:avLst/>
          </a:prstGeom>
          <a:noFill/>
          <a:ln>
            <a:noFill/>
          </a:ln>
        </p:spPr>
      </p:pic>
      <p:pic>
        <p:nvPicPr>
          <p:cNvPr descr="image.png" id="796" name="Google Shape;796;p28"/>
          <p:cNvPicPr preferRelativeResize="0"/>
          <p:nvPr/>
        </p:nvPicPr>
        <p:blipFill rotWithShape="1">
          <a:blip r:embed="rId6">
            <a:alphaModFix/>
          </a:blip>
          <a:srcRect b="0" l="0" r="0" t="0"/>
          <a:stretch/>
        </p:blipFill>
        <p:spPr>
          <a:xfrm>
            <a:off x="7129462" y="2945308"/>
            <a:ext cx="1401812" cy="377428"/>
          </a:xfrm>
          <a:prstGeom prst="rect">
            <a:avLst/>
          </a:prstGeom>
          <a:noFill/>
          <a:ln>
            <a:noFill/>
          </a:ln>
        </p:spPr>
      </p:pic>
      <p:pic>
        <p:nvPicPr>
          <p:cNvPr descr="image.png" id="797" name="Google Shape;797;p28"/>
          <p:cNvPicPr preferRelativeResize="0"/>
          <p:nvPr/>
        </p:nvPicPr>
        <p:blipFill rotWithShape="1">
          <a:blip r:embed="rId7">
            <a:alphaModFix/>
          </a:blip>
          <a:srcRect b="0" l="0" r="0" t="0"/>
          <a:stretch/>
        </p:blipFill>
        <p:spPr>
          <a:xfrm>
            <a:off x="8588424" y="2945308"/>
            <a:ext cx="1401812" cy="377428"/>
          </a:xfrm>
          <a:prstGeom prst="rect">
            <a:avLst/>
          </a:prstGeom>
          <a:noFill/>
          <a:ln>
            <a:noFill/>
          </a:ln>
        </p:spPr>
      </p:pic>
      <p:pic>
        <p:nvPicPr>
          <p:cNvPr descr="image.png" id="798" name="Google Shape;798;p28"/>
          <p:cNvPicPr preferRelativeResize="0"/>
          <p:nvPr/>
        </p:nvPicPr>
        <p:blipFill rotWithShape="1">
          <a:blip r:embed="rId8">
            <a:alphaModFix/>
          </a:blip>
          <a:srcRect b="0" l="0" r="0" t="0"/>
          <a:stretch/>
        </p:blipFill>
        <p:spPr>
          <a:xfrm>
            <a:off x="10047386" y="2945308"/>
            <a:ext cx="1401812" cy="377428"/>
          </a:xfrm>
          <a:prstGeom prst="rect">
            <a:avLst/>
          </a:prstGeom>
          <a:noFill/>
          <a:ln>
            <a:noFill/>
          </a:ln>
        </p:spPr>
      </p:pic>
      <p:pic>
        <p:nvPicPr>
          <p:cNvPr descr="image.png" id="799" name="Google Shape;799;p28"/>
          <p:cNvPicPr preferRelativeResize="0"/>
          <p:nvPr/>
        </p:nvPicPr>
        <p:blipFill rotWithShape="1">
          <a:blip r:embed="rId9">
            <a:alphaModFix/>
          </a:blip>
          <a:srcRect b="0" l="0" r="0" t="0"/>
          <a:stretch/>
        </p:blipFill>
        <p:spPr>
          <a:xfrm>
            <a:off x="571500" y="466725"/>
            <a:ext cx="857250" cy="209550"/>
          </a:xfrm>
          <a:prstGeom prst="rect">
            <a:avLst/>
          </a:prstGeom>
          <a:noFill/>
          <a:ln>
            <a:noFill/>
          </a:ln>
        </p:spPr>
      </p:pic>
      <p:sp>
        <p:nvSpPr>
          <p:cNvPr id="800" name="Google Shape;800;p28"/>
          <p:cNvSpPr txBox="1"/>
          <p:nvPr/>
        </p:nvSpPr>
        <p:spPr>
          <a:xfrm>
            <a:off x="571500" y="1888777"/>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801" name="Google Shape;801;p28"/>
          <p:cNvSpPr txBox="1"/>
          <p:nvPr/>
        </p:nvSpPr>
        <p:spPr>
          <a:xfrm>
            <a:off x="571500" y="2059632"/>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Devin to orchestrate teams of parallel sub-agents for large-scale work.</a:t>
            </a:r>
            <a:endParaRPr/>
          </a:p>
        </p:txBody>
      </p:sp>
      <p:sp>
        <p:nvSpPr>
          <p:cNvPr id="802" name="Google Shape;802;p28"/>
          <p:cNvSpPr txBox="1"/>
          <p:nvPr/>
        </p:nvSpPr>
        <p:spPr>
          <a:xfrm>
            <a:off x="571500" y="232916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803" name="Google Shape;803;p28"/>
          <p:cNvSpPr txBox="1"/>
          <p:nvPr/>
        </p:nvSpPr>
        <p:spPr>
          <a:xfrm>
            <a:off x="571500" y="2500014"/>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Many enterprise tasks — migrations, bulk test coverage, multi-repo refactors — are too large for a single session but are highly parallelizable. Managed Devins allow one coordinator session to spawn, monitor, and compile results from dozens of child sessions simultaneously.</a:t>
            </a:r>
            <a:endParaRPr/>
          </a:p>
        </p:txBody>
      </p:sp>
      <p:sp>
        <p:nvSpPr>
          <p:cNvPr id="804" name="Google Shape;804;p28"/>
          <p:cNvSpPr txBox="1"/>
          <p:nvPr/>
        </p:nvSpPr>
        <p:spPr>
          <a:xfrm>
            <a:off x="571500" y="3156198"/>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805" name="Google Shape;805;p28"/>
          <p:cNvSpPr txBox="1"/>
          <p:nvPr/>
        </p:nvSpPr>
        <p:spPr>
          <a:xfrm>
            <a:off x="571500" y="4827835"/>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806" name="Google Shape;806;p28"/>
          <p:cNvSpPr txBox="1"/>
          <p:nvPr/>
        </p:nvSpPr>
        <p:spPr>
          <a:xfrm>
            <a:off x="571500" y="4998690"/>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team needs to migrate 500 SonarQube issues across 20 repositories. The coordinator Devin groups issues by repository and complexity, spawns parallel sessions, and produces 500 PRs — work that would take a team of engineers weeks.</a:t>
            </a:r>
            <a:endParaRPr/>
          </a:p>
        </p:txBody>
      </p:sp>
      <p:sp>
        <p:nvSpPr>
          <p:cNvPr id="807" name="Google Shape;807;p28"/>
          <p:cNvSpPr txBox="1"/>
          <p:nvPr/>
        </p:nvSpPr>
        <p:spPr>
          <a:xfrm>
            <a:off x="7005637" y="1888777"/>
            <a:ext cx="4567237" cy="165645"/>
          </a:xfrm>
          <a:prstGeom prst="rect">
            <a:avLst/>
          </a:prstGeom>
          <a:noFill/>
          <a:ln>
            <a:noFill/>
          </a:ln>
        </p:spPr>
        <p:txBody>
          <a:bodyPr anchorCtr="0" anchor="t" bIns="0" lIns="14287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PARALLEL ORCHESTRATION MODEL</a:t>
            </a:r>
            <a:endParaRPr/>
          </a:p>
        </p:txBody>
      </p:sp>
      <p:sp>
        <p:nvSpPr>
          <p:cNvPr id="808" name="Google Shape;808;p28"/>
          <p:cNvSpPr txBox="1"/>
          <p:nvPr/>
        </p:nvSpPr>
        <p:spPr>
          <a:xfrm>
            <a:off x="7005637" y="3560861"/>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809" name="Google Shape;809;p28"/>
          <p:cNvSpPr txBox="1"/>
          <p:nvPr/>
        </p:nvSpPr>
        <p:spPr>
          <a:xfrm>
            <a:off x="800100" y="3327052"/>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coordinator Devin session breaks down a large task into independent work packages</a:t>
            </a:r>
            <a:endParaRPr/>
          </a:p>
        </p:txBody>
      </p:sp>
      <p:sp>
        <p:nvSpPr>
          <p:cNvPr id="810" name="Google Shape;810;p28"/>
          <p:cNvSpPr txBox="1"/>
          <p:nvPr/>
        </p:nvSpPr>
        <p:spPr>
          <a:xfrm>
            <a:off x="800100" y="358988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spawns </a:t>
            </a:r>
            <a:r>
              <a:rPr b="1" i="0" lang="en-US" sz="1050" u="none" cap="none" strike="noStrike">
                <a:solidFill>
                  <a:srgbClr val="334155"/>
                </a:solidFill>
                <a:latin typeface="Plus Jakarta Sans"/>
                <a:ea typeface="Plus Jakarta Sans"/>
                <a:cs typeface="Plus Jakarta Sans"/>
                <a:sym typeface="Plus Jakarta Sans"/>
              </a:rPr>
              <a:t>managed child sessions</a:t>
            </a:r>
            <a:r>
              <a:rPr b="0" i="0" lang="en-US" sz="1050" u="none" cap="none" strike="noStrike">
                <a:solidFill>
                  <a:srgbClr val="334155"/>
                </a:solidFill>
                <a:latin typeface="Plus Jakarta Sans"/>
                <a:ea typeface="Plus Jakarta Sans"/>
                <a:cs typeface="Plus Jakarta Sans"/>
                <a:sym typeface="Plus Jakarta Sans"/>
              </a:rPr>
              <a:t>, each running in its own isolated VM</a:t>
            </a:r>
            <a:endParaRPr/>
          </a:p>
        </p:txBody>
      </p:sp>
      <p:sp>
        <p:nvSpPr>
          <p:cNvPr id="811" name="Google Shape;811;p28"/>
          <p:cNvSpPr txBox="1"/>
          <p:nvPr/>
        </p:nvSpPr>
        <p:spPr>
          <a:xfrm>
            <a:off x="800100" y="3852713"/>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coordinator can: spin up sessions, message them, monitor ACU consumption, put them to sleep, terminate them, and schedule messages to itself</a:t>
            </a:r>
            <a:endParaRPr/>
          </a:p>
        </p:txBody>
      </p:sp>
      <p:sp>
        <p:nvSpPr>
          <p:cNvPr id="812" name="Google Shape;812;p28"/>
          <p:cNvSpPr txBox="1"/>
          <p:nvPr/>
        </p:nvSpPr>
        <p:spPr>
          <a:xfrm>
            <a:off x="800100" y="4302174"/>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Child sessions run in parallel — a 50-file migration can run 50 sessions simultaneously</a:t>
            </a:r>
            <a:endParaRPr/>
          </a:p>
        </p:txBody>
      </p:sp>
      <p:sp>
        <p:nvSpPr>
          <p:cNvPr id="813" name="Google Shape;813;p28"/>
          <p:cNvSpPr txBox="1"/>
          <p:nvPr/>
        </p:nvSpPr>
        <p:spPr>
          <a:xfrm>
            <a:off x="800100" y="456500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Results are compiled by the coordinator</a:t>
            </a:r>
            <a:endParaRPr/>
          </a:p>
        </p:txBody>
      </p:sp>
      <p:pic>
        <p:nvPicPr>
          <p:cNvPr descr="image.png" id="814" name="Google Shape;814;p28"/>
          <p:cNvPicPr preferRelativeResize="0"/>
          <p:nvPr/>
        </p:nvPicPr>
        <p:blipFill rotWithShape="1">
          <a:blip r:embed="rId10">
            <a:alphaModFix/>
          </a:blip>
          <a:srcRect b="0" l="0" r="0" t="0"/>
          <a:stretch/>
        </p:blipFill>
        <p:spPr>
          <a:xfrm>
            <a:off x="8184356" y="1917352"/>
            <a:ext cx="142875" cy="114300"/>
          </a:xfrm>
          <a:prstGeom prst="rect">
            <a:avLst/>
          </a:prstGeom>
          <a:noFill/>
          <a:ln>
            <a:noFill/>
          </a:ln>
        </p:spPr>
      </p:pic>
      <p:sp>
        <p:nvSpPr>
          <p:cNvPr id="815" name="Google Shape;815;p28"/>
          <p:cNvSpPr txBox="1"/>
          <p:nvPr/>
        </p:nvSpPr>
        <p:spPr>
          <a:xfrm>
            <a:off x="7234237" y="3750766"/>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parallel execution for tasks that are isolated and backwards-compatible</a:t>
            </a:r>
            <a:endParaRPr/>
          </a:p>
        </p:txBody>
      </p:sp>
      <p:sp>
        <p:nvSpPr>
          <p:cNvPr id="816" name="Google Shape;816;p28"/>
          <p:cNvSpPr txBox="1"/>
          <p:nvPr/>
        </p:nvSpPr>
        <p:spPr>
          <a:xfrm>
            <a:off x="7234237" y="420022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child sessions to control cost</a:t>
            </a:r>
            <a:endParaRPr/>
          </a:p>
        </p:txBody>
      </p:sp>
      <p:sp>
        <p:nvSpPr>
          <p:cNvPr id="817" name="Google Shape;817;p28"/>
          <p:cNvSpPr txBox="1"/>
          <p:nvPr/>
        </p:nvSpPr>
        <p:spPr>
          <a:xfrm>
            <a:off x="7234237" y="4463057"/>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each work package has a clear success/failure verification mechanism</a:t>
            </a:r>
            <a:endParaRPr/>
          </a:p>
        </p:txBody>
      </p:sp>
      <p:sp>
        <p:nvSpPr>
          <p:cNvPr id="818" name="Google Shape;818;p28"/>
          <p:cNvSpPr txBox="1"/>
          <p:nvPr/>
        </p:nvSpPr>
        <p:spPr>
          <a:xfrm>
            <a:off x="7234237" y="4912518"/>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Review PRs from child sessions before merging — human review remains essential</a:t>
            </a:r>
            <a:endParaRPr/>
          </a:p>
        </p:txBody>
      </p:sp>
      <p:sp>
        <p:nvSpPr>
          <p:cNvPr id="819" name="Google Shape;819;p28"/>
          <p:cNvSpPr txBox="1"/>
          <p:nvPr/>
        </p:nvSpPr>
        <p:spPr>
          <a:xfrm>
            <a:off x="8646318" y="2349698"/>
            <a:ext cx="1285875" cy="123825"/>
          </a:xfrm>
          <a:prstGeom prst="rect">
            <a:avLst/>
          </a:prstGeom>
          <a:noFill/>
          <a:ln>
            <a:noFill/>
          </a:ln>
        </p:spPr>
        <p:txBody>
          <a:bodyPr anchorCtr="0" anchor="t" bIns="0" lIns="13335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Coordinator Devin VM</a:t>
            </a:r>
            <a:endParaRPr/>
          </a:p>
        </p:txBody>
      </p:sp>
      <p:sp>
        <p:nvSpPr>
          <p:cNvPr id="820" name="Google Shape;820;p28"/>
          <p:cNvSpPr txBox="1"/>
          <p:nvPr/>
        </p:nvSpPr>
        <p:spPr>
          <a:xfrm>
            <a:off x="7215187" y="2491085"/>
            <a:ext cx="414813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Task Decomposition &amp; Analysis</a:t>
            </a:r>
            <a:endParaRPr/>
          </a:p>
        </p:txBody>
      </p:sp>
      <p:pic>
        <p:nvPicPr>
          <p:cNvPr descr="image.png" id="821" name="Google Shape;821;p28"/>
          <p:cNvPicPr preferRelativeResize="0"/>
          <p:nvPr/>
        </p:nvPicPr>
        <p:blipFill rotWithShape="1">
          <a:blip r:embed="rId11">
            <a:alphaModFix/>
          </a:blip>
          <a:srcRect b="0" l="0" r="0" t="0"/>
          <a:stretch/>
        </p:blipFill>
        <p:spPr>
          <a:xfrm>
            <a:off x="9232106" y="2772072"/>
            <a:ext cx="114300" cy="114300"/>
          </a:xfrm>
          <a:prstGeom prst="rect">
            <a:avLst/>
          </a:prstGeom>
          <a:noFill/>
          <a:ln>
            <a:noFill/>
          </a:ln>
        </p:spPr>
      </p:pic>
      <p:pic>
        <p:nvPicPr>
          <p:cNvPr descr="image.png" id="822" name="Google Shape;822;p28"/>
          <p:cNvPicPr preferRelativeResize="0"/>
          <p:nvPr/>
        </p:nvPicPr>
        <p:blipFill rotWithShape="1">
          <a:blip r:embed="rId12">
            <a:alphaModFix/>
          </a:blip>
          <a:srcRect b="0" l="0" r="0" t="0"/>
          <a:stretch/>
        </p:blipFill>
        <p:spPr>
          <a:xfrm>
            <a:off x="571500" y="3355627"/>
            <a:ext cx="57150" cy="95250"/>
          </a:xfrm>
          <a:prstGeom prst="rect">
            <a:avLst/>
          </a:prstGeom>
          <a:noFill/>
          <a:ln>
            <a:noFill/>
          </a:ln>
        </p:spPr>
      </p:pic>
      <p:pic>
        <p:nvPicPr>
          <p:cNvPr descr="image.png" id="823" name="Google Shape;823;p28"/>
          <p:cNvPicPr preferRelativeResize="0"/>
          <p:nvPr/>
        </p:nvPicPr>
        <p:blipFill rotWithShape="1">
          <a:blip r:embed="rId12">
            <a:alphaModFix/>
          </a:blip>
          <a:srcRect b="0" l="0" r="0" t="0"/>
          <a:stretch/>
        </p:blipFill>
        <p:spPr>
          <a:xfrm>
            <a:off x="571500" y="3618458"/>
            <a:ext cx="57150" cy="95250"/>
          </a:xfrm>
          <a:prstGeom prst="rect">
            <a:avLst/>
          </a:prstGeom>
          <a:noFill/>
          <a:ln>
            <a:noFill/>
          </a:ln>
        </p:spPr>
      </p:pic>
      <p:pic>
        <p:nvPicPr>
          <p:cNvPr descr="image.png" id="824" name="Google Shape;824;p28"/>
          <p:cNvPicPr preferRelativeResize="0"/>
          <p:nvPr/>
        </p:nvPicPr>
        <p:blipFill rotWithShape="1">
          <a:blip r:embed="rId12">
            <a:alphaModFix/>
          </a:blip>
          <a:srcRect b="0" l="0" r="0" t="0"/>
          <a:stretch/>
        </p:blipFill>
        <p:spPr>
          <a:xfrm>
            <a:off x="571500" y="3881288"/>
            <a:ext cx="57150" cy="95250"/>
          </a:xfrm>
          <a:prstGeom prst="rect">
            <a:avLst/>
          </a:prstGeom>
          <a:noFill/>
          <a:ln>
            <a:noFill/>
          </a:ln>
        </p:spPr>
      </p:pic>
      <p:pic>
        <p:nvPicPr>
          <p:cNvPr descr="image.png" id="825" name="Google Shape;825;p28"/>
          <p:cNvPicPr preferRelativeResize="0"/>
          <p:nvPr/>
        </p:nvPicPr>
        <p:blipFill rotWithShape="1">
          <a:blip r:embed="rId12">
            <a:alphaModFix/>
          </a:blip>
          <a:srcRect b="0" l="0" r="0" t="0"/>
          <a:stretch/>
        </p:blipFill>
        <p:spPr>
          <a:xfrm>
            <a:off x="571500" y="4330749"/>
            <a:ext cx="57150" cy="95250"/>
          </a:xfrm>
          <a:prstGeom prst="rect">
            <a:avLst/>
          </a:prstGeom>
          <a:noFill/>
          <a:ln>
            <a:noFill/>
          </a:ln>
        </p:spPr>
      </p:pic>
      <p:pic>
        <p:nvPicPr>
          <p:cNvPr descr="image.png" id="826" name="Google Shape;826;p28"/>
          <p:cNvPicPr preferRelativeResize="0"/>
          <p:nvPr/>
        </p:nvPicPr>
        <p:blipFill rotWithShape="1">
          <a:blip r:embed="rId12">
            <a:alphaModFix/>
          </a:blip>
          <a:srcRect b="0" l="0" r="0" t="0"/>
          <a:stretch/>
        </p:blipFill>
        <p:spPr>
          <a:xfrm>
            <a:off x="571500" y="4593580"/>
            <a:ext cx="57150" cy="95250"/>
          </a:xfrm>
          <a:prstGeom prst="rect">
            <a:avLst/>
          </a:prstGeom>
          <a:noFill/>
          <a:ln>
            <a:noFill/>
          </a:ln>
        </p:spPr>
      </p:pic>
      <p:pic>
        <p:nvPicPr>
          <p:cNvPr descr="image.png" id="827" name="Google Shape;827;p28"/>
          <p:cNvPicPr preferRelativeResize="0"/>
          <p:nvPr/>
        </p:nvPicPr>
        <p:blipFill rotWithShape="1">
          <a:blip r:embed="rId13">
            <a:alphaModFix/>
          </a:blip>
          <a:srcRect b="0" l="0" r="0" t="0"/>
          <a:stretch/>
        </p:blipFill>
        <p:spPr>
          <a:xfrm>
            <a:off x="8646318" y="2368748"/>
            <a:ext cx="133350" cy="104775"/>
          </a:xfrm>
          <a:prstGeom prst="rect">
            <a:avLst/>
          </a:prstGeom>
          <a:noFill/>
          <a:ln>
            <a:noFill/>
          </a:ln>
        </p:spPr>
      </p:pic>
      <p:sp>
        <p:nvSpPr>
          <p:cNvPr id="828" name="Google Shape;828;p28"/>
          <p:cNvSpPr txBox="1"/>
          <p:nvPr/>
        </p:nvSpPr>
        <p:spPr>
          <a:xfrm>
            <a:off x="7615981" y="3011983"/>
            <a:ext cx="428625" cy="114300"/>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1</a:t>
            </a:r>
            <a:endParaRPr/>
          </a:p>
        </p:txBody>
      </p:sp>
      <p:sp>
        <p:nvSpPr>
          <p:cNvPr id="829" name="Google Shape;829;p28"/>
          <p:cNvSpPr txBox="1"/>
          <p:nvPr/>
        </p:nvSpPr>
        <p:spPr>
          <a:xfrm>
            <a:off x="7196137" y="3134022"/>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A Migration</a:t>
            </a:r>
            <a:endParaRPr/>
          </a:p>
        </p:txBody>
      </p:sp>
      <p:sp>
        <p:nvSpPr>
          <p:cNvPr id="830" name="Google Shape;830;p28"/>
          <p:cNvSpPr txBox="1"/>
          <p:nvPr/>
        </p:nvSpPr>
        <p:spPr>
          <a:xfrm>
            <a:off x="9065418" y="3011983"/>
            <a:ext cx="447675" cy="114300"/>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2</a:t>
            </a:r>
            <a:endParaRPr/>
          </a:p>
        </p:txBody>
      </p:sp>
      <p:sp>
        <p:nvSpPr>
          <p:cNvPr id="831" name="Google Shape;831;p28"/>
          <p:cNvSpPr txBox="1"/>
          <p:nvPr/>
        </p:nvSpPr>
        <p:spPr>
          <a:xfrm>
            <a:off x="8655099" y="3134022"/>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B Migration</a:t>
            </a:r>
            <a:endParaRPr/>
          </a:p>
        </p:txBody>
      </p:sp>
      <p:sp>
        <p:nvSpPr>
          <p:cNvPr id="832" name="Google Shape;832;p28"/>
          <p:cNvSpPr txBox="1"/>
          <p:nvPr/>
        </p:nvSpPr>
        <p:spPr>
          <a:xfrm>
            <a:off x="10524380" y="3011983"/>
            <a:ext cx="447675" cy="114300"/>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3</a:t>
            </a:r>
            <a:endParaRPr/>
          </a:p>
        </p:txBody>
      </p:sp>
      <p:sp>
        <p:nvSpPr>
          <p:cNvPr id="833" name="Google Shape;833;p28"/>
          <p:cNvSpPr txBox="1"/>
          <p:nvPr/>
        </p:nvSpPr>
        <p:spPr>
          <a:xfrm>
            <a:off x="10114061" y="3134022"/>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Z Migration</a:t>
            </a:r>
            <a:endParaRPr/>
          </a:p>
        </p:txBody>
      </p:sp>
      <p:pic>
        <p:nvPicPr>
          <p:cNvPr descr="image.png" id="834" name="Google Shape;834;p28"/>
          <p:cNvPicPr preferRelativeResize="0"/>
          <p:nvPr/>
        </p:nvPicPr>
        <p:blipFill rotWithShape="1">
          <a:blip r:embed="rId14">
            <a:alphaModFix/>
          </a:blip>
          <a:srcRect b="0" l="0" r="0" t="0"/>
          <a:stretch/>
        </p:blipFill>
        <p:spPr>
          <a:xfrm>
            <a:off x="7005637" y="3779341"/>
            <a:ext cx="95250" cy="95250"/>
          </a:xfrm>
          <a:prstGeom prst="rect">
            <a:avLst/>
          </a:prstGeom>
          <a:noFill/>
          <a:ln>
            <a:noFill/>
          </a:ln>
        </p:spPr>
      </p:pic>
      <p:pic>
        <p:nvPicPr>
          <p:cNvPr descr="image.png" id="835" name="Google Shape;835;p28"/>
          <p:cNvPicPr preferRelativeResize="0"/>
          <p:nvPr/>
        </p:nvPicPr>
        <p:blipFill rotWithShape="1">
          <a:blip r:embed="rId14">
            <a:alphaModFix/>
          </a:blip>
          <a:srcRect b="0" l="0" r="0" t="0"/>
          <a:stretch/>
        </p:blipFill>
        <p:spPr>
          <a:xfrm>
            <a:off x="7005637" y="4228802"/>
            <a:ext cx="95250" cy="95250"/>
          </a:xfrm>
          <a:prstGeom prst="rect">
            <a:avLst/>
          </a:prstGeom>
          <a:noFill/>
          <a:ln>
            <a:noFill/>
          </a:ln>
        </p:spPr>
      </p:pic>
      <p:pic>
        <p:nvPicPr>
          <p:cNvPr descr="image.png" id="836" name="Google Shape;836;p28"/>
          <p:cNvPicPr preferRelativeResize="0"/>
          <p:nvPr/>
        </p:nvPicPr>
        <p:blipFill rotWithShape="1">
          <a:blip r:embed="rId14">
            <a:alphaModFix/>
          </a:blip>
          <a:srcRect b="0" l="0" r="0" t="0"/>
          <a:stretch/>
        </p:blipFill>
        <p:spPr>
          <a:xfrm>
            <a:off x="7005637" y="4491632"/>
            <a:ext cx="95250" cy="95250"/>
          </a:xfrm>
          <a:prstGeom prst="rect">
            <a:avLst/>
          </a:prstGeom>
          <a:noFill/>
          <a:ln>
            <a:noFill/>
          </a:ln>
        </p:spPr>
      </p:pic>
      <p:pic>
        <p:nvPicPr>
          <p:cNvPr descr="image.png" id="837" name="Google Shape;837;p28"/>
          <p:cNvPicPr preferRelativeResize="0"/>
          <p:nvPr/>
        </p:nvPicPr>
        <p:blipFill rotWithShape="1">
          <a:blip r:embed="rId14">
            <a:alphaModFix/>
          </a:blip>
          <a:srcRect b="0" l="0" r="0" t="0"/>
          <a:stretch/>
        </p:blipFill>
        <p:spPr>
          <a:xfrm>
            <a:off x="7005637" y="4941093"/>
            <a:ext cx="95250" cy="95250"/>
          </a:xfrm>
          <a:prstGeom prst="rect">
            <a:avLst/>
          </a:prstGeom>
          <a:noFill/>
          <a:ln>
            <a:noFill/>
          </a:ln>
        </p:spPr>
      </p:pic>
      <p:sp>
        <p:nvSpPr>
          <p:cNvPr id="838" name="Google Shape;838;p28"/>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Managed Parallel Orchestrator</a:t>
            </a:r>
            <a:endParaRPr/>
          </a:p>
        </p:txBody>
      </p:sp>
      <p:sp>
        <p:nvSpPr>
          <p:cNvPr id="839" name="Google Shape;839;p28"/>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pic>
        <p:nvPicPr>
          <p:cNvPr descr="image.png" id="844" name="Google Shape;844;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45" name="Google Shape;845;p29"/>
          <p:cNvPicPr preferRelativeResize="0"/>
          <p:nvPr/>
        </p:nvPicPr>
        <p:blipFill rotWithShape="1">
          <a:blip r:embed="rId4">
            <a:alphaModFix/>
          </a:blip>
          <a:srcRect b="0" l="0" r="0" t="0"/>
          <a:stretch/>
        </p:blipFill>
        <p:spPr>
          <a:xfrm>
            <a:off x="571500" y="3818483"/>
            <a:ext cx="11049000" cy="1362075"/>
          </a:xfrm>
          <a:prstGeom prst="rect">
            <a:avLst/>
          </a:prstGeom>
          <a:noFill/>
          <a:ln>
            <a:noFill/>
          </a:ln>
        </p:spPr>
      </p:pic>
      <p:pic>
        <p:nvPicPr>
          <p:cNvPr descr="image.png" id="846" name="Google Shape;846;p29"/>
          <p:cNvPicPr preferRelativeResize="0"/>
          <p:nvPr/>
        </p:nvPicPr>
        <p:blipFill rotWithShape="1">
          <a:blip r:embed="rId5">
            <a:alphaModFix/>
          </a:blip>
          <a:srcRect b="0" l="0" r="0" t="0"/>
          <a:stretch/>
        </p:blipFill>
        <p:spPr>
          <a:xfrm>
            <a:off x="571500" y="2363241"/>
            <a:ext cx="3587650" cy="1340941"/>
          </a:xfrm>
          <a:prstGeom prst="rect">
            <a:avLst/>
          </a:prstGeom>
          <a:noFill/>
          <a:ln>
            <a:noFill/>
          </a:ln>
        </p:spPr>
      </p:pic>
      <p:pic>
        <p:nvPicPr>
          <p:cNvPr descr="image.png" id="847" name="Google Shape;847;p29"/>
          <p:cNvPicPr preferRelativeResize="0"/>
          <p:nvPr/>
        </p:nvPicPr>
        <p:blipFill rotWithShape="1">
          <a:blip r:embed="rId6">
            <a:alphaModFix/>
          </a:blip>
          <a:srcRect b="0" l="0" r="0" t="0"/>
          <a:stretch/>
        </p:blipFill>
        <p:spPr>
          <a:xfrm>
            <a:off x="4302025" y="2363241"/>
            <a:ext cx="3946624" cy="1340941"/>
          </a:xfrm>
          <a:prstGeom prst="rect">
            <a:avLst/>
          </a:prstGeom>
          <a:noFill/>
          <a:ln>
            <a:noFill/>
          </a:ln>
        </p:spPr>
      </p:pic>
      <p:pic>
        <p:nvPicPr>
          <p:cNvPr descr="image.png" id="848" name="Google Shape;848;p29"/>
          <p:cNvPicPr preferRelativeResize="0"/>
          <p:nvPr/>
        </p:nvPicPr>
        <p:blipFill rotWithShape="1">
          <a:blip r:embed="rId7">
            <a:alphaModFix/>
          </a:blip>
          <a:srcRect b="0" l="0" r="0" t="0"/>
          <a:stretch/>
        </p:blipFill>
        <p:spPr>
          <a:xfrm>
            <a:off x="8391525" y="2363241"/>
            <a:ext cx="3228826" cy="1340941"/>
          </a:xfrm>
          <a:prstGeom prst="rect">
            <a:avLst/>
          </a:prstGeom>
          <a:noFill/>
          <a:ln>
            <a:noFill/>
          </a:ln>
        </p:spPr>
      </p:pic>
      <p:pic>
        <p:nvPicPr>
          <p:cNvPr descr="image.png" id="849" name="Google Shape;849;p29"/>
          <p:cNvPicPr preferRelativeResize="0"/>
          <p:nvPr/>
        </p:nvPicPr>
        <p:blipFill rotWithShape="1">
          <a:blip r:embed="rId8">
            <a:alphaModFix/>
          </a:blip>
          <a:srcRect b="0" l="0" r="0" t="0"/>
          <a:stretch/>
        </p:blipFill>
        <p:spPr>
          <a:xfrm>
            <a:off x="695325" y="2515641"/>
            <a:ext cx="1219200" cy="200025"/>
          </a:xfrm>
          <a:prstGeom prst="rect">
            <a:avLst/>
          </a:prstGeom>
          <a:noFill/>
          <a:ln>
            <a:noFill/>
          </a:ln>
        </p:spPr>
      </p:pic>
      <p:pic>
        <p:nvPicPr>
          <p:cNvPr descr="image.png" id="850" name="Google Shape;850;p29"/>
          <p:cNvPicPr preferRelativeResize="0"/>
          <p:nvPr/>
        </p:nvPicPr>
        <p:blipFill rotWithShape="1">
          <a:blip r:embed="rId9">
            <a:alphaModFix/>
          </a:blip>
          <a:srcRect b="0" l="0" r="0" t="0"/>
          <a:stretch/>
        </p:blipFill>
        <p:spPr>
          <a:xfrm>
            <a:off x="4425850" y="2515641"/>
            <a:ext cx="1504950" cy="200025"/>
          </a:xfrm>
          <a:prstGeom prst="rect">
            <a:avLst/>
          </a:prstGeom>
          <a:noFill/>
          <a:ln>
            <a:noFill/>
          </a:ln>
        </p:spPr>
      </p:pic>
      <p:pic>
        <p:nvPicPr>
          <p:cNvPr descr="image.png" id="851" name="Google Shape;851;p29"/>
          <p:cNvPicPr preferRelativeResize="0"/>
          <p:nvPr/>
        </p:nvPicPr>
        <p:blipFill rotWithShape="1">
          <a:blip r:embed="rId10">
            <a:alphaModFix/>
          </a:blip>
          <a:srcRect b="0" l="0" r="0" t="0"/>
          <a:stretch/>
        </p:blipFill>
        <p:spPr>
          <a:xfrm>
            <a:off x="8515350" y="2515641"/>
            <a:ext cx="1104900" cy="200025"/>
          </a:xfrm>
          <a:prstGeom prst="rect">
            <a:avLst/>
          </a:prstGeom>
          <a:noFill/>
          <a:ln>
            <a:noFill/>
          </a:ln>
        </p:spPr>
      </p:pic>
      <p:pic>
        <p:nvPicPr>
          <p:cNvPr descr="image.png" id="852" name="Google Shape;852;p29"/>
          <p:cNvPicPr preferRelativeResize="0"/>
          <p:nvPr/>
        </p:nvPicPr>
        <p:blipFill rotWithShape="1">
          <a:blip r:embed="rId11">
            <a:alphaModFix/>
          </a:blip>
          <a:srcRect b="0" l="0" r="0" t="0"/>
          <a:stretch/>
        </p:blipFill>
        <p:spPr>
          <a:xfrm>
            <a:off x="571500" y="466725"/>
            <a:ext cx="857250" cy="209550"/>
          </a:xfrm>
          <a:prstGeom prst="rect">
            <a:avLst/>
          </a:prstGeom>
          <a:noFill/>
          <a:ln>
            <a:noFill/>
          </a:ln>
        </p:spPr>
      </p:pic>
      <p:graphicFrame>
        <p:nvGraphicFramePr>
          <p:cNvPr id="853" name="Google Shape;853;p29"/>
          <p:cNvGraphicFramePr/>
          <p:nvPr/>
        </p:nvGraphicFramePr>
        <p:xfrm>
          <a:off x="581025" y="3828008"/>
          <a:ext cx="3000000" cy="3000000"/>
        </p:xfrm>
        <a:graphic>
          <a:graphicData uri="http://schemas.openxmlformats.org/drawingml/2006/table">
            <a:tbl>
              <a:tblPr bandRow="1" firstRow="1">
                <a:noFill/>
                <a:tableStyleId>{4082E842-8FCA-41A0-AF41-31C70471DD3A}</a:tableStyleId>
              </a:tblPr>
              <a:tblGrid>
                <a:gridCol w="1854850"/>
                <a:gridCol w="1210725"/>
                <a:gridCol w="1355075"/>
                <a:gridCol w="1399425"/>
                <a:gridCol w="5209875"/>
              </a:tblGrid>
              <a:tr h="3357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Feature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Layer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Scope Level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Is Reusable?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Core Interactive Connection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357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Environment/Snapshot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Foundational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Organization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(Required)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Clones repos and installs target compiler dependencies for VM sandboxes.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57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 / Enterprise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(All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Automatically matching context keywords during active processes.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57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Skills &amp; 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Workflow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 / Org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(Versioned)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Injects explicit commands and custom postcondition checklists dynamically.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854" name="Google Shape;854;p29"/>
          <p:cNvSpPr/>
          <p:nvPr/>
        </p:nvSpPr>
        <p:spPr>
          <a:xfrm>
            <a:off x="581025" y="4137570"/>
            <a:ext cx="18548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5" name="Google Shape;855;p29"/>
          <p:cNvSpPr/>
          <p:nvPr/>
        </p:nvSpPr>
        <p:spPr>
          <a:xfrm>
            <a:off x="2435869" y="4137570"/>
            <a:ext cx="121071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6" name="Google Shape;856;p29"/>
          <p:cNvSpPr/>
          <p:nvPr/>
        </p:nvSpPr>
        <p:spPr>
          <a:xfrm>
            <a:off x="3646586" y="4137570"/>
            <a:ext cx="13550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7" name="Google Shape;857;p29"/>
          <p:cNvSpPr/>
          <p:nvPr/>
        </p:nvSpPr>
        <p:spPr>
          <a:xfrm>
            <a:off x="5001666" y="4137570"/>
            <a:ext cx="13994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8" name="Google Shape;858;p29"/>
          <p:cNvSpPr/>
          <p:nvPr/>
        </p:nvSpPr>
        <p:spPr>
          <a:xfrm>
            <a:off x="6401097" y="4137570"/>
            <a:ext cx="52098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9" name="Google Shape;859;p29"/>
          <p:cNvSpPr txBox="1"/>
          <p:nvPr/>
        </p:nvSpPr>
        <p:spPr>
          <a:xfrm>
            <a:off x="923925" y="2791866"/>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Environment Blueprints &amp; Snapshots</a:t>
            </a:r>
            <a:endParaRPr/>
          </a:p>
        </p:txBody>
      </p:sp>
      <p:sp>
        <p:nvSpPr>
          <p:cNvPr id="860" name="Google Shape;860;p29"/>
          <p:cNvSpPr txBox="1"/>
          <p:nvPr/>
        </p:nvSpPr>
        <p:spPr>
          <a:xfrm>
            <a:off x="923925" y="3054697"/>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Cloned &amp; Indexed Repository Database</a:t>
            </a:r>
            <a:endParaRPr/>
          </a:p>
        </p:txBody>
      </p:sp>
      <p:sp>
        <p:nvSpPr>
          <p:cNvPr id="861" name="Google Shape;861;p29"/>
          <p:cNvSpPr txBox="1"/>
          <p:nvPr/>
        </p:nvSpPr>
        <p:spPr>
          <a:xfrm>
            <a:off x="4654450" y="2791866"/>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Trigger-Based Context Knowledge</a:t>
            </a:r>
            <a:endParaRPr/>
          </a:p>
        </p:txBody>
      </p:sp>
      <p:sp>
        <p:nvSpPr>
          <p:cNvPr id="862" name="Google Shape;862;p29"/>
          <p:cNvSpPr txBox="1"/>
          <p:nvPr/>
        </p:nvSpPr>
        <p:spPr>
          <a:xfrm>
            <a:off x="4654450" y="3054697"/>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Committed Skills &amp; Playbook Templates</a:t>
            </a:r>
            <a:endParaRPr/>
          </a:p>
        </p:txBody>
      </p:sp>
      <p:sp>
        <p:nvSpPr>
          <p:cNvPr id="863" name="Google Shape;863;p29"/>
          <p:cNvSpPr txBox="1"/>
          <p:nvPr/>
        </p:nvSpPr>
        <p:spPr>
          <a:xfrm>
            <a:off x="4654450" y="3317527"/>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AGENTS.md Repository Rules</a:t>
            </a:r>
            <a:endParaRPr/>
          </a:p>
        </p:txBody>
      </p:sp>
      <p:sp>
        <p:nvSpPr>
          <p:cNvPr id="864" name="Google Shape;864;p29"/>
          <p:cNvSpPr txBox="1"/>
          <p:nvPr/>
        </p:nvSpPr>
        <p:spPr>
          <a:xfrm>
            <a:off x="8743950" y="2791866"/>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Webhooks &amp; Scheduled CRON Runs</a:t>
            </a:r>
            <a:endParaRPr/>
          </a:p>
        </p:txBody>
      </p:sp>
      <p:sp>
        <p:nvSpPr>
          <p:cNvPr id="865" name="Google Shape;865;p29"/>
          <p:cNvSpPr txBox="1"/>
          <p:nvPr/>
        </p:nvSpPr>
        <p:spPr>
          <a:xfrm>
            <a:off x="8743950" y="3054697"/>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Managed Parallel Coordinator Flows</a:t>
            </a:r>
            <a:endParaRPr/>
          </a:p>
        </p:txBody>
      </p:sp>
      <p:sp>
        <p:nvSpPr>
          <p:cNvPr id="866" name="Google Shape;866;p29"/>
          <p:cNvSpPr/>
          <p:nvPr/>
        </p:nvSpPr>
        <p:spPr>
          <a:xfrm>
            <a:off x="581025" y="4480470"/>
            <a:ext cx="18548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7" name="Google Shape;867;p29"/>
          <p:cNvSpPr/>
          <p:nvPr/>
        </p:nvSpPr>
        <p:spPr>
          <a:xfrm>
            <a:off x="2435869" y="4480470"/>
            <a:ext cx="121071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8" name="Google Shape;868;p29"/>
          <p:cNvSpPr/>
          <p:nvPr/>
        </p:nvSpPr>
        <p:spPr>
          <a:xfrm>
            <a:off x="3646586" y="4480470"/>
            <a:ext cx="13550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9" name="Google Shape;869;p29"/>
          <p:cNvSpPr/>
          <p:nvPr/>
        </p:nvSpPr>
        <p:spPr>
          <a:xfrm>
            <a:off x="5001666" y="4480470"/>
            <a:ext cx="13994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0" name="Google Shape;870;p29"/>
          <p:cNvSpPr/>
          <p:nvPr/>
        </p:nvSpPr>
        <p:spPr>
          <a:xfrm>
            <a:off x="6401097" y="4480470"/>
            <a:ext cx="52098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1" name="Google Shape;871;p29"/>
          <p:cNvSpPr/>
          <p:nvPr/>
        </p:nvSpPr>
        <p:spPr>
          <a:xfrm>
            <a:off x="581025" y="4823370"/>
            <a:ext cx="18548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2" name="Google Shape;872;p29"/>
          <p:cNvSpPr/>
          <p:nvPr/>
        </p:nvSpPr>
        <p:spPr>
          <a:xfrm>
            <a:off x="2435869" y="4823370"/>
            <a:ext cx="121071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3" name="Google Shape;873;p29"/>
          <p:cNvSpPr/>
          <p:nvPr/>
        </p:nvSpPr>
        <p:spPr>
          <a:xfrm>
            <a:off x="3646586" y="4823370"/>
            <a:ext cx="13550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4" name="Google Shape;874;p29"/>
          <p:cNvSpPr/>
          <p:nvPr/>
        </p:nvSpPr>
        <p:spPr>
          <a:xfrm>
            <a:off x="5001666" y="4823370"/>
            <a:ext cx="13994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5" name="Google Shape;875;p29"/>
          <p:cNvSpPr/>
          <p:nvPr/>
        </p:nvSpPr>
        <p:spPr>
          <a:xfrm>
            <a:off x="6401097" y="4823370"/>
            <a:ext cx="52098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76" name="Google Shape;876;p29"/>
          <p:cNvPicPr preferRelativeResize="0"/>
          <p:nvPr/>
        </p:nvPicPr>
        <p:blipFill rotWithShape="1">
          <a:blip r:embed="rId12">
            <a:alphaModFix/>
          </a:blip>
          <a:srcRect b="0" l="0" r="0" t="0"/>
          <a:stretch/>
        </p:blipFill>
        <p:spPr>
          <a:xfrm>
            <a:off x="695325" y="2815679"/>
            <a:ext cx="133350" cy="142875"/>
          </a:xfrm>
          <a:prstGeom prst="rect">
            <a:avLst/>
          </a:prstGeom>
          <a:noFill/>
          <a:ln>
            <a:noFill/>
          </a:ln>
        </p:spPr>
      </p:pic>
      <p:pic>
        <p:nvPicPr>
          <p:cNvPr descr="image.png" id="877" name="Google Shape;877;p29"/>
          <p:cNvPicPr preferRelativeResize="0"/>
          <p:nvPr/>
        </p:nvPicPr>
        <p:blipFill rotWithShape="1">
          <a:blip r:embed="rId13">
            <a:alphaModFix/>
          </a:blip>
          <a:srcRect b="0" l="0" r="0" t="0"/>
          <a:stretch/>
        </p:blipFill>
        <p:spPr>
          <a:xfrm>
            <a:off x="695325" y="3078509"/>
            <a:ext cx="114300" cy="142875"/>
          </a:xfrm>
          <a:prstGeom prst="rect">
            <a:avLst/>
          </a:prstGeom>
          <a:noFill/>
          <a:ln>
            <a:noFill/>
          </a:ln>
        </p:spPr>
      </p:pic>
      <p:pic>
        <p:nvPicPr>
          <p:cNvPr descr="image.png" id="878" name="Google Shape;878;p29"/>
          <p:cNvPicPr preferRelativeResize="0"/>
          <p:nvPr/>
        </p:nvPicPr>
        <p:blipFill rotWithShape="1">
          <a:blip r:embed="rId14">
            <a:alphaModFix/>
          </a:blip>
          <a:srcRect b="0" l="0" r="0" t="0"/>
          <a:stretch/>
        </p:blipFill>
        <p:spPr>
          <a:xfrm>
            <a:off x="4425850" y="2815679"/>
            <a:ext cx="133350" cy="142875"/>
          </a:xfrm>
          <a:prstGeom prst="rect">
            <a:avLst/>
          </a:prstGeom>
          <a:noFill/>
          <a:ln>
            <a:noFill/>
          </a:ln>
        </p:spPr>
      </p:pic>
      <p:pic>
        <p:nvPicPr>
          <p:cNvPr descr="image.png" id="879" name="Google Shape;879;p29"/>
          <p:cNvPicPr preferRelativeResize="0"/>
          <p:nvPr/>
        </p:nvPicPr>
        <p:blipFill rotWithShape="1">
          <a:blip r:embed="rId15">
            <a:alphaModFix/>
          </a:blip>
          <a:srcRect b="0" l="0" r="0" t="0"/>
          <a:stretch/>
        </p:blipFill>
        <p:spPr>
          <a:xfrm>
            <a:off x="4425850" y="3078509"/>
            <a:ext cx="133350" cy="142875"/>
          </a:xfrm>
          <a:prstGeom prst="rect">
            <a:avLst/>
          </a:prstGeom>
          <a:noFill/>
          <a:ln>
            <a:noFill/>
          </a:ln>
        </p:spPr>
      </p:pic>
      <p:pic>
        <p:nvPicPr>
          <p:cNvPr descr="image.png" id="880" name="Google Shape;880;p29"/>
          <p:cNvPicPr preferRelativeResize="0"/>
          <p:nvPr/>
        </p:nvPicPr>
        <p:blipFill rotWithShape="1">
          <a:blip r:embed="rId16">
            <a:alphaModFix/>
          </a:blip>
          <a:srcRect b="0" l="0" r="0" t="0"/>
          <a:stretch/>
        </p:blipFill>
        <p:spPr>
          <a:xfrm>
            <a:off x="4425850" y="3341340"/>
            <a:ext cx="104775" cy="142875"/>
          </a:xfrm>
          <a:prstGeom prst="rect">
            <a:avLst/>
          </a:prstGeom>
          <a:noFill/>
          <a:ln>
            <a:noFill/>
          </a:ln>
        </p:spPr>
      </p:pic>
      <p:pic>
        <p:nvPicPr>
          <p:cNvPr descr="image.png" id="881" name="Google Shape;881;p29"/>
          <p:cNvPicPr preferRelativeResize="0"/>
          <p:nvPr/>
        </p:nvPicPr>
        <p:blipFill rotWithShape="1">
          <a:blip r:embed="rId17">
            <a:alphaModFix/>
          </a:blip>
          <a:srcRect b="0" l="0" r="0" t="0"/>
          <a:stretch/>
        </p:blipFill>
        <p:spPr>
          <a:xfrm>
            <a:off x="8515350" y="2815679"/>
            <a:ext cx="171450" cy="142875"/>
          </a:xfrm>
          <a:prstGeom prst="rect">
            <a:avLst/>
          </a:prstGeom>
          <a:noFill/>
          <a:ln>
            <a:noFill/>
          </a:ln>
        </p:spPr>
      </p:pic>
      <p:pic>
        <p:nvPicPr>
          <p:cNvPr descr="image.png" id="882" name="Google Shape;882;p29"/>
          <p:cNvPicPr preferRelativeResize="0"/>
          <p:nvPr/>
        </p:nvPicPr>
        <p:blipFill rotWithShape="1">
          <a:blip r:embed="rId18">
            <a:alphaModFix/>
          </a:blip>
          <a:srcRect b="0" l="0" r="0" t="0"/>
          <a:stretch/>
        </p:blipFill>
        <p:spPr>
          <a:xfrm>
            <a:off x="8515350" y="3078509"/>
            <a:ext cx="133350" cy="142875"/>
          </a:xfrm>
          <a:prstGeom prst="rect">
            <a:avLst/>
          </a:prstGeom>
          <a:noFill/>
          <a:ln>
            <a:noFill/>
          </a:ln>
        </p:spPr>
      </p:pic>
      <p:sp>
        <p:nvSpPr>
          <p:cNvPr id="883" name="Google Shape;883;p29"/>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Integration Fabric</a:t>
            </a:r>
            <a:endParaRPr/>
          </a:p>
        </p:txBody>
      </p:sp>
      <p:sp>
        <p:nvSpPr>
          <p:cNvPr id="884" name="Google Shape;884;p29"/>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8" name="Shape 888"/>
        <p:cNvGrpSpPr/>
        <p:nvPr/>
      </p:nvGrpSpPr>
      <p:grpSpPr>
        <a:xfrm>
          <a:off x="0" y="0"/>
          <a:ext cx="0" cy="0"/>
          <a:chOff x="0" y="0"/>
          <a:chExt cx="0" cy="0"/>
        </a:xfrm>
      </p:grpSpPr>
      <p:pic>
        <p:nvPicPr>
          <p:cNvPr descr="image.png" id="889" name="Google Shape;889;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90" name="Google Shape;890;p30"/>
          <p:cNvPicPr preferRelativeResize="0"/>
          <p:nvPr/>
        </p:nvPicPr>
        <p:blipFill rotWithShape="1">
          <a:blip r:embed="rId4">
            <a:alphaModFix/>
          </a:blip>
          <a:srcRect b="0" l="0" r="0" t="0"/>
          <a:stretch/>
        </p:blipFill>
        <p:spPr>
          <a:xfrm>
            <a:off x="571500" y="3315592"/>
            <a:ext cx="2118270" cy="912614"/>
          </a:xfrm>
          <a:prstGeom prst="rect">
            <a:avLst/>
          </a:prstGeom>
          <a:noFill/>
          <a:ln>
            <a:noFill/>
          </a:ln>
        </p:spPr>
      </p:pic>
      <p:pic>
        <p:nvPicPr>
          <p:cNvPr descr="image.png" id="891" name="Google Shape;891;p30"/>
          <p:cNvPicPr preferRelativeResize="0"/>
          <p:nvPr/>
        </p:nvPicPr>
        <p:blipFill rotWithShape="1">
          <a:blip r:embed="rId5">
            <a:alphaModFix/>
          </a:blip>
          <a:srcRect b="0" l="0" r="0" t="0"/>
          <a:stretch/>
        </p:blipFill>
        <p:spPr>
          <a:xfrm>
            <a:off x="2804070" y="3315592"/>
            <a:ext cx="2118419" cy="912614"/>
          </a:xfrm>
          <a:prstGeom prst="rect">
            <a:avLst/>
          </a:prstGeom>
          <a:noFill/>
          <a:ln>
            <a:noFill/>
          </a:ln>
        </p:spPr>
      </p:pic>
      <p:pic>
        <p:nvPicPr>
          <p:cNvPr descr="image.png" id="892" name="Google Shape;892;p30"/>
          <p:cNvPicPr preferRelativeResize="0"/>
          <p:nvPr/>
        </p:nvPicPr>
        <p:blipFill rotWithShape="1">
          <a:blip r:embed="rId6">
            <a:alphaModFix/>
          </a:blip>
          <a:srcRect b="0" l="0" r="0" t="0"/>
          <a:stretch/>
        </p:blipFill>
        <p:spPr>
          <a:xfrm>
            <a:off x="5036790" y="3315592"/>
            <a:ext cx="2118270" cy="912614"/>
          </a:xfrm>
          <a:prstGeom prst="rect">
            <a:avLst/>
          </a:prstGeom>
          <a:noFill/>
          <a:ln>
            <a:noFill/>
          </a:ln>
        </p:spPr>
      </p:pic>
      <p:pic>
        <p:nvPicPr>
          <p:cNvPr descr="image.png" id="893" name="Google Shape;893;p30"/>
          <p:cNvPicPr preferRelativeResize="0"/>
          <p:nvPr/>
        </p:nvPicPr>
        <p:blipFill rotWithShape="1">
          <a:blip r:embed="rId7">
            <a:alphaModFix/>
          </a:blip>
          <a:srcRect b="0" l="0" r="0" t="0"/>
          <a:stretch/>
        </p:blipFill>
        <p:spPr>
          <a:xfrm>
            <a:off x="7269360" y="3315592"/>
            <a:ext cx="2118419" cy="912614"/>
          </a:xfrm>
          <a:prstGeom prst="rect">
            <a:avLst/>
          </a:prstGeom>
          <a:noFill/>
          <a:ln>
            <a:noFill/>
          </a:ln>
        </p:spPr>
      </p:pic>
      <p:pic>
        <p:nvPicPr>
          <p:cNvPr descr="image.png" id="894" name="Google Shape;894;p30"/>
          <p:cNvPicPr preferRelativeResize="0"/>
          <p:nvPr/>
        </p:nvPicPr>
        <p:blipFill rotWithShape="1">
          <a:blip r:embed="rId8">
            <a:alphaModFix/>
          </a:blip>
          <a:srcRect b="0" l="0" r="0" t="0"/>
          <a:stretch/>
        </p:blipFill>
        <p:spPr>
          <a:xfrm>
            <a:off x="9502080" y="3315592"/>
            <a:ext cx="2118270" cy="912614"/>
          </a:xfrm>
          <a:prstGeom prst="rect">
            <a:avLst/>
          </a:prstGeom>
          <a:noFill/>
          <a:ln>
            <a:noFill/>
          </a:ln>
        </p:spPr>
      </p:pic>
      <p:pic>
        <p:nvPicPr>
          <p:cNvPr descr="image.png" id="895" name="Google Shape;895;p30"/>
          <p:cNvPicPr preferRelativeResize="0"/>
          <p:nvPr/>
        </p:nvPicPr>
        <p:blipFill rotWithShape="1">
          <a:blip r:embed="rId9">
            <a:alphaModFix/>
          </a:blip>
          <a:srcRect b="0" l="0" r="0" t="0"/>
          <a:stretch/>
        </p:blipFill>
        <p:spPr>
          <a:xfrm>
            <a:off x="571500" y="466725"/>
            <a:ext cx="857250" cy="209550"/>
          </a:xfrm>
          <a:prstGeom prst="rect">
            <a:avLst/>
          </a:prstGeom>
          <a:noFill/>
          <a:ln>
            <a:noFill/>
          </a:ln>
        </p:spPr>
      </p:pic>
      <p:sp>
        <p:nvSpPr>
          <p:cNvPr id="896" name="Google Shape;896;p30"/>
          <p:cNvSpPr txBox="1"/>
          <p:nvPr/>
        </p:nvSpPr>
        <p:spPr>
          <a:xfrm>
            <a:off x="695325" y="3467992"/>
            <a:ext cx="187062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01. BOOT &amp; LOAD</a:t>
            </a:r>
            <a:endParaRPr/>
          </a:p>
        </p:txBody>
      </p:sp>
      <p:sp>
        <p:nvSpPr>
          <p:cNvPr id="897" name="Google Shape;897;p30"/>
          <p:cNvSpPr txBox="1"/>
          <p:nvPr/>
        </p:nvSpPr>
        <p:spPr>
          <a:xfrm>
            <a:off x="695325" y="3648967"/>
            <a:ext cx="1870620" cy="45541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Manual or API trigger boots Ubuntu container, mapping custom knowledge parameters.</a:t>
            </a:r>
            <a:endParaRPr/>
          </a:p>
        </p:txBody>
      </p:sp>
      <p:sp>
        <p:nvSpPr>
          <p:cNvPr id="898" name="Google Shape;898;p30"/>
          <p:cNvSpPr txBox="1"/>
          <p:nvPr/>
        </p:nvSpPr>
        <p:spPr>
          <a:xfrm>
            <a:off x="2927895" y="3467992"/>
            <a:ext cx="1870769"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7C3AED"/>
                </a:solidFill>
                <a:latin typeface="JetBrains Mono"/>
                <a:ea typeface="JetBrains Mono"/>
                <a:cs typeface="JetBrains Mono"/>
                <a:sym typeface="JetBrains Mono"/>
              </a:rPr>
              <a:t>02. AGENTS PROTOCOL</a:t>
            </a:r>
            <a:endParaRPr/>
          </a:p>
        </p:txBody>
      </p:sp>
      <p:sp>
        <p:nvSpPr>
          <p:cNvPr id="899" name="Google Shape;899;p30"/>
          <p:cNvSpPr txBox="1"/>
          <p:nvPr/>
        </p:nvSpPr>
        <p:spPr>
          <a:xfrm>
            <a:off x="2927895" y="3648967"/>
            <a:ext cx="1870769" cy="45541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Discovers Skills, processes active Playbooks, and parses repository rules files.</a:t>
            </a:r>
            <a:endParaRPr/>
          </a:p>
        </p:txBody>
      </p:sp>
      <p:sp>
        <p:nvSpPr>
          <p:cNvPr id="900" name="Google Shape;900;p30"/>
          <p:cNvSpPr txBox="1"/>
          <p:nvPr/>
        </p:nvSpPr>
        <p:spPr>
          <a:xfrm>
            <a:off x="5160615" y="3467992"/>
            <a:ext cx="187062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0D9488"/>
                </a:solidFill>
                <a:latin typeface="JetBrains Mono"/>
                <a:ea typeface="JetBrains Mono"/>
                <a:cs typeface="JetBrains Mono"/>
                <a:sym typeface="JetBrains Mono"/>
              </a:rPr>
              <a:t>03. REASONING &amp; PLAN</a:t>
            </a:r>
            <a:endParaRPr/>
          </a:p>
        </p:txBody>
      </p:sp>
      <p:sp>
        <p:nvSpPr>
          <p:cNvPr id="901" name="Google Shape;901;p30"/>
          <p:cNvSpPr txBox="1"/>
          <p:nvPr/>
        </p:nvSpPr>
        <p:spPr>
          <a:xfrm>
            <a:off x="5160615" y="3648967"/>
            <a:ext cx="1870620" cy="45541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Deconstructs objectives, scopes directory trees, and maps specific dependencies.</a:t>
            </a:r>
            <a:endParaRPr/>
          </a:p>
        </p:txBody>
      </p:sp>
      <p:sp>
        <p:nvSpPr>
          <p:cNvPr id="902" name="Google Shape;902;p30"/>
          <p:cNvSpPr txBox="1"/>
          <p:nvPr/>
        </p:nvSpPr>
        <p:spPr>
          <a:xfrm>
            <a:off x="7393185" y="3467992"/>
            <a:ext cx="1870769"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EA580C"/>
                </a:solidFill>
                <a:latin typeface="JetBrains Mono"/>
                <a:ea typeface="JetBrains Mono"/>
                <a:cs typeface="JetBrains Mono"/>
                <a:sym typeface="JetBrains Mono"/>
              </a:rPr>
              <a:t>04. WRITE &amp; VERIFY</a:t>
            </a:r>
            <a:endParaRPr/>
          </a:p>
        </p:txBody>
      </p:sp>
      <p:sp>
        <p:nvSpPr>
          <p:cNvPr id="903" name="Google Shape;903;p30"/>
          <p:cNvSpPr txBox="1"/>
          <p:nvPr/>
        </p:nvSpPr>
        <p:spPr>
          <a:xfrm>
            <a:off x="7393185" y="3648967"/>
            <a:ext cx="1870769" cy="45541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Executes code inside Workspace IDE. Verifies via local compilers, linters, and test suites.</a:t>
            </a:r>
            <a:endParaRPr/>
          </a:p>
        </p:txBody>
      </p:sp>
      <p:sp>
        <p:nvSpPr>
          <p:cNvPr id="904" name="Google Shape;904;p30"/>
          <p:cNvSpPr txBox="1"/>
          <p:nvPr/>
        </p:nvSpPr>
        <p:spPr>
          <a:xfrm>
            <a:off x="9625905" y="3467992"/>
            <a:ext cx="187062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05. PR DEPLOYMENT</a:t>
            </a:r>
            <a:endParaRPr/>
          </a:p>
        </p:txBody>
      </p:sp>
      <p:sp>
        <p:nvSpPr>
          <p:cNvPr id="905" name="Google Shape;905;p30"/>
          <p:cNvSpPr txBox="1"/>
          <p:nvPr/>
        </p:nvSpPr>
        <p:spPr>
          <a:xfrm>
            <a:off x="9625905" y="3648967"/>
            <a:ext cx="1870620" cy="45541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Pushes code, structures branch PR, suggests code lessons, and pauses for review.</a:t>
            </a:r>
            <a:endParaRPr/>
          </a:p>
        </p:txBody>
      </p:sp>
      <p:sp>
        <p:nvSpPr>
          <p:cNvPr id="906" name="Google Shape;906;p30"/>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Detailed Session Lifecycle Pipeline</a:t>
            </a:r>
            <a:endParaRPr/>
          </a:p>
        </p:txBody>
      </p:sp>
      <p:sp>
        <p:nvSpPr>
          <p:cNvPr id="907" name="Google Shape;907;p30"/>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1" name="Shape 911"/>
        <p:cNvGrpSpPr/>
        <p:nvPr/>
      </p:nvGrpSpPr>
      <p:grpSpPr>
        <a:xfrm>
          <a:off x="0" y="0"/>
          <a:ext cx="0" cy="0"/>
          <a:chOff x="0" y="0"/>
          <a:chExt cx="0" cy="0"/>
        </a:xfrm>
      </p:grpSpPr>
      <p:pic>
        <p:nvPicPr>
          <p:cNvPr descr="image.png" id="912" name="Google Shape;912;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13" name="Google Shape;913;p31"/>
          <p:cNvPicPr preferRelativeResize="0"/>
          <p:nvPr/>
        </p:nvPicPr>
        <p:blipFill rotWithShape="1">
          <a:blip r:embed="rId4">
            <a:alphaModFix/>
          </a:blip>
          <a:srcRect b="0" l="0" r="0" t="0"/>
          <a:stretch/>
        </p:blipFill>
        <p:spPr>
          <a:xfrm>
            <a:off x="571500" y="3178671"/>
            <a:ext cx="2655093" cy="1186457"/>
          </a:xfrm>
          <a:prstGeom prst="rect">
            <a:avLst/>
          </a:prstGeom>
          <a:noFill/>
          <a:ln>
            <a:noFill/>
          </a:ln>
        </p:spPr>
      </p:pic>
      <p:pic>
        <p:nvPicPr>
          <p:cNvPr descr="image.png" id="914" name="Google Shape;914;p31"/>
          <p:cNvPicPr preferRelativeResize="0"/>
          <p:nvPr/>
        </p:nvPicPr>
        <p:blipFill rotWithShape="1">
          <a:blip r:embed="rId5">
            <a:alphaModFix/>
          </a:blip>
          <a:srcRect b="0" l="0" r="0" t="0"/>
          <a:stretch/>
        </p:blipFill>
        <p:spPr>
          <a:xfrm>
            <a:off x="3369468" y="3178671"/>
            <a:ext cx="2655093" cy="1186457"/>
          </a:xfrm>
          <a:prstGeom prst="rect">
            <a:avLst/>
          </a:prstGeom>
          <a:noFill/>
          <a:ln>
            <a:noFill/>
          </a:ln>
        </p:spPr>
      </p:pic>
      <p:pic>
        <p:nvPicPr>
          <p:cNvPr descr="image.png" id="915" name="Google Shape;915;p31"/>
          <p:cNvPicPr preferRelativeResize="0"/>
          <p:nvPr/>
        </p:nvPicPr>
        <p:blipFill rotWithShape="1">
          <a:blip r:embed="rId6">
            <a:alphaModFix/>
          </a:blip>
          <a:srcRect b="0" l="0" r="0" t="0"/>
          <a:stretch/>
        </p:blipFill>
        <p:spPr>
          <a:xfrm>
            <a:off x="6167437" y="3178671"/>
            <a:ext cx="2655093" cy="1186457"/>
          </a:xfrm>
          <a:prstGeom prst="rect">
            <a:avLst/>
          </a:prstGeom>
          <a:noFill/>
          <a:ln>
            <a:noFill/>
          </a:ln>
        </p:spPr>
      </p:pic>
      <p:pic>
        <p:nvPicPr>
          <p:cNvPr descr="image.png" id="916" name="Google Shape;916;p31"/>
          <p:cNvPicPr preferRelativeResize="0"/>
          <p:nvPr/>
        </p:nvPicPr>
        <p:blipFill rotWithShape="1">
          <a:blip r:embed="rId7">
            <a:alphaModFix/>
          </a:blip>
          <a:srcRect b="0" l="0" r="0" t="0"/>
          <a:stretch/>
        </p:blipFill>
        <p:spPr>
          <a:xfrm>
            <a:off x="8965406" y="3178671"/>
            <a:ext cx="2655093" cy="1186457"/>
          </a:xfrm>
          <a:prstGeom prst="rect">
            <a:avLst/>
          </a:prstGeom>
          <a:noFill/>
          <a:ln>
            <a:noFill/>
          </a:ln>
        </p:spPr>
      </p:pic>
      <p:pic>
        <p:nvPicPr>
          <p:cNvPr descr="image.png" id="917" name="Google Shape;917;p31"/>
          <p:cNvPicPr preferRelativeResize="0"/>
          <p:nvPr/>
        </p:nvPicPr>
        <p:blipFill rotWithShape="1">
          <a:blip r:embed="rId8">
            <a:alphaModFix/>
          </a:blip>
          <a:srcRect b="0" l="0" r="0" t="0"/>
          <a:stretch/>
        </p:blipFill>
        <p:spPr>
          <a:xfrm>
            <a:off x="571500" y="466725"/>
            <a:ext cx="857250" cy="209550"/>
          </a:xfrm>
          <a:prstGeom prst="rect">
            <a:avLst/>
          </a:prstGeom>
          <a:noFill/>
          <a:ln>
            <a:noFill/>
          </a:ln>
        </p:spPr>
      </p:pic>
      <p:sp>
        <p:nvSpPr>
          <p:cNvPr id="918" name="Google Shape;918;p31"/>
          <p:cNvSpPr txBox="1"/>
          <p:nvPr/>
        </p:nvSpPr>
        <p:spPr>
          <a:xfrm>
            <a:off x="723900" y="3359646"/>
            <a:ext cx="235029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2563EB"/>
                </a:solidFill>
                <a:latin typeface="JetBrains Mono"/>
                <a:ea typeface="JetBrains Mono"/>
                <a:cs typeface="JetBrains Mono"/>
                <a:sym typeface="JetBrains Mono"/>
              </a:rPr>
              <a:t>01. CREATION</a:t>
            </a:r>
            <a:endParaRPr/>
          </a:p>
        </p:txBody>
      </p:sp>
      <p:sp>
        <p:nvSpPr>
          <p:cNvPr id="919" name="Google Shape;919;p31"/>
          <p:cNvSpPr txBox="1"/>
          <p:nvPr/>
        </p:nvSpPr>
        <p:spPr>
          <a:xfrm>
            <a:off x="723900" y="3550146"/>
            <a:ext cx="2350293" cy="662582"/>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Engineers upload instructions manually, or let Devin extract parameters directly from repository READMEs and successful sessions.</a:t>
            </a:r>
            <a:endParaRPr/>
          </a:p>
        </p:txBody>
      </p:sp>
      <p:sp>
        <p:nvSpPr>
          <p:cNvPr id="920" name="Google Shape;920;p31"/>
          <p:cNvSpPr txBox="1"/>
          <p:nvPr/>
        </p:nvSpPr>
        <p:spPr>
          <a:xfrm>
            <a:off x="3521868" y="3359646"/>
            <a:ext cx="235029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7C3AED"/>
                </a:solidFill>
                <a:latin typeface="JetBrains Mono"/>
                <a:ea typeface="JetBrains Mono"/>
                <a:cs typeface="JetBrains Mono"/>
                <a:sym typeface="JetBrains Mono"/>
              </a:rPr>
              <a:t>02. INDEXING</a:t>
            </a:r>
            <a:endParaRPr/>
          </a:p>
        </p:txBody>
      </p:sp>
      <p:sp>
        <p:nvSpPr>
          <p:cNvPr id="921" name="Google Shape;921;p31"/>
          <p:cNvSpPr txBox="1"/>
          <p:nvPr/>
        </p:nvSpPr>
        <p:spPr>
          <a:xfrm>
            <a:off x="3521868" y="355014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Associates folders with explicit regex trigger descriptions. Restricts access scopes to specific code repositories.</a:t>
            </a:r>
            <a:endParaRPr/>
          </a:p>
        </p:txBody>
      </p:sp>
      <p:sp>
        <p:nvSpPr>
          <p:cNvPr id="922" name="Google Shape;922;p31"/>
          <p:cNvSpPr txBox="1"/>
          <p:nvPr/>
        </p:nvSpPr>
        <p:spPr>
          <a:xfrm>
            <a:off x="6319837" y="3359646"/>
            <a:ext cx="235029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D9488"/>
                </a:solidFill>
                <a:latin typeface="JetBrains Mono"/>
                <a:ea typeface="JetBrains Mono"/>
                <a:cs typeface="JetBrains Mono"/>
                <a:sym typeface="JetBrains Mono"/>
              </a:rPr>
              <a:t>03. FETCH</a:t>
            </a:r>
            <a:endParaRPr/>
          </a:p>
        </p:txBody>
      </p:sp>
      <p:sp>
        <p:nvSpPr>
          <p:cNvPr id="923" name="Google Shape;923;p31"/>
          <p:cNvSpPr txBox="1"/>
          <p:nvPr/>
        </p:nvSpPr>
        <p:spPr>
          <a:xfrm>
            <a:off x="6319837" y="355014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Dynamically feeds specific instructions to active VM sessions when workspace search criteria are contextually matched.</a:t>
            </a:r>
            <a:endParaRPr/>
          </a:p>
        </p:txBody>
      </p:sp>
      <p:sp>
        <p:nvSpPr>
          <p:cNvPr id="924" name="Google Shape;924;p31"/>
          <p:cNvSpPr txBox="1"/>
          <p:nvPr/>
        </p:nvSpPr>
        <p:spPr>
          <a:xfrm>
            <a:off x="9117806" y="3359646"/>
            <a:ext cx="235029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EA580C"/>
                </a:solidFill>
                <a:latin typeface="JetBrains Mono"/>
                <a:ea typeface="JetBrains Mono"/>
                <a:cs typeface="JetBrains Mono"/>
                <a:sym typeface="JetBrains Mono"/>
              </a:rPr>
              <a:t>04. DISTRIBUTION</a:t>
            </a:r>
            <a:endParaRPr/>
          </a:p>
        </p:txBody>
      </p:sp>
      <p:sp>
        <p:nvSpPr>
          <p:cNvPr id="925" name="Google Shape;925;p31"/>
          <p:cNvSpPr txBox="1"/>
          <p:nvPr/>
        </p:nvSpPr>
        <p:spPr>
          <a:xfrm>
            <a:off x="9117806" y="355014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Synchronizes custom checklists globally. Propagates verified group-level criteria to secure enterprise environments.</a:t>
            </a:r>
            <a:endParaRPr/>
          </a:p>
        </p:txBody>
      </p:sp>
      <p:sp>
        <p:nvSpPr>
          <p:cNvPr id="926" name="Google Shape;926;p31"/>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Knowledge Lifecycle Pipeline</a:t>
            </a:r>
            <a:endParaRPr/>
          </a:p>
        </p:txBody>
      </p:sp>
      <p:sp>
        <p:nvSpPr>
          <p:cNvPr id="927" name="Google Shape;927;p31"/>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1" name="Shape 931"/>
        <p:cNvGrpSpPr/>
        <p:nvPr/>
      </p:nvGrpSpPr>
      <p:grpSpPr>
        <a:xfrm>
          <a:off x="0" y="0"/>
          <a:ext cx="0" cy="0"/>
          <a:chOff x="0" y="0"/>
          <a:chExt cx="0" cy="0"/>
        </a:xfrm>
      </p:grpSpPr>
      <p:pic>
        <p:nvPicPr>
          <p:cNvPr descr="image.png" id="932" name="Google Shape;932;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3" name="Google Shape;933;p32"/>
          <p:cNvPicPr preferRelativeResize="0"/>
          <p:nvPr/>
        </p:nvPicPr>
        <p:blipFill rotWithShape="1">
          <a:blip r:embed="rId4">
            <a:alphaModFix/>
          </a:blip>
          <a:srcRect b="0" l="0" r="0" t="0"/>
          <a:stretch/>
        </p:blipFill>
        <p:spPr>
          <a:xfrm>
            <a:off x="571500" y="1485900"/>
            <a:ext cx="6243637" cy="4572000"/>
          </a:xfrm>
          <a:prstGeom prst="rect">
            <a:avLst/>
          </a:prstGeom>
          <a:noFill/>
          <a:ln>
            <a:noFill/>
          </a:ln>
        </p:spPr>
      </p:pic>
      <p:pic>
        <p:nvPicPr>
          <p:cNvPr descr="image.png" id="934" name="Google Shape;934;p32"/>
          <p:cNvPicPr preferRelativeResize="0"/>
          <p:nvPr/>
        </p:nvPicPr>
        <p:blipFill rotWithShape="1">
          <a:blip r:embed="rId5">
            <a:alphaModFix/>
          </a:blip>
          <a:srcRect b="0" l="0" r="0" t="0"/>
          <a:stretch/>
        </p:blipFill>
        <p:spPr>
          <a:xfrm>
            <a:off x="7005637" y="1793527"/>
            <a:ext cx="4614862" cy="3362325"/>
          </a:xfrm>
          <a:prstGeom prst="rect">
            <a:avLst/>
          </a:prstGeom>
          <a:noFill/>
          <a:ln>
            <a:noFill/>
          </a:ln>
        </p:spPr>
      </p:pic>
      <p:pic>
        <p:nvPicPr>
          <p:cNvPr descr="image.png" id="935" name="Google Shape;935;p32"/>
          <p:cNvPicPr preferRelativeResize="0"/>
          <p:nvPr/>
        </p:nvPicPr>
        <p:blipFill rotWithShape="1">
          <a:blip r:embed="rId6">
            <a:alphaModFix/>
          </a:blip>
          <a:srcRect b="0" l="0" r="0" t="0"/>
          <a:stretch/>
        </p:blipFill>
        <p:spPr>
          <a:xfrm>
            <a:off x="571500" y="466725"/>
            <a:ext cx="857250" cy="209550"/>
          </a:xfrm>
          <a:prstGeom prst="rect">
            <a:avLst/>
          </a:prstGeom>
          <a:noFill/>
          <a:ln>
            <a:noFill/>
          </a:ln>
        </p:spPr>
      </p:pic>
      <p:sp>
        <p:nvSpPr>
          <p:cNvPr id="936" name="Google Shape;936;p32"/>
          <p:cNvSpPr txBox="1"/>
          <p:nvPr/>
        </p:nvSpPr>
        <p:spPr>
          <a:xfrm>
            <a:off x="752475" y="1666875"/>
            <a:ext cx="5881687" cy="193327"/>
          </a:xfrm>
          <a:prstGeom prst="rect">
            <a:avLst/>
          </a:prstGeom>
          <a:noFill/>
          <a:ln>
            <a:noFill/>
          </a:ln>
        </p:spPr>
        <p:txBody>
          <a:bodyPr anchorCtr="0" anchor="t" bIns="0" lIns="114300" spcFirstLastPara="1" rIns="0" wrap="square" tIns="0">
            <a:spAutoFit/>
          </a:bodyPr>
          <a:lstStyle/>
          <a:p>
            <a:pPr indent="0" lvl="0" marL="0" marR="0" rtl="0" algn="l">
              <a:lnSpc>
                <a:spcPct val="144952"/>
              </a:lnSpc>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FEATURE IMPLEMENTATION LIFECYCLE (JIRA TO PR)</a:t>
            </a:r>
            <a:endParaRPr/>
          </a:p>
        </p:txBody>
      </p:sp>
      <p:sp>
        <p:nvSpPr>
          <p:cNvPr id="937" name="Google Shape;937;p32"/>
          <p:cNvSpPr txBox="1"/>
          <p:nvPr/>
        </p:nvSpPr>
        <p:spPr>
          <a:xfrm>
            <a:off x="7005637" y="1485900"/>
            <a:ext cx="4614862" cy="193327"/>
          </a:xfrm>
          <a:prstGeom prst="rect">
            <a:avLst/>
          </a:prstGeom>
          <a:noFill/>
          <a:ln>
            <a:noFill/>
          </a:ln>
        </p:spPr>
        <p:txBody>
          <a:bodyPr anchorCtr="0" anchor="t" bIns="0" lIns="133350" spcFirstLastPara="1" rIns="0" wrap="square" tIns="0">
            <a:spAutoFit/>
          </a:bodyPr>
          <a:lstStyle/>
          <a:p>
            <a:pPr indent="0" lvl="0" marL="0" marR="0" rtl="0" algn="ctr">
              <a:lnSpc>
                <a:spcPct val="144952"/>
              </a:lnSpc>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FEATURE PARTICIPATION SUMMARY</a:t>
            </a:r>
            <a:endParaRPr/>
          </a:p>
        </p:txBody>
      </p:sp>
      <p:pic>
        <p:nvPicPr>
          <p:cNvPr descr="image.png" id="938" name="Google Shape;938;p32"/>
          <p:cNvPicPr preferRelativeResize="0"/>
          <p:nvPr/>
        </p:nvPicPr>
        <p:blipFill rotWithShape="1">
          <a:blip r:embed="rId7">
            <a:alphaModFix/>
          </a:blip>
          <a:srcRect b="0" l="0" r="0" t="0"/>
          <a:stretch/>
        </p:blipFill>
        <p:spPr>
          <a:xfrm>
            <a:off x="752475" y="1704975"/>
            <a:ext cx="114300" cy="133350"/>
          </a:xfrm>
          <a:prstGeom prst="rect">
            <a:avLst/>
          </a:prstGeom>
          <a:noFill/>
          <a:ln>
            <a:noFill/>
          </a:ln>
        </p:spPr>
      </p:pic>
      <p:sp>
        <p:nvSpPr>
          <p:cNvPr id="939" name="Google Shape;939;p32"/>
          <p:cNvSpPr/>
          <p:nvPr/>
        </p:nvSpPr>
        <p:spPr>
          <a:xfrm>
            <a:off x="923925" y="2088802"/>
            <a:ext cx="19050" cy="7094487"/>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40" name="Google Shape;940;p32"/>
          <p:cNvPicPr preferRelativeResize="0"/>
          <p:nvPr/>
        </p:nvPicPr>
        <p:blipFill rotWithShape="1">
          <a:blip r:embed="rId8">
            <a:alphaModFix/>
          </a:blip>
          <a:srcRect b="0" l="0" r="0" t="0"/>
          <a:stretch/>
        </p:blipFill>
        <p:spPr>
          <a:xfrm>
            <a:off x="8084343" y="1524000"/>
            <a:ext cx="133350" cy="133350"/>
          </a:xfrm>
          <a:prstGeom prst="rect">
            <a:avLst/>
          </a:prstGeom>
          <a:noFill/>
          <a:ln>
            <a:noFill/>
          </a:ln>
        </p:spPr>
      </p:pic>
      <p:graphicFrame>
        <p:nvGraphicFramePr>
          <p:cNvPr id="941" name="Google Shape;941;p32"/>
          <p:cNvGraphicFramePr/>
          <p:nvPr/>
        </p:nvGraphicFramePr>
        <p:xfrm>
          <a:off x="7015162" y="1803052"/>
          <a:ext cx="3000000" cy="3000000"/>
        </p:xfrm>
        <a:graphic>
          <a:graphicData uri="http://schemas.openxmlformats.org/drawingml/2006/table">
            <a:tbl>
              <a:tblPr bandRow="1" firstRow="1">
                <a:noFill/>
                <a:tableStyleId>{4082E842-8FCA-41A0-AF41-31C70471DD3A}</a:tableStyleId>
              </a:tblPr>
              <a:tblGrid>
                <a:gridCol w="1277250"/>
                <a:gridCol w="3318575"/>
              </a:tblGrid>
              <a:tr h="37147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Workflow Step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Features Used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Requirement intake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Automations (Jira/Linear trigger),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Planning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Ask Devin, Plan mode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Session boot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Environment/Snapshot, Knowledge, Skills, Playbooks, AGENTS.md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Execution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IDE, Terminal, Browser, Skills, 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Pull request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GitHub integration, PR templates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Devin Review, Bug Catcher, Security Scanner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Iteration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Devin Review chat,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14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Post-merge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Automations, Scheduled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942" name="Google Shape;942;p32"/>
          <p:cNvPicPr preferRelativeResize="0"/>
          <p:nvPr/>
        </p:nvPicPr>
        <p:blipFill rotWithShape="1">
          <a:blip r:embed="rId9">
            <a:alphaModFix/>
          </a:blip>
          <a:srcRect b="0" l="0" r="0" t="0"/>
          <a:stretch/>
        </p:blipFill>
        <p:spPr>
          <a:xfrm>
            <a:off x="847725" y="1974502"/>
            <a:ext cx="190500" cy="190500"/>
          </a:xfrm>
          <a:prstGeom prst="rect">
            <a:avLst/>
          </a:prstGeom>
          <a:noFill/>
          <a:ln>
            <a:noFill/>
          </a:ln>
        </p:spPr>
      </p:pic>
      <p:pic>
        <p:nvPicPr>
          <p:cNvPr descr="image.png" id="943" name="Google Shape;943;p32"/>
          <p:cNvPicPr preferRelativeResize="0"/>
          <p:nvPr/>
        </p:nvPicPr>
        <p:blipFill rotWithShape="1">
          <a:blip r:embed="rId10">
            <a:alphaModFix/>
          </a:blip>
          <a:srcRect b="0" l="0" r="0" t="0"/>
          <a:stretch/>
        </p:blipFill>
        <p:spPr>
          <a:xfrm>
            <a:off x="847725" y="2812851"/>
            <a:ext cx="190500" cy="190500"/>
          </a:xfrm>
          <a:prstGeom prst="rect">
            <a:avLst/>
          </a:prstGeom>
          <a:noFill/>
          <a:ln>
            <a:noFill/>
          </a:ln>
        </p:spPr>
      </p:pic>
      <p:pic>
        <p:nvPicPr>
          <p:cNvPr descr="image.png" id="944" name="Google Shape;944;p32"/>
          <p:cNvPicPr preferRelativeResize="0"/>
          <p:nvPr/>
        </p:nvPicPr>
        <p:blipFill rotWithShape="1">
          <a:blip r:embed="rId11">
            <a:alphaModFix/>
          </a:blip>
          <a:srcRect b="0" l="0" r="0" t="0"/>
          <a:stretch/>
        </p:blipFill>
        <p:spPr>
          <a:xfrm>
            <a:off x="847725" y="3810000"/>
            <a:ext cx="190500" cy="190500"/>
          </a:xfrm>
          <a:prstGeom prst="rect">
            <a:avLst/>
          </a:prstGeom>
          <a:noFill/>
          <a:ln>
            <a:noFill/>
          </a:ln>
        </p:spPr>
      </p:pic>
      <p:pic>
        <p:nvPicPr>
          <p:cNvPr descr="image.png" id="945" name="Google Shape;945;p32"/>
          <p:cNvPicPr preferRelativeResize="0"/>
          <p:nvPr/>
        </p:nvPicPr>
        <p:blipFill rotWithShape="1">
          <a:blip r:embed="rId12">
            <a:alphaModFix/>
          </a:blip>
          <a:srcRect b="0" l="0" r="0" t="0"/>
          <a:stretch/>
        </p:blipFill>
        <p:spPr>
          <a:xfrm>
            <a:off x="847725" y="4965948"/>
            <a:ext cx="190500" cy="190500"/>
          </a:xfrm>
          <a:prstGeom prst="rect">
            <a:avLst/>
          </a:prstGeom>
          <a:noFill/>
          <a:ln>
            <a:noFill/>
          </a:ln>
        </p:spPr>
      </p:pic>
      <p:pic>
        <p:nvPicPr>
          <p:cNvPr descr="image.png" id="946" name="Google Shape;946;p32"/>
          <p:cNvPicPr preferRelativeResize="0"/>
          <p:nvPr/>
        </p:nvPicPr>
        <p:blipFill rotWithShape="1">
          <a:blip r:embed="rId13">
            <a:alphaModFix/>
          </a:blip>
          <a:srcRect b="0" l="0" r="0" t="0"/>
          <a:stretch/>
        </p:blipFill>
        <p:spPr>
          <a:xfrm>
            <a:off x="847725" y="6280695"/>
            <a:ext cx="190500" cy="190500"/>
          </a:xfrm>
          <a:prstGeom prst="rect">
            <a:avLst/>
          </a:prstGeom>
          <a:noFill/>
          <a:ln>
            <a:noFill/>
          </a:ln>
        </p:spPr>
      </p:pic>
      <p:pic>
        <p:nvPicPr>
          <p:cNvPr descr="image.png" id="947" name="Google Shape;947;p32"/>
          <p:cNvPicPr preferRelativeResize="0"/>
          <p:nvPr/>
        </p:nvPicPr>
        <p:blipFill rotWithShape="1">
          <a:blip r:embed="rId14">
            <a:alphaModFix/>
          </a:blip>
          <a:srcRect b="0" l="0" r="0" t="0"/>
          <a:stretch/>
        </p:blipFill>
        <p:spPr>
          <a:xfrm>
            <a:off x="847725" y="7436643"/>
            <a:ext cx="190500" cy="190500"/>
          </a:xfrm>
          <a:prstGeom prst="rect">
            <a:avLst/>
          </a:prstGeom>
          <a:noFill/>
          <a:ln>
            <a:noFill/>
          </a:ln>
        </p:spPr>
      </p:pic>
      <p:pic>
        <p:nvPicPr>
          <p:cNvPr descr="image.png" id="948" name="Google Shape;948;p32"/>
          <p:cNvPicPr preferRelativeResize="0"/>
          <p:nvPr/>
        </p:nvPicPr>
        <p:blipFill rotWithShape="1">
          <a:blip r:embed="rId15">
            <a:alphaModFix/>
          </a:blip>
          <a:srcRect b="0" l="0" r="0" t="0"/>
          <a:stretch/>
        </p:blipFill>
        <p:spPr>
          <a:xfrm>
            <a:off x="847725" y="8433792"/>
            <a:ext cx="190500" cy="190500"/>
          </a:xfrm>
          <a:prstGeom prst="rect">
            <a:avLst/>
          </a:prstGeom>
          <a:noFill/>
          <a:ln>
            <a:noFill/>
          </a:ln>
        </p:spPr>
      </p:pic>
      <p:sp>
        <p:nvSpPr>
          <p:cNvPr id="949" name="Google Shape;949;p32"/>
          <p:cNvSpPr/>
          <p:nvPr/>
        </p:nvSpPr>
        <p:spPr>
          <a:xfrm>
            <a:off x="7015162" y="2112615"/>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0" name="Google Shape;950;p32"/>
          <p:cNvSpPr/>
          <p:nvPr/>
        </p:nvSpPr>
        <p:spPr>
          <a:xfrm>
            <a:off x="8292405" y="2112615"/>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1" name="Google Shape;951;p32"/>
          <p:cNvSpPr txBox="1"/>
          <p:nvPr/>
        </p:nvSpPr>
        <p:spPr>
          <a:xfrm>
            <a:off x="1152525" y="2022127"/>
            <a:ext cx="16668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1: REQUIREMENT INTAKE</a:t>
            </a:r>
            <a:endParaRPr/>
          </a:p>
        </p:txBody>
      </p:sp>
      <p:sp>
        <p:nvSpPr>
          <p:cNvPr id="952" name="Google Shape;952;p32"/>
          <p:cNvSpPr txBox="1"/>
          <p:nvPr/>
        </p:nvSpPr>
        <p:spPr>
          <a:xfrm>
            <a:off x="1152525" y="2203102"/>
            <a:ext cx="2719387" cy="4763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Feature:</a:t>
            </a:r>
            <a:r>
              <a:rPr b="0" i="0" lang="en-US" sz="862" u="none" cap="none" strike="noStrike">
                <a:solidFill>
                  <a:srgbClr val="334155"/>
                </a:solidFill>
                <a:latin typeface="Plus Jakarta Sans"/>
                <a:ea typeface="Plus Jakarta Sans"/>
                <a:cs typeface="Plus Jakarta Sans"/>
                <a:sym typeface="Plus Jakarta Sans"/>
              </a:rPr>
              <a:t> Jira ticket created with label "devin"</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Automation:</a:t>
            </a:r>
            <a:r>
              <a:rPr b="0" i="0" lang="en-US" sz="862" u="none" cap="none" strike="noStrike">
                <a:solidFill>
                  <a:srgbClr val="334155"/>
                </a:solidFill>
                <a:latin typeface="Plus Jakarta Sans"/>
                <a:ea typeface="Plus Jakarta Sans"/>
                <a:cs typeface="Plus Jakarta Sans"/>
                <a:sym typeface="Plus Jakarta Sans"/>
              </a:rPr>
              <a:t> Linear/Jira trigger fires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session starts with ticket context as prompt</a:t>
            </a:r>
            <a:endParaRPr/>
          </a:p>
        </p:txBody>
      </p:sp>
      <p:sp>
        <p:nvSpPr>
          <p:cNvPr id="953" name="Google Shape;953;p32"/>
          <p:cNvSpPr txBox="1"/>
          <p:nvPr/>
        </p:nvSpPr>
        <p:spPr>
          <a:xfrm>
            <a:off x="1152525" y="2860476"/>
            <a:ext cx="17621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2: PLANNING (ASK DEVIN)</a:t>
            </a:r>
            <a:endParaRPr/>
          </a:p>
        </p:txBody>
      </p:sp>
      <p:sp>
        <p:nvSpPr>
          <p:cNvPr id="954" name="Google Shape;954;p32"/>
          <p:cNvSpPr txBox="1"/>
          <p:nvPr/>
        </p:nvSpPr>
        <p:spPr>
          <a:xfrm>
            <a:off x="1152525" y="3041451"/>
            <a:ext cx="3119437" cy="6351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Engineer uses Ask Devin to explore the codebase</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Ask Devin indexes repos, answers architecture questions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Plan mode generates context-rich session prompt</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Session started from Ask Devin conversation</a:t>
            </a:r>
            <a:endParaRPr/>
          </a:p>
        </p:txBody>
      </p:sp>
      <p:sp>
        <p:nvSpPr>
          <p:cNvPr id="955" name="Google Shape;955;p32"/>
          <p:cNvSpPr txBox="1"/>
          <p:nvPr/>
        </p:nvSpPr>
        <p:spPr>
          <a:xfrm>
            <a:off x="1152525" y="3857625"/>
            <a:ext cx="13239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3: SESSION BOOT</a:t>
            </a:r>
            <a:endParaRPr/>
          </a:p>
        </p:txBody>
      </p:sp>
      <p:sp>
        <p:nvSpPr>
          <p:cNvPr id="956" name="Google Shape;956;p32"/>
          <p:cNvSpPr txBox="1"/>
          <p:nvPr/>
        </p:nvSpPr>
        <p:spPr>
          <a:xfrm>
            <a:off x="1152525" y="4038600"/>
            <a:ext cx="4338637" cy="7939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Snapshot loaded (repos, deps, tools ready)</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Knowledge retrieved (coding standards, deployment workflow, PR conventions)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Skills discovered (test-before-pr, deploy skill)</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Playbook applied (feature implementation template)</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AGENTS.md read (project-specific instructions)</a:t>
            </a:r>
            <a:endParaRPr/>
          </a:p>
        </p:txBody>
      </p:sp>
      <p:sp>
        <p:nvSpPr>
          <p:cNvPr id="957" name="Google Shape;957;p32"/>
          <p:cNvSpPr txBox="1"/>
          <p:nvPr/>
        </p:nvSpPr>
        <p:spPr>
          <a:xfrm>
            <a:off x="1152525" y="5013573"/>
            <a:ext cx="18573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4: PLANNING &amp; EXECUTION</a:t>
            </a:r>
            <a:endParaRPr/>
          </a:p>
        </p:txBody>
      </p:sp>
      <p:sp>
        <p:nvSpPr>
          <p:cNvPr id="958" name="Google Shape;958;p32"/>
          <p:cNvSpPr txBox="1"/>
          <p:nvPr/>
        </p:nvSpPr>
        <p:spPr>
          <a:xfrm>
            <a:off x="1152525" y="5194548"/>
            <a:ext cx="2519362" cy="952797"/>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plans the implementation</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Writes code (IDE)</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Runs local app (Browser) to verify UI changes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Invokes test-before-pr Skill automatically</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Runs lint and tests (Terminal)</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Checks Knowledge for deployment workflow</a:t>
            </a:r>
            <a:endParaRPr/>
          </a:p>
        </p:txBody>
      </p:sp>
      <p:sp>
        <p:nvSpPr>
          <p:cNvPr id="959" name="Google Shape;959;p32"/>
          <p:cNvSpPr txBox="1"/>
          <p:nvPr/>
        </p:nvSpPr>
        <p:spPr>
          <a:xfrm>
            <a:off x="1152525" y="6328320"/>
            <a:ext cx="12954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5: PULL REQUEST</a:t>
            </a:r>
            <a:endParaRPr/>
          </a:p>
        </p:txBody>
      </p:sp>
      <p:sp>
        <p:nvSpPr>
          <p:cNvPr id="960" name="Google Shape;960;p32"/>
          <p:cNvSpPr txBox="1"/>
          <p:nvPr/>
        </p:nvSpPr>
        <p:spPr>
          <a:xfrm>
            <a:off x="1152525" y="6509295"/>
            <a:ext cx="3205162" cy="348704"/>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creates PR with description, screenshots, test results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PR template applied (from integrations/pr-templates)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Review auto-review triggers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Bug Catcher and Security Scanner analyze the PR</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Engineer reviews Devin Review analysis</a:t>
            </a:r>
            <a:endParaRPr/>
          </a:p>
        </p:txBody>
      </p:sp>
      <p:sp>
        <p:nvSpPr>
          <p:cNvPr id="961" name="Google Shape;961;p32"/>
          <p:cNvSpPr txBox="1"/>
          <p:nvPr/>
        </p:nvSpPr>
        <p:spPr>
          <a:xfrm>
            <a:off x="1152525" y="7484268"/>
            <a:ext cx="1600200" cy="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6: REVIEW &amp; ITERATION</a:t>
            </a:r>
            <a:endParaRPr/>
          </a:p>
        </p:txBody>
      </p:sp>
      <p:sp>
        <p:nvSpPr>
          <p:cNvPr id="962" name="Google Shape;962;p32"/>
          <p:cNvSpPr txBox="1"/>
          <p:nvPr/>
        </p:nvSpPr>
        <p:spPr>
          <a:xfrm>
            <a:off x="1152525" y="7665243"/>
            <a:ext cx="2490787" cy="0"/>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Engineer reviews PR in Devin Review</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Requests changes via codebase-aware chat</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makes changes, pushes new commits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Review re-analyzes</a:t>
            </a:r>
            <a:endParaRPr/>
          </a:p>
        </p:txBody>
      </p:sp>
      <p:sp>
        <p:nvSpPr>
          <p:cNvPr id="963" name="Google Shape;963;p32"/>
          <p:cNvSpPr txBox="1"/>
          <p:nvPr/>
        </p:nvSpPr>
        <p:spPr>
          <a:xfrm>
            <a:off x="1152525" y="8481417"/>
            <a:ext cx="1790700" cy="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STEP 7: MERGE &amp; AUTOMATION</a:t>
            </a:r>
            <a:endParaRPr/>
          </a:p>
        </p:txBody>
      </p:sp>
      <p:sp>
        <p:nvSpPr>
          <p:cNvPr id="964" name="Google Shape;964;p32"/>
          <p:cNvSpPr txBox="1"/>
          <p:nvPr/>
        </p:nvSpPr>
        <p:spPr>
          <a:xfrm>
            <a:off x="1152525" y="8662392"/>
            <a:ext cx="3176587" cy="0"/>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PR merged</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Automation: CI/CD pipeline triggered</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Scheduled session: nightly smoke tests verify deployment</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Knowledge updated with any new learnings</a:t>
            </a:r>
            <a:endParaRPr/>
          </a:p>
        </p:txBody>
      </p:sp>
      <p:sp>
        <p:nvSpPr>
          <p:cNvPr id="965" name="Google Shape;965;p32"/>
          <p:cNvSpPr/>
          <p:nvPr/>
        </p:nvSpPr>
        <p:spPr>
          <a:xfrm>
            <a:off x="7015162" y="2598390"/>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6" name="Google Shape;966;p32"/>
          <p:cNvSpPr/>
          <p:nvPr/>
        </p:nvSpPr>
        <p:spPr>
          <a:xfrm>
            <a:off x="8292405" y="2598390"/>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7" name="Google Shape;967;p32"/>
          <p:cNvSpPr/>
          <p:nvPr/>
        </p:nvSpPr>
        <p:spPr>
          <a:xfrm>
            <a:off x="7015162" y="2941290"/>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8" name="Google Shape;968;p32"/>
          <p:cNvSpPr/>
          <p:nvPr/>
        </p:nvSpPr>
        <p:spPr>
          <a:xfrm>
            <a:off x="8292405" y="2941290"/>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9" name="Google Shape;969;p32"/>
          <p:cNvSpPr/>
          <p:nvPr/>
        </p:nvSpPr>
        <p:spPr>
          <a:xfrm>
            <a:off x="7015162" y="3427065"/>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0" name="Google Shape;970;p32"/>
          <p:cNvSpPr/>
          <p:nvPr/>
        </p:nvSpPr>
        <p:spPr>
          <a:xfrm>
            <a:off x="8292405" y="3427065"/>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1" name="Google Shape;971;p32"/>
          <p:cNvSpPr/>
          <p:nvPr/>
        </p:nvSpPr>
        <p:spPr>
          <a:xfrm>
            <a:off x="7015162" y="3769965"/>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2" name="Google Shape;972;p32"/>
          <p:cNvSpPr/>
          <p:nvPr/>
        </p:nvSpPr>
        <p:spPr>
          <a:xfrm>
            <a:off x="8292405" y="3769965"/>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3" name="Google Shape;973;p32"/>
          <p:cNvSpPr/>
          <p:nvPr/>
        </p:nvSpPr>
        <p:spPr>
          <a:xfrm>
            <a:off x="7015162" y="4112865"/>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4" name="Google Shape;974;p32"/>
          <p:cNvSpPr/>
          <p:nvPr/>
        </p:nvSpPr>
        <p:spPr>
          <a:xfrm>
            <a:off x="8292405" y="4112865"/>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5" name="Google Shape;975;p32"/>
          <p:cNvSpPr/>
          <p:nvPr/>
        </p:nvSpPr>
        <p:spPr>
          <a:xfrm>
            <a:off x="7015162" y="4455765"/>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6" name="Google Shape;976;p32"/>
          <p:cNvSpPr/>
          <p:nvPr/>
        </p:nvSpPr>
        <p:spPr>
          <a:xfrm>
            <a:off x="8292405" y="4455765"/>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7" name="Google Shape;977;p32"/>
          <p:cNvSpPr/>
          <p:nvPr/>
        </p:nvSpPr>
        <p:spPr>
          <a:xfrm>
            <a:off x="7015162" y="4798665"/>
            <a:ext cx="12772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8" name="Google Shape;978;p32"/>
          <p:cNvSpPr/>
          <p:nvPr/>
        </p:nvSpPr>
        <p:spPr>
          <a:xfrm>
            <a:off x="8292405" y="4798665"/>
            <a:ext cx="33185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9" name="Google Shape;979;p32"/>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Enterprise Dev Workflow Pipeline</a:t>
            </a:r>
            <a:endParaRPr/>
          </a:p>
        </p:txBody>
      </p:sp>
      <p:sp>
        <p:nvSpPr>
          <p:cNvPr id="980" name="Google Shape;980;p32"/>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4" name="Shape 984"/>
        <p:cNvGrpSpPr/>
        <p:nvPr/>
      </p:nvGrpSpPr>
      <p:grpSpPr>
        <a:xfrm>
          <a:off x="0" y="0"/>
          <a:ext cx="0" cy="0"/>
          <a:chOff x="0" y="0"/>
          <a:chExt cx="0" cy="0"/>
        </a:xfrm>
      </p:grpSpPr>
      <p:pic>
        <p:nvPicPr>
          <p:cNvPr descr="image.png" id="985" name="Google Shape;985;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86" name="Google Shape;986;p33"/>
          <p:cNvPicPr preferRelativeResize="0"/>
          <p:nvPr/>
        </p:nvPicPr>
        <p:blipFill rotWithShape="1">
          <a:blip r:embed="rId4">
            <a:alphaModFix/>
          </a:blip>
          <a:srcRect b="0" l="0" r="0" t="0"/>
          <a:stretch/>
        </p:blipFill>
        <p:spPr>
          <a:xfrm>
            <a:off x="571500" y="2695575"/>
            <a:ext cx="5919787" cy="561975"/>
          </a:xfrm>
          <a:prstGeom prst="rect">
            <a:avLst/>
          </a:prstGeom>
          <a:noFill/>
          <a:ln>
            <a:noFill/>
          </a:ln>
        </p:spPr>
      </p:pic>
      <p:pic>
        <p:nvPicPr>
          <p:cNvPr descr="image.png" id="987" name="Google Shape;987;p33"/>
          <p:cNvPicPr preferRelativeResize="0"/>
          <p:nvPr/>
        </p:nvPicPr>
        <p:blipFill rotWithShape="1">
          <a:blip r:embed="rId5">
            <a:alphaModFix/>
          </a:blip>
          <a:srcRect b="0" l="0" r="0" t="0"/>
          <a:stretch/>
        </p:blipFill>
        <p:spPr>
          <a:xfrm>
            <a:off x="571500" y="4295775"/>
            <a:ext cx="5919787" cy="552450"/>
          </a:xfrm>
          <a:prstGeom prst="rect">
            <a:avLst/>
          </a:prstGeom>
          <a:noFill/>
          <a:ln>
            <a:noFill/>
          </a:ln>
        </p:spPr>
      </p:pic>
      <p:pic>
        <p:nvPicPr>
          <p:cNvPr descr="image.png" id="988" name="Google Shape;988;p33"/>
          <p:cNvPicPr preferRelativeResize="0"/>
          <p:nvPr/>
        </p:nvPicPr>
        <p:blipFill rotWithShape="1">
          <a:blip r:embed="rId6">
            <a:alphaModFix/>
          </a:blip>
          <a:srcRect b="0" l="0" r="0" t="0"/>
          <a:stretch/>
        </p:blipFill>
        <p:spPr>
          <a:xfrm>
            <a:off x="6777037" y="3059013"/>
            <a:ext cx="4843462" cy="1425773"/>
          </a:xfrm>
          <a:prstGeom prst="rect">
            <a:avLst/>
          </a:prstGeom>
          <a:noFill/>
          <a:ln>
            <a:noFill/>
          </a:ln>
        </p:spPr>
      </p:pic>
      <p:pic>
        <p:nvPicPr>
          <p:cNvPr descr="image.png" id="989" name="Google Shape;989;p33"/>
          <p:cNvPicPr preferRelativeResize="0"/>
          <p:nvPr/>
        </p:nvPicPr>
        <p:blipFill rotWithShape="1">
          <a:blip r:embed="rId7">
            <a:alphaModFix/>
          </a:blip>
          <a:srcRect b="0" l="0" r="0" t="0"/>
          <a:stretch/>
        </p:blipFill>
        <p:spPr>
          <a:xfrm>
            <a:off x="571500" y="466725"/>
            <a:ext cx="857250" cy="209550"/>
          </a:xfrm>
          <a:prstGeom prst="rect">
            <a:avLst/>
          </a:prstGeom>
          <a:noFill/>
          <a:ln>
            <a:noFill/>
          </a:ln>
        </p:spPr>
      </p:pic>
      <p:pic>
        <p:nvPicPr>
          <p:cNvPr descr="image.png" id="990" name="Google Shape;990;p33"/>
          <p:cNvPicPr preferRelativeResize="0"/>
          <p:nvPr/>
        </p:nvPicPr>
        <p:blipFill rotWithShape="1">
          <a:blip r:embed="rId8">
            <a:alphaModFix/>
          </a:blip>
          <a:srcRect b="0" l="0" r="0" t="0"/>
          <a:stretch/>
        </p:blipFill>
        <p:spPr>
          <a:xfrm>
            <a:off x="571500" y="3457575"/>
            <a:ext cx="5919787" cy="638175"/>
          </a:xfrm>
          <a:prstGeom prst="rect">
            <a:avLst/>
          </a:prstGeom>
          <a:noFill/>
          <a:ln>
            <a:noFill/>
          </a:ln>
        </p:spPr>
      </p:pic>
      <p:sp>
        <p:nvSpPr>
          <p:cNvPr id="991" name="Google Shape;991;p33"/>
          <p:cNvSpPr txBox="1"/>
          <p:nvPr/>
        </p:nvSpPr>
        <p:spPr>
          <a:xfrm>
            <a:off x="676275" y="2800350"/>
            <a:ext cx="5710237"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2563EB"/>
                </a:solidFill>
                <a:latin typeface="Plus Jakarta Sans"/>
                <a:ea typeface="Plus Jakarta Sans"/>
                <a:cs typeface="Plus Jakarta Sans"/>
                <a:sym typeface="Plus Jakarta Sans"/>
              </a:rPr>
              <a:t>VCS &amp; COMMUNICATIONS (NATIVE)</a:t>
            </a:r>
            <a:endParaRPr/>
          </a:p>
        </p:txBody>
      </p:sp>
      <p:pic>
        <p:nvPicPr>
          <p:cNvPr descr="image.png" id="992" name="Google Shape;992;p33"/>
          <p:cNvPicPr preferRelativeResize="0"/>
          <p:nvPr/>
        </p:nvPicPr>
        <p:blipFill rotWithShape="1">
          <a:blip r:embed="rId9">
            <a:alphaModFix/>
          </a:blip>
          <a:srcRect b="0" l="0" r="0" t="0"/>
          <a:stretch/>
        </p:blipFill>
        <p:spPr>
          <a:xfrm>
            <a:off x="3502818" y="3305175"/>
            <a:ext cx="57150" cy="114300"/>
          </a:xfrm>
          <a:prstGeom prst="rect">
            <a:avLst/>
          </a:prstGeom>
          <a:noFill/>
          <a:ln>
            <a:noFill/>
          </a:ln>
        </p:spPr>
      </p:pic>
      <p:sp>
        <p:nvSpPr>
          <p:cNvPr id="993" name="Google Shape;993;p33"/>
          <p:cNvSpPr txBox="1"/>
          <p:nvPr/>
        </p:nvSpPr>
        <p:spPr>
          <a:xfrm>
            <a:off x="704850" y="3590925"/>
            <a:ext cx="5653087" cy="152400"/>
          </a:xfrm>
          <a:prstGeom prst="rect">
            <a:avLst/>
          </a:prstGeom>
          <a:noFill/>
          <a:ln>
            <a:noFill/>
          </a:ln>
        </p:spPr>
        <p:txBody>
          <a:bodyPr anchorCtr="0" anchor="t" bIns="0" lIns="142875" spcFirstLastPara="1" rIns="0" wrap="square" tIns="0">
            <a:spAutoFit/>
          </a:bodyPr>
          <a:lstStyle/>
          <a:p>
            <a:pPr indent="0" lvl="0" marL="0" marR="0" rtl="0" algn="ctr">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DEVIN AGENT PLATFORM</a:t>
            </a:r>
            <a:endParaRPr/>
          </a:p>
        </p:txBody>
      </p:sp>
      <p:sp>
        <p:nvSpPr>
          <p:cNvPr id="994" name="Google Shape;994;p33"/>
          <p:cNvSpPr txBox="1"/>
          <p:nvPr/>
        </p:nvSpPr>
        <p:spPr>
          <a:xfrm>
            <a:off x="2531268" y="3838575"/>
            <a:ext cx="2000250"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 u="none" cap="none" strike="noStrike">
                <a:solidFill>
                  <a:srgbClr val="64748B"/>
                </a:solidFill>
                <a:latin typeface="JetBrains Mono"/>
                <a:ea typeface="JetBrains Mono"/>
                <a:cs typeface="JetBrains Mono"/>
                <a:sym typeface="JetBrains Mono"/>
              </a:rPr>
              <a:t>Bridges Webhooks, Automations, &amp; MCP Links</a:t>
            </a:r>
            <a:endParaRPr/>
          </a:p>
        </p:txBody>
      </p:sp>
      <p:pic>
        <p:nvPicPr>
          <p:cNvPr descr="image.png" id="995" name="Google Shape;995;p33"/>
          <p:cNvPicPr preferRelativeResize="0"/>
          <p:nvPr/>
        </p:nvPicPr>
        <p:blipFill rotWithShape="1">
          <a:blip r:embed="rId9">
            <a:alphaModFix/>
          </a:blip>
          <a:srcRect b="0" l="0" r="0" t="0"/>
          <a:stretch/>
        </p:blipFill>
        <p:spPr>
          <a:xfrm>
            <a:off x="3502818" y="4143375"/>
            <a:ext cx="57150" cy="114300"/>
          </a:xfrm>
          <a:prstGeom prst="rect">
            <a:avLst/>
          </a:prstGeom>
          <a:noFill/>
          <a:ln>
            <a:noFill/>
          </a:ln>
        </p:spPr>
      </p:pic>
      <p:sp>
        <p:nvSpPr>
          <p:cNvPr id="996" name="Google Shape;996;p33"/>
          <p:cNvSpPr txBox="1"/>
          <p:nvPr/>
        </p:nvSpPr>
        <p:spPr>
          <a:xfrm>
            <a:off x="676275" y="4400550"/>
            <a:ext cx="5710237"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MODEL CONTEXT PROTOCOL (MCP)</a:t>
            </a:r>
            <a:endParaRPr/>
          </a:p>
        </p:txBody>
      </p:sp>
      <p:sp>
        <p:nvSpPr>
          <p:cNvPr id="997" name="Google Shape;997;p33"/>
          <p:cNvSpPr txBox="1"/>
          <p:nvPr/>
        </p:nvSpPr>
        <p:spPr>
          <a:xfrm>
            <a:off x="7224712" y="3182838"/>
            <a:ext cx="4425553"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Supported MCP Transports</a:t>
            </a:r>
            <a:endParaRPr/>
          </a:p>
        </p:txBody>
      </p:sp>
      <p:sp>
        <p:nvSpPr>
          <p:cNvPr id="998" name="Google Shape;998;p33"/>
          <p:cNvSpPr txBox="1"/>
          <p:nvPr/>
        </p:nvSpPr>
        <p:spPr>
          <a:xfrm>
            <a:off x="6958012" y="3411438"/>
            <a:ext cx="44815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1. STDIO:</a:t>
            </a:r>
            <a:r>
              <a:rPr b="0" i="0" lang="en-US" sz="825" u="none" cap="none" strike="noStrike">
                <a:solidFill>
                  <a:srgbClr val="475569"/>
                </a:solidFill>
                <a:latin typeface="Plus Jakarta Sans"/>
                <a:ea typeface="Plus Jakarta Sans"/>
                <a:cs typeface="Plus Jakarta Sans"/>
                <a:sym typeface="Plus Jakarta Sans"/>
              </a:rPr>
              <a:t> Local CLI-based servers (npx, uvx, Docker container actions).</a:t>
            </a:r>
            <a:endParaRPr/>
          </a:p>
        </p:txBody>
      </p:sp>
      <p:sp>
        <p:nvSpPr>
          <p:cNvPr id="999" name="Google Shape;999;p33"/>
          <p:cNvSpPr txBox="1"/>
          <p:nvPr/>
        </p:nvSpPr>
        <p:spPr>
          <a:xfrm>
            <a:off x="6958012" y="3601342"/>
            <a:ext cx="44815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2. SSE:</a:t>
            </a:r>
            <a:r>
              <a:rPr b="0" i="0" lang="en-US" sz="825" u="none" cap="none" strike="noStrike">
                <a:solidFill>
                  <a:srgbClr val="475569"/>
                </a:solidFill>
                <a:latin typeface="Plus Jakarta Sans"/>
                <a:ea typeface="Plus Jakarta Sans"/>
                <a:cs typeface="Plus Jakarta Sans"/>
                <a:sym typeface="Plus Jakarta Sans"/>
              </a:rPr>
              <a:t> Remote connections using Server-Sent Events.</a:t>
            </a:r>
            <a:endParaRPr/>
          </a:p>
        </p:txBody>
      </p:sp>
      <p:sp>
        <p:nvSpPr>
          <p:cNvPr id="1000" name="Google Shape;1000;p33"/>
          <p:cNvSpPr txBox="1"/>
          <p:nvPr/>
        </p:nvSpPr>
        <p:spPr>
          <a:xfrm>
            <a:off x="6958012" y="3791247"/>
            <a:ext cx="44815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3. HTTP:</a:t>
            </a:r>
            <a:r>
              <a:rPr b="0" i="0" lang="en-US" sz="825" u="none" cap="none" strike="noStrike">
                <a:solidFill>
                  <a:srgbClr val="475569"/>
                </a:solidFill>
                <a:latin typeface="Plus Jakarta Sans"/>
                <a:ea typeface="Plus Jakarta Sans"/>
                <a:cs typeface="Plus Jakarta Sans"/>
                <a:sym typeface="Plus Jakarta Sans"/>
              </a:rPr>
              <a:t> Streamable HTTP connections (ideal for scale environments).</a:t>
            </a:r>
            <a:endParaRPr/>
          </a:p>
        </p:txBody>
      </p:sp>
      <p:sp>
        <p:nvSpPr>
          <p:cNvPr id="1001" name="Google Shape;1001;p33"/>
          <p:cNvSpPr txBox="1"/>
          <p:nvPr/>
        </p:nvSpPr>
        <p:spPr>
          <a:xfrm>
            <a:off x="6958012" y="4047827"/>
            <a:ext cx="4481512" cy="31313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Corporate SSO Integration:</a:t>
            </a:r>
            <a:r>
              <a:rPr b="0" i="0" lang="en-US" sz="825" u="none" cap="none" strike="noStrike">
                <a:solidFill>
                  <a:srgbClr val="475569"/>
                </a:solidFill>
                <a:latin typeface="Plus Jakarta Sans"/>
                <a:ea typeface="Plus Jakarta Sans"/>
                <a:cs typeface="Plus Jakarta Sans"/>
                <a:sym typeface="Plus Jakarta Sans"/>
              </a:rPr>
              <a:t> Syncs identity systems (Entra ID, Okta groups) using SAML/OIDC. OAuth actions run via secure organization service accounts.</a:t>
            </a:r>
            <a:endParaRPr/>
          </a:p>
        </p:txBody>
      </p:sp>
      <p:sp>
        <p:nvSpPr>
          <p:cNvPr id="1002" name="Google Shape;1002;p33"/>
          <p:cNvSpPr/>
          <p:nvPr/>
        </p:nvSpPr>
        <p:spPr>
          <a:xfrm>
            <a:off x="6958012" y="4000202"/>
            <a:ext cx="448151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03" name="Google Shape;1003;p33"/>
          <p:cNvPicPr preferRelativeResize="0"/>
          <p:nvPr/>
        </p:nvPicPr>
        <p:blipFill rotWithShape="1">
          <a:blip r:embed="rId10">
            <a:alphaModFix/>
          </a:blip>
          <a:srcRect b="0" l="0" r="0" t="0"/>
          <a:stretch/>
        </p:blipFill>
        <p:spPr>
          <a:xfrm>
            <a:off x="2393156" y="2981325"/>
            <a:ext cx="1314450" cy="171450"/>
          </a:xfrm>
          <a:prstGeom prst="rect">
            <a:avLst/>
          </a:prstGeom>
          <a:noFill/>
          <a:ln>
            <a:noFill/>
          </a:ln>
        </p:spPr>
      </p:pic>
      <p:pic>
        <p:nvPicPr>
          <p:cNvPr descr="image.png" id="1004" name="Google Shape;1004;p33"/>
          <p:cNvPicPr preferRelativeResize="0"/>
          <p:nvPr/>
        </p:nvPicPr>
        <p:blipFill rotWithShape="1">
          <a:blip r:embed="rId11">
            <a:alphaModFix/>
          </a:blip>
          <a:srcRect b="0" l="0" r="0" t="0"/>
          <a:stretch/>
        </p:blipFill>
        <p:spPr>
          <a:xfrm>
            <a:off x="3783806" y="2981325"/>
            <a:ext cx="885825" cy="171450"/>
          </a:xfrm>
          <a:prstGeom prst="rect">
            <a:avLst/>
          </a:prstGeom>
          <a:noFill/>
          <a:ln>
            <a:noFill/>
          </a:ln>
        </p:spPr>
      </p:pic>
      <p:pic>
        <p:nvPicPr>
          <p:cNvPr descr="image.png" id="1005" name="Google Shape;1005;p33"/>
          <p:cNvPicPr preferRelativeResize="0"/>
          <p:nvPr/>
        </p:nvPicPr>
        <p:blipFill rotWithShape="1">
          <a:blip r:embed="rId12">
            <a:alphaModFix/>
          </a:blip>
          <a:srcRect b="0" l="0" r="0" t="0"/>
          <a:stretch/>
        </p:blipFill>
        <p:spPr>
          <a:xfrm>
            <a:off x="2688431" y="3609975"/>
            <a:ext cx="142875" cy="123825"/>
          </a:xfrm>
          <a:prstGeom prst="rect">
            <a:avLst/>
          </a:prstGeom>
          <a:noFill/>
          <a:ln>
            <a:noFill/>
          </a:ln>
        </p:spPr>
      </p:pic>
      <p:pic>
        <p:nvPicPr>
          <p:cNvPr descr="image.png" id="1006" name="Google Shape;1006;p33"/>
          <p:cNvPicPr preferRelativeResize="0"/>
          <p:nvPr/>
        </p:nvPicPr>
        <p:blipFill rotWithShape="1">
          <a:blip r:embed="rId13">
            <a:alphaModFix/>
          </a:blip>
          <a:srcRect b="0" l="0" r="0" t="0"/>
          <a:stretch/>
        </p:blipFill>
        <p:spPr>
          <a:xfrm>
            <a:off x="1640681" y="4581525"/>
            <a:ext cx="1323975" cy="161925"/>
          </a:xfrm>
          <a:prstGeom prst="rect">
            <a:avLst/>
          </a:prstGeom>
          <a:noFill/>
          <a:ln>
            <a:noFill/>
          </a:ln>
        </p:spPr>
      </p:pic>
      <p:pic>
        <p:nvPicPr>
          <p:cNvPr descr="image.png" id="1007" name="Google Shape;1007;p33"/>
          <p:cNvPicPr preferRelativeResize="0"/>
          <p:nvPr/>
        </p:nvPicPr>
        <p:blipFill rotWithShape="1">
          <a:blip r:embed="rId14">
            <a:alphaModFix/>
          </a:blip>
          <a:srcRect b="0" l="0" r="0" t="0"/>
          <a:stretch/>
        </p:blipFill>
        <p:spPr>
          <a:xfrm>
            <a:off x="3021806" y="4581525"/>
            <a:ext cx="1104900" cy="161925"/>
          </a:xfrm>
          <a:prstGeom prst="rect">
            <a:avLst/>
          </a:prstGeom>
          <a:noFill/>
          <a:ln>
            <a:noFill/>
          </a:ln>
        </p:spPr>
      </p:pic>
      <p:pic>
        <p:nvPicPr>
          <p:cNvPr descr="image.png" id="1008" name="Google Shape;1008;p33"/>
          <p:cNvPicPr preferRelativeResize="0"/>
          <p:nvPr/>
        </p:nvPicPr>
        <p:blipFill rotWithShape="1">
          <a:blip r:embed="rId15">
            <a:alphaModFix/>
          </a:blip>
          <a:srcRect b="0" l="0" r="0" t="0"/>
          <a:stretch/>
        </p:blipFill>
        <p:spPr>
          <a:xfrm>
            <a:off x="4183856" y="4581525"/>
            <a:ext cx="1238250" cy="161925"/>
          </a:xfrm>
          <a:prstGeom prst="rect">
            <a:avLst/>
          </a:prstGeom>
          <a:noFill/>
          <a:ln>
            <a:noFill/>
          </a:ln>
        </p:spPr>
      </p:pic>
      <p:pic>
        <p:nvPicPr>
          <p:cNvPr descr="image.png" id="1009" name="Google Shape;1009;p33"/>
          <p:cNvPicPr preferRelativeResize="0"/>
          <p:nvPr/>
        </p:nvPicPr>
        <p:blipFill rotWithShape="1">
          <a:blip r:embed="rId16">
            <a:alphaModFix/>
          </a:blip>
          <a:srcRect b="0" l="0" r="0" t="0"/>
          <a:stretch/>
        </p:blipFill>
        <p:spPr>
          <a:xfrm>
            <a:off x="6958012" y="3201888"/>
            <a:ext cx="171450" cy="133350"/>
          </a:xfrm>
          <a:prstGeom prst="rect">
            <a:avLst/>
          </a:prstGeom>
          <a:noFill/>
          <a:ln>
            <a:noFill/>
          </a:ln>
        </p:spPr>
      </p:pic>
      <p:sp>
        <p:nvSpPr>
          <p:cNvPr id="1010" name="Google Shape;1010;p33"/>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Integration Architecture</a:t>
            </a:r>
            <a:endParaRPr/>
          </a:p>
        </p:txBody>
      </p:sp>
      <p:sp>
        <p:nvSpPr>
          <p:cNvPr id="1011" name="Google Shape;1011;p33"/>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5" name="Shape 1015"/>
        <p:cNvGrpSpPr/>
        <p:nvPr/>
      </p:nvGrpSpPr>
      <p:grpSpPr>
        <a:xfrm>
          <a:off x="0" y="0"/>
          <a:ext cx="0" cy="0"/>
          <a:chOff x="0" y="0"/>
          <a:chExt cx="0" cy="0"/>
        </a:xfrm>
      </p:grpSpPr>
      <p:pic>
        <p:nvPicPr>
          <p:cNvPr descr="image.png" id="1016" name="Google Shape;1016;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17" name="Google Shape;1017;p34"/>
          <p:cNvPicPr preferRelativeResize="0"/>
          <p:nvPr/>
        </p:nvPicPr>
        <p:blipFill rotWithShape="1">
          <a:blip r:embed="rId4">
            <a:alphaModFix/>
          </a:blip>
          <a:srcRect b="0" l="0" r="0" t="0"/>
          <a:stretch/>
        </p:blipFill>
        <p:spPr>
          <a:xfrm>
            <a:off x="571500" y="2586335"/>
            <a:ext cx="5429250" cy="1713904"/>
          </a:xfrm>
          <a:prstGeom prst="rect">
            <a:avLst/>
          </a:prstGeom>
          <a:noFill/>
          <a:ln>
            <a:noFill/>
          </a:ln>
        </p:spPr>
      </p:pic>
      <p:pic>
        <p:nvPicPr>
          <p:cNvPr descr="image.png" id="1018" name="Google Shape;1018;p34"/>
          <p:cNvPicPr preferRelativeResize="0"/>
          <p:nvPr/>
        </p:nvPicPr>
        <p:blipFill rotWithShape="1">
          <a:blip r:embed="rId5">
            <a:alphaModFix/>
          </a:blip>
          <a:srcRect b="0" l="0" r="0" t="0"/>
          <a:stretch/>
        </p:blipFill>
        <p:spPr>
          <a:xfrm>
            <a:off x="6191250" y="2586335"/>
            <a:ext cx="5429250" cy="1713904"/>
          </a:xfrm>
          <a:prstGeom prst="rect">
            <a:avLst/>
          </a:prstGeom>
          <a:noFill/>
          <a:ln>
            <a:noFill/>
          </a:ln>
        </p:spPr>
      </p:pic>
      <p:pic>
        <p:nvPicPr>
          <p:cNvPr descr="image.png" id="1019" name="Google Shape;1019;p34"/>
          <p:cNvPicPr preferRelativeResize="0"/>
          <p:nvPr/>
        </p:nvPicPr>
        <p:blipFill rotWithShape="1">
          <a:blip r:embed="rId6">
            <a:alphaModFix/>
          </a:blip>
          <a:srcRect b="0" l="0" r="0" t="0"/>
          <a:stretch/>
        </p:blipFill>
        <p:spPr>
          <a:xfrm>
            <a:off x="571500" y="5962650"/>
            <a:ext cx="2690812" cy="514350"/>
          </a:xfrm>
          <a:prstGeom prst="rect">
            <a:avLst/>
          </a:prstGeom>
          <a:noFill/>
          <a:ln>
            <a:noFill/>
          </a:ln>
        </p:spPr>
      </p:pic>
      <p:pic>
        <p:nvPicPr>
          <p:cNvPr descr="image.png" id="1020" name="Google Shape;1020;p34"/>
          <p:cNvPicPr preferRelativeResize="0"/>
          <p:nvPr/>
        </p:nvPicPr>
        <p:blipFill rotWithShape="1">
          <a:blip r:embed="rId7">
            <a:alphaModFix/>
          </a:blip>
          <a:srcRect b="0" l="0" r="0" t="0"/>
          <a:stretch/>
        </p:blipFill>
        <p:spPr>
          <a:xfrm>
            <a:off x="3357562" y="5962650"/>
            <a:ext cx="2690812" cy="514350"/>
          </a:xfrm>
          <a:prstGeom prst="rect">
            <a:avLst/>
          </a:prstGeom>
          <a:noFill/>
          <a:ln>
            <a:noFill/>
          </a:ln>
        </p:spPr>
      </p:pic>
      <p:pic>
        <p:nvPicPr>
          <p:cNvPr descr="image.png" id="1021" name="Google Shape;1021;p34"/>
          <p:cNvPicPr preferRelativeResize="0"/>
          <p:nvPr/>
        </p:nvPicPr>
        <p:blipFill rotWithShape="1">
          <a:blip r:embed="rId8">
            <a:alphaModFix/>
          </a:blip>
          <a:srcRect b="0" l="0" r="0" t="0"/>
          <a:stretch/>
        </p:blipFill>
        <p:spPr>
          <a:xfrm>
            <a:off x="6143625" y="5962650"/>
            <a:ext cx="2690812" cy="514350"/>
          </a:xfrm>
          <a:prstGeom prst="rect">
            <a:avLst/>
          </a:prstGeom>
          <a:noFill/>
          <a:ln>
            <a:noFill/>
          </a:ln>
        </p:spPr>
      </p:pic>
      <p:pic>
        <p:nvPicPr>
          <p:cNvPr descr="image.png" id="1022" name="Google Shape;1022;p34"/>
          <p:cNvPicPr preferRelativeResize="0"/>
          <p:nvPr/>
        </p:nvPicPr>
        <p:blipFill rotWithShape="1">
          <a:blip r:embed="rId9">
            <a:alphaModFix/>
          </a:blip>
          <a:srcRect b="0" l="0" r="0" t="0"/>
          <a:stretch/>
        </p:blipFill>
        <p:spPr>
          <a:xfrm>
            <a:off x="8929687" y="5962650"/>
            <a:ext cx="2690812" cy="514350"/>
          </a:xfrm>
          <a:prstGeom prst="rect">
            <a:avLst/>
          </a:prstGeom>
          <a:noFill/>
          <a:ln>
            <a:noFill/>
          </a:ln>
        </p:spPr>
      </p:pic>
      <p:pic>
        <p:nvPicPr>
          <p:cNvPr descr="image.png" id="1023" name="Google Shape;1023;p34"/>
          <p:cNvPicPr preferRelativeResize="0"/>
          <p:nvPr/>
        </p:nvPicPr>
        <p:blipFill rotWithShape="1">
          <a:blip r:embed="rId10">
            <a:alphaModFix/>
          </a:blip>
          <a:srcRect b="0" l="0" r="0" t="0"/>
          <a:stretch/>
        </p:blipFill>
        <p:spPr>
          <a:xfrm>
            <a:off x="800100" y="3557289"/>
            <a:ext cx="5000625" cy="542925"/>
          </a:xfrm>
          <a:prstGeom prst="rect">
            <a:avLst/>
          </a:prstGeom>
          <a:noFill/>
          <a:ln>
            <a:noFill/>
          </a:ln>
        </p:spPr>
      </p:pic>
      <p:pic>
        <p:nvPicPr>
          <p:cNvPr descr="image.png" id="1024" name="Google Shape;1024;p34"/>
          <p:cNvPicPr preferRelativeResize="0"/>
          <p:nvPr/>
        </p:nvPicPr>
        <p:blipFill rotWithShape="1">
          <a:blip r:embed="rId11">
            <a:alphaModFix/>
          </a:blip>
          <a:srcRect b="0" l="0" r="0" t="0"/>
          <a:stretch/>
        </p:blipFill>
        <p:spPr>
          <a:xfrm>
            <a:off x="6419850" y="3557289"/>
            <a:ext cx="5000625" cy="542925"/>
          </a:xfrm>
          <a:prstGeom prst="rect">
            <a:avLst/>
          </a:prstGeom>
          <a:noFill/>
          <a:ln>
            <a:noFill/>
          </a:ln>
        </p:spPr>
      </p:pic>
      <p:pic>
        <p:nvPicPr>
          <p:cNvPr descr="image.png" id="1025" name="Google Shape;1025;p34"/>
          <p:cNvPicPr preferRelativeResize="0"/>
          <p:nvPr/>
        </p:nvPicPr>
        <p:blipFill rotWithShape="1">
          <a:blip r:embed="rId12">
            <a:alphaModFix/>
          </a:blip>
          <a:srcRect b="0" l="0" r="0" t="0"/>
          <a:stretch/>
        </p:blipFill>
        <p:spPr>
          <a:xfrm>
            <a:off x="571500" y="466725"/>
            <a:ext cx="857250" cy="209550"/>
          </a:xfrm>
          <a:prstGeom prst="rect">
            <a:avLst/>
          </a:prstGeom>
          <a:noFill/>
          <a:ln>
            <a:noFill/>
          </a:ln>
        </p:spPr>
      </p:pic>
      <p:pic>
        <p:nvPicPr>
          <p:cNvPr descr="image.png" id="1026" name="Google Shape;1026;p34"/>
          <p:cNvPicPr preferRelativeResize="0"/>
          <p:nvPr/>
        </p:nvPicPr>
        <p:blipFill rotWithShape="1">
          <a:blip r:embed="rId13">
            <a:alphaModFix/>
          </a:blip>
          <a:srcRect b="0" l="0" r="0" t="0"/>
          <a:stretch/>
        </p:blipFill>
        <p:spPr>
          <a:xfrm>
            <a:off x="800100" y="2795885"/>
            <a:ext cx="1123950" cy="228600"/>
          </a:xfrm>
          <a:prstGeom prst="rect">
            <a:avLst/>
          </a:prstGeom>
          <a:noFill/>
          <a:ln>
            <a:noFill/>
          </a:ln>
        </p:spPr>
      </p:pic>
      <p:sp>
        <p:nvSpPr>
          <p:cNvPr id="1027" name="Google Shape;1027;p34"/>
          <p:cNvSpPr txBox="1"/>
          <p:nvPr/>
        </p:nvSpPr>
        <p:spPr>
          <a:xfrm>
            <a:off x="800100" y="3100685"/>
            <a:ext cx="5250656"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F4444"/>
                </a:solidFill>
                <a:latin typeface="Plus Jakarta Sans"/>
                <a:ea typeface="Plus Jakarta Sans"/>
                <a:cs typeface="Plus Jakarta Sans"/>
                <a:sym typeface="Plus Jakarta Sans"/>
              </a:rPr>
              <a:t>Sprawling Tall-and-Deep Tasks</a:t>
            </a:r>
            <a:endParaRPr/>
          </a:p>
        </p:txBody>
      </p:sp>
      <p:sp>
        <p:nvSpPr>
          <p:cNvPr id="1028" name="Google Shape;1028;p34"/>
          <p:cNvSpPr txBox="1"/>
          <p:nvPr/>
        </p:nvSpPr>
        <p:spPr>
          <a:xfrm>
            <a:off x="800100" y="3310235"/>
            <a:ext cx="5000625"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"Fix all our codebase linter bugs and improve overall testing code coverage."</a:t>
            </a:r>
            <a:endParaRPr/>
          </a:p>
        </p:txBody>
      </p:sp>
      <p:pic>
        <p:nvPicPr>
          <p:cNvPr descr="image.png" id="1029" name="Google Shape;1029;p34"/>
          <p:cNvPicPr preferRelativeResize="0"/>
          <p:nvPr/>
        </p:nvPicPr>
        <p:blipFill rotWithShape="1">
          <a:blip r:embed="rId14">
            <a:alphaModFix/>
          </a:blip>
          <a:srcRect b="0" l="0" r="0" t="0"/>
          <a:stretch/>
        </p:blipFill>
        <p:spPr>
          <a:xfrm>
            <a:off x="6419850" y="2795885"/>
            <a:ext cx="1581150" cy="228600"/>
          </a:xfrm>
          <a:prstGeom prst="rect">
            <a:avLst/>
          </a:prstGeom>
          <a:noFill/>
          <a:ln>
            <a:noFill/>
          </a:ln>
        </p:spPr>
      </p:pic>
      <p:sp>
        <p:nvSpPr>
          <p:cNvPr id="1030" name="Google Shape;1030;p34"/>
          <p:cNvSpPr txBox="1"/>
          <p:nvPr/>
        </p:nvSpPr>
        <p:spPr>
          <a:xfrm>
            <a:off x="6419850" y="3100685"/>
            <a:ext cx="5250656"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Wide-and-Shallow Scoped Slices</a:t>
            </a:r>
            <a:endParaRPr/>
          </a:p>
        </p:txBody>
      </p:sp>
      <p:sp>
        <p:nvSpPr>
          <p:cNvPr id="1031" name="Google Shape;1031;p34"/>
          <p:cNvSpPr txBox="1"/>
          <p:nvPr/>
        </p:nvSpPr>
        <p:spPr>
          <a:xfrm>
            <a:off x="6419850" y="3310235"/>
            <a:ext cx="5000625"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"Fix UserService.getById Null Pointer. Test edge cases via standard test skills."</a:t>
            </a:r>
            <a:endParaRPr/>
          </a:p>
        </p:txBody>
      </p:sp>
      <p:sp>
        <p:nvSpPr>
          <p:cNvPr id="1032" name="Google Shape;1032;p34"/>
          <p:cNvSpPr txBox="1"/>
          <p:nvPr/>
        </p:nvSpPr>
        <p:spPr>
          <a:xfrm>
            <a:off x="657225" y="6048375"/>
            <a:ext cx="2519362"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F172A"/>
                </a:solidFill>
                <a:latin typeface="Plus Jakarta Sans"/>
                <a:ea typeface="Plus Jakarta Sans"/>
                <a:cs typeface="Plus Jakarta Sans"/>
                <a:sym typeface="Plus Jakarta Sans"/>
              </a:rPr>
              <a:t>1. PRE-BAKE ENVIRONMENT</a:t>
            </a:r>
            <a:endParaRPr/>
          </a:p>
        </p:txBody>
      </p:sp>
      <p:sp>
        <p:nvSpPr>
          <p:cNvPr id="1033" name="Google Shape;1033;p34"/>
          <p:cNvSpPr txBox="1"/>
          <p:nvPr/>
        </p:nvSpPr>
        <p:spPr>
          <a:xfrm>
            <a:off x="3443287" y="6048375"/>
            <a:ext cx="2519362"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F172A"/>
                </a:solidFill>
                <a:latin typeface="Plus Jakarta Sans"/>
                <a:ea typeface="Plus Jakarta Sans"/>
                <a:cs typeface="Plus Jakarta Sans"/>
                <a:sym typeface="Plus Jakarta Sans"/>
              </a:rPr>
              <a:t>2. REUSABLE SKILLS</a:t>
            </a:r>
            <a:endParaRPr/>
          </a:p>
        </p:txBody>
      </p:sp>
      <p:sp>
        <p:nvSpPr>
          <p:cNvPr id="1034" name="Google Shape;1034;p34"/>
          <p:cNvSpPr txBox="1"/>
          <p:nvPr/>
        </p:nvSpPr>
        <p:spPr>
          <a:xfrm>
            <a:off x="6229350" y="6048375"/>
            <a:ext cx="2519362"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F172A"/>
                </a:solidFill>
                <a:latin typeface="Plus Jakarta Sans"/>
                <a:ea typeface="Plus Jakarta Sans"/>
                <a:cs typeface="Plus Jakarta Sans"/>
                <a:sym typeface="Plus Jakarta Sans"/>
              </a:rPr>
              <a:t>3. PARALLEL DECOMPOSITION</a:t>
            </a:r>
            <a:endParaRPr/>
          </a:p>
        </p:txBody>
      </p:sp>
      <p:sp>
        <p:nvSpPr>
          <p:cNvPr id="1035" name="Google Shape;1035;p34"/>
          <p:cNvSpPr txBox="1"/>
          <p:nvPr/>
        </p:nvSpPr>
        <p:spPr>
          <a:xfrm>
            <a:off x="9015412" y="6048375"/>
            <a:ext cx="2519362"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F172A"/>
                </a:solidFill>
                <a:latin typeface="Plus Jakarta Sans"/>
                <a:ea typeface="Plus Jakarta Sans"/>
                <a:cs typeface="Plus Jakarta Sans"/>
                <a:sym typeface="Plus Jakarta Sans"/>
              </a:rPr>
              <a:t>4. ACU COST BUDGETS</a:t>
            </a:r>
            <a:endParaRPr/>
          </a:p>
        </p:txBody>
      </p:sp>
      <p:sp>
        <p:nvSpPr>
          <p:cNvPr id="1036" name="Google Shape;1036;p34"/>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ACU Compute Optimization</a:t>
            </a:r>
            <a:endParaRPr/>
          </a:p>
        </p:txBody>
      </p:sp>
      <p:sp>
        <p:nvSpPr>
          <p:cNvPr id="1037" name="Google Shape;1037;p34"/>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1" name="Shape 1041"/>
        <p:cNvGrpSpPr/>
        <p:nvPr/>
      </p:nvGrpSpPr>
      <p:grpSpPr>
        <a:xfrm>
          <a:off x="0" y="0"/>
          <a:ext cx="0" cy="0"/>
          <a:chOff x="0" y="0"/>
          <a:chExt cx="0" cy="0"/>
        </a:xfrm>
      </p:grpSpPr>
      <p:pic>
        <p:nvPicPr>
          <p:cNvPr descr="image.png" id="1042" name="Google Shape;1042;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43" name="Google Shape;1043;p35"/>
          <p:cNvPicPr preferRelativeResize="0"/>
          <p:nvPr/>
        </p:nvPicPr>
        <p:blipFill rotWithShape="1">
          <a:blip r:embed="rId4">
            <a:alphaModFix/>
          </a:blip>
          <a:srcRect b="0" l="0" r="0" t="0"/>
          <a:stretch/>
        </p:blipFill>
        <p:spPr>
          <a:xfrm>
            <a:off x="571500" y="1066800"/>
            <a:ext cx="3587650" cy="935087"/>
          </a:xfrm>
          <a:prstGeom prst="rect">
            <a:avLst/>
          </a:prstGeom>
          <a:noFill/>
          <a:ln>
            <a:noFill/>
          </a:ln>
        </p:spPr>
      </p:pic>
      <p:pic>
        <p:nvPicPr>
          <p:cNvPr descr="image.png" id="1044" name="Google Shape;1044;p35"/>
          <p:cNvPicPr preferRelativeResize="0"/>
          <p:nvPr/>
        </p:nvPicPr>
        <p:blipFill rotWithShape="1">
          <a:blip r:embed="rId5">
            <a:alphaModFix/>
          </a:blip>
          <a:srcRect b="0" l="0" r="0" t="0"/>
          <a:stretch/>
        </p:blipFill>
        <p:spPr>
          <a:xfrm>
            <a:off x="4302025" y="1066800"/>
            <a:ext cx="3587799" cy="935087"/>
          </a:xfrm>
          <a:prstGeom prst="rect">
            <a:avLst/>
          </a:prstGeom>
          <a:noFill/>
          <a:ln>
            <a:noFill/>
          </a:ln>
        </p:spPr>
      </p:pic>
      <p:pic>
        <p:nvPicPr>
          <p:cNvPr descr="image.png" id="1045" name="Google Shape;1045;p35"/>
          <p:cNvPicPr preferRelativeResize="0"/>
          <p:nvPr/>
        </p:nvPicPr>
        <p:blipFill rotWithShape="1">
          <a:blip r:embed="rId6">
            <a:alphaModFix/>
          </a:blip>
          <a:srcRect b="0" l="0" r="0" t="0"/>
          <a:stretch/>
        </p:blipFill>
        <p:spPr>
          <a:xfrm>
            <a:off x="8032700" y="1066800"/>
            <a:ext cx="3587650" cy="935087"/>
          </a:xfrm>
          <a:prstGeom prst="rect">
            <a:avLst/>
          </a:prstGeom>
          <a:noFill/>
          <a:ln>
            <a:noFill/>
          </a:ln>
        </p:spPr>
      </p:pic>
      <p:pic>
        <p:nvPicPr>
          <p:cNvPr descr="image.png" id="1046" name="Google Shape;1046;p35"/>
          <p:cNvPicPr preferRelativeResize="0"/>
          <p:nvPr/>
        </p:nvPicPr>
        <p:blipFill rotWithShape="1">
          <a:blip r:embed="rId7">
            <a:alphaModFix/>
          </a:blip>
          <a:srcRect b="0" l="0" r="0" t="0"/>
          <a:stretch/>
        </p:blipFill>
        <p:spPr>
          <a:xfrm>
            <a:off x="571500" y="2144762"/>
            <a:ext cx="3587650" cy="1081682"/>
          </a:xfrm>
          <a:prstGeom prst="rect">
            <a:avLst/>
          </a:prstGeom>
          <a:noFill/>
          <a:ln>
            <a:noFill/>
          </a:ln>
        </p:spPr>
      </p:pic>
      <p:pic>
        <p:nvPicPr>
          <p:cNvPr descr="image.png" id="1047" name="Google Shape;1047;p35"/>
          <p:cNvPicPr preferRelativeResize="0"/>
          <p:nvPr/>
        </p:nvPicPr>
        <p:blipFill rotWithShape="1">
          <a:blip r:embed="rId8">
            <a:alphaModFix/>
          </a:blip>
          <a:srcRect b="0" l="0" r="0" t="0"/>
          <a:stretch/>
        </p:blipFill>
        <p:spPr>
          <a:xfrm>
            <a:off x="4302025" y="2144762"/>
            <a:ext cx="3587799" cy="1081682"/>
          </a:xfrm>
          <a:prstGeom prst="rect">
            <a:avLst/>
          </a:prstGeom>
          <a:noFill/>
          <a:ln>
            <a:noFill/>
          </a:ln>
        </p:spPr>
      </p:pic>
      <p:pic>
        <p:nvPicPr>
          <p:cNvPr descr="image.png" id="1048" name="Google Shape;1048;p35"/>
          <p:cNvPicPr preferRelativeResize="0"/>
          <p:nvPr/>
        </p:nvPicPr>
        <p:blipFill rotWithShape="1">
          <a:blip r:embed="rId9">
            <a:alphaModFix/>
          </a:blip>
          <a:srcRect b="0" l="0" r="0" t="0"/>
          <a:stretch/>
        </p:blipFill>
        <p:spPr>
          <a:xfrm>
            <a:off x="8032700" y="2144762"/>
            <a:ext cx="3587650" cy="1081682"/>
          </a:xfrm>
          <a:prstGeom prst="rect">
            <a:avLst/>
          </a:prstGeom>
          <a:noFill/>
          <a:ln>
            <a:noFill/>
          </a:ln>
        </p:spPr>
      </p:pic>
      <p:pic>
        <p:nvPicPr>
          <p:cNvPr descr="image.png" id="1049" name="Google Shape;1049;p35"/>
          <p:cNvPicPr preferRelativeResize="0"/>
          <p:nvPr/>
        </p:nvPicPr>
        <p:blipFill rotWithShape="1">
          <a:blip r:embed="rId10">
            <a:alphaModFix/>
          </a:blip>
          <a:srcRect b="0" l="0" r="0" t="0"/>
          <a:stretch/>
        </p:blipFill>
        <p:spPr>
          <a:xfrm>
            <a:off x="571500" y="466725"/>
            <a:ext cx="857250" cy="209550"/>
          </a:xfrm>
          <a:prstGeom prst="rect">
            <a:avLst/>
          </a:prstGeom>
          <a:noFill/>
          <a:ln>
            <a:noFill/>
          </a:ln>
        </p:spPr>
      </p:pic>
      <p:sp>
        <p:nvSpPr>
          <p:cNvPr id="1050" name="Google Shape;1050;p35"/>
          <p:cNvSpPr txBox="1"/>
          <p:nvPr/>
        </p:nvSpPr>
        <p:spPr>
          <a:xfrm>
            <a:off x="942975" y="1190625"/>
            <a:ext cx="3216964"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SETUP &amp; ENVIRONMENT</a:t>
            </a:r>
            <a:endParaRPr/>
          </a:p>
        </p:txBody>
      </p:sp>
      <p:sp>
        <p:nvSpPr>
          <p:cNvPr id="1051" name="Google Shape;1051;p35"/>
          <p:cNvSpPr/>
          <p:nvPr/>
        </p:nvSpPr>
        <p:spPr>
          <a:xfrm>
            <a:off x="723900" y="1371600"/>
            <a:ext cx="328285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2" name="Google Shape;1052;p35"/>
          <p:cNvSpPr txBox="1"/>
          <p:nvPr/>
        </p:nvSpPr>
        <p:spPr>
          <a:xfrm>
            <a:off x="723900" y="1438275"/>
            <a:ext cx="3282850" cy="4397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Invest in environment setup first. Configure 3-tiered blueprints (Enterprise standard, Org lints, Repo scripts). Add versioned `AGENTS.md` context guidelines to all repositories.</a:t>
            </a:r>
            <a:endParaRPr/>
          </a:p>
        </p:txBody>
      </p:sp>
      <p:sp>
        <p:nvSpPr>
          <p:cNvPr id="1053" name="Google Shape;1053;p35"/>
          <p:cNvSpPr txBox="1"/>
          <p:nvPr/>
        </p:nvSpPr>
        <p:spPr>
          <a:xfrm>
            <a:off x="4673500" y="1190625"/>
            <a:ext cx="3217120"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75" u="none" cap="none" strike="noStrike">
                <a:solidFill>
                  <a:srgbClr val="7C3AED"/>
                </a:solidFill>
                <a:latin typeface="Plus Jakarta Sans"/>
                <a:ea typeface="Plus Jakarta Sans"/>
                <a:cs typeface="Plus Jakarta Sans"/>
                <a:sym typeface="Plus Jakarta Sans"/>
              </a:rPr>
              <a:t>KNOWLEDGE &amp; SKILLS</a:t>
            </a:r>
            <a:endParaRPr/>
          </a:p>
        </p:txBody>
      </p:sp>
      <p:sp>
        <p:nvSpPr>
          <p:cNvPr id="1054" name="Google Shape;1054;p35"/>
          <p:cNvSpPr/>
          <p:nvPr/>
        </p:nvSpPr>
        <p:spPr>
          <a:xfrm>
            <a:off x="4454425" y="1371600"/>
            <a:ext cx="3282999"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5" name="Google Shape;1055;p35"/>
          <p:cNvSpPr txBox="1"/>
          <p:nvPr/>
        </p:nvSpPr>
        <p:spPr>
          <a:xfrm>
            <a:off x="4454425" y="1438275"/>
            <a:ext cx="3282999" cy="4397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Use precise trigger descriptions for folder organization. Commit versioned `SKILL.md` procedures to prevent rebuild loops. Restrict sensitive deployments to explicit user verification.</a:t>
            </a:r>
            <a:endParaRPr/>
          </a:p>
        </p:txBody>
      </p:sp>
      <p:sp>
        <p:nvSpPr>
          <p:cNvPr id="1056" name="Google Shape;1056;p35"/>
          <p:cNvSpPr txBox="1"/>
          <p:nvPr/>
        </p:nvSpPr>
        <p:spPr>
          <a:xfrm>
            <a:off x="8404175" y="1190625"/>
            <a:ext cx="3216964"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D9488"/>
                </a:solidFill>
                <a:latin typeface="Plus Jakarta Sans"/>
                <a:ea typeface="Plus Jakarta Sans"/>
                <a:cs typeface="Plus Jakarta Sans"/>
                <a:sym typeface="Plus Jakarta Sans"/>
              </a:rPr>
              <a:t>PLAYBOOKS &amp; AUTOMATIONS</a:t>
            </a:r>
            <a:endParaRPr/>
          </a:p>
        </p:txBody>
      </p:sp>
      <p:sp>
        <p:nvSpPr>
          <p:cNvPr id="1057" name="Google Shape;1057;p35"/>
          <p:cNvSpPr/>
          <p:nvPr/>
        </p:nvSpPr>
        <p:spPr>
          <a:xfrm>
            <a:off x="8185100" y="1371600"/>
            <a:ext cx="328285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8" name="Google Shape;1058;p35"/>
          <p:cNvSpPr txBox="1"/>
          <p:nvPr/>
        </p:nvSpPr>
        <p:spPr>
          <a:xfrm>
            <a:off x="8185100" y="1438275"/>
            <a:ext cx="3282850" cy="4397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Write Procedures using imperative verbs (one step per line). Define explicit postcondition specifications. Set narrow conditions on triggers to avoid runaway automated tasks.</a:t>
            </a:r>
            <a:endParaRPr/>
          </a:p>
        </p:txBody>
      </p:sp>
      <p:sp>
        <p:nvSpPr>
          <p:cNvPr id="1059" name="Google Shape;1059;p35"/>
          <p:cNvSpPr txBox="1"/>
          <p:nvPr/>
        </p:nvSpPr>
        <p:spPr>
          <a:xfrm>
            <a:off x="914400" y="2268587"/>
            <a:ext cx="3246968"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A580C"/>
                </a:solidFill>
                <a:latin typeface="Plus Jakarta Sans"/>
                <a:ea typeface="Plus Jakarta Sans"/>
                <a:cs typeface="Plus Jakarta Sans"/>
                <a:sym typeface="Plus Jakarta Sans"/>
              </a:rPr>
              <a:t>SESSIONS &amp; SCOPING</a:t>
            </a:r>
            <a:endParaRPr/>
          </a:p>
        </p:txBody>
      </p:sp>
      <p:sp>
        <p:nvSpPr>
          <p:cNvPr id="1060" name="Google Shape;1060;p35"/>
          <p:cNvSpPr/>
          <p:nvPr/>
        </p:nvSpPr>
        <p:spPr>
          <a:xfrm>
            <a:off x="723900" y="2449562"/>
            <a:ext cx="328285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1" name="Google Shape;1061;p35"/>
          <p:cNvSpPr txBox="1"/>
          <p:nvPr/>
        </p:nvSpPr>
        <p:spPr>
          <a:xfrm>
            <a:off x="723900" y="2516237"/>
            <a:ext cx="3282850" cy="58638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Scope tasks to take under 90 minutes of equivalent manual engineering work. Prefer wide-and-shallow parameters (migrations, test code sweeps) over tall-and-deep net-new features.</a:t>
            </a:r>
            <a:endParaRPr/>
          </a:p>
        </p:txBody>
      </p:sp>
      <p:sp>
        <p:nvSpPr>
          <p:cNvPr id="1062" name="Google Shape;1062;p35"/>
          <p:cNvSpPr txBox="1"/>
          <p:nvPr/>
        </p:nvSpPr>
        <p:spPr>
          <a:xfrm>
            <a:off x="4673500" y="2268587"/>
            <a:ext cx="3217120"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75569"/>
                </a:solidFill>
                <a:latin typeface="Plus Jakarta Sans"/>
                <a:ea typeface="Plus Jakarta Sans"/>
                <a:cs typeface="Plus Jakarta Sans"/>
                <a:sym typeface="Plus Jakarta Sans"/>
              </a:rPr>
              <a:t>SECURITY &amp; SECRETS</a:t>
            </a:r>
            <a:endParaRPr/>
          </a:p>
        </p:txBody>
      </p:sp>
      <p:sp>
        <p:nvSpPr>
          <p:cNvPr id="1063" name="Google Shape;1063;p35"/>
          <p:cNvSpPr/>
          <p:nvPr/>
        </p:nvSpPr>
        <p:spPr>
          <a:xfrm>
            <a:off x="4454425" y="2449562"/>
            <a:ext cx="3282999"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4" name="Google Shape;1064;p35"/>
          <p:cNvSpPr txBox="1"/>
          <p:nvPr/>
        </p:nvSpPr>
        <p:spPr>
          <a:xfrm>
            <a:off x="4454425" y="2516237"/>
            <a:ext cx="3282999" cy="4397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Store critical tokens inside the secure Secrets dashboard—never hardcoded in blueprints or prompts. Enforce IP Access Lists and human review on PR merges.</a:t>
            </a:r>
            <a:endParaRPr/>
          </a:p>
        </p:txBody>
      </p:sp>
      <p:sp>
        <p:nvSpPr>
          <p:cNvPr id="1065" name="Google Shape;1065;p35"/>
          <p:cNvSpPr txBox="1"/>
          <p:nvPr/>
        </p:nvSpPr>
        <p:spPr>
          <a:xfrm>
            <a:off x="8404175" y="2268587"/>
            <a:ext cx="3216964"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SCALING &amp; METRICS</a:t>
            </a:r>
            <a:endParaRPr/>
          </a:p>
        </p:txBody>
      </p:sp>
      <p:sp>
        <p:nvSpPr>
          <p:cNvPr id="1066" name="Google Shape;1066;p35"/>
          <p:cNvSpPr/>
          <p:nvPr/>
        </p:nvSpPr>
        <p:spPr>
          <a:xfrm>
            <a:off x="8185100" y="2449562"/>
            <a:ext cx="328285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7" name="Google Shape;1067;p35"/>
          <p:cNvSpPr txBox="1"/>
          <p:nvPr/>
        </p:nvSpPr>
        <p:spPr>
          <a:xfrm>
            <a:off x="8185100" y="2516237"/>
            <a:ext cx="3282850" cy="4397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Integrate identity directory SSO automatically. Set per-organization ACU limits, track metrics on custom dashboard sweeps, and run structured pilot phases first.</a:t>
            </a:r>
            <a:endParaRPr/>
          </a:p>
        </p:txBody>
      </p:sp>
      <p:pic>
        <p:nvPicPr>
          <p:cNvPr descr="image.png" id="1068" name="Google Shape;1068;p35"/>
          <p:cNvPicPr preferRelativeResize="0"/>
          <p:nvPr/>
        </p:nvPicPr>
        <p:blipFill rotWithShape="1">
          <a:blip r:embed="rId11">
            <a:alphaModFix/>
          </a:blip>
          <a:srcRect b="0" l="0" r="0" t="0"/>
          <a:stretch/>
        </p:blipFill>
        <p:spPr>
          <a:xfrm>
            <a:off x="723900" y="1204912"/>
            <a:ext cx="123825" cy="123825"/>
          </a:xfrm>
          <a:prstGeom prst="rect">
            <a:avLst/>
          </a:prstGeom>
          <a:noFill/>
          <a:ln>
            <a:noFill/>
          </a:ln>
        </p:spPr>
      </p:pic>
      <p:pic>
        <p:nvPicPr>
          <p:cNvPr descr="image.png" id="1069" name="Google Shape;1069;p35"/>
          <p:cNvPicPr preferRelativeResize="0"/>
          <p:nvPr/>
        </p:nvPicPr>
        <p:blipFill rotWithShape="1">
          <a:blip r:embed="rId12">
            <a:alphaModFix/>
          </a:blip>
          <a:srcRect b="0" l="0" r="0" t="0"/>
          <a:stretch/>
        </p:blipFill>
        <p:spPr>
          <a:xfrm>
            <a:off x="4454425" y="1204912"/>
            <a:ext cx="123825" cy="123825"/>
          </a:xfrm>
          <a:prstGeom prst="rect">
            <a:avLst/>
          </a:prstGeom>
          <a:noFill/>
          <a:ln>
            <a:noFill/>
          </a:ln>
        </p:spPr>
      </p:pic>
      <p:pic>
        <p:nvPicPr>
          <p:cNvPr descr="image.png" id="1070" name="Google Shape;1070;p35"/>
          <p:cNvPicPr preferRelativeResize="0"/>
          <p:nvPr/>
        </p:nvPicPr>
        <p:blipFill rotWithShape="1">
          <a:blip r:embed="rId13">
            <a:alphaModFix/>
          </a:blip>
          <a:srcRect b="0" l="0" r="0" t="0"/>
          <a:stretch/>
        </p:blipFill>
        <p:spPr>
          <a:xfrm>
            <a:off x="8185100" y="1204912"/>
            <a:ext cx="123825" cy="123825"/>
          </a:xfrm>
          <a:prstGeom prst="rect">
            <a:avLst/>
          </a:prstGeom>
          <a:noFill/>
          <a:ln>
            <a:noFill/>
          </a:ln>
        </p:spPr>
      </p:pic>
      <p:pic>
        <p:nvPicPr>
          <p:cNvPr descr="image.png" id="1071" name="Google Shape;1071;p35"/>
          <p:cNvPicPr preferRelativeResize="0"/>
          <p:nvPr/>
        </p:nvPicPr>
        <p:blipFill rotWithShape="1">
          <a:blip r:embed="rId14">
            <a:alphaModFix/>
          </a:blip>
          <a:srcRect b="0" l="0" r="0" t="0"/>
          <a:stretch/>
        </p:blipFill>
        <p:spPr>
          <a:xfrm>
            <a:off x="723900" y="2282874"/>
            <a:ext cx="95250" cy="123825"/>
          </a:xfrm>
          <a:prstGeom prst="rect">
            <a:avLst/>
          </a:prstGeom>
          <a:noFill/>
          <a:ln>
            <a:noFill/>
          </a:ln>
        </p:spPr>
      </p:pic>
      <p:pic>
        <p:nvPicPr>
          <p:cNvPr descr="image.png" id="1072" name="Google Shape;1072;p35"/>
          <p:cNvPicPr preferRelativeResize="0"/>
          <p:nvPr/>
        </p:nvPicPr>
        <p:blipFill rotWithShape="1">
          <a:blip r:embed="rId15">
            <a:alphaModFix/>
          </a:blip>
          <a:srcRect b="0" l="0" r="0" t="0"/>
          <a:stretch/>
        </p:blipFill>
        <p:spPr>
          <a:xfrm>
            <a:off x="4454425" y="2282874"/>
            <a:ext cx="123825" cy="123825"/>
          </a:xfrm>
          <a:prstGeom prst="rect">
            <a:avLst/>
          </a:prstGeom>
          <a:noFill/>
          <a:ln>
            <a:noFill/>
          </a:ln>
        </p:spPr>
      </p:pic>
      <p:pic>
        <p:nvPicPr>
          <p:cNvPr descr="image.png" id="1073" name="Google Shape;1073;p35"/>
          <p:cNvPicPr preferRelativeResize="0"/>
          <p:nvPr/>
        </p:nvPicPr>
        <p:blipFill rotWithShape="1">
          <a:blip r:embed="rId16">
            <a:alphaModFix/>
          </a:blip>
          <a:srcRect b="0" l="0" r="0" t="0"/>
          <a:stretch/>
        </p:blipFill>
        <p:spPr>
          <a:xfrm>
            <a:off x="8185100" y="2282874"/>
            <a:ext cx="123825" cy="123825"/>
          </a:xfrm>
          <a:prstGeom prst="rect">
            <a:avLst/>
          </a:prstGeom>
          <a:noFill/>
          <a:ln>
            <a:noFill/>
          </a:ln>
        </p:spPr>
      </p:pic>
      <p:sp>
        <p:nvSpPr>
          <p:cNvPr id="1074" name="Google Shape;1074;p35"/>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Enterprise Best Practices Dashboard</a:t>
            </a:r>
            <a:endParaRPr/>
          </a:p>
        </p:txBody>
      </p:sp>
      <p:sp>
        <p:nvSpPr>
          <p:cNvPr id="1075" name="Google Shape;1075;p35"/>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9" name="Shape 1079"/>
        <p:cNvGrpSpPr/>
        <p:nvPr/>
      </p:nvGrpSpPr>
      <p:grpSpPr>
        <a:xfrm>
          <a:off x="0" y="0"/>
          <a:ext cx="0" cy="0"/>
          <a:chOff x="0" y="0"/>
          <a:chExt cx="0" cy="0"/>
        </a:xfrm>
      </p:grpSpPr>
      <p:pic>
        <p:nvPicPr>
          <p:cNvPr descr="image.png" id="1080" name="Google Shape;1080;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1" name="Google Shape;1081;p36"/>
          <p:cNvPicPr preferRelativeResize="0"/>
          <p:nvPr/>
        </p:nvPicPr>
        <p:blipFill rotWithShape="1">
          <a:blip r:embed="rId4">
            <a:alphaModFix/>
          </a:blip>
          <a:srcRect b="0" l="0" r="0" t="0"/>
          <a:stretch/>
        </p:blipFill>
        <p:spPr>
          <a:xfrm>
            <a:off x="7046118" y="2782341"/>
            <a:ext cx="4574381" cy="1979116"/>
          </a:xfrm>
          <a:prstGeom prst="rect">
            <a:avLst/>
          </a:prstGeom>
          <a:noFill/>
          <a:ln>
            <a:noFill/>
          </a:ln>
        </p:spPr>
      </p:pic>
      <p:pic>
        <p:nvPicPr>
          <p:cNvPr descr="image.png" id="1082" name="Google Shape;1082;p36"/>
          <p:cNvPicPr preferRelativeResize="0"/>
          <p:nvPr/>
        </p:nvPicPr>
        <p:blipFill rotWithShape="1">
          <a:blip r:embed="rId5">
            <a:alphaModFix/>
          </a:blip>
          <a:srcRect b="0" l="0" r="0" t="0"/>
          <a:stretch/>
        </p:blipFill>
        <p:spPr>
          <a:xfrm>
            <a:off x="571500" y="3198018"/>
            <a:ext cx="6188868" cy="347662"/>
          </a:xfrm>
          <a:prstGeom prst="rect">
            <a:avLst/>
          </a:prstGeom>
          <a:noFill/>
          <a:ln>
            <a:noFill/>
          </a:ln>
        </p:spPr>
      </p:pic>
      <p:pic>
        <p:nvPicPr>
          <p:cNvPr descr="image.png" id="1083" name="Google Shape;1083;p36"/>
          <p:cNvPicPr preferRelativeResize="0"/>
          <p:nvPr/>
        </p:nvPicPr>
        <p:blipFill rotWithShape="1">
          <a:blip r:embed="rId6">
            <a:alphaModFix/>
          </a:blip>
          <a:srcRect b="0" l="0" r="0" t="0"/>
          <a:stretch/>
        </p:blipFill>
        <p:spPr>
          <a:xfrm>
            <a:off x="571500" y="3783806"/>
            <a:ext cx="6188868" cy="347662"/>
          </a:xfrm>
          <a:prstGeom prst="rect">
            <a:avLst/>
          </a:prstGeom>
          <a:noFill/>
          <a:ln>
            <a:noFill/>
          </a:ln>
        </p:spPr>
      </p:pic>
      <p:pic>
        <p:nvPicPr>
          <p:cNvPr descr="image.png" id="1084" name="Google Shape;1084;p36"/>
          <p:cNvPicPr preferRelativeResize="0"/>
          <p:nvPr/>
        </p:nvPicPr>
        <p:blipFill rotWithShape="1">
          <a:blip r:embed="rId5">
            <a:alphaModFix/>
          </a:blip>
          <a:srcRect b="0" l="0" r="0" t="0"/>
          <a:stretch/>
        </p:blipFill>
        <p:spPr>
          <a:xfrm>
            <a:off x="571500" y="4369593"/>
            <a:ext cx="6188868" cy="347662"/>
          </a:xfrm>
          <a:prstGeom prst="rect">
            <a:avLst/>
          </a:prstGeom>
          <a:noFill/>
          <a:ln>
            <a:noFill/>
          </a:ln>
        </p:spPr>
      </p:pic>
      <p:pic>
        <p:nvPicPr>
          <p:cNvPr descr="image.png" id="1085" name="Google Shape;1085;p36"/>
          <p:cNvPicPr preferRelativeResize="0"/>
          <p:nvPr/>
        </p:nvPicPr>
        <p:blipFill rotWithShape="1">
          <a:blip r:embed="rId7">
            <a:alphaModFix/>
          </a:blip>
          <a:srcRect b="0" l="0" r="0" t="0"/>
          <a:stretch/>
        </p:blipFill>
        <p:spPr>
          <a:xfrm>
            <a:off x="571500" y="466725"/>
            <a:ext cx="857250" cy="209550"/>
          </a:xfrm>
          <a:prstGeom prst="rect">
            <a:avLst/>
          </a:prstGeom>
          <a:noFill/>
          <a:ln>
            <a:noFill/>
          </a:ln>
        </p:spPr>
      </p:pic>
      <p:pic>
        <p:nvPicPr>
          <p:cNvPr descr="image.png" id="1086" name="Google Shape;1086;p36"/>
          <p:cNvPicPr preferRelativeResize="0"/>
          <p:nvPr/>
        </p:nvPicPr>
        <p:blipFill rotWithShape="1">
          <a:blip r:embed="rId8">
            <a:alphaModFix/>
          </a:blip>
          <a:srcRect b="0" l="0" r="0" t="0"/>
          <a:stretch/>
        </p:blipFill>
        <p:spPr>
          <a:xfrm>
            <a:off x="571500" y="2826543"/>
            <a:ext cx="6188868" cy="228600"/>
          </a:xfrm>
          <a:prstGeom prst="rect">
            <a:avLst/>
          </a:prstGeom>
          <a:noFill/>
          <a:ln>
            <a:noFill/>
          </a:ln>
        </p:spPr>
      </p:pic>
      <p:pic>
        <p:nvPicPr>
          <p:cNvPr descr="image.png" id="1087" name="Google Shape;1087;p36"/>
          <p:cNvPicPr preferRelativeResize="0"/>
          <p:nvPr/>
        </p:nvPicPr>
        <p:blipFill rotWithShape="1">
          <a:blip r:embed="rId9">
            <a:alphaModFix/>
          </a:blip>
          <a:srcRect b="0" l="0" r="0" t="0"/>
          <a:stretch/>
        </p:blipFill>
        <p:spPr>
          <a:xfrm>
            <a:off x="8580834" y="3039516"/>
            <a:ext cx="1504950" cy="228600"/>
          </a:xfrm>
          <a:prstGeom prst="rect">
            <a:avLst/>
          </a:prstGeom>
          <a:noFill/>
          <a:ln>
            <a:noFill/>
          </a:ln>
        </p:spPr>
      </p:pic>
      <p:sp>
        <p:nvSpPr>
          <p:cNvPr id="1088" name="Google Shape;1088;p36"/>
          <p:cNvSpPr txBox="1"/>
          <p:nvPr/>
        </p:nvSpPr>
        <p:spPr>
          <a:xfrm>
            <a:off x="7246143" y="3363366"/>
            <a:ext cx="4174331" cy="495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900" u="none" cap="none" strike="noStrike">
                <a:solidFill>
                  <a:srgbClr val="2563EB"/>
                </a:solidFill>
                <a:latin typeface="Plus Jakarta Sans ExtraBold"/>
                <a:ea typeface="Plus Jakarta Sans ExtraBold"/>
                <a:cs typeface="Plus Jakarta Sans ExtraBold"/>
                <a:sym typeface="Plus Jakarta Sans ExtraBold"/>
              </a:rPr>
              <a:t>100%</a:t>
            </a:r>
            <a:endParaRPr/>
          </a:p>
        </p:txBody>
      </p:sp>
      <p:sp>
        <p:nvSpPr>
          <p:cNvPr id="1089" name="Google Shape;1089;p36"/>
          <p:cNvSpPr txBox="1"/>
          <p:nvPr/>
        </p:nvSpPr>
        <p:spPr>
          <a:xfrm>
            <a:off x="7246143" y="3934866"/>
            <a:ext cx="4174331"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Migrated Autonomously</a:t>
            </a:r>
            <a:endParaRPr/>
          </a:p>
        </p:txBody>
      </p:sp>
      <p:sp>
        <p:nvSpPr>
          <p:cNvPr id="1090" name="Google Shape;1090;p36"/>
          <p:cNvSpPr txBox="1"/>
          <p:nvPr/>
        </p:nvSpPr>
        <p:spPr>
          <a:xfrm>
            <a:off x="7246143" y="4182516"/>
            <a:ext cx="4174331" cy="331291"/>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Successful microservice modernization of legacy banking codebases. Mirrors real-world enterprise conversions (e.g., Nubank modules).</a:t>
            </a:r>
            <a:endParaRPr/>
          </a:p>
        </p:txBody>
      </p:sp>
      <p:sp>
        <p:nvSpPr>
          <p:cNvPr id="1091" name="Google Shape;1091;p36"/>
          <p:cNvSpPr txBox="1"/>
          <p:nvPr/>
        </p:nvSpPr>
        <p:spPr>
          <a:xfrm>
            <a:off x="676275" y="3305175"/>
            <a:ext cx="40005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2563EB"/>
                </a:solidFill>
                <a:latin typeface="JetBrains Mono"/>
                <a:ea typeface="JetBrains Mono"/>
                <a:cs typeface="JetBrains Mono"/>
                <a:sym typeface="JetBrains Mono"/>
              </a:rPr>
              <a:t>INPUTS</a:t>
            </a:r>
            <a:endParaRPr/>
          </a:p>
        </p:txBody>
      </p:sp>
      <p:sp>
        <p:nvSpPr>
          <p:cNvPr id="1092" name="Google Shape;1092;p36"/>
          <p:cNvSpPr txBox="1"/>
          <p:nvPr/>
        </p:nvSpPr>
        <p:spPr>
          <a:xfrm>
            <a:off x="1171575" y="3302793"/>
            <a:ext cx="399097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Ask Devin indexes COBOL codebase, mapping business rules and scoping module files.</a:t>
            </a:r>
            <a:endParaRPr/>
          </a:p>
        </p:txBody>
      </p:sp>
      <p:pic>
        <p:nvPicPr>
          <p:cNvPr descr="image.png" id="1093" name="Google Shape;1093;p36"/>
          <p:cNvPicPr preferRelativeResize="0"/>
          <p:nvPr/>
        </p:nvPicPr>
        <p:blipFill rotWithShape="1">
          <a:blip r:embed="rId10">
            <a:alphaModFix/>
          </a:blip>
          <a:srcRect b="0" l="0" r="0" t="0"/>
          <a:stretch/>
        </p:blipFill>
        <p:spPr>
          <a:xfrm>
            <a:off x="3623071" y="3612356"/>
            <a:ext cx="85725" cy="114300"/>
          </a:xfrm>
          <a:prstGeom prst="rect">
            <a:avLst/>
          </a:prstGeom>
          <a:noFill/>
          <a:ln>
            <a:noFill/>
          </a:ln>
        </p:spPr>
      </p:pic>
      <p:sp>
        <p:nvSpPr>
          <p:cNvPr id="1094" name="Google Shape;1094;p36"/>
          <p:cNvSpPr txBox="1"/>
          <p:nvPr/>
        </p:nvSpPr>
        <p:spPr>
          <a:xfrm>
            <a:off x="676275" y="3890962"/>
            <a:ext cx="5334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7C3AED"/>
                </a:solidFill>
                <a:latin typeface="JetBrains Mono"/>
                <a:ea typeface="JetBrains Mono"/>
                <a:cs typeface="JetBrains Mono"/>
                <a:sym typeface="JetBrains Mono"/>
              </a:rPr>
              <a:t>PARALLEL</a:t>
            </a:r>
            <a:endParaRPr/>
          </a:p>
        </p:txBody>
      </p:sp>
      <p:sp>
        <p:nvSpPr>
          <p:cNvPr id="1095" name="Google Shape;1095;p36"/>
          <p:cNvSpPr txBox="1"/>
          <p:nvPr/>
        </p:nvSpPr>
        <p:spPr>
          <a:xfrm>
            <a:off x="1304925" y="3888581"/>
            <a:ext cx="4371975"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Coordinator spawns child VMs. Each converts an isolated segment utilizing migration Playbooks.</a:t>
            </a:r>
            <a:endParaRPr/>
          </a:p>
        </p:txBody>
      </p:sp>
      <p:pic>
        <p:nvPicPr>
          <p:cNvPr descr="image.png" id="1096" name="Google Shape;1096;p36"/>
          <p:cNvPicPr preferRelativeResize="0"/>
          <p:nvPr/>
        </p:nvPicPr>
        <p:blipFill rotWithShape="1">
          <a:blip r:embed="rId11">
            <a:alphaModFix/>
          </a:blip>
          <a:srcRect b="0" l="0" r="0" t="0"/>
          <a:stretch/>
        </p:blipFill>
        <p:spPr>
          <a:xfrm>
            <a:off x="3623071" y="4198143"/>
            <a:ext cx="85725" cy="114300"/>
          </a:xfrm>
          <a:prstGeom prst="rect">
            <a:avLst/>
          </a:prstGeom>
          <a:noFill/>
          <a:ln>
            <a:noFill/>
          </a:ln>
        </p:spPr>
      </p:pic>
      <p:sp>
        <p:nvSpPr>
          <p:cNvPr id="1097" name="Google Shape;1097;p36"/>
          <p:cNvSpPr txBox="1"/>
          <p:nvPr/>
        </p:nvSpPr>
        <p:spPr>
          <a:xfrm>
            <a:off x="676275" y="4476750"/>
            <a:ext cx="40005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D9488"/>
                </a:solidFill>
                <a:latin typeface="JetBrains Mono"/>
                <a:ea typeface="JetBrains Mono"/>
                <a:cs typeface="JetBrains Mono"/>
                <a:sym typeface="JetBrains Mono"/>
              </a:rPr>
              <a:t>VERIFY</a:t>
            </a:r>
            <a:endParaRPr/>
          </a:p>
        </p:txBody>
      </p:sp>
      <p:sp>
        <p:nvSpPr>
          <p:cNvPr id="1098" name="Google Shape;1098;p36"/>
          <p:cNvSpPr txBox="1"/>
          <p:nvPr/>
        </p:nvSpPr>
        <p:spPr>
          <a:xfrm>
            <a:off x="1171575" y="4474368"/>
            <a:ext cx="3562350"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Verifies code logic via Java build/test skills inside snapshots prior to raising PRs.</a:t>
            </a:r>
            <a:endParaRPr/>
          </a:p>
        </p:txBody>
      </p:sp>
      <p:sp>
        <p:nvSpPr>
          <p:cNvPr id="1099" name="Google Shape;1099;p36"/>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Legacy Modernization</a:t>
            </a:r>
            <a:endParaRPr/>
          </a:p>
        </p:txBody>
      </p:sp>
      <p:sp>
        <p:nvSpPr>
          <p:cNvPr id="1100" name="Google Shape;1100;p36"/>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4" name="Shape 1104"/>
        <p:cNvGrpSpPr/>
        <p:nvPr/>
      </p:nvGrpSpPr>
      <p:grpSpPr>
        <a:xfrm>
          <a:off x="0" y="0"/>
          <a:ext cx="0" cy="0"/>
          <a:chOff x="0" y="0"/>
          <a:chExt cx="0" cy="0"/>
        </a:xfrm>
      </p:grpSpPr>
      <p:pic>
        <p:nvPicPr>
          <p:cNvPr descr="image.png" id="1105" name="Google Shape;1105;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06" name="Google Shape;1106;p37"/>
          <p:cNvPicPr preferRelativeResize="0"/>
          <p:nvPr/>
        </p:nvPicPr>
        <p:blipFill rotWithShape="1">
          <a:blip r:embed="rId4">
            <a:alphaModFix/>
          </a:blip>
          <a:srcRect b="0" l="0" r="0" t="0"/>
          <a:stretch/>
        </p:blipFill>
        <p:spPr>
          <a:xfrm>
            <a:off x="571500" y="4281933"/>
            <a:ext cx="11049000" cy="636091"/>
          </a:xfrm>
          <a:prstGeom prst="rect">
            <a:avLst/>
          </a:prstGeom>
          <a:noFill/>
          <a:ln>
            <a:noFill/>
          </a:ln>
        </p:spPr>
      </p:pic>
      <p:pic>
        <p:nvPicPr>
          <p:cNvPr descr="image.png" id="1107" name="Google Shape;1107;p37"/>
          <p:cNvPicPr preferRelativeResize="0"/>
          <p:nvPr/>
        </p:nvPicPr>
        <p:blipFill rotWithShape="1">
          <a:blip r:embed="rId5">
            <a:alphaModFix/>
          </a:blip>
          <a:srcRect b="0" l="0" r="0" t="0"/>
          <a:stretch/>
        </p:blipFill>
        <p:spPr>
          <a:xfrm>
            <a:off x="1708695" y="2901999"/>
            <a:ext cx="266700" cy="266700"/>
          </a:xfrm>
          <a:prstGeom prst="rect">
            <a:avLst/>
          </a:prstGeom>
          <a:noFill/>
          <a:ln>
            <a:noFill/>
          </a:ln>
        </p:spPr>
      </p:pic>
      <p:pic>
        <p:nvPicPr>
          <p:cNvPr descr="image.png" id="1108" name="Google Shape;1108;p37"/>
          <p:cNvPicPr preferRelativeResize="0"/>
          <p:nvPr/>
        </p:nvPicPr>
        <p:blipFill rotWithShape="1">
          <a:blip r:embed="rId6">
            <a:alphaModFix/>
          </a:blip>
          <a:srcRect b="0" l="0" r="0" t="0"/>
          <a:stretch/>
        </p:blipFill>
        <p:spPr>
          <a:xfrm>
            <a:off x="4544615" y="2901999"/>
            <a:ext cx="266700" cy="266700"/>
          </a:xfrm>
          <a:prstGeom prst="rect">
            <a:avLst/>
          </a:prstGeom>
          <a:noFill/>
          <a:ln>
            <a:noFill/>
          </a:ln>
        </p:spPr>
      </p:pic>
      <p:pic>
        <p:nvPicPr>
          <p:cNvPr descr="image.png" id="1109" name="Google Shape;1109;p37"/>
          <p:cNvPicPr preferRelativeResize="0"/>
          <p:nvPr/>
        </p:nvPicPr>
        <p:blipFill rotWithShape="1">
          <a:blip r:embed="rId7">
            <a:alphaModFix/>
          </a:blip>
          <a:srcRect b="0" l="0" r="0" t="0"/>
          <a:stretch/>
        </p:blipFill>
        <p:spPr>
          <a:xfrm>
            <a:off x="7380535" y="2901999"/>
            <a:ext cx="266700" cy="266700"/>
          </a:xfrm>
          <a:prstGeom prst="rect">
            <a:avLst/>
          </a:prstGeom>
          <a:noFill/>
          <a:ln>
            <a:noFill/>
          </a:ln>
        </p:spPr>
      </p:pic>
      <p:pic>
        <p:nvPicPr>
          <p:cNvPr descr="image.png" id="1110" name="Google Shape;1110;p37"/>
          <p:cNvPicPr preferRelativeResize="0"/>
          <p:nvPr/>
        </p:nvPicPr>
        <p:blipFill rotWithShape="1">
          <a:blip r:embed="rId8">
            <a:alphaModFix/>
          </a:blip>
          <a:srcRect b="0" l="0" r="0" t="0"/>
          <a:stretch/>
        </p:blipFill>
        <p:spPr>
          <a:xfrm>
            <a:off x="10216455" y="2901999"/>
            <a:ext cx="266700" cy="266700"/>
          </a:xfrm>
          <a:prstGeom prst="rect">
            <a:avLst/>
          </a:prstGeom>
          <a:noFill/>
          <a:ln>
            <a:noFill/>
          </a:ln>
        </p:spPr>
      </p:pic>
      <p:pic>
        <p:nvPicPr>
          <p:cNvPr descr="image.png" id="1111" name="Google Shape;1111;p37"/>
          <p:cNvPicPr preferRelativeResize="0"/>
          <p:nvPr/>
        </p:nvPicPr>
        <p:blipFill rotWithShape="1">
          <a:blip r:embed="rId9">
            <a:alphaModFix/>
          </a:blip>
          <a:srcRect b="0" l="0" r="0" t="0"/>
          <a:stretch/>
        </p:blipFill>
        <p:spPr>
          <a:xfrm>
            <a:off x="571500" y="2721024"/>
            <a:ext cx="2541240" cy="1275159"/>
          </a:xfrm>
          <a:prstGeom prst="rect">
            <a:avLst/>
          </a:prstGeom>
          <a:noFill/>
          <a:ln>
            <a:noFill/>
          </a:ln>
        </p:spPr>
      </p:pic>
      <p:pic>
        <p:nvPicPr>
          <p:cNvPr descr="image.png" id="1112" name="Google Shape;1112;p37"/>
          <p:cNvPicPr preferRelativeResize="0"/>
          <p:nvPr/>
        </p:nvPicPr>
        <p:blipFill rotWithShape="1">
          <a:blip r:embed="rId10">
            <a:alphaModFix/>
          </a:blip>
          <a:srcRect b="0" l="0" r="0" t="0"/>
          <a:stretch/>
        </p:blipFill>
        <p:spPr>
          <a:xfrm>
            <a:off x="3407419" y="2721024"/>
            <a:ext cx="2541240" cy="1275159"/>
          </a:xfrm>
          <a:prstGeom prst="rect">
            <a:avLst/>
          </a:prstGeom>
          <a:noFill/>
          <a:ln>
            <a:noFill/>
          </a:ln>
        </p:spPr>
      </p:pic>
      <p:pic>
        <p:nvPicPr>
          <p:cNvPr descr="image.png" id="1113" name="Google Shape;1113;p37"/>
          <p:cNvPicPr preferRelativeResize="0"/>
          <p:nvPr/>
        </p:nvPicPr>
        <p:blipFill rotWithShape="1">
          <a:blip r:embed="rId11">
            <a:alphaModFix/>
          </a:blip>
          <a:srcRect b="0" l="0" r="0" t="0"/>
          <a:stretch/>
        </p:blipFill>
        <p:spPr>
          <a:xfrm>
            <a:off x="6243339" y="2721024"/>
            <a:ext cx="2541240" cy="1275159"/>
          </a:xfrm>
          <a:prstGeom prst="rect">
            <a:avLst/>
          </a:prstGeom>
          <a:noFill/>
          <a:ln>
            <a:noFill/>
          </a:ln>
        </p:spPr>
      </p:pic>
      <p:pic>
        <p:nvPicPr>
          <p:cNvPr descr="image.png" id="1114" name="Google Shape;1114;p37"/>
          <p:cNvPicPr preferRelativeResize="0"/>
          <p:nvPr/>
        </p:nvPicPr>
        <p:blipFill rotWithShape="1">
          <a:blip r:embed="rId9">
            <a:alphaModFix/>
          </a:blip>
          <a:srcRect b="0" l="0" r="0" t="0"/>
          <a:stretch/>
        </p:blipFill>
        <p:spPr>
          <a:xfrm>
            <a:off x="9079259" y="2721024"/>
            <a:ext cx="2541240" cy="1275159"/>
          </a:xfrm>
          <a:prstGeom prst="rect">
            <a:avLst/>
          </a:prstGeom>
          <a:noFill/>
          <a:ln>
            <a:noFill/>
          </a:ln>
        </p:spPr>
      </p:pic>
      <p:pic>
        <p:nvPicPr>
          <p:cNvPr descr="image.png" id="1115" name="Google Shape;1115;p37"/>
          <p:cNvPicPr preferRelativeResize="0"/>
          <p:nvPr/>
        </p:nvPicPr>
        <p:blipFill rotWithShape="1">
          <a:blip r:embed="rId12">
            <a:alphaModFix/>
          </a:blip>
          <a:srcRect b="0" l="0" r="0" t="0"/>
          <a:stretch/>
        </p:blipFill>
        <p:spPr>
          <a:xfrm>
            <a:off x="571500" y="466725"/>
            <a:ext cx="857250" cy="209550"/>
          </a:xfrm>
          <a:prstGeom prst="rect">
            <a:avLst/>
          </a:prstGeom>
          <a:noFill/>
          <a:ln>
            <a:noFill/>
          </a:ln>
        </p:spPr>
      </p:pic>
      <p:sp>
        <p:nvSpPr>
          <p:cNvPr id="1116" name="Google Shape;1116;p37"/>
          <p:cNvSpPr/>
          <p:nvPr/>
        </p:nvSpPr>
        <p:spPr>
          <a:xfrm>
            <a:off x="571500" y="3349079"/>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7" name="Google Shape;1117;p37"/>
          <p:cNvSpPr txBox="1"/>
          <p:nvPr/>
        </p:nvSpPr>
        <p:spPr>
          <a:xfrm>
            <a:off x="819150" y="4434333"/>
            <a:ext cx="1055370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Enterprise Value:</a:t>
            </a:r>
            <a:r>
              <a:rPr b="0" i="0" lang="en-US" sz="900" u="none" cap="none" strike="noStrike">
                <a:solidFill>
                  <a:srgbClr val="475569"/>
                </a:solidFill>
                <a:latin typeface="Plus Jakarta Sans"/>
                <a:ea typeface="Plus Jakarta Sans"/>
                <a:cs typeface="Plus Jakarta Sans"/>
                <a:sym typeface="Plus Jakarta Sans"/>
              </a:rPr>
              <a:t> Engineers are no longer paged or blocked by routine linter failures, dependency breakages, or syntax compiler bugs. Devin intercepts, resolves, and verifies the fixes autonomously 24/7.</a:t>
            </a:r>
            <a:endParaRPr/>
          </a:p>
        </p:txBody>
      </p:sp>
      <p:sp>
        <p:nvSpPr>
          <p:cNvPr id="1118" name="Google Shape;1118;p37"/>
          <p:cNvSpPr txBox="1"/>
          <p:nvPr/>
        </p:nvSpPr>
        <p:spPr>
          <a:xfrm>
            <a:off x="69799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CI Check Fails</a:t>
            </a:r>
            <a:endParaRPr/>
          </a:p>
        </p:txBody>
      </p:sp>
      <p:sp>
        <p:nvSpPr>
          <p:cNvPr id="1119" name="Google Shape;1119;p37"/>
          <p:cNvSpPr txBox="1"/>
          <p:nvPr/>
        </p:nvSpPr>
        <p:spPr>
          <a:xfrm>
            <a:off x="752475"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GitHub Action alerts. Automation webhook fires on failure.</a:t>
            </a:r>
            <a:endParaRPr/>
          </a:p>
        </p:txBody>
      </p:sp>
      <p:sp>
        <p:nvSpPr>
          <p:cNvPr id="1120" name="Google Shape;1120;p37"/>
          <p:cNvSpPr txBox="1"/>
          <p:nvPr/>
        </p:nvSpPr>
        <p:spPr>
          <a:xfrm>
            <a:off x="353391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Triage Boot</a:t>
            </a:r>
            <a:endParaRPr/>
          </a:p>
        </p:txBody>
      </p:sp>
      <p:sp>
        <p:nvSpPr>
          <p:cNvPr id="1121" name="Google Shape;1121;p37"/>
          <p:cNvSpPr txBox="1"/>
          <p:nvPr/>
        </p:nvSpPr>
        <p:spPr>
          <a:xfrm>
            <a:off x="3588394"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Sandbox VM boots, retrieves "CI failure" Knowledge runbooks.</a:t>
            </a:r>
            <a:endParaRPr/>
          </a:p>
        </p:txBody>
      </p:sp>
      <p:sp>
        <p:nvSpPr>
          <p:cNvPr id="1122" name="Google Shape;1122;p37"/>
          <p:cNvSpPr txBox="1"/>
          <p:nvPr/>
        </p:nvSpPr>
        <p:spPr>
          <a:xfrm>
            <a:off x="636983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Fix &amp; Test</a:t>
            </a:r>
            <a:endParaRPr/>
          </a:p>
        </p:txBody>
      </p:sp>
      <p:sp>
        <p:nvSpPr>
          <p:cNvPr id="1123" name="Google Shape;1123;p37"/>
          <p:cNvSpPr txBox="1"/>
          <p:nvPr/>
        </p:nvSpPr>
        <p:spPr>
          <a:xfrm>
            <a:off x="6424314"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Resolves code paths, auto-runs `test-before-pr` verification.</a:t>
            </a:r>
            <a:endParaRPr/>
          </a:p>
        </p:txBody>
      </p:sp>
      <p:sp>
        <p:nvSpPr>
          <p:cNvPr id="1124" name="Google Shape;1124;p37"/>
          <p:cNvSpPr txBox="1"/>
          <p:nvPr/>
        </p:nvSpPr>
        <p:spPr>
          <a:xfrm>
            <a:off x="920575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PR Commit</a:t>
            </a:r>
            <a:endParaRPr/>
          </a:p>
        </p:txBody>
      </p:sp>
      <p:sp>
        <p:nvSpPr>
          <p:cNvPr id="1125" name="Google Shape;1125;p37"/>
          <p:cNvSpPr txBox="1"/>
          <p:nvPr/>
        </p:nvSpPr>
        <p:spPr>
          <a:xfrm>
            <a:off x="9260234"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Pushes clean fix PR, auto-triggering Devin Review scans.</a:t>
            </a:r>
            <a:endParaRPr/>
          </a:p>
        </p:txBody>
      </p:sp>
      <p:sp>
        <p:nvSpPr>
          <p:cNvPr id="1126" name="Google Shape;1126;p37"/>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CI/CD Remediation</a:t>
            </a:r>
            <a:endParaRPr/>
          </a:p>
        </p:txBody>
      </p:sp>
      <p:sp>
        <p:nvSpPr>
          <p:cNvPr id="1127" name="Google Shape;1127;p37"/>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1" name="Shape 1131"/>
        <p:cNvGrpSpPr/>
        <p:nvPr/>
      </p:nvGrpSpPr>
      <p:grpSpPr>
        <a:xfrm>
          <a:off x="0" y="0"/>
          <a:ext cx="0" cy="0"/>
          <a:chOff x="0" y="0"/>
          <a:chExt cx="0" cy="0"/>
        </a:xfrm>
      </p:grpSpPr>
      <p:pic>
        <p:nvPicPr>
          <p:cNvPr descr="image.png" id="1132" name="Google Shape;1132;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33" name="Google Shape;1133;p38"/>
          <p:cNvPicPr preferRelativeResize="0"/>
          <p:nvPr/>
        </p:nvPicPr>
        <p:blipFill rotWithShape="1">
          <a:blip r:embed="rId4">
            <a:alphaModFix/>
          </a:blip>
          <a:srcRect b="0" l="0" r="0" t="0"/>
          <a:stretch/>
        </p:blipFill>
        <p:spPr>
          <a:xfrm>
            <a:off x="7046118" y="2782341"/>
            <a:ext cx="4574381" cy="1979116"/>
          </a:xfrm>
          <a:prstGeom prst="rect">
            <a:avLst/>
          </a:prstGeom>
          <a:noFill/>
          <a:ln>
            <a:noFill/>
          </a:ln>
        </p:spPr>
      </p:pic>
      <p:pic>
        <p:nvPicPr>
          <p:cNvPr descr="image.png" id="1134" name="Google Shape;1134;p38"/>
          <p:cNvPicPr preferRelativeResize="0"/>
          <p:nvPr/>
        </p:nvPicPr>
        <p:blipFill rotWithShape="1">
          <a:blip r:embed="rId5">
            <a:alphaModFix/>
          </a:blip>
          <a:srcRect b="0" l="0" r="0" t="0"/>
          <a:stretch/>
        </p:blipFill>
        <p:spPr>
          <a:xfrm>
            <a:off x="571500" y="466725"/>
            <a:ext cx="857250" cy="209550"/>
          </a:xfrm>
          <a:prstGeom prst="rect">
            <a:avLst/>
          </a:prstGeom>
          <a:noFill/>
          <a:ln>
            <a:noFill/>
          </a:ln>
        </p:spPr>
      </p:pic>
      <p:pic>
        <p:nvPicPr>
          <p:cNvPr descr="image.png" id="1135" name="Google Shape;1135;p38"/>
          <p:cNvPicPr preferRelativeResize="0"/>
          <p:nvPr/>
        </p:nvPicPr>
        <p:blipFill rotWithShape="1">
          <a:blip r:embed="rId6">
            <a:alphaModFix/>
          </a:blip>
          <a:srcRect b="0" l="0" r="0" t="0"/>
          <a:stretch/>
        </p:blipFill>
        <p:spPr>
          <a:xfrm>
            <a:off x="571500" y="3048000"/>
            <a:ext cx="6188868" cy="228600"/>
          </a:xfrm>
          <a:prstGeom prst="rect">
            <a:avLst/>
          </a:prstGeom>
          <a:noFill/>
          <a:ln>
            <a:noFill/>
          </a:ln>
        </p:spPr>
      </p:pic>
      <p:sp>
        <p:nvSpPr>
          <p:cNvPr id="1136" name="Google Shape;1136;p38"/>
          <p:cNvSpPr/>
          <p:nvPr/>
        </p:nvSpPr>
        <p:spPr>
          <a:xfrm>
            <a:off x="571500" y="3400425"/>
            <a:ext cx="6188868" cy="3143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7" name="Google Shape;1137;p38"/>
          <p:cNvSpPr txBox="1"/>
          <p:nvPr/>
        </p:nvSpPr>
        <p:spPr>
          <a:xfrm>
            <a:off x="714375" y="3495675"/>
            <a:ext cx="59031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1. QUERY &amp; DETECT:</a:t>
            </a:r>
            <a:r>
              <a:rPr b="0" i="0" lang="en-US" sz="825" u="none" cap="none" strike="noStrike">
                <a:solidFill>
                  <a:srgbClr val="0F172A"/>
                </a:solidFill>
                <a:latin typeface="Plus Jakarta Sans"/>
                <a:ea typeface="Plus Jakarta Sans"/>
                <a:cs typeface="Plus Jakarta Sans"/>
                <a:sym typeface="Plus Jakarta Sans"/>
              </a:rPr>
              <a:t> Coordinator queries SonarQube database for linter failures.</a:t>
            </a:r>
            <a:endParaRPr/>
          </a:p>
        </p:txBody>
      </p:sp>
      <p:sp>
        <p:nvSpPr>
          <p:cNvPr id="1138" name="Google Shape;1138;p38"/>
          <p:cNvSpPr/>
          <p:nvPr/>
        </p:nvSpPr>
        <p:spPr>
          <a:xfrm>
            <a:off x="571500" y="3400425"/>
            <a:ext cx="38100" cy="31432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9" name="Google Shape;1139;p38"/>
          <p:cNvSpPr/>
          <p:nvPr/>
        </p:nvSpPr>
        <p:spPr>
          <a:xfrm>
            <a:off x="571500" y="3790950"/>
            <a:ext cx="6188868" cy="3143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0" name="Google Shape;1140;p38"/>
          <p:cNvSpPr txBox="1"/>
          <p:nvPr/>
        </p:nvSpPr>
        <p:spPr>
          <a:xfrm>
            <a:off x="714375" y="3886200"/>
            <a:ext cx="59031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2. Modular Partition:</a:t>
            </a:r>
            <a:r>
              <a:rPr b="0" i="0" lang="en-US" sz="825" u="none" cap="none" strike="noStrike">
                <a:solidFill>
                  <a:srgbClr val="0F172A"/>
                </a:solidFill>
                <a:latin typeface="Plus Jakarta Sans"/>
                <a:ea typeface="Plus Jakarta Sans"/>
                <a:cs typeface="Plus Jakarta Sans"/>
                <a:sym typeface="Plus Jakarta Sans"/>
              </a:rPr>
              <a:t> Groups issues by repository/complexity and schedules parallel workers.</a:t>
            </a:r>
            <a:endParaRPr/>
          </a:p>
        </p:txBody>
      </p:sp>
      <p:sp>
        <p:nvSpPr>
          <p:cNvPr id="1141" name="Google Shape;1141;p38"/>
          <p:cNvSpPr/>
          <p:nvPr/>
        </p:nvSpPr>
        <p:spPr>
          <a:xfrm>
            <a:off x="571500" y="3790950"/>
            <a:ext cx="38100" cy="31432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2" name="Google Shape;1142;p38"/>
          <p:cNvSpPr/>
          <p:nvPr/>
        </p:nvSpPr>
        <p:spPr>
          <a:xfrm>
            <a:off x="571500" y="4181475"/>
            <a:ext cx="6188868" cy="3143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3" name="Google Shape;1143;p38"/>
          <p:cNvSpPr txBox="1"/>
          <p:nvPr/>
        </p:nvSpPr>
        <p:spPr>
          <a:xfrm>
            <a:off x="714375" y="4276725"/>
            <a:ext cx="59031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3. Fix &amp; Ship:</a:t>
            </a:r>
            <a:r>
              <a:rPr b="0" i="0" lang="en-US" sz="825" u="none" cap="none" strike="noStrike">
                <a:solidFill>
                  <a:srgbClr val="0F172A"/>
                </a:solidFill>
                <a:latin typeface="Plus Jakarta Sans"/>
                <a:ea typeface="Plus Jakarta Sans"/>
                <a:cs typeface="Plus Jakarta Sans"/>
                <a:sym typeface="Plus Jakarta Sans"/>
              </a:rPr>
              <a:t> Child VMs resolve issues using Playbooks, verify with build skills, and raise PRs.</a:t>
            </a:r>
            <a:endParaRPr/>
          </a:p>
        </p:txBody>
      </p:sp>
      <p:sp>
        <p:nvSpPr>
          <p:cNvPr id="1144" name="Google Shape;1144;p38"/>
          <p:cNvSpPr/>
          <p:nvPr/>
        </p:nvSpPr>
        <p:spPr>
          <a:xfrm>
            <a:off x="571500" y="4181475"/>
            <a:ext cx="38100" cy="314325"/>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45" name="Google Shape;1145;p38"/>
          <p:cNvPicPr preferRelativeResize="0"/>
          <p:nvPr/>
        </p:nvPicPr>
        <p:blipFill rotWithShape="1">
          <a:blip r:embed="rId7">
            <a:alphaModFix/>
          </a:blip>
          <a:srcRect b="0" l="0" r="0" t="0"/>
          <a:stretch/>
        </p:blipFill>
        <p:spPr>
          <a:xfrm>
            <a:off x="8580834" y="3039516"/>
            <a:ext cx="1504950" cy="228600"/>
          </a:xfrm>
          <a:prstGeom prst="rect">
            <a:avLst/>
          </a:prstGeom>
          <a:noFill/>
          <a:ln>
            <a:noFill/>
          </a:ln>
        </p:spPr>
      </p:pic>
      <p:sp>
        <p:nvSpPr>
          <p:cNvPr id="1146" name="Google Shape;1146;p38"/>
          <p:cNvSpPr txBox="1"/>
          <p:nvPr/>
        </p:nvSpPr>
        <p:spPr>
          <a:xfrm>
            <a:off x="7246143" y="3363366"/>
            <a:ext cx="4174331" cy="495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900" u="none" cap="none" strike="noStrike">
                <a:solidFill>
                  <a:srgbClr val="0D9488"/>
                </a:solidFill>
                <a:latin typeface="Plus Jakarta Sans ExtraBold"/>
                <a:ea typeface="Plus Jakarta Sans ExtraBold"/>
                <a:cs typeface="Plus Jakarta Sans ExtraBold"/>
                <a:sym typeface="Plus Jakarta Sans ExtraBold"/>
              </a:rPr>
              <a:t>6-12x</a:t>
            </a:r>
            <a:endParaRPr/>
          </a:p>
        </p:txBody>
      </p:sp>
      <p:sp>
        <p:nvSpPr>
          <p:cNvPr id="1147" name="Google Shape;1147;p38"/>
          <p:cNvSpPr txBox="1"/>
          <p:nvPr/>
        </p:nvSpPr>
        <p:spPr>
          <a:xfrm>
            <a:off x="7246143" y="3934866"/>
            <a:ext cx="4174331"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Velocity Uplift</a:t>
            </a:r>
            <a:endParaRPr/>
          </a:p>
        </p:txBody>
      </p:sp>
      <p:sp>
        <p:nvSpPr>
          <p:cNvPr id="1148" name="Google Shape;1148;p38"/>
          <p:cNvSpPr txBox="1"/>
          <p:nvPr/>
        </p:nvSpPr>
        <p:spPr>
          <a:xfrm>
            <a:off x="7246143" y="4182516"/>
            <a:ext cx="4174331" cy="331291"/>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Bulk clearance of linter errors across 20+ active repositories. Horizontal scaling clears backlogs without consuming high-focus team hours.</a:t>
            </a:r>
            <a:endParaRPr/>
          </a:p>
        </p:txBody>
      </p:sp>
      <p:sp>
        <p:nvSpPr>
          <p:cNvPr id="1149" name="Google Shape;1149;p38"/>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Backlog Clearance</a:t>
            </a:r>
            <a:endParaRPr/>
          </a:p>
        </p:txBody>
      </p:sp>
      <p:sp>
        <p:nvSpPr>
          <p:cNvPr id="1150" name="Google Shape;1150;p38"/>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4" name="Shape 1154"/>
        <p:cNvGrpSpPr/>
        <p:nvPr/>
      </p:nvGrpSpPr>
      <p:grpSpPr>
        <a:xfrm>
          <a:off x="0" y="0"/>
          <a:ext cx="0" cy="0"/>
          <a:chOff x="0" y="0"/>
          <a:chExt cx="0" cy="0"/>
        </a:xfrm>
      </p:grpSpPr>
      <p:pic>
        <p:nvPicPr>
          <p:cNvPr descr="image.png" id="1155" name="Google Shape;1155;p3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56" name="Google Shape;1156;p39"/>
          <p:cNvPicPr preferRelativeResize="0"/>
          <p:nvPr/>
        </p:nvPicPr>
        <p:blipFill rotWithShape="1">
          <a:blip r:embed="rId4">
            <a:alphaModFix/>
          </a:blip>
          <a:srcRect b="0" l="0" r="0" t="0"/>
          <a:stretch/>
        </p:blipFill>
        <p:spPr>
          <a:xfrm>
            <a:off x="571500" y="4281933"/>
            <a:ext cx="11049000" cy="636091"/>
          </a:xfrm>
          <a:prstGeom prst="rect">
            <a:avLst/>
          </a:prstGeom>
          <a:noFill/>
          <a:ln>
            <a:noFill/>
          </a:ln>
        </p:spPr>
      </p:pic>
      <p:pic>
        <p:nvPicPr>
          <p:cNvPr descr="image.png" id="1157" name="Google Shape;1157;p39"/>
          <p:cNvPicPr preferRelativeResize="0"/>
          <p:nvPr/>
        </p:nvPicPr>
        <p:blipFill rotWithShape="1">
          <a:blip r:embed="rId5">
            <a:alphaModFix/>
          </a:blip>
          <a:srcRect b="0" l="0" r="0" t="0"/>
          <a:stretch/>
        </p:blipFill>
        <p:spPr>
          <a:xfrm>
            <a:off x="1708695" y="2901999"/>
            <a:ext cx="266700" cy="266700"/>
          </a:xfrm>
          <a:prstGeom prst="rect">
            <a:avLst/>
          </a:prstGeom>
          <a:noFill/>
          <a:ln>
            <a:noFill/>
          </a:ln>
        </p:spPr>
      </p:pic>
      <p:pic>
        <p:nvPicPr>
          <p:cNvPr descr="image.png" id="1158" name="Google Shape;1158;p39"/>
          <p:cNvPicPr preferRelativeResize="0"/>
          <p:nvPr/>
        </p:nvPicPr>
        <p:blipFill rotWithShape="1">
          <a:blip r:embed="rId6">
            <a:alphaModFix/>
          </a:blip>
          <a:srcRect b="0" l="0" r="0" t="0"/>
          <a:stretch/>
        </p:blipFill>
        <p:spPr>
          <a:xfrm>
            <a:off x="4544615" y="2901999"/>
            <a:ext cx="266700" cy="266700"/>
          </a:xfrm>
          <a:prstGeom prst="rect">
            <a:avLst/>
          </a:prstGeom>
          <a:noFill/>
          <a:ln>
            <a:noFill/>
          </a:ln>
        </p:spPr>
      </p:pic>
      <p:pic>
        <p:nvPicPr>
          <p:cNvPr descr="image.png" id="1159" name="Google Shape;1159;p39"/>
          <p:cNvPicPr preferRelativeResize="0"/>
          <p:nvPr/>
        </p:nvPicPr>
        <p:blipFill rotWithShape="1">
          <a:blip r:embed="rId7">
            <a:alphaModFix/>
          </a:blip>
          <a:srcRect b="0" l="0" r="0" t="0"/>
          <a:stretch/>
        </p:blipFill>
        <p:spPr>
          <a:xfrm>
            <a:off x="7380535" y="2901999"/>
            <a:ext cx="266700" cy="266700"/>
          </a:xfrm>
          <a:prstGeom prst="rect">
            <a:avLst/>
          </a:prstGeom>
          <a:noFill/>
          <a:ln>
            <a:noFill/>
          </a:ln>
        </p:spPr>
      </p:pic>
      <p:pic>
        <p:nvPicPr>
          <p:cNvPr descr="image.png" id="1160" name="Google Shape;1160;p39"/>
          <p:cNvPicPr preferRelativeResize="0"/>
          <p:nvPr/>
        </p:nvPicPr>
        <p:blipFill rotWithShape="1">
          <a:blip r:embed="rId8">
            <a:alphaModFix/>
          </a:blip>
          <a:srcRect b="0" l="0" r="0" t="0"/>
          <a:stretch/>
        </p:blipFill>
        <p:spPr>
          <a:xfrm>
            <a:off x="10216455" y="2901999"/>
            <a:ext cx="266700" cy="266700"/>
          </a:xfrm>
          <a:prstGeom prst="rect">
            <a:avLst/>
          </a:prstGeom>
          <a:noFill/>
          <a:ln>
            <a:noFill/>
          </a:ln>
        </p:spPr>
      </p:pic>
      <p:pic>
        <p:nvPicPr>
          <p:cNvPr descr="image.png" id="1161" name="Google Shape;1161;p39"/>
          <p:cNvPicPr preferRelativeResize="0"/>
          <p:nvPr/>
        </p:nvPicPr>
        <p:blipFill rotWithShape="1">
          <a:blip r:embed="rId9">
            <a:alphaModFix/>
          </a:blip>
          <a:srcRect b="0" l="0" r="0" t="0"/>
          <a:stretch/>
        </p:blipFill>
        <p:spPr>
          <a:xfrm>
            <a:off x="571500" y="2721024"/>
            <a:ext cx="2541240" cy="1275159"/>
          </a:xfrm>
          <a:prstGeom prst="rect">
            <a:avLst/>
          </a:prstGeom>
          <a:noFill/>
          <a:ln>
            <a:noFill/>
          </a:ln>
        </p:spPr>
      </p:pic>
      <p:pic>
        <p:nvPicPr>
          <p:cNvPr descr="image.png" id="1162" name="Google Shape;1162;p39"/>
          <p:cNvPicPr preferRelativeResize="0"/>
          <p:nvPr/>
        </p:nvPicPr>
        <p:blipFill rotWithShape="1">
          <a:blip r:embed="rId10">
            <a:alphaModFix/>
          </a:blip>
          <a:srcRect b="0" l="0" r="0" t="0"/>
          <a:stretch/>
        </p:blipFill>
        <p:spPr>
          <a:xfrm>
            <a:off x="3407419" y="2721024"/>
            <a:ext cx="2541240" cy="1275159"/>
          </a:xfrm>
          <a:prstGeom prst="rect">
            <a:avLst/>
          </a:prstGeom>
          <a:noFill/>
          <a:ln>
            <a:noFill/>
          </a:ln>
        </p:spPr>
      </p:pic>
      <p:pic>
        <p:nvPicPr>
          <p:cNvPr descr="image.png" id="1163" name="Google Shape;1163;p39"/>
          <p:cNvPicPr preferRelativeResize="0"/>
          <p:nvPr/>
        </p:nvPicPr>
        <p:blipFill rotWithShape="1">
          <a:blip r:embed="rId11">
            <a:alphaModFix/>
          </a:blip>
          <a:srcRect b="0" l="0" r="0" t="0"/>
          <a:stretch/>
        </p:blipFill>
        <p:spPr>
          <a:xfrm>
            <a:off x="6243339" y="2721024"/>
            <a:ext cx="2541240" cy="1275159"/>
          </a:xfrm>
          <a:prstGeom prst="rect">
            <a:avLst/>
          </a:prstGeom>
          <a:noFill/>
          <a:ln>
            <a:noFill/>
          </a:ln>
        </p:spPr>
      </p:pic>
      <p:pic>
        <p:nvPicPr>
          <p:cNvPr descr="image.png" id="1164" name="Google Shape;1164;p39"/>
          <p:cNvPicPr preferRelativeResize="0"/>
          <p:nvPr/>
        </p:nvPicPr>
        <p:blipFill rotWithShape="1">
          <a:blip r:embed="rId9">
            <a:alphaModFix/>
          </a:blip>
          <a:srcRect b="0" l="0" r="0" t="0"/>
          <a:stretch/>
        </p:blipFill>
        <p:spPr>
          <a:xfrm>
            <a:off x="9079259" y="2721024"/>
            <a:ext cx="2541240" cy="1275159"/>
          </a:xfrm>
          <a:prstGeom prst="rect">
            <a:avLst/>
          </a:prstGeom>
          <a:noFill/>
          <a:ln>
            <a:noFill/>
          </a:ln>
        </p:spPr>
      </p:pic>
      <p:pic>
        <p:nvPicPr>
          <p:cNvPr descr="image.png" id="1165" name="Google Shape;1165;p39"/>
          <p:cNvPicPr preferRelativeResize="0"/>
          <p:nvPr/>
        </p:nvPicPr>
        <p:blipFill rotWithShape="1">
          <a:blip r:embed="rId12">
            <a:alphaModFix/>
          </a:blip>
          <a:srcRect b="0" l="0" r="0" t="0"/>
          <a:stretch/>
        </p:blipFill>
        <p:spPr>
          <a:xfrm>
            <a:off x="571500" y="466725"/>
            <a:ext cx="857250" cy="209550"/>
          </a:xfrm>
          <a:prstGeom prst="rect">
            <a:avLst/>
          </a:prstGeom>
          <a:noFill/>
          <a:ln>
            <a:noFill/>
          </a:ln>
        </p:spPr>
      </p:pic>
      <p:sp>
        <p:nvSpPr>
          <p:cNvPr id="1166" name="Google Shape;1166;p39"/>
          <p:cNvSpPr/>
          <p:nvPr/>
        </p:nvSpPr>
        <p:spPr>
          <a:xfrm>
            <a:off x="571500" y="3349079"/>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7" name="Google Shape;1167;p39"/>
          <p:cNvSpPr txBox="1"/>
          <p:nvPr/>
        </p:nvSpPr>
        <p:spPr>
          <a:xfrm>
            <a:off x="819150" y="4434333"/>
            <a:ext cx="1055370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Interactive Safety:</a:t>
            </a:r>
            <a:r>
              <a:rPr b="0" i="0" lang="en-US" sz="900" u="none" cap="none" strike="noStrike">
                <a:solidFill>
                  <a:srgbClr val="475569"/>
                </a:solidFill>
                <a:latin typeface="Plus Jakarta Sans"/>
                <a:ea typeface="Plus Jakarta Sans"/>
                <a:cs typeface="Plus Jakarta Sans"/>
                <a:sym typeface="Plus Jakarta Sans"/>
              </a:rPr>
              <a:t> Devin executes diagnostic read-only commands (`allowed-tools: Read, Grep, ListDir`), compiles root cause analysis, and posts outlines back to Slack before any write-actions run.</a:t>
            </a:r>
            <a:endParaRPr/>
          </a:p>
        </p:txBody>
      </p:sp>
      <p:sp>
        <p:nvSpPr>
          <p:cNvPr id="1168" name="Google Shape;1168;p39"/>
          <p:cNvSpPr txBox="1"/>
          <p:nvPr/>
        </p:nvSpPr>
        <p:spPr>
          <a:xfrm>
            <a:off x="69799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Incident Alert</a:t>
            </a:r>
            <a:endParaRPr/>
          </a:p>
        </p:txBody>
      </p:sp>
      <p:sp>
        <p:nvSpPr>
          <p:cNvPr id="1169" name="Google Shape;1169;p39"/>
          <p:cNvSpPr txBox="1"/>
          <p:nvPr/>
        </p:nvSpPr>
        <p:spPr>
          <a:xfrm>
            <a:off x="752475"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Slack 🚨 reaction on crash log triggers incident automation.</a:t>
            </a:r>
            <a:endParaRPr/>
          </a:p>
        </p:txBody>
      </p:sp>
      <p:sp>
        <p:nvSpPr>
          <p:cNvPr id="1170" name="Google Shape;1170;p39"/>
          <p:cNvSpPr txBox="1"/>
          <p:nvPr/>
        </p:nvSpPr>
        <p:spPr>
          <a:xfrm>
            <a:off x="353391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Query Sentry</a:t>
            </a:r>
            <a:endParaRPr/>
          </a:p>
        </p:txBody>
      </p:sp>
      <p:sp>
        <p:nvSpPr>
          <p:cNvPr id="1171" name="Google Shape;1171;p39"/>
          <p:cNvSpPr txBox="1"/>
          <p:nvPr/>
        </p:nvSpPr>
        <p:spPr>
          <a:xfrm>
            <a:off x="3588394"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Devin queries Datadog &amp; Sentry MCP servers for logs.</a:t>
            </a:r>
            <a:endParaRPr/>
          </a:p>
        </p:txBody>
      </p:sp>
      <p:sp>
        <p:nvSpPr>
          <p:cNvPr id="1172" name="Google Shape;1172;p39"/>
          <p:cNvSpPr txBox="1"/>
          <p:nvPr/>
        </p:nvSpPr>
        <p:spPr>
          <a:xfrm>
            <a:off x="636983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Runbook Match</a:t>
            </a:r>
            <a:endParaRPr/>
          </a:p>
        </p:txBody>
      </p:sp>
      <p:sp>
        <p:nvSpPr>
          <p:cNvPr id="1173" name="Google Shape;1173;p39"/>
          <p:cNvSpPr txBox="1"/>
          <p:nvPr/>
        </p:nvSpPr>
        <p:spPr>
          <a:xfrm>
            <a:off x="6424314"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Matches "common outages" runbook, running read-only search skills.</a:t>
            </a:r>
            <a:endParaRPr/>
          </a:p>
        </p:txBody>
      </p:sp>
      <p:sp>
        <p:nvSpPr>
          <p:cNvPr id="1174" name="Google Shape;1174;p39"/>
          <p:cNvSpPr txBox="1"/>
          <p:nvPr/>
        </p:nvSpPr>
        <p:spPr>
          <a:xfrm>
            <a:off x="9205752" y="3282999"/>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Slack Summary</a:t>
            </a:r>
            <a:endParaRPr/>
          </a:p>
        </p:txBody>
      </p:sp>
      <p:sp>
        <p:nvSpPr>
          <p:cNvPr id="1175" name="Google Shape;1175;p39"/>
          <p:cNvSpPr txBox="1"/>
          <p:nvPr/>
        </p:nvSpPr>
        <p:spPr>
          <a:xfrm>
            <a:off x="9260234" y="3511599"/>
            <a:ext cx="2179290" cy="303609"/>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Posts error diagnosis, waiting for engineer fix authorizations.</a:t>
            </a:r>
            <a:endParaRPr/>
          </a:p>
        </p:txBody>
      </p:sp>
      <p:sp>
        <p:nvSpPr>
          <p:cNvPr id="1176" name="Google Shape;1176;p39"/>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Incident Response</a:t>
            </a:r>
            <a:endParaRPr/>
          </a:p>
        </p:txBody>
      </p:sp>
      <p:sp>
        <p:nvSpPr>
          <p:cNvPr id="1177" name="Google Shape;1177;p39"/>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1" name="Shape 1181"/>
        <p:cNvGrpSpPr/>
        <p:nvPr/>
      </p:nvGrpSpPr>
      <p:grpSpPr>
        <a:xfrm>
          <a:off x="0" y="0"/>
          <a:ext cx="0" cy="0"/>
          <a:chOff x="0" y="0"/>
          <a:chExt cx="0" cy="0"/>
        </a:xfrm>
      </p:grpSpPr>
      <p:pic>
        <p:nvPicPr>
          <p:cNvPr descr="image.png" id="1182" name="Google Shape;1182;p4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3" name="Google Shape;1183;p40"/>
          <p:cNvPicPr preferRelativeResize="0"/>
          <p:nvPr/>
        </p:nvPicPr>
        <p:blipFill rotWithShape="1">
          <a:blip r:embed="rId4">
            <a:alphaModFix/>
          </a:blip>
          <a:srcRect b="0" l="0" r="0" t="0"/>
          <a:stretch/>
        </p:blipFill>
        <p:spPr>
          <a:xfrm>
            <a:off x="571500" y="2914650"/>
            <a:ext cx="5405437" cy="1714500"/>
          </a:xfrm>
          <a:prstGeom prst="rect">
            <a:avLst/>
          </a:prstGeom>
          <a:noFill/>
          <a:ln>
            <a:noFill/>
          </a:ln>
        </p:spPr>
      </p:pic>
      <p:pic>
        <p:nvPicPr>
          <p:cNvPr descr="image.png" id="1184" name="Google Shape;1184;p40"/>
          <p:cNvPicPr preferRelativeResize="0"/>
          <p:nvPr/>
        </p:nvPicPr>
        <p:blipFill rotWithShape="1">
          <a:blip r:embed="rId5">
            <a:alphaModFix/>
          </a:blip>
          <a:srcRect b="0" l="0" r="0" t="0"/>
          <a:stretch/>
        </p:blipFill>
        <p:spPr>
          <a:xfrm>
            <a:off x="6215062" y="2914650"/>
            <a:ext cx="5405437" cy="1714500"/>
          </a:xfrm>
          <a:prstGeom prst="rect">
            <a:avLst/>
          </a:prstGeom>
          <a:noFill/>
          <a:ln>
            <a:noFill/>
          </a:ln>
        </p:spPr>
      </p:pic>
      <p:pic>
        <p:nvPicPr>
          <p:cNvPr descr="image.png" id="1185" name="Google Shape;1185;p40"/>
          <p:cNvPicPr preferRelativeResize="0"/>
          <p:nvPr/>
        </p:nvPicPr>
        <p:blipFill rotWithShape="1">
          <a:blip r:embed="rId6">
            <a:alphaModFix/>
          </a:blip>
          <a:srcRect b="0" l="0" r="0" t="0"/>
          <a:stretch/>
        </p:blipFill>
        <p:spPr>
          <a:xfrm>
            <a:off x="571500" y="466725"/>
            <a:ext cx="933450" cy="209550"/>
          </a:xfrm>
          <a:prstGeom prst="rect">
            <a:avLst/>
          </a:prstGeom>
          <a:noFill/>
          <a:ln>
            <a:noFill/>
          </a:ln>
        </p:spPr>
      </p:pic>
      <p:sp>
        <p:nvSpPr>
          <p:cNvPr id="1186" name="Google Shape;1186;p40"/>
          <p:cNvSpPr txBox="1"/>
          <p:nvPr/>
        </p:nvSpPr>
        <p:spPr>
          <a:xfrm>
            <a:off x="1038225" y="3114675"/>
            <a:ext cx="4975621"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EF4444"/>
                </a:solidFill>
                <a:latin typeface="Plus Jakarta Sans"/>
                <a:ea typeface="Plus Jakarta Sans"/>
                <a:cs typeface="Plus Jakarta Sans"/>
                <a:sym typeface="Plus Jakarta Sans"/>
              </a:rPr>
              <a:t>Key Risks &amp; Anti-Patterns</a:t>
            </a:r>
            <a:endParaRPr/>
          </a:p>
        </p:txBody>
      </p:sp>
      <p:sp>
        <p:nvSpPr>
          <p:cNvPr id="1187" name="Google Shape;1187;p40"/>
          <p:cNvSpPr txBox="1"/>
          <p:nvPr/>
        </p:nvSpPr>
        <p:spPr>
          <a:xfrm>
            <a:off x="6681787" y="3114675"/>
            <a:ext cx="4975621"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D9488"/>
                </a:solidFill>
                <a:latin typeface="Plus Jakarta Sans"/>
                <a:ea typeface="Plus Jakarta Sans"/>
                <a:cs typeface="Plus Jakarta Sans"/>
                <a:sym typeface="Plus Jakarta Sans"/>
              </a:rPr>
              <a:t>Standard Corrections</a:t>
            </a:r>
            <a:endParaRPr/>
          </a:p>
        </p:txBody>
      </p:sp>
      <p:pic>
        <p:nvPicPr>
          <p:cNvPr descr="image.png" id="1188" name="Google Shape;1188;p40"/>
          <p:cNvPicPr preferRelativeResize="0"/>
          <p:nvPr/>
        </p:nvPicPr>
        <p:blipFill rotWithShape="1">
          <a:blip r:embed="rId7">
            <a:alphaModFix/>
          </a:blip>
          <a:srcRect b="0" l="0" r="0" t="0"/>
          <a:stretch/>
        </p:blipFill>
        <p:spPr>
          <a:xfrm>
            <a:off x="800100" y="3133725"/>
            <a:ext cx="142875" cy="142875"/>
          </a:xfrm>
          <a:prstGeom prst="rect">
            <a:avLst/>
          </a:prstGeom>
          <a:noFill/>
          <a:ln>
            <a:noFill/>
          </a:ln>
        </p:spPr>
      </p:pic>
      <p:sp>
        <p:nvSpPr>
          <p:cNvPr id="1189" name="Google Shape;1189;p40"/>
          <p:cNvSpPr txBox="1"/>
          <p:nvPr/>
        </p:nvSpPr>
        <p:spPr>
          <a:xfrm>
            <a:off x="800100" y="3409950"/>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Monolithic Prompts:</a:t>
            </a:r>
            <a:r>
              <a:rPr b="0" i="0" lang="en-US" sz="900" u="none" cap="none" strike="noStrike">
                <a:solidFill>
                  <a:srgbClr val="475569"/>
                </a:solidFill>
                <a:latin typeface="Plus Jakarta Sans"/>
                <a:ea typeface="Plus Jakarta Sans"/>
                <a:cs typeface="Plus Jakarta Sans"/>
                <a:sym typeface="Plus Jakarta Sans"/>
              </a:rPr>
              <a:t> "Migrate entire codebase to TypeScript" causes context dilution.</a:t>
            </a:r>
            <a:endParaRPr/>
          </a:p>
        </p:txBody>
      </p:sp>
      <p:sp>
        <p:nvSpPr>
          <p:cNvPr id="1190" name="Google Shape;1190;p40"/>
          <p:cNvSpPr txBox="1"/>
          <p:nvPr/>
        </p:nvSpPr>
        <p:spPr>
          <a:xfrm>
            <a:off x="800100" y="3629025"/>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Raw Booting:</a:t>
            </a:r>
            <a:r>
              <a:rPr b="0" i="0" lang="en-US" sz="900" u="none" cap="none" strike="noStrike">
                <a:solidFill>
                  <a:srgbClr val="475569"/>
                </a:solidFill>
                <a:latin typeface="Plus Jakarta Sans"/>
                <a:ea typeface="Plus Jakarta Sans"/>
                <a:cs typeface="Plus Jakarta Sans"/>
                <a:sym typeface="Plus Jakarta Sans"/>
              </a:rPr>
              <a:t> Wastes ACUs downloading compiler packages mid-session.</a:t>
            </a:r>
            <a:endParaRPr/>
          </a:p>
        </p:txBody>
      </p:sp>
      <p:sp>
        <p:nvSpPr>
          <p:cNvPr id="1191" name="Google Shape;1191;p40"/>
          <p:cNvSpPr txBox="1"/>
          <p:nvPr/>
        </p:nvSpPr>
        <p:spPr>
          <a:xfrm>
            <a:off x="800100" y="3848100"/>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Bloated Knowledge:</a:t>
            </a:r>
            <a:r>
              <a:rPr b="0" i="0" lang="en-US" sz="900" u="none" cap="none" strike="noStrike">
                <a:solidFill>
                  <a:srgbClr val="475569"/>
                </a:solidFill>
                <a:latin typeface="Plus Jakarta Sans"/>
                <a:ea typeface="Plus Jakarta Sans"/>
                <a:cs typeface="Plus Jakarta Sans"/>
                <a:sym typeface="Plus Jakarta Sans"/>
              </a:rPr>
              <a:t> Monolithic files covering multiple flows degrade trigger matches.</a:t>
            </a:r>
            <a:endParaRPr/>
          </a:p>
        </p:txBody>
      </p:sp>
      <p:sp>
        <p:nvSpPr>
          <p:cNvPr id="1192" name="Google Shape;1192;p40"/>
          <p:cNvSpPr txBox="1"/>
          <p:nvPr/>
        </p:nvSpPr>
        <p:spPr>
          <a:xfrm>
            <a:off x="800100" y="4067175"/>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Broad Triggers:</a:t>
            </a:r>
            <a:r>
              <a:rPr b="0" i="0" lang="en-US" sz="900" u="none" cap="none" strike="noStrike">
                <a:solidFill>
                  <a:srgbClr val="475569"/>
                </a:solidFill>
                <a:latin typeface="Plus Jakarta Sans"/>
                <a:ea typeface="Plus Jakarta Sans"/>
                <a:cs typeface="Plus Jakarta Sans"/>
                <a:sym typeface="Plus Jakarta Sans"/>
              </a:rPr>
              <a:t> Launching sessions on every git commit creates runaway noise.</a:t>
            </a:r>
            <a:endParaRPr/>
          </a:p>
        </p:txBody>
      </p:sp>
      <p:sp>
        <p:nvSpPr>
          <p:cNvPr id="1193" name="Google Shape;1193;p40"/>
          <p:cNvSpPr txBox="1"/>
          <p:nvPr/>
        </p:nvSpPr>
        <p:spPr>
          <a:xfrm>
            <a:off x="800100" y="4286250"/>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Silent Commits:</a:t>
            </a:r>
            <a:r>
              <a:rPr b="0" i="0" lang="en-US" sz="900" u="none" cap="none" strike="noStrike">
                <a:solidFill>
                  <a:srgbClr val="475569"/>
                </a:solidFill>
                <a:latin typeface="Plus Jakarta Sans"/>
                <a:ea typeface="Plus Jakarta Sans"/>
                <a:cs typeface="Plus Jakarta Sans"/>
                <a:sym typeface="Plus Jakarta Sans"/>
              </a:rPr>
              <a:t> Tasks missing standard lints or build tests lead to regression leaks.</a:t>
            </a:r>
            <a:endParaRPr/>
          </a:p>
        </p:txBody>
      </p:sp>
      <p:pic>
        <p:nvPicPr>
          <p:cNvPr descr="image.png" id="1194" name="Google Shape;1194;p40"/>
          <p:cNvPicPr preferRelativeResize="0"/>
          <p:nvPr/>
        </p:nvPicPr>
        <p:blipFill rotWithShape="1">
          <a:blip r:embed="rId8">
            <a:alphaModFix/>
          </a:blip>
          <a:srcRect b="0" l="0" r="0" t="0"/>
          <a:stretch/>
        </p:blipFill>
        <p:spPr>
          <a:xfrm>
            <a:off x="6443662" y="3133725"/>
            <a:ext cx="142875" cy="142875"/>
          </a:xfrm>
          <a:prstGeom prst="rect">
            <a:avLst/>
          </a:prstGeom>
          <a:noFill/>
          <a:ln>
            <a:noFill/>
          </a:ln>
        </p:spPr>
      </p:pic>
      <p:sp>
        <p:nvSpPr>
          <p:cNvPr id="1195" name="Google Shape;1195;p40"/>
          <p:cNvSpPr txBox="1"/>
          <p:nvPr/>
        </p:nvSpPr>
        <p:spPr>
          <a:xfrm>
            <a:off x="6443662" y="3409950"/>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Narrow Scoping:</a:t>
            </a:r>
            <a:r>
              <a:rPr b="0" i="0" lang="en-US" sz="900" u="none" cap="none" strike="noStrike">
                <a:solidFill>
                  <a:srgbClr val="475569"/>
                </a:solidFill>
                <a:latin typeface="Plus Jakarta Sans"/>
                <a:ea typeface="Plus Jakarta Sans"/>
                <a:cs typeface="Plus Jakarta Sans"/>
                <a:sym typeface="Plus Jakarta Sans"/>
              </a:rPr>
              <a:t> Slice tasks into isolated blocks (files/endpoints) under 90 mins.</a:t>
            </a:r>
            <a:endParaRPr/>
          </a:p>
        </p:txBody>
      </p:sp>
      <p:sp>
        <p:nvSpPr>
          <p:cNvPr id="1196" name="Google Shape;1196;p40"/>
          <p:cNvSpPr txBox="1"/>
          <p:nvPr/>
        </p:nvSpPr>
        <p:spPr>
          <a:xfrm>
            <a:off x="6443662" y="3629025"/>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Snapshot Pre-baking:</a:t>
            </a:r>
            <a:r>
              <a:rPr b="0" i="0" lang="en-US" sz="900" u="none" cap="none" strike="noStrike">
                <a:solidFill>
                  <a:srgbClr val="475569"/>
                </a:solidFill>
                <a:latin typeface="Plus Jakarta Sans"/>
                <a:ea typeface="Plus Jakarta Sans"/>
                <a:cs typeface="Plus Jakarta Sans"/>
                <a:sym typeface="Plus Jakarta Sans"/>
              </a:rPr>
              <a:t> Configure Docker blueprint baselines so VMs boot ready.</a:t>
            </a:r>
            <a:endParaRPr/>
          </a:p>
        </p:txBody>
      </p:sp>
      <p:sp>
        <p:nvSpPr>
          <p:cNvPr id="1197" name="Google Shape;1197;p40"/>
          <p:cNvSpPr txBox="1"/>
          <p:nvPr/>
        </p:nvSpPr>
        <p:spPr>
          <a:xfrm>
            <a:off x="6443662" y="3848100"/>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Single-Purpose Entries:</a:t>
            </a:r>
            <a:r>
              <a:rPr b="0" i="0" lang="en-US" sz="900" u="none" cap="none" strike="noStrike">
                <a:solidFill>
                  <a:srgbClr val="475569"/>
                </a:solidFill>
                <a:latin typeface="Plus Jakarta Sans"/>
                <a:ea typeface="Plus Jakarta Sans"/>
                <a:cs typeface="Plus Jakarta Sans"/>
                <a:sym typeface="Plus Jakarta Sans"/>
              </a:rPr>
              <a:t> Split Knowledge folders into precise trigger runbooks.</a:t>
            </a:r>
            <a:endParaRPr/>
          </a:p>
        </p:txBody>
      </p:sp>
      <p:sp>
        <p:nvSpPr>
          <p:cNvPr id="1198" name="Google Shape;1198;p40"/>
          <p:cNvSpPr txBox="1"/>
          <p:nvPr/>
        </p:nvSpPr>
        <p:spPr>
          <a:xfrm>
            <a:off x="6443662" y="4067175"/>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Limit Budgets:</a:t>
            </a:r>
            <a:r>
              <a:rPr b="0" i="0" lang="en-US" sz="900" u="none" cap="none" strike="noStrike">
                <a:solidFill>
                  <a:srgbClr val="475569"/>
                </a:solidFill>
                <a:latin typeface="Plus Jakarta Sans"/>
                <a:ea typeface="Plus Jakarta Sans"/>
                <a:cs typeface="Plus Jakarta Sans"/>
                <a:sym typeface="Plus Jakarta Sans"/>
              </a:rPr>
              <a:t> Bind ACU limits and conditions per PR review or CRON sweep.</a:t>
            </a:r>
            <a:endParaRPr/>
          </a:p>
        </p:txBody>
      </p:sp>
      <p:sp>
        <p:nvSpPr>
          <p:cNvPr id="1199" name="Google Shape;1199;p40"/>
          <p:cNvSpPr txBox="1"/>
          <p:nvPr/>
        </p:nvSpPr>
        <p:spPr>
          <a:xfrm>
            <a:off x="6443662" y="4286250"/>
            <a:ext cx="4976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Enforced Verification:</a:t>
            </a:r>
            <a:r>
              <a:rPr b="0" i="0" lang="en-US" sz="900" u="none" cap="none" strike="noStrike">
                <a:solidFill>
                  <a:srgbClr val="475569"/>
                </a:solidFill>
                <a:latin typeface="Plus Jakarta Sans"/>
                <a:ea typeface="Plus Jakarta Sans"/>
                <a:cs typeface="Plus Jakarta Sans"/>
                <a:sym typeface="Plus Jakarta Sans"/>
              </a:rPr>
              <a:t> Require test runs inside playbooks before creating PRs.</a:t>
            </a:r>
            <a:endParaRPr/>
          </a:p>
        </p:txBody>
      </p:sp>
      <p:sp>
        <p:nvSpPr>
          <p:cNvPr id="1200" name="Google Shape;1200;p40"/>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Critical Anti-Patterns</a:t>
            </a:r>
            <a:endParaRPr/>
          </a:p>
        </p:txBody>
      </p:sp>
      <p:sp>
        <p:nvSpPr>
          <p:cNvPr id="1201" name="Google Shape;1201;p40"/>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5" name="Shape 1205"/>
        <p:cNvGrpSpPr/>
        <p:nvPr/>
      </p:nvGrpSpPr>
      <p:grpSpPr>
        <a:xfrm>
          <a:off x="0" y="0"/>
          <a:ext cx="0" cy="0"/>
          <a:chOff x="0" y="0"/>
          <a:chExt cx="0" cy="0"/>
        </a:xfrm>
      </p:grpSpPr>
      <p:pic>
        <p:nvPicPr>
          <p:cNvPr descr="image.png" id="1206" name="Google Shape;1206;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7" name="Google Shape;1207;p41"/>
          <p:cNvPicPr preferRelativeResize="0"/>
          <p:nvPr/>
        </p:nvPicPr>
        <p:blipFill rotWithShape="1">
          <a:blip r:embed="rId4">
            <a:alphaModFix/>
          </a:blip>
          <a:srcRect b="0" l="0" r="0" t="0"/>
          <a:stretch/>
        </p:blipFill>
        <p:spPr>
          <a:xfrm>
            <a:off x="571500" y="2885182"/>
            <a:ext cx="3587650" cy="1173212"/>
          </a:xfrm>
          <a:prstGeom prst="rect">
            <a:avLst/>
          </a:prstGeom>
          <a:noFill/>
          <a:ln>
            <a:noFill/>
          </a:ln>
        </p:spPr>
      </p:pic>
      <p:pic>
        <p:nvPicPr>
          <p:cNvPr descr="image.png" id="1208" name="Google Shape;1208;p41"/>
          <p:cNvPicPr preferRelativeResize="0"/>
          <p:nvPr/>
        </p:nvPicPr>
        <p:blipFill rotWithShape="1">
          <a:blip r:embed="rId5">
            <a:alphaModFix/>
          </a:blip>
          <a:srcRect b="0" l="0" r="0" t="0"/>
          <a:stretch/>
        </p:blipFill>
        <p:spPr>
          <a:xfrm>
            <a:off x="4302025" y="2885182"/>
            <a:ext cx="3587799" cy="1173212"/>
          </a:xfrm>
          <a:prstGeom prst="rect">
            <a:avLst/>
          </a:prstGeom>
          <a:noFill/>
          <a:ln>
            <a:noFill/>
          </a:ln>
        </p:spPr>
      </p:pic>
      <p:pic>
        <p:nvPicPr>
          <p:cNvPr descr="image.png" id="1209" name="Google Shape;1209;p41"/>
          <p:cNvPicPr preferRelativeResize="0"/>
          <p:nvPr/>
        </p:nvPicPr>
        <p:blipFill rotWithShape="1">
          <a:blip r:embed="rId4">
            <a:alphaModFix/>
          </a:blip>
          <a:srcRect b="0" l="0" r="0" t="0"/>
          <a:stretch/>
        </p:blipFill>
        <p:spPr>
          <a:xfrm>
            <a:off x="8032700" y="2885182"/>
            <a:ext cx="3587650" cy="1173212"/>
          </a:xfrm>
          <a:prstGeom prst="rect">
            <a:avLst/>
          </a:prstGeom>
          <a:noFill/>
          <a:ln>
            <a:noFill/>
          </a:ln>
        </p:spPr>
      </p:pic>
      <p:pic>
        <p:nvPicPr>
          <p:cNvPr descr="image.png" id="1210" name="Google Shape;1210;p41"/>
          <p:cNvPicPr preferRelativeResize="0"/>
          <p:nvPr/>
        </p:nvPicPr>
        <p:blipFill rotWithShape="1">
          <a:blip r:embed="rId6">
            <a:alphaModFix/>
          </a:blip>
          <a:srcRect b="0" l="0" r="0" t="0"/>
          <a:stretch/>
        </p:blipFill>
        <p:spPr>
          <a:xfrm>
            <a:off x="571500" y="6019651"/>
            <a:ext cx="5453062" cy="457200"/>
          </a:xfrm>
          <a:prstGeom prst="rect">
            <a:avLst/>
          </a:prstGeom>
          <a:noFill/>
          <a:ln>
            <a:noFill/>
          </a:ln>
        </p:spPr>
      </p:pic>
      <p:pic>
        <p:nvPicPr>
          <p:cNvPr descr="image.png" id="1211" name="Google Shape;1211;p41"/>
          <p:cNvPicPr preferRelativeResize="0"/>
          <p:nvPr/>
        </p:nvPicPr>
        <p:blipFill rotWithShape="1">
          <a:blip r:embed="rId7">
            <a:alphaModFix/>
          </a:blip>
          <a:srcRect b="0" l="0" r="0" t="0"/>
          <a:stretch/>
        </p:blipFill>
        <p:spPr>
          <a:xfrm>
            <a:off x="6167437" y="6019651"/>
            <a:ext cx="5453062" cy="457200"/>
          </a:xfrm>
          <a:prstGeom prst="rect">
            <a:avLst/>
          </a:prstGeom>
          <a:noFill/>
          <a:ln>
            <a:noFill/>
          </a:ln>
        </p:spPr>
      </p:pic>
      <p:pic>
        <p:nvPicPr>
          <p:cNvPr descr="image.png" id="1212" name="Google Shape;1212;p41"/>
          <p:cNvPicPr preferRelativeResize="0"/>
          <p:nvPr/>
        </p:nvPicPr>
        <p:blipFill rotWithShape="1">
          <a:blip r:embed="rId8">
            <a:alphaModFix/>
          </a:blip>
          <a:srcRect b="0" l="0" r="0" t="0"/>
          <a:stretch/>
        </p:blipFill>
        <p:spPr>
          <a:xfrm>
            <a:off x="571500" y="466725"/>
            <a:ext cx="933450" cy="209550"/>
          </a:xfrm>
          <a:prstGeom prst="rect">
            <a:avLst/>
          </a:prstGeom>
          <a:noFill/>
          <a:ln>
            <a:noFill/>
          </a:ln>
        </p:spPr>
      </p:pic>
      <p:sp>
        <p:nvSpPr>
          <p:cNvPr id="1213" name="Google Shape;1213;p41"/>
          <p:cNvSpPr txBox="1"/>
          <p:nvPr/>
        </p:nvSpPr>
        <p:spPr>
          <a:xfrm>
            <a:off x="1057275" y="3085207"/>
            <a:ext cx="3046943"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Agent, Not Copilot</a:t>
            </a:r>
            <a:endParaRPr/>
          </a:p>
        </p:txBody>
      </p:sp>
      <p:sp>
        <p:nvSpPr>
          <p:cNvPr id="1214" name="Google Shape;1214;p41"/>
          <p:cNvSpPr txBox="1"/>
          <p:nvPr/>
        </p:nvSpPr>
        <p:spPr>
          <a:xfrm>
            <a:off x="771525" y="3361432"/>
            <a:ext cx="3187600"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Mental model shift: Devin behaves as an active developer inside a secure VM, not an inline autocomplete tool. Task scoping is critical.</a:t>
            </a:r>
            <a:endParaRPr/>
          </a:p>
        </p:txBody>
      </p:sp>
      <p:sp>
        <p:nvSpPr>
          <p:cNvPr id="1215" name="Google Shape;1215;p41"/>
          <p:cNvSpPr txBox="1"/>
          <p:nvPr/>
        </p:nvSpPr>
        <p:spPr>
          <a:xfrm>
            <a:off x="4768750" y="3085207"/>
            <a:ext cx="3067102"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Snapshot Pre-Bakes</a:t>
            </a:r>
            <a:endParaRPr/>
          </a:p>
        </p:txBody>
      </p:sp>
      <p:sp>
        <p:nvSpPr>
          <p:cNvPr id="1216" name="Google Shape;1216;p41"/>
          <p:cNvSpPr txBox="1"/>
          <p:nvPr/>
        </p:nvSpPr>
        <p:spPr>
          <a:xfrm>
            <a:off x="4502050" y="3361432"/>
            <a:ext cx="3187749"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Environment tuning is everything. Custom blueprints and pre-compiled snapshots represent the single highest-leverage improvement.</a:t>
            </a:r>
            <a:endParaRPr/>
          </a:p>
        </p:txBody>
      </p:sp>
      <p:sp>
        <p:nvSpPr>
          <p:cNvPr id="1217" name="Google Shape;1217;p41"/>
          <p:cNvSpPr txBox="1"/>
          <p:nvPr/>
        </p:nvSpPr>
        <p:spPr>
          <a:xfrm>
            <a:off x="8480375" y="3085207"/>
            <a:ext cx="3086948"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Memory Compounds</a:t>
            </a:r>
            <a:endParaRPr/>
          </a:p>
        </p:txBody>
      </p:sp>
      <p:sp>
        <p:nvSpPr>
          <p:cNvPr id="1218" name="Google Shape;1218;p41"/>
          <p:cNvSpPr txBox="1"/>
          <p:nvPr/>
        </p:nvSpPr>
        <p:spPr>
          <a:xfrm>
            <a:off x="8232725" y="3361432"/>
            <a:ext cx="3187600"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Persistent organization Knowledge, repository Skills, and Playbooks scale performance over time, transforming Devin into an institutional asset.</a:t>
            </a:r>
            <a:endParaRPr/>
          </a:p>
        </p:txBody>
      </p:sp>
      <p:sp>
        <p:nvSpPr>
          <p:cNvPr id="1219" name="Google Shape;1219;p41"/>
          <p:cNvSpPr txBox="1"/>
          <p:nvPr/>
        </p:nvSpPr>
        <p:spPr>
          <a:xfrm>
            <a:off x="723900" y="6124426"/>
            <a:ext cx="11620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Automation &amp; Scaling:</a:t>
            </a:r>
            <a:endParaRPr/>
          </a:p>
        </p:txBody>
      </p:sp>
      <p:sp>
        <p:nvSpPr>
          <p:cNvPr id="1220" name="Google Shape;1220;p41"/>
          <p:cNvSpPr txBox="1"/>
          <p:nvPr/>
        </p:nvSpPr>
        <p:spPr>
          <a:xfrm>
            <a:off x="6319837" y="6124426"/>
            <a:ext cx="103822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Enterprise Security:</a:t>
            </a:r>
            <a:endParaRPr/>
          </a:p>
        </p:txBody>
      </p:sp>
      <p:pic>
        <p:nvPicPr>
          <p:cNvPr descr="image.png" id="1221" name="Google Shape;1221;p41"/>
          <p:cNvPicPr preferRelativeResize="0"/>
          <p:nvPr/>
        </p:nvPicPr>
        <p:blipFill rotWithShape="1">
          <a:blip r:embed="rId9">
            <a:alphaModFix/>
          </a:blip>
          <a:srcRect b="0" l="0" r="0" t="0"/>
          <a:stretch/>
        </p:blipFill>
        <p:spPr>
          <a:xfrm>
            <a:off x="771525" y="3109019"/>
            <a:ext cx="190500" cy="152400"/>
          </a:xfrm>
          <a:prstGeom prst="rect">
            <a:avLst/>
          </a:prstGeom>
          <a:noFill/>
          <a:ln>
            <a:noFill/>
          </a:ln>
        </p:spPr>
      </p:pic>
      <p:pic>
        <p:nvPicPr>
          <p:cNvPr descr="image.png" id="1222" name="Google Shape;1222;p41"/>
          <p:cNvPicPr preferRelativeResize="0"/>
          <p:nvPr/>
        </p:nvPicPr>
        <p:blipFill rotWithShape="1">
          <a:blip r:embed="rId10">
            <a:alphaModFix/>
          </a:blip>
          <a:srcRect b="0" l="0" r="0" t="0"/>
          <a:stretch/>
        </p:blipFill>
        <p:spPr>
          <a:xfrm>
            <a:off x="4502050" y="3109019"/>
            <a:ext cx="171450" cy="152400"/>
          </a:xfrm>
          <a:prstGeom prst="rect">
            <a:avLst/>
          </a:prstGeom>
          <a:noFill/>
          <a:ln>
            <a:noFill/>
          </a:ln>
        </p:spPr>
      </p:pic>
      <p:pic>
        <p:nvPicPr>
          <p:cNvPr descr="image.png" id="1223" name="Google Shape;1223;p41"/>
          <p:cNvPicPr preferRelativeResize="0"/>
          <p:nvPr/>
        </p:nvPicPr>
        <p:blipFill rotWithShape="1">
          <a:blip r:embed="rId11">
            <a:alphaModFix/>
          </a:blip>
          <a:srcRect b="0" l="0" r="0" t="0"/>
          <a:stretch/>
        </p:blipFill>
        <p:spPr>
          <a:xfrm>
            <a:off x="8232725" y="3109019"/>
            <a:ext cx="152400" cy="152400"/>
          </a:xfrm>
          <a:prstGeom prst="rect">
            <a:avLst/>
          </a:prstGeom>
          <a:noFill/>
          <a:ln>
            <a:noFill/>
          </a:ln>
        </p:spPr>
      </p:pic>
      <p:sp>
        <p:nvSpPr>
          <p:cNvPr id="1224" name="Google Shape;1224;p41"/>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Key Takeaways</a:t>
            </a:r>
            <a:endParaRPr/>
          </a:p>
        </p:txBody>
      </p:sp>
      <p:sp>
        <p:nvSpPr>
          <p:cNvPr id="1225" name="Google Shape;1225;p41"/>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9" name="Shape 1229"/>
        <p:cNvGrpSpPr/>
        <p:nvPr/>
      </p:nvGrpSpPr>
      <p:grpSpPr>
        <a:xfrm>
          <a:off x="0" y="0"/>
          <a:ext cx="0" cy="0"/>
          <a:chOff x="0" y="0"/>
          <a:chExt cx="0" cy="0"/>
        </a:xfrm>
      </p:grpSpPr>
      <p:pic>
        <p:nvPicPr>
          <p:cNvPr descr="image.png" id="1230" name="Google Shape;1230;p4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31" name="Google Shape;1231;p42"/>
          <p:cNvPicPr preferRelativeResize="0"/>
          <p:nvPr/>
        </p:nvPicPr>
        <p:blipFill rotWithShape="1">
          <a:blip r:embed="rId4">
            <a:alphaModFix/>
          </a:blip>
          <a:srcRect b="0" l="0" r="0" t="0"/>
          <a:stretch/>
        </p:blipFill>
        <p:spPr>
          <a:xfrm>
            <a:off x="1708695" y="3163192"/>
            <a:ext cx="266700" cy="266700"/>
          </a:xfrm>
          <a:prstGeom prst="rect">
            <a:avLst/>
          </a:prstGeom>
          <a:noFill/>
          <a:ln>
            <a:noFill/>
          </a:ln>
        </p:spPr>
      </p:pic>
      <p:pic>
        <p:nvPicPr>
          <p:cNvPr descr="image.png" id="1232" name="Google Shape;1232;p42"/>
          <p:cNvPicPr preferRelativeResize="0"/>
          <p:nvPr/>
        </p:nvPicPr>
        <p:blipFill rotWithShape="1">
          <a:blip r:embed="rId5">
            <a:alphaModFix/>
          </a:blip>
          <a:srcRect b="0" l="0" r="0" t="0"/>
          <a:stretch/>
        </p:blipFill>
        <p:spPr>
          <a:xfrm>
            <a:off x="4544615" y="3163192"/>
            <a:ext cx="266700" cy="266700"/>
          </a:xfrm>
          <a:prstGeom prst="rect">
            <a:avLst/>
          </a:prstGeom>
          <a:noFill/>
          <a:ln>
            <a:noFill/>
          </a:ln>
        </p:spPr>
      </p:pic>
      <p:pic>
        <p:nvPicPr>
          <p:cNvPr descr="image.png" id="1233" name="Google Shape;1233;p42"/>
          <p:cNvPicPr preferRelativeResize="0"/>
          <p:nvPr/>
        </p:nvPicPr>
        <p:blipFill rotWithShape="1">
          <a:blip r:embed="rId6">
            <a:alphaModFix/>
          </a:blip>
          <a:srcRect b="0" l="0" r="0" t="0"/>
          <a:stretch/>
        </p:blipFill>
        <p:spPr>
          <a:xfrm>
            <a:off x="7380535" y="3163192"/>
            <a:ext cx="266700" cy="266700"/>
          </a:xfrm>
          <a:prstGeom prst="rect">
            <a:avLst/>
          </a:prstGeom>
          <a:noFill/>
          <a:ln>
            <a:noFill/>
          </a:ln>
        </p:spPr>
      </p:pic>
      <p:pic>
        <p:nvPicPr>
          <p:cNvPr descr="image.png" id="1234" name="Google Shape;1234;p42"/>
          <p:cNvPicPr preferRelativeResize="0"/>
          <p:nvPr/>
        </p:nvPicPr>
        <p:blipFill rotWithShape="1">
          <a:blip r:embed="rId7">
            <a:alphaModFix/>
          </a:blip>
          <a:srcRect b="0" l="0" r="0" t="0"/>
          <a:stretch/>
        </p:blipFill>
        <p:spPr>
          <a:xfrm>
            <a:off x="10216455" y="3163192"/>
            <a:ext cx="266700" cy="266700"/>
          </a:xfrm>
          <a:prstGeom prst="rect">
            <a:avLst/>
          </a:prstGeom>
          <a:noFill/>
          <a:ln>
            <a:noFill/>
          </a:ln>
        </p:spPr>
      </p:pic>
      <p:pic>
        <p:nvPicPr>
          <p:cNvPr descr="image.png" id="1235" name="Google Shape;1235;p42"/>
          <p:cNvPicPr preferRelativeResize="0"/>
          <p:nvPr/>
        </p:nvPicPr>
        <p:blipFill rotWithShape="1">
          <a:blip r:embed="rId8">
            <a:alphaModFix/>
          </a:blip>
          <a:srcRect b="0" l="0" r="0" t="0"/>
          <a:stretch/>
        </p:blipFill>
        <p:spPr>
          <a:xfrm>
            <a:off x="571500" y="2982217"/>
            <a:ext cx="2541240" cy="1579364"/>
          </a:xfrm>
          <a:prstGeom prst="rect">
            <a:avLst/>
          </a:prstGeom>
          <a:noFill/>
          <a:ln>
            <a:noFill/>
          </a:ln>
        </p:spPr>
      </p:pic>
      <p:pic>
        <p:nvPicPr>
          <p:cNvPr descr="image.png" id="1236" name="Google Shape;1236;p42"/>
          <p:cNvPicPr preferRelativeResize="0"/>
          <p:nvPr/>
        </p:nvPicPr>
        <p:blipFill rotWithShape="1">
          <a:blip r:embed="rId9">
            <a:alphaModFix/>
          </a:blip>
          <a:srcRect b="0" l="0" r="0" t="0"/>
          <a:stretch/>
        </p:blipFill>
        <p:spPr>
          <a:xfrm>
            <a:off x="3407419" y="2982217"/>
            <a:ext cx="2541240" cy="1579364"/>
          </a:xfrm>
          <a:prstGeom prst="rect">
            <a:avLst/>
          </a:prstGeom>
          <a:noFill/>
          <a:ln>
            <a:noFill/>
          </a:ln>
        </p:spPr>
      </p:pic>
      <p:pic>
        <p:nvPicPr>
          <p:cNvPr descr="image.png" id="1237" name="Google Shape;1237;p42"/>
          <p:cNvPicPr preferRelativeResize="0"/>
          <p:nvPr/>
        </p:nvPicPr>
        <p:blipFill rotWithShape="1">
          <a:blip r:embed="rId10">
            <a:alphaModFix/>
          </a:blip>
          <a:srcRect b="0" l="0" r="0" t="0"/>
          <a:stretch/>
        </p:blipFill>
        <p:spPr>
          <a:xfrm>
            <a:off x="6243339" y="2982217"/>
            <a:ext cx="2541240" cy="1579364"/>
          </a:xfrm>
          <a:prstGeom prst="rect">
            <a:avLst/>
          </a:prstGeom>
          <a:noFill/>
          <a:ln>
            <a:noFill/>
          </a:ln>
        </p:spPr>
      </p:pic>
      <p:pic>
        <p:nvPicPr>
          <p:cNvPr descr="image.png" id="1238" name="Google Shape;1238;p42"/>
          <p:cNvPicPr preferRelativeResize="0"/>
          <p:nvPr/>
        </p:nvPicPr>
        <p:blipFill rotWithShape="1">
          <a:blip r:embed="rId8">
            <a:alphaModFix/>
          </a:blip>
          <a:srcRect b="0" l="0" r="0" t="0"/>
          <a:stretch/>
        </p:blipFill>
        <p:spPr>
          <a:xfrm>
            <a:off x="9079259" y="2982217"/>
            <a:ext cx="2541240" cy="1579364"/>
          </a:xfrm>
          <a:prstGeom prst="rect">
            <a:avLst/>
          </a:prstGeom>
          <a:noFill/>
          <a:ln>
            <a:noFill/>
          </a:ln>
        </p:spPr>
      </p:pic>
      <p:pic>
        <p:nvPicPr>
          <p:cNvPr descr="image.png" id="1239" name="Google Shape;1239;p42"/>
          <p:cNvPicPr preferRelativeResize="0"/>
          <p:nvPr/>
        </p:nvPicPr>
        <p:blipFill rotWithShape="1">
          <a:blip r:embed="rId11">
            <a:alphaModFix/>
          </a:blip>
          <a:srcRect b="0" l="0" r="0" t="0"/>
          <a:stretch/>
        </p:blipFill>
        <p:spPr>
          <a:xfrm>
            <a:off x="571500" y="466725"/>
            <a:ext cx="933450" cy="209550"/>
          </a:xfrm>
          <a:prstGeom prst="rect">
            <a:avLst/>
          </a:prstGeom>
          <a:noFill/>
          <a:ln>
            <a:noFill/>
          </a:ln>
        </p:spPr>
      </p:pic>
      <p:sp>
        <p:nvSpPr>
          <p:cNvPr id="1240" name="Google Shape;1240;p42"/>
          <p:cNvSpPr/>
          <p:nvPr/>
        </p:nvSpPr>
        <p:spPr>
          <a:xfrm>
            <a:off x="571500" y="37623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1" name="Google Shape;1241;p42"/>
          <p:cNvSpPr txBox="1"/>
          <p:nvPr/>
        </p:nvSpPr>
        <p:spPr>
          <a:xfrm>
            <a:off x="697992" y="3544192"/>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Foundation</a:t>
            </a:r>
            <a:endParaRPr/>
          </a:p>
        </p:txBody>
      </p:sp>
      <p:sp>
        <p:nvSpPr>
          <p:cNvPr id="1242" name="Google Shape;1242;p42"/>
          <p:cNvSpPr txBox="1"/>
          <p:nvPr/>
        </p:nvSpPr>
        <p:spPr>
          <a:xfrm>
            <a:off x="752475" y="3772792"/>
            <a:ext cx="2179290"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 u="none" cap="none" strike="noStrike">
                <a:solidFill>
                  <a:srgbClr val="2563EB"/>
                </a:solidFill>
                <a:latin typeface="JetBrains Mono"/>
                <a:ea typeface="JetBrains Mono"/>
                <a:cs typeface="JetBrains Mono"/>
                <a:sym typeface="JetBrains Mono"/>
              </a:rPr>
              <a:t>WEEKS 1 - 4</a:t>
            </a:r>
            <a:endParaRPr/>
          </a:p>
        </p:txBody>
      </p:sp>
      <p:sp>
        <p:nvSpPr>
          <p:cNvPr id="1243" name="Google Shape;1243;p42"/>
          <p:cNvSpPr txBox="1"/>
          <p:nvPr/>
        </p:nvSpPr>
        <p:spPr>
          <a:xfrm>
            <a:off x="752475" y="3925192"/>
            <a:ext cx="2179290" cy="455414"/>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Connect source control. Pre-bake environment snapshots. Deploy AGENTS.md rules. Run 2-5 pilot team devs.</a:t>
            </a:r>
            <a:endParaRPr/>
          </a:p>
        </p:txBody>
      </p:sp>
      <p:sp>
        <p:nvSpPr>
          <p:cNvPr id="1244" name="Google Shape;1244;p42"/>
          <p:cNvSpPr txBox="1"/>
          <p:nvPr/>
        </p:nvSpPr>
        <p:spPr>
          <a:xfrm>
            <a:off x="3533912" y="3544192"/>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Workflow Integration</a:t>
            </a:r>
            <a:endParaRPr/>
          </a:p>
        </p:txBody>
      </p:sp>
      <p:sp>
        <p:nvSpPr>
          <p:cNvPr id="1245" name="Google Shape;1245;p42"/>
          <p:cNvSpPr txBox="1"/>
          <p:nvPr/>
        </p:nvSpPr>
        <p:spPr>
          <a:xfrm>
            <a:off x="3588394" y="3772792"/>
            <a:ext cx="2179290"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 u="none" cap="none" strike="noStrike">
                <a:solidFill>
                  <a:srgbClr val="2563EB"/>
                </a:solidFill>
                <a:latin typeface="JetBrains Mono"/>
                <a:ea typeface="JetBrains Mono"/>
                <a:cs typeface="JetBrains Mono"/>
                <a:sym typeface="JetBrains Mono"/>
              </a:rPr>
              <a:t>WEEKS 5 - 8</a:t>
            </a:r>
            <a:endParaRPr/>
          </a:p>
        </p:txBody>
      </p:sp>
      <p:sp>
        <p:nvSpPr>
          <p:cNvPr id="1246" name="Google Shape;1246;p42"/>
          <p:cNvSpPr txBox="1"/>
          <p:nvPr/>
        </p:nvSpPr>
        <p:spPr>
          <a:xfrm>
            <a:off x="3588394" y="3925192"/>
            <a:ext cx="2179290" cy="455414"/>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Build task Playbooks. Setup automated CI check failure webhooks. Connect Datadog &amp; Sentry MCP triggers.</a:t>
            </a:r>
            <a:endParaRPr/>
          </a:p>
        </p:txBody>
      </p:sp>
      <p:sp>
        <p:nvSpPr>
          <p:cNvPr id="1247" name="Google Shape;1247;p42"/>
          <p:cNvSpPr txBox="1"/>
          <p:nvPr/>
        </p:nvSpPr>
        <p:spPr>
          <a:xfrm>
            <a:off x="6369832" y="3544192"/>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Enterprise Rollout</a:t>
            </a:r>
            <a:endParaRPr/>
          </a:p>
        </p:txBody>
      </p:sp>
      <p:sp>
        <p:nvSpPr>
          <p:cNvPr id="1248" name="Google Shape;1248;p42"/>
          <p:cNvSpPr txBox="1"/>
          <p:nvPr/>
        </p:nvSpPr>
        <p:spPr>
          <a:xfrm>
            <a:off x="6424314" y="3772792"/>
            <a:ext cx="2179290"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 u="none" cap="none" strike="noStrike">
                <a:solidFill>
                  <a:srgbClr val="2563EB"/>
                </a:solidFill>
                <a:latin typeface="JetBrains Mono"/>
                <a:ea typeface="JetBrains Mono"/>
                <a:cs typeface="JetBrains Mono"/>
                <a:sym typeface="JetBrains Mono"/>
              </a:rPr>
              <a:t>WEEKS 9 - 16</a:t>
            </a:r>
            <a:endParaRPr/>
          </a:p>
        </p:txBody>
      </p:sp>
      <p:sp>
        <p:nvSpPr>
          <p:cNvPr id="1249" name="Google Shape;1249;p42"/>
          <p:cNvSpPr txBox="1"/>
          <p:nvPr/>
        </p:nvSpPr>
        <p:spPr>
          <a:xfrm>
            <a:off x="6424314" y="3925192"/>
            <a:ext cx="2179290" cy="455414"/>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Configure global Enterprise blueprints. Bind identity SSO groups. Establish ACU limits per organization.</a:t>
            </a:r>
            <a:endParaRPr/>
          </a:p>
        </p:txBody>
      </p:sp>
      <p:sp>
        <p:nvSpPr>
          <p:cNvPr id="1250" name="Google Shape;1250;p42"/>
          <p:cNvSpPr txBox="1"/>
          <p:nvPr/>
        </p:nvSpPr>
        <p:spPr>
          <a:xfrm>
            <a:off x="9205752" y="3544192"/>
            <a:ext cx="2288254"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Scale &amp; Optimize</a:t>
            </a:r>
            <a:endParaRPr/>
          </a:p>
        </p:txBody>
      </p:sp>
      <p:sp>
        <p:nvSpPr>
          <p:cNvPr id="1251" name="Google Shape;1251;p42"/>
          <p:cNvSpPr txBox="1"/>
          <p:nvPr/>
        </p:nvSpPr>
        <p:spPr>
          <a:xfrm>
            <a:off x="9260234" y="3772792"/>
            <a:ext cx="2179290" cy="11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 u="none" cap="none" strike="noStrike">
                <a:solidFill>
                  <a:srgbClr val="0D9488"/>
                </a:solidFill>
                <a:latin typeface="JetBrains Mono"/>
                <a:ea typeface="JetBrains Mono"/>
                <a:cs typeface="JetBrains Mono"/>
                <a:sym typeface="JetBrains Mono"/>
              </a:rPr>
              <a:t>ONGOING</a:t>
            </a:r>
            <a:endParaRPr/>
          </a:p>
        </p:txBody>
      </p:sp>
      <p:sp>
        <p:nvSpPr>
          <p:cNvPr id="1252" name="Google Shape;1252;p42"/>
          <p:cNvSpPr txBox="1"/>
          <p:nvPr/>
        </p:nvSpPr>
        <p:spPr>
          <a:xfrm>
            <a:off x="9260234" y="3925192"/>
            <a:ext cx="2179290" cy="455414"/>
          </a:xfrm>
          <a:prstGeom prst="rect">
            <a:avLst/>
          </a:prstGeom>
          <a:noFill/>
          <a:ln>
            <a:noFill/>
          </a:ln>
        </p:spPr>
        <p:txBody>
          <a:bodyPr anchorCtr="0" anchor="t" bIns="0" lIns="0" spcFirstLastPara="1" rIns="0" wrap="square" tIns="0">
            <a:spAutoFit/>
          </a:bodyPr>
          <a:lstStyle/>
          <a:p>
            <a:pPr indent="0" lvl="0" marL="0" marR="0" rtl="0" algn="ctr">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Orchestrate Managed Coordinator sessions for large sweeps. Refine Playbook specs based on failed logs.</a:t>
            </a:r>
            <a:endParaRPr/>
          </a:p>
        </p:txBody>
      </p:sp>
      <p:sp>
        <p:nvSpPr>
          <p:cNvPr id="1253" name="Google Shape;1253;p42"/>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Adoption Roadmap</a:t>
            </a:r>
            <a:endParaRPr/>
          </a:p>
        </p:txBody>
      </p:sp>
      <p:sp>
        <p:nvSpPr>
          <p:cNvPr id="1254" name="Google Shape;1254;p42"/>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8" name="Shape 1258"/>
        <p:cNvGrpSpPr/>
        <p:nvPr/>
      </p:nvGrpSpPr>
      <p:grpSpPr>
        <a:xfrm>
          <a:off x="0" y="0"/>
          <a:ext cx="0" cy="0"/>
          <a:chOff x="0" y="0"/>
          <a:chExt cx="0" cy="0"/>
        </a:xfrm>
      </p:grpSpPr>
      <p:pic>
        <p:nvPicPr>
          <p:cNvPr descr="image.png" id="1259" name="Google Shape;1259;p4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60" name="Google Shape;1260;p43"/>
          <p:cNvPicPr preferRelativeResize="0"/>
          <p:nvPr/>
        </p:nvPicPr>
        <p:blipFill rotWithShape="1">
          <a:blip r:embed="rId4">
            <a:alphaModFix/>
          </a:blip>
          <a:srcRect b="0" l="0" r="0" t="0"/>
          <a:stretch/>
        </p:blipFill>
        <p:spPr>
          <a:xfrm>
            <a:off x="571500" y="2758678"/>
            <a:ext cx="6188868" cy="713184"/>
          </a:xfrm>
          <a:prstGeom prst="rect">
            <a:avLst/>
          </a:prstGeom>
          <a:noFill/>
          <a:ln>
            <a:noFill/>
          </a:ln>
        </p:spPr>
      </p:pic>
      <p:pic>
        <p:nvPicPr>
          <p:cNvPr descr="image.png" id="1261" name="Google Shape;1261;p43"/>
          <p:cNvPicPr preferRelativeResize="0"/>
          <p:nvPr/>
        </p:nvPicPr>
        <p:blipFill rotWithShape="1">
          <a:blip r:embed="rId5">
            <a:alphaModFix/>
          </a:blip>
          <a:srcRect b="0" l="0" r="0" t="0"/>
          <a:stretch/>
        </p:blipFill>
        <p:spPr>
          <a:xfrm>
            <a:off x="571500" y="3567112"/>
            <a:ext cx="6188868" cy="561379"/>
          </a:xfrm>
          <a:prstGeom prst="rect">
            <a:avLst/>
          </a:prstGeom>
          <a:noFill/>
          <a:ln>
            <a:noFill/>
          </a:ln>
        </p:spPr>
      </p:pic>
      <p:pic>
        <p:nvPicPr>
          <p:cNvPr descr="image.png" id="1262" name="Google Shape;1262;p43"/>
          <p:cNvPicPr preferRelativeResize="0"/>
          <p:nvPr/>
        </p:nvPicPr>
        <p:blipFill rotWithShape="1">
          <a:blip r:embed="rId6">
            <a:alphaModFix/>
          </a:blip>
          <a:srcRect b="0" l="0" r="0" t="0"/>
          <a:stretch/>
        </p:blipFill>
        <p:spPr>
          <a:xfrm>
            <a:off x="571500" y="4223742"/>
            <a:ext cx="6188868" cy="561379"/>
          </a:xfrm>
          <a:prstGeom prst="rect">
            <a:avLst/>
          </a:prstGeom>
          <a:noFill/>
          <a:ln>
            <a:noFill/>
          </a:ln>
        </p:spPr>
      </p:pic>
      <p:pic>
        <p:nvPicPr>
          <p:cNvPr descr="image.png" id="1263" name="Google Shape;1263;p43"/>
          <p:cNvPicPr preferRelativeResize="0"/>
          <p:nvPr/>
        </p:nvPicPr>
        <p:blipFill rotWithShape="1">
          <a:blip r:embed="rId7">
            <a:alphaModFix/>
          </a:blip>
          <a:srcRect b="0" l="0" r="0" t="0"/>
          <a:stretch/>
        </p:blipFill>
        <p:spPr>
          <a:xfrm>
            <a:off x="571500" y="466725"/>
            <a:ext cx="933450" cy="209550"/>
          </a:xfrm>
          <a:prstGeom prst="rect">
            <a:avLst/>
          </a:prstGeom>
          <a:noFill/>
          <a:ln>
            <a:noFill/>
          </a:ln>
        </p:spPr>
      </p:pic>
      <p:pic>
        <p:nvPicPr>
          <p:cNvPr descr="image.png" id="1264" name="Google Shape;1264;p43"/>
          <p:cNvPicPr preferRelativeResize="0"/>
          <p:nvPr/>
        </p:nvPicPr>
        <p:blipFill rotWithShape="1">
          <a:blip r:embed="rId8">
            <a:alphaModFix/>
          </a:blip>
          <a:srcRect b="0" l="0" r="0" t="0"/>
          <a:stretch/>
        </p:blipFill>
        <p:spPr>
          <a:xfrm>
            <a:off x="8276034" y="3084909"/>
            <a:ext cx="2114550" cy="285750"/>
          </a:xfrm>
          <a:prstGeom prst="rect">
            <a:avLst/>
          </a:prstGeom>
          <a:noFill/>
          <a:ln>
            <a:noFill/>
          </a:ln>
        </p:spPr>
      </p:pic>
      <p:sp>
        <p:nvSpPr>
          <p:cNvPr id="1265" name="Google Shape;1265;p43"/>
          <p:cNvSpPr txBox="1"/>
          <p:nvPr/>
        </p:nvSpPr>
        <p:spPr>
          <a:xfrm>
            <a:off x="7236618" y="3513534"/>
            <a:ext cx="4193381" cy="621506"/>
          </a:xfrm>
          <a:prstGeom prst="rect">
            <a:avLst/>
          </a:prstGeom>
          <a:noFill/>
          <a:ln>
            <a:noFill/>
          </a:ln>
        </p:spPr>
        <p:txBody>
          <a:bodyPr anchorCtr="0" anchor="t" bIns="0" lIns="0" spcFirstLastPara="1" rIns="0" wrap="square" tIns="0">
            <a:spAutoFit/>
          </a:bodyPr>
          <a:lstStyle/>
          <a:p>
            <a:pPr indent="0" lvl="0" marL="0" marR="0" rtl="0" algn="ctr">
              <a:lnSpc>
                <a:spcPct val="144977"/>
              </a:lnSpc>
              <a:spcBef>
                <a:spcPts val="0"/>
              </a:spcBef>
              <a:spcAft>
                <a:spcPts val="0"/>
              </a:spcAft>
              <a:buNone/>
            </a:pPr>
            <a:r>
              <a:rPr b="0" i="0" lang="en-US" sz="1125" u="none" cap="none" strike="noStrike">
                <a:solidFill>
                  <a:srgbClr val="0F172A"/>
                </a:solidFill>
                <a:latin typeface="Plus Jakarta Sans SemiBold"/>
                <a:ea typeface="Plus Jakarta Sans SemiBold"/>
                <a:cs typeface="Plus Jakarta Sans SemiBold"/>
                <a:sym typeface="Plus Jakarta Sans SemiBold"/>
              </a:rPr>
              <a:t>Empower engineering velocity while maintaining complete repository governance, security controls, and resource optimization parameters.</a:t>
            </a:r>
            <a:endParaRPr/>
          </a:p>
        </p:txBody>
      </p:sp>
      <p:sp>
        <p:nvSpPr>
          <p:cNvPr id="1266" name="Google Shape;1266;p43"/>
          <p:cNvSpPr txBox="1"/>
          <p:nvPr/>
        </p:nvSpPr>
        <p:spPr>
          <a:xfrm>
            <a:off x="7236618" y="4325540"/>
            <a:ext cx="4193381" cy="133350"/>
          </a:xfrm>
          <a:prstGeom prst="rect">
            <a:avLst/>
          </a:prstGeom>
          <a:noFill/>
          <a:ln>
            <a:noFill/>
          </a:ln>
        </p:spPr>
        <p:txBody>
          <a:bodyPr anchorCtr="0" anchor="t" bIns="0" lIns="104775" spcFirstLastPara="1" rIns="0" wrap="square" tIns="0">
            <a:spAutoFit/>
          </a:bodyPr>
          <a:lstStyle/>
          <a:p>
            <a:pPr indent="0" lvl="0" marL="0" marR="0" rtl="0" algn="ctr">
              <a:spcBef>
                <a:spcPts val="0"/>
              </a:spcBef>
              <a:spcAft>
                <a:spcPts val="0"/>
              </a:spcAft>
              <a:buNone/>
            </a:pPr>
            <a:r>
              <a:rPr b="0" i="0" lang="en-US" sz="825" u="none" cap="none" strike="noStrike">
                <a:solidFill>
                  <a:srgbClr val="64748B"/>
                </a:solidFill>
                <a:latin typeface="JetBrains Mono SemiBold"/>
                <a:ea typeface="JetBrains Mono SemiBold"/>
                <a:cs typeface="JetBrains Mono SemiBold"/>
                <a:sym typeface="JetBrains Mono SemiBold"/>
              </a:rPr>
              <a:t>SECURE CONTROL PLANE ACTIVE</a:t>
            </a:r>
            <a:endParaRPr/>
          </a:p>
        </p:txBody>
      </p:sp>
      <p:sp>
        <p:nvSpPr>
          <p:cNvPr id="1267" name="Google Shape;1267;p43"/>
          <p:cNvSpPr txBox="1"/>
          <p:nvPr/>
        </p:nvSpPr>
        <p:spPr>
          <a:xfrm>
            <a:off x="695325" y="2882503"/>
            <a:ext cx="59412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IDENTITY &amp; ROLE SECURITY (SSO)</a:t>
            </a:r>
            <a:endParaRPr/>
          </a:p>
        </p:txBody>
      </p:sp>
      <p:sp>
        <p:nvSpPr>
          <p:cNvPr id="1268" name="Google Shape;1268;p43"/>
          <p:cNvSpPr txBox="1"/>
          <p:nvPr/>
        </p:nvSpPr>
        <p:spPr>
          <a:xfrm>
            <a:off x="695325" y="3044428"/>
            <a:ext cx="5941218"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Entra ID / Okta group mappings automatically provision access. Role-Based Access Control regulates feature permissions.</a:t>
            </a:r>
            <a:endParaRPr/>
          </a:p>
        </p:txBody>
      </p:sp>
      <p:sp>
        <p:nvSpPr>
          <p:cNvPr id="1269" name="Google Shape;1269;p43"/>
          <p:cNvSpPr txBox="1"/>
          <p:nvPr/>
        </p:nvSpPr>
        <p:spPr>
          <a:xfrm>
            <a:off x="695325" y="3690937"/>
            <a:ext cx="59412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7C3AED"/>
                </a:solidFill>
                <a:latin typeface="JetBrains Mono"/>
                <a:ea typeface="JetBrains Mono"/>
                <a:cs typeface="JetBrains Mono"/>
                <a:sym typeface="JetBrains Mono"/>
              </a:rPr>
              <a:t>ADDITIVE ENVIRONMENT STACK</a:t>
            </a:r>
            <a:endParaRPr/>
          </a:p>
        </p:txBody>
      </p:sp>
      <p:sp>
        <p:nvSpPr>
          <p:cNvPr id="1270" name="Google Shape;1270;p43"/>
          <p:cNvSpPr txBox="1"/>
          <p:nvPr/>
        </p:nvSpPr>
        <p:spPr>
          <a:xfrm>
            <a:off x="695325" y="3852862"/>
            <a:ext cx="5941218"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Global blueprints feed down to Org lints and Repo setups. Secrets remain housed in protected dashboards.</a:t>
            </a:r>
            <a:endParaRPr/>
          </a:p>
        </p:txBody>
      </p:sp>
      <p:sp>
        <p:nvSpPr>
          <p:cNvPr id="1271" name="Google Shape;1271;p43"/>
          <p:cNvSpPr txBox="1"/>
          <p:nvPr/>
        </p:nvSpPr>
        <p:spPr>
          <a:xfrm>
            <a:off x="695325" y="4347567"/>
            <a:ext cx="59412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0D9488"/>
                </a:solidFill>
                <a:latin typeface="JetBrains Mono"/>
                <a:ea typeface="JetBrains Mono"/>
                <a:cs typeface="JetBrains Mono"/>
                <a:sym typeface="JetBrains Mono"/>
              </a:rPr>
              <a:t>NETWORK &amp; COST GOVERNANCE</a:t>
            </a:r>
            <a:endParaRPr/>
          </a:p>
        </p:txBody>
      </p:sp>
      <p:sp>
        <p:nvSpPr>
          <p:cNvPr id="1272" name="Google Shape;1272;p43"/>
          <p:cNvSpPr txBox="1"/>
          <p:nvPr/>
        </p:nvSpPr>
        <p:spPr>
          <a:xfrm>
            <a:off x="695325" y="4509492"/>
            <a:ext cx="5941218"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475569"/>
                </a:solidFill>
                <a:latin typeface="Plus Jakarta Sans"/>
                <a:ea typeface="Plus Jakarta Sans"/>
                <a:cs typeface="Plus Jakarta Sans"/>
                <a:sym typeface="Plus Jakarta Sans"/>
              </a:rPr>
              <a:t>IP Access lists configure private boundaries. Explicit ACU spend metrics manage billing quotas across products.</a:t>
            </a:r>
            <a:endParaRPr/>
          </a:p>
        </p:txBody>
      </p:sp>
      <p:pic>
        <p:nvPicPr>
          <p:cNvPr descr="image.png" id="1273" name="Google Shape;1273;p43"/>
          <p:cNvPicPr preferRelativeResize="0"/>
          <p:nvPr/>
        </p:nvPicPr>
        <p:blipFill rotWithShape="1">
          <a:blip r:embed="rId9">
            <a:alphaModFix/>
          </a:blip>
          <a:srcRect b="0" l="0" r="0" t="0"/>
          <a:stretch/>
        </p:blipFill>
        <p:spPr>
          <a:xfrm>
            <a:off x="8347471" y="4344590"/>
            <a:ext cx="104775" cy="104775"/>
          </a:xfrm>
          <a:prstGeom prst="rect">
            <a:avLst/>
          </a:prstGeom>
          <a:noFill/>
          <a:ln>
            <a:noFill/>
          </a:ln>
        </p:spPr>
      </p:pic>
      <p:sp>
        <p:nvSpPr>
          <p:cNvPr id="1274" name="Google Shape;1274;p43"/>
          <p:cNvSpPr txBox="1"/>
          <p:nvPr/>
        </p:nvSpPr>
        <p:spPr>
          <a:xfrm>
            <a:off x="571500" y="381000"/>
            <a:ext cx="11601450" cy="4000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Unified Enterprise Blueprint</a:t>
            </a:r>
            <a:endParaRPr/>
          </a:p>
        </p:txBody>
      </p:sp>
      <p:sp>
        <p:nvSpPr>
          <p:cNvPr id="1275" name="Google Shape;1275;p43"/>
          <p:cNvSpPr/>
          <p:nvPr/>
        </p:nvSpPr>
        <p:spPr>
          <a:xfrm>
            <a:off x="571500" y="876300"/>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