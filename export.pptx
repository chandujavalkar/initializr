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78601" y="2109978"/>
            <a:ext cx="1207008" cy="1371600"/>
          </a:xfrm>
          <a:custGeom>
            <a:avLst/>
            <a:gdLst/>
            <a:ahLst/>
            <a:cxnLst/>
            <a:rect l="0" t="0" r="0" b="0"/>
            <a:pathLst>
              <a:path w="1207008" h="1371600">
                <a:moveTo>
                  <a:pt x="219456" y="0"/>
                </a:moveTo>
                <a:lnTo>
                  <a:pt x="987552" y="0"/>
                </a:lnTo>
                <a:cubicBezTo>
                  <a:pt x="987552" y="0"/>
                  <a:pt x="1207008" y="0"/>
                  <a:pt x="1207008" y="219456"/>
                </a:cubicBezTo>
                <a:lnTo>
                  <a:pt x="1207008" y="1152144"/>
                </a:lnTo>
                <a:cubicBezTo>
                  <a:pt x="1207008" y="1152144"/>
                  <a:pt x="1207008" y="1371600"/>
                  <a:pt x="987552" y="1371600"/>
                </a:cubicBezTo>
                <a:lnTo>
                  <a:pt x="219456" y="1371600"/>
                </a:lnTo>
                <a:cubicBezTo>
                  <a:pt x="219456" y="1371600"/>
                  <a:pt x="0" y="1371600"/>
                  <a:pt x="0" y="1152144"/>
                </a:cubicBezTo>
                <a:lnTo>
                  <a:pt x="0" y="219456"/>
                </a:lnTo>
                <a:cubicBezTo>
                  <a:pt x="0" y="219456"/>
                  <a:pt x="0" y="0"/>
                  <a:pt x="219456" y="0"/>
                </a:cubicBezTo>
              </a:path>
            </a:pathLst>
          </a:custGeom>
          <a:noFill/>
          <a:ln w="13716">
            <a:solidFill>
              <a:srgbClr val="80808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75097" y="3865626"/>
            <a:ext cx="2414016" cy="493776"/>
          </a:xfrm>
          <a:custGeom>
            <a:avLst/>
            <a:gdLst/>
            <a:ahLst/>
            <a:cxnLst/>
            <a:rect l="0" t="0" r="0" b="0"/>
            <a:pathLst>
              <a:path w="2414016" h="493776">
                <a:moveTo>
                  <a:pt x="109728" y="0"/>
                </a:moveTo>
                <a:lnTo>
                  <a:pt x="2304288" y="0"/>
                </a:lnTo>
                <a:cubicBezTo>
                  <a:pt x="2304288" y="0"/>
                  <a:pt x="2414016" y="0"/>
                  <a:pt x="2414016" y="109728"/>
                </a:cubicBezTo>
                <a:lnTo>
                  <a:pt x="2414016" y="384048"/>
                </a:lnTo>
                <a:cubicBezTo>
                  <a:pt x="2414016" y="384048"/>
                  <a:pt x="2414016" y="493776"/>
                  <a:pt x="2304288" y="493776"/>
                </a:cubicBezTo>
                <a:lnTo>
                  <a:pt x="109728" y="493776"/>
                </a:lnTo>
                <a:cubicBezTo>
                  <a:pt x="109728" y="493776"/>
                  <a:pt x="0" y="493776"/>
                  <a:pt x="0" y="384048"/>
                </a:cubicBezTo>
                <a:lnTo>
                  <a:pt x="0" y="109728"/>
                </a:lnTo>
                <a:cubicBezTo>
                  <a:pt x="0" y="109728"/>
                  <a:pt x="0" y="0"/>
                  <a:pt x="109728" y="0"/>
                </a:cubicBezTo>
              </a:path>
            </a:pathLst>
          </a:custGeom>
          <a:noFill/>
          <a:ln w="13716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45129" y="1945386"/>
            <a:ext cx="2194560" cy="493776"/>
          </a:xfrm>
          <a:custGeom>
            <a:avLst/>
            <a:gdLst/>
            <a:ahLst/>
            <a:cxnLst/>
            <a:rect l="0" t="0" r="0" b="0"/>
            <a:pathLst>
              <a:path w="2194560" h="493776">
                <a:moveTo>
                  <a:pt x="109728" y="0"/>
                </a:moveTo>
                <a:lnTo>
                  <a:pt x="2084832" y="0"/>
                </a:lnTo>
                <a:cubicBezTo>
                  <a:pt x="2084832" y="0"/>
                  <a:pt x="2194560" y="0"/>
                  <a:pt x="2194560" y="109728"/>
                </a:cubicBezTo>
                <a:lnTo>
                  <a:pt x="2194560" y="384048"/>
                </a:lnTo>
                <a:cubicBezTo>
                  <a:pt x="2194560" y="384048"/>
                  <a:pt x="2194560" y="493776"/>
                  <a:pt x="2084832" y="493776"/>
                </a:cubicBezTo>
                <a:lnTo>
                  <a:pt x="109728" y="493776"/>
                </a:lnTo>
                <a:cubicBezTo>
                  <a:pt x="109728" y="493776"/>
                  <a:pt x="0" y="493776"/>
                  <a:pt x="0" y="384048"/>
                </a:cubicBezTo>
                <a:lnTo>
                  <a:pt x="0" y="109728"/>
                </a:lnTo>
                <a:cubicBezTo>
                  <a:pt x="0" y="109728"/>
                  <a:pt x="0" y="0"/>
                  <a:pt x="109728" y="0"/>
                </a:cubicBezTo>
              </a:path>
            </a:pathLst>
          </a:custGeom>
          <a:noFill/>
          <a:ln w="13716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24521" y="2000250"/>
            <a:ext cx="2084832" cy="493776"/>
          </a:xfrm>
          <a:custGeom>
            <a:avLst/>
            <a:gdLst/>
            <a:ahLst/>
            <a:cxnLst/>
            <a:rect l="0" t="0" r="0" b="0"/>
            <a:pathLst>
              <a:path w="2084832" h="493776">
                <a:moveTo>
                  <a:pt x="109728" y="0"/>
                </a:moveTo>
                <a:lnTo>
                  <a:pt x="1975104" y="0"/>
                </a:lnTo>
                <a:cubicBezTo>
                  <a:pt x="1975104" y="0"/>
                  <a:pt x="2084832" y="0"/>
                  <a:pt x="2084832" y="109728"/>
                </a:cubicBezTo>
                <a:lnTo>
                  <a:pt x="2084832" y="384048"/>
                </a:lnTo>
                <a:cubicBezTo>
                  <a:pt x="2084832" y="384048"/>
                  <a:pt x="2084832" y="493776"/>
                  <a:pt x="1975104" y="493776"/>
                </a:cubicBezTo>
                <a:lnTo>
                  <a:pt x="109728" y="493776"/>
                </a:lnTo>
                <a:cubicBezTo>
                  <a:pt x="109728" y="493776"/>
                  <a:pt x="0" y="493776"/>
                  <a:pt x="0" y="384048"/>
                </a:cubicBezTo>
                <a:lnTo>
                  <a:pt x="0" y="109728"/>
                </a:lnTo>
                <a:cubicBezTo>
                  <a:pt x="0" y="109728"/>
                  <a:pt x="0" y="0"/>
                  <a:pt x="109728" y="0"/>
                </a:cubicBezTo>
              </a:path>
            </a:pathLst>
          </a:custGeom>
          <a:noFill/>
          <a:ln w="13716">
            <a:solidFill>
              <a:srgbClr val="BA5DE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75090" y="4487418"/>
            <a:ext cx="2125980" cy="2688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84848"/>
                </a:solidFill>
                <a:latin typeface="Roboto"/>
              </a:rPr>
              <a:t>Reduced Support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4458" y="4816602"/>
            <a:ext cx="2235708" cy="5376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84848"/>
                </a:solidFill>
                <a:latin typeface="Roboto"/>
              </a:rPr>
              <a:t>Democratized Access to
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972" y="2567178"/>
            <a:ext cx="2331720" cy="2688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84848"/>
                </a:solidFill>
                <a:latin typeface="Roboto"/>
              </a:rPr>
              <a:t>Complex Alert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1347" y="2622042"/>
            <a:ext cx="2208276" cy="2688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84848"/>
                </a:solidFill>
                <a:latin typeface="Roboto"/>
              </a:rPr>
              <a:t>Instant Query Answering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9180" y="5365242"/>
            <a:ext cx="2825496" cy="2688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84848"/>
                </a:solidFill>
                <a:latin typeface="Roboto"/>
              </a:rPr>
              <a:t>Accelerated Release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7174" y="2951226"/>
            <a:ext cx="2290572" cy="2688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84848"/>
                </a:solidFill>
                <a:latin typeface="Roboto"/>
              </a:rPr>
              <a:t>Code Snippet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9942" y="3280410"/>
            <a:ext cx="2400300" cy="2688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84848"/>
                </a:solidFill>
                <a:latin typeface="Roboto"/>
              </a:rPr>
              <a:t>24x7 Intelligent Assistance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3249" y="3445002"/>
            <a:ext cx="1961388" cy="2688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84848"/>
                </a:solidFill>
                <a:latin typeface="Roboto"/>
              </a:rPr>
              <a:t>Steep Learning Curve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8120" y="1223924"/>
            <a:ext cx="618591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484848"/>
                </a:solidFill>
                <a:latin typeface="Roboto"/>
              </a:rPr>
              <a:t>Revolutionizing Alert Management with Gen AI Chatbot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758" y="2896362"/>
            <a:ext cx="2633472" cy="5376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84848"/>
                </a:solidFill>
                <a:latin typeface="Roboto"/>
              </a:rPr>
              <a:t>Time-Consuming Information
Retrieval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9688" y="2192274"/>
            <a:ext cx="438912" cy="374904"/>
          </a:xfrm>
          <a:custGeom>
            <a:avLst/>
            <a:gdLst/>
            <a:ahLst/>
            <a:cxnLst/>
            <a:rect l="0" t="0" r="0" b="0"/>
            <a:pathLst>
              <a:path w="438912" h="374904">
                <a:moveTo>
                  <a:pt x="438912" y="374904"/>
                </a:moveTo>
                <a:lnTo>
                  <a:pt x="411480" y="374904"/>
                </a:lnTo>
                <a:lnTo>
                  <a:pt x="410565" y="374904"/>
                </a:lnTo>
                <a:cubicBezTo>
                  <a:pt x="365782" y="374778"/>
                  <a:pt x="318288" y="355259"/>
                  <a:pt x="277063" y="320040"/>
                </a:cubicBezTo>
                <a:cubicBezTo>
                  <a:pt x="252057" y="299032"/>
                  <a:pt x="230878" y="250288"/>
                  <a:pt x="219456" y="187452"/>
                </a:cubicBezTo>
                <a:cubicBezTo>
                  <a:pt x="208033" y="124615"/>
                  <a:pt x="186854" y="75871"/>
                  <a:pt x="161848" y="54864"/>
                </a:cubicBezTo>
                <a:cubicBezTo>
                  <a:pt x="120623" y="19644"/>
                  <a:pt x="73129" y="125"/>
                  <a:pt x="28346" y="0"/>
                </a:cubicBezTo>
                <a:lnTo>
                  <a:pt x="27432" y="0"/>
                </a:lnTo>
                <a:lnTo>
                  <a:pt x="0" y="0"/>
                </a:lnTo>
              </a:path>
            </a:pathLst>
          </a:custGeom>
          <a:noFill/>
          <a:ln w="13716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94553" y="4359402"/>
            <a:ext cx="164592" cy="1097280"/>
          </a:xfrm>
          <a:custGeom>
            <a:avLst/>
            <a:gdLst/>
            <a:ahLst/>
            <a:cxnLst/>
            <a:rect l="0" t="0" r="0" b="0"/>
            <a:pathLst>
              <a:path w="164592" h="1097280">
                <a:moveTo>
                  <a:pt x="164592" y="1097280"/>
                </a:moveTo>
                <a:lnTo>
                  <a:pt x="110642" y="1097280"/>
                </a:lnTo>
                <a:lnTo>
                  <a:pt x="109728" y="1097280"/>
                </a:lnTo>
                <a:cubicBezTo>
                  <a:pt x="49126" y="1097280"/>
                  <a:pt x="0" y="1048153"/>
                  <a:pt x="0" y="987552"/>
                </a:cubicBezTo>
                <a:lnTo>
                  <a:pt x="0" y="137160"/>
                </a:lnTo>
                <a:lnTo>
                  <a:pt x="0" y="0"/>
                </a:lnTo>
              </a:path>
            </a:pathLst>
          </a:custGeom>
          <a:noFill/>
          <a:ln w="13716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85609" y="2247138"/>
            <a:ext cx="438912" cy="320040"/>
          </a:xfrm>
          <a:custGeom>
            <a:avLst/>
            <a:gdLst/>
            <a:ahLst/>
            <a:cxnLst/>
            <a:rect l="0" t="0" r="0" b="0"/>
            <a:pathLst>
              <a:path w="438912" h="320040">
                <a:moveTo>
                  <a:pt x="0" y="320040"/>
                </a:moveTo>
                <a:lnTo>
                  <a:pt x="27432" y="320040"/>
                </a:lnTo>
                <a:lnTo>
                  <a:pt x="28346" y="320040"/>
                </a:lnTo>
                <a:cubicBezTo>
                  <a:pt x="69292" y="319789"/>
                  <a:pt x="113021" y="303712"/>
                  <a:pt x="152704" y="274320"/>
                </a:cubicBezTo>
                <a:cubicBezTo>
                  <a:pt x="176663" y="257115"/>
                  <a:pt x="200998" y="215446"/>
                  <a:pt x="219456" y="160020"/>
                </a:cubicBezTo>
                <a:cubicBezTo>
                  <a:pt x="237913" y="104593"/>
                  <a:pt x="262248" y="62924"/>
                  <a:pt x="286207" y="45720"/>
                </a:cubicBezTo>
                <a:cubicBezTo>
                  <a:pt x="325890" y="16327"/>
                  <a:pt x="369619" y="250"/>
                  <a:pt x="410565" y="0"/>
                </a:cubicBezTo>
                <a:lnTo>
                  <a:pt x="411480" y="0"/>
                </a:lnTo>
                <a:lnTo>
                  <a:pt x="438912" y="0"/>
                </a:lnTo>
              </a:path>
            </a:pathLst>
          </a:custGeom>
          <a:noFill/>
          <a:ln w="13716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55641" y="2439162"/>
            <a:ext cx="164592" cy="219456"/>
          </a:xfrm>
          <a:custGeom>
            <a:avLst/>
            <a:gdLst/>
            <a:ahLst/>
            <a:cxnLst/>
            <a:rect l="0" t="0" r="0" b="0"/>
            <a:pathLst>
              <a:path w="164592" h="219456">
                <a:moveTo>
                  <a:pt x="164592" y="0"/>
                </a:moveTo>
                <a:lnTo>
                  <a:pt x="164592" y="109728"/>
                </a:lnTo>
                <a:lnTo>
                  <a:pt x="164592" y="219456"/>
                </a:lnTo>
                <a:lnTo>
                  <a:pt x="82296" y="219456"/>
                </a:lnTo>
                <a:lnTo>
                  <a:pt x="0" y="219456"/>
                </a:lnTo>
              </a:path>
            </a:pathLst>
          </a:custGeom>
          <a:noFill/>
          <a:ln w="13716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155641" y="2439162"/>
            <a:ext cx="164592" cy="658368"/>
          </a:xfrm>
          <a:custGeom>
            <a:avLst/>
            <a:gdLst/>
            <a:ahLst/>
            <a:cxnLst/>
            <a:rect l="0" t="0" r="0" b="0"/>
            <a:pathLst>
              <a:path w="164592" h="658368">
                <a:moveTo>
                  <a:pt x="164592" y="0"/>
                </a:moveTo>
                <a:lnTo>
                  <a:pt x="164592" y="329184"/>
                </a:lnTo>
                <a:lnTo>
                  <a:pt x="164592" y="658368"/>
                </a:lnTo>
                <a:lnTo>
                  <a:pt x="82296" y="658368"/>
                </a:lnTo>
                <a:lnTo>
                  <a:pt x="0" y="658368"/>
                </a:lnTo>
              </a:path>
            </a:pathLst>
          </a:custGeom>
          <a:noFill/>
          <a:ln w="13716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155641" y="2439162"/>
            <a:ext cx="164592" cy="1097280"/>
          </a:xfrm>
          <a:custGeom>
            <a:avLst/>
            <a:gdLst/>
            <a:ahLst/>
            <a:cxnLst/>
            <a:rect l="0" t="0" r="0" b="0"/>
            <a:pathLst>
              <a:path w="164592" h="1097280">
                <a:moveTo>
                  <a:pt x="164592" y="0"/>
                </a:moveTo>
                <a:lnTo>
                  <a:pt x="164592" y="137160"/>
                </a:lnTo>
                <a:lnTo>
                  <a:pt x="164592" y="987552"/>
                </a:lnTo>
                <a:cubicBezTo>
                  <a:pt x="164592" y="1048153"/>
                  <a:pt x="115465" y="1097280"/>
                  <a:pt x="54864" y="1097280"/>
                </a:cubicBezTo>
                <a:lnTo>
                  <a:pt x="53949" y="1097280"/>
                </a:lnTo>
                <a:lnTo>
                  <a:pt x="0" y="1097280"/>
                </a:lnTo>
              </a:path>
            </a:pathLst>
          </a:custGeom>
          <a:noFill/>
          <a:ln w="13716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843977" y="2494026"/>
            <a:ext cx="164592" cy="219456"/>
          </a:xfrm>
          <a:custGeom>
            <a:avLst/>
            <a:gdLst/>
            <a:ahLst/>
            <a:cxnLst/>
            <a:rect l="0" t="0" r="0" b="0"/>
            <a:pathLst>
              <a:path w="164592" h="219456">
                <a:moveTo>
                  <a:pt x="164592" y="219456"/>
                </a:moveTo>
                <a:lnTo>
                  <a:pt x="82296" y="219456"/>
                </a:lnTo>
                <a:lnTo>
                  <a:pt x="0" y="219456"/>
                </a:lnTo>
                <a:lnTo>
                  <a:pt x="0" y="109728"/>
                </a:lnTo>
                <a:lnTo>
                  <a:pt x="0" y="0"/>
                </a:lnTo>
              </a:path>
            </a:pathLst>
          </a:custGeom>
          <a:noFill/>
          <a:ln w="13716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843977" y="2494026"/>
            <a:ext cx="164592" cy="548640"/>
          </a:xfrm>
          <a:custGeom>
            <a:avLst/>
            <a:gdLst/>
            <a:ahLst/>
            <a:cxnLst/>
            <a:rect l="0" t="0" r="0" b="0"/>
            <a:pathLst>
              <a:path w="164592" h="548640">
                <a:moveTo>
                  <a:pt x="164592" y="548640"/>
                </a:moveTo>
                <a:lnTo>
                  <a:pt x="82296" y="548640"/>
                </a:lnTo>
                <a:lnTo>
                  <a:pt x="0" y="548640"/>
                </a:lnTo>
                <a:lnTo>
                  <a:pt x="0" y="274320"/>
                </a:lnTo>
                <a:lnTo>
                  <a:pt x="0" y="0"/>
                </a:lnTo>
              </a:path>
            </a:pathLst>
          </a:custGeom>
          <a:noFill/>
          <a:ln w="13716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843977" y="2494026"/>
            <a:ext cx="164592" cy="877824"/>
          </a:xfrm>
          <a:custGeom>
            <a:avLst/>
            <a:gdLst/>
            <a:ahLst/>
            <a:cxnLst/>
            <a:rect l="0" t="0" r="0" b="0"/>
            <a:pathLst>
              <a:path w="164592" h="877824">
                <a:moveTo>
                  <a:pt x="164592" y="877824"/>
                </a:moveTo>
                <a:lnTo>
                  <a:pt x="110642" y="877824"/>
                </a:lnTo>
                <a:lnTo>
                  <a:pt x="109728" y="877824"/>
                </a:lnTo>
                <a:cubicBezTo>
                  <a:pt x="49126" y="877824"/>
                  <a:pt x="0" y="828697"/>
                  <a:pt x="0" y="768096"/>
                </a:cubicBezTo>
                <a:lnTo>
                  <a:pt x="0" y="109728"/>
                </a:lnTo>
                <a:lnTo>
                  <a:pt x="0" y="0"/>
                </a:lnTo>
              </a:path>
            </a:pathLst>
          </a:custGeom>
          <a:noFill/>
          <a:ln w="13716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82105" y="3481578"/>
            <a:ext cx="9144" cy="384048"/>
          </a:xfrm>
          <a:custGeom>
            <a:avLst/>
            <a:gdLst/>
            <a:ahLst/>
            <a:cxnLst/>
            <a:rect l="0" t="0" r="0" b="0"/>
            <a:pathLst>
              <a:path w="9144" h="384048">
                <a:moveTo>
                  <a:pt x="0" y="0"/>
                </a:moveTo>
                <a:lnTo>
                  <a:pt x="0" y="192024"/>
                </a:lnTo>
                <a:lnTo>
                  <a:pt x="0" y="384048"/>
                </a:lnTo>
              </a:path>
            </a:pathLst>
          </a:custGeom>
          <a:noFill/>
          <a:ln w="13716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594553" y="4359402"/>
            <a:ext cx="164592" cy="219456"/>
          </a:xfrm>
          <a:custGeom>
            <a:avLst/>
            <a:gdLst/>
            <a:ahLst/>
            <a:cxnLst/>
            <a:rect l="0" t="0" r="0" b="0"/>
            <a:pathLst>
              <a:path w="164592" h="219456">
                <a:moveTo>
                  <a:pt x="164592" y="219456"/>
                </a:moveTo>
                <a:lnTo>
                  <a:pt x="82296" y="219456"/>
                </a:lnTo>
                <a:lnTo>
                  <a:pt x="0" y="219456"/>
                </a:lnTo>
                <a:lnTo>
                  <a:pt x="0" y="109728"/>
                </a:lnTo>
                <a:lnTo>
                  <a:pt x="0" y="0"/>
                </a:lnTo>
              </a:path>
            </a:pathLst>
          </a:custGeom>
          <a:noFill/>
          <a:ln w="13716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594553" y="4359402"/>
            <a:ext cx="164592" cy="658368"/>
          </a:xfrm>
          <a:custGeom>
            <a:avLst/>
            <a:gdLst/>
            <a:ahLst/>
            <a:cxnLst/>
            <a:rect l="0" t="0" r="0" b="0"/>
            <a:pathLst>
              <a:path w="164592" h="658368">
                <a:moveTo>
                  <a:pt x="164592" y="658368"/>
                </a:moveTo>
                <a:lnTo>
                  <a:pt x="82296" y="658368"/>
                </a:lnTo>
                <a:lnTo>
                  <a:pt x="0" y="658368"/>
                </a:lnTo>
                <a:lnTo>
                  <a:pt x="0" y="329184"/>
                </a:lnTo>
                <a:lnTo>
                  <a:pt x="0" y="0"/>
                </a:lnTo>
              </a:path>
            </a:pathLst>
          </a:custGeom>
          <a:noFill/>
          <a:ln w="13716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4281" y="2155698"/>
            <a:ext cx="1700784" cy="2688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BA5DE5"/>
                </a:solidFill>
                <a:latin typeface="Roboto"/>
              </a:rPr>
              <a:t>Proposed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9138" y="2841498"/>
            <a:ext cx="740664" cy="5376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69696"/>
                </a:solidFill>
                <a:latin typeface="Roboto"/>
              </a:rPr>
              <a:t>Gen AI
Chatbot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1524" y="2100834"/>
            <a:ext cx="1783080" cy="2688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E88E7"/>
                </a:solidFill>
                <a:latin typeface="Roboto"/>
              </a:rPr>
              <a:t>Problem Statement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39703" y="4021074"/>
            <a:ext cx="1975104" cy="2688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E0CB15"/>
                </a:solidFill>
                <a:latin typeface="Roboto"/>
              </a:rPr>
              <a:t>Business Benefits/ROI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61356" y="2060829"/>
            <a:ext cx="263415" cy="262861"/>
          </a:xfrm>
          <a:custGeom>
            <a:avLst/>
            <a:gdLst/>
            <a:ahLst/>
            <a:cxnLst/>
            <a:rect l="0" t="0" r="0" b="0"/>
            <a:pathLst>
              <a:path w="263415" h="262861">
                <a:moveTo>
                  <a:pt x="194310" y="228600"/>
                </a:moveTo>
                <a:cubicBezTo>
                  <a:pt x="192731" y="228600"/>
                  <a:pt x="191452" y="229879"/>
                  <a:pt x="191452" y="231457"/>
                </a:cubicBezTo>
                <a:cubicBezTo>
                  <a:pt x="191452" y="233035"/>
                  <a:pt x="192731" y="234315"/>
                  <a:pt x="194310" y="234315"/>
                </a:cubicBezTo>
                <a:cubicBezTo>
                  <a:pt x="195888" y="234315"/>
                  <a:pt x="197167" y="233035"/>
                  <a:pt x="197167" y="231457"/>
                </a:cubicBezTo>
                <a:cubicBezTo>
                  <a:pt x="197167" y="229879"/>
                  <a:pt x="195888" y="228600"/>
                  <a:pt x="194310" y="228600"/>
                </a:cubicBezTo>
                <a:moveTo>
                  <a:pt x="194310" y="171450"/>
                </a:moveTo>
                <a:lnTo>
                  <a:pt x="194310" y="205740"/>
                </a:lnTo>
                <a:moveTo>
                  <a:pt x="261678" y="247288"/>
                </a:moveTo>
                <a:cubicBezTo>
                  <a:pt x="263415" y="250588"/>
                  <a:pt x="263280" y="254560"/>
                  <a:pt x="261324" y="257735"/>
                </a:cubicBezTo>
                <a:cubicBezTo>
                  <a:pt x="259344" y="260924"/>
                  <a:pt x="255854" y="262861"/>
                  <a:pt x="252100" y="262855"/>
                </a:cubicBezTo>
                <a:lnTo>
                  <a:pt x="136519" y="262855"/>
                </a:lnTo>
                <a:cubicBezTo>
                  <a:pt x="132765" y="262861"/>
                  <a:pt x="129275" y="260924"/>
                  <a:pt x="127295" y="257734"/>
                </a:cubicBezTo>
                <a:cubicBezTo>
                  <a:pt x="125339" y="254559"/>
                  <a:pt x="125204" y="250588"/>
                  <a:pt x="126941" y="247287"/>
                </a:cubicBezTo>
                <a:lnTo>
                  <a:pt x="184731" y="137159"/>
                </a:lnTo>
                <a:cubicBezTo>
                  <a:pt x="186619" y="133624"/>
                  <a:pt x="190301" y="131416"/>
                  <a:pt x="194310" y="131416"/>
                </a:cubicBezTo>
                <a:cubicBezTo>
                  <a:pt x="198318" y="131416"/>
                  <a:pt x="202000" y="133624"/>
                  <a:pt x="203888" y="137159"/>
                </a:cubicBezTo>
                <a:close/>
                <a:moveTo>
                  <a:pt x="142875" y="154305"/>
                </a:moveTo>
                <a:lnTo>
                  <a:pt x="125730" y="154305"/>
                </a:lnTo>
                <a:lnTo>
                  <a:pt x="80010" y="200025"/>
                </a:lnTo>
                <a:lnTo>
                  <a:pt x="80010" y="154305"/>
                </a:lnTo>
                <a:lnTo>
                  <a:pt x="74295" y="154305"/>
                </a:lnTo>
                <a:cubicBezTo>
                  <a:pt x="33309" y="154191"/>
                  <a:pt x="113" y="120995"/>
                  <a:pt x="0" y="80010"/>
                </a:cubicBezTo>
                <a:cubicBezTo>
                  <a:pt x="0" y="39159"/>
                  <a:pt x="33432" y="0"/>
                  <a:pt x="74295" y="0"/>
                </a:cubicBezTo>
                <a:lnTo>
                  <a:pt x="165735" y="0"/>
                </a:lnTo>
                <a:cubicBezTo>
                  <a:pt x="206597" y="0"/>
                  <a:pt x="240030" y="39159"/>
                  <a:pt x="240030" y="80010"/>
                </a:cubicBezTo>
                <a:cubicBezTo>
                  <a:pt x="240050" y="89820"/>
                  <a:pt x="238107" y="99536"/>
                  <a:pt x="234315" y="108585"/>
                </a:cubicBezTo>
              </a:path>
            </a:pathLst>
          </a:custGeom>
          <a:noFill/>
          <a:ln w="13716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740935" y="2115693"/>
            <a:ext cx="260946" cy="262890"/>
          </a:xfrm>
          <a:custGeom>
            <a:avLst/>
            <a:gdLst/>
            <a:ahLst/>
            <a:cxnLst/>
            <a:rect l="0" t="0" r="0" b="0"/>
            <a:pathLst>
              <a:path w="260946" h="262890">
                <a:moveTo>
                  <a:pt x="89496" y="68580"/>
                </a:moveTo>
                <a:lnTo>
                  <a:pt x="89496" y="13190"/>
                </a:lnTo>
                <a:cubicBezTo>
                  <a:pt x="89496" y="5905"/>
                  <a:pt x="95402" y="0"/>
                  <a:pt x="102687" y="0"/>
                </a:cubicBezTo>
                <a:lnTo>
                  <a:pt x="247756" y="0"/>
                </a:lnTo>
                <a:cubicBezTo>
                  <a:pt x="255041" y="0"/>
                  <a:pt x="260946" y="5905"/>
                  <a:pt x="260946" y="13190"/>
                </a:cubicBezTo>
                <a:lnTo>
                  <a:pt x="260946" y="112539"/>
                </a:lnTo>
                <a:cubicBezTo>
                  <a:pt x="260946" y="119824"/>
                  <a:pt x="255041" y="125730"/>
                  <a:pt x="247756" y="125730"/>
                </a:cubicBezTo>
                <a:lnTo>
                  <a:pt x="185108" y="125730"/>
                </a:lnTo>
                <a:lnTo>
                  <a:pt x="135651" y="160020"/>
                </a:lnTo>
                <a:lnTo>
                  <a:pt x="135651" y="125730"/>
                </a:lnTo>
                <a:lnTo>
                  <a:pt x="114117" y="125730"/>
                </a:lnTo>
                <a:moveTo>
                  <a:pt x="124221" y="34290"/>
                </a:moveTo>
                <a:lnTo>
                  <a:pt x="226211" y="34290"/>
                </a:lnTo>
                <a:moveTo>
                  <a:pt x="124221" y="62865"/>
                </a:moveTo>
                <a:lnTo>
                  <a:pt x="226211" y="62865"/>
                </a:lnTo>
                <a:moveTo>
                  <a:pt x="188412" y="91440"/>
                </a:moveTo>
                <a:lnTo>
                  <a:pt x="124221" y="91440"/>
                </a:lnTo>
                <a:moveTo>
                  <a:pt x="134713" y="250648"/>
                </a:moveTo>
                <a:cubicBezTo>
                  <a:pt x="134707" y="257406"/>
                  <a:pt x="129230" y="262883"/>
                  <a:pt x="122472" y="262890"/>
                </a:cubicBezTo>
                <a:lnTo>
                  <a:pt x="12252" y="262890"/>
                </a:lnTo>
                <a:cubicBezTo>
                  <a:pt x="5490" y="262890"/>
                  <a:pt x="6" y="257411"/>
                  <a:pt x="0" y="250648"/>
                </a:cubicBezTo>
                <a:lnTo>
                  <a:pt x="0" y="220027"/>
                </a:lnTo>
                <a:cubicBezTo>
                  <a:pt x="0" y="182827"/>
                  <a:pt x="30156" y="152670"/>
                  <a:pt x="67356" y="152670"/>
                </a:cubicBezTo>
                <a:cubicBezTo>
                  <a:pt x="104557" y="152670"/>
                  <a:pt x="134713" y="182827"/>
                  <a:pt x="134713" y="220027"/>
                </a:cubicBezTo>
                <a:close/>
                <a:moveTo>
                  <a:pt x="41639" y="194310"/>
                </a:moveTo>
                <a:cubicBezTo>
                  <a:pt x="41639" y="195888"/>
                  <a:pt x="42918" y="197167"/>
                  <a:pt x="44496" y="197167"/>
                </a:cubicBezTo>
                <a:cubicBezTo>
                  <a:pt x="46075" y="197167"/>
                  <a:pt x="47354" y="195888"/>
                  <a:pt x="47354" y="194310"/>
                </a:cubicBezTo>
                <a:cubicBezTo>
                  <a:pt x="47354" y="192731"/>
                  <a:pt x="46075" y="191452"/>
                  <a:pt x="44496" y="191452"/>
                </a:cubicBezTo>
                <a:cubicBezTo>
                  <a:pt x="42918" y="191452"/>
                  <a:pt x="41639" y="192731"/>
                  <a:pt x="41639" y="194310"/>
                </a:cubicBezTo>
                <a:moveTo>
                  <a:pt x="87359" y="194241"/>
                </a:moveTo>
                <a:cubicBezTo>
                  <a:pt x="87359" y="195819"/>
                  <a:pt x="88638" y="197098"/>
                  <a:pt x="90216" y="197098"/>
                </a:cubicBezTo>
                <a:cubicBezTo>
                  <a:pt x="91795" y="197098"/>
                  <a:pt x="93074" y="195819"/>
                  <a:pt x="93074" y="194241"/>
                </a:cubicBezTo>
                <a:cubicBezTo>
                  <a:pt x="93074" y="192663"/>
                  <a:pt x="91795" y="191383"/>
                  <a:pt x="90216" y="191383"/>
                </a:cubicBezTo>
                <a:cubicBezTo>
                  <a:pt x="88638" y="191383"/>
                  <a:pt x="87359" y="192663"/>
                  <a:pt x="87359" y="194241"/>
                </a:cubicBezTo>
                <a:moveTo>
                  <a:pt x="67356" y="128176"/>
                </a:moveTo>
                <a:lnTo>
                  <a:pt x="67356" y="152670"/>
                </a:lnTo>
                <a:moveTo>
                  <a:pt x="48988" y="109808"/>
                </a:moveTo>
                <a:cubicBezTo>
                  <a:pt x="48988" y="99663"/>
                  <a:pt x="57212" y="91440"/>
                  <a:pt x="67356" y="91440"/>
                </a:cubicBezTo>
                <a:cubicBezTo>
                  <a:pt x="77501" y="91440"/>
                  <a:pt x="85725" y="99663"/>
                  <a:pt x="85725" y="109808"/>
                </a:cubicBezTo>
                <a:cubicBezTo>
                  <a:pt x="85725" y="119952"/>
                  <a:pt x="77501" y="128176"/>
                  <a:pt x="67356" y="128176"/>
                </a:cubicBezTo>
                <a:cubicBezTo>
                  <a:pt x="57212" y="128176"/>
                  <a:pt x="48988" y="119952"/>
                  <a:pt x="48988" y="109808"/>
                </a:cubicBezTo>
                <a:moveTo>
                  <a:pt x="134713" y="232200"/>
                </a:moveTo>
                <a:lnTo>
                  <a:pt x="0" y="232200"/>
                </a:lnTo>
              </a:path>
            </a:pathLst>
          </a:custGeom>
          <a:noFill/>
          <a:ln w="13716">
            <a:solidFill>
              <a:srgbClr val="BA5DE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371793" y="2338567"/>
            <a:ext cx="420628" cy="420634"/>
          </a:xfrm>
          <a:custGeom>
            <a:avLst/>
            <a:gdLst/>
            <a:ahLst/>
            <a:cxnLst/>
            <a:rect l="0" t="0" r="0" b="0"/>
            <a:pathLst>
              <a:path w="420628" h="420634">
                <a:moveTo>
                  <a:pt x="152393" y="118882"/>
                </a:moveTo>
                <a:lnTo>
                  <a:pt x="152393" y="24388"/>
                </a:lnTo>
                <a:cubicBezTo>
                  <a:pt x="152393" y="10917"/>
                  <a:pt x="163319" y="0"/>
                  <a:pt x="176790" y="10"/>
                </a:cubicBezTo>
                <a:lnTo>
                  <a:pt x="396246" y="10"/>
                </a:lnTo>
                <a:cubicBezTo>
                  <a:pt x="409709" y="10"/>
                  <a:pt x="420624" y="10924"/>
                  <a:pt x="420624" y="24388"/>
                </a:cubicBezTo>
                <a:lnTo>
                  <a:pt x="420624" y="170692"/>
                </a:lnTo>
                <a:cubicBezTo>
                  <a:pt x="420628" y="177176"/>
                  <a:pt x="418050" y="183395"/>
                  <a:pt x="413458" y="187974"/>
                </a:cubicBezTo>
                <a:cubicBezTo>
                  <a:pt x="408865" y="192552"/>
                  <a:pt x="402639" y="195112"/>
                  <a:pt x="396154" y="195088"/>
                </a:cubicBezTo>
                <a:lnTo>
                  <a:pt x="321173" y="195088"/>
                </a:lnTo>
                <a:lnTo>
                  <a:pt x="249850" y="256042"/>
                </a:lnTo>
                <a:lnTo>
                  <a:pt x="251679" y="195088"/>
                </a:lnTo>
                <a:lnTo>
                  <a:pt x="178308" y="195088"/>
                </a:lnTo>
                <a:moveTo>
                  <a:pt x="338328" y="146314"/>
                </a:moveTo>
                <a:lnTo>
                  <a:pt x="292608" y="45730"/>
                </a:lnTo>
                <a:lnTo>
                  <a:pt x="246888" y="146314"/>
                </a:lnTo>
                <a:moveTo>
                  <a:pt x="257019" y="124021"/>
                </a:moveTo>
                <a:lnTo>
                  <a:pt x="328196" y="124021"/>
                </a:lnTo>
                <a:moveTo>
                  <a:pt x="201168" y="402346"/>
                </a:moveTo>
                <a:cubicBezTo>
                  <a:pt x="201168" y="412446"/>
                  <a:pt x="192980" y="420634"/>
                  <a:pt x="182880" y="420634"/>
                </a:cubicBezTo>
                <a:lnTo>
                  <a:pt x="18288" y="420634"/>
                </a:lnTo>
                <a:cubicBezTo>
                  <a:pt x="8187" y="420634"/>
                  <a:pt x="0" y="412446"/>
                  <a:pt x="0" y="402346"/>
                </a:cubicBezTo>
                <a:lnTo>
                  <a:pt x="0" y="338338"/>
                </a:lnTo>
                <a:cubicBezTo>
                  <a:pt x="0" y="282787"/>
                  <a:pt x="45033" y="237754"/>
                  <a:pt x="100584" y="237754"/>
                </a:cubicBezTo>
                <a:cubicBezTo>
                  <a:pt x="156134" y="237754"/>
                  <a:pt x="201168" y="282787"/>
                  <a:pt x="201168" y="338338"/>
                </a:cubicBezTo>
                <a:close/>
                <a:moveTo>
                  <a:pt x="201168" y="365770"/>
                </a:moveTo>
                <a:lnTo>
                  <a:pt x="0" y="365770"/>
                </a:lnTo>
                <a:moveTo>
                  <a:pt x="54864" y="315478"/>
                </a:moveTo>
                <a:cubicBezTo>
                  <a:pt x="54864" y="318003"/>
                  <a:pt x="56910" y="320050"/>
                  <a:pt x="59436" y="320050"/>
                </a:cubicBezTo>
                <a:cubicBezTo>
                  <a:pt x="61961" y="320050"/>
                  <a:pt x="64008" y="318003"/>
                  <a:pt x="64008" y="315478"/>
                </a:cubicBezTo>
                <a:cubicBezTo>
                  <a:pt x="64008" y="312953"/>
                  <a:pt x="61961" y="310906"/>
                  <a:pt x="59436" y="310906"/>
                </a:cubicBezTo>
                <a:cubicBezTo>
                  <a:pt x="56910" y="310906"/>
                  <a:pt x="54864" y="312953"/>
                  <a:pt x="54864" y="315478"/>
                </a:cubicBezTo>
                <a:moveTo>
                  <a:pt x="137160" y="315478"/>
                </a:moveTo>
                <a:cubicBezTo>
                  <a:pt x="137160" y="318003"/>
                  <a:pt x="139206" y="320050"/>
                  <a:pt x="141732" y="320050"/>
                </a:cubicBezTo>
                <a:cubicBezTo>
                  <a:pt x="144257" y="320050"/>
                  <a:pt x="146304" y="318003"/>
                  <a:pt x="146304" y="315478"/>
                </a:cubicBezTo>
                <a:cubicBezTo>
                  <a:pt x="146304" y="312953"/>
                  <a:pt x="144257" y="310906"/>
                  <a:pt x="141732" y="310906"/>
                </a:cubicBezTo>
                <a:cubicBezTo>
                  <a:pt x="139206" y="310906"/>
                  <a:pt x="137160" y="312953"/>
                  <a:pt x="137160" y="315478"/>
                </a:cubicBezTo>
                <a:moveTo>
                  <a:pt x="100584" y="201178"/>
                </a:moveTo>
                <a:lnTo>
                  <a:pt x="100584" y="237754"/>
                </a:lnTo>
                <a:moveTo>
                  <a:pt x="73152" y="173746"/>
                </a:moveTo>
                <a:cubicBezTo>
                  <a:pt x="73152" y="158595"/>
                  <a:pt x="85433" y="146314"/>
                  <a:pt x="100584" y="146314"/>
                </a:cubicBezTo>
                <a:cubicBezTo>
                  <a:pt x="115734" y="146314"/>
                  <a:pt x="128016" y="158595"/>
                  <a:pt x="128016" y="173746"/>
                </a:cubicBezTo>
                <a:cubicBezTo>
                  <a:pt x="128016" y="188896"/>
                  <a:pt x="115734" y="201178"/>
                  <a:pt x="100584" y="201178"/>
                </a:cubicBezTo>
                <a:cubicBezTo>
                  <a:pt x="85433" y="201178"/>
                  <a:pt x="73152" y="188896"/>
                  <a:pt x="73152" y="173746"/>
                </a:cubicBezTo>
              </a:path>
            </a:pathLst>
          </a:custGeom>
          <a:noFill/>
          <a:ln w="13716">
            <a:solidFill>
              <a:srgbClr val="96969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496392" y="3981069"/>
            <a:ext cx="251185" cy="262902"/>
          </a:xfrm>
          <a:custGeom>
            <a:avLst/>
            <a:gdLst/>
            <a:ahLst/>
            <a:cxnLst/>
            <a:rect l="0" t="0" r="0" b="0"/>
            <a:pathLst>
              <a:path w="251185" h="262902">
                <a:moveTo>
                  <a:pt x="134736" y="250648"/>
                </a:moveTo>
                <a:cubicBezTo>
                  <a:pt x="134730" y="257420"/>
                  <a:pt x="129232" y="262902"/>
                  <a:pt x="122461" y="262890"/>
                </a:cubicBezTo>
                <a:lnTo>
                  <a:pt x="12241" y="262890"/>
                </a:lnTo>
                <a:cubicBezTo>
                  <a:pt x="5483" y="262883"/>
                  <a:pt x="6" y="257406"/>
                  <a:pt x="0" y="250648"/>
                </a:cubicBezTo>
                <a:lnTo>
                  <a:pt x="0" y="220027"/>
                </a:lnTo>
                <a:cubicBezTo>
                  <a:pt x="0" y="182827"/>
                  <a:pt x="30156" y="152670"/>
                  <a:pt x="67356" y="152670"/>
                </a:cubicBezTo>
                <a:cubicBezTo>
                  <a:pt x="104557" y="152670"/>
                  <a:pt x="134713" y="182827"/>
                  <a:pt x="134713" y="220027"/>
                </a:cubicBezTo>
                <a:close/>
                <a:moveTo>
                  <a:pt x="41639" y="194310"/>
                </a:moveTo>
                <a:cubicBezTo>
                  <a:pt x="41639" y="195888"/>
                  <a:pt x="42918" y="197167"/>
                  <a:pt x="44496" y="197167"/>
                </a:cubicBezTo>
                <a:cubicBezTo>
                  <a:pt x="46075" y="197167"/>
                  <a:pt x="47354" y="195888"/>
                  <a:pt x="47354" y="194310"/>
                </a:cubicBezTo>
                <a:cubicBezTo>
                  <a:pt x="47354" y="192731"/>
                  <a:pt x="46075" y="191452"/>
                  <a:pt x="44496" y="191452"/>
                </a:cubicBezTo>
                <a:cubicBezTo>
                  <a:pt x="42918" y="191452"/>
                  <a:pt x="41639" y="192731"/>
                  <a:pt x="41639" y="194310"/>
                </a:cubicBezTo>
                <a:moveTo>
                  <a:pt x="87359" y="194241"/>
                </a:moveTo>
                <a:cubicBezTo>
                  <a:pt x="87359" y="195819"/>
                  <a:pt x="88638" y="197098"/>
                  <a:pt x="90216" y="197098"/>
                </a:cubicBezTo>
                <a:cubicBezTo>
                  <a:pt x="91795" y="197098"/>
                  <a:pt x="93074" y="195819"/>
                  <a:pt x="93074" y="194241"/>
                </a:cubicBezTo>
                <a:cubicBezTo>
                  <a:pt x="93074" y="192663"/>
                  <a:pt x="91795" y="191383"/>
                  <a:pt x="90216" y="191383"/>
                </a:cubicBezTo>
                <a:cubicBezTo>
                  <a:pt x="88638" y="191383"/>
                  <a:pt x="87359" y="192663"/>
                  <a:pt x="87359" y="194241"/>
                </a:cubicBezTo>
                <a:moveTo>
                  <a:pt x="67356" y="128176"/>
                </a:moveTo>
                <a:lnTo>
                  <a:pt x="67356" y="152670"/>
                </a:lnTo>
                <a:moveTo>
                  <a:pt x="48988" y="109808"/>
                </a:moveTo>
                <a:cubicBezTo>
                  <a:pt x="48988" y="99663"/>
                  <a:pt x="57212" y="91440"/>
                  <a:pt x="67356" y="91440"/>
                </a:cubicBezTo>
                <a:cubicBezTo>
                  <a:pt x="77501" y="91440"/>
                  <a:pt x="85725" y="99663"/>
                  <a:pt x="85725" y="109808"/>
                </a:cubicBezTo>
                <a:cubicBezTo>
                  <a:pt x="85725" y="119952"/>
                  <a:pt x="77501" y="128176"/>
                  <a:pt x="67356" y="128176"/>
                </a:cubicBezTo>
                <a:cubicBezTo>
                  <a:pt x="57212" y="128176"/>
                  <a:pt x="48988" y="119952"/>
                  <a:pt x="48988" y="109808"/>
                </a:cubicBezTo>
                <a:moveTo>
                  <a:pt x="134713" y="232200"/>
                </a:moveTo>
                <a:lnTo>
                  <a:pt x="0" y="232200"/>
                </a:lnTo>
                <a:moveTo>
                  <a:pt x="199750" y="34290"/>
                </a:moveTo>
                <a:lnTo>
                  <a:pt x="176513" y="34290"/>
                </a:lnTo>
                <a:cubicBezTo>
                  <a:pt x="169168" y="34295"/>
                  <a:pt x="162857" y="39506"/>
                  <a:pt x="161463" y="46718"/>
                </a:cubicBezTo>
                <a:cubicBezTo>
                  <a:pt x="160070" y="53929"/>
                  <a:pt x="163984" y="61117"/>
                  <a:pt x="170798" y="63859"/>
                </a:cubicBezTo>
                <a:lnTo>
                  <a:pt x="194390" y="73300"/>
                </a:lnTo>
                <a:cubicBezTo>
                  <a:pt x="201204" y="76042"/>
                  <a:pt x="205118" y="83229"/>
                  <a:pt x="203724" y="90441"/>
                </a:cubicBezTo>
                <a:cubicBezTo>
                  <a:pt x="202330" y="97653"/>
                  <a:pt x="196020" y="102864"/>
                  <a:pt x="188675" y="102870"/>
                </a:cubicBezTo>
                <a:lnTo>
                  <a:pt x="165460" y="102870"/>
                </a:lnTo>
                <a:moveTo>
                  <a:pt x="182605" y="114300"/>
                </a:moveTo>
                <a:lnTo>
                  <a:pt x="182605" y="102870"/>
                </a:lnTo>
                <a:moveTo>
                  <a:pt x="182605" y="22860"/>
                </a:moveTo>
                <a:lnTo>
                  <a:pt x="182605" y="34290"/>
                </a:lnTo>
                <a:moveTo>
                  <a:pt x="114025" y="68580"/>
                </a:moveTo>
                <a:cubicBezTo>
                  <a:pt x="114025" y="30704"/>
                  <a:pt x="144729" y="0"/>
                  <a:pt x="182605" y="0"/>
                </a:cubicBezTo>
                <a:cubicBezTo>
                  <a:pt x="220481" y="0"/>
                  <a:pt x="251185" y="30704"/>
                  <a:pt x="251185" y="68580"/>
                </a:cubicBezTo>
                <a:cubicBezTo>
                  <a:pt x="251185" y="106455"/>
                  <a:pt x="220481" y="137160"/>
                  <a:pt x="182605" y="137160"/>
                </a:cubicBezTo>
                <a:cubicBezTo>
                  <a:pt x="144729" y="137160"/>
                  <a:pt x="114025" y="106455"/>
                  <a:pt x="114025" y="68580"/>
                </a:cubicBezTo>
              </a:path>
            </a:pathLst>
          </a:custGeom>
          <a:noFill/>
          <a:ln w="13716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56423F9D-F9D3-F289-5F6E-0D9943E0361B}"/>
              </a:ext>
            </a:extLst>
          </p:cNvPr>
          <p:cNvGrpSpPr/>
          <p:nvPr/>
        </p:nvGrpSpPr>
        <p:grpSpPr>
          <a:xfrm>
            <a:off x="283603" y="34607"/>
            <a:ext cx="3725572" cy="3162696"/>
            <a:chOff x="56944" y="1150712"/>
            <a:chExt cx="5057896" cy="4971735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09A843D4-7693-527E-8DF5-8424E238AFBB}"/>
                </a:ext>
              </a:extLst>
            </p:cNvPr>
            <p:cNvSpPr/>
            <p:nvPr/>
          </p:nvSpPr>
          <p:spPr>
            <a:xfrm>
              <a:off x="1398540" y="1150712"/>
              <a:ext cx="2142213" cy="1660424"/>
            </a:xfrm>
            <a:custGeom>
              <a:avLst/>
              <a:gdLst/>
              <a:ahLst/>
              <a:cxnLst/>
              <a:rect l="0" t="0" r="0" b="0"/>
              <a:pathLst>
                <a:path w="2142213" h="1660424">
                  <a:moveTo>
                    <a:pt x="821448" y="1227268"/>
                  </a:moveTo>
                  <a:cubicBezTo>
                    <a:pt x="792865" y="1232006"/>
                    <a:pt x="762690" y="1229631"/>
                    <a:pt x="734864" y="1219706"/>
                  </a:cubicBezTo>
                  <a:cubicBezTo>
                    <a:pt x="751725" y="1194878"/>
                    <a:pt x="762909" y="1166981"/>
                    <a:pt x="768282" y="1137922"/>
                  </a:cubicBezTo>
                  <a:cubicBezTo>
                    <a:pt x="776903" y="1133417"/>
                    <a:pt x="785133" y="1128128"/>
                    <a:pt x="791991" y="1122448"/>
                  </a:cubicBezTo>
                  <a:cubicBezTo>
                    <a:pt x="797282" y="1118139"/>
                    <a:pt x="802376" y="1113046"/>
                    <a:pt x="807470" y="1107561"/>
                  </a:cubicBezTo>
                  <a:cubicBezTo>
                    <a:pt x="807496" y="1107567"/>
                    <a:pt x="807522" y="1107573"/>
                    <a:pt x="807547" y="1107579"/>
                  </a:cubicBezTo>
                  <a:cubicBezTo>
                    <a:pt x="806551" y="1108582"/>
                    <a:pt x="805924" y="1109215"/>
                    <a:pt x="805838" y="1109305"/>
                  </a:cubicBezTo>
                  <a:cubicBezTo>
                    <a:pt x="847573" y="1151047"/>
                    <a:pt x="897378" y="1191587"/>
                    <a:pt x="944054" y="1229579"/>
                  </a:cubicBezTo>
                  <a:cubicBezTo>
                    <a:pt x="971607" y="1252005"/>
                    <a:pt x="998068" y="1273543"/>
                    <a:pt x="1021134" y="1293916"/>
                  </a:cubicBezTo>
                  <a:cubicBezTo>
                    <a:pt x="976104" y="1306597"/>
                    <a:pt x="926803" y="1304546"/>
                    <a:pt x="884020" y="1284683"/>
                  </a:cubicBezTo>
                  <a:cubicBezTo>
                    <a:pt x="859305" y="1273121"/>
                    <a:pt x="838120" y="1252546"/>
                    <a:pt x="821448" y="1227268"/>
                  </a:cubicBezTo>
                  <a:close/>
                  <a:moveTo>
                    <a:pt x="1277933" y="1253043"/>
                  </a:moveTo>
                  <a:cubicBezTo>
                    <a:pt x="1249985" y="1113060"/>
                    <a:pt x="1253288" y="1005261"/>
                    <a:pt x="1274818" y="911130"/>
                  </a:cubicBezTo>
                  <a:cubicBezTo>
                    <a:pt x="1274819" y="911130"/>
                    <a:pt x="1274818" y="911131"/>
                    <a:pt x="1274818" y="911130"/>
                  </a:cubicBezTo>
                  <a:cubicBezTo>
                    <a:pt x="1292369" y="892396"/>
                    <a:pt x="1307155" y="870142"/>
                    <a:pt x="1318079" y="845439"/>
                  </a:cubicBezTo>
                  <a:cubicBezTo>
                    <a:pt x="1346126" y="868564"/>
                    <a:pt x="1381235" y="883262"/>
                    <a:pt x="1421051" y="885026"/>
                  </a:cubicBezTo>
                  <a:lnTo>
                    <a:pt x="1434314" y="885791"/>
                  </a:lnTo>
                  <a:cubicBezTo>
                    <a:pt x="1443601" y="900952"/>
                    <a:pt x="1454899" y="914348"/>
                    <a:pt x="1468181" y="925005"/>
                  </a:cubicBezTo>
                  <a:cubicBezTo>
                    <a:pt x="1486600" y="939892"/>
                    <a:pt x="1517362" y="950469"/>
                    <a:pt x="1549104" y="953407"/>
                  </a:cubicBezTo>
                  <a:cubicBezTo>
                    <a:pt x="1550084" y="987294"/>
                    <a:pt x="1568306" y="1018438"/>
                    <a:pt x="1603380" y="1033325"/>
                  </a:cubicBezTo>
                  <a:cubicBezTo>
                    <a:pt x="1621602" y="1040964"/>
                    <a:pt x="1651189" y="1041551"/>
                    <a:pt x="1673723" y="1032933"/>
                  </a:cubicBezTo>
                  <a:cubicBezTo>
                    <a:pt x="1700371" y="1060355"/>
                    <a:pt x="1736816" y="1079551"/>
                    <a:pt x="1778159" y="1084840"/>
                  </a:cubicBezTo>
                  <a:cubicBezTo>
                    <a:pt x="1786239" y="1085849"/>
                    <a:pt x="1794177" y="1086339"/>
                    <a:pt x="1801943" y="1086336"/>
                  </a:cubicBezTo>
                  <a:cubicBezTo>
                    <a:pt x="1794192" y="1095482"/>
                    <a:pt x="1785590" y="1104333"/>
                    <a:pt x="1776118" y="1112829"/>
                  </a:cubicBezTo>
                  <a:cubicBezTo>
                    <a:pt x="1770369" y="1117993"/>
                    <a:pt x="1764477" y="1123134"/>
                    <a:pt x="1758445" y="1128188"/>
                  </a:cubicBezTo>
                  <a:cubicBezTo>
                    <a:pt x="1756855" y="1127557"/>
                    <a:pt x="1755241" y="1126984"/>
                    <a:pt x="1753605" y="1126471"/>
                  </a:cubicBezTo>
                  <a:lnTo>
                    <a:pt x="1753545" y="1126576"/>
                  </a:lnTo>
                  <a:cubicBezTo>
                    <a:pt x="1726683" y="1118196"/>
                    <a:pt x="1700513" y="1124754"/>
                    <a:pt x="1681609" y="1140400"/>
                  </a:cubicBezTo>
                  <a:cubicBezTo>
                    <a:pt x="1642729" y="1128996"/>
                    <a:pt x="1598413" y="1132066"/>
                    <a:pt x="1560251" y="1151689"/>
                  </a:cubicBezTo>
                  <a:cubicBezTo>
                    <a:pt x="1513549" y="1175748"/>
                    <a:pt x="1473226" y="1220544"/>
                    <a:pt x="1456660" y="1270669"/>
                  </a:cubicBezTo>
                  <a:cubicBezTo>
                    <a:pt x="1454447" y="1277539"/>
                    <a:pt x="1452777" y="1284809"/>
                    <a:pt x="1451771" y="1292276"/>
                  </a:cubicBezTo>
                  <a:cubicBezTo>
                    <a:pt x="1435426" y="1297889"/>
                    <a:pt x="1418053" y="1301538"/>
                    <a:pt x="1399899" y="1302907"/>
                  </a:cubicBezTo>
                  <a:cubicBezTo>
                    <a:pt x="1361421" y="1305700"/>
                    <a:pt x="1319870" y="1296125"/>
                    <a:pt x="1282363" y="1277305"/>
                  </a:cubicBezTo>
                  <a:cubicBezTo>
                    <a:pt x="1281006" y="1269126"/>
                    <a:pt x="1279530" y="1261035"/>
                    <a:pt x="1277933" y="1253043"/>
                  </a:cubicBezTo>
                  <a:close/>
                  <a:moveTo>
                    <a:pt x="1178116" y="968743"/>
                  </a:moveTo>
                  <a:cubicBezTo>
                    <a:pt x="1177234" y="996810"/>
                    <a:pt x="1175666" y="1024466"/>
                    <a:pt x="1174136" y="1051428"/>
                  </a:cubicBezTo>
                  <a:cubicBezTo>
                    <a:pt x="1167104" y="1175374"/>
                    <a:pt x="1176152" y="1231561"/>
                    <a:pt x="1168802" y="1233795"/>
                  </a:cubicBezTo>
                  <a:cubicBezTo>
                    <a:pt x="1161279" y="1236081"/>
                    <a:pt x="1136578" y="1181842"/>
                    <a:pt x="1059875" y="1085879"/>
                  </a:cubicBezTo>
                  <a:lnTo>
                    <a:pt x="1059868" y="1085871"/>
                  </a:lnTo>
                  <a:cubicBezTo>
                    <a:pt x="1046729" y="1069433"/>
                    <a:pt x="1034290" y="1053871"/>
                    <a:pt x="1023109" y="1038547"/>
                  </a:cubicBezTo>
                  <a:cubicBezTo>
                    <a:pt x="1023096" y="1038561"/>
                    <a:pt x="1023084" y="1038574"/>
                    <a:pt x="1023071" y="1038588"/>
                  </a:cubicBezTo>
                  <a:cubicBezTo>
                    <a:pt x="1045181" y="1013715"/>
                    <a:pt x="1060378" y="985708"/>
                    <a:pt x="1069261" y="955647"/>
                  </a:cubicBezTo>
                  <a:lnTo>
                    <a:pt x="1069534" y="954648"/>
                  </a:lnTo>
                  <a:cubicBezTo>
                    <a:pt x="1105715" y="973271"/>
                    <a:pt x="1143182" y="976766"/>
                    <a:pt x="1178254" y="968710"/>
                  </a:cubicBezTo>
                  <a:cubicBezTo>
                    <a:pt x="1178208" y="968721"/>
                    <a:pt x="1178162" y="968731"/>
                    <a:pt x="1178116" y="968743"/>
                  </a:cubicBezTo>
                  <a:close/>
                  <a:moveTo>
                    <a:pt x="988121" y="1070735"/>
                  </a:moveTo>
                  <a:cubicBezTo>
                    <a:pt x="992822" y="1078080"/>
                    <a:pt x="997602" y="1085353"/>
                    <a:pt x="1002327" y="1092541"/>
                  </a:cubicBezTo>
                  <a:cubicBezTo>
                    <a:pt x="1028681" y="1132637"/>
                    <a:pt x="1053301" y="1170095"/>
                    <a:pt x="1052678" y="1202547"/>
                  </a:cubicBezTo>
                  <a:cubicBezTo>
                    <a:pt x="1051304" y="1201700"/>
                    <a:pt x="1047487" y="1200455"/>
                    <a:pt x="1041617" y="1198540"/>
                  </a:cubicBezTo>
                  <a:cubicBezTo>
                    <a:pt x="1015972" y="1190172"/>
                    <a:pt x="951133" y="1169018"/>
                    <a:pt x="879477" y="1112440"/>
                  </a:cubicBezTo>
                  <a:cubicBezTo>
                    <a:pt x="879396" y="1112448"/>
                    <a:pt x="879318" y="1112455"/>
                    <a:pt x="879238" y="1112462"/>
                  </a:cubicBezTo>
                  <a:cubicBezTo>
                    <a:pt x="917382" y="1108983"/>
                    <a:pt x="954864" y="1095531"/>
                    <a:pt x="988161" y="1070705"/>
                  </a:cubicBezTo>
                  <a:cubicBezTo>
                    <a:pt x="988148" y="1070715"/>
                    <a:pt x="988135" y="1070725"/>
                    <a:pt x="988121" y="1070735"/>
                  </a:cubicBezTo>
                  <a:close/>
                  <a:moveTo>
                    <a:pt x="1819793" y="313073"/>
                  </a:moveTo>
                  <a:cubicBezTo>
                    <a:pt x="1858970" y="313994"/>
                    <a:pt x="1897407" y="323210"/>
                    <a:pt x="1927854" y="339529"/>
                  </a:cubicBezTo>
                  <a:cubicBezTo>
                    <a:pt x="2017987" y="387911"/>
                    <a:pt x="2094403" y="507395"/>
                    <a:pt x="2060310" y="606704"/>
                  </a:cubicBezTo>
                  <a:cubicBezTo>
                    <a:pt x="2075006" y="619044"/>
                    <a:pt x="2088329" y="632168"/>
                    <a:pt x="2098714" y="645487"/>
                  </a:cubicBezTo>
                  <a:lnTo>
                    <a:pt x="2098322" y="645683"/>
                  </a:lnTo>
                  <a:cubicBezTo>
                    <a:pt x="2139078" y="697002"/>
                    <a:pt x="2142213" y="761837"/>
                    <a:pt x="2130848" y="824517"/>
                  </a:cubicBezTo>
                  <a:cubicBezTo>
                    <a:pt x="2119484" y="886806"/>
                    <a:pt x="2080884" y="929703"/>
                    <a:pt x="2024845" y="957321"/>
                  </a:cubicBezTo>
                  <a:cubicBezTo>
                    <a:pt x="2002116" y="968486"/>
                    <a:pt x="1975663" y="979847"/>
                    <a:pt x="1949604" y="983568"/>
                  </a:cubicBezTo>
                  <a:cubicBezTo>
                    <a:pt x="1926679" y="1052320"/>
                    <a:pt x="1859667" y="1095021"/>
                    <a:pt x="1778156" y="1084836"/>
                  </a:cubicBezTo>
                  <a:cubicBezTo>
                    <a:pt x="1736813" y="1079547"/>
                    <a:pt x="1700368" y="1060351"/>
                    <a:pt x="1673720" y="1032929"/>
                  </a:cubicBezTo>
                  <a:cubicBezTo>
                    <a:pt x="1651186" y="1041547"/>
                    <a:pt x="1621600" y="1040960"/>
                    <a:pt x="1603377" y="1033321"/>
                  </a:cubicBezTo>
                  <a:cubicBezTo>
                    <a:pt x="1568304" y="1018435"/>
                    <a:pt x="1550081" y="987290"/>
                    <a:pt x="1549101" y="953403"/>
                  </a:cubicBezTo>
                  <a:cubicBezTo>
                    <a:pt x="1517359" y="950466"/>
                    <a:pt x="1486597" y="939888"/>
                    <a:pt x="1468178" y="925002"/>
                  </a:cubicBezTo>
                  <a:cubicBezTo>
                    <a:pt x="1454793" y="914261"/>
                    <a:pt x="1443422" y="900739"/>
                    <a:pt x="1434094" y="885431"/>
                  </a:cubicBezTo>
                  <a:cubicBezTo>
                    <a:pt x="1469375" y="883916"/>
                    <a:pt x="1506832" y="870539"/>
                    <a:pt x="1538121" y="848992"/>
                  </a:cubicBezTo>
                  <a:cubicBezTo>
                    <a:pt x="1560850" y="882487"/>
                    <a:pt x="1607484" y="896786"/>
                    <a:pt x="1646476" y="880920"/>
                  </a:cubicBezTo>
                  <a:cubicBezTo>
                    <a:pt x="1678805" y="867796"/>
                    <a:pt x="1707413" y="831755"/>
                    <a:pt x="1716230" y="794147"/>
                  </a:cubicBezTo>
                  <a:cubicBezTo>
                    <a:pt x="1747581" y="789642"/>
                    <a:pt x="1779127" y="774167"/>
                    <a:pt x="1813613" y="748312"/>
                  </a:cubicBezTo>
                  <a:cubicBezTo>
                    <a:pt x="1876509" y="701106"/>
                    <a:pt x="1926278" y="632549"/>
                    <a:pt x="1937839" y="553416"/>
                  </a:cubicBezTo>
                  <a:cubicBezTo>
                    <a:pt x="1950183" y="468406"/>
                    <a:pt x="1907076" y="399066"/>
                    <a:pt x="1835558" y="355581"/>
                  </a:cubicBezTo>
                  <a:lnTo>
                    <a:pt x="1835558" y="355973"/>
                  </a:lnTo>
                  <a:cubicBezTo>
                    <a:pt x="1831247" y="353427"/>
                    <a:pt x="1826937" y="351077"/>
                    <a:pt x="1822626" y="348726"/>
                  </a:cubicBezTo>
                  <a:cubicBezTo>
                    <a:pt x="1822626" y="336896"/>
                    <a:pt x="1821651" y="324976"/>
                    <a:pt x="1819793" y="313073"/>
                  </a:cubicBezTo>
                  <a:close/>
                  <a:moveTo>
                    <a:pt x="1753604" y="1126469"/>
                  </a:moveTo>
                  <a:cubicBezTo>
                    <a:pt x="1783271" y="1135769"/>
                    <a:pt x="1805550" y="1164848"/>
                    <a:pt x="1814636" y="1196792"/>
                  </a:cubicBezTo>
                  <a:cubicBezTo>
                    <a:pt x="1827396" y="1198288"/>
                    <a:pt x="1839858" y="1201989"/>
                    <a:pt x="1851779" y="1208312"/>
                  </a:cubicBezTo>
                  <a:cubicBezTo>
                    <a:pt x="1932688" y="1251670"/>
                    <a:pt x="1973759" y="1383298"/>
                    <a:pt x="1911860" y="1456314"/>
                  </a:cubicBezTo>
                  <a:cubicBezTo>
                    <a:pt x="1935355" y="1502310"/>
                    <a:pt x="1933277" y="1557444"/>
                    <a:pt x="1885665" y="1594397"/>
                  </a:cubicBezTo>
                  <a:cubicBezTo>
                    <a:pt x="1851102" y="1621271"/>
                    <a:pt x="1795499" y="1634739"/>
                    <a:pt x="1756703" y="1617652"/>
                  </a:cubicBezTo>
                  <a:cubicBezTo>
                    <a:pt x="1731228" y="1636493"/>
                    <a:pt x="1691381" y="1639767"/>
                    <a:pt x="1658162" y="1629395"/>
                  </a:cubicBezTo>
                  <a:cubicBezTo>
                    <a:pt x="1624259" y="1660424"/>
                    <a:pt x="1560040" y="1654379"/>
                    <a:pt x="1520536" y="1626959"/>
                  </a:cubicBezTo>
                  <a:cubicBezTo>
                    <a:pt x="1487760" y="1604262"/>
                    <a:pt x="1471688" y="1563950"/>
                    <a:pt x="1478078" y="1528079"/>
                  </a:cubicBezTo>
                  <a:cubicBezTo>
                    <a:pt x="1438225" y="1508006"/>
                    <a:pt x="1405478" y="1474421"/>
                    <a:pt x="1398595" y="1433124"/>
                  </a:cubicBezTo>
                  <a:cubicBezTo>
                    <a:pt x="1390130" y="1382527"/>
                    <a:pt x="1412208" y="1328875"/>
                    <a:pt x="1451103" y="1298352"/>
                  </a:cubicBezTo>
                  <a:cubicBezTo>
                    <a:pt x="1451915" y="1288756"/>
                    <a:pt x="1453848" y="1279388"/>
                    <a:pt x="1456659" y="1270666"/>
                  </a:cubicBezTo>
                  <a:cubicBezTo>
                    <a:pt x="1473225" y="1220542"/>
                    <a:pt x="1513547" y="1175746"/>
                    <a:pt x="1560249" y="1151687"/>
                  </a:cubicBezTo>
                  <a:cubicBezTo>
                    <a:pt x="1598412" y="1132063"/>
                    <a:pt x="1642728" y="1128993"/>
                    <a:pt x="1681607" y="1140397"/>
                  </a:cubicBezTo>
                  <a:cubicBezTo>
                    <a:pt x="1700512" y="1124752"/>
                    <a:pt x="1726682" y="1118194"/>
                    <a:pt x="1753543" y="1126574"/>
                  </a:cubicBezTo>
                  <a:close/>
                  <a:moveTo>
                    <a:pt x="1836273" y="354911"/>
                  </a:moveTo>
                  <a:cubicBezTo>
                    <a:pt x="1907863" y="398418"/>
                    <a:pt x="1951013" y="467793"/>
                    <a:pt x="1938656" y="552846"/>
                  </a:cubicBezTo>
                  <a:cubicBezTo>
                    <a:pt x="1927084" y="632021"/>
                    <a:pt x="1877266" y="700612"/>
                    <a:pt x="1814306" y="747842"/>
                  </a:cubicBezTo>
                  <a:cubicBezTo>
                    <a:pt x="1779786" y="773710"/>
                    <a:pt x="1748207" y="789192"/>
                    <a:pt x="1716826" y="793700"/>
                  </a:cubicBezTo>
                  <a:cubicBezTo>
                    <a:pt x="1708000" y="831327"/>
                    <a:pt x="1679363" y="867386"/>
                    <a:pt x="1647000" y="880517"/>
                  </a:cubicBezTo>
                  <a:cubicBezTo>
                    <a:pt x="1607969" y="896391"/>
                    <a:pt x="1561289" y="882084"/>
                    <a:pt x="1538537" y="848573"/>
                  </a:cubicBezTo>
                  <a:cubicBezTo>
                    <a:pt x="1503232" y="872874"/>
                    <a:pt x="1460082" y="886788"/>
                    <a:pt x="1421051" y="885024"/>
                  </a:cubicBezTo>
                  <a:cubicBezTo>
                    <a:pt x="1381234" y="883261"/>
                    <a:pt x="1346126" y="868563"/>
                    <a:pt x="1318078" y="845437"/>
                  </a:cubicBezTo>
                  <a:cubicBezTo>
                    <a:pt x="1270417" y="953224"/>
                    <a:pt x="1149204" y="1014368"/>
                    <a:pt x="1045840" y="940093"/>
                  </a:cubicBezTo>
                  <a:cubicBezTo>
                    <a:pt x="991117" y="900899"/>
                    <a:pt x="948752" y="834462"/>
                    <a:pt x="940907" y="767831"/>
                  </a:cubicBezTo>
                  <a:cubicBezTo>
                    <a:pt x="884811" y="771750"/>
                    <a:pt x="833031" y="746470"/>
                    <a:pt x="822244" y="678466"/>
                  </a:cubicBezTo>
                  <a:cubicBezTo>
                    <a:pt x="819498" y="661025"/>
                    <a:pt x="819498" y="643191"/>
                    <a:pt x="821459" y="625945"/>
                  </a:cubicBezTo>
                  <a:cubicBezTo>
                    <a:pt x="735943" y="559705"/>
                    <a:pt x="691027" y="446235"/>
                    <a:pt x="720448" y="333550"/>
                  </a:cubicBezTo>
                  <a:cubicBezTo>
                    <a:pt x="756145" y="196759"/>
                    <a:pt x="922665" y="81329"/>
                    <a:pt x="1062316" y="131107"/>
                  </a:cubicBezTo>
                  <a:cubicBezTo>
                    <a:pt x="1065650" y="125816"/>
                    <a:pt x="1069180" y="120917"/>
                    <a:pt x="1072907" y="116605"/>
                  </a:cubicBezTo>
                  <a:cubicBezTo>
                    <a:pt x="1111742" y="71923"/>
                    <a:pt x="1167053" y="75254"/>
                    <a:pt x="1214714" y="97399"/>
                  </a:cubicBezTo>
                  <a:cubicBezTo>
                    <a:pt x="1242762" y="60164"/>
                    <a:pt x="1282969" y="31356"/>
                    <a:pt x="1325531" y="19989"/>
                  </a:cubicBezTo>
                  <a:cubicBezTo>
                    <a:pt x="1400652" y="0"/>
                    <a:pt x="1481657" y="24301"/>
                    <a:pt x="1528337" y="80546"/>
                  </a:cubicBezTo>
                  <a:cubicBezTo>
                    <a:pt x="1572860" y="63496"/>
                    <a:pt x="1622680" y="64280"/>
                    <a:pt x="1671321" y="93284"/>
                  </a:cubicBezTo>
                  <a:cubicBezTo>
                    <a:pt x="1754288" y="142670"/>
                    <a:pt x="1823327" y="248497"/>
                    <a:pt x="1823327" y="348052"/>
                  </a:cubicBezTo>
                  <a:cubicBezTo>
                    <a:pt x="1827643" y="350404"/>
                    <a:pt x="1831958" y="352755"/>
                    <a:pt x="1836273" y="355303"/>
                  </a:cubicBezTo>
                  <a:close/>
                  <a:moveTo>
                    <a:pt x="735056" y="294664"/>
                  </a:moveTo>
                  <a:cubicBezTo>
                    <a:pt x="729245" y="307447"/>
                    <a:pt x="724530" y="320565"/>
                    <a:pt x="721056" y="333887"/>
                  </a:cubicBezTo>
                  <a:cubicBezTo>
                    <a:pt x="691665" y="446515"/>
                    <a:pt x="736535" y="559927"/>
                    <a:pt x="821965" y="626133"/>
                  </a:cubicBezTo>
                  <a:cubicBezTo>
                    <a:pt x="820006" y="643370"/>
                    <a:pt x="820006" y="661195"/>
                    <a:pt x="822749" y="678627"/>
                  </a:cubicBezTo>
                  <a:cubicBezTo>
                    <a:pt x="833526" y="746596"/>
                    <a:pt x="885253" y="771864"/>
                    <a:pt x="941293" y="767947"/>
                  </a:cubicBezTo>
                  <a:cubicBezTo>
                    <a:pt x="949130" y="834544"/>
                    <a:pt x="991453" y="900946"/>
                    <a:pt x="1046120" y="940121"/>
                  </a:cubicBezTo>
                  <a:cubicBezTo>
                    <a:pt x="1053853" y="945680"/>
                    <a:pt x="1061685" y="950480"/>
                    <a:pt x="1069579" y="954558"/>
                  </a:cubicBezTo>
                  <a:cubicBezTo>
                    <a:pt x="1059785" y="988328"/>
                    <a:pt x="1042061" y="1019530"/>
                    <a:pt x="1015558" y="1046640"/>
                  </a:cubicBezTo>
                  <a:cubicBezTo>
                    <a:pt x="956972" y="1106774"/>
                    <a:pt x="879379" y="1123816"/>
                    <a:pt x="807469" y="1107558"/>
                  </a:cubicBezTo>
                  <a:cubicBezTo>
                    <a:pt x="802375" y="1113043"/>
                    <a:pt x="797281" y="1118135"/>
                    <a:pt x="791990" y="1122445"/>
                  </a:cubicBezTo>
                  <a:cubicBezTo>
                    <a:pt x="785132" y="1128125"/>
                    <a:pt x="776903" y="1133413"/>
                    <a:pt x="768281" y="1137919"/>
                  </a:cubicBezTo>
                  <a:cubicBezTo>
                    <a:pt x="760639" y="1179248"/>
                    <a:pt x="741242" y="1218227"/>
                    <a:pt x="710479" y="1249372"/>
                  </a:cubicBezTo>
                  <a:cubicBezTo>
                    <a:pt x="701465" y="1258382"/>
                    <a:pt x="691668" y="1266413"/>
                    <a:pt x="681479" y="1273856"/>
                  </a:cubicBezTo>
                  <a:cubicBezTo>
                    <a:pt x="666588" y="1346526"/>
                    <a:pt x="626617" y="1407835"/>
                    <a:pt x="543146" y="1428794"/>
                  </a:cubicBezTo>
                  <a:cubicBezTo>
                    <a:pt x="454776" y="1450928"/>
                    <a:pt x="367975" y="1423701"/>
                    <a:pt x="307821" y="1366897"/>
                  </a:cubicBezTo>
                  <a:cubicBezTo>
                    <a:pt x="306352" y="1367191"/>
                    <a:pt x="304980" y="1367533"/>
                    <a:pt x="303609" y="1367877"/>
                  </a:cubicBezTo>
                  <a:cubicBezTo>
                    <a:pt x="302237" y="1368219"/>
                    <a:pt x="300865" y="1368562"/>
                    <a:pt x="299396" y="1368856"/>
                  </a:cubicBezTo>
                  <a:cubicBezTo>
                    <a:pt x="206324" y="1386484"/>
                    <a:pt x="121874" y="1329093"/>
                    <a:pt x="72889" y="1253877"/>
                  </a:cubicBezTo>
                  <a:cubicBezTo>
                    <a:pt x="19789" y="1172393"/>
                    <a:pt x="0" y="1059372"/>
                    <a:pt x="48789" y="971228"/>
                  </a:cubicBezTo>
                  <a:cubicBezTo>
                    <a:pt x="64659" y="942630"/>
                    <a:pt x="86800" y="918930"/>
                    <a:pt x="112861" y="901497"/>
                  </a:cubicBezTo>
                  <a:cubicBezTo>
                    <a:pt x="102084" y="871332"/>
                    <a:pt x="100713" y="837838"/>
                    <a:pt x="111098" y="809240"/>
                  </a:cubicBezTo>
                  <a:cubicBezTo>
                    <a:pt x="122658" y="777116"/>
                    <a:pt x="147346" y="745776"/>
                    <a:pt x="177521" y="725405"/>
                  </a:cubicBezTo>
                  <a:cubicBezTo>
                    <a:pt x="144211" y="636282"/>
                    <a:pt x="155380" y="533251"/>
                    <a:pt x="227682" y="456663"/>
                  </a:cubicBezTo>
                  <a:cubicBezTo>
                    <a:pt x="306842" y="372829"/>
                    <a:pt x="433811" y="333066"/>
                    <a:pt x="540990" y="364994"/>
                  </a:cubicBezTo>
                  <a:cubicBezTo>
                    <a:pt x="572733" y="337767"/>
                    <a:pt x="611725" y="317592"/>
                    <a:pt x="649149" y="306035"/>
                  </a:cubicBezTo>
                  <a:cubicBezTo>
                    <a:pt x="677835" y="297127"/>
                    <a:pt x="706801" y="293538"/>
                    <a:pt x="735056" y="294664"/>
                  </a:cubicBezTo>
                  <a:close/>
                  <a:moveTo>
                    <a:pt x="675425" y="1535771"/>
                  </a:moveTo>
                  <a:cubicBezTo>
                    <a:pt x="670387" y="1507673"/>
                    <a:pt x="671845" y="1478647"/>
                    <a:pt x="690009" y="1455586"/>
                  </a:cubicBezTo>
                  <a:cubicBezTo>
                    <a:pt x="694782" y="1449755"/>
                    <a:pt x="700615" y="1443790"/>
                    <a:pt x="707244" y="1438224"/>
                  </a:cubicBezTo>
                  <a:cubicBezTo>
                    <a:pt x="691998" y="1393691"/>
                    <a:pt x="726204" y="1340146"/>
                    <a:pt x="766640" y="1318543"/>
                  </a:cubicBezTo>
                  <a:cubicBezTo>
                    <a:pt x="799388" y="1300916"/>
                    <a:pt x="852818" y="1301711"/>
                    <a:pt x="881853" y="1328218"/>
                  </a:cubicBezTo>
                  <a:cubicBezTo>
                    <a:pt x="892990" y="1325302"/>
                    <a:pt x="904922" y="1324772"/>
                    <a:pt x="916059" y="1325965"/>
                  </a:cubicBezTo>
                  <a:cubicBezTo>
                    <a:pt x="949469" y="1329544"/>
                    <a:pt x="978637" y="1349689"/>
                    <a:pt x="995475" y="1378582"/>
                  </a:cubicBezTo>
                  <a:cubicBezTo>
                    <a:pt x="1011782" y="1406415"/>
                    <a:pt x="1016953" y="1442597"/>
                    <a:pt x="1004093" y="1472816"/>
                  </a:cubicBezTo>
                  <a:cubicBezTo>
                    <a:pt x="1002502" y="1476394"/>
                    <a:pt x="1000645" y="1479840"/>
                    <a:pt x="998524" y="1483286"/>
                  </a:cubicBezTo>
                  <a:cubicBezTo>
                    <a:pt x="1007937" y="1514830"/>
                    <a:pt x="998921" y="1559760"/>
                    <a:pt x="972671" y="1580833"/>
                  </a:cubicBezTo>
                  <a:cubicBezTo>
                    <a:pt x="964319" y="1587460"/>
                    <a:pt x="950530" y="1592231"/>
                    <a:pt x="936344" y="1593556"/>
                  </a:cubicBezTo>
                  <a:cubicBezTo>
                    <a:pt x="935814" y="1608666"/>
                    <a:pt x="927594" y="1622715"/>
                    <a:pt x="911949" y="1629341"/>
                  </a:cubicBezTo>
                  <a:cubicBezTo>
                    <a:pt x="903729" y="1632788"/>
                    <a:pt x="890603" y="1633053"/>
                    <a:pt x="880395" y="1629209"/>
                  </a:cubicBezTo>
                  <a:cubicBezTo>
                    <a:pt x="868463" y="1641535"/>
                    <a:pt x="852155" y="1650150"/>
                    <a:pt x="833594" y="1652403"/>
                  </a:cubicBezTo>
                  <a:cubicBezTo>
                    <a:pt x="797001" y="1656909"/>
                    <a:pt x="766906" y="1637824"/>
                    <a:pt x="756697" y="1606943"/>
                  </a:cubicBezTo>
                  <a:cubicBezTo>
                    <a:pt x="745030" y="1605220"/>
                    <a:pt x="733231" y="1600184"/>
                    <a:pt x="723022" y="1595147"/>
                  </a:cubicBezTo>
                  <a:cubicBezTo>
                    <a:pt x="697831" y="1582821"/>
                    <a:pt x="680463" y="1563604"/>
                    <a:pt x="675425" y="1535638"/>
                  </a:cubicBezTo>
                  <a:close/>
                </a:path>
              </a:pathLst>
            </a:custGeom>
            <a:noFill/>
            <a:ln w="11074">
              <a:solidFill>
                <a:srgbClr val="92BD39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C1DC708F-CFDE-E444-380E-786D7ECF4D86}"/>
                </a:ext>
              </a:extLst>
            </p:cNvPr>
            <p:cNvSpPr/>
            <p:nvPr/>
          </p:nvSpPr>
          <p:spPr>
            <a:xfrm>
              <a:off x="1711806" y="2061838"/>
              <a:ext cx="1740630" cy="2246793"/>
            </a:xfrm>
            <a:custGeom>
              <a:avLst/>
              <a:gdLst/>
              <a:ahLst/>
              <a:cxnLst/>
              <a:rect l="0" t="0" r="0" b="0"/>
              <a:pathLst>
                <a:path w="1740630" h="2246793">
                  <a:moveTo>
                    <a:pt x="494201" y="196432"/>
                  </a:moveTo>
                  <a:cubicBezTo>
                    <a:pt x="517881" y="201786"/>
                    <a:pt x="542177" y="203529"/>
                    <a:pt x="566208" y="201311"/>
                  </a:cubicBezTo>
                  <a:cubicBezTo>
                    <a:pt x="654267" y="270840"/>
                    <a:pt x="732030" y="286872"/>
                    <a:pt x="739409" y="291417"/>
                  </a:cubicBezTo>
                  <a:cubicBezTo>
                    <a:pt x="740143" y="253147"/>
                    <a:pt x="705774" y="207916"/>
                    <a:pt x="674852" y="159605"/>
                  </a:cubicBezTo>
                  <a:cubicBezTo>
                    <a:pt x="687578" y="150122"/>
                    <a:pt x="699300" y="139281"/>
                    <a:pt x="709840" y="127417"/>
                  </a:cubicBezTo>
                  <a:cubicBezTo>
                    <a:pt x="721022" y="142744"/>
                    <a:pt x="733464" y="158309"/>
                    <a:pt x="746606" y="174749"/>
                  </a:cubicBezTo>
                  <a:cubicBezTo>
                    <a:pt x="898247" y="364465"/>
                    <a:pt x="846638" y="391109"/>
                    <a:pt x="860867" y="140299"/>
                  </a:cubicBezTo>
                  <a:cubicBezTo>
                    <a:pt x="862396" y="113336"/>
                    <a:pt x="863965" y="85680"/>
                    <a:pt x="864846" y="57613"/>
                  </a:cubicBezTo>
                  <a:cubicBezTo>
                    <a:pt x="881552" y="53791"/>
                    <a:pt x="897713" y="47348"/>
                    <a:pt x="912936" y="38671"/>
                  </a:cubicBezTo>
                  <a:cubicBezTo>
                    <a:pt x="912943" y="38803"/>
                    <a:pt x="912950" y="38936"/>
                    <a:pt x="912956" y="39067"/>
                  </a:cubicBezTo>
                  <a:cubicBezTo>
                    <a:pt x="912975" y="38921"/>
                    <a:pt x="912993" y="38775"/>
                    <a:pt x="913011" y="38628"/>
                  </a:cubicBezTo>
                  <a:cubicBezTo>
                    <a:pt x="930664" y="28556"/>
                    <a:pt x="947051" y="15479"/>
                    <a:pt x="961551" y="0"/>
                  </a:cubicBezTo>
                  <a:cubicBezTo>
                    <a:pt x="940020" y="94131"/>
                    <a:pt x="936717" y="201931"/>
                    <a:pt x="964664" y="341914"/>
                  </a:cubicBezTo>
                  <a:cubicBezTo>
                    <a:pt x="967651" y="356858"/>
                    <a:pt x="970214" y="372152"/>
                    <a:pt x="972362" y="387722"/>
                  </a:cubicBezTo>
                  <a:cubicBezTo>
                    <a:pt x="989567" y="512443"/>
                    <a:pt x="1005660" y="610170"/>
                    <a:pt x="972893" y="734478"/>
                  </a:cubicBezTo>
                  <a:cubicBezTo>
                    <a:pt x="988680" y="707946"/>
                    <a:pt x="1051092" y="626261"/>
                    <a:pt x="1126075" y="590175"/>
                  </a:cubicBezTo>
                  <a:cubicBezTo>
                    <a:pt x="1139665" y="603531"/>
                    <a:pt x="1154896" y="611733"/>
                    <a:pt x="1164503" y="616654"/>
                  </a:cubicBezTo>
                  <a:cubicBezTo>
                    <a:pt x="989016" y="683294"/>
                    <a:pt x="938727" y="1012356"/>
                    <a:pt x="994020" y="1149439"/>
                  </a:cubicBezTo>
                  <a:cubicBezTo>
                    <a:pt x="1036788" y="1255467"/>
                    <a:pt x="1213543" y="1311466"/>
                    <a:pt x="1323892" y="1271721"/>
                  </a:cubicBezTo>
                  <a:cubicBezTo>
                    <a:pt x="1434243" y="1231976"/>
                    <a:pt x="1644111" y="1274692"/>
                    <a:pt x="1729228" y="1343080"/>
                  </a:cubicBezTo>
                  <a:cubicBezTo>
                    <a:pt x="1740630" y="1352225"/>
                    <a:pt x="1732542" y="1365082"/>
                    <a:pt x="1718090" y="1356467"/>
                  </a:cubicBezTo>
                  <a:cubicBezTo>
                    <a:pt x="1644509" y="1312995"/>
                    <a:pt x="1472781" y="1300613"/>
                    <a:pt x="1388327" y="1309494"/>
                  </a:cubicBezTo>
                  <a:cubicBezTo>
                    <a:pt x="1448477" y="1341700"/>
                    <a:pt x="1469948" y="1416663"/>
                    <a:pt x="1497174" y="1476918"/>
                  </a:cubicBezTo>
                  <a:cubicBezTo>
                    <a:pt x="1534995" y="1560622"/>
                    <a:pt x="1632300" y="1571600"/>
                    <a:pt x="1661487" y="1568321"/>
                  </a:cubicBezTo>
                  <a:cubicBezTo>
                    <a:pt x="1680278" y="1566211"/>
                    <a:pt x="1685511" y="1595102"/>
                    <a:pt x="1662777" y="1597641"/>
                  </a:cubicBezTo>
                  <a:cubicBezTo>
                    <a:pt x="1578499" y="1607054"/>
                    <a:pt x="1500553" y="1603594"/>
                    <a:pt x="1443636" y="1501235"/>
                  </a:cubicBezTo>
                  <a:cubicBezTo>
                    <a:pt x="1406471" y="1434402"/>
                    <a:pt x="1383932" y="1375439"/>
                    <a:pt x="1314214" y="1365540"/>
                  </a:cubicBezTo>
                  <a:cubicBezTo>
                    <a:pt x="1292673" y="1362510"/>
                    <a:pt x="1269803" y="1368712"/>
                    <a:pt x="1243846" y="1375753"/>
                  </a:cubicBezTo>
                  <a:cubicBezTo>
                    <a:pt x="1193754" y="1389340"/>
                    <a:pt x="1132157" y="1406047"/>
                    <a:pt x="1046402" y="1365540"/>
                  </a:cubicBezTo>
                  <a:cubicBezTo>
                    <a:pt x="1032215" y="1358781"/>
                    <a:pt x="1016306" y="1370710"/>
                    <a:pt x="1018957" y="1386216"/>
                  </a:cubicBezTo>
                  <a:cubicBezTo>
                    <a:pt x="1037316" y="1493622"/>
                    <a:pt x="1151357" y="1589397"/>
                    <a:pt x="1243846" y="1512621"/>
                  </a:cubicBezTo>
                  <a:cubicBezTo>
                    <a:pt x="1251624" y="1506165"/>
                    <a:pt x="1271797" y="1512621"/>
                    <a:pt x="1261063" y="1530221"/>
                  </a:cubicBezTo>
                  <a:cubicBezTo>
                    <a:pt x="1216082" y="1603970"/>
                    <a:pt x="1128059" y="1593417"/>
                    <a:pt x="1132777" y="1611363"/>
                  </a:cubicBezTo>
                  <a:cubicBezTo>
                    <a:pt x="1164038" y="1730269"/>
                    <a:pt x="1289218" y="1703496"/>
                    <a:pt x="1355122" y="1726700"/>
                  </a:cubicBezTo>
                  <a:cubicBezTo>
                    <a:pt x="1421958" y="1750232"/>
                    <a:pt x="1453952" y="1807757"/>
                    <a:pt x="1470066" y="1846322"/>
                  </a:cubicBezTo>
                  <a:cubicBezTo>
                    <a:pt x="1474811" y="1857678"/>
                    <a:pt x="1457695" y="1870575"/>
                    <a:pt x="1448477" y="1858069"/>
                  </a:cubicBezTo>
                  <a:cubicBezTo>
                    <a:pt x="1413933" y="1811200"/>
                    <a:pt x="1379715" y="1755088"/>
                    <a:pt x="1208660" y="1760241"/>
                  </a:cubicBezTo>
                  <a:cubicBezTo>
                    <a:pt x="1224967" y="1857256"/>
                    <a:pt x="1298904" y="1966918"/>
                    <a:pt x="1443636" y="2033137"/>
                  </a:cubicBezTo>
                  <a:cubicBezTo>
                    <a:pt x="1457822" y="2039627"/>
                    <a:pt x="1451270" y="2061760"/>
                    <a:pt x="1434243" y="2056988"/>
                  </a:cubicBezTo>
                  <a:cubicBezTo>
                    <a:pt x="1262531" y="2008872"/>
                    <a:pt x="1193672" y="1954144"/>
                    <a:pt x="1081981" y="1684440"/>
                  </a:cubicBezTo>
                  <a:cubicBezTo>
                    <a:pt x="1035390" y="1571934"/>
                    <a:pt x="932895" y="1479708"/>
                    <a:pt x="926732" y="1546867"/>
                  </a:cubicBezTo>
                  <a:cubicBezTo>
                    <a:pt x="921193" y="1607759"/>
                    <a:pt x="954696" y="1671229"/>
                    <a:pt x="967466" y="1702261"/>
                  </a:cubicBezTo>
                  <a:cubicBezTo>
                    <a:pt x="997913" y="1776259"/>
                    <a:pt x="1085454" y="1988880"/>
                    <a:pt x="1030937" y="2106970"/>
                  </a:cubicBezTo>
                  <a:cubicBezTo>
                    <a:pt x="1025259" y="2119269"/>
                    <a:pt x="1009652" y="2115418"/>
                    <a:pt x="1011567" y="2101356"/>
                  </a:cubicBezTo>
                  <a:cubicBezTo>
                    <a:pt x="1035208" y="1927733"/>
                    <a:pt x="913356" y="1740688"/>
                    <a:pt x="886841" y="1692670"/>
                  </a:cubicBezTo>
                  <a:cubicBezTo>
                    <a:pt x="869565" y="1661386"/>
                    <a:pt x="847044" y="1633973"/>
                    <a:pt x="845317" y="1590471"/>
                  </a:cubicBezTo>
                  <a:cubicBezTo>
                    <a:pt x="804615" y="1683512"/>
                    <a:pt x="787736" y="1767010"/>
                    <a:pt x="796222" y="1865353"/>
                  </a:cubicBezTo>
                  <a:cubicBezTo>
                    <a:pt x="797415" y="1878607"/>
                    <a:pt x="784157" y="1882583"/>
                    <a:pt x="779118" y="1868666"/>
                  </a:cubicBezTo>
                  <a:cubicBezTo>
                    <a:pt x="746106" y="1776951"/>
                    <a:pt x="765861" y="1636727"/>
                    <a:pt x="801260" y="1549252"/>
                  </a:cubicBezTo>
                  <a:cubicBezTo>
                    <a:pt x="808021" y="1532553"/>
                    <a:pt x="790653" y="1516649"/>
                    <a:pt x="774611" y="1524601"/>
                  </a:cubicBezTo>
                  <a:cubicBezTo>
                    <a:pt x="584449" y="1619150"/>
                    <a:pt x="636034" y="1727789"/>
                    <a:pt x="702477" y="1867718"/>
                  </a:cubicBezTo>
                  <a:cubicBezTo>
                    <a:pt x="750407" y="1968660"/>
                    <a:pt x="746239" y="2117075"/>
                    <a:pt x="688306" y="2225853"/>
                  </a:cubicBezTo>
                  <a:cubicBezTo>
                    <a:pt x="684991" y="2246793"/>
                    <a:pt x="665369" y="2245203"/>
                    <a:pt x="664043" y="2225853"/>
                  </a:cubicBezTo>
                  <a:cubicBezTo>
                    <a:pt x="702477" y="2056988"/>
                    <a:pt x="686047" y="1951766"/>
                    <a:pt x="591252" y="1830893"/>
                  </a:cubicBezTo>
                  <a:cubicBezTo>
                    <a:pt x="556388" y="1868666"/>
                    <a:pt x="529008" y="1894737"/>
                    <a:pt x="456661" y="1932287"/>
                  </a:cubicBezTo>
                  <a:cubicBezTo>
                    <a:pt x="384314" y="1969836"/>
                    <a:pt x="339097" y="2044675"/>
                    <a:pt x="329552" y="2053953"/>
                  </a:cubicBezTo>
                  <a:cubicBezTo>
                    <a:pt x="317885" y="2065881"/>
                    <a:pt x="303301" y="2056603"/>
                    <a:pt x="309267" y="2043747"/>
                  </a:cubicBezTo>
                  <a:cubicBezTo>
                    <a:pt x="322765" y="2006651"/>
                    <a:pt x="347431" y="1975016"/>
                    <a:pt x="368931" y="1948033"/>
                  </a:cubicBezTo>
                  <a:cubicBezTo>
                    <a:pt x="410573" y="1895772"/>
                    <a:pt x="555610" y="1829387"/>
                    <a:pt x="564704" y="1671529"/>
                  </a:cubicBezTo>
                  <a:cubicBezTo>
                    <a:pt x="566427" y="1641576"/>
                    <a:pt x="557147" y="1640250"/>
                    <a:pt x="529040" y="1642901"/>
                  </a:cubicBezTo>
                  <a:lnTo>
                    <a:pt x="528775" y="1642901"/>
                  </a:lnTo>
                  <a:cubicBezTo>
                    <a:pt x="413297" y="1665299"/>
                    <a:pt x="344643" y="1729094"/>
                    <a:pt x="297758" y="1829866"/>
                  </a:cubicBezTo>
                  <a:cubicBezTo>
                    <a:pt x="290433" y="1845611"/>
                    <a:pt x="267883" y="1846322"/>
                    <a:pt x="270293" y="1829866"/>
                  </a:cubicBezTo>
                  <a:cubicBezTo>
                    <a:pt x="282131" y="1749029"/>
                    <a:pt x="316284" y="1695331"/>
                    <a:pt x="384314" y="1642901"/>
                  </a:cubicBezTo>
                  <a:cubicBezTo>
                    <a:pt x="452344" y="1590471"/>
                    <a:pt x="649357" y="1540127"/>
                    <a:pt x="688610" y="1437121"/>
                  </a:cubicBezTo>
                  <a:cubicBezTo>
                    <a:pt x="727863" y="1334115"/>
                    <a:pt x="569545" y="1443637"/>
                    <a:pt x="464674" y="1516002"/>
                  </a:cubicBezTo>
                  <a:cubicBezTo>
                    <a:pt x="451283" y="1525147"/>
                    <a:pt x="432722" y="1513086"/>
                    <a:pt x="452344" y="1496652"/>
                  </a:cubicBezTo>
                  <a:cubicBezTo>
                    <a:pt x="484881" y="1453836"/>
                    <a:pt x="526451" y="1411790"/>
                    <a:pt x="568215" y="1386465"/>
                  </a:cubicBezTo>
                  <a:cubicBezTo>
                    <a:pt x="598879" y="1367871"/>
                    <a:pt x="605766" y="1358292"/>
                    <a:pt x="550313" y="1364038"/>
                  </a:cubicBezTo>
                  <a:cubicBezTo>
                    <a:pt x="344965" y="1382911"/>
                    <a:pt x="253056" y="1631603"/>
                    <a:pt x="39984" y="1631603"/>
                  </a:cubicBezTo>
                  <a:cubicBezTo>
                    <a:pt x="25692" y="1631603"/>
                    <a:pt x="22143" y="1609563"/>
                    <a:pt x="35620" y="1606577"/>
                  </a:cubicBezTo>
                  <a:cubicBezTo>
                    <a:pt x="231867" y="1563102"/>
                    <a:pt x="277179" y="1394844"/>
                    <a:pt x="397001" y="1328314"/>
                  </a:cubicBezTo>
                  <a:cubicBezTo>
                    <a:pt x="245879" y="1271721"/>
                    <a:pt x="110393" y="1306590"/>
                    <a:pt x="30968" y="1335697"/>
                  </a:cubicBezTo>
                  <a:cubicBezTo>
                    <a:pt x="8384" y="1343974"/>
                    <a:pt x="0" y="1329620"/>
                    <a:pt x="21207" y="1316878"/>
                  </a:cubicBezTo>
                  <a:cubicBezTo>
                    <a:pt x="225993" y="1193832"/>
                    <a:pt x="525788" y="1294970"/>
                    <a:pt x="591252" y="1251597"/>
                  </a:cubicBezTo>
                  <a:cubicBezTo>
                    <a:pt x="656716" y="1208224"/>
                    <a:pt x="607229" y="1156255"/>
                    <a:pt x="630785" y="1021088"/>
                  </a:cubicBezTo>
                  <a:cubicBezTo>
                    <a:pt x="654342" y="885921"/>
                    <a:pt x="739409" y="850825"/>
                    <a:pt x="618648" y="699873"/>
                  </a:cubicBezTo>
                  <a:cubicBezTo>
                    <a:pt x="621379" y="694515"/>
                    <a:pt x="622861" y="688559"/>
                    <a:pt x="623076" y="682426"/>
                  </a:cubicBezTo>
                  <a:cubicBezTo>
                    <a:pt x="632506" y="681545"/>
                    <a:pt x="641758" y="679142"/>
                    <a:pt x="649357" y="675683"/>
                  </a:cubicBezTo>
                  <a:cubicBezTo>
                    <a:pt x="717025" y="732820"/>
                    <a:pt x="739645" y="800007"/>
                    <a:pt x="739939" y="800888"/>
                  </a:cubicBezTo>
                  <a:cubicBezTo>
                    <a:pt x="797479" y="659604"/>
                    <a:pt x="815908" y="554635"/>
                    <a:pt x="783160" y="470739"/>
                  </a:cubicBezTo>
                  <a:cubicBezTo>
                    <a:pt x="766937" y="429270"/>
                    <a:pt x="702564" y="376873"/>
                    <a:pt x="630785" y="318449"/>
                  </a:cubicBezTo>
                  <a:cubicBezTo>
                    <a:pt x="584109" y="280458"/>
                    <a:pt x="534303" y="239917"/>
                    <a:pt x="492569" y="198175"/>
                  </a:cubicBezTo>
                  <a:cubicBezTo>
                    <a:pt x="493114" y="197599"/>
                    <a:pt x="493657" y="197018"/>
                    <a:pt x="494201" y="196432"/>
                  </a:cubicBezTo>
                  <a:close/>
                </a:path>
              </a:pathLst>
            </a:custGeom>
            <a:noFill/>
            <a:ln w="11074">
              <a:solidFill>
                <a:srgbClr val="DE8431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ED76E97-132D-9F0C-DC1E-9E6239158E97}"/>
                </a:ext>
              </a:extLst>
            </p:cNvPr>
            <p:cNvGrpSpPr/>
            <p:nvPr/>
          </p:nvGrpSpPr>
          <p:grpSpPr>
            <a:xfrm>
              <a:off x="1314386" y="3367718"/>
              <a:ext cx="465151" cy="287951"/>
              <a:chOff x="1140728" y="3001333"/>
              <a:chExt cx="465151" cy="287951"/>
            </a:xfrm>
          </p:grpSpPr>
          <p:sp>
            <p:nvSpPr>
              <p:cNvPr id="20" name="Rounded Rectangle 3">
                <a:extLst>
                  <a:ext uri="{FF2B5EF4-FFF2-40B4-BE49-F238E27FC236}">
                    <a16:creationId xmlns:a16="http://schemas.microsoft.com/office/drawing/2014/main" id="{B2C24308-B616-AAF2-8535-6D40A97458E2}"/>
                  </a:ext>
                </a:extLst>
              </p:cNvPr>
              <p:cNvSpPr/>
              <p:nvPr/>
            </p:nvSpPr>
            <p:spPr>
              <a:xfrm>
                <a:off x="1151803" y="3012408"/>
                <a:ext cx="443001" cy="265800"/>
              </a:xfrm>
              <a:custGeom>
                <a:avLst/>
                <a:gdLst/>
                <a:ahLst/>
                <a:cxnLst/>
                <a:rect l="0" t="0" r="0" b="0"/>
                <a:pathLst>
                  <a:path w="443001" h="265800">
                    <a:moveTo>
                      <a:pt x="0" y="265800"/>
                    </a:moveTo>
                    <a:lnTo>
                      <a:pt x="177200" y="265800"/>
                    </a:lnTo>
                    <a:lnTo>
                      <a:pt x="177200" y="0"/>
                    </a:lnTo>
                    <a:lnTo>
                      <a:pt x="443001" y="0"/>
                    </a:lnTo>
                  </a:path>
                </a:pathLst>
              </a:custGeom>
              <a:noFill/>
              <a:ln w="11074">
                <a:solidFill>
                  <a:srgbClr val="808080"/>
                </a:solidFill>
                <a:prstDash val="dash"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1" name="Rounded Rectangle 4">
                <a:extLst>
                  <a:ext uri="{FF2B5EF4-FFF2-40B4-BE49-F238E27FC236}">
                    <a16:creationId xmlns:a16="http://schemas.microsoft.com/office/drawing/2014/main" id="{D25F687B-CE9B-6FF8-3634-5E5D25A8351E}"/>
                  </a:ext>
                </a:extLst>
              </p:cNvPr>
              <p:cNvSpPr/>
              <p:nvPr/>
            </p:nvSpPr>
            <p:spPr>
              <a:xfrm>
                <a:off x="1140728" y="3267134"/>
                <a:ext cx="22150" cy="22150"/>
              </a:xfrm>
              <a:custGeom>
                <a:avLst/>
                <a:gdLst/>
                <a:ahLst/>
                <a:cxnLst/>
                <a:rect l="0" t="0" r="0" b="0"/>
                <a:pathLst>
                  <a:path w="22150" h="22150">
                    <a:moveTo>
                      <a:pt x="0" y="11075"/>
                    </a:moveTo>
                    <a:cubicBezTo>
                      <a:pt x="0" y="4958"/>
                      <a:pt x="4958" y="0"/>
                      <a:pt x="11075" y="0"/>
                    </a:cubicBezTo>
                    <a:cubicBezTo>
                      <a:pt x="17191" y="0"/>
                      <a:pt x="22150" y="4958"/>
                      <a:pt x="22150" y="11075"/>
                    </a:cubicBezTo>
                    <a:cubicBezTo>
                      <a:pt x="22150" y="17191"/>
                      <a:pt x="17191" y="22150"/>
                      <a:pt x="11075" y="22150"/>
                    </a:cubicBezTo>
                    <a:cubicBezTo>
                      <a:pt x="4958" y="22150"/>
                      <a:pt x="0" y="17191"/>
                      <a:pt x="0" y="11074"/>
                    </a:cubicBezTo>
                    <a:close/>
                  </a:path>
                </a:pathLst>
              </a:custGeom>
              <a:noFill/>
              <a:ln w="11074">
                <a:solidFill>
                  <a:srgbClr val="808080"/>
                </a:solidFill>
                <a:prstDash val="dash"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2" name="Rounded Rectangle 5">
                <a:extLst>
                  <a:ext uri="{FF2B5EF4-FFF2-40B4-BE49-F238E27FC236}">
                    <a16:creationId xmlns:a16="http://schemas.microsoft.com/office/drawing/2014/main" id="{B203602D-8A65-D7D4-F817-B456B90729B9}"/>
                  </a:ext>
                </a:extLst>
              </p:cNvPr>
              <p:cNvSpPr/>
              <p:nvPr/>
            </p:nvSpPr>
            <p:spPr>
              <a:xfrm>
                <a:off x="1583729" y="3001333"/>
                <a:ext cx="22150" cy="22150"/>
              </a:xfrm>
              <a:custGeom>
                <a:avLst/>
                <a:gdLst/>
                <a:ahLst/>
                <a:cxnLst/>
                <a:rect l="0" t="0" r="0" b="0"/>
                <a:pathLst>
                  <a:path w="22150" h="22150">
                    <a:moveTo>
                      <a:pt x="0" y="11075"/>
                    </a:moveTo>
                    <a:cubicBezTo>
                      <a:pt x="0" y="4958"/>
                      <a:pt x="4958" y="0"/>
                      <a:pt x="11075" y="0"/>
                    </a:cubicBezTo>
                    <a:cubicBezTo>
                      <a:pt x="17191" y="0"/>
                      <a:pt x="22150" y="4958"/>
                      <a:pt x="22150" y="11075"/>
                    </a:cubicBezTo>
                    <a:cubicBezTo>
                      <a:pt x="22150" y="17191"/>
                      <a:pt x="17191" y="22150"/>
                      <a:pt x="11075" y="22150"/>
                    </a:cubicBezTo>
                    <a:cubicBezTo>
                      <a:pt x="4958" y="22150"/>
                      <a:pt x="0" y="17191"/>
                      <a:pt x="0" y="11074"/>
                    </a:cubicBezTo>
                    <a:close/>
                  </a:path>
                </a:pathLst>
              </a:custGeom>
              <a:noFill/>
              <a:ln w="11074">
                <a:solidFill>
                  <a:srgbClr val="808080"/>
                </a:solidFill>
                <a:prstDash val="dash"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885781-4DC3-EF6E-36BB-B53A38EB3F5C}"/>
                </a:ext>
              </a:extLst>
            </p:cNvPr>
            <p:cNvGrpSpPr/>
            <p:nvPr/>
          </p:nvGrpSpPr>
          <p:grpSpPr>
            <a:xfrm>
              <a:off x="2731990" y="4077399"/>
              <a:ext cx="553751" cy="995874"/>
              <a:chOff x="2558332" y="3711014"/>
              <a:chExt cx="553751" cy="995874"/>
            </a:xfrm>
          </p:grpSpPr>
          <p:sp>
            <p:nvSpPr>
              <p:cNvPr id="17" name="Rounded Rectangle 7">
                <a:extLst>
                  <a:ext uri="{FF2B5EF4-FFF2-40B4-BE49-F238E27FC236}">
                    <a16:creationId xmlns:a16="http://schemas.microsoft.com/office/drawing/2014/main" id="{EC0B7933-2F72-4BB0-E8F4-493E5C12FFFC}"/>
                  </a:ext>
                </a:extLst>
              </p:cNvPr>
              <p:cNvSpPr/>
              <p:nvPr/>
            </p:nvSpPr>
            <p:spPr>
              <a:xfrm>
                <a:off x="2569407" y="3722089"/>
                <a:ext cx="531601" cy="973723"/>
              </a:xfrm>
              <a:custGeom>
                <a:avLst/>
                <a:gdLst/>
                <a:ahLst/>
                <a:cxnLst/>
                <a:rect l="0" t="0" r="0" b="0"/>
                <a:pathLst>
                  <a:path w="531601" h="973723">
                    <a:moveTo>
                      <a:pt x="0" y="0"/>
                    </a:moveTo>
                    <a:lnTo>
                      <a:pt x="0" y="177200"/>
                    </a:lnTo>
                    <a:lnTo>
                      <a:pt x="531601" y="177200"/>
                    </a:lnTo>
                    <a:lnTo>
                      <a:pt x="531601" y="973723"/>
                    </a:lnTo>
                  </a:path>
                </a:pathLst>
              </a:custGeom>
              <a:noFill/>
              <a:ln w="11074">
                <a:solidFill>
                  <a:srgbClr val="808080"/>
                </a:solidFill>
                <a:prstDash val="dash"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" name="Rounded Rectangle 8">
                <a:extLst>
                  <a:ext uri="{FF2B5EF4-FFF2-40B4-BE49-F238E27FC236}">
                    <a16:creationId xmlns:a16="http://schemas.microsoft.com/office/drawing/2014/main" id="{A098E6CC-E591-2AE8-E9D6-E0E372FE868E}"/>
                  </a:ext>
                </a:extLst>
              </p:cNvPr>
              <p:cNvSpPr/>
              <p:nvPr/>
            </p:nvSpPr>
            <p:spPr>
              <a:xfrm>
                <a:off x="3089933" y="4684738"/>
                <a:ext cx="22150" cy="22150"/>
              </a:xfrm>
              <a:custGeom>
                <a:avLst/>
                <a:gdLst/>
                <a:ahLst/>
                <a:cxnLst/>
                <a:rect l="0" t="0" r="0" b="0"/>
                <a:pathLst>
                  <a:path w="22150" h="22150">
                    <a:moveTo>
                      <a:pt x="0" y="11075"/>
                    </a:moveTo>
                    <a:cubicBezTo>
                      <a:pt x="0" y="4958"/>
                      <a:pt x="4958" y="0"/>
                      <a:pt x="11075" y="0"/>
                    </a:cubicBezTo>
                    <a:cubicBezTo>
                      <a:pt x="17191" y="0"/>
                      <a:pt x="22150" y="4958"/>
                      <a:pt x="22150" y="11075"/>
                    </a:cubicBezTo>
                    <a:cubicBezTo>
                      <a:pt x="22150" y="17191"/>
                      <a:pt x="17191" y="22150"/>
                      <a:pt x="11075" y="22150"/>
                    </a:cubicBezTo>
                    <a:cubicBezTo>
                      <a:pt x="4958" y="22150"/>
                      <a:pt x="0" y="17191"/>
                      <a:pt x="0" y="11074"/>
                    </a:cubicBezTo>
                    <a:close/>
                  </a:path>
                </a:pathLst>
              </a:custGeom>
              <a:noFill/>
              <a:ln w="11074">
                <a:solidFill>
                  <a:srgbClr val="808080"/>
                </a:solidFill>
                <a:prstDash val="dash"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" name="Rounded Rectangle 9">
                <a:extLst>
                  <a:ext uri="{FF2B5EF4-FFF2-40B4-BE49-F238E27FC236}">
                    <a16:creationId xmlns:a16="http://schemas.microsoft.com/office/drawing/2014/main" id="{3249F4B8-BD82-C0F3-8DB3-B7EBDFFEBEED}"/>
                  </a:ext>
                </a:extLst>
              </p:cNvPr>
              <p:cNvSpPr/>
              <p:nvPr/>
            </p:nvSpPr>
            <p:spPr>
              <a:xfrm>
                <a:off x="2558332" y="3711014"/>
                <a:ext cx="22150" cy="22150"/>
              </a:xfrm>
              <a:custGeom>
                <a:avLst/>
                <a:gdLst/>
                <a:ahLst/>
                <a:cxnLst/>
                <a:rect l="0" t="0" r="0" b="0"/>
                <a:pathLst>
                  <a:path w="22150" h="22150">
                    <a:moveTo>
                      <a:pt x="0" y="11075"/>
                    </a:moveTo>
                    <a:cubicBezTo>
                      <a:pt x="0" y="4958"/>
                      <a:pt x="4958" y="0"/>
                      <a:pt x="11075" y="0"/>
                    </a:cubicBezTo>
                    <a:cubicBezTo>
                      <a:pt x="17191" y="0"/>
                      <a:pt x="22150" y="4958"/>
                      <a:pt x="22150" y="11075"/>
                    </a:cubicBezTo>
                    <a:cubicBezTo>
                      <a:pt x="22150" y="17191"/>
                      <a:pt x="17191" y="22150"/>
                      <a:pt x="11075" y="22150"/>
                    </a:cubicBezTo>
                    <a:cubicBezTo>
                      <a:pt x="4958" y="22150"/>
                      <a:pt x="0" y="17191"/>
                      <a:pt x="0" y="11074"/>
                    </a:cubicBezTo>
                    <a:close/>
                  </a:path>
                </a:pathLst>
              </a:custGeom>
              <a:noFill/>
              <a:ln w="11074">
                <a:solidFill>
                  <a:srgbClr val="808080"/>
                </a:solidFill>
                <a:prstDash val="dash"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D528F1A-C77C-9BB4-FE0E-59C9EE9A76EF}"/>
                </a:ext>
              </a:extLst>
            </p:cNvPr>
            <p:cNvGrpSpPr/>
            <p:nvPr/>
          </p:nvGrpSpPr>
          <p:grpSpPr>
            <a:xfrm>
              <a:off x="3352191" y="3367718"/>
              <a:ext cx="465152" cy="287951"/>
              <a:chOff x="3178533" y="3001333"/>
              <a:chExt cx="465152" cy="287951"/>
            </a:xfrm>
          </p:grpSpPr>
          <p:sp>
            <p:nvSpPr>
              <p:cNvPr id="14" name="Rounded Rectangle 11">
                <a:extLst>
                  <a:ext uri="{FF2B5EF4-FFF2-40B4-BE49-F238E27FC236}">
                    <a16:creationId xmlns:a16="http://schemas.microsoft.com/office/drawing/2014/main" id="{5D581586-5F5C-23F4-A54C-A4D9211FE792}"/>
                  </a:ext>
                </a:extLst>
              </p:cNvPr>
              <p:cNvSpPr/>
              <p:nvPr/>
            </p:nvSpPr>
            <p:spPr>
              <a:xfrm>
                <a:off x="3189608" y="3012408"/>
                <a:ext cx="443001" cy="265800"/>
              </a:xfrm>
              <a:custGeom>
                <a:avLst/>
                <a:gdLst/>
                <a:ahLst/>
                <a:cxnLst/>
                <a:rect l="0" t="0" r="0" b="0"/>
                <a:pathLst>
                  <a:path w="443001" h="265800">
                    <a:moveTo>
                      <a:pt x="0" y="0"/>
                    </a:moveTo>
                    <a:lnTo>
                      <a:pt x="265800" y="0"/>
                    </a:lnTo>
                    <a:lnTo>
                      <a:pt x="265800" y="265800"/>
                    </a:lnTo>
                    <a:lnTo>
                      <a:pt x="443001" y="265800"/>
                    </a:lnTo>
                  </a:path>
                </a:pathLst>
              </a:custGeom>
              <a:noFill/>
              <a:ln w="11074">
                <a:solidFill>
                  <a:srgbClr val="808080"/>
                </a:solidFill>
                <a:prstDash val="dash"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5" name="Rounded Rectangle 12">
                <a:extLst>
                  <a:ext uri="{FF2B5EF4-FFF2-40B4-BE49-F238E27FC236}">
                    <a16:creationId xmlns:a16="http://schemas.microsoft.com/office/drawing/2014/main" id="{A7B749CD-6C43-DD6D-BA80-54EFE40D9A2A}"/>
                  </a:ext>
                </a:extLst>
              </p:cNvPr>
              <p:cNvSpPr/>
              <p:nvPr/>
            </p:nvSpPr>
            <p:spPr>
              <a:xfrm>
                <a:off x="3621535" y="3267134"/>
                <a:ext cx="22150" cy="22150"/>
              </a:xfrm>
              <a:custGeom>
                <a:avLst/>
                <a:gdLst/>
                <a:ahLst/>
                <a:cxnLst/>
                <a:rect l="0" t="0" r="0" b="0"/>
                <a:pathLst>
                  <a:path w="22150" h="22150">
                    <a:moveTo>
                      <a:pt x="0" y="11075"/>
                    </a:moveTo>
                    <a:cubicBezTo>
                      <a:pt x="0" y="4958"/>
                      <a:pt x="4958" y="0"/>
                      <a:pt x="11075" y="0"/>
                    </a:cubicBezTo>
                    <a:cubicBezTo>
                      <a:pt x="17191" y="0"/>
                      <a:pt x="22150" y="4958"/>
                      <a:pt x="22150" y="11075"/>
                    </a:cubicBezTo>
                    <a:cubicBezTo>
                      <a:pt x="22150" y="17191"/>
                      <a:pt x="17191" y="22150"/>
                      <a:pt x="11075" y="22150"/>
                    </a:cubicBezTo>
                    <a:cubicBezTo>
                      <a:pt x="4958" y="22150"/>
                      <a:pt x="0" y="17191"/>
                      <a:pt x="0" y="11074"/>
                    </a:cubicBezTo>
                    <a:close/>
                  </a:path>
                </a:pathLst>
              </a:custGeom>
              <a:noFill/>
              <a:ln w="11074">
                <a:solidFill>
                  <a:srgbClr val="808080"/>
                </a:solidFill>
                <a:prstDash val="dash"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6" name="Rounded Rectangle 13">
                <a:extLst>
                  <a:ext uri="{FF2B5EF4-FFF2-40B4-BE49-F238E27FC236}">
                    <a16:creationId xmlns:a16="http://schemas.microsoft.com/office/drawing/2014/main" id="{E43E9D43-EB22-C076-A0D9-8F0AEFDFB7D7}"/>
                  </a:ext>
                </a:extLst>
              </p:cNvPr>
              <p:cNvSpPr/>
              <p:nvPr/>
            </p:nvSpPr>
            <p:spPr>
              <a:xfrm>
                <a:off x="3178533" y="3001333"/>
                <a:ext cx="22150" cy="22150"/>
              </a:xfrm>
              <a:custGeom>
                <a:avLst/>
                <a:gdLst/>
                <a:ahLst/>
                <a:cxnLst/>
                <a:rect l="0" t="0" r="0" b="0"/>
                <a:pathLst>
                  <a:path w="22150" h="22150">
                    <a:moveTo>
                      <a:pt x="0" y="11075"/>
                    </a:moveTo>
                    <a:cubicBezTo>
                      <a:pt x="0" y="4958"/>
                      <a:pt x="4958" y="0"/>
                      <a:pt x="11075" y="0"/>
                    </a:cubicBezTo>
                    <a:cubicBezTo>
                      <a:pt x="17191" y="0"/>
                      <a:pt x="22150" y="4958"/>
                      <a:pt x="22150" y="11075"/>
                    </a:cubicBezTo>
                    <a:cubicBezTo>
                      <a:pt x="22150" y="17191"/>
                      <a:pt x="17191" y="22150"/>
                      <a:pt x="11075" y="22150"/>
                    </a:cubicBezTo>
                    <a:cubicBezTo>
                      <a:pt x="4958" y="22150"/>
                      <a:pt x="0" y="17191"/>
                      <a:pt x="0" y="11074"/>
                    </a:cubicBezTo>
                    <a:close/>
                  </a:path>
                </a:pathLst>
              </a:custGeom>
              <a:noFill/>
              <a:ln w="11074">
                <a:solidFill>
                  <a:srgbClr val="808080"/>
                </a:solidFill>
                <a:prstDash val="dash"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8" name="TextBox 16">
              <a:extLst>
                <a:ext uri="{FF2B5EF4-FFF2-40B4-BE49-F238E27FC236}">
                  <a16:creationId xmlns:a16="http://schemas.microsoft.com/office/drawing/2014/main" id="{B1F6E7F5-F0F7-6B02-1D4B-8B7085920CDA}"/>
                </a:ext>
              </a:extLst>
            </p:cNvPr>
            <p:cNvSpPr txBox="1"/>
            <p:nvPr/>
          </p:nvSpPr>
          <p:spPr>
            <a:xfrm>
              <a:off x="498304" y="3393560"/>
              <a:ext cx="808477" cy="4341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1100" b="1">
                  <a:solidFill>
                    <a:srgbClr val="484848"/>
                  </a:solidFill>
                  <a:latin typeface="Roboto"/>
                </a:rPr>
                <a:t>Complex
ecosystem</a:t>
              </a:r>
            </a:p>
          </p:txBody>
        </p:sp>
        <p:sp>
          <p:nvSpPr>
            <p:cNvPr id="9" name="TextBox 17">
              <a:extLst>
                <a:ext uri="{FF2B5EF4-FFF2-40B4-BE49-F238E27FC236}">
                  <a16:creationId xmlns:a16="http://schemas.microsoft.com/office/drawing/2014/main" id="{EFB2621A-C400-5230-84DE-8B45153BB3B9}"/>
                </a:ext>
              </a:extLst>
            </p:cNvPr>
            <p:cNvSpPr txBox="1"/>
            <p:nvPr/>
          </p:nvSpPr>
          <p:spPr>
            <a:xfrm>
              <a:off x="3909635" y="3393560"/>
              <a:ext cx="1140728" cy="4341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100" b="1">
                  <a:solidFill>
                    <a:srgbClr val="484848"/>
                  </a:solidFill>
                  <a:latin typeface="Roboto"/>
                </a:rPr>
                <a:t>Documentation
gaps</a:t>
              </a:r>
            </a:p>
          </p:txBody>
        </p:sp>
        <p:sp>
          <p:nvSpPr>
            <p:cNvPr id="10" name="TextBox 18">
              <a:extLst>
                <a:ext uri="{FF2B5EF4-FFF2-40B4-BE49-F238E27FC236}">
                  <a16:creationId xmlns:a16="http://schemas.microsoft.com/office/drawing/2014/main" id="{730C7B66-2364-82CF-0621-9767353DF706}"/>
                </a:ext>
              </a:extLst>
            </p:cNvPr>
            <p:cNvSpPr txBox="1"/>
            <p:nvPr/>
          </p:nvSpPr>
          <p:spPr>
            <a:xfrm>
              <a:off x="56944" y="3836561"/>
              <a:ext cx="12551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100" b="0" dirty="0">
                  <a:solidFill>
                    <a:srgbClr val="484848"/>
                  </a:solidFill>
                  <a:latin typeface="Roboto"/>
                </a:rPr>
                <a:t>30+ components</a:t>
              </a:r>
              <a:br>
                <a:rPr lang="en-US" sz="1100" b="0" dirty="0">
                  <a:solidFill>
                    <a:srgbClr val="484848"/>
                  </a:solidFill>
                  <a:latin typeface="Roboto"/>
                </a:rPr>
              </a:br>
              <a:r>
                <a:rPr lang="en-US" sz="1100" b="0" dirty="0">
                  <a:solidFill>
                    <a:srgbClr val="484848"/>
                  </a:solidFill>
                  <a:latin typeface="Roboto"/>
                </a:rPr>
                <a:t>100+ business rules</a:t>
              </a:r>
              <a:endParaRPr sz="1100" b="0" dirty="0">
                <a:solidFill>
                  <a:srgbClr val="484848"/>
                </a:solidFill>
                <a:latin typeface="Roboto"/>
              </a:endParaRPr>
            </a:p>
          </p:txBody>
        </p:sp>
        <p:sp>
          <p:nvSpPr>
            <p:cNvPr id="11" name="TextBox 19">
              <a:extLst>
                <a:ext uri="{FF2B5EF4-FFF2-40B4-BE49-F238E27FC236}">
                  <a16:creationId xmlns:a16="http://schemas.microsoft.com/office/drawing/2014/main" id="{2D9FC0DE-EE6B-E634-B12A-777FE7CF3B72}"/>
                </a:ext>
              </a:extLst>
            </p:cNvPr>
            <p:cNvSpPr txBox="1"/>
            <p:nvPr/>
          </p:nvSpPr>
          <p:spPr>
            <a:xfrm>
              <a:off x="3874436" y="3961707"/>
              <a:ext cx="1240404" cy="868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100" b="0" dirty="0">
                  <a:solidFill>
                    <a:srgbClr val="484848"/>
                  </a:solidFill>
                  <a:latin typeface="Roboto"/>
                </a:rPr>
                <a:t>Hinders
understanding
and increases
onboarding time.</a:t>
              </a:r>
            </a:p>
          </p:txBody>
        </p:sp>
        <p:sp>
          <p:nvSpPr>
            <p:cNvPr id="12" name="TextBox 20">
              <a:extLst>
                <a:ext uri="{FF2B5EF4-FFF2-40B4-BE49-F238E27FC236}">
                  <a16:creationId xmlns:a16="http://schemas.microsoft.com/office/drawing/2014/main" id="{EEF5A1AE-5D7C-0654-F0E4-A70BE5D23DE3}"/>
                </a:ext>
              </a:extLst>
            </p:cNvPr>
            <p:cNvSpPr txBox="1"/>
            <p:nvPr/>
          </p:nvSpPr>
          <p:spPr>
            <a:xfrm>
              <a:off x="1969095" y="4988365"/>
              <a:ext cx="132889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100" b="1" dirty="0">
                  <a:solidFill>
                    <a:srgbClr val="484848"/>
                  </a:solidFill>
                  <a:latin typeface="Roboto"/>
                </a:rPr>
                <a:t>Steep Learning Curve</a:t>
              </a:r>
              <a:endParaRPr sz="1100" b="1" dirty="0">
                <a:solidFill>
                  <a:srgbClr val="484848"/>
                </a:solidFill>
                <a:latin typeface="Roboto"/>
              </a:endParaRPr>
            </a:p>
          </p:txBody>
        </p:sp>
        <p:sp>
          <p:nvSpPr>
            <p:cNvPr id="13" name="TextBox 21">
              <a:extLst>
                <a:ext uri="{FF2B5EF4-FFF2-40B4-BE49-F238E27FC236}">
                  <a16:creationId xmlns:a16="http://schemas.microsoft.com/office/drawing/2014/main" id="{337D0E92-87F7-0800-E19F-6CB3FD267BCD}"/>
                </a:ext>
              </a:extLst>
            </p:cNvPr>
            <p:cNvSpPr txBox="1"/>
            <p:nvPr/>
          </p:nvSpPr>
          <p:spPr>
            <a:xfrm>
              <a:off x="1975344" y="5254165"/>
              <a:ext cx="1295778" cy="868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1100" b="0">
                  <a:solidFill>
                    <a:srgbClr val="484848"/>
                  </a:solidFill>
                  <a:latin typeface="Roboto"/>
                </a:rPr>
                <a:t>Limits
accessibility and
increases learning
curve.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1705B0F-B389-1BCD-E2A3-83326F7E2D8C}"/>
              </a:ext>
            </a:extLst>
          </p:cNvPr>
          <p:cNvGrpSpPr/>
          <p:nvPr/>
        </p:nvGrpSpPr>
        <p:grpSpPr>
          <a:xfrm>
            <a:off x="5200100" y="2186752"/>
            <a:ext cx="3386152" cy="2380061"/>
            <a:chOff x="4491588" y="1603371"/>
            <a:chExt cx="4821317" cy="3651259"/>
          </a:xfrm>
        </p:grpSpPr>
        <p:sp>
          <p:nvSpPr>
            <p:cNvPr id="35" name="Rounded Rectangle 1">
              <a:extLst>
                <a:ext uri="{FF2B5EF4-FFF2-40B4-BE49-F238E27FC236}">
                  <a16:creationId xmlns:a16="http://schemas.microsoft.com/office/drawing/2014/main" id="{0240A95C-D855-79FB-15D3-A03339C67D46}"/>
                </a:ext>
              </a:extLst>
            </p:cNvPr>
            <p:cNvSpPr/>
            <p:nvPr/>
          </p:nvSpPr>
          <p:spPr>
            <a:xfrm>
              <a:off x="4776341" y="4325943"/>
              <a:ext cx="2043154" cy="928687"/>
            </a:xfrm>
            <a:custGeom>
              <a:avLst/>
              <a:gdLst/>
              <a:ahLst/>
              <a:cxnLst/>
              <a:rect l="0" t="0" r="0" b="0"/>
              <a:pathLst>
                <a:path w="2043154" h="928687">
                  <a:moveTo>
                    <a:pt x="31407" y="46427"/>
                  </a:moveTo>
                  <a:cubicBezTo>
                    <a:pt x="21384" y="33963"/>
                    <a:pt x="10399" y="20301"/>
                    <a:pt x="40" y="4762"/>
                  </a:cubicBezTo>
                  <a:cubicBezTo>
                    <a:pt x="0" y="4702"/>
                    <a:pt x="40" y="6"/>
                    <a:pt x="40" y="6"/>
                  </a:cubicBezTo>
                  <a:lnTo>
                    <a:pt x="1714540" y="0"/>
                  </a:lnTo>
                  <a:lnTo>
                    <a:pt x="1714540" y="63509"/>
                  </a:lnTo>
                  <a:cubicBezTo>
                    <a:pt x="1901396" y="97192"/>
                    <a:pt x="2043154" y="260642"/>
                    <a:pt x="2043154" y="457200"/>
                  </a:cubicBezTo>
                  <a:cubicBezTo>
                    <a:pt x="2043154" y="653758"/>
                    <a:pt x="1901396" y="817208"/>
                    <a:pt x="1714540" y="850891"/>
                  </a:cubicBezTo>
                  <a:lnTo>
                    <a:pt x="1714540" y="928687"/>
                  </a:lnTo>
                  <a:lnTo>
                    <a:pt x="990639" y="928687"/>
                  </a:lnTo>
                  <a:cubicBezTo>
                    <a:pt x="987464" y="901700"/>
                    <a:pt x="980161" y="837247"/>
                    <a:pt x="976351" y="795337"/>
                  </a:cubicBezTo>
                  <a:cubicBezTo>
                    <a:pt x="971589" y="742950"/>
                    <a:pt x="947776" y="628650"/>
                    <a:pt x="933489" y="595312"/>
                  </a:cubicBezTo>
                  <a:cubicBezTo>
                    <a:pt x="919201" y="561975"/>
                    <a:pt x="895389" y="528637"/>
                    <a:pt x="838239" y="495300"/>
                  </a:cubicBezTo>
                  <a:cubicBezTo>
                    <a:pt x="781089" y="461962"/>
                    <a:pt x="723939" y="457200"/>
                    <a:pt x="652501" y="457200"/>
                  </a:cubicBezTo>
                  <a:cubicBezTo>
                    <a:pt x="622791" y="457200"/>
                    <a:pt x="596375" y="461318"/>
                    <a:pt x="563319" y="466473"/>
                  </a:cubicBezTo>
                  <a:cubicBezTo>
                    <a:pt x="516895" y="473711"/>
                    <a:pt x="457371" y="482993"/>
                    <a:pt x="357227" y="485775"/>
                  </a:cubicBezTo>
                  <a:cubicBezTo>
                    <a:pt x="188394" y="490465"/>
                    <a:pt x="116544" y="430499"/>
                    <a:pt x="87103" y="405929"/>
                  </a:cubicBezTo>
                  <a:lnTo>
                    <a:pt x="85765" y="404812"/>
                  </a:lnTo>
                  <a:cubicBezTo>
                    <a:pt x="57190" y="381000"/>
                    <a:pt x="52427" y="280987"/>
                    <a:pt x="66715" y="209550"/>
                  </a:cubicBezTo>
                  <a:cubicBezTo>
                    <a:pt x="78020" y="153021"/>
                    <a:pt x="74415" y="138242"/>
                    <a:pt x="70059" y="120377"/>
                  </a:cubicBezTo>
                  <a:cubicBezTo>
                    <a:pt x="68910" y="115665"/>
                    <a:pt x="67708" y="110738"/>
                    <a:pt x="66715" y="104775"/>
                  </a:cubicBezTo>
                  <a:cubicBezTo>
                    <a:pt x="63678" y="86559"/>
                    <a:pt x="49030" y="68343"/>
                    <a:pt x="31407" y="46427"/>
                  </a:cubicBezTo>
                  <a:close/>
                  <a:moveTo>
                    <a:pt x="1643103" y="800100"/>
                  </a:moveTo>
                  <a:cubicBezTo>
                    <a:pt x="1832481" y="800100"/>
                    <a:pt x="1986003" y="646577"/>
                    <a:pt x="1986003" y="457200"/>
                  </a:cubicBezTo>
                  <a:cubicBezTo>
                    <a:pt x="1986003" y="267821"/>
                    <a:pt x="1832481" y="114300"/>
                    <a:pt x="1643103" y="114300"/>
                  </a:cubicBezTo>
                  <a:cubicBezTo>
                    <a:pt x="1453724" y="114300"/>
                    <a:pt x="1300203" y="267821"/>
                    <a:pt x="1300203" y="457200"/>
                  </a:cubicBezTo>
                  <a:cubicBezTo>
                    <a:pt x="1300203" y="646577"/>
                    <a:pt x="1453724" y="800100"/>
                    <a:pt x="1643103" y="800100"/>
                  </a:cubicBezTo>
                  <a:close/>
                </a:path>
              </a:pathLst>
            </a:custGeom>
            <a:noFill/>
            <a:ln w="14287">
              <a:solidFill>
                <a:srgbClr val="E0CB15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6" name="Rounded Rectangle 2">
              <a:extLst>
                <a:ext uri="{FF2B5EF4-FFF2-40B4-BE49-F238E27FC236}">
                  <a16:creationId xmlns:a16="http://schemas.microsoft.com/office/drawing/2014/main" id="{32BF3D8C-5B6D-4AF9-513B-445336FD37BF}"/>
                </a:ext>
              </a:extLst>
            </p:cNvPr>
            <p:cNvSpPr/>
            <p:nvPr/>
          </p:nvSpPr>
          <p:spPr>
            <a:xfrm>
              <a:off x="4491588" y="3411548"/>
              <a:ext cx="2327906" cy="914400"/>
            </a:xfrm>
            <a:custGeom>
              <a:avLst/>
              <a:gdLst/>
              <a:ahLst/>
              <a:cxnLst/>
              <a:rect l="0" t="0" r="0" b="0"/>
              <a:pathLst>
                <a:path w="2327906" h="914400">
                  <a:moveTo>
                    <a:pt x="32384" y="290512"/>
                  </a:moveTo>
                  <a:cubicBezTo>
                    <a:pt x="59373" y="230187"/>
                    <a:pt x="122872" y="94297"/>
                    <a:pt x="160972" y="33337"/>
                  </a:cubicBezTo>
                  <a:cubicBezTo>
                    <a:pt x="167611" y="22716"/>
                    <a:pt x="173972" y="11538"/>
                    <a:pt x="180030" y="0"/>
                  </a:cubicBezTo>
                  <a:lnTo>
                    <a:pt x="1999293" y="0"/>
                  </a:lnTo>
                  <a:lnTo>
                    <a:pt x="1999293" y="63509"/>
                  </a:lnTo>
                  <a:cubicBezTo>
                    <a:pt x="2186149" y="97193"/>
                    <a:pt x="2327906" y="260642"/>
                    <a:pt x="2327906" y="457200"/>
                  </a:cubicBezTo>
                  <a:cubicBezTo>
                    <a:pt x="2327906" y="653757"/>
                    <a:pt x="2186149" y="817206"/>
                    <a:pt x="1999293" y="850890"/>
                  </a:cubicBezTo>
                  <a:lnTo>
                    <a:pt x="1999293" y="914400"/>
                  </a:lnTo>
                  <a:lnTo>
                    <a:pt x="281828" y="914400"/>
                  </a:lnTo>
                  <a:cubicBezTo>
                    <a:pt x="262574" y="881218"/>
                    <a:pt x="269210" y="843820"/>
                    <a:pt x="275268" y="828675"/>
                  </a:cubicBezTo>
                  <a:cubicBezTo>
                    <a:pt x="287025" y="809080"/>
                    <a:pt x="289107" y="802385"/>
                    <a:pt x="292130" y="792666"/>
                  </a:cubicBezTo>
                  <a:cubicBezTo>
                    <a:pt x="292781" y="790575"/>
                    <a:pt x="293474" y="788343"/>
                    <a:pt x="294318" y="785812"/>
                  </a:cubicBezTo>
                  <a:cubicBezTo>
                    <a:pt x="297261" y="776982"/>
                    <a:pt x="285652" y="771790"/>
                    <a:pt x="269608" y="764615"/>
                  </a:cubicBezTo>
                  <a:cubicBezTo>
                    <a:pt x="259693" y="760180"/>
                    <a:pt x="248083" y="754988"/>
                    <a:pt x="237168" y="747712"/>
                  </a:cubicBezTo>
                  <a:cubicBezTo>
                    <a:pt x="214308" y="732472"/>
                    <a:pt x="208593" y="696912"/>
                    <a:pt x="208593" y="681037"/>
                  </a:cubicBezTo>
                  <a:lnTo>
                    <a:pt x="208593" y="523875"/>
                  </a:lnTo>
                  <a:cubicBezTo>
                    <a:pt x="208593" y="495300"/>
                    <a:pt x="189543" y="476250"/>
                    <a:pt x="160968" y="471487"/>
                  </a:cubicBezTo>
                  <a:cubicBezTo>
                    <a:pt x="159606" y="471260"/>
                    <a:pt x="158223" y="471034"/>
                    <a:pt x="156817" y="470802"/>
                  </a:cubicBezTo>
                  <a:lnTo>
                    <a:pt x="156790" y="470798"/>
                  </a:lnTo>
                  <a:cubicBezTo>
                    <a:pt x="128705" y="466191"/>
                    <a:pt x="91783" y="460134"/>
                    <a:pt x="41909" y="423862"/>
                  </a:cubicBezTo>
                  <a:cubicBezTo>
                    <a:pt x="0" y="393382"/>
                    <a:pt x="18097" y="322262"/>
                    <a:pt x="32384" y="290512"/>
                  </a:cubicBezTo>
                  <a:close/>
                  <a:moveTo>
                    <a:pt x="1927856" y="800100"/>
                  </a:moveTo>
                  <a:cubicBezTo>
                    <a:pt x="2117235" y="800100"/>
                    <a:pt x="2270756" y="646577"/>
                    <a:pt x="2270756" y="457200"/>
                  </a:cubicBezTo>
                  <a:cubicBezTo>
                    <a:pt x="2270756" y="267821"/>
                    <a:pt x="2117235" y="114300"/>
                    <a:pt x="1927856" y="114300"/>
                  </a:cubicBezTo>
                  <a:cubicBezTo>
                    <a:pt x="1738478" y="114300"/>
                    <a:pt x="1584956" y="267821"/>
                    <a:pt x="1584956" y="457200"/>
                  </a:cubicBezTo>
                  <a:cubicBezTo>
                    <a:pt x="1584956" y="646577"/>
                    <a:pt x="1738478" y="800100"/>
                    <a:pt x="1927856" y="800100"/>
                  </a:cubicBezTo>
                  <a:close/>
                </a:path>
              </a:pathLst>
            </a:custGeom>
            <a:noFill/>
            <a:ln w="14287">
              <a:solidFill>
                <a:srgbClr val="92BD39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7" name="Rounded Rectangle 3">
              <a:extLst>
                <a:ext uri="{FF2B5EF4-FFF2-40B4-BE49-F238E27FC236}">
                  <a16:creationId xmlns:a16="http://schemas.microsoft.com/office/drawing/2014/main" id="{67361162-11DA-A927-EACC-915ABFC09B06}"/>
                </a:ext>
              </a:extLst>
            </p:cNvPr>
            <p:cNvSpPr/>
            <p:nvPr/>
          </p:nvSpPr>
          <p:spPr>
            <a:xfrm>
              <a:off x="4650966" y="2497148"/>
              <a:ext cx="2168523" cy="914400"/>
            </a:xfrm>
            <a:custGeom>
              <a:avLst/>
              <a:gdLst/>
              <a:ahLst/>
              <a:cxnLst/>
              <a:rect l="0" t="0" r="0" b="0"/>
              <a:pathLst>
                <a:path w="2168523" h="914400">
                  <a:moveTo>
                    <a:pt x="15873" y="500062"/>
                  </a:moveTo>
                  <a:cubicBezTo>
                    <a:pt x="633" y="465772"/>
                    <a:pt x="0" y="288924"/>
                    <a:pt x="1587" y="204787"/>
                  </a:cubicBezTo>
                  <a:cubicBezTo>
                    <a:pt x="1051" y="157598"/>
                    <a:pt x="10767" y="85885"/>
                    <a:pt x="37965" y="0"/>
                  </a:cubicBezTo>
                  <a:lnTo>
                    <a:pt x="1839910" y="0"/>
                  </a:lnTo>
                  <a:lnTo>
                    <a:pt x="1839910" y="63509"/>
                  </a:lnTo>
                  <a:cubicBezTo>
                    <a:pt x="2026766" y="97193"/>
                    <a:pt x="2168523" y="260642"/>
                    <a:pt x="2168523" y="457200"/>
                  </a:cubicBezTo>
                  <a:cubicBezTo>
                    <a:pt x="2168523" y="653757"/>
                    <a:pt x="2026766" y="817206"/>
                    <a:pt x="1839910" y="850890"/>
                  </a:cubicBezTo>
                  <a:lnTo>
                    <a:pt x="1839910" y="914400"/>
                  </a:lnTo>
                  <a:lnTo>
                    <a:pt x="20647" y="914400"/>
                  </a:lnTo>
                  <a:cubicBezTo>
                    <a:pt x="58046" y="843160"/>
                    <a:pt x="83880" y="758131"/>
                    <a:pt x="92077" y="704850"/>
                  </a:cubicBezTo>
                  <a:cubicBezTo>
                    <a:pt x="99380" y="657375"/>
                    <a:pt x="61878" y="587499"/>
                    <a:pt x="35400" y="538165"/>
                  </a:cubicBezTo>
                  <a:cubicBezTo>
                    <a:pt x="27348" y="523161"/>
                    <a:pt x="20315" y="510058"/>
                    <a:pt x="15873" y="500062"/>
                  </a:cubicBezTo>
                  <a:close/>
                  <a:moveTo>
                    <a:pt x="1768477" y="800100"/>
                  </a:moveTo>
                  <a:cubicBezTo>
                    <a:pt x="1957855" y="800100"/>
                    <a:pt x="2111377" y="646577"/>
                    <a:pt x="2111377" y="457200"/>
                  </a:cubicBezTo>
                  <a:cubicBezTo>
                    <a:pt x="2111377" y="267821"/>
                    <a:pt x="1957855" y="114300"/>
                    <a:pt x="1768477" y="114300"/>
                  </a:cubicBezTo>
                  <a:cubicBezTo>
                    <a:pt x="1579099" y="114300"/>
                    <a:pt x="1425577" y="267821"/>
                    <a:pt x="1425577" y="457200"/>
                  </a:cubicBezTo>
                  <a:cubicBezTo>
                    <a:pt x="1425577" y="646577"/>
                    <a:pt x="1579099" y="800100"/>
                    <a:pt x="1768477" y="800100"/>
                  </a:cubicBezTo>
                  <a:close/>
                </a:path>
              </a:pathLst>
            </a:custGeom>
            <a:noFill/>
            <a:ln w="14287">
              <a:solidFill>
                <a:srgbClr val="3CC583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8" name="Rounded Rectangle 4">
              <a:extLst>
                <a:ext uri="{FF2B5EF4-FFF2-40B4-BE49-F238E27FC236}">
                  <a16:creationId xmlns:a16="http://schemas.microsoft.com/office/drawing/2014/main" id="{FD438547-A712-B4C5-F71B-60AF862B885A}"/>
                </a:ext>
              </a:extLst>
            </p:cNvPr>
            <p:cNvSpPr/>
            <p:nvPr/>
          </p:nvSpPr>
          <p:spPr>
            <a:xfrm>
              <a:off x="4688937" y="1603371"/>
              <a:ext cx="2130558" cy="893771"/>
            </a:xfrm>
            <a:custGeom>
              <a:avLst/>
              <a:gdLst/>
              <a:ahLst/>
              <a:cxnLst/>
              <a:rect l="0" t="0" r="0" b="0"/>
              <a:pathLst>
                <a:path w="2130558" h="893771">
                  <a:moveTo>
                    <a:pt x="416059" y="303212"/>
                  </a:moveTo>
                  <a:cubicBezTo>
                    <a:pt x="781819" y="2222"/>
                    <a:pt x="1371735" y="0"/>
                    <a:pt x="1620972" y="36512"/>
                  </a:cubicBezTo>
                  <a:lnTo>
                    <a:pt x="1667662" y="41429"/>
                  </a:lnTo>
                  <a:cubicBezTo>
                    <a:pt x="1688135" y="38199"/>
                    <a:pt x="1709125" y="36521"/>
                    <a:pt x="1730508" y="36521"/>
                  </a:cubicBezTo>
                  <a:cubicBezTo>
                    <a:pt x="1951449" y="36521"/>
                    <a:pt x="2130558" y="215629"/>
                    <a:pt x="2130558" y="436571"/>
                  </a:cubicBezTo>
                  <a:cubicBezTo>
                    <a:pt x="2130558" y="633129"/>
                    <a:pt x="1988800" y="796579"/>
                    <a:pt x="1801945" y="830261"/>
                  </a:cubicBezTo>
                  <a:lnTo>
                    <a:pt x="1801945" y="893771"/>
                  </a:lnTo>
                  <a:lnTo>
                    <a:pt x="0" y="893771"/>
                  </a:lnTo>
                  <a:cubicBezTo>
                    <a:pt x="53322" y="725390"/>
                    <a:pt x="173845" y="502535"/>
                    <a:pt x="416059" y="303212"/>
                  </a:cubicBezTo>
                  <a:close/>
                  <a:moveTo>
                    <a:pt x="1730508" y="779471"/>
                  </a:moveTo>
                  <a:cubicBezTo>
                    <a:pt x="1919886" y="779471"/>
                    <a:pt x="2073408" y="625950"/>
                    <a:pt x="2073408" y="436571"/>
                  </a:cubicBezTo>
                  <a:cubicBezTo>
                    <a:pt x="2073408" y="247192"/>
                    <a:pt x="1919886" y="93671"/>
                    <a:pt x="1730508" y="93671"/>
                  </a:cubicBezTo>
                  <a:cubicBezTo>
                    <a:pt x="1541129" y="93671"/>
                    <a:pt x="1387608" y="247192"/>
                    <a:pt x="1387608" y="436571"/>
                  </a:cubicBezTo>
                  <a:cubicBezTo>
                    <a:pt x="1387608" y="625950"/>
                    <a:pt x="1541129" y="779471"/>
                    <a:pt x="1730508" y="779471"/>
                  </a:cubicBezTo>
                  <a:close/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9" name="TextBox 6">
              <a:extLst>
                <a:ext uri="{FF2B5EF4-FFF2-40B4-BE49-F238E27FC236}">
                  <a16:creationId xmlns:a16="http://schemas.microsoft.com/office/drawing/2014/main" id="{2D49174D-B252-2189-943F-2DDFCA60E64C}"/>
                </a:ext>
              </a:extLst>
            </p:cNvPr>
            <p:cNvSpPr txBox="1"/>
            <p:nvPr/>
          </p:nvSpPr>
          <p:spPr>
            <a:xfrm>
              <a:off x="7012618" y="1776220"/>
              <a:ext cx="2300287" cy="2800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500" b="1">
                  <a:solidFill>
                    <a:srgbClr val="1EABDA"/>
                  </a:solidFill>
                  <a:latin typeface="Roboto"/>
                </a:rPr>
                <a:t>Instant Query Answering</a:t>
              </a:r>
            </a:p>
          </p:txBody>
        </p:sp>
        <p:sp>
          <p:nvSpPr>
            <p:cNvPr id="40" name="TextBox 8">
              <a:extLst>
                <a:ext uri="{FF2B5EF4-FFF2-40B4-BE49-F238E27FC236}">
                  <a16:creationId xmlns:a16="http://schemas.microsoft.com/office/drawing/2014/main" id="{52A2EA20-651A-2A0F-8912-3A29BF1A676F}"/>
                </a:ext>
              </a:extLst>
            </p:cNvPr>
            <p:cNvSpPr txBox="1"/>
            <p:nvPr/>
          </p:nvSpPr>
          <p:spPr>
            <a:xfrm>
              <a:off x="7012618" y="2690620"/>
              <a:ext cx="1600200" cy="2800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500" b="1">
                  <a:solidFill>
                    <a:srgbClr val="3CC583"/>
                  </a:solidFill>
                  <a:latin typeface="Roboto"/>
                </a:rPr>
                <a:t>Code Generation</a:t>
              </a:r>
            </a:p>
          </p:txBody>
        </p:sp>
        <p:sp>
          <p:nvSpPr>
            <p:cNvPr id="41" name="TextBox 10">
              <a:extLst>
                <a:ext uri="{FF2B5EF4-FFF2-40B4-BE49-F238E27FC236}">
                  <a16:creationId xmlns:a16="http://schemas.microsoft.com/office/drawing/2014/main" id="{853503DB-CC97-7A33-623D-6E70EDC1A463}"/>
                </a:ext>
              </a:extLst>
            </p:cNvPr>
            <p:cNvSpPr txBox="1"/>
            <p:nvPr/>
          </p:nvSpPr>
          <p:spPr>
            <a:xfrm>
              <a:off x="7012618" y="3605020"/>
              <a:ext cx="1514475" cy="2800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500" b="1">
                  <a:solidFill>
                    <a:srgbClr val="92BD39"/>
                  </a:solidFill>
                  <a:latin typeface="Roboto"/>
                </a:rPr>
                <a:t>24/7 Availability</a:t>
              </a:r>
            </a:p>
          </p:txBody>
        </p:sp>
        <p:sp>
          <p:nvSpPr>
            <p:cNvPr id="42" name="TextBox 12">
              <a:extLst>
                <a:ext uri="{FF2B5EF4-FFF2-40B4-BE49-F238E27FC236}">
                  <a16:creationId xmlns:a16="http://schemas.microsoft.com/office/drawing/2014/main" id="{4A9091A6-2036-23C5-3F53-A625E74C08F5}"/>
                </a:ext>
              </a:extLst>
            </p:cNvPr>
            <p:cNvSpPr txBox="1"/>
            <p:nvPr/>
          </p:nvSpPr>
          <p:spPr>
            <a:xfrm>
              <a:off x="7012618" y="4462270"/>
              <a:ext cx="1257300" cy="2800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500" b="1">
                  <a:solidFill>
                    <a:srgbClr val="E0CB15"/>
                  </a:solidFill>
                  <a:latin typeface="Roboto"/>
                </a:rPr>
                <a:t>User Support</a:t>
              </a:r>
            </a:p>
          </p:txBody>
        </p:sp>
        <p:sp>
          <p:nvSpPr>
            <p:cNvPr id="43" name="Rounded Rectangle 14">
              <a:extLst>
                <a:ext uri="{FF2B5EF4-FFF2-40B4-BE49-F238E27FC236}">
                  <a16:creationId xmlns:a16="http://schemas.microsoft.com/office/drawing/2014/main" id="{EF8696A8-E4F4-A96F-3BD7-1DD1C0EB2884}"/>
                </a:ext>
              </a:extLst>
            </p:cNvPr>
            <p:cNvSpPr/>
            <p:nvPr/>
          </p:nvSpPr>
          <p:spPr>
            <a:xfrm>
              <a:off x="6198078" y="1830648"/>
              <a:ext cx="441071" cy="436281"/>
            </a:xfrm>
            <a:custGeom>
              <a:avLst/>
              <a:gdLst/>
              <a:ahLst/>
              <a:cxnLst/>
              <a:rect l="0" t="0" r="0" b="0"/>
              <a:pathLst>
                <a:path w="441071" h="436281">
                  <a:moveTo>
                    <a:pt x="435934" y="197902"/>
                  </a:moveTo>
                  <a:cubicBezTo>
                    <a:pt x="441071" y="273525"/>
                    <a:pt x="405494" y="346150"/>
                    <a:pt x="342593" y="388443"/>
                  </a:cubicBezTo>
                  <a:cubicBezTo>
                    <a:pt x="279691" y="430737"/>
                    <a:pt x="199011" y="436281"/>
                    <a:pt x="130916" y="402989"/>
                  </a:cubicBezTo>
                  <a:lnTo>
                    <a:pt x="11717" y="424542"/>
                  </a:lnTo>
                  <a:lnTo>
                    <a:pt x="47314" y="329837"/>
                  </a:lnTo>
                  <a:cubicBezTo>
                    <a:pt x="4523" y="265572"/>
                    <a:pt x="0" y="183141"/>
                    <a:pt x="35502" y="114580"/>
                  </a:cubicBezTo>
                  <a:cubicBezTo>
                    <a:pt x="71004" y="46020"/>
                    <a:pt x="140933" y="2142"/>
                    <a:pt x="218110" y="0"/>
                  </a:cubicBezTo>
                  <a:moveTo>
                    <a:pt x="436260" y="0"/>
                  </a:moveTo>
                  <a:lnTo>
                    <a:pt x="305632" y="146957"/>
                  </a:lnTo>
                  <a:lnTo>
                    <a:pt x="240317" y="97971"/>
                  </a:lnTo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9E187637-60F1-06C8-7CBE-44A06C6F0E2E}"/>
                </a:ext>
              </a:extLst>
            </p:cNvPr>
            <p:cNvSpPr/>
            <p:nvPr/>
          </p:nvSpPr>
          <p:spPr>
            <a:xfrm>
              <a:off x="6202993" y="2757295"/>
              <a:ext cx="428625" cy="400050"/>
            </a:xfrm>
            <a:custGeom>
              <a:avLst/>
              <a:gdLst/>
              <a:ahLst/>
              <a:cxnLst/>
              <a:rect l="0" t="0" r="0" b="0"/>
              <a:pathLst>
                <a:path w="428625" h="400050">
                  <a:moveTo>
                    <a:pt x="209550" y="304800"/>
                  </a:moveTo>
                  <a:lnTo>
                    <a:pt x="266700" y="304800"/>
                  </a:lnTo>
                  <a:cubicBezTo>
                    <a:pt x="308784" y="304800"/>
                    <a:pt x="342900" y="338915"/>
                    <a:pt x="342900" y="381000"/>
                  </a:cubicBezTo>
                  <a:lnTo>
                    <a:pt x="0" y="381000"/>
                  </a:lnTo>
                  <a:moveTo>
                    <a:pt x="0" y="228600"/>
                  </a:moveTo>
                  <a:lnTo>
                    <a:pt x="133350" y="228600"/>
                  </a:lnTo>
                  <a:cubicBezTo>
                    <a:pt x="175434" y="228600"/>
                    <a:pt x="209550" y="262715"/>
                    <a:pt x="209550" y="304800"/>
                  </a:cubicBezTo>
                  <a:lnTo>
                    <a:pt x="123825" y="304800"/>
                  </a:lnTo>
                  <a:moveTo>
                    <a:pt x="0" y="400050"/>
                  </a:moveTo>
                  <a:lnTo>
                    <a:pt x="0" y="209550"/>
                  </a:lnTo>
                  <a:moveTo>
                    <a:pt x="352425" y="9525"/>
                  </a:moveTo>
                  <a:lnTo>
                    <a:pt x="428625" y="85725"/>
                  </a:lnTo>
                  <a:lnTo>
                    <a:pt x="352425" y="161925"/>
                  </a:lnTo>
                  <a:moveTo>
                    <a:pt x="200025" y="161925"/>
                  </a:moveTo>
                  <a:lnTo>
                    <a:pt x="123825" y="85725"/>
                  </a:lnTo>
                  <a:lnTo>
                    <a:pt x="200025" y="9525"/>
                  </a:lnTo>
                  <a:moveTo>
                    <a:pt x="257175" y="171450"/>
                  </a:moveTo>
                  <a:lnTo>
                    <a:pt x="295275" y="0"/>
                  </a:lnTo>
                </a:path>
              </a:pathLst>
            </a:custGeom>
            <a:noFill/>
            <a:ln w="14287">
              <a:solidFill>
                <a:srgbClr val="3CC583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5" name="Rounded Rectangle 16">
              <a:extLst>
                <a:ext uri="{FF2B5EF4-FFF2-40B4-BE49-F238E27FC236}">
                  <a16:creationId xmlns:a16="http://schemas.microsoft.com/office/drawing/2014/main" id="{B55EC510-84A7-5AE1-224C-8DA9606700CD}"/>
                </a:ext>
              </a:extLst>
            </p:cNvPr>
            <p:cNvSpPr/>
            <p:nvPr/>
          </p:nvSpPr>
          <p:spPr>
            <a:xfrm>
              <a:off x="6189504" y="3640429"/>
              <a:ext cx="451638" cy="450365"/>
            </a:xfrm>
            <a:custGeom>
              <a:avLst/>
              <a:gdLst/>
              <a:ahLst/>
              <a:cxnLst/>
              <a:rect l="0" t="0" r="0" b="0"/>
              <a:pathLst>
                <a:path w="451638" h="450365">
                  <a:moveTo>
                    <a:pt x="108738" y="202715"/>
                  </a:moveTo>
                  <a:lnTo>
                    <a:pt x="203969" y="202715"/>
                  </a:lnTo>
                  <a:lnTo>
                    <a:pt x="203988" y="88415"/>
                  </a:lnTo>
                  <a:moveTo>
                    <a:pt x="185529" y="392338"/>
                  </a:moveTo>
                  <a:cubicBezTo>
                    <a:pt x="105513" y="384468"/>
                    <a:pt x="39075" y="327166"/>
                    <a:pt x="19537" y="249174"/>
                  </a:cubicBezTo>
                  <a:cubicBezTo>
                    <a:pt x="0" y="171182"/>
                    <a:pt x="31578" y="89326"/>
                    <a:pt x="98433" y="44663"/>
                  </a:cubicBezTo>
                  <a:cubicBezTo>
                    <a:pt x="165288" y="0"/>
                    <a:pt x="252998" y="2165"/>
                    <a:pt x="317568" y="50072"/>
                  </a:cubicBezTo>
                  <a:cubicBezTo>
                    <a:pt x="382138" y="97979"/>
                    <a:pt x="409640" y="181293"/>
                    <a:pt x="386278" y="258226"/>
                  </a:cubicBezTo>
                  <a:moveTo>
                    <a:pt x="451638" y="412265"/>
                  </a:moveTo>
                  <a:lnTo>
                    <a:pt x="356388" y="412265"/>
                  </a:lnTo>
                  <a:lnTo>
                    <a:pt x="356388" y="393215"/>
                  </a:lnTo>
                  <a:cubicBezTo>
                    <a:pt x="356388" y="340609"/>
                    <a:pt x="399033" y="297965"/>
                    <a:pt x="451638" y="297965"/>
                  </a:cubicBezTo>
                  <a:lnTo>
                    <a:pt x="451638" y="450365"/>
                  </a:lnTo>
                  <a:moveTo>
                    <a:pt x="223038" y="345590"/>
                  </a:moveTo>
                  <a:cubicBezTo>
                    <a:pt x="223062" y="321158"/>
                    <a:pt x="241568" y="300707"/>
                    <a:pt x="265876" y="298251"/>
                  </a:cubicBezTo>
                  <a:cubicBezTo>
                    <a:pt x="290184" y="295796"/>
                    <a:pt x="312407" y="312132"/>
                    <a:pt x="317317" y="336065"/>
                  </a:cubicBezTo>
                  <a:cubicBezTo>
                    <a:pt x="322860" y="363344"/>
                    <a:pt x="308497" y="374946"/>
                    <a:pt x="289713" y="391519"/>
                  </a:cubicBezTo>
                  <a:lnTo>
                    <a:pt x="223038" y="450365"/>
                  </a:lnTo>
                  <a:lnTo>
                    <a:pt x="327813" y="450365"/>
                  </a:lnTo>
                </a:path>
              </a:pathLst>
            </a:custGeom>
            <a:noFill/>
            <a:ln w="14287">
              <a:solidFill>
                <a:srgbClr val="92BD39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6" name="Rounded Rectangle 17">
              <a:extLst>
                <a:ext uri="{FF2B5EF4-FFF2-40B4-BE49-F238E27FC236}">
                  <a16:creationId xmlns:a16="http://schemas.microsoft.com/office/drawing/2014/main" id="{AA117B31-591C-5487-E8BB-3FA39D78EBC2}"/>
                </a:ext>
              </a:extLst>
            </p:cNvPr>
            <p:cNvSpPr/>
            <p:nvPr/>
          </p:nvSpPr>
          <p:spPr>
            <a:xfrm>
              <a:off x="6202993" y="4567045"/>
              <a:ext cx="438149" cy="438150"/>
            </a:xfrm>
            <a:custGeom>
              <a:avLst/>
              <a:gdLst/>
              <a:ahLst/>
              <a:cxnLst/>
              <a:rect l="0" t="0" r="0" b="0"/>
              <a:pathLst>
                <a:path w="438149" h="438150">
                  <a:moveTo>
                    <a:pt x="133350" y="85725"/>
                  </a:moveTo>
                  <a:cubicBezTo>
                    <a:pt x="133350" y="38380"/>
                    <a:pt x="171730" y="0"/>
                    <a:pt x="219075" y="0"/>
                  </a:cubicBezTo>
                  <a:cubicBezTo>
                    <a:pt x="266419" y="0"/>
                    <a:pt x="304800" y="38380"/>
                    <a:pt x="304800" y="85725"/>
                  </a:cubicBezTo>
                  <a:cubicBezTo>
                    <a:pt x="304800" y="133069"/>
                    <a:pt x="266419" y="171450"/>
                    <a:pt x="219075" y="171450"/>
                  </a:cubicBezTo>
                  <a:cubicBezTo>
                    <a:pt x="171730" y="171450"/>
                    <a:pt x="133350" y="133069"/>
                    <a:pt x="133350" y="85725"/>
                  </a:cubicBezTo>
                  <a:moveTo>
                    <a:pt x="219075" y="47625"/>
                  </a:moveTo>
                  <a:lnTo>
                    <a:pt x="219075" y="123825"/>
                  </a:lnTo>
                  <a:moveTo>
                    <a:pt x="180975" y="85725"/>
                  </a:moveTo>
                  <a:lnTo>
                    <a:pt x="257175" y="85725"/>
                  </a:lnTo>
                  <a:moveTo>
                    <a:pt x="38100" y="228600"/>
                  </a:moveTo>
                  <a:cubicBezTo>
                    <a:pt x="38100" y="197036"/>
                    <a:pt x="63686" y="171450"/>
                    <a:pt x="95250" y="171450"/>
                  </a:cubicBezTo>
                  <a:cubicBezTo>
                    <a:pt x="126813" y="171450"/>
                    <a:pt x="152400" y="197036"/>
                    <a:pt x="152400" y="228600"/>
                  </a:cubicBezTo>
                  <a:cubicBezTo>
                    <a:pt x="152400" y="260163"/>
                    <a:pt x="126813" y="285750"/>
                    <a:pt x="95250" y="285750"/>
                  </a:cubicBezTo>
                  <a:cubicBezTo>
                    <a:pt x="63686" y="285750"/>
                    <a:pt x="38100" y="260163"/>
                    <a:pt x="38100" y="228600"/>
                  </a:cubicBezTo>
                  <a:moveTo>
                    <a:pt x="45910" y="200025"/>
                  </a:moveTo>
                  <a:cubicBezTo>
                    <a:pt x="63914" y="218392"/>
                    <a:pt x="88580" y="228699"/>
                    <a:pt x="114300" y="228600"/>
                  </a:cubicBezTo>
                  <a:cubicBezTo>
                    <a:pt x="127402" y="228644"/>
                    <a:pt x="140372" y="225985"/>
                    <a:pt x="152400" y="220789"/>
                  </a:cubicBezTo>
                  <a:moveTo>
                    <a:pt x="273558" y="288416"/>
                  </a:moveTo>
                  <a:cubicBezTo>
                    <a:pt x="281143" y="275926"/>
                    <a:pt x="284916" y="261492"/>
                    <a:pt x="284416" y="246887"/>
                  </a:cubicBezTo>
                  <a:lnTo>
                    <a:pt x="284416" y="229933"/>
                  </a:lnTo>
                  <a:cubicBezTo>
                    <a:pt x="284425" y="197640"/>
                    <a:pt x="310606" y="171466"/>
                    <a:pt x="342900" y="171466"/>
                  </a:cubicBezTo>
                  <a:cubicBezTo>
                    <a:pt x="375193" y="171466"/>
                    <a:pt x="401374" y="197640"/>
                    <a:pt x="401383" y="229933"/>
                  </a:cubicBezTo>
                  <a:lnTo>
                    <a:pt x="401383" y="246887"/>
                  </a:lnTo>
                  <a:cubicBezTo>
                    <a:pt x="400883" y="261492"/>
                    <a:pt x="404656" y="275926"/>
                    <a:pt x="412241" y="288416"/>
                  </a:cubicBezTo>
                  <a:moveTo>
                    <a:pt x="401383" y="239648"/>
                  </a:moveTo>
                  <a:cubicBezTo>
                    <a:pt x="378912" y="239616"/>
                    <a:pt x="357566" y="229812"/>
                    <a:pt x="342900" y="212788"/>
                  </a:cubicBezTo>
                  <a:cubicBezTo>
                    <a:pt x="328233" y="229812"/>
                    <a:pt x="306887" y="239616"/>
                    <a:pt x="284416" y="239648"/>
                  </a:cubicBezTo>
                  <a:moveTo>
                    <a:pt x="291655" y="239268"/>
                  </a:moveTo>
                  <a:cubicBezTo>
                    <a:pt x="293950" y="265861"/>
                    <a:pt x="316207" y="286280"/>
                    <a:pt x="342900" y="286280"/>
                  </a:cubicBezTo>
                  <a:cubicBezTo>
                    <a:pt x="369592" y="286280"/>
                    <a:pt x="391849" y="265861"/>
                    <a:pt x="394144" y="239268"/>
                  </a:cubicBezTo>
                  <a:moveTo>
                    <a:pt x="0" y="400050"/>
                  </a:moveTo>
                  <a:cubicBezTo>
                    <a:pt x="0" y="347444"/>
                    <a:pt x="42644" y="304800"/>
                    <a:pt x="95250" y="304800"/>
                  </a:cubicBezTo>
                  <a:cubicBezTo>
                    <a:pt x="110135" y="304686"/>
                    <a:pt x="124854" y="307943"/>
                    <a:pt x="138303" y="314325"/>
                  </a:cubicBezTo>
                  <a:moveTo>
                    <a:pt x="303847" y="313181"/>
                  </a:moveTo>
                  <a:cubicBezTo>
                    <a:pt x="333319" y="299933"/>
                    <a:pt x="367498" y="302530"/>
                    <a:pt x="394630" y="320079"/>
                  </a:cubicBezTo>
                  <a:cubicBezTo>
                    <a:pt x="421762" y="337629"/>
                    <a:pt x="438147" y="367737"/>
                    <a:pt x="438149" y="400050"/>
                  </a:cubicBezTo>
                  <a:moveTo>
                    <a:pt x="176212" y="328612"/>
                  </a:moveTo>
                  <a:cubicBezTo>
                    <a:pt x="176212" y="304940"/>
                    <a:pt x="195402" y="285750"/>
                    <a:pt x="219075" y="285750"/>
                  </a:cubicBezTo>
                  <a:cubicBezTo>
                    <a:pt x="242747" y="285750"/>
                    <a:pt x="261937" y="304940"/>
                    <a:pt x="261937" y="328612"/>
                  </a:cubicBezTo>
                  <a:cubicBezTo>
                    <a:pt x="261937" y="352284"/>
                    <a:pt x="242747" y="371475"/>
                    <a:pt x="219075" y="371475"/>
                  </a:cubicBezTo>
                  <a:cubicBezTo>
                    <a:pt x="195402" y="371475"/>
                    <a:pt x="176212" y="352284"/>
                    <a:pt x="176212" y="328612"/>
                  </a:cubicBezTo>
                  <a:moveTo>
                    <a:pt x="141731" y="438150"/>
                  </a:moveTo>
                  <a:cubicBezTo>
                    <a:pt x="156214" y="409001"/>
                    <a:pt x="185955" y="390568"/>
                    <a:pt x="218503" y="390568"/>
                  </a:cubicBezTo>
                  <a:cubicBezTo>
                    <a:pt x="251051" y="390568"/>
                    <a:pt x="280792" y="409001"/>
                    <a:pt x="295275" y="438150"/>
                  </a:cubicBezTo>
                </a:path>
              </a:pathLst>
            </a:custGeom>
            <a:noFill/>
            <a:ln w="14287">
              <a:solidFill>
                <a:srgbClr val="E0CB15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A780E5E-EF4B-79E4-6432-5A459FDB57D2}"/>
              </a:ext>
            </a:extLst>
          </p:cNvPr>
          <p:cNvGrpSpPr/>
          <p:nvPr/>
        </p:nvGrpSpPr>
        <p:grpSpPr>
          <a:xfrm>
            <a:off x="645091" y="3855054"/>
            <a:ext cx="3173205" cy="2941191"/>
            <a:chOff x="-212766" y="832390"/>
            <a:chExt cx="5518633" cy="5014924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5189E0D-F740-94A1-AFE6-2D8AAA56F338}"/>
                </a:ext>
              </a:extLst>
            </p:cNvPr>
            <p:cNvGrpSpPr/>
            <p:nvPr/>
          </p:nvGrpSpPr>
          <p:grpSpPr>
            <a:xfrm>
              <a:off x="628972" y="2466880"/>
              <a:ext cx="1866500" cy="1478934"/>
              <a:chOff x="1072712" y="2047240"/>
              <a:chExt cx="1866500" cy="1478934"/>
            </a:xfrm>
          </p:grpSpPr>
          <p:sp>
            <p:nvSpPr>
              <p:cNvPr id="98" name="Rounded Rectangle 1">
                <a:extLst>
                  <a:ext uri="{FF2B5EF4-FFF2-40B4-BE49-F238E27FC236}">
                    <a16:creationId xmlns:a16="http://schemas.microsoft.com/office/drawing/2014/main" id="{97F2FE73-8D26-725A-9AB3-3D76CE360BB8}"/>
                  </a:ext>
                </a:extLst>
              </p:cNvPr>
              <p:cNvSpPr/>
              <p:nvPr/>
            </p:nvSpPr>
            <p:spPr>
              <a:xfrm>
                <a:off x="1072712" y="2047240"/>
                <a:ext cx="1866496" cy="1126807"/>
              </a:xfrm>
              <a:custGeom>
                <a:avLst/>
                <a:gdLst/>
                <a:ahLst/>
                <a:cxnLst/>
                <a:rect l="0" t="0" r="0" b="0"/>
                <a:pathLst>
                  <a:path w="1866496" h="1126807">
                    <a:moveTo>
                      <a:pt x="732115" y="1126807"/>
                    </a:moveTo>
                    <a:lnTo>
                      <a:pt x="0" y="0"/>
                    </a:lnTo>
                    <a:lnTo>
                      <a:pt x="1342213" y="774680"/>
                    </a:lnTo>
                    <a:lnTo>
                      <a:pt x="1866496" y="1077277"/>
                    </a:lnTo>
                    <a:cubicBezTo>
                      <a:pt x="1858068" y="1091847"/>
                      <a:pt x="1853247" y="1108762"/>
                      <a:pt x="1853247" y="112680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C188"/>
                  </a:gs>
                  <a:gs pos="100000">
                    <a:srgbClr val="FA963A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99" name="Rounded Rectangle 2">
                <a:extLst>
                  <a:ext uri="{FF2B5EF4-FFF2-40B4-BE49-F238E27FC236}">
                    <a16:creationId xmlns:a16="http://schemas.microsoft.com/office/drawing/2014/main" id="{E37D3CE6-2113-D7BA-7D3F-3774D87FE809}"/>
                  </a:ext>
                </a:extLst>
              </p:cNvPr>
              <p:cNvSpPr/>
              <p:nvPr/>
            </p:nvSpPr>
            <p:spPr>
              <a:xfrm>
                <a:off x="1804827" y="3174047"/>
                <a:ext cx="1134385" cy="352126"/>
              </a:xfrm>
              <a:custGeom>
                <a:avLst/>
                <a:gdLst/>
                <a:ahLst/>
                <a:cxnLst/>
                <a:rect l="0" t="0" r="0" b="0"/>
                <a:pathLst>
                  <a:path w="1134385" h="352126">
                    <a:moveTo>
                      <a:pt x="610095" y="352126"/>
                    </a:moveTo>
                    <a:lnTo>
                      <a:pt x="0" y="0"/>
                    </a:lnTo>
                    <a:lnTo>
                      <a:pt x="1121128" y="0"/>
                    </a:lnTo>
                    <a:cubicBezTo>
                      <a:pt x="1121128" y="18042"/>
                      <a:pt x="1125957" y="34956"/>
                      <a:pt x="1134385" y="4952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C188"/>
                  </a:gs>
                  <a:gs pos="100000">
                    <a:srgbClr val="FA963A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00" name="Rounded Rectangle 3">
                <a:extLst>
                  <a:ext uri="{FF2B5EF4-FFF2-40B4-BE49-F238E27FC236}">
                    <a16:creationId xmlns:a16="http://schemas.microsoft.com/office/drawing/2014/main" id="{9E367797-9A2C-88D9-F7A7-5FB5416CE092}"/>
                  </a:ext>
                </a:extLst>
              </p:cNvPr>
              <p:cNvSpPr/>
              <p:nvPr/>
            </p:nvSpPr>
            <p:spPr>
              <a:xfrm>
                <a:off x="1072712" y="2047240"/>
                <a:ext cx="1866497" cy="1126807"/>
              </a:xfrm>
              <a:custGeom>
                <a:avLst/>
                <a:gdLst/>
                <a:ahLst/>
                <a:cxnLst/>
                <a:rect l="0" t="0" r="0" b="0"/>
                <a:pathLst>
                  <a:path w="1866497" h="1126807">
                    <a:moveTo>
                      <a:pt x="732115" y="1126807"/>
                    </a:moveTo>
                    <a:lnTo>
                      <a:pt x="0" y="0"/>
                    </a:lnTo>
                    <a:lnTo>
                      <a:pt x="1866497" y="1077280"/>
                    </a:lnTo>
                    <a:cubicBezTo>
                      <a:pt x="1858070" y="1091850"/>
                      <a:pt x="1853247" y="1108766"/>
                      <a:pt x="1853247" y="1126807"/>
                    </a:cubicBezTo>
                    <a:close/>
                  </a:path>
                </a:pathLst>
              </a:custGeom>
              <a:noFill/>
              <a:ln w="12382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01" name="Rounded Rectangle 4">
                <a:extLst>
                  <a:ext uri="{FF2B5EF4-FFF2-40B4-BE49-F238E27FC236}">
                    <a16:creationId xmlns:a16="http://schemas.microsoft.com/office/drawing/2014/main" id="{F1354AD7-765E-750C-1733-07F6D48BB95F}"/>
                  </a:ext>
                </a:extLst>
              </p:cNvPr>
              <p:cNvSpPr/>
              <p:nvPr/>
            </p:nvSpPr>
            <p:spPr>
              <a:xfrm>
                <a:off x="1804827" y="3174047"/>
                <a:ext cx="1134382" cy="352127"/>
              </a:xfrm>
              <a:custGeom>
                <a:avLst/>
                <a:gdLst/>
                <a:ahLst/>
                <a:cxnLst/>
                <a:rect l="0" t="0" r="0" b="0"/>
                <a:pathLst>
                  <a:path w="1134382" h="352127">
                    <a:moveTo>
                      <a:pt x="610096" y="352127"/>
                    </a:moveTo>
                    <a:lnTo>
                      <a:pt x="0" y="0"/>
                    </a:lnTo>
                    <a:lnTo>
                      <a:pt x="1121132" y="0"/>
                    </a:lnTo>
                    <a:cubicBezTo>
                      <a:pt x="1121132" y="18041"/>
                      <a:pt x="1125954" y="34956"/>
                      <a:pt x="1134382" y="49526"/>
                    </a:cubicBezTo>
                    <a:close/>
                  </a:path>
                </a:pathLst>
              </a:custGeom>
              <a:noFill/>
              <a:ln w="12382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4D335CF-73A8-AB2F-2B45-FF55720EF3B3}"/>
                </a:ext>
              </a:extLst>
            </p:cNvPr>
            <p:cNvGrpSpPr/>
            <p:nvPr/>
          </p:nvGrpSpPr>
          <p:grpSpPr>
            <a:xfrm>
              <a:off x="628972" y="3643217"/>
              <a:ext cx="1952306" cy="1077280"/>
              <a:chOff x="1072712" y="3223577"/>
              <a:chExt cx="1952306" cy="1077280"/>
            </a:xfrm>
          </p:grpSpPr>
          <p:sp>
            <p:nvSpPr>
              <p:cNvPr id="94" name="Rounded Rectangle 6">
                <a:extLst>
                  <a:ext uri="{FF2B5EF4-FFF2-40B4-BE49-F238E27FC236}">
                    <a16:creationId xmlns:a16="http://schemas.microsoft.com/office/drawing/2014/main" id="{B32F2F86-36F3-AF18-EBCC-3844AA96EBDD}"/>
                  </a:ext>
                </a:extLst>
              </p:cNvPr>
              <p:cNvSpPr/>
              <p:nvPr/>
            </p:nvSpPr>
            <p:spPr>
              <a:xfrm>
                <a:off x="1072712" y="3223577"/>
                <a:ext cx="1902760" cy="1077277"/>
              </a:xfrm>
              <a:custGeom>
                <a:avLst/>
                <a:gdLst/>
                <a:ahLst/>
                <a:cxnLst/>
                <a:rect l="0" t="0" r="0" b="0"/>
                <a:pathLst>
                  <a:path w="1902760" h="1077277">
                    <a:moveTo>
                      <a:pt x="1342213" y="1006854"/>
                    </a:moveTo>
                    <a:lnTo>
                      <a:pt x="0" y="1077277"/>
                    </a:lnTo>
                    <a:lnTo>
                      <a:pt x="1342213" y="302601"/>
                    </a:lnTo>
                    <a:lnTo>
                      <a:pt x="1866496" y="0"/>
                    </a:lnTo>
                    <a:cubicBezTo>
                      <a:pt x="1875197" y="15034"/>
                      <a:pt x="1887728" y="27570"/>
                      <a:pt x="1902760" y="3626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282"/>
                  </a:gs>
                  <a:gs pos="100000">
                    <a:srgbClr val="FFE714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95" name="Rounded Rectangle 7">
                <a:extLst>
                  <a:ext uri="{FF2B5EF4-FFF2-40B4-BE49-F238E27FC236}">
                    <a16:creationId xmlns:a16="http://schemas.microsoft.com/office/drawing/2014/main" id="{AABAA2D5-6027-DA10-3C0A-3593D1007E7A}"/>
                  </a:ext>
                </a:extLst>
              </p:cNvPr>
              <p:cNvSpPr/>
              <p:nvPr/>
            </p:nvSpPr>
            <p:spPr>
              <a:xfrm>
                <a:off x="2414923" y="3259854"/>
                <a:ext cx="610095" cy="970589"/>
              </a:xfrm>
              <a:custGeom>
                <a:avLst/>
                <a:gdLst/>
                <a:ahLst/>
                <a:cxnLst/>
                <a:rect l="0" t="0" r="0" b="0"/>
                <a:pathLst>
                  <a:path w="610095" h="970589">
                    <a:moveTo>
                      <a:pt x="610095" y="618458"/>
                    </a:moveTo>
                    <a:lnTo>
                      <a:pt x="0" y="970589"/>
                    </a:lnTo>
                    <a:lnTo>
                      <a:pt x="560545" y="0"/>
                    </a:lnTo>
                    <a:cubicBezTo>
                      <a:pt x="575120" y="8435"/>
                      <a:pt x="592044" y="13264"/>
                      <a:pt x="610095" y="13264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282"/>
                  </a:gs>
                  <a:gs pos="100000">
                    <a:srgbClr val="FFE714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96" name="Rounded Rectangle 8">
                <a:extLst>
                  <a:ext uri="{FF2B5EF4-FFF2-40B4-BE49-F238E27FC236}">
                    <a16:creationId xmlns:a16="http://schemas.microsoft.com/office/drawing/2014/main" id="{BD1B660B-667B-A631-C546-CB71030E231E}"/>
                  </a:ext>
                </a:extLst>
              </p:cNvPr>
              <p:cNvSpPr/>
              <p:nvPr/>
            </p:nvSpPr>
            <p:spPr>
              <a:xfrm>
                <a:off x="1072712" y="3223577"/>
                <a:ext cx="1902757" cy="1077280"/>
              </a:xfrm>
              <a:custGeom>
                <a:avLst/>
                <a:gdLst/>
                <a:ahLst/>
                <a:cxnLst/>
                <a:rect l="0" t="0" r="0" b="0"/>
                <a:pathLst>
                  <a:path w="1902757" h="1077280">
                    <a:moveTo>
                      <a:pt x="1342211" y="1006855"/>
                    </a:moveTo>
                    <a:lnTo>
                      <a:pt x="0" y="1077280"/>
                    </a:lnTo>
                    <a:lnTo>
                      <a:pt x="1866497" y="0"/>
                    </a:lnTo>
                    <a:cubicBezTo>
                      <a:pt x="1875193" y="15034"/>
                      <a:pt x="1887726" y="27570"/>
                      <a:pt x="1902757" y="36269"/>
                    </a:cubicBezTo>
                    <a:close/>
                  </a:path>
                </a:pathLst>
              </a:custGeom>
              <a:noFill/>
              <a:ln w="12382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97" name="Rounded Rectangle 9">
                <a:extLst>
                  <a:ext uri="{FF2B5EF4-FFF2-40B4-BE49-F238E27FC236}">
                    <a16:creationId xmlns:a16="http://schemas.microsoft.com/office/drawing/2014/main" id="{0A2E5E67-AEFC-F7DC-27A1-121A2F850483}"/>
                  </a:ext>
                </a:extLst>
              </p:cNvPr>
              <p:cNvSpPr/>
              <p:nvPr/>
            </p:nvSpPr>
            <p:spPr>
              <a:xfrm>
                <a:off x="2414923" y="3259854"/>
                <a:ext cx="610095" cy="970585"/>
              </a:xfrm>
              <a:custGeom>
                <a:avLst/>
                <a:gdLst/>
                <a:ahLst/>
                <a:cxnLst/>
                <a:rect l="0" t="0" r="0" b="0"/>
                <a:pathLst>
                  <a:path w="610095" h="970585">
                    <a:moveTo>
                      <a:pt x="610095" y="618458"/>
                    </a:moveTo>
                    <a:lnTo>
                      <a:pt x="0" y="970585"/>
                    </a:lnTo>
                    <a:lnTo>
                      <a:pt x="560545" y="0"/>
                    </a:lnTo>
                    <a:cubicBezTo>
                      <a:pt x="575120" y="8435"/>
                      <a:pt x="592044" y="13264"/>
                      <a:pt x="610095" y="13264"/>
                    </a:cubicBezTo>
                    <a:close/>
                  </a:path>
                </a:pathLst>
              </a:custGeom>
              <a:noFill/>
              <a:ln w="12382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5C23DBF-E6B2-6FDF-49CC-F354430EC977}"/>
                </a:ext>
              </a:extLst>
            </p:cNvPr>
            <p:cNvGrpSpPr/>
            <p:nvPr/>
          </p:nvGrpSpPr>
          <p:grpSpPr>
            <a:xfrm>
              <a:off x="2581280" y="3643217"/>
              <a:ext cx="610096" cy="2204097"/>
              <a:chOff x="3025020" y="3223577"/>
              <a:chExt cx="610096" cy="2204097"/>
            </a:xfrm>
          </p:grpSpPr>
          <p:sp>
            <p:nvSpPr>
              <p:cNvPr id="90" name="Rounded Rectangle 11">
                <a:extLst>
                  <a:ext uri="{FF2B5EF4-FFF2-40B4-BE49-F238E27FC236}">
                    <a16:creationId xmlns:a16="http://schemas.microsoft.com/office/drawing/2014/main" id="{385F8EA1-FBF9-A34C-B3C0-C26A8ACC7C3B}"/>
                  </a:ext>
                </a:extLst>
              </p:cNvPr>
              <p:cNvSpPr/>
              <p:nvPr/>
            </p:nvSpPr>
            <p:spPr>
              <a:xfrm>
                <a:off x="3025020" y="3259854"/>
                <a:ext cx="610095" cy="2167820"/>
              </a:xfrm>
              <a:custGeom>
                <a:avLst/>
                <a:gdLst/>
                <a:ahLst/>
                <a:cxnLst/>
                <a:rect l="0" t="0" r="0" b="0"/>
                <a:pathLst>
                  <a:path w="610095" h="2167820">
                    <a:moveTo>
                      <a:pt x="610095" y="970589"/>
                    </a:moveTo>
                    <a:lnTo>
                      <a:pt x="0" y="2167820"/>
                    </a:lnTo>
                    <a:lnTo>
                      <a:pt x="0" y="618458"/>
                    </a:lnTo>
                    <a:lnTo>
                      <a:pt x="0" y="13264"/>
                    </a:lnTo>
                    <a:cubicBezTo>
                      <a:pt x="18051" y="13264"/>
                      <a:pt x="34974" y="8435"/>
                      <a:pt x="4954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F976"/>
                  </a:gs>
                  <a:gs pos="100000">
                    <a:srgbClr val="A8DD38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91" name="Rounded Rectangle 12">
                <a:extLst>
                  <a:ext uri="{FF2B5EF4-FFF2-40B4-BE49-F238E27FC236}">
                    <a16:creationId xmlns:a16="http://schemas.microsoft.com/office/drawing/2014/main" id="{5B897DBD-3878-FCFD-C9FC-70BB7C8BBF49}"/>
                  </a:ext>
                </a:extLst>
              </p:cNvPr>
              <p:cNvSpPr/>
              <p:nvPr/>
            </p:nvSpPr>
            <p:spPr>
              <a:xfrm>
                <a:off x="3074566" y="3223577"/>
                <a:ext cx="560545" cy="1006854"/>
              </a:xfrm>
              <a:custGeom>
                <a:avLst/>
                <a:gdLst/>
                <a:ahLst/>
                <a:cxnLst/>
                <a:rect l="0" t="0" r="0" b="0"/>
                <a:pathLst>
                  <a:path w="560545" h="1006854">
                    <a:moveTo>
                      <a:pt x="560545" y="302601"/>
                    </a:moveTo>
                    <a:lnTo>
                      <a:pt x="560545" y="1006854"/>
                    </a:lnTo>
                    <a:lnTo>
                      <a:pt x="0" y="36269"/>
                    </a:lnTo>
                    <a:cubicBezTo>
                      <a:pt x="15030" y="27570"/>
                      <a:pt x="27564" y="15034"/>
                      <a:pt x="3625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F976"/>
                  </a:gs>
                  <a:gs pos="100000">
                    <a:srgbClr val="A8DD38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92" name="Rounded Rectangle 13">
                <a:extLst>
                  <a:ext uri="{FF2B5EF4-FFF2-40B4-BE49-F238E27FC236}">
                    <a16:creationId xmlns:a16="http://schemas.microsoft.com/office/drawing/2014/main" id="{A280E56F-0C8D-6E14-3431-20B3EFBD1E1E}"/>
                  </a:ext>
                </a:extLst>
              </p:cNvPr>
              <p:cNvSpPr/>
              <p:nvPr/>
            </p:nvSpPr>
            <p:spPr>
              <a:xfrm>
                <a:off x="3025020" y="3259854"/>
                <a:ext cx="610096" cy="2167819"/>
              </a:xfrm>
              <a:custGeom>
                <a:avLst/>
                <a:gdLst/>
                <a:ahLst/>
                <a:cxnLst/>
                <a:rect l="0" t="0" r="0" b="0"/>
                <a:pathLst>
                  <a:path w="610096" h="2167819">
                    <a:moveTo>
                      <a:pt x="610096" y="970585"/>
                    </a:moveTo>
                    <a:lnTo>
                      <a:pt x="0" y="2167819"/>
                    </a:lnTo>
                    <a:lnTo>
                      <a:pt x="0" y="13264"/>
                    </a:lnTo>
                    <a:cubicBezTo>
                      <a:pt x="18051" y="13264"/>
                      <a:pt x="34974" y="8435"/>
                      <a:pt x="49549" y="0"/>
                    </a:cubicBezTo>
                    <a:close/>
                  </a:path>
                </a:pathLst>
              </a:custGeom>
              <a:noFill/>
              <a:ln w="12382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93" name="Rounded Rectangle 14">
                <a:extLst>
                  <a:ext uri="{FF2B5EF4-FFF2-40B4-BE49-F238E27FC236}">
                    <a16:creationId xmlns:a16="http://schemas.microsoft.com/office/drawing/2014/main" id="{56D6087F-A322-A8F8-868B-F232E98B6C7F}"/>
                  </a:ext>
                </a:extLst>
              </p:cNvPr>
              <p:cNvSpPr/>
              <p:nvPr/>
            </p:nvSpPr>
            <p:spPr>
              <a:xfrm>
                <a:off x="3074566" y="3223577"/>
                <a:ext cx="560545" cy="1006855"/>
              </a:xfrm>
              <a:custGeom>
                <a:avLst/>
                <a:gdLst/>
                <a:ahLst/>
                <a:cxnLst/>
                <a:rect l="0" t="0" r="0" b="0"/>
                <a:pathLst>
                  <a:path w="560545" h="1006855">
                    <a:moveTo>
                      <a:pt x="560545" y="302601"/>
                    </a:moveTo>
                    <a:lnTo>
                      <a:pt x="560545" y="1006855"/>
                    </a:lnTo>
                    <a:lnTo>
                      <a:pt x="0" y="36269"/>
                    </a:lnTo>
                    <a:cubicBezTo>
                      <a:pt x="15030" y="27570"/>
                      <a:pt x="27564" y="15033"/>
                      <a:pt x="36259" y="0"/>
                    </a:cubicBezTo>
                    <a:close/>
                  </a:path>
                </a:pathLst>
              </a:custGeom>
              <a:noFill/>
              <a:ln w="12382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5DAE35D-9A44-6A73-B40D-B234E5D871B1}"/>
                </a:ext>
              </a:extLst>
            </p:cNvPr>
            <p:cNvGrpSpPr/>
            <p:nvPr/>
          </p:nvGrpSpPr>
          <p:grpSpPr>
            <a:xfrm>
              <a:off x="2667091" y="3241564"/>
              <a:ext cx="1866497" cy="1478934"/>
              <a:chOff x="3110831" y="2821924"/>
              <a:chExt cx="1866497" cy="1478934"/>
            </a:xfrm>
          </p:grpSpPr>
          <p:sp>
            <p:nvSpPr>
              <p:cNvPr id="86" name="Rounded Rectangle 16">
                <a:extLst>
                  <a:ext uri="{FF2B5EF4-FFF2-40B4-BE49-F238E27FC236}">
                    <a16:creationId xmlns:a16="http://schemas.microsoft.com/office/drawing/2014/main" id="{CBC01B30-D98C-A2B4-955B-5306DBE9FC58}"/>
                  </a:ext>
                </a:extLst>
              </p:cNvPr>
              <p:cNvSpPr/>
              <p:nvPr/>
            </p:nvSpPr>
            <p:spPr>
              <a:xfrm>
                <a:off x="3110831" y="3174051"/>
                <a:ext cx="1866496" cy="1126807"/>
              </a:xfrm>
              <a:custGeom>
                <a:avLst/>
                <a:gdLst/>
                <a:ahLst/>
                <a:cxnLst/>
                <a:rect l="0" t="0" r="0" b="0"/>
                <a:pathLst>
                  <a:path w="1866496" h="1126807">
                    <a:moveTo>
                      <a:pt x="524286" y="352126"/>
                    </a:moveTo>
                    <a:lnTo>
                      <a:pt x="0" y="49526"/>
                    </a:lnTo>
                    <a:cubicBezTo>
                      <a:pt x="8427" y="34956"/>
                      <a:pt x="13250" y="18042"/>
                      <a:pt x="13250" y="0"/>
                    </a:cubicBezTo>
                    <a:lnTo>
                      <a:pt x="1134385" y="0"/>
                    </a:lnTo>
                    <a:lnTo>
                      <a:pt x="1866496" y="112680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3FAC1"/>
                  </a:gs>
                  <a:gs pos="100000">
                    <a:srgbClr val="44E09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7" name="Rounded Rectangle 17">
                <a:extLst>
                  <a:ext uri="{FF2B5EF4-FFF2-40B4-BE49-F238E27FC236}">
                    <a16:creationId xmlns:a16="http://schemas.microsoft.com/office/drawing/2014/main" id="{EBA2231B-6D33-1BC8-6BC6-CAF6AE886604}"/>
                  </a:ext>
                </a:extLst>
              </p:cNvPr>
              <p:cNvSpPr/>
              <p:nvPr/>
            </p:nvSpPr>
            <p:spPr>
              <a:xfrm>
                <a:off x="3110831" y="2821924"/>
                <a:ext cx="1134385" cy="352126"/>
              </a:xfrm>
              <a:custGeom>
                <a:avLst/>
                <a:gdLst/>
                <a:ahLst/>
                <a:cxnLst/>
                <a:rect l="0" t="0" r="0" b="0"/>
                <a:pathLst>
                  <a:path w="1134385" h="352126">
                    <a:moveTo>
                      <a:pt x="13250" y="352126"/>
                    </a:moveTo>
                    <a:cubicBezTo>
                      <a:pt x="13250" y="334085"/>
                      <a:pt x="8427" y="317170"/>
                      <a:pt x="0" y="302601"/>
                    </a:cubicBezTo>
                    <a:lnTo>
                      <a:pt x="524286" y="0"/>
                    </a:lnTo>
                    <a:lnTo>
                      <a:pt x="1134385" y="35212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3FAC1"/>
                  </a:gs>
                  <a:gs pos="100000">
                    <a:srgbClr val="44E09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8" name="Rounded Rectangle 18">
                <a:extLst>
                  <a:ext uri="{FF2B5EF4-FFF2-40B4-BE49-F238E27FC236}">
                    <a16:creationId xmlns:a16="http://schemas.microsoft.com/office/drawing/2014/main" id="{7C5523DA-FD2F-3B0C-DB34-970EFF29A206}"/>
                  </a:ext>
                </a:extLst>
              </p:cNvPr>
              <p:cNvSpPr/>
              <p:nvPr/>
            </p:nvSpPr>
            <p:spPr>
              <a:xfrm>
                <a:off x="3110831" y="3174051"/>
                <a:ext cx="1866497" cy="1126807"/>
              </a:xfrm>
              <a:custGeom>
                <a:avLst/>
                <a:gdLst/>
                <a:ahLst/>
                <a:cxnLst/>
                <a:rect l="0" t="0" r="0" b="0"/>
                <a:pathLst>
                  <a:path w="1866497" h="1126807">
                    <a:moveTo>
                      <a:pt x="0" y="49526"/>
                    </a:moveTo>
                    <a:cubicBezTo>
                      <a:pt x="8427" y="34956"/>
                      <a:pt x="13250" y="18041"/>
                      <a:pt x="13250" y="0"/>
                    </a:cubicBezTo>
                    <a:lnTo>
                      <a:pt x="1134382" y="0"/>
                    </a:lnTo>
                    <a:lnTo>
                      <a:pt x="1866497" y="1126807"/>
                    </a:lnTo>
                    <a:close/>
                  </a:path>
                </a:pathLst>
              </a:custGeom>
              <a:noFill/>
              <a:ln w="12382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9" name="Rounded Rectangle 19">
                <a:extLst>
                  <a:ext uri="{FF2B5EF4-FFF2-40B4-BE49-F238E27FC236}">
                    <a16:creationId xmlns:a16="http://schemas.microsoft.com/office/drawing/2014/main" id="{FC539A49-09B4-79E2-EE71-13A2C7186E0E}"/>
                  </a:ext>
                </a:extLst>
              </p:cNvPr>
              <p:cNvSpPr/>
              <p:nvPr/>
            </p:nvSpPr>
            <p:spPr>
              <a:xfrm>
                <a:off x="3110831" y="2821924"/>
                <a:ext cx="1134382" cy="352127"/>
              </a:xfrm>
              <a:custGeom>
                <a:avLst/>
                <a:gdLst/>
                <a:ahLst/>
                <a:cxnLst/>
                <a:rect l="0" t="0" r="0" b="0"/>
                <a:pathLst>
                  <a:path w="1134382" h="352127">
                    <a:moveTo>
                      <a:pt x="13250" y="352127"/>
                    </a:moveTo>
                    <a:cubicBezTo>
                      <a:pt x="13250" y="334085"/>
                      <a:pt x="8427" y="317170"/>
                      <a:pt x="0" y="302601"/>
                    </a:cubicBezTo>
                    <a:lnTo>
                      <a:pt x="524286" y="0"/>
                    </a:lnTo>
                    <a:lnTo>
                      <a:pt x="1134382" y="352127"/>
                    </a:lnTo>
                    <a:close/>
                  </a:path>
                </a:pathLst>
              </a:custGeom>
              <a:noFill/>
              <a:ln w="12382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8ADBD08-8916-8B44-772E-7A0A6479812A}"/>
                </a:ext>
              </a:extLst>
            </p:cNvPr>
            <p:cNvGrpSpPr/>
            <p:nvPr/>
          </p:nvGrpSpPr>
          <p:grpSpPr>
            <a:xfrm>
              <a:off x="2581280" y="2466880"/>
              <a:ext cx="1952306" cy="1077280"/>
              <a:chOff x="3025020" y="2047240"/>
              <a:chExt cx="1952306" cy="1077280"/>
            </a:xfrm>
          </p:grpSpPr>
          <p:sp>
            <p:nvSpPr>
              <p:cNvPr id="82" name="Rounded Rectangle 21">
                <a:extLst>
                  <a:ext uri="{FF2B5EF4-FFF2-40B4-BE49-F238E27FC236}">
                    <a16:creationId xmlns:a16="http://schemas.microsoft.com/office/drawing/2014/main" id="{012DD3D0-0EFE-79DF-85B8-979AB967D370}"/>
                  </a:ext>
                </a:extLst>
              </p:cNvPr>
              <p:cNvSpPr/>
              <p:nvPr/>
            </p:nvSpPr>
            <p:spPr>
              <a:xfrm>
                <a:off x="3074566" y="2047240"/>
                <a:ext cx="1902760" cy="1077277"/>
              </a:xfrm>
              <a:custGeom>
                <a:avLst/>
                <a:gdLst/>
                <a:ahLst/>
                <a:cxnLst/>
                <a:rect l="0" t="0" r="0" b="0"/>
                <a:pathLst>
                  <a:path w="1902760" h="1077277">
                    <a:moveTo>
                      <a:pt x="560545" y="70425"/>
                    </a:moveTo>
                    <a:lnTo>
                      <a:pt x="1902760" y="0"/>
                    </a:lnTo>
                    <a:lnTo>
                      <a:pt x="560545" y="774680"/>
                    </a:lnTo>
                    <a:lnTo>
                      <a:pt x="36259" y="1077277"/>
                    </a:lnTo>
                    <a:cubicBezTo>
                      <a:pt x="27564" y="1062245"/>
                      <a:pt x="15030" y="1049714"/>
                      <a:pt x="0" y="104101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FDFFF"/>
                  </a:gs>
                  <a:gs pos="100000">
                    <a:srgbClr val="1AC6FF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3" name="Rounded Rectangle 22">
                <a:extLst>
                  <a:ext uri="{FF2B5EF4-FFF2-40B4-BE49-F238E27FC236}">
                    <a16:creationId xmlns:a16="http://schemas.microsoft.com/office/drawing/2014/main" id="{5D42B14E-FAD6-23FA-B806-F23C29C31B9D}"/>
                  </a:ext>
                </a:extLst>
              </p:cNvPr>
              <p:cNvSpPr/>
              <p:nvPr/>
            </p:nvSpPr>
            <p:spPr>
              <a:xfrm>
                <a:off x="3025020" y="2117665"/>
                <a:ext cx="610095" cy="970589"/>
              </a:xfrm>
              <a:custGeom>
                <a:avLst/>
                <a:gdLst/>
                <a:ahLst/>
                <a:cxnLst/>
                <a:rect l="0" t="0" r="0" b="0"/>
                <a:pathLst>
                  <a:path w="610095" h="970589">
                    <a:moveTo>
                      <a:pt x="0" y="319440"/>
                    </a:moveTo>
                    <a:lnTo>
                      <a:pt x="610095" y="0"/>
                    </a:lnTo>
                    <a:lnTo>
                      <a:pt x="49549" y="970589"/>
                    </a:lnTo>
                    <a:cubicBezTo>
                      <a:pt x="34974" y="962153"/>
                      <a:pt x="18051" y="957324"/>
                      <a:pt x="0" y="957324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FDFFF"/>
                  </a:gs>
                  <a:gs pos="100000">
                    <a:srgbClr val="1AC6FF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4" name="Rounded Rectangle 23">
                <a:extLst>
                  <a:ext uri="{FF2B5EF4-FFF2-40B4-BE49-F238E27FC236}">
                    <a16:creationId xmlns:a16="http://schemas.microsoft.com/office/drawing/2014/main" id="{ECCF4651-4430-C6B6-BD2D-3BA165241775}"/>
                  </a:ext>
                </a:extLst>
              </p:cNvPr>
              <p:cNvSpPr/>
              <p:nvPr/>
            </p:nvSpPr>
            <p:spPr>
              <a:xfrm>
                <a:off x="3074566" y="2047240"/>
                <a:ext cx="1902757" cy="1077280"/>
              </a:xfrm>
              <a:custGeom>
                <a:avLst/>
                <a:gdLst/>
                <a:ahLst/>
                <a:cxnLst/>
                <a:rect l="0" t="0" r="0" b="0"/>
                <a:pathLst>
                  <a:path w="1902757" h="1077280">
                    <a:moveTo>
                      <a:pt x="560545" y="70425"/>
                    </a:moveTo>
                    <a:lnTo>
                      <a:pt x="1902757" y="0"/>
                    </a:lnTo>
                    <a:lnTo>
                      <a:pt x="36259" y="1077280"/>
                    </a:lnTo>
                    <a:cubicBezTo>
                      <a:pt x="27564" y="1062247"/>
                      <a:pt x="15030" y="1049710"/>
                      <a:pt x="0" y="1041011"/>
                    </a:cubicBezTo>
                    <a:close/>
                  </a:path>
                </a:pathLst>
              </a:custGeom>
              <a:noFill/>
              <a:ln w="12382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5" name="Rounded Rectangle 24">
                <a:extLst>
                  <a:ext uri="{FF2B5EF4-FFF2-40B4-BE49-F238E27FC236}">
                    <a16:creationId xmlns:a16="http://schemas.microsoft.com/office/drawing/2014/main" id="{542DACEA-05DC-341A-0813-5B1B9EFE0579}"/>
                  </a:ext>
                </a:extLst>
              </p:cNvPr>
              <p:cNvSpPr/>
              <p:nvPr/>
            </p:nvSpPr>
            <p:spPr>
              <a:xfrm>
                <a:off x="3025020" y="2117665"/>
                <a:ext cx="610096" cy="970585"/>
              </a:xfrm>
              <a:custGeom>
                <a:avLst/>
                <a:gdLst/>
                <a:ahLst/>
                <a:cxnLst/>
                <a:rect l="0" t="0" r="0" b="0"/>
                <a:pathLst>
                  <a:path w="610096" h="970585">
                    <a:moveTo>
                      <a:pt x="0" y="319440"/>
                    </a:moveTo>
                    <a:lnTo>
                      <a:pt x="610096" y="0"/>
                    </a:lnTo>
                    <a:lnTo>
                      <a:pt x="49549" y="970585"/>
                    </a:lnTo>
                    <a:cubicBezTo>
                      <a:pt x="34974" y="962149"/>
                      <a:pt x="18051" y="957322"/>
                      <a:pt x="0" y="957322"/>
                    </a:cubicBezTo>
                    <a:close/>
                  </a:path>
                </a:pathLst>
              </a:custGeom>
              <a:noFill/>
              <a:ln w="12382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D647F62-EF34-42F8-0AA3-D6F2DC8088A0}"/>
                </a:ext>
              </a:extLst>
            </p:cNvPr>
            <p:cNvGrpSpPr/>
            <p:nvPr/>
          </p:nvGrpSpPr>
          <p:grpSpPr>
            <a:xfrm>
              <a:off x="1970409" y="1340072"/>
              <a:ext cx="610095" cy="2204088"/>
              <a:chOff x="2414149" y="920432"/>
              <a:chExt cx="610095" cy="2204088"/>
            </a:xfrm>
          </p:grpSpPr>
          <p:sp>
            <p:nvSpPr>
              <p:cNvPr id="78" name="Rounded Rectangle 26">
                <a:extLst>
                  <a:ext uri="{FF2B5EF4-FFF2-40B4-BE49-F238E27FC236}">
                    <a16:creationId xmlns:a16="http://schemas.microsoft.com/office/drawing/2014/main" id="{037E6469-1419-BE84-7D2B-CE3915F3C13B}"/>
                  </a:ext>
                </a:extLst>
              </p:cNvPr>
              <p:cNvSpPr/>
              <p:nvPr/>
            </p:nvSpPr>
            <p:spPr>
              <a:xfrm>
                <a:off x="2414149" y="920432"/>
                <a:ext cx="610095" cy="2167820"/>
              </a:xfrm>
              <a:custGeom>
                <a:avLst/>
                <a:gdLst/>
                <a:ahLst/>
                <a:cxnLst/>
                <a:rect l="0" t="0" r="0" b="0"/>
                <a:pathLst>
                  <a:path w="610095" h="2167820">
                    <a:moveTo>
                      <a:pt x="0" y="1197230"/>
                    </a:moveTo>
                    <a:lnTo>
                      <a:pt x="610095" y="0"/>
                    </a:lnTo>
                    <a:lnTo>
                      <a:pt x="610095" y="1516674"/>
                    </a:lnTo>
                    <a:lnTo>
                      <a:pt x="610095" y="2154555"/>
                    </a:lnTo>
                    <a:cubicBezTo>
                      <a:pt x="592044" y="2154555"/>
                      <a:pt x="575120" y="2159384"/>
                      <a:pt x="560545" y="216782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A6A3"/>
                  </a:gs>
                  <a:gs pos="100000">
                    <a:srgbClr val="FD6A6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9" name="Rounded Rectangle 27">
                <a:extLst>
                  <a:ext uri="{FF2B5EF4-FFF2-40B4-BE49-F238E27FC236}">
                    <a16:creationId xmlns:a16="http://schemas.microsoft.com/office/drawing/2014/main" id="{26591C0F-6310-5F34-D49B-392113AD2B90}"/>
                  </a:ext>
                </a:extLst>
              </p:cNvPr>
              <p:cNvSpPr/>
              <p:nvPr/>
            </p:nvSpPr>
            <p:spPr>
              <a:xfrm>
                <a:off x="2414149" y="2117665"/>
                <a:ext cx="560545" cy="1006854"/>
              </a:xfrm>
              <a:custGeom>
                <a:avLst/>
                <a:gdLst/>
                <a:ahLst/>
                <a:cxnLst/>
                <a:rect l="0" t="0" r="0" b="0"/>
                <a:pathLst>
                  <a:path w="560545" h="1006854">
                    <a:moveTo>
                      <a:pt x="0" y="704254"/>
                    </a:moveTo>
                    <a:lnTo>
                      <a:pt x="0" y="0"/>
                    </a:lnTo>
                    <a:lnTo>
                      <a:pt x="560545" y="970589"/>
                    </a:lnTo>
                    <a:cubicBezTo>
                      <a:pt x="545515" y="979282"/>
                      <a:pt x="532981" y="991821"/>
                      <a:pt x="524286" y="1006854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A6A3"/>
                  </a:gs>
                  <a:gs pos="100000">
                    <a:srgbClr val="FD6A6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0" name="Rounded Rectangle 28">
                <a:extLst>
                  <a:ext uri="{FF2B5EF4-FFF2-40B4-BE49-F238E27FC236}">
                    <a16:creationId xmlns:a16="http://schemas.microsoft.com/office/drawing/2014/main" id="{9852AA57-6839-3CA0-397A-2F7E1BD62EB8}"/>
                  </a:ext>
                </a:extLst>
              </p:cNvPr>
              <p:cNvSpPr/>
              <p:nvPr/>
            </p:nvSpPr>
            <p:spPr>
              <a:xfrm>
                <a:off x="2414149" y="920432"/>
                <a:ext cx="610095" cy="2167819"/>
              </a:xfrm>
              <a:custGeom>
                <a:avLst/>
                <a:gdLst/>
                <a:ahLst/>
                <a:cxnLst/>
                <a:rect l="0" t="0" r="0" b="0"/>
                <a:pathLst>
                  <a:path w="610095" h="2167819">
                    <a:moveTo>
                      <a:pt x="0" y="1197233"/>
                    </a:moveTo>
                    <a:lnTo>
                      <a:pt x="610095" y="0"/>
                    </a:lnTo>
                    <a:lnTo>
                      <a:pt x="610095" y="2154555"/>
                    </a:lnTo>
                    <a:cubicBezTo>
                      <a:pt x="592044" y="2154555"/>
                      <a:pt x="575120" y="2159383"/>
                      <a:pt x="560545" y="2167819"/>
                    </a:cubicBezTo>
                    <a:close/>
                  </a:path>
                </a:pathLst>
              </a:custGeom>
              <a:noFill/>
              <a:ln w="12382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1" name="Rounded Rectangle 29">
                <a:extLst>
                  <a:ext uri="{FF2B5EF4-FFF2-40B4-BE49-F238E27FC236}">
                    <a16:creationId xmlns:a16="http://schemas.microsoft.com/office/drawing/2014/main" id="{BC4B3C2C-29F7-8ED2-58BF-5D034D483716}"/>
                  </a:ext>
                </a:extLst>
              </p:cNvPr>
              <p:cNvSpPr/>
              <p:nvPr/>
            </p:nvSpPr>
            <p:spPr>
              <a:xfrm>
                <a:off x="2414149" y="2117665"/>
                <a:ext cx="560545" cy="1006855"/>
              </a:xfrm>
              <a:custGeom>
                <a:avLst/>
                <a:gdLst/>
                <a:ahLst/>
                <a:cxnLst/>
                <a:rect l="0" t="0" r="0" b="0"/>
                <a:pathLst>
                  <a:path w="560545" h="1006855">
                    <a:moveTo>
                      <a:pt x="0" y="704254"/>
                    </a:moveTo>
                    <a:lnTo>
                      <a:pt x="0" y="0"/>
                    </a:lnTo>
                    <a:lnTo>
                      <a:pt x="560545" y="970585"/>
                    </a:lnTo>
                    <a:cubicBezTo>
                      <a:pt x="545515" y="979285"/>
                      <a:pt x="532981" y="991821"/>
                      <a:pt x="524286" y="1006855"/>
                    </a:cubicBezTo>
                    <a:close/>
                  </a:path>
                </a:pathLst>
              </a:custGeom>
              <a:noFill/>
              <a:ln w="12382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9ABF937-B9E3-D4EB-10C9-9BF98653CD56}"/>
                </a:ext>
              </a:extLst>
            </p:cNvPr>
            <p:cNvGrpSpPr/>
            <p:nvPr/>
          </p:nvGrpSpPr>
          <p:grpSpPr>
            <a:xfrm>
              <a:off x="2482220" y="3494627"/>
              <a:ext cx="198120" cy="198120"/>
              <a:chOff x="2925960" y="3074987"/>
              <a:chExt cx="198120" cy="198120"/>
            </a:xfrm>
          </p:grpSpPr>
          <p:sp>
            <p:nvSpPr>
              <p:cNvPr id="76" name="Rounded Rectangle 31">
                <a:extLst>
                  <a:ext uri="{FF2B5EF4-FFF2-40B4-BE49-F238E27FC236}">
                    <a16:creationId xmlns:a16="http://schemas.microsoft.com/office/drawing/2014/main" id="{3E3874A4-FE24-59CE-D7ED-B1361BF50D66}"/>
                  </a:ext>
                </a:extLst>
              </p:cNvPr>
              <p:cNvSpPr/>
              <p:nvPr/>
            </p:nvSpPr>
            <p:spPr>
              <a:xfrm>
                <a:off x="2925960" y="3074987"/>
                <a:ext cx="198120" cy="198120"/>
              </a:xfrm>
              <a:custGeom>
                <a:avLst/>
                <a:gdLst/>
                <a:ahLst/>
                <a:cxnLst/>
                <a:rect l="0" t="0" r="0" b="0"/>
                <a:pathLst>
                  <a:path w="198120" h="198120">
                    <a:moveTo>
                      <a:pt x="49510" y="13264"/>
                    </a:moveTo>
                    <a:cubicBezTo>
                      <a:pt x="64085" y="4828"/>
                      <a:pt x="81008" y="0"/>
                      <a:pt x="99060" y="0"/>
                    </a:cubicBezTo>
                    <a:cubicBezTo>
                      <a:pt x="117111" y="0"/>
                      <a:pt x="134034" y="4828"/>
                      <a:pt x="148609" y="13264"/>
                    </a:cubicBezTo>
                    <a:cubicBezTo>
                      <a:pt x="163641" y="21964"/>
                      <a:pt x="176174" y="34500"/>
                      <a:pt x="184869" y="49533"/>
                    </a:cubicBezTo>
                    <a:cubicBezTo>
                      <a:pt x="193296" y="64103"/>
                      <a:pt x="198120" y="81018"/>
                      <a:pt x="198120" y="99060"/>
                    </a:cubicBezTo>
                    <a:cubicBezTo>
                      <a:pt x="198120" y="117101"/>
                      <a:pt x="193296" y="134016"/>
                      <a:pt x="184869" y="148586"/>
                    </a:cubicBezTo>
                    <a:cubicBezTo>
                      <a:pt x="176174" y="163619"/>
                      <a:pt x="163641" y="176156"/>
                      <a:pt x="148609" y="184855"/>
                    </a:cubicBezTo>
                    <a:cubicBezTo>
                      <a:pt x="134034" y="193291"/>
                      <a:pt x="117111" y="198120"/>
                      <a:pt x="99060" y="198120"/>
                    </a:cubicBezTo>
                    <a:cubicBezTo>
                      <a:pt x="81008" y="198120"/>
                      <a:pt x="64085" y="193291"/>
                      <a:pt x="49510" y="184855"/>
                    </a:cubicBezTo>
                    <a:cubicBezTo>
                      <a:pt x="34478" y="176156"/>
                      <a:pt x="21945" y="163619"/>
                      <a:pt x="13250" y="148586"/>
                    </a:cubicBezTo>
                    <a:cubicBezTo>
                      <a:pt x="4823" y="134016"/>
                      <a:pt x="0" y="117101"/>
                      <a:pt x="0" y="99060"/>
                    </a:cubicBezTo>
                    <a:cubicBezTo>
                      <a:pt x="0" y="81018"/>
                      <a:pt x="4823" y="64103"/>
                      <a:pt x="13250" y="49533"/>
                    </a:cubicBezTo>
                    <a:cubicBezTo>
                      <a:pt x="21945" y="34500"/>
                      <a:pt x="34478" y="21963"/>
                      <a:pt x="49510" y="13264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7" name="Rounded Rectangle 32">
                <a:extLst>
                  <a:ext uri="{FF2B5EF4-FFF2-40B4-BE49-F238E27FC236}">
                    <a16:creationId xmlns:a16="http://schemas.microsoft.com/office/drawing/2014/main" id="{CE746DCA-A354-2437-43D9-8AECA4318890}"/>
                  </a:ext>
                </a:extLst>
              </p:cNvPr>
              <p:cNvSpPr/>
              <p:nvPr/>
            </p:nvSpPr>
            <p:spPr>
              <a:xfrm>
                <a:off x="2925960" y="3074987"/>
                <a:ext cx="198120" cy="198120"/>
              </a:xfrm>
              <a:custGeom>
                <a:avLst/>
                <a:gdLst/>
                <a:ahLst/>
                <a:cxnLst/>
                <a:rect l="0" t="0" r="0" b="0"/>
                <a:pathLst>
                  <a:path w="198120" h="198120">
                    <a:moveTo>
                      <a:pt x="49510" y="13264"/>
                    </a:moveTo>
                    <a:cubicBezTo>
                      <a:pt x="64085" y="4828"/>
                      <a:pt x="81008" y="0"/>
                      <a:pt x="99060" y="0"/>
                    </a:cubicBezTo>
                    <a:cubicBezTo>
                      <a:pt x="117111" y="0"/>
                      <a:pt x="134034" y="4828"/>
                      <a:pt x="148609" y="13264"/>
                    </a:cubicBezTo>
                    <a:cubicBezTo>
                      <a:pt x="163641" y="21963"/>
                      <a:pt x="176174" y="34500"/>
                      <a:pt x="184869" y="49533"/>
                    </a:cubicBezTo>
                    <a:cubicBezTo>
                      <a:pt x="193296" y="64103"/>
                      <a:pt x="198120" y="81018"/>
                      <a:pt x="198120" y="99060"/>
                    </a:cubicBezTo>
                    <a:cubicBezTo>
                      <a:pt x="198120" y="117101"/>
                      <a:pt x="193296" y="134016"/>
                      <a:pt x="184869" y="148586"/>
                    </a:cubicBezTo>
                    <a:cubicBezTo>
                      <a:pt x="176174" y="163619"/>
                      <a:pt x="163641" y="176156"/>
                      <a:pt x="148609" y="184855"/>
                    </a:cubicBezTo>
                    <a:cubicBezTo>
                      <a:pt x="134034" y="193291"/>
                      <a:pt x="117111" y="198120"/>
                      <a:pt x="99060" y="198120"/>
                    </a:cubicBezTo>
                    <a:cubicBezTo>
                      <a:pt x="81008" y="198120"/>
                      <a:pt x="64085" y="193291"/>
                      <a:pt x="49510" y="184855"/>
                    </a:cubicBezTo>
                    <a:cubicBezTo>
                      <a:pt x="34478" y="176156"/>
                      <a:pt x="21945" y="163619"/>
                      <a:pt x="13250" y="148586"/>
                    </a:cubicBezTo>
                    <a:cubicBezTo>
                      <a:pt x="4823" y="134016"/>
                      <a:pt x="0" y="117101"/>
                      <a:pt x="0" y="99060"/>
                    </a:cubicBezTo>
                    <a:cubicBezTo>
                      <a:pt x="0" y="81018"/>
                      <a:pt x="4823" y="64103"/>
                      <a:pt x="13250" y="49533"/>
                    </a:cubicBezTo>
                    <a:cubicBezTo>
                      <a:pt x="21945" y="34500"/>
                      <a:pt x="34478" y="21963"/>
                      <a:pt x="49510" y="13264"/>
                    </a:cubicBezTo>
                    <a:close/>
                  </a:path>
                </a:pathLst>
              </a:custGeom>
              <a:noFill/>
              <a:ln w="12382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58" name="TextBox 35">
              <a:extLst>
                <a:ext uri="{FF2B5EF4-FFF2-40B4-BE49-F238E27FC236}">
                  <a16:creationId xmlns:a16="http://schemas.microsoft.com/office/drawing/2014/main" id="{D63E90A0-206F-6B5C-7FB5-E3167A2546FF}"/>
                </a:ext>
              </a:extLst>
            </p:cNvPr>
            <p:cNvSpPr txBox="1"/>
            <p:nvPr/>
          </p:nvSpPr>
          <p:spPr>
            <a:xfrm>
              <a:off x="4129530" y="2714530"/>
              <a:ext cx="1176337" cy="7280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1">
                  <a:solidFill>
                    <a:srgbClr val="3CC583"/>
                  </a:solidFill>
                  <a:latin typeface="Roboto"/>
                </a:rPr>
                <a:t>Democratized
Knowledge
Access</a:t>
              </a:r>
            </a:p>
          </p:txBody>
        </p:sp>
        <p:sp>
          <p:nvSpPr>
            <p:cNvPr id="59" name="TextBox 36">
              <a:extLst>
                <a:ext uri="{FF2B5EF4-FFF2-40B4-BE49-F238E27FC236}">
                  <a16:creationId xmlns:a16="http://schemas.microsoft.com/office/drawing/2014/main" id="{844AF2AA-B1A2-51FE-6A68-D0FE952FB6EB}"/>
                </a:ext>
              </a:extLst>
            </p:cNvPr>
            <p:cNvSpPr txBox="1"/>
            <p:nvPr/>
          </p:nvSpPr>
          <p:spPr>
            <a:xfrm>
              <a:off x="-212766" y="3209830"/>
              <a:ext cx="1263015" cy="485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1200" b="1">
                  <a:solidFill>
                    <a:srgbClr val="DE8431"/>
                  </a:solidFill>
                  <a:latin typeface="Roboto"/>
                </a:rPr>
                <a:t>Improved Issue
Resolution</a:t>
              </a:r>
            </a:p>
          </p:txBody>
        </p:sp>
        <p:sp>
          <p:nvSpPr>
            <p:cNvPr id="62" name="TextBox 39">
              <a:extLst>
                <a:ext uri="{FF2B5EF4-FFF2-40B4-BE49-F238E27FC236}">
                  <a16:creationId xmlns:a16="http://schemas.microsoft.com/office/drawing/2014/main" id="{23BF21E6-D56C-76D0-A8E0-33EE133F2983}"/>
                </a:ext>
              </a:extLst>
            </p:cNvPr>
            <p:cNvSpPr txBox="1"/>
            <p:nvPr/>
          </p:nvSpPr>
          <p:spPr>
            <a:xfrm>
              <a:off x="2940810" y="1327690"/>
              <a:ext cx="1139190" cy="485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1">
                  <a:solidFill>
                    <a:srgbClr val="1EABDA"/>
                  </a:solidFill>
                  <a:latin typeface="Roboto"/>
                </a:rPr>
                <a:t>Reduced
Support Time</a:t>
              </a:r>
            </a:p>
          </p:txBody>
        </p:sp>
        <p:sp>
          <p:nvSpPr>
            <p:cNvPr id="64" name="TextBox 41">
              <a:extLst>
                <a:ext uri="{FF2B5EF4-FFF2-40B4-BE49-F238E27FC236}">
                  <a16:creationId xmlns:a16="http://schemas.microsoft.com/office/drawing/2014/main" id="{46ED873A-B218-E733-A571-21BF3456BE5E}"/>
                </a:ext>
              </a:extLst>
            </p:cNvPr>
            <p:cNvSpPr txBox="1"/>
            <p:nvPr/>
          </p:nvSpPr>
          <p:spPr>
            <a:xfrm>
              <a:off x="789557" y="1228630"/>
              <a:ext cx="1176337" cy="485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1200" b="1">
                  <a:solidFill>
                    <a:srgbClr val="E55753"/>
                  </a:solidFill>
                  <a:latin typeface="Roboto"/>
                </a:rPr>
                <a:t>Reduced SME
Dependency</a:t>
              </a:r>
            </a:p>
          </p:txBody>
        </p:sp>
        <p:sp>
          <p:nvSpPr>
            <p:cNvPr id="65" name="TextBox 42">
              <a:extLst>
                <a:ext uri="{FF2B5EF4-FFF2-40B4-BE49-F238E27FC236}">
                  <a16:creationId xmlns:a16="http://schemas.microsoft.com/office/drawing/2014/main" id="{2B254020-F490-BFA6-27A6-B069E01FF115}"/>
                </a:ext>
              </a:extLst>
            </p:cNvPr>
            <p:cNvSpPr txBox="1"/>
            <p:nvPr/>
          </p:nvSpPr>
          <p:spPr>
            <a:xfrm>
              <a:off x="1416937" y="832390"/>
              <a:ext cx="2426970" cy="242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0" dirty="0">
                  <a:solidFill>
                    <a:srgbClr val="484848"/>
                  </a:solidFill>
                  <a:latin typeface="Roboto"/>
                </a:rPr>
                <a:t>Enhancing Business Efficiency</a:t>
              </a:r>
            </a:p>
          </p:txBody>
        </p:sp>
        <p:sp>
          <p:nvSpPr>
            <p:cNvPr id="67" name="TextBox 44">
              <a:extLst>
                <a:ext uri="{FF2B5EF4-FFF2-40B4-BE49-F238E27FC236}">
                  <a16:creationId xmlns:a16="http://schemas.microsoft.com/office/drawing/2014/main" id="{BE20DE4A-E9AE-084A-AAB4-913234807D03}"/>
                </a:ext>
              </a:extLst>
            </p:cNvPr>
            <p:cNvSpPr txBox="1"/>
            <p:nvPr/>
          </p:nvSpPr>
          <p:spPr>
            <a:xfrm>
              <a:off x="1142788" y="4893850"/>
              <a:ext cx="1015365" cy="485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1200" b="1">
                  <a:solidFill>
                    <a:srgbClr val="E0CB15"/>
                  </a:solidFill>
                  <a:latin typeface="Roboto"/>
                </a:rPr>
                <a:t>Empowered
Teams</a:t>
              </a:r>
            </a:p>
          </p:txBody>
        </p:sp>
        <p:sp>
          <p:nvSpPr>
            <p:cNvPr id="68" name="TextBox 45">
              <a:extLst>
                <a:ext uri="{FF2B5EF4-FFF2-40B4-BE49-F238E27FC236}">
                  <a16:creationId xmlns:a16="http://schemas.microsoft.com/office/drawing/2014/main" id="{4AC5E302-C76F-5CDA-D956-4BF598D384CB}"/>
                </a:ext>
              </a:extLst>
            </p:cNvPr>
            <p:cNvSpPr txBox="1"/>
            <p:nvPr/>
          </p:nvSpPr>
          <p:spPr>
            <a:xfrm>
              <a:off x="3237990" y="4992910"/>
              <a:ext cx="990600" cy="7280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00" b="1">
                  <a:solidFill>
                    <a:srgbClr val="92BD39"/>
                  </a:solidFill>
                  <a:latin typeface="Roboto"/>
                </a:rPr>
                <a:t>Accelerated
Release
Readiness</a:t>
              </a:r>
            </a:p>
          </p:txBody>
        </p:sp>
        <p:sp>
          <p:nvSpPr>
            <p:cNvPr id="70" name="Rounded Rectangle 47">
              <a:extLst>
                <a:ext uri="{FF2B5EF4-FFF2-40B4-BE49-F238E27FC236}">
                  <a16:creationId xmlns:a16="http://schemas.microsoft.com/office/drawing/2014/main" id="{D6645951-33DF-53A4-2A4F-F87633B24E90}"/>
                </a:ext>
              </a:extLst>
            </p:cNvPr>
            <p:cNvSpPr/>
            <p:nvPr/>
          </p:nvSpPr>
          <p:spPr>
            <a:xfrm>
              <a:off x="2135509" y="2305907"/>
              <a:ext cx="379081" cy="376487"/>
            </a:xfrm>
            <a:custGeom>
              <a:avLst/>
              <a:gdLst/>
              <a:ahLst/>
              <a:cxnLst/>
              <a:rect l="0" t="0" r="0" b="0"/>
              <a:pathLst>
                <a:path w="379081" h="376487">
                  <a:moveTo>
                    <a:pt x="48401" y="249334"/>
                  </a:moveTo>
                  <a:cubicBezTo>
                    <a:pt x="48401" y="226320"/>
                    <a:pt x="67057" y="207664"/>
                    <a:pt x="90071" y="207664"/>
                  </a:cubicBezTo>
                  <a:cubicBezTo>
                    <a:pt x="113084" y="207664"/>
                    <a:pt x="131741" y="226320"/>
                    <a:pt x="131741" y="249334"/>
                  </a:cubicBezTo>
                  <a:cubicBezTo>
                    <a:pt x="131741" y="272348"/>
                    <a:pt x="113084" y="291005"/>
                    <a:pt x="90071" y="291005"/>
                  </a:cubicBezTo>
                  <a:cubicBezTo>
                    <a:pt x="67057" y="291005"/>
                    <a:pt x="48401" y="272348"/>
                    <a:pt x="48401" y="249334"/>
                  </a:cubicBezTo>
                  <a:close/>
                  <a:moveTo>
                    <a:pt x="17154" y="376487"/>
                  </a:moveTo>
                  <a:cubicBezTo>
                    <a:pt x="17154" y="336899"/>
                    <a:pt x="50490" y="303564"/>
                    <a:pt x="90077" y="303564"/>
                  </a:cubicBezTo>
                  <a:cubicBezTo>
                    <a:pt x="129663" y="303564"/>
                    <a:pt x="162999" y="336899"/>
                    <a:pt x="162999" y="376487"/>
                  </a:cubicBezTo>
                  <a:moveTo>
                    <a:pt x="264481" y="249334"/>
                  </a:moveTo>
                  <a:cubicBezTo>
                    <a:pt x="264481" y="226320"/>
                    <a:pt x="283138" y="207664"/>
                    <a:pt x="306151" y="207664"/>
                  </a:cubicBezTo>
                  <a:cubicBezTo>
                    <a:pt x="329166" y="207664"/>
                    <a:pt x="347822" y="226320"/>
                    <a:pt x="347822" y="249334"/>
                  </a:cubicBezTo>
                  <a:cubicBezTo>
                    <a:pt x="347822" y="272348"/>
                    <a:pt x="329166" y="291005"/>
                    <a:pt x="306151" y="291005"/>
                  </a:cubicBezTo>
                  <a:cubicBezTo>
                    <a:pt x="283138" y="291005"/>
                    <a:pt x="264481" y="272348"/>
                    <a:pt x="264481" y="249334"/>
                  </a:cubicBezTo>
                  <a:close/>
                  <a:moveTo>
                    <a:pt x="233236" y="376487"/>
                  </a:moveTo>
                  <a:cubicBezTo>
                    <a:pt x="233236" y="336899"/>
                    <a:pt x="266572" y="303564"/>
                    <a:pt x="306158" y="303564"/>
                  </a:cubicBezTo>
                  <a:cubicBezTo>
                    <a:pt x="345744" y="303564"/>
                    <a:pt x="379081" y="336899"/>
                    <a:pt x="379081" y="376487"/>
                  </a:cubicBezTo>
                  <a:moveTo>
                    <a:pt x="91740" y="152778"/>
                  </a:moveTo>
                  <a:lnTo>
                    <a:pt x="91740" y="119679"/>
                  </a:lnTo>
                  <a:cubicBezTo>
                    <a:pt x="91740" y="65493"/>
                    <a:pt x="137369" y="19863"/>
                    <a:pt x="191555" y="19863"/>
                  </a:cubicBezTo>
                  <a:cubicBezTo>
                    <a:pt x="245741" y="19863"/>
                    <a:pt x="291371" y="65493"/>
                    <a:pt x="291371" y="119679"/>
                  </a:cubicBezTo>
                  <a:lnTo>
                    <a:pt x="291371" y="143609"/>
                  </a:lnTo>
                  <a:moveTo>
                    <a:pt x="0" y="0"/>
                  </a:moveTo>
                  <a:moveTo>
                    <a:pt x="330583" y="119697"/>
                  </a:moveTo>
                  <a:lnTo>
                    <a:pt x="291371" y="158908"/>
                  </a:lnTo>
                  <a:lnTo>
                    <a:pt x="252180" y="119697"/>
                  </a:lnTo>
                </a:path>
              </a:pathLst>
            </a:custGeom>
            <a:noFill/>
            <a:ln w="12382">
              <a:solidFill>
                <a:srgbClr val="484848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1" name="Rounded Rectangle 48">
              <a:extLst>
                <a:ext uri="{FF2B5EF4-FFF2-40B4-BE49-F238E27FC236}">
                  <a16:creationId xmlns:a16="http://schemas.microsoft.com/office/drawing/2014/main" id="{FB49C0E9-121E-04A7-415D-961C61AA31E6}"/>
                </a:ext>
              </a:extLst>
            </p:cNvPr>
            <p:cNvSpPr/>
            <p:nvPr/>
          </p:nvSpPr>
          <p:spPr>
            <a:xfrm>
              <a:off x="3225170" y="2609278"/>
              <a:ext cx="383857" cy="377253"/>
            </a:xfrm>
            <a:custGeom>
              <a:avLst/>
              <a:gdLst/>
              <a:ahLst/>
              <a:cxnLst/>
              <a:rect l="0" t="0" r="0" b="0"/>
              <a:pathLst>
                <a:path w="383857" h="377253">
                  <a:moveTo>
                    <a:pt x="12382" y="347535"/>
                  </a:moveTo>
                  <a:cubicBezTo>
                    <a:pt x="12382" y="245173"/>
                    <a:pt x="95300" y="162623"/>
                    <a:pt x="198120" y="162623"/>
                  </a:cubicBezTo>
                  <a:cubicBezTo>
                    <a:pt x="300939" y="162623"/>
                    <a:pt x="383857" y="245173"/>
                    <a:pt x="383857" y="347535"/>
                  </a:cubicBezTo>
                  <a:moveTo>
                    <a:pt x="173355" y="352488"/>
                  </a:moveTo>
                  <a:cubicBezTo>
                    <a:pt x="173355" y="338809"/>
                    <a:pt x="184443" y="327723"/>
                    <a:pt x="198120" y="327723"/>
                  </a:cubicBezTo>
                  <a:cubicBezTo>
                    <a:pt x="211796" y="327723"/>
                    <a:pt x="222885" y="338809"/>
                    <a:pt x="222885" y="352488"/>
                  </a:cubicBezTo>
                  <a:cubicBezTo>
                    <a:pt x="222885" y="366165"/>
                    <a:pt x="211796" y="377253"/>
                    <a:pt x="198120" y="377253"/>
                  </a:cubicBezTo>
                  <a:cubicBezTo>
                    <a:pt x="184443" y="377253"/>
                    <a:pt x="173355" y="366165"/>
                    <a:pt x="173355" y="352488"/>
                  </a:cubicBezTo>
                  <a:close/>
                  <a:moveTo>
                    <a:pt x="0" y="0"/>
                  </a:moveTo>
                  <a:moveTo>
                    <a:pt x="151066" y="223710"/>
                  </a:moveTo>
                  <a:lnTo>
                    <a:pt x="189039" y="329374"/>
                  </a:lnTo>
                  <a:moveTo>
                    <a:pt x="0" y="0"/>
                  </a:moveTo>
                  <a:moveTo>
                    <a:pt x="245173" y="223710"/>
                  </a:moveTo>
                  <a:lnTo>
                    <a:pt x="236918" y="246824"/>
                  </a:lnTo>
                  <a:moveTo>
                    <a:pt x="0" y="0"/>
                  </a:moveTo>
                  <a:moveTo>
                    <a:pt x="292226" y="299656"/>
                  </a:moveTo>
                  <a:lnTo>
                    <a:pt x="316991" y="284797"/>
                  </a:lnTo>
                  <a:moveTo>
                    <a:pt x="0" y="0"/>
                  </a:moveTo>
                  <a:moveTo>
                    <a:pt x="104012" y="299656"/>
                  </a:moveTo>
                  <a:lnTo>
                    <a:pt x="79247" y="284797"/>
                  </a:lnTo>
                  <a:moveTo>
                    <a:pt x="0" y="0"/>
                  </a:moveTo>
                  <a:moveTo>
                    <a:pt x="333501" y="375602"/>
                  </a:moveTo>
                  <a:lnTo>
                    <a:pt x="308736" y="372300"/>
                  </a:lnTo>
                  <a:moveTo>
                    <a:pt x="0" y="0"/>
                  </a:moveTo>
                  <a:moveTo>
                    <a:pt x="62737" y="375602"/>
                  </a:moveTo>
                  <a:lnTo>
                    <a:pt x="87502" y="372300"/>
                  </a:lnTo>
                  <a:moveTo>
                    <a:pt x="0" y="0"/>
                  </a:moveTo>
                  <a:moveTo>
                    <a:pt x="79247" y="18986"/>
                  </a:moveTo>
                  <a:lnTo>
                    <a:pt x="116593" y="113333"/>
                  </a:lnTo>
                  <a:moveTo>
                    <a:pt x="0" y="0"/>
                  </a:moveTo>
                  <a:moveTo>
                    <a:pt x="141986" y="68516"/>
                  </a:moveTo>
                  <a:lnTo>
                    <a:pt x="115570" y="114744"/>
                  </a:lnTo>
                  <a:lnTo>
                    <a:pt x="66040" y="98234"/>
                  </a:lnTo>
                </a:path>
              </a:pathLst>
            </a:custGeom>
            <a:noFill/>
            <a:ln w="12382">
              <a:solidFill>
                <a:srgbClr val="484848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2" name="Rounded Rectangle 49">
              <a:extLst>
                <a:ext uri="{FF2B5EF4-FFF2-40B4-BE49-F238E27FC236}">
                  <a16:creationId xmlns:a16="http://schemas.microsoft.com/office/drawing/2014/main" id="{B52C58CA-60F9-B4C0-D505-3A6DD7FA6775}"/>
                </a:ext>
              </a:extLst>
            </p:cNvPr>
            <p:cNvSpPr/>
            <p:nvPr/>
          </p:nvSpPr>
          <p:spPr>
            <a:xfrm>
              <a:off x="1351285" y="3105150"/>
              <a:ext cx="373082" cy="381222"/>
            </a:xfrm>
            <a:custGeom>
              <a:avLst/>
              <a:gdLst/>
              <a:ahLst/>
              <a:cxnLst/>
              <a:rect l="0" t="0" r="0" b="0"/>
              <a:pathLst>
                <a:path w="373082" h="381222">
                  <a:moveTo>
                    <a:pt x="181610" y="298672"/>
                  </a:moveTo>
                  <a:lnTo>
                    <a:pt x="231140" y="298672"/>
                  </a:lnTo>
                  <a:cubicBezTo>
                    <a:pt x="267612" y="298672"/>
                    <a:pt x="297180" y="328239"/>
                    <a:pt x="297180" y="364712"/>
                  </a:cubicBezTo>
                  <a:lnTo>
                    <a:pt x="0" y="364712"/>
                  </a:lnTo>
                  <a:moveTo>
                    <a:pt x="0" y="232632"/>
                  </a:moveTo>
                  <a:lnTo>
                    <a:pt x="115570" y="232632"/>
                  </a:lnTo>
                  <a:cubicBezTo>
                    <a:pt x="152042" y="232632"/>
                    <a:pt x="181610" y="262199"/>
                    <a:pt x="181610" y="298672"/>
                  </a:cubicBezTo>
                  <a:lnTo>
                    <a:pt x="107315" y="298672"/>
                  </a:lnTo>
                  <a:moveTo>
                    <a:pt x="0" y="216122"/>
                  </a:moveTo>
                  <a:lnTo>
                    <a:pt x="0" y="381222"/>
                  </a:lnTo>
                  <a:moveTo>
                    <a:pt x="273240" y="181451"/>
                  </a:moveTo>
                  <a:cubicBezTo>
                    <a:pt x="276448" y="184672"/>
                    <a:pt x="280295" y="187186"/>
                    <a:pt x="284533" y="188831"/>
                  </a:cubicBezTo>
                  <a:cubicBezTo>
                    <a:pt x="287125" y="189847"/>
                    <a:pt x="289030" y="192103"/>
                    <a:pt x="289599" y="194828"/>
                  </a:cubicBezTo>
                  <a:cubicBezTo>
                    <a:pt x="290168" y="197554"/>
                    <a:pt x="289325" y="200383"/>
                    <a:pt x="287356" y="202352"/>
                  </a:cubicBezTo>
                  <a:lnTo>
                    <a:pt x="261567" y="228141"/>
                  </a:lnTo>
                  <a:cubicBezTo>
                    <a:pt x="255120" y="234586"/>
                    <a:pt x="244669" y="234586"/>
                    <a:pt x="238222" y="228141"/>
                  </a:cubicBezTo>
                  <a:lnTo>
                    <a:pt x="144825" y="134744"/>
                  </a:lnTo>
                  <a:cubicBezTo>
                    <a:pt x="138380" y="128297"/>
                    <a:pt x="138380" y="117846"/>
                    <a:pt x="144825" y="111399"/>
                  </a:cubicBezTo>
                  <a:lnTo>
                    <a:pt x="168748" y="87525"/>
                  </a:lnTo>
                  <a:cubicBezTo>
                    <a:pt x="170502" y="85764"/>
                    <a:pt x="172955" y="84887"/>
                    <a:pt x="175427" y="85137"/>
                  </a:cubicBezTo>
                  <a:cubicBezTo>
                    <a:pt x="177900" y="85387"/>
                    <a:pt x="180128" y="86737"/>
                    <a:pt x="181494" y="88813"/>
                  </a:cubicBezTo>
                  <a:cubicBezTo>
                    <a:pt x="182712" y="90664"/>
                    <a:pt x="184117" y="92385"/>
                    <a:pt x="185688" y="93948"/>
                  </a:cubicBezTo>
                  <a:cubicBezTo>
                    <a:pt x="194625" y="102720"/>
                    <a:pt x="207757" y="105681"/>
                    <a:pt x="219595" y="101594"/>
                  </a:cubicBezTo>
                  <a:cubicBezTo>
                    <a:pt x="231433" y="97506"/>
                    <a:pt x="239939" y="87073"/>
                    <a:pt x="241560" y="74655"/>
                  </a:cubicBezTo>
                  <a:cubicBezTo>
                    <a:pt x="243180" y="62236"/>
                    <a:pt x="237636" y="49970"/>
                    <a:pt x="227243" y="42981"/>
                  </a:cubicBezTo>
                  <a:cubicBezTo>
                    <a:pt x="225175" y="41612"/>
                    <a:pt x="223833" y="39386"/>
                    <a:pt x="223586" y="36918"/>
                  </a:cubicBezTo>
                  <a:cubicBezTo>
                    <a:pt x="223340" y="34451"/>
                    <a:pt x="224216" y="32003"/>
                    <a:pt x="225972" y="30252"/>
                  </a:cubicBezTo>
                  <a:lnTo>
                    <a:pt x="249961" y="6445"/>
                  </a:lnTo>
                  <a:cubicBezTo>
                    <a:pt x="256408" y="0"/>
                    <a:pt x="266859" y="0"/>
                    <a:pt x="273306" y="6445"/>
                  </a:cubicBezTo>
                  <a:lnTo>
                    <a:pt x="299722" y="32861"/>
                  </a:lnTo>
                  <a:cubicBezTo>
                    <a:pt x="303887" y="17402"/>
                    <a:pt x="318541" y="7158"/>
                    <a:pt x="334489" y="8557"/>
                  </a:cubicBezTo>
                  <a:cubicBezTo>
                    <a:pt x="350438" y="9955"/>
                    <a:pt x="363085" y="22592"/>
                    <a:pt x="364497" y="38540"/>
                  </a:cubicBezTo>
                  <a:cubicBezTo>
                    <a:pt x="365908" y="54487"/>
                    <a:pt x="355676" y="69149"/>
                    <a:pt x="340221" y="73327"/>
                  </a:cubicBezTo>
                  <a:lnTo>
                    <a:pt x="366637" y="99743"/>
                  </a:lnTo>
                  <a:cubicBezTo>
                    <a:pt x="373082" y="106190"/>
                    <a:pt x="373082" y="116641"/>
                    <a:pt x="366637" y="123088"/>
                  </a:cubicBezTo>
                  <a:lnTo>
                    <a:pt x="340865" y="148860"/>
                  </a:lnTo>
                  <a:cubicBezTo>
                    <a:pt x="338896" y="150829"/>
                    <a:pt x="336067" y="151672"/>
                    <a:pt x="333341" y="151103"/>
                  </a:cubicBezTo>
                  <a:cubicBezTo>
                    <a:pt x="330615" y="150534"/>
                    <a:pt x="328360" y="148629"/>
                    <a:pt x="327343" y="146037"/>
                  </a:cubicBezTo>
                  <a:cubicBezTo>
                    <a:pt x="322427" y="133548"/>
                    <a:pt x="310441" y="125278"/>
                    <a:pt x="297021" y="125114"/>
                  </a:cubicBezTo>
                  <a:cubicBezTo>
                    <a:pt x="283601" y="124950"/>
                    <a:pt x="271417" y="132925"/>
                    <a:pt x="266197" y="145290"/>
                  </a:cubicBezTo>
                  <a:cubicBezTo>
                    <a:pt x="260978" y="157655"/>
                    <a:pt x="263762" y="171948"/>
                    <a:pt x="273240" y="181451"/>
                  </a:cubicBezTo>
                  <a:close/>
                </a:path>
              </a:pathLst>
            </a:custGeom>
            <a:noFill/>
            <a:ln w="12382">
              <a:solidFill>
                <a:srgbClr val="484848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3" name="Rounded Rectangle 50">
              <a:extLst>
                <a:ext uri="{FF2B5EF4-FFF2-40B4-BE49-F238E27FC236}">
                  <a16:creationId xmlns:a16="http://schemas.microsoft.com/office/drawing/2014/main" id="{C7F36EB3-C7AD-1069-D553-B7147C2F0E66}"/>
                </a:ext>
              </a:extLst>
            </p:cNvPr>
            <p:cNvSpPr/>
            <p:nvPr/>
          </p:nvSpPr>
          <p:spPr>
            <a:xfrm>
              <a:off x="1552533" y="4199430"/>
              <a:ext cx="373471" cy="370616"/>
            </a:xfrm>
            <a:custGeom>
              <a:avLst/>
              <a:gdLst/>
              <a:ahLst/>
              <a:cxnLst/>
              <a:rect l="0" t="0" r="0" b="0"/>
              <a:pathLst>
                <a:path w="373471" h="370616">
                  <a:moveTo>
                    <a:pt x="218105" y="278596"/>
                  </a:moveTo>
                  <a:lnTo>
                    <a:pt x="218105" y="314482"/>
                  </a:lnTo>
                  <a:cubicBezTo>
                    <a:pt x="218105" y="330992"/>
                    <a:pt x="204897" y="345851"/>
                    <a:pt x="186736" y="345851"/>
                  </a:cubicBezTo>
                  <a:moveTo>
                    <a:pt x="186736" y="345851"/>
                  </a:moveTo>
                  <a:cubicBezTo>
                    <a:pt x="168575" y="345851"/>
                    <a:pt x="155367" y="332643"/>
                    <a:pt x="155367" y="314482"/>
                  </a:cubicBezTo>
                  <a:lnTo>
                    <a:pt x="155367" y="278596"/>
                  </a:lnTo>
                  <a:moveTo>
                    <a:pt x="186736" y="345851"/>
                  </a:moveTo>
                  <a:lnTo>
                    <a:pt x="186736" y="370616"/>
                  </a:lnTo>
                  <a:moveTo>
                    <a:pt x="186736" y="119665"/>
                  </a:moveTo>
                  <a:cubicBezTo>
                    <a:pt x="141145" y="119665"/>
                    <a:pt x="104186" y="156624"/>
                    <a:pt x="104186" y="202214"/>
                  </a:cubicBezTo>
                  <a:cubicBezTo>
                    <a:pt x="104186" y="247805"/>
                    <a:pt x="141145" y="284764"/>
                    <a:pt x="186736" y="284764"/>
                  </a:cubicBezTo>
                  <a:cubicBezTo>
                    <a:pt x="232327" y="284764"/>
                    <a:pt x="269286" y="247805"/>
                    <a:pt x="269286" y="202214"/>
                  </a:cubicBezTo>
                  <a:cubicBezTo>
                    <a:pt x="269286" y="156624"/>
                    <a:pt x="232327" y="119665"/>
                    <a:pt x="186736" y="119665"/>
                  </a:cubicBezTo>
                  <a:close/>
                  <a:moveTo>
                    <a:pt x="84705" y="288768"/>
                  </a:moveTo>
                  <a:cubicBezTo>
                    <a:pt x="77004" y="282993"/>
                    <a:pt x="69304" y="279143"/>
                    <a:pt x="59678" y="279143"/>
                  </a:cubicBezTo>
                  <a:lnTo>
                    <a:pt x="36577" y="281068"/>
                  </a:lnTo>
                  <a:cubicBezTo>
                    <a:pt x="23101" y="282993"/>
                    <a:pt x="11550" y="273367"/>
                    <a:pt x="5775" y="261815"/>
                  </a:cubicBezTo>
                  <a:cubicBezTo>
                    <a:pt x="0" y="248340"/>
                    <a:pt x="3850" y="234864"/>
                    <a:pt x="13475" y="225239"/>
                  </a:cubicBezTo>
                  <a:lnTo>
                    <a:pt x="30801" y="209837"/>
                  </a:lnTo>
                  <a:cubicBezTo>
                    <a:pt x="36577" y="204062"/>
                    <a:pt x="40427" y="196361"/>
                    <a:pt x="40427" y="186736"/>
                  </a:cubicBezTo>
                  <a:cubicBezTo>
                    <a:pt x="40427" y="179036"/>
                    <a:pt x="36577" y="169411"/>
                    <a:pt x="30801" y="163635"/>
                  </a:cubicBezTo>
                  <a:lnTo>
                    <a:pt x="13475" y="148234"/>
                  </a:lnTo>
                  <a:cubicBezTo>
                    <a:pt x="3850" y="138608"/>
                    <a:pt x="0" y="123207"/>
                    <a:pt x="5775" y="111656"/>
                  </a:cubicBezTo>
                  <a:cubicBezTo>
                    <a:pt x="11550" y="100106"/>
                    <a:pt x="23101" y="92405"/>
                    <a:pt x="36577" y="92405"/>
                  </a:cubicBezTo>
                  <a:lnTo>
                    <a:pt x="59678" y="94330"/>
                  </a:lnTo>
                  <a:cubicBezTo>
                    <a:pt x="69304" y="94330"/>
                    <a:pt x="78930" y="90480"/>
                    <a:pt x="84705" y="84705"/>
                  </a:cubicBezTo>
                  <a:cubicBezTo>
                    <a:pt x="90480" y="77004"/>
                    <a:pt x="94330" y="69304"/>
                    <a:pt x="94330" y="59678"/>
                  </a:cubicBezTo>
                  <a:lnTo>
                    <a:pt x="92405" y="36577"/>
                  </a:lnTo>
                  <a:cubicBezTo>
                    <a:pt x="90480" y="23101"/>
                    <a:pt x="100106" y="11550"/>
                    <a:pt x="111656" y="5775"/>
                  </a:cubicBezTo>
                  <a:cubicBezTo>
                    <a:pt x="125132" y="0"/>
                    <a:pt x="138608" y="3850"/>
                    <a:pt x="148234" y="13476"/>
                  </a:cubicBezTo>
                  <a:lnTo>
                    <a:pt x="163634" y="30801"/>
                  </a:lnTo>
                  <a:cubicBezTo>
                    <a:pt x="169410" y="36577"/>
                    <a:pt x="177109" y="40427"/>
                    <a:pt x="186734" y="40427"/>
                  </a:cubicBezTo>
                  <a:cubicBezTo>
                    <a:pt x="196361" y="40427"/>
                    <a:pt x="204062" y="36577"/>
                    <a:pt x="209837" y="30801"/>
                  </a:cubicBezTo>
                  <a:lnTo>
                    <a:pt x="225237" y="13476"/>
                  </a:lnTo>
                  <a:cubicBezTo>
                    <a:pt x="234863" y="3850"/>
                    <a:pt x="248338" y="0"/>
                    <a:pt x="261815" y="5775"/>
                  </a:cubicBezTo>
                  <a:cubicBezTo>
                    <a:pt x="273366" y="11550"/>
                    <a:pt x="282991" y="23101"/>
                    <a:pt x="281066" y="36577"/>
                  </a:cubicBezTo>
                  <a:lnTo>
                    <a:pt x="279141" y="59678"/>
                  </a:lnTo>
                  <a:cubicBezTo>
                    <a:pt x="279141" y="69304"/>
                    <a:pt x="282991" y="77004"/>
                    <a:pt x="288766" y="84705"/>
                  </a:cubicBezTo>
                  <a:cubicBezTo>
                    <a:pt x="294541" y="90480"/>
                    <a:pt x="304167" y="94330"/>
                    <a:pt x="313794" y="94330"/>
                  </a:cubicBezTo>
                  <a:lnTo>
                    <a:pt x="336894" y="92405"/>
                  </a:lnTo>
                  <a:cubicBezTo>
                    <a:pt x="350370" y="92405"/>
                    <a:pt x="361920" y="100106"/>
                    <a:pt x="367696" y="111656"/>
                  </a:cubicBezTo>
                  <a:cubicBezTo>
                    <a:pt x="373471" y="123207"/>
                    <a:pt x="369622" y="138608"/>
                    <a:pt x="359995" y="148234"/>
                  </a:cubicBezTo>
                  <a:lnTo>
                    <a:pt x="342670" y="163635"/>
                  </a:lnTo>
                  <a:cubicBezTo>
                    <a:pt x="336894" y="169411"/>
                    <a:pt x="333044" y="179036"/>
                    <a:pt x="333044" y="186736"/>
                  </a:cubicBezTo>
                  <a:cubicBezTo>
                    <a:pt x="333044" y="196361"/>
                    <a:pt x="336894" y="204062"/>
                    <a:pt x="342670" y="209837"/>
                  </a:cubicBezTo>
                  <a:lnTo>
                    <a:pt x="359995" y="225239"/>
                  </a:lnTo>
                  <a:cubicBezTo>
                    <a:pt x="369622" y="234864"/>
                    <a:pt x="373471" y="248340"/>
                    <a:pt x="367696" y="261815"/>
                  </a:cubicBezTo>
                  <a:cubicBezTo>
                    <a:pt x="361920" y="273367"/>
                    <a:pt x="350370" y="282993"/>
                    <a:pt x="336894" y="281068"/>
                  </a:cubicBezTo>
                  <a:lnTo>
                    <a:pt x="313794" y="279143"/>
                  </a:lnTo>
                  <a:cubicBezTo>
                    <a:pt x="304167" y="279143"/>
                    <a:pt x="296466" y="282993"/>
                    <a:pt x="288766" y="288768"/>
                  </a:cubicBezTo>
                </a:path>
              </a:pathLst>
            </a:custGeom>
            <a:noFill/>
            <a:ln w="12382">
              <a:solidFill>
                <a:srgbClr val="484848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4" name="Rounded Rectangle 51">
              <a:extLst>
                <a:ext uri="{FF2B5EF4-FFF2-40B4-BE49-F238E27FC236}">
                  <a16:creationId xmlns:a16="http://schemas.microsoft.com/office/drawing/2014/main" id="{8727047E-9603-B53E-861A-5B853914C8EB}"/>
                </a:ext>
              </a:extLst>
            </p:cNvPr>
            <p:cNvSpPr/>
            <p:nvPr/>
          </p:nvSpPr>
          <p:spPr>
            <a:xfrm>
              <a:off x="2647320" y="4498633"/>
              <a:ext cx="363220" cy="369427"/>
            </a:xfrm>
            <a:custGeom>
              <a:avLst/>
              <a:gdLst/>
              <a:ahLst/>
              <a:cxnLst/>
              <a:rect l="0" t="0" r="0" b="0"/>
              <a:pathLst>
                <a:path w="363220" h="369427">
                  <a:moveTo>
                    <a:pt x="0" y="285870"/>
                  </a:moveTo>
                  <a:lnTo>
                    <a:pt x="181610" y="335400"/>
                  </a:lnTo>
                  <a:moveTo>
                    <a:pt x="363220" y="285870"/>
                  </a:moveTo>
                  <a:lnTo>
                    <a:pt x="181610" y="335400"/>
                  </a:lnTo>
                  <a:moveTo>
                    <a:pt x="90689" y="262112"/>
                  </a:moveTo>
                  <a:lnTo>
                    <a:pt x="0" y="285870"/>
                  </a:lnTo>
                  <a:moveTo>
                    <a:pt x="0" y="361172"/>
                  </a:moveTo>
                  <a:lnTo>
                    <a:pt x="0" y="287934"/>
                  </a:lnTo>
                  <a:moveTo>
                    <a:pt x="363220" y="287934"/>
                  </a:moveTo>
                  <a:lnTo>
                    <a:pt x="363220" y="361172"/>
                  </a:lnTo>
                  <a:moveTo>
                    <a:pt x="181610" y="369427"/>
                  </a:moveTo>
                  <a:lnTo>
                    <a:pt x="181610" y="335400"/>
                  </a:lnTo>
                  <a:moveTo>
                    <a:pt x="239395" y="86677"/>
                  </a:moveTo>
                  <a:cubicBezTo>
                    <a:pt x="239395" y="118591"/>
                    <a:pt x="229769" y="202247"/>
                    <a:pt x="181610" y="202247"/>
                  </a:cubicBezTo>
                  <a:cubicBezTo>
                    <a:pt x="133450" y="202247"/>
                    <a:pt x="123825" y="118673"/>
                    <a:pt x="123825" y="86677"/>
                  </a:cubicBezTo>
                  <a:cubicBezTo>
                    <a:pt x="123825" y="28892"/>
                    <a:pt x="181610" y="0"/>
                    <a:pt x="181610" y="0"/>
                  </a:cubicBezTo>
                  <a:cubicBezTo>
                    <a:pt x="181610" y="0"/>
                    <a:pt x="239395" y="28892"/>
                    <a:pt x="239395" y="86677"/>
                  </a:cubicBezTo>
                  <a:close/>
                  <a:moveTo>
                    <a:pt x="158941" y="84613"/>
                  </a:moveTo>
                  <a:cubicBezTo>
                    <a:pt x="158939" y="97135"/>
                    <a:pt x="169088" y="107286"/>
                    <a:pt x="181610" y="107286"/>
                  </a:cubicBezTo>
                  <a:cubicBezTo>
                    <a:pt x="194131" y="107286"/>
                    <a:pt x="204280" y="97134"/>
                    <a:pt x="204278" y="84613"/>
                  </a:cubicBezTo>
                  <a:cubicBezTo>
                    <a:pt x="204280" y="72092"/>
                    <a:pt x="194131" y="61940"/>
                    <a:pt x="181610" y="61940"/>
                  </a:cubicBezTo>
                  <a:cubicBezTo>
                    <a:pt x="169088" y="61940"/>
                    <a:pt x="158939" y="72092"/>
                    <a:pt x="158941" y="84613"/>
                  </a:cubicBezTo>
                  <a:moveTo>
                    <a:pt x="143356" y="187371"/>
                  </a:moveTo>
                  <a:lnTo>
                    <a:pt x="130016" y="194058"/>
                  </a:lnTo>
                  <a:cubicBezTo>
                    <a:pt x="122473" y="198062"/>
                    <a:pt x="115563" y="203158"/>
                    <a:pt x="109510" y="209181"/>
                  </a:cubicBezTo>
                  <a:cubicBezTo>
                    <a:pt x="106548" y="212359"/>
                    <a:pt x="101968" y="213448"/>
                    <a:pt x="97892" y="211944"/>
                  </a:cubicBezTo>
                  <a:cubicBezTo>
                    <a:pt x="93817" y="210440"/>
                    <a:pt x="91042" y="206637"/>
                    <a:pt x="90854" y="202297"/>
                  </a:cubicBezTo>
                  <a:cubicBezTo>
                    <a:pt x="87947" y="176885"/>
                    <a:pt x="102159" y="152604"/>
                    <a:pt x="125740" y="142695"/>
                  </a:cubicBezTo>
                  <a:moveTo>
                    <a:pt x="237479" y="142695"/>
                  </a:moveTo>
                  <a:cubicBezTo>
                    <a:pt x="261060" y="152604"/>
                    <a:pt x="275272" y="176885"/>
                    <a:pt x="272365" y="202297"/>
                  </a:cubicBezTo>
                  <a:cubicBezTo>
                    <a:pt x="272177" y="206637"/>
                    <a:pt x="269402" y="210440"/>
                    <a:pt x="265327" y="211944"/>
                  </a:cubicBezTo>
                  <a:cubicBezTo>
                    <a:pt x="261251" y="213448"/>
                    <a:pt x="256671" y="212359"/>
                    <a:pt x="253709" y="209181"/>
                  </a:cubicBezTo>
                  <a:cubicBezTo>
                    <a:pt x="247656" y="203158"/>
                    <a:pt x="240746" y="198062"/>
                    <a:pt x="233203" y="194058"/>
                  </a:cubicBezTo>
                  <a:lnTo>
                    <a:pt x="219863" y="187371"/>
                  </a:lnTo>
                  <a:moveTo>
                    <a:pt x="363220" y="285870"/>
                  </a:moveTo>
                  <a:lnTo>
                    <a:pt x="272530" y="262112"/>
                  </a:lnTo>
                  <a:moveTo>
                    <a:pt x="204724" y="250869"/>
                  </a:moveTo>
                  <a:cubicBezTo>
                    <a:pt x="204724" y="263631"/>
                    <a:pt x="194372" y="294505"/>
                    <a:pt x="181610" y="294505"/>
                  </a:cubicBezTo>
                  <a:cubicBezTo>
                    <a:pt x="168847" y="294505"/>
                    <a:pt x="158495" y="263631"/>
                    <a:pt x="158495" y="250869"/>
                  </a:cubicBezTo>
                  <a:cubicBezTo>
                    <a:pt x="158495" y="238104"/>
                    <a:pt x="168844" y="227755"/>
                    <a:pt x="181610" y="227755"/>
                  </a:cubicBezTo>
                  <a:cubicBezTo>
                    <a:pt x="194375" y="227755"/>
                    <a:pt x="204724" y="238104"/>
                    <a:pt x="204724" y="250869"/>
                  </a:cubicBezTo>
                  <a:close/>
                </a:path>
              </a:pathLst>
            </a:custGeom>
            <a:noFill/>
            <a:ln w="12382">
              <a:solidFill>
                <a:srgbClr val="484848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5" name="Rounded Rectangle 52">
              <a:extLst>
                <a:ext uri="{FF2B5EF4-FFF2-40B4-BE49-F238E27FC236}">
                  <a16:creationId xmlns:a16="http://schemas.microsoft.com/office/drawing/2014/main" id="{EF7A5F03-133F-B7E1-A097-178941440554}"/>
                </a:ext>
              </a:extLst>
            </p:cNvPr>
            <p:cNvSpPr/>
            <p:nvPr/>
          </p:nvSpPr>
          <p:spPr>
            <a:xfrm>
              <a:off x="3448055" y="3701019"/>
              <a:ext cx="346709" cy="379713"/>
            </a:xfrm>
            <a:custGeom>
              <a:avLst/>
              <a:gdLst/>
              <a:ahLst/>
              <a:cxnLst/>
              <a:rect l="0" t="0" r="0" b="0"/>
              <a:pathLst>
                <a:path w="346709" h="379713">
                  <a:moveTo>
                    <a:pt x="24765" y="214613"/>
                  </a:moveTo>
                  <a:lnTo>
                    <a:pt x="24765" y="170317"/>
                  </a:lnTo>
                  <a:cubicBezTo>
                    <a:pt x="24767" y="165157"/>
                    <a:pt x="27180" y="160296"/>
                    <a:pt x="31289" y="157176"/>
                  </a:cubicBezTo>
                  <a:cubicBezTo>
                    <a:pt x="35398" y="154055"/>
                    <a:pt x="40729" y="153035"/>
                    <a:pt x="45699" y="154418"/>
                  </a:cubicBezTo>
                  <a:lnTo>
                    <a:pt x="173355" y="189848"/>
                  </a:lnTo>
                  <a:lnTo>
                    <a:pt x="173355" y="379713"/>
                  </a:lnTo>
                  <a:lnTo>
                    <a:pt x="36850" y="341740"/>
                  </a:lnTo>
                  <a:cubicBezTo>
                    <a:pt x="29733" y="339760"/>
                    <a:pt x="24797" y="333294"/>
                    <a:pt x="24765" y="325907"/>
                  </a:cubicBezTo>
                  <a:lnTo>
                    <a:pt x="24765" y="264143"/>
                  </a:lnTo>
                  <a:moveTo>
                    <a:pt x="321945" y="264143"/>
                  </a:moveTo>
                  <a:lnTo>
                    <a:pt x="321945" y="325907"/>
                  </a:lnTo>
                  <a:cubicBezTo>
                    <a:pt x="321912" y="333294"/>
                    <a:pt x="316976" y="339760"/>
                    <a:pt x="309859" y="341740"/>
                  </a:cubicBezTo>
                  <a:lnTo>
                    <a:pt x="173355" y="379713"/>
                  </a:lnTo>
                  <a:moveTo>
                    <a:pt x="173355" y="189848"/>
                  </a:moveTo>
                  <a:lnTo>
                    <a:pt x="301010" y="154418"/>
                  </a:lnTo>
                  <a:cubicBezTo>
                    <a:pt x="305980" y="153035"/>
                    <a:pt x="311311" y="154055"/>
                    <a:pt x="315420" y="157176"/>
                  </a:cubicBezTo>
                  <a:cubicBezTo>
                    <a:pt x="319529" y="160296"/>
                    <a:pt x="321942" y="165157"/>
                    <a:pt x="321944" y="170317"/>
                  </a:cubicBezTo>
                  <a:lnTo>
                    <a:pt x="321944" y="214613"/>
                  </a:lnTo>
                  <a:moveTo>
                    <a:pt x="119697" y="53657"/>
                  </a:moveTo>
                  <a:cubicBezTo>
                    <a:pt x="119697" y="24023"/>
                    <a:pt x="143720" y="0"/>
                    <a:pt x="173355" y="0"/>
                  </a:cubicBezTo>
                  <a:cubicBezTo>
                    <a:pt x="202989" y="0"/>
                    <a:pt x="227012" y="24023"/>
                    <a:pt x="227012" y="53657"/>
                  </a:cubicBezTo>
                  <a:cubicBezTo>
                    <a:pt x="227012" y="83291"/>
                    <a:pt x="202989" y="107315"/>
                    <a:pt x="173355" y="107315"/>
                  </a:cubicBezTo>
                  <a:cubicBezTo>
                    <a:pt x="143720" y="107315"/>
                    <a:pt x="119697" y="83291"/>
                    <a:pt x="119697" y="53657"/>
                  </a:cubicBezTo>
                  <a:close/>
                  <a:moveTo>
                    <a:pt x="103137" y="170366"/>
                  </a:moveTo>
                  <a:cubicBezTo>
                    <a:pt x="120211" y="148422"/>
                    <a:pt x="145655" y="134584"/>
                    <a:pt x="173354" y="132179"/>
                  </a:cubicBezTo>
                  <a:cubicBezTo>
                    <a:pt x="201058" y="134600"/>
                    <a:pt x="226507" y="148434"/>
                    <a:pt x="243605" y="170366"/>
                  </a:cubicBezTo>
                  <a:moveTo>
                    <a:pt x="272415" y="252586"/>
                  </a:moveTo>
                  <a:lnTo>
                    <a:pt x="217007" y="269311"/>
                  </a:lnTo>
                  <a:cubicBezTo>
                    <a:pt x="214507" y="270063"/>
                    <a:pt x="211798" y="269587"/>
                    <a:pt x="209703" y="268029"/>
                  </a:cubicBezTo>
                  <a:cubicBezTo>
                    <a:pt x="207608" y="266471"/>
                    <a:pt x="206374" y="264013"/>
                    <a:pt x="206375" y="261402"/>
                  </a:cubicBezTo>
                  <a:lnTo>
                    <a:pt x="206375" y="237364"/>
                  </a:lnTo>
                  <a:cubicBezTo>
                    <a:pt x="206380" y="233725"/>
                    <a:pt x="208768" y="230520"/>
                    <a:pt x="212252" y="229472"/>
                  </a:cubicBezTo>
                  <a:lnTo>
                    <a:pt x="272415" y="211311"/>
                  </a:lnTo>
                  <a:moveTo>
                    <a:pt x="41275" y="264143"/>
                  </a:moveTo>
                  <a:cubicBezTo>
                    <a:pt x="45834" y="264143"/>
                    <a:pt x="49530" y="260447"/>
                    <a:pt x="49530" y="255888"/>
                  </a:cubicBezTo>
                  <a:lnTo>
                    <a:pt x="49530" y="222868"/>
                  </a:lnTo>
                  <a:cubicBezTo>
                    <a:pt x="49530" y="218309"/>
                    <a:pt x="45834" y="214613"/>
                    <a:pt x="41275" y="214613"/>
                  </a:cubicBezTo>
                  <a:lnTo>
                    <a:pt x="24765" y="214613"/>
                  </a:lnTo>
                  <a:cubicBezTo>
                    <a:pt x="11087" y="214613"/>
                    <a:pt x="0" y="225701"/>
                    <a:pt x="0" y="239378"/>
                  </a:cubicBezTo>
                  <a:cubicBezTo>
                    <a:pt x="0" y="253055"/>
                    <a:pt x="11087" y="264143"/>
                    <a:pt x="24765" y="264143"/>
                  </a:cubicBezTo>
                  <a:close/>
                  <a:moveTo>
                    <a:pt x="305435" y="264143"/>
                  </a:moveTo>
                  <a:cubicBezTo>
                    <a:pt x="300875" y="264143"/>
                    <a:pt x="297180" y="260447"/>
                    <a:pt x="297180" y="255888"/>
                  </a:cubicBezTo>
                  <a:lnTo>
                    <a:pt x="297180" y="222868"/>
                  </a:lnTo>
                  <a:cubicBezTo>
                    <a:pt x="297180" y="218309"/>
                    <a:pt x="300875" y="214613"/>
                    <a:pt x="305435" y="214613"/>
                  </a:cubicBezTo>
                  <a:lnTo>
                    <a:pt x="321945" y="214613"/>
                  </a:lnTo>
                  <a:cubicBezTo>
                    <a:pt x="335622" y="214613"/>
                    <a:pt x="346709" y="225701"/>
                    <a:pt x="346709" y="239378"/>
                  </a:cubicBezTo>
                  <a:cubicBezTo>
                    <a:pt x="346709" y="253055"/>
                    <a:pt x="335622" y="264143"/>
                    <a:pt x="321944" y="264143"/>
                  </a:cubicBezTo>
                  <a:close/>
                </a:path>
              </a:pathLst>
            </a:custGeom>
            <a:noFill/>
            <a:ln w="12382">
              <a:solidFill>
                <a:srgbClr val="484848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41861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480691E-CBF9-046D-0D7C-8B4AFD15006A}"/>
              </a:ext>
            </a:extLst>
          </p:cNvPr>
          <p:cNvGrpSpPr/>
          <p:nvPr/>
        </p:nvGrpSpPr>
        <p:grpSpPr>
          <a:xfrm>
            <a:off x="556159" y="320211"/>
            <a:ext cx="3534082" cy="2838456"/>
            <a:chOff x="2591162" y="1762122"/>
            <a:chExt cx="4783807" cy="363855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352F2FA-4AB1-BC8A-71BA-528ABE44522C}"/>
                </a:ext>
              </a:extLst>
            </p:cNvPr>
            <p:cNvGrpSpPr/>
            <p:nvPr/>
          </p:nvGrpSpPr>
          <p:grpSpPr>
            <a:xfrm>
              <a:off x="4288869" y="2314572"/>
              <a:ext cx="3086100" cy="3086106"/>
              <a:chOff x="2514600" y="1028700"/>
              <a:chExt cx="3086100" cy="3086106"/>
            </a:xfrm>
          </p:grpSpPr>
          <p:sp>
            <p:nvSpPr>
              <p:cNvPr id="16" name="Rounded Rectangle 1">
                <a:extLst>
                  <a:ext uri="{FF2B5EF4-FFF2-40B4-BE49-F238E27FC236}">
                    <a16:creationId xmlns:a16="http://schemas.microsoft.com/office/drawing/2014/main" id="{972C23F7-3769-2673-D35C-F612359A9299}"/>
                  </a:ext>
                </a:extLst>
              </p:cNvPr>
              <p:cNvSpPr/>
              <p:nvPr/>
            </p:nvSpPr>
            <p:spPr>
              <a:xfrm>
                <a:off x="2514600" y="1028700"/>
                <a:ext cx="3086100" cy="3086100"/>
              </a:xfrm>
              <a:custGeom>
                <a:avLst/>
                <a:gdLst/>
                <a:ahLst/>
                <a:cxnLst/>
                <a:rect l="0" t="0" r="0" b="0"/>
                <a:pathLst>
                  <a:path w="3086100" h="3086100">
                    <a:moveTo>
                      <a:pt x="2686050" y="1943100"/>
                    </a:moveTo>
                    <a:cubicBezTo>
                      <a:pt x="2686050" y="1311840"/>
                      <a:pt x="2174309" y="800100"/>
                      <a:pt x="1543050" y="800100"/>
                    </a:cubicBezTo>
                    <a:cubicBezTo>
                      <a:pt x="911788" y="800100"/>
                      <a:pt x="400050" y="1311840"/>
                      <a:pt x="400050" y="1943100"/>
                    </a:cubicBezTo>
                    <a:cubicBezTo>
                      <a:pt x="400050" y="2573093"/>
                      <a:pt x="913539" y="3084042"/>
                      <a:pt x="1543050" y="3086100"/>
                    </a:cubicBezTo>
                    <a:cubicBezTo>
                      <a:pt x="692597" y="3084042"/>
                      <a:pt x="0" y="2393984"/>
                      <a:pt x="0" y="1543050"/>
                    </a:cubicBezTo>
                    <a:cubicBezTo>
                      <a:pt x="0" y="690847"/>
                      <a:pt x="690847" y="0"/>
                      <a:pt x="1543050" y="0"/>
                    </a:cubicBezTo>
                    <a:cubicBezTo>
                      <a:pt x="2395251" y="0"/>
                      <a:pt x="3086100" y="690847"/>
                      <a:pt x="3086100" y="1543050"/>
                    </a:cubicBezTo>
                    <a:cubicBezTo>
                      <a:pt x="3086100" y="2395251"/>
                      <a:pt x="2395251" y="3086100"/>
                      <a:pt x="1543050" y="3086100"/>
                    </a:cubicBezTo>
                    <a:cubicBezTo>
                      <a:pt x="2174309" y="3086100"/>
                      <a:pt x="2686050" y="2574359"/>
                      <a:pt x="2686050" y="19431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282"/>
                  </a:gs>
                  <a:gs pos="100000">
                    <a:srgbClr val="FFE714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7" name="Rounded Rectangle 2">
                <a:extLst>
                  <a:ext uri="{FF2B5EF4-FFF2-40B4-BE49-F238E27FC236}">
                    <a16:creationId xmlns:a16="http://schemas.microsoft.com/office/drawing/2014/main" id="{518EC1F9-4EB7-D621-E611-F773100236A5}"/>
                  </a:ext>
                </a:extLst>
              </p:cNvPr>
              <p:cNvSpPr/>
              <p:nvPr/>
            </p:nvSpPr>
            <p:spPr>
              <a:xfrm>
                <a:off x="2514600" y="1028700"/>
                <a:ext cx="3086100" cy="3086106"/>
              </a:xfrm>
              <a:custGeom>
                <a:avLst/>
                <a:gdLst/>
                <a:ahLst/>
                <a:cxnLst/>
                <a:rect l="0" t="0" r="0" b="0"/>
                <a:pathLst>
                  <a:path w="3086100" h="3086106">
                    <a:moveTo>
                      <a:pt x="2686050" y="1943100"/>
                    </a:moveTo>
                    <a:cubicBezTo>
                      <a:pt x="2686050" y="1311838"/>
                      <a:pt x="2174311" y="800100"/>
                      <a:pt x="1543050" y="800100"/>
                    </a:cubicBezTo>
                    <a:cubicBezTo>
                      <a:pt x="911788" y="800100"/>
                      <a:pt x="400050" y="1311838"/>
                      <a:pt x="400050" y="1943100"/>
                    </a:cubicBezTo>
                    <a:cubicBezTo>
                      <a:pt x="400050" y="2573091"/>
                      <a:pt x="913539" y="3084046"/>
                      <a:pt x="1543050" y="3086100"/>
                    </a:cubicBezTo>
                    <a:cubicBezTo>
                      <a:pt x="692597" y="3084045"/>
                      <a:pt x="0" y="2393983"/>
                      <a:pt x="0" y="1543050"/>
                    </a:cubicBezTo>
                    <a:cubicBezTo>
                      <a:pt x="0" y="690847"/>
                      <a:pt x="690847" y="0"/>
                      <a:pt x="1543050" y="0"/>
                    </a:cubicBezTo>
                    <a:cubicBezTo>
                      <a:pt x="2395252" y="0"/>
                      <a:pt x="3086100" y="690847"/>
                      <a:pt x="3086100" y="1543050"/>
                    </a:cubicBezTo>
                    <a:cubicBezTo>
                      <a:pt x="3086100" y="2395252"/>
                      <a:pt x="2395252" y="3086100"/>
                      <a:pt x="1543050" y="3086100"/>
                    </a:cubicBezTo>
                    <a:cubicBezTo>
                      <a:pt x="2174311" y="3086100"/>
                      <a:pt x="2686050" y="2574361"/>
                      <a:pt x="2686050" y="1943100"/>
                    </a:cubicBezTo>
                    <a:close/>
                    <a:moveTo>
                      <a:pt x="1543050" y="3086100"/>
                    </a:moveTo>
                    <a:cubicBezTo>
                      <a:pt x="1544318" y="3086106"/>
                      <a:pt x="1541779" y="3086100"/>
                      <a:pt x="1543050" y="3086100"/>
                    </a:cubicBezTo>
                    <a:close/>
                  </a:path>
                </a:pathLst>
              </a:custGeom>
              <a:noFill/>
              <a:ln w="14287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82F83C3-A98F-8C6D-F3FF-C69085EB567C}"/>
                </a:ext>
              </a:extLst>
            </p:cNvPr>
            <p:cNvGrpSpPr/>
            <p:nvPr/>
          </p:nvGrpSpPr>
          <p:grpSpPr>
            <a:xfrm>
              <a:off x="4688919" y="3114672"/>
              <a:ext cx="2286000" cy="2286006"/>
              <a:chOff x="2914650" y="1828800"/>
              <a:chExt cx="2286000" cy="2286006"/>
            </a:xfrm>
          </p:grpSpPr>
          <p:sp>
            <p:nvSpPr>
              <p:cNvPr id="14" name="Rounded Rectangle 4">
                <a:extLst>
                  <a:ext uri="{FF2B5EF4-FFF2-40B4-BE49-F238E27FC236}">
                    <a16:creationId xmlns:a16="http://schemas.microsoft.com/office/drawing/2014/main" id="{101526E4-FB4D-F80C-355A-9C88EA129F19}"/>
                  </a:ext>
                </a:extLst>
              </p:cNvPr>
              <p:cNvSpPr/>
              <p:nvPr/>
            </p:nvSpPr>
            <p:spPr>
              <a:xfrm>
                <a:off x="2914650" y="1828800"/>
                <a:ext cx="2286000" cy="2286000"/>
              </a:xfrm>
              <a:custGeom>
                <a:avLst/>
                <a:gdLst/>
                <a:ahLst/>
                <a:cxnLst/>
                <a:rect l="0" t="0" r="0" b="0"/>
                <a:pathLst>
                  <a:path w="2286000" h="2286000">
                    <a:moveTo>
                      <a:pt x="1885950" y="1543050"/>
                    </a:moveTo>
                    <a:cubicBezTo>
                      <a:pt x="1885950" y="1132732"/>
                      <a:pt x="1553317" y="800100"/>
                      <a:pt x="1143000" y="800100"/>
                    </a:cubicBezTo>
                    <a:cubicBezTo>
                      <a:pt x="732680" y="800100"/>
                      <a:pt x="400050" y="1132732"/>
                      <a:pt x="400050" y="1543050"/>
                    </a:cubicBezTo>
                    <a:cubicBezTo>
                      <a:pt x="400050" y="1952101"/>
                      <a:pt x="734431" y="2283952"/>
                      <a:pt x="1143000" y="2286000"/>
                    </a:cubicBezTo>
                    <a:cubicBezTo>
                      <a:pt x="513489" y="2283942"/>
                      <a:pt x="0" y="1772993"/>
                      <a:pt x="0" y="1143000"/>
                    </a:cubicBezTo>
                    <a:cubicBezTo>
                      <a:pt x="0" y="511738"/>
                      <a:pt x="511738" y="0"/>
                      <a:pt x="1143000" y="0"/>
                    </a:cubicBezTo>
                    <a:cubicBezTo>
                      <a:pt x="1774259" y="0"/>
                      <a:pt x="2286000" y="511738"/>
                      <a:pt x="2286000" y="1143000"/>
                    </a:cubicBezTo>
                    <a:cubicBezTo>
                      <a:pt x="2286000" y="1774259"/>
                      <a:pt x="1774259" y="2286000"/>
                      <a:pt x="1143000" y="2286000"/>
                    </a:cubicBezTo>
                    <a:cubicBezTo>
                      <a:pt x="1553317" y="2286000"/>
                      <a:pt x="1885950" y="1953367"/>
                      <a:pt x="1885950" y="154305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C188"/>
                  </a:gs>
                  <a:gs pos="100000">
                    <a:srgbClr val="FA963A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5" name="Rounded Rectangle 5">
                <a:extLst>
                  <a:ext uri="{FF2B5EF4-FFF2-40B4-BE49-F238E27FC236}">
                    <a16:creationId xmlns:a16="http://schemas.microsoft.com/office/drawing/2014/main" id="{7CC3C37C-AC0B-C788-0B6E-3853FA986C32}"/>
                  </a:ext>
                </a:extLst>
              </p:cNvPr>
              <p:cNvSpPr/>
              <p:nvPr/>
            </p:nvSpPr>
            <p:spPr>
              <a:xfrm>
                <a:off x="2914650" y="1828800"/>
                <a:ext cx="2286000" cy="2286006"/>
              </a:xfrm>
              <a:custGeom>
                <a:avLst/>
                <a:gdLst/>
                <a:ahLst/>
                <a:cxnLst/>
                <a:rect l="0" t="0" r="0" b="0"/>
                <a:pathLst>
                  <a:path w="2286000" h="2286006">
                    <a:moveTo>
                      <a:pt x="1885950" y="1543050"/>
                    </a:moveTo>
                    <a:cubicBezTo>
                      <a:pt x="1885950" y="1132730"/>
                      <a:pt x="1553319" y="800100"/>
                      <a:pt x="1143000" y="800100"/>
                    </a:cubicBezTo>
                    <a:cubicBezTo>
                      <a:pt x="732680" y="800100"/>
                      <a:pt x="400050" y="1132730"/>
                      <a:pt x="400050" y="1543050"/>
                    </a:cubicBezTo>
                    <a:cubicBezTo>
                      <a:pt x="400050" y="1952100"/>
                      <a:pt x="734431" y="2283949"/>
                      <a:pt x="1143000" y="2286000"/>
                    </a:cubicBezTo>
                    <a:cubicBezTo>
                      <a:pt x="513489" y="2283946"/>
                      <a:pt x="0" y="1772991"/>
                      <a:pt x="0" y="1143000"/>
                    </a:cubicBezTo>
                    <a:cubicBezTo>
                      <a:pt x="0" y="511738"/>
                      <a:pt x="511738" y="0"/>
                      <a:pt x="1143000" y="0"/>
                    </a:cubicBezTo>
                    <a:cubicBezTo>
                      <a:pt x="1774261" y="0"/>
                      <a:pt x="2286000" y="511738"/>
                      <a:pt x="2286000" y="1143000"/>
                    </a:cubicBezTo>
                    <a:cubicBezTo>
                      <a:pt x="2286000" y="1774261"/>
                      <a:pt x="1774261" y="2286000"/>
                      <a:pt x="1143000" y="2286000"/>
                    </a:cubicBezTo>
                    <a:cubicBezTo>
                      <a:pt x="1553319" y="2286000"/>
                      <a:pt x="1885950" y="1953369"/>
                      <a:pt x="1885950" y="1543050"/>
                    </a:cubicBezTo>
                    <a:close/>
                    <a:moveTo>
                      <a:pt x="1143000" y="2286000"/>
                    </a:moveTo>
                    <a:cubicBezTo>
                      <a:pt x="1144268" y="2286006"/>
                      <a:pt x="1141729" y="2286000"/>
                      <a:pt x="1143000" y="2286000"/>
                    </a:cubicBezTo>
                    <a:close/>
                  </a:path>
                </a:pathLst>
              </a:custGeom>
              <a:noFill/>
              <a:ln w="14287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29A056F-839D-6762-B4AC-4109EF596DCD}"/>
                </a:ext>
              </a:extLst>
            </p:cNvPr>
            <p:cNvGrpSpPr/>
            <p:nvPr/>
          </p:nvGrpSpPr>
          <p:grpSpPr>
            <a:xfrm>
              <a:off x="5088969" y="3914772"/>
              <a:ext cx="1485900" cy="1485906"/>
              <a:chOff x="3314700" y="2628900"/>
              <a:chExt cx="1485900" cy="1485906"/>
            </a:xfrm>
          </p:grpSpPr>
          <p:sp>
            <p:nvSpPr>
              <p:cNvPr id="12" name="Rounded Rectangle 7">
                <a:extLst>
                  <a:ext uri="{FF2B5EF4-FFF2-40B4-BE49-F238E27FC236}">
                    <a16:creationId xmlns:a16="http://schemas.microsoft.com/office/drawing/2014/main" id="{4CA8BD45-8C86-50D1-B394-9F0C6A513E89}"/>
                  </a:ext>
                </a:extLst>
              </p:cNvPr>
              <p:cNvSpPr/>
              <p:nvPr/>
            </p:nvSpPr>
            <p:spPr>
              <a:xfrm>
                <a:off x="3314700" y="2628900"/>
                <a:ext cx="1485900" cy="1485900"/>
              </a:xfrm>
              <a:custGeom>
                <a:avLst/>
                <a:gdLst/>
                <a:ahLst/>
                <a:cxnLst/>
                <a:rect l="0" t="0" r="0" b="0"/>
                <a:pathLst>
                  <a:path w="1485900" h="1485900">
                    <a:moveTo>
                      <a:pt x="1485900" y="742950"/>
                    </a:moveTo>
                    <a:cubicBezTo>
                      <a:pt x="1485900" y="1153267"/>
                      <a:pt x="1153267" y="1485900"/>
                      <a:pt x="742950" y="1485900"/>
                    </a:cubicBezTo>
                    <a:cubicBezTo>
                      <a:pt x="334381" y="1483852"/>
                      <a:pt x="0" y="1152001"/>
                      <a:pt x="0" y="742950"/>
                    </a:cubicBezTo>
                    <a:cubicBezTo>
                      <a:pt x="0" y="332630"/>
                      <a:pt x="332630" y="0"/>
                      <a:pt x="742950" y="0"/>
                    </a:cubicBezTo>
                    <a:cubicBezTo>
                      <a:pt x="1153267" y="0"/>
                      <a:pt x="1485900" y="332630"/>
                      <a:pt x="1485900" y="74295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A6A3"/>
                  </a:gs>
                  <a:gs pos="100000">
                    <a:srgbClr val="FD6A6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" name="Rounded Rectangle 8">
                <a:extLst>
                  <a:ext uri="{FF2B5EF4-FFF2-40B4-BE49-F238E27FC236}">
                    <a16:creationId xmlns:a16="http://schemas.microsoft.com/office/drawing/2014/main" id="{842656BA-5121-6656-8012-4EAC5A429268}"/>
                  </a:ext>
                </a:extLst>
              </p:cNvPr>
              <p:cNvSpPr/>
              <p:nvPr/>
            </p:nvSpPr>
            <p:spPr>
              <a:xfrm>
                <a:off x="3314700" y="2628900"/>
                <a:ext cx="1485900" cy="1485906"/>
              </a:xfrm>
              <a:custGeom>
                <a:avLst/>
                <a:gdLst/>
                <a:ahLst/>
                <a:cxnLst/>
                <a:rect l="0" t="0" r="0" b="0"/>
                <a:pathLst>
                  <a:path w="1485900" h="1485906">
                    <a:moveTo>
                      <a:pt x="1485900" y="742950"/>
                    </a:moveTo>
                    <a:cubicBezTo>
                      <a:pt x="1485900" y="1153269"/>
                      <a:pt x="1153269" y="1485900"/>
                      <a:pt x="742950" y="1485900"/>
                    </a:cubicBezTo>
                    <a:cubicBezTo>
                      <a:pt x="334381" y="1483849"/>
                      <a:pt x="0" y="1152000"/>
                      <a:pt x="0" y="742950"/>
                    </a:cubicBezTo>
                    <a:cubicBezTo>
                      <a:pt x="0" y="332630"/>
                      <a:pt x="332630" y="0"/>
                      <a:pt x="742950" y="0"/>
                    </a:cubicBezTo>
                    <a:cubicBezTo>
                      <a:pt x="1153269" y="0"/>
                      <a:pt x="1485900" y="332630"/>
                      <a:pt x="1485900" y="742950"/>
                    </a:cubicBezTo>
                    <a:close/>
                    <a:moveTo>
                      <a:pt x="742950" y="1485900"/>
                    </a:moveTo>
                    <a:cubicBezTo>
                      <a:pt x="744218" y="1485906"/>
                      <a:pt x="741679" y="1485900"/>
                      <a:pt x="742950" y="1485900"/>
                    </a:cubicBezTo>
                    <a:close/>
                  </a:path>
                </a:pathLst>
              </a:custGeom>
              <a:noFill/>
              <a:ln w="14287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5" name="TextBox 10">
              <a:extLst>
                <a:ext uri="{FF2B5EF4-FFF2-40B4-BE49-F238E27FC236}">
                  <a16:creationId xmlns:a16="http://schemas.microsoft.com/office/drawing/2014/main" id="{3DCC09F4-3347-AE0A-211F-68D3845CBD19}"/>
                </a:ext>
              </a:extLst>
            </p:cNvPr>
            <p:cNvSpPr txBox="1"/>
            <p:nvPr/>
          </p:nvSpPr>
          <p:spPr>
            <a:xfrm>
              <a:off x="3364269" y="1762122"/>
              <a:ext cx="301524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00" b="0" dirty="0">
                  <a:solidFill>
                    <a:srgbClr val="484848"/>
                  </a:solidFill>
                  <a:latin typeface="Roboto"/>
                </a:rPr>
                <a:t>Notification Preference Management Issues</a:t>
              </a:r>
            </a:p>
          </p:txBody>
        </p:sp>
        <p:sp>
          <p:nvSpPr>
            <p:cNvPr id="6" name="TextBox 11">
              <a:extLst>
                <a:ext uri="{FF2B5EF4-FFF2-40B4-BE49-F238E27FC236}">
                  <a16:creationId xmlns:a16="http://schemas.microsoft.com/office/drawing/2014/main" id="{18A3BA52-CE89-1CBD-CE49-763C57154D3B}"/>
                </a:ext>
              </a:extLst>
            </p:cNvPr>
            <p:cNvSpPr txBox="1"/>
            <p:nvPr/>
          </p:nvSpPr>
          <p:spPr>
            <a:xfrm>
              <a:off x="3010000" y="2562222"/>
              <a:ext cx="10483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1200" b="0" dirty="0">
                  <a:solidFill>
                    <a:srgbClr val="484848"/>
                  </a:solidFill>
                  <a:latin typeface="Roboto"/>
                </a:rPr>
                <a:t>Risk of missing
crucial updates</a:t>
              </a:r>
            </a:p>
          </p:txBody>
        </p:sp>
        <p:sp>
          <p:nvSpPr>
            <p:cNvPr id="7" name="TextBox 12">
              <a:extLst>
                <a:ext uri="{FF2B5EF4-FFF2-40B4-BE49-F238E27FC236}">
                  <a16:creationId xmlns:a16="http://schemas.microsoft.com/office/drawing/2014/main" id="{E03475F3-0D04-9B6C-D318-BF2A6C90BC75}"/>
                </a:ext>
              </a:extLst>
            </p:cNvPr>
            <p:cNvSpPr txBox="1"/>
            <p:nvPr/>
          </p:nvSpPr>
          <p:spPr>
            <a:xfrm>
              <a:off x="5065823" y="2562223"/>
              <a:ext cx="165735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00" b="0" dirty="0">
                  <a:solidFill>
                    <a:srgbClr val="484848"/>
                  </a:solidFill>
                  <a:latin typeface="Roboto"/>
                </a:rPr>
                <a:t>Missed Important
Notifications</a:t>
              </a:r>
            </a:p>
          </p:txBody>
        </p:sp>
        <p:sp>
          <p:nvSpPr>
            <p:cNvPr id="8" name="TextBox 13">
              <a:extLst>
                <a:ext uri="{FF2B5EF4-FFF2-40B4-BE49-F238E27FC236}">
                  <a16:creationId xmlns:a16="http://schemas.microsoft.com/office/drawing/2014/main" id="{8E3A6A56-5962-5AB1-8445-401707E9E9CF}"/>
                </a:ext>
              </a:extLst>
            </p:cNvPr>
            <p:cNvSpPr txBox="1"/>
            <p:nvPr/>
          </p:nvSpPr>
          <p:spPr>
            <a:xfrm>
              <a:off x="2591162" y="3362322"/>
              <a:ext cx="149720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1200" b="0" dirty="0">
                  <a:solidFill>
                    <a:srgbClr val="484848"/>
                  </a:solidFill>
                  <a:latin typeface="Roboto"/>
                </a:rPr>
                <a:t>Negative impact on
customer satisfaction</a:t>
              </a:r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3B5AA6C1-0678-2D00-8F47-074CE1632756}"/>
                </a:ext>
              </a:extLst>
            </p:cNvPr>
            <p:cNvSpPr txBox="1"/>
            <p:nvPr/>
          </p:nvSpPr>
          <p:spPr>
            <a:xfrm>
              <a:off x="5470282" y="3362322"/>
              <a:ext cx="8608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00" b="0" dirty="0">
                  <a:solidFill>
                    <a:srgbClr val="484848"/>
                  </a:solidFill>
                  <a:latin typeface="Roboto"/>
                </a:rPr>
                <a:t>Poor Customer
Experience</a:t>
              </a:r>
            </a:p>
          </p:txBody>
        </p:sp>
        <p:sp>
          <p:nvSpPr>
            <p:cNvPr id="10" name="TextBox 15">
              <a:extLst>
                <a:ext uri="{FF2B5EF4-FFF2-40B4-BE49-F238E27FC236}">
                  <a16:creationId xmlns:a16="http://schemas.microsoft.com/office/drawing/2014/main" id="{B7D9802D-5317-61F5-2236-8D14490EA209}"/>
                </a:ext>
              </a:extLst>
            </p:cNvPr>
            <p:cNvSpPr txBox="1"/>
            <p:nvPr/>
          </p:nvSpPr>
          <p:spPr>
            <a:xfrm>
              <a:off x="3155430" y="4333872"/>
              <a:ext cx="905696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1200" b="0" dirty="0">
                  <a:solidFill>
                    <a:srgbClr val="484848"/>
                  </a:solidFill>
                  <a:latin typeface="Roboto"/>
                </a:rPr>
                <a:t>Core issue of
preference
management</a:t>
              </a:r>
            </a:p>
          </p:txBody>
        </p:sp>
        <p:sp>
          <p:nvSpPr>
            <p:cNvPr id="11" name="TextBox 16">
              <a:extLst>
                <a:ext uri="{FF2B5EF4-FFF2-40B4-BE49-F238E27FC236}">
                  <a16:creationId xmlns:a16="http://schemas.microsoft.com/office/drawing/2014/main" id="{F4B67A02-E91A-6059-CFD5-480C3C4D8FB3}"/>
                </a:ext>
              </a:extLst>
            </p:cNvPr>
            <p:cNvSpPr txBox="1"/>
            <p:nvPr/>
          </p:nvSpPr>
          <p:spPr>
            <a:xfrm>
              <a:off x="5521848" y="4333872"/>
              <a:ext cx="75501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00" b="0" dirty="0">
                  <a:solidFill>
                    <a:srgbClr val="484848"/>
                  </a:solidFill>
                  <a:latin typeface="Roboto"/>
                </a:rPr>
                <a:t>Difficult
Notification
Management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B12CE8-ABDB-7351-2C37-86201F6E83C8}"/>
              </a:ext>
            </a:extLst>
          </p:cNvPr>
          <p:cNvGrpSpPr/>
          <p:nvPr/>
        </p:nvGrpSpPr>
        <p:grpSpPr>
          <a:xfrm>
            <a:off x="5090904" y="2314205"/>
            <a:ext cx="3346382" cy="2229590"/>
            <a:chOff x="1478726" y="1461611"/>
            <a:chExt cx="6126145" cy="387667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5EBE904-9073-16C0-2264-E1A0ED3904D5}"/>
                </a:ext>
              </a:extLst>
            </p:cNvPr>
            <p:cNvGrpSpPr/>
            <p:nvPr/>
          </p:nvGrpSpPr>
          <p:grpSpPr>
            <a:xfrm>
              <a:off x="2759631" y="1909286"/>
              <a:ext cx="2286000" cy="1714500"/>
              <a:chOff x="1828800" y="923925"/>
              <a:chExt cx="2286000" cy="1714500"/>
            </a:xfrm>
          </p:grpSpPr>
          <p:sp>
            <p:nvSpPr>
              <p:cNvPr id="43" name="Rounded Rectangle 1">
                <a:extLst>
                  <a:ext uri="{FF2B5EF4-FFF2-40B4-BE49-F238E27FC236}">
                    <a16:creationId xmlns:a16="http://schemas.microsoft.com/office/drawing/2014/main" id="{4BEC2C82-2F4F-5732-FADE-8D88182F4A1D}"/>
                  </a:ext>
                </a:extLst>
              </p:cNvPr>
              <p:cNvSpPr/>
              <p:nvPr/>
            </p:nvSpPr>
            <p:spPr>
              <a:xfrm>
                <a:off x="1828800" y="923925"/>
                <a:ext cx="2286000" cy="1714500"/>
              </a:xfrm>
              <a:custGeom>
                <a:avLst/>
                <a:gdLst/>
                <a:ahLst/>
                <a:cxnLst/>
                <a:rect l="0" t="0" r="0" b="0"/>
                <a:pathLst>
                  <a:path w="2286000" h="1714500">
                    <a:moveTo>
                      <a:pt x="1714500" y="152913"/>
                    </a:moveTo>
                    <a:cubicBezTo>
                      <a:pt x="2056142" y="350542"/>
                      <a:pt x="2286000" y="719929"/>
                      <a:pt x="2286000" y="1143000"/>
                    </a:cubicBezTo>
                    <a:cubicBezTo>
                      <a:pt x="2286000" y="1351187"/>
                      <a:pt x="2230335" y="1546383"/>
                      <a:pt x="2133085" y="1714500"/>
                    </a:cubicBezTo>
                    <a:cubicBezTo>
                      <a:pt x="2032711" y="1540973"/>
                      <a:pt x="1888026" y="1396288"/>
                      <a:pt x="1714500" y="1295914"/>
                    </a:cubicBezTo>
                    <a:cubicBezTo>
                      <a:pt x="1546383" y="1198664"/>
                      <a:pt x="1351187" y="1143000"/>
                      <a:pt x="1143000" y="1143000"/>
                    </a:cubicBezTo>
                    <a:cubicBezTo>
                      <a:pt x="719929" y="1143000"/>
                      <a:pt x="350542" y="1372857"/>
                      <a:pt x="152913" y="1714500"/>
                    </a:cubicBezTo>
                    <a:cubicBezTo>
                      <a:pt x="55661" y="1546383"/>
                      <a:pt x="0" y="1351187"/>
                      <a:pt x="0" y="1143000"/>
                    </a:cubicBezTo>
                    <a:cubicBezTo>
                      <a:pt x="0" y="511738"/>
                      <a:pt x="511738" y="0"/>
                      <a:pt x="1143000" y="0"/>
                    </a:cubicBezTo>
                    <a:cubicBezTo>
                      <a:pt x="1351187" y="0"/>
                      <a:pt x="1546383" y="55661"/>
                      <a:pt x="1714500" y="15291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282"/>
                  </a:gs>
                  <a:gs pos="100000">
                    <a:srgbClr val="FFE714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Rounded Rectangle 2">
                <a:extLst>
                  <a:ext uri="{FF2B5EF4-FFF2-40B4-BE49-F238E27FC236}">
                    <a16:creationId xmlns:a16="http://schemas.microsoft.com/office/drawing/2014/main" id="{B8285967-B975-80EC-73EB-9F344442A9CC}"/>
                  </a:ext>
                </a:extLst>
              </p:cNvPr>
              <p:cNvSpPr/>
              <p:nvPr/>
            </p:nvSpPr>
            <p:spPr>
              <a:xfrm>
                <a:off x="1828800" y="923925"/>
                <a:ext cx="2286000" cy="1714500"/>
              </a:xfrm>
              <a:custGeom>
                <a:avLst/>
                <a:gdLst/>
                <a:ahLst/>
                <a:cxnLst/>
                <a:rect l="0" t="0" r="0" b="0"/>
                <a:pathLst>
                  <a:path w="2286000" h="1714500">
                    <a:moveTo>
                      <a:pt x="1714500" y="152913"/>
                    </a:moveTo>
                    <a:cubicBezTo>
                      <a:pt x="2056143" y="350542"/>
                      <a:pt x="2286000" y="719929"/>
                      <a:pt x="2286000" y="1143000"/>
                    </a:cubicBezTo>
                    <a:cubicBezTo>
                      <a:pt x="2286000" y="1351189"/>
                      <a:pt x="2230338" y="1546379"/>
                      <a:pt x="2133086" y="1714500"/>
                    </a:cubicBezTo>
                    <a:cubicBezTo>
                      <a:pt x="2032709" y="1540976"/>
                      <a:pt x="1888023" y="1396290"/>
                      <a:pt x="1714500" y="1295913"/>
                    </a:cubicBezTo>
                    <a:cubicBezTo>
                      <a:pt x="1546379" y="1198661"/>
                      <a:pt x="1351189" y="1143000"/>
                      <a:pt x="1143000" y="1143000"/>
                    </a:cubicBezTo>
                    <a:cubicBezTo>
                      <a:pt x="719929" y="1143000"/>
                      <a:pt x="350542" y="1372856"/>
                      <a:pt x="152913" y="1714500"/>
                    </a:cubicBezTo>
                    <a:cubicBezTo>
                      <a:pt x="55661" y="1546379"/>
                      <a:pt x="0" y="1351189"/>
                      <a:pt x="0" y="1143000"/>
                    </a:cubicBezTo>
                    <a:cubicBezTo>
                      <a:pt x="0" y="511738"/>
                      <a:pt x="511738" y="0"/>
                      <a:pt x="1143000" y="0"/>
                    </a:cubicBezTo>
                    <a:cubicBezTo>
                      <a:pt x="1351189" y="0"/>
                      <a:pt x="1546379" y="55661"/>
                      <a:pt x="1714500" y="152913"/>
                    </a:cubicBezTo>
                    <a:close/>
                  </a:path>
                </a:pathLst>
              </a:custGeom>
              <a:noFill/>
              <a:ln w="1428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2F2C22A-B156-33E8-29B4-FD2936B97C65}"/>
                </a:ext>
              </a:extLst>
            </p:cNvPr>
            <p:cNvGrpSpPr/>
            <p:nvPr/>
          </p:nvGrpSpPr>
          <p:grpSpPr>
            <a:xfrm>
              <a:off x="2759631" y="3052286"/>
              <a:ext cx="1714500" cy="2286000"/>
              <a:chOff x="1828800" y="2066925"/>
              <a:chExt cx="1714500" cy="2286000"/>
            </a:xfrm>
          </p:grpSpPr>
          <p:sp>
            <p:nvSpPr>
              <p:cNvPr id="41" name="Rounded Rectangle 4">
                <a:extLst>
                  <a:ext uri="{FF2B5EF4-FFF2-40B4-BE49-F238E27FC236}">
                    <a16:creationId xmlns:a16="http://schemas.microsoft.com/office/drawing/2014/main" id="{903DC685-3376-7490-2A5A-45CE99A125AF}"/>
                  </a:ext>
                </a:extLst>
              </p:cNvPr>
              <p:cNvSpPr/>
              <p:nvPr/>
            </p:nvSpPr>
            <p:spPr>
              <a:xfrm>
                <a:off x="1828800" y="2066925"/>
                <a:ext cx="1714500" cy="2286000"/>
              </a:xfrm>
              <a:custGeom>
                <a:avLst/>
                <a:gdLst/>
                <a:ahLst/>
                <a:cxnLst/>
                <a:rect l="0" t="0" r="0" b="0"/>
                <a:pathLst>
                  <a:path w="1714500" h="2286000">
                    <a:moveTo>
                      <a:pt x="152913" y="571500"/>
                    </a:moveTo>
                    <a:cubicBezTo>
                      <a:pt x="350542" y="229856"/>
                      <a:pt x="719929" y="0"/>
                      <a:pt x="1143000" y="0"/>
                    </a:cubicBezTo>
                    <a:cubicBezTo>
                      <a:pt x="1351187" y="0"/>
                      <a:pt x="1546383" y="55661"/>
                      <a:pt x="1714500" y="152913"/>
                    </a:cubicBezTo>
                    <a:cubicBezTo>
                      <a:pt x="1540973" y="253290"/>
                      <a:pt x="1396288" y="397976"/>
                      <a:pt x="1295914" y="571500"/>
                    </a:cubicBezTo>
                    <a:cubicBezTo>
                      <a:pt x="1198664" y="739620"/>
                      <a:pt x="1143000" y="934810"/>
                      <a:pt x="1143000" y="1143000"/>
                    </a:cubicBezTo>
                    <a:cubicBezTo>
                      <a:pt x="1143000" y="1566071"/>
                      <a:pt x="1372857" y="1935460"/>
                      <a:pt x="1714500" y="2133085"/>
                    </a:cubicBezTo>
                    <a:cubicBezTo>
                      <a:pt x="1546383" y="2230335"/>
                      <a:pt x="1351187" y="2286000"/>
                      <a:pt x="1143000" y="2286000"/>
                    </a:cubicBezTo>
                    <a:cubicBezTo>
                      <a:pt x="511738" y="2286000"/>
                      <a:pt x="0" y="1774259"/>
                      <a:pt x="0" y="1143000"/>
                    </a:cubicBezTo>
                    <a:cubicBezTo>
                      <a:pt x="0" y="934810"/>
                      <a:pt x="55661" y="739620"/>
                      <a:pt x="152913" y="5715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F976"/>
                  </a:gs>
                  <a:gs pos="100000">
                    <a:srgbClr val="A8DD38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Rounded Rectangle 5">
                <a:extLst>
                  <a:ext uri="{FF2B5EF4-FFF2-40B4-BE49-F238E27FC236}">
                    <a16:creationId xmlns:a16="http://schemas.microsoft.com/office/drawing/2014/main" id="{1B6AC076-5C18-5AD5-A5DA-0E3056973841}"/>
                  </a:ext>
                </a:extLst>
              </p:cNvPr>
              <p:cNvSpPr/>
              <p:nvPr/>
            </p:nvSpPr>
            <p:spPr>
              <a:xfrm>
                <a:off x="1828800" y="2066925"/>
                <a:ext cx="1714500" cy="2286000"/>
              </a:xfrm>
              <a:custGeom>
                <a:avLst/>
                <a:gdLst/>
                <a:ahLst/>
                <a:cxnLst/>
                <a:rect l="0" t="0" r="0" b="0"/>
                <a:pathLst>
                  <a:path w="1714500" h="2286000">
                    <a:moveTo>
                      <a:pt x="152913" y="571500"/>
                    </a:moveTo>
                    <a:cubicBezTo>
                      <a:pt x="350542" y="229856"/>
                      <a:pt x="719929" y="0"/>
                      <a:pt x="1143000" y="0"/>
                    </a:cubicBezTo>
                    <a:cubicBezTo>
                      <a:pt x="1351189" y="0"/>
                      <a:pt x="1546379" y="55661"/>
                      <a:pt x="1714500" y="152913"/>
                    </a:cubicBezTo>
                    <a:cubicBezTo>
                      <a:pt x="1540976" y="253290"/>
                      <a:pt x="1396290" y="397976"/>
                      <a:pt x="1295913" y="571500"/>
                    </a:cubicBezTo>
                    <a:cubicBezTo>
                      <a:pt x="1198661" y="739620"/>
                      <a:pt x="1143000" y="934810"/>
                      <a:pt x="1143000" y="1143000"/>
                    </a:cubicBezTo>
                    <a:cubicBezTo>
                      <a:pt x="1143000" y="1566070"/>
                      <a:pt x="1372856" y="1935457"/>
                      <a:pt x="1714500" y="2133086"/>
                    </a:cubicBezTo>
                    <a:cubicBezTo>
                      <a:pt x="1546379" y="2230338"/>
                      <a:pt x="1351189" y="2286000"/>
                      <a:pt x="1143000" y="2286000"/>
                    </a:cubicBezTo>
                    <a:cubicBezTo>
                      <a:pt x="511738" y="2286000"/>
                      <a:pt x="0" y="1774261"/>
                      <a:pt x="0" y="1143000"/>
                    </a:cubicBezTo>
                    <a:cubicBezTo>
                      <a:pt x="0" y="934810"/>
                      <a:pt x="55661" y="739620"/>
                      <a:pt x="152913" y="571500"/>
                    </a:cubicBezTo>
                    <a:close/>
                  </a:path>
                </a:pathLst>
              </a:custGeom>
              <a:noFill/>
              <a:ln w="1428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719B365-DA55-D00B-53EB-1BAB426AA2F6}"/>
                </a:ext>
              </a:extLst>
            </p:cNvPr>
            <p:cNvGrpSpPr/>
            <p:nvPr/>
          </p:nvGrpSpPr>
          <p:grpSpPr>
            <a:xfrm>
              <a:off x="3902631" y="3623786"/>
              <a:ext cx="2286000" cy="1714500"/>
              <a:chOff x="2971800" y="2638425"/>
              <a:chExt cx="2286000" cy="1714500"/>
            </a:xfrm>
          </p:grpSpPr>
          <p:sp>
            <p:nvSpPr>
              <p:cNvPr id="39" name="Rounded Rectangle 7">
                <a:extLst>
                  <a:ext uri="{FF2B5EF4-FFF2-40B4-BE49-F238E27FC236}">
                    <a16:creationId xmlns:a16="http://schemas.microsoft.com/office/drawing/2014/main" id="{E37F0316-D6E4-17C5-219C-FCA366E0174B}"/>
                  </a:ext>
                </a:extLst>
              </p:cNvPr>
              <p:cNvSpPr/>
              <p:nvPr/>
            </p:nvSpPr>
            <p:spPr>
              <a:xfrm>
                <a:off x="2971800" y="2638425"/>
                <a:ext cx="2286000" cy="1714500"/>
              </a:xfrm>
              <a:custGeom>
                <a:avLst/>
                <a:gdLst/>
                <a:ahLst/>
                <a:cxnLst/>
                <a:rect l="0" t="0" r="0" b="0"/>
                <a:pathLst>
                  <a:path w="2286000" h="1714500">
                    <a:moveTo>
                      <a:pt x="571500" y="1561585"/>
                    </a:moveTo>
                    <a:cubicBezTo>
                      <a:pt x="229856" y="1363960"/>
                      <a:pt x="0" y="994571"/>
                      <a:pt x="0" y="571500"/>
                    </a:cubicBezTo>
                    <a:cubicBezTo>
                      <a:pt x="0" y="363310"/>
                      <a:pt x="55661" y="168121"/>
                      <a:pt x="152913" y="0"/>
                    </a:cubicBezTo>
                    <a:cubicBezTo>
                      <a:pt x="253290" y="173523"/>
                      <a:pt x="397976" y="318209"/>
                      <a:pt x="571500" y="418587"/>
                    </a:cubicBezTo>
                    <a:cubicBezTo>
                      <a:pt x="739620" y="515839"/>
                      <a:pt x="934810" y="571500"/>
                      <a:pt x="1143000" y="571500"/>
                    </a:cubicBezTo>
                    <a:cubicBezTo>
                      <a:pt x="1566071" y="571500"/>
                      <a:pt x="1935460" y="341643"/>
                      <a:pt x="2133085" y="0"/>
                    </a:cubicBezTo>
                    <a:cubicBezTo>
                      <a:pt x="2230335" y="168120"/>
                      <a:pt x="2286000" y="363310"/>
                      <a:pt x="2286000" y="571500"/>
                    </a:cubicBezTo>
                    <a:cubicBezTo>
                      <a:pt x="2286000" y="1202759"/>
                      <a:pt x="1774259" y="1714500"/>
                      <a:pt x="1143000" y="1714500"/>
                    </a:cubicBezTo>
                    <a:cubicBezTo>
                      <a:pt x="934810" y="1714500"/>
                      <a:pt x="739620" y="1658835"/>
                      <a:pt x="571500" y="156158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3FAC1"/>
                  </a:gs>
                  <a:gs pos="100000">
                    <a:srgbClr val="44E09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Rounded Rectangle 8">
                <a:extLst>
                  <a:ext uri="{FF2B5EF4-FFF2-40B4-BE49-F238E27FC236}">
                    <a16:creationId xmlns:a16="http://schemas.microsoft.com/office/drawing/2014/main" id="{E1E0568D-ABD0-CC85-F29E-C83B5654CAC1}"/>
                  </a:ext>
                </a:extLst>
              </p:cNvPr>
              <p:cNvSpPr/>
              <p:nvPr/>
            </p:nvSpPr>
            <p:spPr>
              <a:xfrm>
                <a:off x="2971800" y="2638425"/>
                <a:ext cx="2286000" cy="1714500"/>
              </a:xfrm>
              <a:custGeom>
                <a:avLst/>
                <a:gdLst/>
                <a:ahLst/>
                <a:cxnLst/>
                <a:rect l="0" t="0" r="0" b="0"/>
                <a:pathLst>
                  <a:path w="2286000" h="1714500">
                    <a:moveTo>
                      <a:pt x="571500" y="1561587"/>
                    </a:moveTo>
                    <a:cubicBezTo>
                      <a:pt x="229856" y="1363957"/>
                      <a:pt x="0" y="994571"/>
                      <a:pt x="0" y="571500"/>
                    </a:cubicBezTo>
                    <a:cubicBezTo>
                      <a:pt x="0" y="363310"/>
                      <a:pt x="55661" y="168121"/>
                      <a:pt x="152913" y="0"/>
                    </a:cubicBezTo>
                    <a:cubicBezTo>
                      <a:pt x="253290" y="173523"/>
                      <a:pt x="397976" y="318209"/>
                      <a:pt x="571500" y="418587"/>
                    </a:cubicBezTo>
                    <a:cubicBezTo>
                      <a:pt x="739620" y="515839"/>
                      <a:pt x="934810" y="571500"/>
                      <a:pt x="1143000" y="571500"/>
                    </a:cubicBezTo>
                    <a:cubicBezTo>
                      <a:pt x="1566071" y="571500"/>
                      <a:pt x="1935456" y="341643"/>
                      <a:pt x="2133086" y="0"/>
                    </a:cubicBezTo>
                    <a:cubicBezTo>
                      <a:pt x="2230338" y="168120"/>
                      <a:pt x="2286000" y="363310"/>
                      <a:pt x="2286000" y="571500"/>
                    </a:cubicBezTo>
                    <a:cubicBezTo>
                      <a:pt x="2286000" y="1202761"/>
                      <a:pt x="1774261" y="1714500"/>
                      <a:pt x="1143000" y="1714500"/>
                    </a:cubicBezTo>
                    <a:cubicBezTo>
                      <a:pt x="934810" y="1714500"/>
                      <a:pt x="739620" y="1658839"/>
                      <a:pt x="571500" y="1561587"/>
                    </a:cubicBezTo>
                    <a:close/>
                  </a:path>
                </a:pathLst>
              </a:custGeom>
              <a:noFill/>
              <a:ln w="1428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864F750-83FB-5268-E7CA-36B452F46C79}"/>
                </a:ext>
              </a:extLst>
            </p:cNvPr>
            <p:cNvGrpSpPr/>
            <p:nvPr/>
          </p:nvGrpSpPr>
          <p:grpSpPr>
            <a:xfrm>
              <a:off x="4474131" y="1909286"/>
              <a:ext cx="1714500" cy="2286000"/>
              <a:chOff x="3543300" y="923925"/>
              <a:chExt cx="1714500" cy="2286000"/>
            </a:xfrm>
          </p:grpSpPr>
          <p:sp>
            <p:nvSpPr>
              <p:cNvPr id="37" name="Rounded Rectangle 10">
                <a:extLst>
                  <a:ext uri="{FF2B5EF4-FFF2-40B4-BE49-F238E27FC236}">
                    <a16:creationId xmlns:a16="http://schemas.microsoft.com/office/drawing/2014/main" id="{5A571F17-C847-A631-227E-6110C3369DF6}"/>
                  </a:ext>
                </a:extLst>
              </p:cNvPr>
              <p:cNvSpPr/>
              <p:nvPr/>
            </p:nvSpPr>
            <p:spPr>
              <a:xfrm>
                <a:off x="3543300" y="923925"/>
                <a:ext cx="1714500" cy="2286000"/>
              </a:xfrm>
              <a:custGeom>
                <a:avLst/>
                <a:gdLst/>
                <a:ahLst/>
                <a:cxnLst/>
                <a:rect l="0" t="0" r="0" b="0"/>
                <a:pathLst>
                  <a:path w="1714500" h="2286000">
                    <a:moveTo>
                      <a:pt x="1561585" y="1714500"/>
                    </a:moveTo>
                    <a:cubicBezTo>
                      <a:pt x="1363960" y="2056142"/>
                      <a:pt x="994571" y="2286000"/>
                      <a:pt x="571500" y="2286000"/>
                    </a:cubicBezTo>
                    <a:cubicBezTo>
                      <a:pt x="363310" y="2286000"/>
                      <a:pt x="168120" y="2230335"/>
                      <a:pt x="0" y="2133085"/>
                    </a:cubicBezTo>
                    <a:cubicBezTo>
                      <a:pt x="173523" y="2032711"/>
                      <a:pt x="318209" y="1888026"/>
                      <a:pt x="418586" y="1714500"/>
                    </a:cubicBezTo>
                    <a:cubicBezTo>
                      <a:pt x="515838" y="1546383"/>
                      <a:pt x="571500" y="1351187"/>
                      <a:pt x="571500" y="1143000"/>
                    </a:cubicBezTo>
                    <a:cubicBezTo>
                      <a:pt x="571500" y="719929"/>
                      <a:pt x="341643" y="350542"/>
                      <a:pt x="0" y="152913"/>
                    </a:cubicBezTo>
                    <a:cubicBezTo>
                      <a:pt x="168120" y="55661"/>
                      <a:pt x="363310" y="0"/>
                      <a:pt x="571500" y="0"/>
                    </a:cubicBezTo>
                    <a:cubicBezTo>
                      <a:pt x="1202759" y="0"/>
                      <a:pt x="1714500" y="511738"/>
                      <a:pt x="1714500" y="1143000"/>
                    </a:cubicBezTo>
                    <a:cubicBezTo>
                      <a:pt x="1714500" y="1351187"/>
                      <a:pt x="1658835" y="1546383"/>
                      <a:pt x="1561585" y="17145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FDFFF"/>
                  </a:gs>
                  <a:gs pos="100000">
                    <a:srgbClr val="1AC6FF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Rounded Rectangle 11">
                <a:extLst>
                  <a:ext uri="{FF2B5EF4-FFF2-40B4-BE49-F238E27FC236}">
                    <a16:creationId xmlns:a16="http://schemas.microsoft.com/office/drawing/2014/main" id="{E5C60962-CB35-67F3-0174-CEA4C65FC573}"/>
                  </a:ext>
                </a:extLst>
              </p:cNvPr>
              <p:cNvSpPr/>
              <p:nvPr/>
            </p:nvSpPr>
            <p:spPr>
              <a:xfrm>
                <a:off x="3543300" y="923925"/>
                <a:ext cx="1714500" cy="2286000"/>
              </a:xfrm>
              <a:custGeom>
                <a:avLst/>
                <a:gdLst/>
                <a:ahLst/>
                <a:cxnLst/>
                <a:rect l="0" t="0" r="0" b="0"/>
                <a:pathLst>
                  <a:path w="1714500" h="2286000">
                    <a:moveTo>
                      <a:pt x="1561586" y="1714499"/>
                    </a:moveTo>
                    <a:cubicBezTo>
                      <a:pt x="1363956" y="2056142"/>
                      <a:pt x="994571" y="2286000"/>
                      <a:pt x="571500" y="2286000"/>
                    </a:cubicBezTo>
                    <a:cubicBezTo>
                      <a:pt x="363310" y="2286000"/>
                      <a:pt x="168120" y="2230338"/>
                      <a:pt x="0" y="2133086"/>
                    </a:cubicBezTo>
                    <a:cubicBezTo>
                      <a:pt x="173523" y="2032709"/>
                      <a:pt x="318209" y="1888023"/>
                      <a:pt x="418586" y="1714500"/>
                    </a:cubicBezTo>
                    <a:cubicBezTo>
                      <a:pt x="515838" y="1546379"/>
                      <a:pt x="571500" y="1351189"/>
                      <a:pt x="571500" y="1143000"/>
                    </a:cubicBezTo>
                    <a:cubicBezTo>
                      <a:pt x="571500" y="719929"/>
                      <a:pt x="341643" y="350542"/>
                      <a:pt x="0" y="152913"/>
                    </a:cubicBezTo>
                    <a:cubicBezTo>
                      <a:pt x="168120" y="55661"/>
                      <a:pt x="363310" y="0"/>
                      <a:pt x="571500" y="0"/>
                    </a:cubicBezTo>
                    <a:cubicBezTo>
                      <a:pt x="1202761" y="0"/>
                      <a:pt x="1714500" y="511738"/>
                      <a:pt x="1714500" y="1143000"/>
                    </a:cubicBezTo>
                    <a:cubicBezTo>
                      <a:pt x="1714500" y="1351189"/>
                      <a:pt x="1658838" y="1546378"/>
                      <a:pt x="1561586" y="1714499"/>
                    </a:cubicBezTo>
                    <a:close/>
                  </a:path>
                </a:pathLst>
              </a:custGeom>
              <a:noFill/>
              <a:ln w="1428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73D322C-80C6-7036-9AD7-439F4D692660}"/>
                </a:ext>
              </a:extLst>
            </p:cNvPr>
            <p:cNvSpPr txBox="1"/>
            <p:nvPr/>
          </p:nvSpPr>
          <p:spPr>
            <a:xfrm>
              <a:off x="2802398" y="1461611"/>
              <a:ext cx="3700462" cy="2800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484848"/>
                  </a:solidFill>
                  <a:latin typeface="Roboto"/>
                </a:rPr>
                <a:t>Enhancing Customer Interaction with AI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04CC80E-AF04-3F62-E04E-EF87D4648FA0}"/>
                </a:ext>
              </a:extLst>
            </p:cNvPr>
            <p:cNvSpPr txBox="1"/>
            <p:nvPr/>
          </p:nvSpPr>
          <p:spPr>
            <a:xfrm>
              <a:off x="1616143" y="2147411"/>
              <a:ext cx="9105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1" dirty="0">
                  <a:solidFill>
                    <a:srgbClr val="E0CB15"/>
                  </a:solidFill>
                  <a:latin typeface="Roboto"/>
                </a:rPr>
                <a:t>Notification
Management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F2048EC-4497-748E-02B2-23094C43797A}"/>
                </a:ext>
              </a:extLst>
            </p:cNvPr>
            <p:cNvSpPr txBox="1"/>
            <p:nvPr/>
          </p:nvSpPr>
          <p:spPr>
            <a:xfrm>
              <a:off x="6436281" y="2090261"/>
              <a:ext cx="10772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dirty="0">
                  <a:solidFill>
                    <a:srgbClr val="1EABDA"/>
                  </a:solidFill>
                  <a:latin typeface="Roboto"/>
                </a:rPr>
                <a:t>Personalization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D720EBA-908C-4731-4459-1891B2A1D9F2}"/>
                </a:ext>
              </a:extLst>
            </p:cNvPr>
            <p:cNvSpPr txBox="1"/>
            <p:nvPr/>
          </p:nvSpPr>
          <p:spPr>
            <a:xfrm>
              <a:off x="6436281" y="2424588"/>
              <a:ext cx="116859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0" dirty="0">
                  <a:solidFill>
                    <a:srgbClr val="484848"/>
                  </a:solidFill>
                  <a:latin typeface="Roboto"/>
                </a:rPr>
                <a:t>Tailoring
experiences to
individual customer
needs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B30B194-363B-9AC0-E90E-C31B515C7B75}"/>
                </a:ext>
              </a:extLst>
            </p:cNvPr>
            <p:cNvSpPr txBox="1"/>
            <p:nvPr/>
          </p:nvSpPr>
          <p:spPr>
            <a:xfrm>
              <a:off x="1478726" y="2710338"/>
              <a:ext cx="1101263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50" b="0" dirty="0">
                  <a:solidFill>
                    <a:srgbClr val="484848"/>
                  </a:solidFill>
                  <a:latin typeface="Roboto"/>
                </a:rPr>
                <a:t>Controlling and
customizing alerts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C7D9179-1220-DE5F-AE05-ACF5F06C6C95}"/>
                </a:ext>
              </a:extLst>
            </p:cNvPr>
            <p:cNvSpPr txBox="1"/>
            <p:nvPr/>
          </p:nvSpPr>
          <p:spPr>
            <a:xfrm>
              <a:off x="1504446" y="4090511"/>
              <a:ext cx="83837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1" dirty="0">
                  <a:solidFill>
                    <a:srgbClr val="92BD39"/>
                  </a:solidFill>
                  <a:latin typeface="Roboto"/>
                </a:rPr>
                <a:t>AI Assistant
(Fargo)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DC9C5C9-C7C2-7786-FCE0-DB79F4FE0A0D}"/>
                </a:ext>
              </a:extLst>
            </p:cNvPr>
            <p:cNvSpPr txBox="1"/>
            <p:nvPr/>
          </p:nvSpPr>
          <p:spPr>
            <a:xfrm>
              <a:off x="6436281" y="4033361"/>
              <a:ext cx="10387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dirty="0">
                  <a:solidFill>
                    <a:srgbClr val="3CC583"/>
                  </a:solidFill>
                  <a:latin typeface="Roboto"/>
                </a:rPr>
                <a:t>Conversational
Interfaces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1E2DB84-6CB0-2CE9-FEB6-28AAE3FE5CB8}"/>
                </a:ext>
              </a:extLst>
            </p:cNvPr>
            <p:cNvSpPr txBox="1"/>
            <p:nvPr/>
          </p:nvSpPr>
          <p:spPr>
            <a:xfrm>
              <a:off x="1489788" y="4682013"/>
              <a:ext cx="1017906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50" b="0" dirty="0">
                  <a:solidFill>
                    <a:srgbClr val="484848"/>
                  </a:solidFill>
                  <a:latin typeface="Roboto"/>
                </a:rPr>
                <a:t>Leveraging AI for
customer
management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648596-4021-EF19-9D9C-5CD4B938AB6C}"/>
                </a:ext>
              </a:extLst>
            </p:cNvPr>
            <p:cNvSpPr txBox="1"/>
            <p:nvPr/>
          </p:nvSpPr>
          <p:spPr>
            <a:xfrm>
              <a:off x="6436281" y="4596288"/>
              <a:ext cx="78547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0" dirty="0">
                  <a:solidFill>
                    <a:srgbClr val="484848"/>
                  </a:solidFill>
                  <a:latin typeface="Roboto"/>
                </a:rPr>
                <a:t>Using natural
language for
technology
interaction</a:t>
              </a:r>
            </a:p>
          </p:txBody>
        </p:sp>
        <p:sp>
          <p:nvSpPr>
            <p:cNvPr id="33" name="Rounded Rectangle 22">
              <a:extLst>
                <a:ext uri="{FF2B5EF4-FFF2-40B4-BE49-F238E27FC236}">
                  <a16:creationId xmlns:a16="http://schemas.microsoft.com/office/drawing/2014/main" id="{49597AFF-0993-F931-883E-0416395943F6}"/>
                </a:ext>
              </a:extLst>
            </p:cNvPr>
            <p:cNvSpPr/>
            <p:nvPr/>
          </p:nvSpPr>
          <p:spPr>
            <a:xfrm>
              <a:off x="3683555" y="2366524"/>
              <a:ext cx="438150" cy="438127"/>
            </a:xfrm>
            <a:custGeom>
              <a:avLst/>
              <a:gdLst/>
              <a:ahLst/>
              <a:cxnLst/>
              <a:rect l="0" t="0" r="0" b="0"/>
              <a:pathLst>
                <a:path w="438150" h="438127">
                  <a:moveTo>
                    <a:pt x="257175" y="251155"/>
                  </a:moveTo>
                  <a:lnTo>
                    <a:pt x="257175" y="352386"/>
                  </a:lnTo>
                  <a:cubicBezTo>
                    <a:pt x="257175" y="368168"/>
                    <a:pt x="269968" y="380961"/>
                    <a:pt x="285750" y="380961"/>
                  </a:cubicBezTo>
                  <a:lnTo>
                    <a:pt x="0" y="380961"/>
                  </a:lnTo>
                  <a:cubicBezTo>
                    <a:pt x="15781" y="380961"/>
                    <a:pt x="28575" y="368168"/>
                    <a:pt x="28575" y="352386"/>
                  </a:cubicBezTo>
                  <a:lnTo>
                    <a:pt x="28575" y="247611"/>
                  </a:lnTo>
                  <a:cubicBezTo>
                    <a:pt x="28497" y="211893"/>
                    <a:pt x="45163" y="178202"/>
                    <a:pt x="73601" y="156590"/>
                  </a:cubicBezTo>
                  <a:cubicBezTo>
                    <a:pt x="102038" y="134977"/>
                    <a:pt x="138961" y="127940"/>
                    <a:pt x="173355" y="137579"/>
                  </a:cubicBezTo>
                  <a:moveTo>
                    <a:pt x="169830" y="419061"/>
                  </a:moveTo>
                  <a:cubicBezTo>
                    <a:pt x="165798" y="430486"/>
                    <a:pt x="155000" y="438127"/>
                    <a:pt x="142884" y="438127"/>
                  </a:cubicBezTo>
                  <a:cubicBezTo>
                    <a:pt x="130769" y="438127"/>
                    <a:pt x="119970" y="430486"/>
                    <a:pt x="115938" y="419061"/>
                  </a:cubicBezTo>
                  <a:moveTo>
                    <a:pt x="142875" y="133330"/>
                  </a:moveTo>
                  <a:lnTo>
                    <a:pt x="142875" y="95230"/>
                  </a:lnTo>
                  <a:moveTo>
                    <a:pt x="173355" y="137579"/>
                  </a:moveTo>
                  <a:cubicBezTo>
                    <a:pt x="138961" y="127940"/>
                    <a:pt x="102038" y="134977"/>
                    <a:pt x="73600" y="156590"/>
                  </a:cubicBezTo>
                  <a:cubicBezTo>
                    <a:pt x="45163" y="178202"/>
                    <a:pt x="28497" y="211893"/>
                    <a:pt x="28575" y="247611"/>
                  </a:cubicBezTo>
                  <a:lnTo>
                    <a:pt x="28575" y="352386"/>
                  </a:lnTo>
                  <a:cubicBezTo>
                    <a:pt x="28575" y="368168"/>
                    <a:pt x="15781" y="380961"/>
                    <a:pt x="0" y="380961"/>
                  </a:cubicBezTo>
                  <a:lnTo>
                    <a:pt x="285750" y="380961"/>
                  </a:lnTo>
                  <a:cubicBezTo>
                    <a:pt x="269968" y="380961"/>
                    <a:pt x="257175" y="368168"/>
                    <a:pt x="257175" y="352386"/>
                  </a:cubicBezTo>
                  <a:lnTo>
                    <a:pt x="257175" y="251155"/>
                  </a:lnTo>
                  <a:moveTo>
                    <a:pt x="115938" y="419061"/>
                  </a:moveTo>
                  <a:cubicBezTo>
                    <a:pt x="119970" y="430486"/>
                    <a:pt x="130769" y="438127"/>
                    <a:pt x="142884" y="438127"/>
                  </a:cubicBezTo>
                  <a:cubicBezTo>
                    <a:pt x="155000" y="438127"/>
                    <a:pt x="165798" y="430486"/>
                    <a:pt x="169830" y="419061"/>
                  </a:cubicBezTo>
                  <a:moveTo>
                    <a:pt x="142875" y="133330"/>
                  </a:moveTo>
                  <a:lnTo>
                    <a:pt x="142875" y="95230"/>
                  </a:lnTo>
                  <a:moveTo>
                    <a:pt x="209550" y="114300"/>
                  </a:moveTo>
                  <a:cubicBezTo>
                    <a:pt x="209550" y="51173"/>
                    <a:pt x="260723" y="0"/>
                    <a:pt x="323850" y="0"/>
                  </a:cubicBezTo>
                  <a:cubicBezTo>
                    <a:pt x="386976" y="0"/>
                    <a:pt x="438150" y="51173"/>
                    <a:pt x="438150" y="114300"/>
                  </a:cubicBezTo>
                  <a:cubicBezTo>
                    <a:pt x="438150" y="177426"/>
                    <a:pt x="386976" y="228600"/>
                    <a:pt x="323850" y="228600"/>
                  </a:cubicBezTo>
                  <a:cubicBezTo>
                    <a:pt x="260723" y="228600"/>
                    <a:pt x="209550" y="177426"/>
                    <a:pt x="209550" y="114300"/>
                  </a:cubicBezTo>
                  <a:close/>
                  <a:moveTo>
                    <a:pt x="269328" y="127825"/>
                  </a:moveTo>
                  <a:lnTo>
                    <a:pt x="297903" y="156400"/>
                  </a:lnTo>
                  <a:cubicBezTo>
                    <a:pt x="300840" y="159320"/>
                    <a:pt x="304897" y="160826"/>
                    <a:pt x="309027" y="160530"/>
                  </a:cubicBezTo>
                  <a:cubicBezTo>
                    <a:pt x="313158" y="160234"/>
                    <a:pt x="316958" y="158165"/>
                    <a:pt x="319449" y="154857"/>
                  </a:cubicBezTo>
                  <a:lnTo>
                    <a:pt x="374789" y="81076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23">
              <a:extLst>
                <a:ext uri="{FF2B5EF4-FFF2-40B4-BE49-F238E27FC236}">
                  <a16:creationId xmlns:a16="http://schemas.microsoft.com/office/drawing/2014/main" id="{ACC587F7-31CC-A2CE-1D2E-3AEEEBFAA98B}"/>
                </a:ext>
              </a:extLst>
            </p:cNvPr>
            <p:cNvSpPr/>
            <p:nvPr/>
          </p:nvSpPr>
          <p:spPr>
            <a:xfrm>
              <a:off x="5283756" y="2833186"/>
              <a:ext cx="447875" cy="438174"/>
            </a:xfrm>
            <a:custGeom>
              <a:avLst/>
              <a:gdLst/>
              <a:ahLst/>
              <a:cxnLst/>
              <a:rect l="0" t="0" r="0" b="0"/>
              <a:pathLst>
                <a:path w="447875" h="438174">
                  <a:moveTo>
                    <a:pt x="280987" y="76224"/>
                  </a:moveTo>
                  <a:cubicBezTo>
                    <a:pt x="278357" y="76224"/>
                    <a:pt x="276225" y="78356"/>
                    <a:pt x="276225" y="80987"/>
                  </a:cubicBezTo>
                  <a:cubicBezTo>
                    <a:pt x="276225" y="83617"/>
                    <a:pt x="278357" y="85749"/>
                    <a:pt x="280987" y="85749"/>
                  </a:cubicBezTo>
                  <a:cubicBezTo>
                    <a:pt x="283617" y="85749"/>
                    <a:pt x="285750" y="83617"/>
                    <a:pt x="285750" y="80987"/>
                  </a:cubicBezTo>
                  <a:cubicBezTo>
                    <a:pt x="285750" y="78356"/>
                    <a:pt x="283617" y="76224"/>
                    <a:pt x="280987" y="76224"/>
                  </a:cubicBezTo>
                  <a:moveTo>
                    <a:pt x="366712" y="76224"/>
                  </a:moveTo>
                  <a:cubicBezTo>
                    <a:pt x="364082" y="76224"/>
                    <a:pt x="361950" y="78356"/>
                    <a:pt x="361950" y="80987"/>
                  </a:cubicBezTo>
                  <a:cubicBezTo>
                    <a:pt x="361950" y="83617"/>
                    <a:pt x="364082" y="85749"/>
                    <a:pt x="366712" y="85749"/>
                  </a:cubicBezTo>
                  <a:cubicBezTo>
                    <a:pt x="369342" y="85749"/>
                    <a:pt x="371475" y="83617"/>
                    <a:pt x="371475" y="80987"/>
                  </a:cubicBezTo>
                  <a:cubicBezTo>
                    <a:pt x="371475" y="78356"/>
                    <a:pt x="369342" y="76224"/>
                    <a:pt x="366712" y="76224"/>
                  </a:cubicBezTo>
                  <a:moveTo>
                    <a:pt x="285750" y="142899"/>
                  </a:moveTo>
                  <a:cubicBezTo>
                    <a:pt x="285750" y="163941"/>
                    <a:pt x="302807" y="180999"/>
                    <a:pt x="323850" y="180999"/>
                  </a:cubicBezTo>
                  <a:cubicBezTo>
                    <a:pt x="344892" y="180999"/>
                    <a:pt x="361950" y="163941"/>
                    <a:pt x="361950" y="142899"/>
                  </a:cubicBezTo>
                  <a:close/>
                  <a:moveTo>
                    <a:pt x="431578" y="77133"/>
                  </a:moveTo>
                  <a:cubicBezTo>
                    <a:pt x="447875" y="123358"/>
                    <a:pt x="433228" y="174835"/>
                    <a:pt x="395036" y="205556"/>
                  </a:cubicBezTo>
                  <a:cubicBezTo>
                    <a:pt x="356844" y="236277"/>
                    <a:pt x="303424" y="239552"/>
                    <a:pt x="261766" y="213727"/>
                  </a:cubicBezTo>
                  <a:lnTo>
                    <a:pt x="190500" y="247674"/>
                  </a:lnTo>
                  <a:lnTo>
                    <a:pt x="224428" y="176408"/>
                  </a:lnTo>
                  <a:cubicBezTo>
                    <a:pt x="213849" y="157941"/>
                    <a:pt x="208692" y="136866"/>
                    <a:pt x="209550" y="115601"/>
                  </a:cubicBezTo>
                  <a:cubicBezTo>
                    <a:pt x="208973" y="85217"/>
                    <a:pt x="220612" y="55872"/>
                    <a:pt x="241860" y="34145"/>
                  </a:cubicBezTo>
                  <a:cubicBezTo>
                    <a:pt x="263107" y="12418"/>
                    <a:pt x="292184" y="126"/>
                    <a:pt x="322573" y="24"/>
                  </a:cubicBezTo>
                  <a:cubicBezTo>
                    <a:pt x="371587" y="0"/>
                    <a:pt x="415281" y="30908"/>
                    <a:pt x="431578" y="77133"/>
                  </a:cubicBezTo>
                  <a:close/>
                  <a:moveTo>
                    <a:pt x="304800" y="266724"/>
                  </a:moveTo>
                  <a:lnTo>
                    <a:pt x="304800" y="438174"/>
                  </a:lnTo>
                  <a:moveTo>
                    <a:pt x="0" y="438174"/>
                  </a:moveTo>
                  <a:lnTo>
                    <a:pt x="0" y="95274"/>
                  </a:lnTo>
                  <a:cubicBezTo>
                    <a:pt x="0" y="74232"/>
                    <a:pt x="17057" y="57174"/>
                    <a:pt x="38100" y="57174"/>
                  </a:cubicBezTo>
                  <a:lnTo>
                    <a:pt x="180975" y="57174"/>
                  </a:lnTo>
                  <a:moveTo>
                    <a:pt x="171450" y="133374"/>
                  </a:moveTo>
                  <a:lnTo>
                    <a:pt x="0" y="133374"/>
                  </a:lnTo>
                  <a:moveTo>
                    <a:pt x="142875" y="266724"/>
                  </a:moveTo>
                  <a:cubicBezTo>
                    <a:pt x="166547" y="266724"/>
                    <a:pt x="185737" y="285914"/>
                    <a:pt x="185737" y="309587"/>
                  </a:cubicBezTo>
                  <a:cubicBezTo>
                    <a:pt x="185737" y="333259"/>
                    <a:pt x="166547" y="352449"/>
                    <a:pt x="142875" y="352449"/>
                  </a:cubicBezTo>
                  <a:cubicBezTo>
                    <a:pt x="119202" y="352449"/>
                    <a:pt x="100012" y="333259"/>
                    <a:pt x="100012" y="309587"/>
                  </a:cubicBezTo>
                  <a:cubicBezTo>
                    <a:pt x="100012" y="285914"/>
                    <a:pt x="119202" y="266724"/>
                    <a:pt x="142875" y="266724"/>
                  </a:cubicBezTo>
                  <a:close/>
                  <a:moveTo>
                    <a:pt x="57150" y="438174"/>
                  </a:moveTo>
                  <a:cubicBezTo>
                    <a:pt x="67142" y="398988"/>
                    <a:pt x="102434" y="371566"/>
                    <a:pt x="142875" y="371566"/>
                  </a:cubicBezTo>
                  <a:cubicBezTo>
                    <a:pt x="183315" y="371566"/>
                    <a:pt x="218607" y="398988"/>
                    <a:pt x="228600" y="438174"/>
                  </a:cubicBezTo>
                  <a:moveTo>
                    <a:pt x="171450" y="95274"/>
                  </a:moveTo>
                  <a:lnTo>
                    <a:pt x="123825" y="95274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nded Rectangle 24">
              <a:extLst>
                <a:ext uri="{FF2B5EF4-FFF2-40B4-BE49-F238E27FC236}">
                  <a16:creationId xmlns:a16="http://schemas.microsoft.com/office/drawing/2014/main" id="{D1248521-1C1C-B11D-D022-76D18AE56A0E}"/>
                </a:ext>
              </a:extLst>
            </p:cNvPr>
            <p:cNvSpPr/>
            <p:nvPr/>
          </p:nvSpPr>
          <p:spPr>
            <a:xfrm>
              <a:off x="3216831" y="3966686"/>
              <a:ext cx="426718" cy="442912"/>
            </a:xfrm>
            <a:custGeom>
              <a:avLst/>
              <a:gdLst/>
              <a:ahLst/>
              <a:cxnLst/>
              <a:rect l="0" t="0" r="0" b="0"/>
              <a:pathLst>
                <a:path w="426718" h="442912">
                  <a:moveTo>
                    <a:pt x="30480" y="94301"/>
                  </a:moveTo>
                  <a:cubicBezTo>
                    <a:pt x="30480" y="73259"/>
                    <a:pt x="47538" y="56201"/>
                    <a:pt x="68580" y="56201"/>
                  </a:cubicBezTo>
                  <a:cubicBezTo>
                    <a:pt x="89622" y="56201"/>
                    <a:pt x="106680" y="73259"/>
                    <a:pt x="106680" y="94301"/>
                  </a:cubicBezTo>
                  <a:cubicBezTo>
                    <a:pt x="106680" y="115343"/>
                    <a:pt x="89622" y="132401"/>
                    <a:pt x="68580" y="132401"/>
                  </a:cubicBezTo>
                  <a:cubicBezTo>
                    <a:pt x="47538" y="132401"/>
                    <a:pt x="30480" y="115343"/>
                    <a:pt x="30480" y="94301"/>
                  </a:cubicBezTo>
                  <a:close/>
                  <a:moveTo>
                    <a:pt x="150494" y="185737"/>
                  </a:moveTo>
                  <a:cubicBezTo>
                    <a:pt x="150494" y="164695"/>
                    <a:pt x="167552" y="147637"/>
                    <a:pt x="188594" y="147637"/>
                  </a:cubicBezTo>
                  <a:cubicBezTo>
                    <a:pt x="209635" y="147637"/>
                    <a:pt x="226695" y="164695"/>
                    <a:pt x="226695" y="185737"/>
                  </a:cubicBezTo>
                  <a:cubicBezTo>
                    <a:pt x="226695" y="206780"/>
                    <a:pt x="209635" y="223837"/>
                    <a:pt x="188594" y="223837"/>
                  </a:cubicBezTo>
                  <a:cubicBezTo>
                    <a:pt x="167552" y="223837"/>
                    <a:pt x="150494" y="206780"/>
                    <a:pt x="150494" y="185737"/>
                  </a:cubicBezTo>
                  <a:close/>
                  <a:moveTo>
                    <a:pt x="236220" y="52387"/>
                  </a:moveTo>
                  <a:cubicBezTo>
                    <a:pt x="236220" y="31345"/>
                    <a:pt x="253277" y="14287"/>
                    <a:pt x="274320" y="14287"/>
                  </a:cubicBezTo>
                  <a:cubicBezTo>
                    <a:pt x="295360" y="14287"/>
                    <a:pt x="312420" y="31345"/>
                    <a:pt x="312420" y="52387"/>
                  </a:cubicBezTo>
                  <a:cubicBezTo>
                    <a:pt x="312420" y="73429"/>
                    <a:pt x="295360" y="90487"/>
                    <a:pt x="274320" y="90487"/>
                  </a:cubicBezTo>
                  <a:cubicBezTo>
                    <a:pt x="253277" y="90487"/>
                    <a:pt x="236220" y="73429"/>
                    <a:pt x="236220" y="52387"/>
                  </a:cubicBezTo>
                  <a:close/>
                  <a:moveTo>
                    <a:pt x="350518" y="157162"/>
                  </a:moveTo>
                  <a:cubicBezTo>
                    <a:pt x="350518" y="136120"/>
                    <a:pt x="367575" y="119062"/>
                    <a:pt x="388618" y="119062"/>
                  </a:cubicBezTo>
                  <a:cubicBezTo>
                    <a:pt x="409660" y="119062"/>
                    <a:pt x="426718" y="136120"/>
                    <a:pt x="426718" y="157162"/>
                  </a:cubicBezTo>
                  <a:cubicBezTo>
                    <a:pt x="426718" y="178204"/>
                    <a:pt x="409660" y="195262"/>
                    <a:pt x="388618" y="195262"/>
                  </a:cubicBezTo>
                  <a:cubicBezTo>
                    <a:pt x="367575" y="195262"/>
                    <a:pt x="350518" y="178204"/>
                    <a:pt x="350518" y="157162"/>
                  </a:cubicBezTo>
                  <a:close/>
                  <a:moveTo>
                    <a:pt x="0" y="0"/>
                  </a:moveTo>
                  <a:moveTo>
                    <a:pt x="159760" y="160799"/>
                  </a:moveTo>
                  <a:lnTo>
                    <a:pt x="96359" y="120453"/>
                  </a:lnTo>
                  <a:moveTo>
                    <a:pt x="0" y="0"/>
                  </a:moveTo>
                  <a:moveTo>
                    <a:pt x="303100" y="77339"/>
                  </a:moveTo>
                  <a:lnTo>
                    <a:pt x="360736" y="131133"/>
                  </a:lnTo>
                  <a:moveTo>
                    <a:pt x="0" y="0"/>
                  </a:moveTo>
                  <a:moveTo>
                    <a:pt x="255487" y="85413"/>
                  </a:moveTo>
                  <a:lnTo>
                    <a:pt x="208176" y="153093"/>
                  </a:lnTo>
                  <a:moveTo>
                    <a:pt x="369570" y="280987"/>
                  </a:moveTo>
                  <a:lnTo>
                    <a:pt x="312420" y="347662"/>
                  </a:lnTo>
                  <a:lnTo>
                    <a:pt x="198120" y="347662"/>
                  </a:lnTo>
                  <a:lnTo>
                    <a:pt x="140969" y="280987"/>
                  </a:lnTo>
                  <a:close/>
                  <a:moveTo>
                    <a:pt x="0" y="0"/>
                  </a:moveTo>
                  <a:moveTo>
                    <a:pt x="312420" y="347662"/>
                  </a:moveTo>
                  <a:lnTo>
                    <a:pt x="297179" y="427672"/>
                  </a:lnTo>
                  <a:cubicBezTo>
                    <a:pt x="295275" y="437197"/>
                    <a:pt x="287654" y="442912"/>
                    <a:pt x="278129" y="442912"/>
                  </a:cubicBezTo>
                  <a:lnTo>
                    <a:pt x="232409" y="442912"/>
                  </a:lnTo>
                  <a:cubicBezTo>
                    <a:pt x="222884" y="442912"/>
                    <a:pt x="215264" y="437197"/>
                    <a:pt x="213359" y="427672"/>
                  </a:cubicBezTo>
                  <a:lnTo>
                    <a:pt x="198119" y="347662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25">
              <a:extLst>
                <a:ext uri="{FF2B5EF4-FFF2-40B4-BE49-F238E27FC236}">
                  <a16:creationId xmlns:a16="http://schemas.microsoft.com/office/drawing/2014/main" id="{ADC5A1C6-394B-31BA-0A90-DAC3040D26AA}"/>
                </a:ext>
              </a:extLst>
            </p:cNvPr>
            <p:cNvSpPr/>
            <p:nvPr/>
          </p:nvSpPr>
          <p:spPr>
            <a:xfrm>
              <a:off x="4826536" y="4442936"/>
              <a:ext cx="438169" cy="404774"/>
            </a:xfrm>
            <a:custGeom>
              <a:avLst/>
              <a:gdLst/>
              <a:ahLst/>
              <a:cxnLst/>
              <a:rect l="0" t="0" r="0" b="0"/>
              <a:pathLst>
                <a:path w="438169" h="404774">
                  <a:moveTo>
                    <a:pt x="171469" y="353244"/>
                  </a:moveTo>
                  <a:cubicBezTo>
                    <a:pt x="161486" y="351434"/>
                    <a:pt x="16421" y="404774"/>
                    <a:pt x="16421" y="404774"/>
                  </a:cubicBezTo>
                  <a:cubicBezTo>
                    <a:pt x="51625" y="371132"/>
                    <a:pt x="70065" y="338232"/>
                    <a:pt x="65722" y="306362"/>
                  </a:cubicBezTo>
                  <a:cubicBezTo>
                    <a:pt x="25368" y="276174"/>
                    <a:pt x="1133" y="229110"/>
                    <a:pt x="0" y="178727"/>
                  </a:cubicBezTo>
                  <a:cubicBezTo>
                    <a:pt x="19" y="80010"/>
                    <a:pt x="98088" y="0"/>
                    <a:pt x="219094" y="0"/>
                  </a:cubicBezTo>
                  <a:cubicBezTo>
                    <a:pt x="340099" y="0"/>
                    <a:pt x="438169" y="80009"/>
                    <a:pt x="438169" y="178727"/>
                  </a:cubicBezTo>
                  <a:cubicBezTo>
                    <a:pt x="438169" y="277444"/>
                    <a:pt x="340099" y="357473"/>
                    <a:pt x="219094" y="357473"/>
                  </a:cubicBezTo>
                  <a:cubicBezTo>
                    <a:pt x="203124" y="357482"/>
                    <a:pt x="187186" y="356066"/>
                    <a:pt x="171469" y="353244"/>
                  </a:cubicBezTo>
                  <a:close/>
                  <a:moveTo>
                    <a:pt x="319563" y="276224"/>
                  </a:moveTo>
                  <a:cubicBezTo>
                    <a:pt x="351035" y="255416"/>
                    <a:pt x="370408" y="220592"/>
                    <a:pt x="371494" y="182879"/>
                  </a:cubicBezTo>
                  <a:cubicBezTo>
                    <a:pt x="371494" y="124586"/>
                    <a:pt x="322459" y="75723"/>
                    <a:pt x="256260" y="62198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282357F-FCFE-8503-CB6D-F0AF44413A27}"/>
              </a:ext>
            </a:extLst>
          </p:cNvPr>
          <p:cNvGrpSpPr/>
          <p:nvPr/>
        </p:nvGrpSpPr>
        <p:grpSpPr>
          <a:xfrm>
            <a:off x="892116" y="3811406"/>
            <a:ext cx="3189757" cy="2900464"/>
            <a:chOff x="2061036" y="1381160"/>
            <a:chExt cx="5032127" cy="442965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26BB999-D2E1-7667-66F4-C759E6CE633E}"/>
                </a:ext>
              </a:extLst>
            </p:cNvPr>
            <p:cNvGrpSpPr/>
            <p:nvPr/>
          </p:nvGrpSpPr>
          <p:grpSpPr>
            <a:xfrm>
              <a:off x="3010184" y="3416392"/>
              <a:ext cx="648392" cy="648392"/>
              <a:chOff x="1620981" y="3025832"/>
              <a:chExt cx="648392" cy="648392"/>
            </a:xfrm>
          </p:grpSpPr>
          <p:sp>
            <p:nvSpPr>
              <p:cNvPr id="81" name="Rounded Rectangle 1">
                <a:extLst>
                  <a:ext uri="{FF2B5EF4-FFF2-40B4-BE49-F238E27FC236}">
                    <a16:creationId xmlns:a16="http://schemas.microsoft.com/office/drawing/2014/main" id="{AB4A1278-9A6A-FB08-DE41-D63D04305A4E}"/>
                  </a:ext>
                </a:extLst>
              </p:cNvPr>
              <p:cNvSpPr/>
              <p:nvPr/>
            </p:nvSpPr>
            <p:spPr>
              <a:xfrm>
                <a:off x="1620981" y="3025832"/>
                <a:ext cx="648392" cy="648392"/>
              </a:xfrm>
              <a:custGeom>
                <a:avLst/>
                <a:gdLst/>
                <a:ahLst/>
                <a:cxnLst/>
                <a:rect l="0" t="0" r="0" b="0"/>
                <a:pathLst>
                  <a:path w="648392" h="648392">
                    <a:moveTo>
                      <a:pt x="0" y="324196"/>
                    </a:moveTo>
                    <a:cubicBezTo>
                      <a:pt x="0" y="145147"/>
                      <a:pt x="145147" y="0"/>
                      <a:pt x="324196" y="0"/>
                    </a:cubicBezTo>
                    <a:cubicBezTo>
                      <a:pt x="503245" y="0"/>
                      <a:pt x="648392" y="145147"/>
                      <a:pt x="648392" y="324196"/>
                    </a:cubicBezTo>
                    <a:cubicBezTo>
                      <a:pt x="648392" y="503245"/>
                      <a:pt x="503245" y="648392"/>
                      <a:pt x="324196" y="648392"/>
                    </a:cubicBezTo>
                    <a:cubicBezTo>
                      <a:pt x="145147" y="648392"/>
                      <a:pt x="0" y="503245"/>
                      <a:pt x="0" y="324196"/>
                    </a:cubicBezTo>
                  </a:path>
                </a:pathLst>
              </a:custGeom>
              <a:gradFill rotWithShape="1">
                <a:gsLst>
                  <a:gs pos="0">
                    <a:srgbClr val="FFF282"/>
                  </a:gs>
                  <a:gs pos="100000">
                    <a:srgbClr val="FFE714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82" name="Rounded Rectangle 2">
                <a:extLst>
                  <a:ext uri="{FF2B5EF4-FFF2-40B4-BE49-F238E27FC236}">
                    <a16:creationId xmlns:a16="http://schemas.microsoft.com/office/drawing/2014/main" id="{DA5239BE-A09F-0D07-F1B1-2CDCA9C2282E}"/>
                  </a:ext>
                </a:extLst>
              </p:cNvPr>
              <p:cNvSpPr/>
              <p:nvPr/>
            </p:nvSpPr>
            <p:spPr>
              <a:xfrm>
                <a:off x="1620981" y="3025832"/>
                <a:ext cx="648392" cy="648392"/>
              </a:xfrm>
              <a:custGeom>
                <a:avLst/>
                <a:gdLst/>
                <a:ahLst/>
                <a:cxnLst/>
                <a:rect l="0" t="0" r="0" b="0"/>
                <a:pathLst>
                  <a:path w="648392" h="648392">
                    <a:moveTo>
                      <a:pt x="0" y="324196"/>
                    </a:moveTo>
                    <a:cubicBezTo>
                      <a:pt x="0" y="145147"/>
                      <a:pt x="145147" y="0"/>
                      <a:pt x="324196" y="0"/>
                    </a:cubicBezTo>
                    <a:cubicBezTo>
                      <a:pt x="503245" y="0"/>
                      <a:pt x="648392" y="145147"/>
                      <a:pt x="648392" y="324196"/>
                    </a:cubicBezTo>
                    <a:cubicBezTo>
                      <a:pt x="648392" y="503245"/>
                      <a:pt x="503245" y="648392"/>
                      <a:pt x="324196" y="648392"/>
                    </a:cubicBezTo>
                    <a:cubicBezTo>
                      <a:pt x="145147" y="648392"/>
                      <a:pt x="0" y="503245"/>
                      <a:pt x="0" y="324196"/>
                    </a:cubicBezTo>
                  </a:path>
                </a:pathLst>
              </a:custGeom>
              <a:noFill/>
              <a:ln w="1350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F7AD6BD-E8D3-56AD-5093-5FFC70C04B16}"/>
                </a:ext>
              </a:extLst>
            </p:cNvPr>
            <p:cNvGrpSpPr/>
            <p:nvPr/>
          </p:nvGrpSpPr>
          <p:grpSpPr>
            <a:xfrm>
              <a:off x="3410026" y="4290822"/>
              <a:ext cx="701705" cy="659288"/>
              <a:chOff x="2020823" y="3900262"/>
              <a:chExt cx="701705" cy="659288"/>
            </a:xfrm>
          </p:grpSpPr>
          <p:sp>
            <p:nvSpPr>
              <p:cNvPr id="79" name="Rounded Rectangle 4">
                <a:extLst>
                  <a:ext uri="{FF2B5EF4-FFF2-40B4-BE49-F238E27FC236}">
                    <a16:creationId xmlns:a16="http://schemas.microsoft.com/office/drawing/2014/main" id="{35849487-4581-3ABE-4CA4-EC08832B8937}"/>
                  </a:ext>
                </a:extLst>
              </p:cNvPr>
              <p:cNvSpPr/>
              <p:nvPr/>
            </p:nvSpPr>
            <p:spPr>
              <a:xfrm>
                <a:off x="2048740" y="3904134"/>
                <a:ext cx="673788" cy="655416"/>
              </a:xfrm>
              <a:custGeom>
                <a:avLst/>
                <a:gdLst/>
                <a:ahLst/>
                <a:cxnLst/>
                <a:rect l="0" t="0" r="0" b="0"/>
                <a:pathLst>
                  <a:path w="673788" h="655416">
                    <a:moveTo>
                      <a:pt x="673788" y="655416"/>
                    </a:moveTo>
                    <a:cubicBezTo>
                      <a:pt x="376608" y="527179"/>
                      <a:pt x="136162" y="292767"/>
                      <a:pt x="0" y="0"/>
                    </a:cubicBezTo>
                  </a:path>
                </a:pathLst>
              </a:custGeom>
              <a:noFill/>
              <a:ln w="1350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80" name="Rounded Rectangle 5">
                <a:extLst>
                  <a:ext uri="{FF2B5EF4-FFF2-40B4-BE49-F238E27FC236}">
                    <a16:creationId xmlns:a16="http://schemas.microsoft.com/office/drawing/2014/main" id="{4AEFA44F-BB36-9629-77B0-ED8E2078D7A5}"/>
                  </a:ext>
                </a:extLst>
              </p:cNvPr>
              <p:cNvSpPr/>
              <p:nvPr/>
            </p:nvSpPr>
            <p:spPr>
              <a:xfrm>
                <a:off x="2020823" y="3900262"/>
                <a:ext cx="105363" cy="78347"/>
              </a:xfrm>
              <a:custGeom>
                <a:avLst/>
                <a:gdLst/>
                <a:ahLst/>
                <a:cxnLst/>
                <a:rect l="0" t="0" r="0" b="0"/>
                <a:pathLst>
                  <a:path w="105363" h="78347">
                    <a:moveTo>
                      <a:pt x="0" y="78347"/>
                    </a:moveTo>
                    <a:lnTo>
                      <a:pt x="27016" y="0"/>
                    </a:lnTo>
                    <a:lnTo>
                      <a:pt x="105363" y="26115"/>
                    </a:lnTo>
                  </a:path>
                </a:pathLst>
              </a:custGeom>
              <a:noFill/>
              <a:ln w="1350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E45CF91B-064F-BE87-89DD-7F242DE83CFD}"/>
                </a:ext>
              </a:extLst>
            </p:cNvPr>
            <p:cNvGrpSpPr/>
            <p:nvPr/>
          </p:nvGrpSpPr>
          <p:grpSpPr>
            <a:xfrm>
              <a:off x="4306970" y="4713178"/>
              <a:ext cx="648392" cy="648392"/>
              <a:chOff x="2917767" y="4322618"/>
              <a:chExt cx="648392" cy="648392"/>
            </a:xfrm>
          </p:grpSpPr>
          <p:sp>
            <p:nvSpPr>
              <p:cNvPr id="77" name="Rounded Rectangle 7">
                <a:extLst>
                  <a:ext uri="{FF2B5EF4-FFF2-40B4-BE49-F238E27FC236}">
                    <a16:creationId xmlns:a16="http://schemas.microsoft.com/office/drawing/2014/main" id="{A1B16FFA-5F41-7F81-D344-E4DD9F20B66A}"/>
                  </a:ext>
                </a:extLst>
              </p:cNvPr>
              <p:cNvSpPr/>
              <p:nvPr/>
            </p:nvSpPr>
            <p:spPr>
              <a:xfrm>
                <a:off x="2917767" y="4322618"/>
                <a:ext cx="648392" cy="648392"/>
              </a:xfrm>
              <a:custGeom>
                <a:avLst/>
                <a:gdLst/>
                <a:ahLst/>
                <a:cxnLst/>
                <a:rect l="0" t="0" r="0" b="0"/>
                <a:pathLst>
                  <a:path w="648392" h="648392">
                    <a:moveTo>
                      <a:pt x="0" y="324196"/>
                    </a:moveTo>
                    <a:cubicBezTo>
                      <a:pt x="0" y="145147"/>
                      <a:pt x="145147" y="0"/>
                      <a:pt x="324196" y="0"/>
                    </a:cubicBezTo>
                    <a:cubicBezTo>
                      <a:pt x="503245" y="0"/>
                      <a:pt x="648392" y="145147"/>
                      <a:pt x="648392" y="324196"/>
                    </a:cubicBezTo>
                    <a:cubicBezTo>
                      <a:pt x="648392" y="503245"/>
                      <a:pt x="503245" y="648392"/>
                      <a:pt x="324196" y="648392"/>
                    </a:cubicBezTo>
                    <a:cubicBezTo>
                      <a:pt x="145147" y="648392"/>
                      <a:pt x="0" y="503245"/>
                      <a:pt x="0" y="324196"/>
                    </a:cubicBezTo>
                  </a:path>
                </a:pathLst>
              </a:custGeom>
              <a:gradFill rotWithShape="1">
                <a:gsLst>
                  <a:gs pos="0">
                    <a:srgbClr val="CFF976"/>
                  </a:gs>
                  <a:gs pos="100000">
                    <a:srgbClr val="A8DD38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8" name="Rounded Rectangle 8">
                <a:extLst>
                  <a:ext uri="{FF2B5EF4-FFF2-40B4-BE49-F238E27FC236}">
                    <a16:creationId xmlns:a16="http://schemas.microsoft.com/office/drawing/2014/main" id="{F7F2BF89-ACA2-F66A-22FA-15C336BC0A48}"/>
                  </a:ext>
                </a:extLst>
              </p:cNvPr>
              <p:cNvSpPr/>
              <p:nvPr/>
            </p:nvSpPr>
            <p:spPr>
              <a:xfrm>
                <a:off x="2917767" y="4322618"/>
                <a:ext cx="648392" cy="648392"/>
              </a:xfrm>
              <a:custGeom>
                <a:avLst/>
                <a:gdLst/>
                <a:ahLst/>
                <a:cxnLst/>
                <a:rect l="0" t="0" r="0" b="0"/>
                <a:pathLst>
                  <a:path w="648392" h="648392">
                    <a:moveTo>
                      <a:pt x="0" y="324196"/>
                    </a:moveTo>
                    <a:cubicBezTo>
                      <a:pt x="0" y="145147"/>
                      <a:pt x="145147" y="0"/>
                      <a:pt x="324196" y="0"/>
                    </a:cubicBezTo>
                    <a:cubicBezTo>
                      <a:pt x="503245" y="0"/>
                      <a:pt x="648392" y="145147"/>
                      <a:pt x="648392" y="324196"/>
                    </a:cubicBezTo>
                    <a:cubicBezTo>
                      <a:pt x="648392" y="503245"/>
                      <a:pt x="503245" y="648392"/>
                      <a:pt x="324196" y="648392"/>
                    </a:cubicBezTo>
                    <a:cubicBezTo>
                      <a:pt x="145147" y="648392"/>
                      <a:pt x="0" y="503245"/>
                      <a:pt x="0" y="324196"/>
                    </a:cubicBezTo>
                  </a:path>
                </a:pathLst>
              </a:custGeom>
              <a:noFill/>
              <a:ln w="1350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8C0E368-8F38-CB16-ED63-7232A8A54386}"/>
                </a:ext>
              </a:extLst>
            </p:cNvPr>
            <p:cNvGrpSpPr/>
            <p:nvPr/>
          </p:nvGrpSpPr>
          <p:grpSpPr>
            <a:xfrm>
              <a:off x="5179598" y="4255790"/>
              <a:ext cx="666134" cy="709539"/>
              <a:chOff x="3790395" y="3865230"/>
              <a:chExt cx="666134" cy="709539"/>
            </a:xfrm>
          </p:grpSpPr>
          <p:sp>
            <p:nvSpPr>
              <p:cNvPr id="75" name="Rounded Rectangle 10">
                <a:extLst>
                  <a:ext uri="{FF2B5EF4-FFF2-40B4-BE49-F238E27FC236}">
                    <a16:creationId xmlns:a16="http://schemas.microsoft.com/office/drawing/2014/main" id="{5B534D51-1CB2-C059-DAF8-AE7051663B2F}"/>
                  </a:ext>
                </a:extLst>
              </p:cNvPr>
              <p:cNvSpPr/>
              <p:nvPr/>
            </p:nvSpPr>
            <p:spPr>
              <a:xfrm>
                <a:off x="3794448" y="3865230"/>
                <a:ext cx="662081" cy="681532"/>
              </a:xfrm>
              <a:custGeom>
                <a:avLst/>
                <a:gdLst/>
                <a:ahLst/>
                <a:cxnLst/>
                <a:rect l="0" t="0" r="0" b="0"/>
                <a:pathLst>
                  <a:path w="662081" h="681532">
                    <a:moveTo>
                      <a:pt x="662081" y="0"/>
                    </a:moveTo>
                    <a:cubicBezTo>
                      <a:pt x="533843" y="301232"/>
                      <a:pt x="296639" y="544920"/>
                      <a:pt x="0" y="681532"/>
                    </a:cubicBezTo>
                  </a:path>
                </a:pathLst>
              </a:custGeom>
              <a:noFill/>
              <a:ln w="1350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6" name="Rounded Rectangle 11">
                <a:extLst>
                  <a:ext uri="{FF2B5EF4-FFF2-40B4-BE49-F238E27FC236}">
                    <a16:creationId xmlns:a16="http://schemas.microsoft.com/office/drawing/2014/main" id="{20A10082-3F95-3C5A-E174-BBF2E516AC6F}"/>
                  </a:ext>
                </a:extLst>
              </p:cNvPr>
              <p:cNvSpPr/>
              <p:nvPr/>
            </p:nvSpPr>
            <p:spPr>
              <a:xfrm>
                <a:off x="3790395" y="4469406"/>
                <a:ext cx="78347" cy="105363"/>
              </a:xfrm>
              <a:custGeom>
                <a:avLst/>
                <a:gdLst/>
                <a:ahLst/>
                <a:cxnLst/>
                <a:rect l="0" t="0" r="0" b="0"/>
                <a:pathLst>
                  <a:path w="78347" h="105363">
                    <a:moveTo>
                      <a:pt x="78347" y="105363"/>
                    </a:moveTo>
                    <a:lnTo>
                      <a:pt x="0" y="79248"/>
                    </a:lnTo>
                    <a:lnTo>
                      <a:pt x="26115" y="0"/>
                    </a:lnTo>
                  </a:path>
                </a:pathLst>
              </a:custGeom>
              <a:noFill/>
              <a:ln w="1350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3B27F16-AD4F-4F1D-15FC-9E8EBFDFC943}"/>
                </a:ext>
              </a:extLst>
            </p:cNvPr>
            <p:cNvGrpSpPr/>
            <p:nvPr/>
          </p:nvGrpSpPr>
          <p:grpSpPr>
            <a:xfrm>
              <a:off x="5600018" y="3416392"/>
              <a:ext cx="648392" cy="648392"/>
              <a:chOff x="4210815" y="3025832"/>
              <a:chExt cx="648392" cy="648392"/>
            </a:xfrm>
          </p:grpSpPr>
          <p:sp>
            <p:nvSpPr>
              <p:cNvPr id="73" name="Rounded Rectangle 13">
                <a:extLst>
                  <a:ext uri="{FF2B5EF4-FFF2-40B4-BE49-F238E27FC236}">
                    <a16:creationId xmlns:a16="http://schemas.microsoft.com/office/drawing/2014/main" id="{67CB6502-97DE-BBDD-3CFF-C18926F53905}"/>
                  </a:ext>
                </a:extLst>
              </p:cNvPr>
              <p:cNvSpPr/>
              <p:nvPr/>
            </p:nvSpPr>
            <p:spPr>
              <a:xfrm>
                <a:off x="4210815" y="3025832"/>
                <a:ext cx="648392" cy="648392"/>
              </a:xfrm>
              <a:custGeom>
                <a:avLst/>
                <a:gdLst/>
                <a:ahLst/>
                <a:cxnLst/>
                <a:rect l="0" t="0" r="0" b="0"/>
                <a:pathLst>
                  <a:path w="648392" h="648392">
                    <a:moveTo>
                      <a:pt x="0" y="324196"/>
                    </a:moveTo>
                    <a:cubicBezTo>
                      <a:pt x="0" y="145147"/>
                      <a:pt x="145147" y="0"/>
                      <a:pt x="324196" y="0"/>
                    </a:cubicBezTo>
                    <a:cubicBezTo>
                      <a:pt x="503245" y="0"/>
                      <a:pt x="648392" y="145147"/>
                      <a:pt x="648392" y="324196"/>
                    </a:cubicBezTo>
                    <a:cubicBezTo>
                      <a:pt x="648392" y="503245"/>
                      <a:pt x="503245" y="648392"/>
                      <a:pt x="324196" y="648392"/>
                    </a:cubicBezTo>
                    <a:cubicBezTo>
                      <a:pt x="145147" y="648392"/>
                      <a:pt x="0" y="503245"/>
                      <a:pt x="0" y="324196"/>
                    </a:cubicBezTo>
                  </a:path>
                </a:pathLst>
              </a:custGeom>
              <a:gradFill rotWithShape="1">
                <a:gsLst>
                  <a:gs pos="0">
                    <a:srgbClr val="83FAC1"/>
                  </a:gs>
                  <a:gs pos="100000">
                    <a:srgbClr val="44E09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4" name="Rounded Rectangle 14">
                <a:extLst>
                  <a:ext uri="{FF2B5EF4-FFF2-40B4-BE49-F238E27FC236}">
                    <a16:creationId xmlns:a16="http://schemas.microsoft.com/office/drawing/2014/main" id="{F8317B80-278A-6693-EE7B-455D1089642A}"/>
                  </a:ext>
                </a:extLst>
              </p:cNvPr>
              <p:cNvSpPr/>
              <p:nvPr/>
            </p:nvSpPr>
            <p:spPr>
              <a:xfrm>
                <a:off x="4210815" y="3025832"/>
                <a:ext cx="648392" cy="648392"/>
              </a:xfrm>
              <a:custGeom>
                <a:avLst/>
                <a:gdLst/>
                <a:ahLst/>
                <a:cxnLst/>
                <a:rect l="0" t="0" r="0" b="0"/>
                <a:pathLst>
                  <a:path w="648392" h="648392">
                    <a:moveTo>
                      <a:pt x="0" y="324196"/>
                    </a:moveTo>
                    <a:cubicBezTo>
                      <a:pt x="0" y="145147"/>
                      <a:pt x="145147" y="0"/>
                      <a:pt x="324196" y="0"/>
                    </a:cubicBezTo>
                    <a:cubicBezTo>
                      <a:pt x="503245" y="0"/>
                      <a:pt x="648392" y="145147"/>
                      <a:pt x="648392" y="324196"/>
                    </a:cubicBezTo>
                    <a:cubicBezTo>
                      <a:pt x="648392" y="503245"/>
                      <a:pt x="503245" y="648392"/>
                      <a:pt x="324196" y="648392"/>
                    </a:cubicBezTo>
                    <a:cubicBezTo>
                      <a:pt x="145147" y="648392"/>
                      <a:pt x="0" y="503245"/>
                      <a:pt x="0" y="324196"/>
                    </a:cubicBezTo>
                  </a:path>
                </a:pathLst>
              </a:custGeom>
              <a:noFill/>
              <a:ln w="1350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036D825-333F-C909-9F9D-27220F1098F2}"/>
                </a:ext>
              </a:extLst>
            </p:cNvPr>
            <p:cNvGrpSpPr/>
            <p:nvPr/>
          </p:nvGrpSpPr>
          <p:grpSpPr>
            <a:xfrm>
              <a:off x="5144477" y="2525934"/>
              <a:ext cx="709630" cy="659919"/>
              <a:chOff x="3755274" y="2135374"/>
              <a:chExt cx="709630" cy="659919"/>
            </a:xfrm>
          </p:grpSpPr>
          <p:sp>
            <p:nvSpPr>
              <p:cNvPr id="71" name="Rounded Rectangle 16">
                <a:extLst>
                  <a:ext uri="{FF2B5EF4-FFF2-40B4-BE49-F238E27FC236}">
                    <a16:creationId xmlns:a16="http://schemas.microsoft.com/office/drawing/2014/main" id="{7CD66732-9200-3112-8785-069E0F3094EF}"/>
                  </a:ext>
                </a:extLst>
              </p:cNvPr>
              <p:cNvSpPr/>
              <p:nvPr/>
            </p:nvSpPr>
            <p:spPr>
              <a:xfrm>
                <a:off x="3755274" y="2135374"/>
                <a:ext cx="681983" cy="655687"/>
              </a:xfrm>
              <a:custGeom>
                <a:avLst/>
                <a:gdLst/>
                <a:ahLst/>
                <a:cxnLst/>
                <a:rect l="0" t="0" r="0" b="0"/>
                <a:pathLst>
                  <a:path w="681983" h="655687">
                    <a:moveTo>
                      <a:pt x="0" y="0"/>
                    </a:moveTo>
                    <a:cubicBezTo>
                      <a:pt x="300421" y="126616"/>
                      <a:pt x="544019" y="361478"/>
                      <a:pt x="681983" y="655687"/>
                    </a:cubicBezTo>
                  </a:path>
                </a:pathLst>
              </a:custGeom>
              <a:noFill/>
              <a:ln w="1350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2" name="Rounded Rectangle 17">
                <a:extLst>
                  <a:ext uri="{FF2B5EF4-FFF2-40B4-BE49-F238E27FC236}">
                    <a16:creationId xmlns:a16="http://schemas.microsoft.com/office/drawing/2014/main" id="{2A41E3E3-073E-3488-DDF7-EE07DCC7DAF2}"/>
                  </a:ext>
                </a:extLst>
              </p:cNvPr>
              <p:cNvSpPr/>
              <p:nvPr/>
            </p:nvSpPr>
            <p:spPr>
              <a:xfrm>
                <a:off x="4360441" y="2716946"/>
                <a:ext cx="104463" cy="78347"/>
              </a:xfrm>
              <a:custGeom>
                <a:avLst/>
                <a:gdLst/>
                <a:ahLst/>
                <a:cxnLst/>
                <a:rect l="0" t="0" r="0" b="0"/>
                <a:pathLst>
                  <a:path w="104463" h="78347">
                    <a:moveTo>
                      <a:pt x="104463" y="0"/>
                    </a:moveTo>
                    <a:lnTo>
                      <a:pt x="78347" y="78347"/>
                    </a:lnTo>
                    <a:lnTo>
                      <a:pt x="0" y="52231"/>
                    </a:lnTo>
                  </a:path>
                </a:pathLst>
              </a:custGeom>
              <a:noFill/>
              <a:ln w="1350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052FF24-67A3-C68C-5E09-C024D204BE92}"/>
                </a:ext>
              </a:extLst>
            </p:cNvPr>
            <p:cNvGrpSpPr/>
            <p:nvPr/>
          </p:nvGrpSpPr>
          <p:grpSpPr>
            <a:xfrm>
              <a:off x="4306970" y="2119607"/>
              <a:ext cx="648392" cy="648392"/>
              <a:chOff x="2917767" y="1729047"/>
              <a:chExt cx="648392" cy="648392"/>
            </a:xfrm>
          </p:grpSpPr>
          <p:sp>
            <p:nvSpPr>
              <p:cNvPr id="69" name="Rounded Rectangle 19">
                <a:extLst>
                  <a:ext uri="{FF2B5EF4-FFF2-40B4-BE49-F238E27FC236}">
                    <a16:creationId xmlns:a16="http://schemas.microsoft.com/office/drawing/2014/main" id="{4825A349-DF9E-F96E-BF82-552134643DCC}"/>
                  </a:ext>
                </a:extLst>
              </p:cNvPr>
              <p:cNvSpPr/>
              <p:nvPr/>
            </p:nvSpPr>
            <p:spPr>
              <a:xfrm>
                <a:off x="2917767" y="1729047"/>
                <a:ext cx="648392" cy="648392"/>
              </a:xfrm>
              <a:custGeom>
                <a:avLst/>
                <a:gdLst/>
                <a:ahLst/>
                <a:cxnLst/>
                <a:rect l="0" t="0" r="0" b="0"/>
                <a:pathLst>
                  <a:path w="648392" h="648392">
                    <a:moveTo>
                      <a:pt x="0" y="324196"/>
                    </a:moveTo>
                    <a:cubicBezTo>
                      <a:pt x="0" y="145147"/>
                      <a:pt x="145147" y="0"/>
                      <a:pt x="324196" y="0"/>
                    </a:cubicBezTo>
                    <a:cubicBezTo>
                      <a:pt x="503245" y="0"/>
                      <a:pt x="648392" y="145147"/>
                      <a:pt x="648392" y="324196"/>
                    </a:cubicBezTo>
                    <a:cubicBezTo>
                      <a:pt x="648392" y="503245"/>
                      <a:pt x="503245" y="648392"/>
                      <a:pt x="324196" y="648392"/>
                    </a:cubicBezTo>
                    <a:cubicBezTo>
                      <a:pt x="145147" y="648392"/>
                      <a:pt x="0" y="503245"/>
                      <a:pt x="0" y="324196"/>
                    </a:cubicBezTo>
                  </a:path>
                </a:pathLst>
              </a:custGeom>
              <a:gradFill rotWithShape="1">
                <a:gsLst>
                  <a:gs pos="0">
                    <a:srgbClr val="7FDFFF"/>
                  </a:gs>
                  <a:gs pos="100000">
                    <a:srgbClr val="1AC6FF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70" name="Rounded Rectangle 20">
                <a:extLst>
                  <a:ext uri="{FF2B5EF4-FFF2-40B4-BE49-F238E27FC236}">
                    <a16:creationId xmlns:a16="http://schemas.microsoft.com/office/drawing/2014/main" id="{070524C3-E0F2-27A9-EA2D-E57C5B5745A0}"/>
                  </a:ext>
                </a:extLst>
              </p:cNvPr>
              <p:cNvSpPr/>
              <p:nvPr/>
            </p:nvSpPr>
            <p:spPr>
              <a:xfrm>
                <a:off x="2917767" y="1729047"/>
                <a:ext cx="648392" cy="648392"/>
              </a:xfrm>
              <a:custGeom>
                <a:avLst/>
                <a:gdLst/>
                <a:ahLst/>
                <a:cxnLst/>
                <a:rect l="0" t="0" r="0" b="0"/>
                <a:pathLst>
                  <a:path w="648392" h="648392">
                    <a:moveTo>
                      <a:pt x="0" y="324196"/>
                    </a:moveTo>
                    <a:cubicBezTo>
                      <a:pt x="0" y="145147"/>
                      <a:pt x="145147" y="0"/>
                      <a:pt x="324196" y="0"/>
                    </a:cubicBezTo>
                    <a:cubicBezTo>
                      <a:pt x="503245" y="0"/>
                      <a:pt x="648392" y="145147"/>
                      <a:pt x="648392" y="324196"/>
                    </a:cubicBezTo>
                    <a:cubicBezTo>
                      <a:pt x="648392" y="503245"/>
                      <a:pt x="503245" y="648392"/>
                      <a:pt x="324196" y="648392"/>
                    </a:cubicBezTo>
                    <a:cubicBezTo>
                      <a:pt x="145147" y="648392"/>
                      <a:pt x="0" y="503245"/>
                      <a:pt x="0" y="324196"/>
                    </a:cubicBezTo>
                  </a:path>
                </a:pathLst>
              </a:custGeom>
              <a:noFill/>
              <a:ln w="1350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D241C97-BFAF-82BD-E9DF-C03B26C5AD3D}"/>
                </a:ext>
              </a:extLst>
            </p:cNvPr>
            <p:cNvGrpSpPr/>
            <p:nvPr/>
          </p:nvGrpSpPr>
          <p:grpSpPr>
            <a:xfrm>
              <a:off x="3421013" y="2519448"/>
              <a:ext cx="658119" cy="704317"/>
              <a:chOff x="2031810" y="2128888"/>
              <a:chExt cx="658119" cy="704317"/>
            </a:xfrm>
          </p:grpSpPr>
          <p:sp>
            <p:nvSpPr>
              <p:cNvPr id="67" name="Rounded Rectangle 22">
                <a:extLst>
                  <a:ext uri="{FF2B5EF4-FFF2-40B4-BE49-F238E27FC236}">
                    <a16:creationId xmlns:a16="http://schemas.microsoft.com/office/drawing/2014/main" id="{3622B935-986D-B908-5B07-034FFF256F75}"/>
                  </a:ext>
                </a:extLst>
              </p:cNvPr>
              <p:cNvSpPr/>
              <p:nvPr/>
            </p:nvSpPr>
            <p:spPr>
              <a:xfrm>
                <a:off x="2031810" y="2156265"/>
                <a:ext cx="653705" cy="676940"/>
              </a:xfrm>
              <a:custGeom>
                <a:avLst/>
                <a:gdLst/>
                <a:ahLst/>
                <a:cxnLst/>
                <a:rect l="0" t="0" r="0" b="0"/>
                <a:pathLst>
                  <a:path w="653705" h="676940">
                    <a:moveTo>
                      <a:pt x="0" y="676940"/>
                    </a:moveTo>
                    <a:cubicBezTo>
                      <a:pt x="127247" y="378859"/>
                      <a:pt x="361118" y="137243"/>
                      <a:pt x="653705" y="0"/>
                    </a:cubicBezTo>
                  </a:path>
                </a:pathLst>
              </a:custGeom>
              <a:noFill/>
              <a:ln w="1350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68" name="Rounded Rectangle 23">
                <a:extLst>
                  <a:ext uri="{FF2B5EF4-FFF2-40B4-BE49-F238E27FC236}">
                    <a16:creationId xmlns:a16="http://schemas.microsoft.com/office/drawing/2014/main" id="{5560356A-9DEB-D06D-7E79-8C24F3F259CE}"/>
                  </a:ext>
                </a:extLst>
              </p:cNvPr>
              <p:cNvSpPr/>
              <p:nvPr/>
            </p:nvSpPr>
            <p:spPr>
              <a:xfrm>
                <a:off x="2610681" y="2128888"/>
                <a:ext cx="79248" cy="104463"/>
              </a:xfrm>
              <a:custGeom>
                <a:avLst/>
                <a:gdLst/>
                <a:ahLst/>
                <a:cxnLst/>
                <a:rect l="0" t="0" r="0" b="0"/>
                <a:pathLst>
                  <a:path w="79248" h="104463">
                    <a:moveTo>
                      <a:pt x="0" y="0"/>
                    </a:moveTo>
                    <a:lnTo>
                      <a:pt x="79248" y="26115"/>
                    </a:lnTo>
                    <a:lnTo>
                      <a:pt x="53132" y="104463"/>
                    </a:lnTo>
                  </a:path>
                </a:pathLst>
              </a:custGeom>
              <a:noFill/>
              <a:ln w="1350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B5668F2-2C0B-FAF3-0E26-69ECBA37551F}"/>
                </a:ext>
              </a:extLst>
            </p:cNvPr>
            <p:cNvGrpSpPr/>
            <p:nvPr/>
          </p:nvGrpSpPr>
          <p:grpSpPr>
            <a:xfrm>
              <a:off x="3874708" y="2984130"/>
              <a:ext cx="1512916" cy="1512916"/>
              <a:chOff x="2485505" y="2593570"/>
              <a:chExt cx="1512916" cy="1512916"/>
            </a:xfrm>
          </p:grpSpPr>
          <p:sp>
            <p:nvSpPr>
              <p:cNvPr id="65" name="Rounded Rectangle 25">
                <a:extLst>
                  <a:ext uri="{FF2B5EF4-FFF2-40B4-BE49-F238E27FC236}">
                    <a16:creationId xmlns:a16="http://schemas.microsoft.com/office/drawing/2014/main" id="{A3403D0D-0AD2-7190-7B75-EF6EB9FF7158}"/>
                  </a:ext>
                </a:extLst>
              </p:cNvPr>
              <p:cNvSpPr/>
              <p:nvPr/>
            </p:nvSpPr>
            <p:spPr>
              <a:xfrm>
                <a:off x="2485505" y="2593570"/>
                <a:ext cx="1512916" cy="1512916"/>
              </a:xfrm>
              <a:custGeom>
                <a:avLst/>
                <a:gdLst/>
                <a:ahLst/>
                <a:cxnLst/>
                <a:rect l="0" t="0" r="0" b="0"/>
                <a:pathLst>
                  <a:path w="1512916" h="1512916">
                    <a:moveTo>
                      <a:pt x="0" y="756458"/>
                    </a:moveTo>
                    <a:cubicBezTo>
                      <a:pt x="0" y="338677"/>
                      <a:pt x="338677" y="0"/>
                      <a:pt x="756458" y="0"/>
                    </a:cubicBezTo>
                    <a:cubicBezTo>
                      <a:pt x="1174238" y="0"/>
                      <a:pt x="1512916" y="338677"/>
                      <a:pt x="1512916" y="756458"/>
                    </a:cubicBezTo>
                    <a:cubicBezTo>
                      <a:pt x="1512916" y="1174238"/>
                      <a:pt x="1174238" y="1512916"/>
                      <a:pt x="756458" y="1512916"/>
                    </a:cubicBezTo>
                    <a:cubicBezTo>
                      <a:pt x="338677" y="1512916"/>
                      <a:pt x="0" y="1174238"/>
                      <a:pt x="0" y="756458"/>
                    </a:cubicBezTo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66" name="Rounded Rectangle 26">
                <a:extLst>
                  <a:ext uri="{FF2B5EF4-FFF2-40B4-BE49-F238E27FC236}">
                    <a16:creationId xmlns:a16="http://schemas.microsoft.com/office/drawing/2014/main" id="{5F226037-EE0A-2C05-3068-2CF242459EF5}"/>
                  </a:ext>
                </a:extLst>
              </p:cNvPr>
              <p:cNvSpPr/>
              <p:nvPr/>
            </p:nvSpPr>
            <p:spPr>
              <a:xfrm>
                <a:off x="2485505" y="2593570"/>
                <a:ext cx="1512916" cy="1512916"/>
              </a:xfrm>
              <a:custGeom>
                <a:avLst/>
                <a:gdLst/>
                <a:ahLst/>
                <a:cxnLst/>
                <a:rect l="0" t="0" r="0" b="0"/>
                <a:pathLst>
                  <a:path w="1512916" h="1512916">
                    <a:moveTo>
                      <a:pt x="0" y="756458"/>
                    </a:moveTo>
                    <a:cubicBezTo>
                      <a:pt x="0" y="338677"/>
                      <a:pt x="338677" y="0"/>
                      <a:pt x="756458" y="0"/>
                    </a:cubicBezTo>
                    <a:cubicBezTo>
                      <a:pt x="1174238" y="0"/>
                      <a:pt x="1512916" y="338677"/>
                      <a:pt x="1512916" y="756458"/>
                    </a:cubicBezTo>
                    <a:cubicBezTo>
                      <a:pt x="1512916" y="1174238"/>
                      <a:pt x="1174238" y="1512916"/>
                      <a:pt x="756458" y="1512916"/>
                    </a:cubicBezTo>
                    <a:cubicBezTo>
                      <a:pt x="338677" y="1512916"/>
                      <a:pt x="0" y="1174238"/>
                      <a:pt x="0" y="756458"/>
                    </a:cubicBezTo>
                  </a:path>
                </a:pathLst>
              </a:custGeom>
              <a:noFill/>
              <a:ln w="1350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215BF31-8090-C9E3-ADB3-738BD93E57C1}"/>
                </a:ext>
              </a:extLst>
            </p:cNvPr>
            <p:cNvSpPr txBox="1"/>
            <p:nvPr/>
          </p:nvSpPr>
          <p:spPr>
            <a:xfrm>
              <a:off x="4320299" y="1381160"/>
              <a:ext cx="755015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50" b="0">
                  <a:solidFill>
                    <a:srgbClr val="484848"/>
                  </a:solidFill>
                  <a:latin typeface="Roboto"/>
                </a:rPr>
                <a:t>Improve
Notification
Engagement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2CC85B6-5864-9FA4-EBC4-76A5DC286B88}"/>
                </a:ext>
              </a:extLst>
            </p:cNvPr>
            <p:cNvSpPr txBox="1"/>
            <p:nvPr/>
          </p:nvSpPr>
          <p:spPr>
            <a:xfrm>
              <a:off x="2061036" y="3517901"/>
              <a:ext cx="870431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50" b="0" dirty="0">
                  <a:solidFill>
                    <a:srgbClr val="484848"/>
                  </a:solidFill>
                  <a:latin typeface="Roboto"/>
                </a:rPr>
                <a:t>Lower Support
Costs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98E6236-C3CB-AB10-95CA-7CC7A5C4950C}"/>
                </a:ext>
              </a:extLst>
            </p:cNvPr>
            <p:cNvSpPr txBox="1"/>
            <p:nvPr/>
          </p:nvSpPr>
          <p:spPr>
            <a:xfrm>
              <a:off x="6378224" y="3434403"/>
              <a:ext cx="714939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0" dirty="0">
                  <a:solidFill>
                    <a:srgbClr val="484848"/>
                  </a:solidFill>
                  <a:latin typeface="Roboto"/>
                </a:rPr>
                <a:t>Enhance
Customer
Satisfaction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D723241-C87B-F7F2-49C0-2512F0CC1686}"/>
                </a:ext>
              </a:extLst>
            </p:cNvPr>
            <p:cNvSpPr txBox="1"/>
            <p:nvPr/>
          </p:nvSpPr>
          <p:spPr>
            <a:xfrm>
              <a:off x="4145309" y="3785746"/>
              <a:ext cx="981207" cy="470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00" b="0" dirty="0">
                  <a:solidFill>
                    <a:srgbClr val="484848"/>
                  </a:solidFill>
                  <a:latin typeface="Roboto"/>
                </a:rPr>
                <a:t>Customer
Experience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430580B-9842-781F-0269-6DDDAEF94DA3}"/>
                </a:ext>
              </a:extLst>
            </p:cNvPr>
            <p:cNvSpPr txBox="1"/>
            <p:nvPr/>
          </p:nvSpPr>
          <p:spPr>
            <a:xfrm>
              <a:off x="4295146" y="5487647"/>
              <a:ext cx="798295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50" b="0">
                  <a:solidFill>
                    <a:srgbClr val="484848"/>
                  </a:solidFill>
                  <a:latin typeface="Roboto"/>
                </a:rPr>
                <a:t>Reduce
Support Calls</a:t>
              </a:r>
            </a:p>
          </p:txBody>
        </p:sp>
        <p:sp>
          <p:nvSpPr>
            <p:cNvPr id="60" name="Rounded Rectangle 34">
              <a:extLst>
                <a:ext uri="{FF2B5EF4-FFF2-40B4-BE49-F238E27FC236}">
                  <a16:creationId xmlns:a16="http://schemas.microsoft.com/office/drawing/2014/main" id="{8A3C79CC-564C-3A0C-62B7-6E6AF01F0404}"/>
                </a:ext>
              </a:extLst>
            </p:cNvPr>
            <p:cNvSpPr/>
            <p:nvPr/>
          </p:nvSpPr>
          <p:spPr>
            <a:xfrm>
              <a:off x="4424041" y="2236678"/>
              <a:ext cx="414250" cy="414250"/>
            </a:xfrm>
            <a:custGeom>
              <a:avLst/>
              <a:gdLst/>
              <a:ahLst/>
              <a:cxnLst/>
              <a:rect l="0" t="0" r="0" b="0"/>
              <a:pathLst>
                <a:path w="414250" h="414250">
                  <a:moveTo>
                    <a:pt x="360218" y="378229"/>
                  </a:moveTo>
                  <a:lnTo>
                    <a:pt x="54032" y="378229"/>
                  </a:lnTo>
                  <a:cubicBezTo>
                    <a:pt x="73927" y="378229"/>
                    <a:pt x="90054" y="362101"/>
                    <a:pt x="90054" y="342207"/>
                  </a:cubicBezTo>
                  <a:lnTo>
                    <a:pt x="90054" y="261158"/>
                  </a:lnTo>
                  <a:cubicBezTo>
                    <a:pt x="90054" y="213896"/>
                    <a:pt x="118472" y="171270"/>
                    <a:pt x="162098" y="153092"/>
                  </a:cubicBezTo>
                  <a:cubicBezTo>
                    <a:pt x="162098" y="128224"/>
                    <a:pt x="182257" y="108065"/>
                    <a:pt x="207125" y="108065"/>
                  </a:cubicBezTo>
                  <a:cubicBezTo>
                    <a:pt x="231993" y="108065"/>
                    <a:pt x="252152" y="128224"/>
                    <a:pt x="252152" y="153092"/>
                  </a:cubicBezTo>
                  <a:cubicBezTo>
                    <a:pt x="295778" y="171270"/>
                    <a:pt x="324196" y="213896"/>
                    <a:pt x="324196" y="261158"/>
                  </a:cubicBezTo>
                  <a:lnTo>
                    <a:pt x="324196" y="342207"/>
                  </a:lnTo>
                  <a:cubicBezTo>
                    <a:pt x="324196" y="362101"/>
                    <a:pt x="340323" y="378229"/>
                    <a:pt x="360218" y="378229"/>
                  </a:cubicBezTo>
                  <a:close/>
                  <a:moveTo>
                    <a:pt x="243147" y="378229"/>
                  </a:moveTo>
                  <a:cubicBezTo>
                    <a:pt x="243147" y="398123"/>
                    <a:pt x="227019" y="414250"/>
                    <a:pt x="207125" y="414250"/>
                  </a:cubicBezTo>
                  <a:cubicBezTo>
                    <a:pt x="187231" y="414250"/>
                    <a:pt x="171103" y="398123"/>
                    <a:pt x="171103" y="378229"/>
                  </a:cubicBezTo>
                  <a:moveTo>
                    <a:pt x="54032" y="153092"/>
                  </a:moveTo>
                  <a:cubicBezTo>
                    <a:pt x="54032" y="98383"/>
                    <a:pt x="98383" y="54032"/>
                    <a:pt x="153092" y="54032"/>
                  </a:cubicBezTo>
                  <a:moveTo>
                    <a:pt x="0" y="153092"/>
                  </a:moveTo>
                  <a:cubicBezTo>
                    <a:pt x="0" y="68541"/>
                    <a:pt x="68541" y="0"/>
                    <a:pt x="153092" y="0"/>
                  </a:cubicBezTo>
                  <a:moveTo>
                    <a:pt x="261158" y="54032"/>
                  </a:moveTo>
                  <a:cubicBezTo>
                    <a:pt x="315867" y="54032"/>
                    <a:pt x="360218" y="98383"/>
                    <a:pt x="360218" y="153092"/>
                  </a:cubicBezTo>
                  <a:moveTo>
                    <a:pt x="261158" y="0"/>
                  </a:moveTo>
                  <a:cubicBezTo>
                    <a:pt x="345708" y="0"/>
                    <a:pt x="414250" y="68541"/>
                    <a:pt x="414250" y="153092"/>
                  </a:cubicBezTo>
                </a:path>
              </a:pathLst>
            </a:custGeom>
            <a:noFill/>
            <a:ln w="1350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1" name="Rounded Rectangle 35">
              <a:extLst>
                <a:ext uri="{FF2B5EF4-FFF2-40B4-BE49-F238E27FC236}">
                  <a16:creationId xmlns:a16="http://schemas.microsoft.com/office/drawing/2014/main" id="{89E1D60F-9DE5-05F7-9D09-3E3C223C6BA8}"/>
                </a:ext>
              </a:extLst>
            </p:cNvPr>
            <p:cNvSpPr/>
            <p:nvPr/>
          </p:nvSpPr>
          <p:spPr>
            <a:xfrm>
              <a:off x="4372248" y="3203070"/>
              <a:ext cx="523752" cy="521332"/>
            </a:xfrm>
            <a:custGeom>
              <a:avLst/>
              <a:gdLst/>
              <a:ahLst/>
              <a:cxnLst/>
              <a:rect l="0" t="0" r="0" b="0"/>
              <a:pathLst>
                <a:path w="523752" h="521332">
                  <a:moveTo>
                    <a:pt x="390870" y="517864"/>
                  </a:moveTo>
                  <a:cubicBezTo>
                    <a:pt x="388747" y="520079"/>
                    <a:pt x="385811" y="521332"/>
                    <a:pt x="382742" y="521332"/>
                  </a:cubicBezTo>
                  <a:cubicBezTo>
                    <a:pt x="379674" y="521332"/>
                    <a:pt x="376738" y="520079"/>
                    <a:pt x="374615" y="517864"/>
                  </a:cubicBezTo>
                  <a:lnTo>
                    <a:pt x="267608" y="406218"/>
                  </a:lnTo>
                  <a:cubicBezTo>
                    <a:pt x="246875" y="385491"/>
                    <a:pt x="241733" y="353823"/>
                    <a:pt x="254843" y="327601"/>
                  </a:cubicBezTo>
                  <a:lnTo>
                    <a:pt x="254843" y="327601"/>
                  </a:lnTo>
                  <a:cubicBezTo>
                    <a:pt x="264638" y="308017"/>
                    <a:pt x="283250" y="294336"/>
                    <a:pt x="304864" y="290830"/>
                  </a:cubicBezTo>
                  <a:cubicBezTo>
                    <a:pt x="326478" y="287325"/>
                    <a:pt x="348460" y="294422"/>
                    <a:pt x="363944" y="309905"/>
                  </a:cubicBezTo>
                  <a:lnTo>
                    <a:pt x="382743" y="328704"/>
                  </a:lnTo>
                  <a:lnTo>
                    <a:pt x="401541" y="309905"/>
                  </a:lnTo>
                  <a:cubicBezTo>
                    <a:pt x="417025" y="294422"/>
                    <a:pt x="439007" y="287325"/>
                    <a:pt x="460621" y="290830"/>
                  </a:cubicBezTo>
                  <a:cubicBezTo>
                    <a:pt x="482235" y="294336"/>
                    <a:pt x="500847" y="308017"/>
                    <a:pt x="510643" y="327601"/>
                  </a:cubicBezTo>
                  <a:lnTo>
                    <a:pt x="510643" y="327601"/>
                  </a:lnTo>
                  <a:cubicBezTo>
                    <a:pt x="523752" y="353823"/>
                    <a:pt x="518610" y="385491"/>
                    <a:pt x="497877" y="406218"/>
                  </a:cubicBezTo>
                  <a:close/>
                  <a:moveTo>
                    <a:pt x="42787" y="202065"/>
                  </a:moveTo>
                  <a:cubicBezTo>
                    <a:pt x="55409" y="181421"/>
                    <a:pt x="61724" y="157538"/>
                    <a:pt x="60955" y="133353"/>
                  </a:cubicBezTo>
                  <a:lnTo>
                    <a:pt x="60955" y="105256"/>
                  </a:lnTo>
                  <a:cubicBezTo>
                    <a:pt x="59522" y="69767"/>
                    <a:pt x="77639" y="36342"/>
                    <a:pt x="108157" y="18171"/>
                  </a:cubicBezTo>
                  <a:cubicBezTo>
                    <a:pt x="138676" y="0"/>
                    <a:pt x="176694" y="0"/>
                    <a:pt x="207212" y="18171"/>
                  </a:cubicBezTo>
                  <a:cubicBezTo>
                    <a:pt x="237731" y="36342"/>
                    <a:pt x="255848" y="69767"/>
                    <a:pt x="254415" y="105256"/>
                  </a:cubicBezTo>
                  <a:lnTo>
                    <a:pt x="254415" y="133308"/>
                  </a:lnTo>
                  <a:cubicBezTo>
                    <a:pt x="253590" y="157492"/>
                    <a:pt x="259850" y="181391"/>
                    <a:pt x="272426" y="202065"/>
                  </a:cubicBezTo>
                  <a:moveTo>
                    <a:pt x="254550" y="121218"/>
                  </a:moveTo>
                  <a:cubicBezTo>
                    <a:pt x="217375" y="121176"/>
                    <a:pt x="182050" y="104992"/>
                    <a:pt x="157741" y="76866"/>
                  </a:cubicBezTo>
                  <a:cubicBezTo>
                    <a:pt x="133440" y="105002"/>
                    <a:pt x="98110" y="121188"/>
                    <a:pt x="60933" y="121218"/>
                  </a:cubicBezTo>
                  <a:moveTo>
                    <a:pt x="72392" y="120700"/>
                  </a:moveTo>
                  <a:cubicBezTo>
                    <a:pt x="74487" y="166265"/>
                    <a:pt x="112038" y="202130"/>
                    <a:pt x="157651" y="202130"/>
                  </a:cubicBezTo>
                  <a:cubicBezTo>
                    <a:pt x="203264" y="202130"/>
                    <a:pt x="240816" y="166265"/>
                    <a:pt x="242910" y="120700"/>
                  </a:cubicBezTo>
                  <a:moveTo>
                    <a:pt x="180120" y="391179"/>
                  </a:moveTo>
                  <a:lnTo>
                    <a:pt x="11" y="391179"/>
                  </a:lnTo>
                  <a:cubicBezTo>
                    <a:pt x="0" y="337136"/>
                    <a:pt x="27682" y="286855"/>
                    <a:pt x="73354" y="257963"/>
                  </a:cubicBezTo>
                  <a:cubicBezTo>
                    <a:pt x="119026" y="229071"/>
                    <a:pt x="176318" y="225596"/>
                    <a:pt x="225147" y="248758"/>
                  </a:cubicBezTo>
                </a:path>
              </a:pathLst>
            </a:custGeom>
            <a:noFill/>
            <a:ln w="1350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2" name="Rounded Rectangle 36">
              <a:extLst>
                <a:ext uri="{FF2B5EF4-FFF2-40B4-BE49-F238E27FC236}">
                  <a16:creationId xmlns:a16="http://schemas.microsoft.com/office/drawing/2014/main" id="{754D9FD5-E97C-BD39-7FFC-B686684B65B1}"/>
                </a:ext>
              </a:extLst>
            </p:cNvPr>
            <p:cNvSpPr/>
            <p:nvPr/>
          </p:nvSpPr>
          <p:spPr>
            <a:xfrm>
              <a:off x="3140835" y="3533144"/>
              <a:ext cx="399332" cy="414570"/>
            </a:xfrm>
            <a:custGeom>
              <a:avLst/>
              <a:gdLst/>
              <a:ahLst/>
              <a:cxnLst/>
              <a:rect l="0" t="0" r="0" b="0"/>
              <a:pathLst>
                <a:path w="399332" h="414570">
                  <a:moveTo>
                    <a:pt x="127030" y="262792"/>
                  </a:moveTo>
                  <a:cubicBezTo>
                    <a:pt x="82685" y="219365"/>
                    <a:pt x="68948" y="153462"/>
                    <a:pt x="92251" y="95935"/>
                  </a:cubicBezTo>
                  <a:cubicBezTo>
                    <a:pt x="115554" y="38408"/>
                    <a:pt x="171284" y="643"/>
                    <a:pt x="233351" y="321"/>
                  </a:cubicBezTo>
                  <a:cubicBezTo>
                    <a:pt x="295417" y="0"/>
                    <a:pt x="351536" y="37184"/>
                    <a:pt x="375434" y="94466"/>
                  </a:cubicBezTo>
                  <a:cubicBezTo>
                    <a:pt x="399332" y="151748"/>
                    <a:pt x="386279" y="217791"/>
                    <a:pt x="342387" y="261675"/>
                  </a:cubicBezTo>
                  <a:moveTo>
                    <a:pt x="243147" y="215261"/>
                  </a:moveTo>
                  <a:lnTo>
                    <a:pt x="243147" y="235650"/>
                  </a:lnTo>
                  <a:moveTo>
                    <a:pt x="243147" y="92805"/>
                  </a:moveTo>
                  <a:lnTo>
                    <a:pt x="243147" y="72363"/>
                  </a:lnTo>
                  <a:moveTo>
                    <a:pt x="212546" y="184643"/>
                  </a:moveTo>
                  <a:cubicBezTo>
                    <a:pt x="212546" y="201553"/>
                    <a:pt x="226255" y="215261"/>
                    <a:pt x="243165" y="215261"/>
                  </a:cubicBezTo>
                  <a:cubicBezTo>
                    <a:pt x="260075" y="215261"/>
                    <a:pt x="273783" y="201553"/>
                    <a:pt x="273783" y="184643"/>
                  </a:cubicBezTo>
                  <a:cubicBezTo>
                    <a:pt x="273783" y="167732"/>
                    <a:pt x="260075" y="154024"/>
                    <a:pt x="243165" y="154024"/>
                  </a:cubicBezTo>
                  <a:cubicBezTo>
                    <a:pt x="226255" y="154024"/>
                    <a:pt x="212546" y="140316"/>
                    <a:pt x="212546" y="123406"/>
                  </a:cubicBezTo>
                  <a:cubicBezTo>
                    <a:pt x="212546" y="106495"/>
                    <a:pt x="226255" y="92787"/>
                    <a:pt x="243165" y="92787"/>
                  </a:cubicBezTo>
                  <a:cubicBezTo>
                    <a:pt x="260075" y="92787"/>
                    <a:pt x="273783" y="106495"/>
                    <a:pt x="273783" y="123406"/>
                  </a:cubicBezTo>
                  <a:moveTo>
                    <a:pt x="387234" y="414570"/>
                  </a:moveTo>
                  <a:lnTo>
                    <a:pt x="263535" y="299120"/>
                  </a:lnTo>
                  <a:cubicBezTo>
                    <a:pt x="257000" y="293018"/>
                    <a:pt x="246977" y="292635"/>
                    <a:pt x="239995" y="298219"/>
                  </a:cubicBezTo>
                  <a:lnTo>
                    <a:pt x="173949" y="351045"/>
                  </a:lnTo>
                  <a:cubicBezTo>
                    <a:pt x="167099" y="356529"/>
                    <a:pt x="157293" y="356278"/>
                    <a:pt x="150733" y="350451"/>
                  </a:cubicBezTo>
                  <a:lnTo>
                    <a:pt x="0" y="216450"/>
                  </a:lnTo>
                  <a:moveTo>
                    <a:pt x="387234" y="342941"/>
                  </a:moveTo>
                  <a:lnTo>
                    <a:pt x="387234" y="414570"/>
                  </a:lnTo>
                  <a:lnTo>
                    <a:pt x="315190" y="414570"/>
                  </a:lnTo>
                </a:path>
              </a:pathLst>
            </a:custGeom>
            <a:noFill/>
            <a:ln w="1350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3" name="Rounded Rectangle 37">
              <a:extLst>
                <a:ext uri="{FF2B5EF4-FFF2-40B4-BE49-F238E27FC236}">
                  <a16:creationId xmlns:a16="http://schemas.microsoft.com/office/drawing/2014/main" id="{612B7880-BF9F-38A6-6DD2-FE585327D4C9}"/>
                </a:ext>
              </a:extLst>
            </p:cNvPr>
            <p:cNvSpPr/>
            <p:nvPr/>
          </p:nvSpPr>
          <p:spPr>
            <a:xfrm>
              <a:off x="5712562" y="3517901"/>
              <a:ext cx="428775" cy="438139"/>
            </a:xfrm>
            <a:custGeom>
              <a:avLst/>
              <a:gdLst/>
              <a:ahLst/>
              <a:cxnLst/>
              <a:rect l="0" t="0" r="0" b="0"/>
              <a:pathLst>
                <a:path w="428775" h="438139">
                  <a:moveTo>
                    <a:pt x="55759" y="139675"/>
                  </a:moveTo>
                  <a:cubicBezTo>
                    <a:pt x="88184" y="51129"/>
                    <a:pt x="180883" y="0"/>
                    <a:pt x="273074" y="19811"/>
                  </a:cubicBezTo>
                  <a:cubicBezTo>
                    <a:pt x="365265" y="39622"/>
                    <a:pt x="428775" y="124321"/>
                    <a:pt x="421961" y="218370"/>
                  </a:cubicBezTo>
                  <a:cubicBezTo>
                    <a:pt x="415147" y="312419"/>
                    <a:pt x="340092" y="387078"/>
                    <a:pt x="246008" y="393394"/>
                  </a:cubicBezTo>
                  <a:moveTo>
                    <a:pt x="183870" y="159649"/>
                  </a:moveTo>
                  <a:cubicBezTo>
                    <a:pt x="186357" y="159649"/>
                    <a:pt x="188373" y="157633"/>
                    <a:pt x="188373" y="155146"/>
                  </a:cubicBezTo>
                  <a:cubicBezTo>
                    <a:pt x="188373" y="152659"/>
                    <a:pt x="186357" y="150643"/>
                    <a:pt x="183870" y="150643"/>
                  </a:cubicBezTo>
                  <a:cubicBezTo>
                    <a:pt x="181383" y="150643"/>
                    <a:pt x="179368" y="152659"/>
                    <a:pt x="179368" y="155146"/>
                  </a:cubicBezTo>
                  <a:cubicBezTo>
                    <a:pt x="179368" y="157633"/>
                    <a:pt x="181383" y="159649"/>
                    <a:pt x="183870" y="159649"/>
                  </a:cubicBezTo>
                  <a:moveTo>
                    <a:pt x="345968" y="159649"/>
                  </a:moveTo>
                  <a:cubicBezTo>
                    <a:pt x="348455" y="159649"/>
                    <a:pt x="350471" y="157633"/>
                    <a:pt x="350471" y="155146"/>
                  </a:cubicBezTo>
                  <a:cubicBezTo>
                    <a:pt x="350471" y="152659"/>
                    <a:pt x="348455" y="150643"/>
                    <a:pt x="345968" y="150643"/>
                  </a:cubicBezTo>
                  <a:cubicBezTo>
                    <a:pt x="343482" y="150643"/>
                    <a:pt x="341466" y="152659"/>
                    <a:pt x="341466" y="155146"/>
                  </a:cubicBezTo>
                  <a:cubicBezTo>
                    <a:pt x="341466" y="157633"/>
                    <a:pt x="343482" y="159649"/>
                    <a:pt x="345968" y="159649"/>
                  </a:cubicBezTo>
                  <a:moveTo>
                    <a:pt x="212255" y="222543"/>
                  </a:moveTo>
                  <a:cubicBezTo>
                    <a:pt x="211005" y="222540"/>
                    <a:pt x="209759" y="222692"/>
                    <a:pt x="208545" y="222993"/>
                  </a:cubicBezTo>
                  <a:cubicBezTo>
                    <a:pt x="204792" y="223887"/>
                    <a:pt x="201555" y="226249"/>
                    <a:pt x="199557" y="229550"/>
                  </a:cubicBezTo>
                  <a:cubicBezTo>
                    <a:pt x="197560" y="232851"/>
                    <a:pt x="196970" y="236814"/>
                    <a:pt x="197919" y="240554"/>
                  </a:cubicBezTo>
                  <a:cubicBezTo>
                    <a:pt x="204863" y="266259"/>
                    <a:pt x="225252" y="286145"/>
                    <a:pt x="251123" y="292443"/>
                  </a:cubicBezTo>
                  <a:cubicBezTo>
                    <a:pt x="290242" y="302593"/>
                    <a:pt x="330273" y="279499"/>
                    <a:pt x="341069" y="240554"/>
                  </a:cubicBezTo>
                  <a:cubicBezTo>
                    <a:pt x="342206" y="236160"/>
                    <a:pt x="341207" y="231487"/>
                    <a:pt x="338371" y="227943"/>
                  </a:cubicBezTo>
                  <a:cubicBezTo>
                    <a:pt x="335536" y="224399"/>
                    <a:pt x="331197" y="222398"/>
                    <a:pt x="326661" y="222543"/>
                  </a:cubicBezTo>
                  <a:close/>
                  <a:moveTo>
                    <a:pt x="35280" y="271496"/>
                  </a:moveTo>
                  <a:lnTo>
                    <a:pt x="23537" y="235619"/>
                  </a:lnTo>
                  <a:cubicBezTo>
                    <a:pt x="18654" y="220778"/>
                    <a:pt x="26714" y="204787"/>
                    <a:pt x="41548" y="199885"/>
                  </a:cubicBezTo>
                  <a:lnTo>
                    <a:pt x="41548" y="199885"/>
                  </a:lnTo>
                  <a:cubicBezTo>
                    <a:pt x="56414" y="195020"/>
                    <a:pt x="72409" y="203123"/>
                    <a:pt x="77282" y="217986"/>
                  </a:cubicBezTo>
                  <a:lnTo>
                    <a:pt x="89043" y="253864"/>
                  </a:lnTo>
                  <a:moveTo>
                    <a:pt x="148384" y="272682"/>
                  </a:moveTo>
                  <a:cubicBezTo>
                    <a:pt x="145870" y="277646"/>
                    <a:pt x="141485" y="281406"/>
                    <a:pt x="136195" y="283132"/>
                  </a:cubicBezTo>
                  <a:cubicBezTo>
                    <a:pt x="147206" y="279531"/>
                    <a:pt x="159052" y="285527"/>
                    <a:pt x="162671" y="296532"/>
                  </a:cubicBezTo>
                  <a:lnTo>
                    <a:pt x="162906" y="297090"/>
                  </a:lnTo>
                  <a:cubicBezTo>
                    <a:pt x="164638" y="302378"/>
                    <a:pt x="164198" y="308138"/>
                    <a:pt x="161681" y="313100"/>
                  </a:cubicBezTo>
                  <a:cubicBezTo>
                    <a:pt x="159164" y="318063"/>
                    <a:pt x="154777" y="321822"/>
                    <a:pt x="149487" y="323548"/>
                  </a:cubicBezTo>
                  <a:cubicBezTo>
                    <a:pt x="160499" y="319937"/>
                    <a:pt x="172353" y="325937"/>
                    <a:pt x="175963" y="336948"/>
                  </a:cubicBezTo>
                  <a:lnTo>
                    <a:pt x="176126" y="337452"/>
                  </a:lnTo>
                  <a:cubicBezTo>
                    <a:pt x="179725" y="348458"/>
                    <a:pt x="173728" y="360299"/>
                    <a:pt x="162725" y="363910"/>
                  </a:cubicBezTo>
                  <a:cubicBezTo>
                    <a:pt x="168013" y="362178"/>
                    <a:pt x="173773" y="362618"/>
                    <a:pt x="178736" y="365135"/>
                  </a:cubicBezTo>
                  <a:cubicBezTo>
                    <a:pt x="183699" y="367652"/>
                    <a:pt x="187457" y="372039"/>
                    <a:pt x="189183" y="377329"/>
                  </a:cubicBezTo>
                  <a:lnTo>
                    <a:pt x="189346" y="377815"/>
                  </a:lnTo>
                  <a:cubicBezTo>
                    <a:pt x="192946" y="388826"/>
                    <a:pt x="186950" y="400672"/>
                    <a:pt x="175945" y="404291"/>
                  </a:cubicBezTo>
                  <a:lnTo>
                    <a:pt x="130918" y="419006"/>
                  </a:lnTo>
                  <a:lnTo>
                    <a:pt x="108206" y="426408"/>
                  </a:lnTo>
                  <a:cubicBezTo>
                    <a:pt x="72367" y="438139"/>
                    <a:pt x="33804" y="418603"/>
                    <a:pt x="22060" y="382768"/>
                  </a:cubicBezTo>
                  <a:lnTo>
                    <a:pt x="11668" y="351087"/>
                  </a:lnTo>
                  <a:cubicBezTo>
                    <a:pt x="0" y="315265"/>
                    <a:pt x="19542" y="276760"/>
                    <a:pt x="55344" y="265031"/>
                  </a:cubicBezTo>
                  <a:lnTo>
                    <a:pt x="78056" y="257574"/>
                  </a:lnTo>
                  <a:lnTo>
                    <a:pt x="91114" y="253305"/>
                  </a:lnTo>
                  <a:lnTo>
                    <a:pt x="122975" y="242769"/>
                  </a:lnTo>
                  <a:cubicBezTo>
                    <a:pt x="133981" y="239170"/>
                    <a:pt x="145822" y="245167"/>
                    <a:pt x="149433" y="256169"/>
                  </a:cubicBezTo>
                  <a:lnTo>
                    <a:pt x="149595" y="256674"/>
                  </a:lnTo>
                  <a:cubicBezTo>
                    <a:pt x="151334" y="261959"/>
                    <a:pt x="150898" y="267719"/>
                    <a:pt x="148384" y="272682"/>
                  </a:cubicBezTo>
                  <a:close/>
                  <a:moveTo>
                    <a:pt x="104244" y="293578"/>
                  </a:moveTo>
                  <a:lnTo>
                    <a:pt x="136141" y="283132"/>
                  </a:lnTo>
                  <a:cubicBezTo>
                    <a:pt x="147140" y="279566"/>
                    <a:pt x="153175" y="267769"/>
                    <a:pt x="149632" y="256764"/>
                  </a:cubicBezTo>
                  <a:lnTo>
                    <a:pt x="149469" y="256259"/>
                  </a:lnTo>
                  <a:cubicBezTo>
                    <a:pt x="145858" y="245257"/>
                    <a:pt x="134017" y="239260"/>
                    <a:pt x="123011" y="242859"/>
                  </a:cubicBezTo>
                  <a:lnTo>
                    <a:pt x="91114" y="253305"/>
                  </a:lnTo>
                  <a:moveTo>
                    <a:pt x="117536" y="333994"/>
                  </a:moveTo>
                  <a:lnTo>
                    <a:pt x="149415" y="323548"/>
                  </a:lnTo>
                  <a:cubicBezTo>
                    <a:pt x="154718" y="321822"/>
                    <a:pt x="159114" y="318055"/>
                    <a:pt x="161633" y="313080"/>
                  </a:cubicBezTo>
                  <a:cubicBezTo>
                    <a:pt x="164151" y="308104"/>
                    <a:pt x="164583" y="302331"/>
                    <a:pt x="162834" y="297036"/>
                  </a:cubicBezTo>
                  <a:lnTo>
                    <a:pt x="162671" y="296532"/>
                  </a:lnTo>
                  <a:cubicBezTo>
                    <a:pt x="159052" y="285527"/>
                    <a:pt x="147206" y="279531"/>
                    <a:pt x="136195" y="283132"/>
                  </a:cubicBezTo>
                  <a:lnTo>
                    <a:pt x="104298" y="293578"/>
                  </a:lnTo>
                  <a:moveTo>
                    <a:pt x="130738" y="374321"/>
                  </a:moveTo>
                  <a:lnTo>
                    <a:pt x="162653" y="363856"/>
                  </a:lnTo>
                  <a:cubicBezTo>
                    <a:pt x="173655" y="360245"/>
                    <a:pt x="179653" y="348404"/>
                    <a:pt x="176054" y="337398"/>
                  </a:cubicBezTo>
                  <a:lnTo>
                    <a:pt x="175891" y="336894"/>
                  </a:lnTo>
                  <a:cubicBezTo>
                    <a:pt x="172281" y="325883"/>
                    <a:pt x="160427" y="319883"/>
                    <a:pt x="149415" y="323494"/>
                  </a:cubicBezTo>
                  <a:lnTo>
                    <a:pt x="117536" y="333940"/>
                  </a:lnTo>
                  <a:moveTo>
                    <a:pt x="143958" y="414683"/>
                  </a:moveTo>
                  <a:lnTo>
                    <a:pt x="175855" y="404237"/>
                  </a:lnTo>
                  <a:cubicBezTo>
                    <a:pt x="186860" y="400618"/>
                    <a:pt x="192856" y="388772"/>
                    <a:pt x="189256" y="377761"/>
                  </a:cubicBezTo>
                  <a:lnTo>
                    <a:pt x="189093" y="377275"/>
                  </a:lnTo>
                  <a:cubicBezTo>
                    <a:pt x="187367" y="371985"/>
                    <a:pt x="183608" y="367598"/>
                    <a:pt x="178646" y="365081"/>
                  </a:cubicBezTo>
                  <a:cubicBezTo>
                    <a:pt x="173683" y="362565"/>
                    <a:pt x="167923" y="362124"/>
                    <a:pt x="162635" y="363856"/>
                  </a:cubicBezTo>
                  <a:lnTo>
                    <a:pt x="130738" y="374321"/>
                  </a:lnTo>
                </a:path>
              </a:pathLst>
            </a:custGeom>
            <a:noFill/>
            <a:ln w="1350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64" name="Rounded Rectangle 38">
              <a:extLst>
                <a:ext uri="{FF2B5EF4-FFF2-40B4-BE49-F238E27FC236}">
                  <a16:creationId xmlns:a16="http://schemas.microsoft.com/office/drawing/2014/main" id="{430464D3-5A23-384F-2D0C-51A9DA3D268C}"/>
                </a:ext>
              </a:extLst>
            </p:cNvPr>
            <p:cNvSpPr/>
            <p:nvPr/>
          </p:nvSpPr>
          <p:spPr>
            <a:xfrm>
              <a:off x="4406288" y="4830249"/>
              <a:ext cx="432003" cy="431967"/>
            </a:xfrm>
            <a:custGeom>
              <a:avLst/>
              <a:gdLst/>
              <a:ahLst/>
              <a:cxnLst/>
              <a:rect l="0" t="0" r="0" b="0"/>
              <a:pathLst>
                <a:path w="432003" h="431967">
                  <a:moveTo>
                    <a:pt x="323937" y="0"/>
                  </a:moveTo>
                  <a:cubicBezTo>
                    <a:pt x="383620" y="0"/>
                    <a:pt x="432003" y="48382"/>
                    <a:pt x="432003" y="108065"/>
                  </a:cubicBezTo>
                  <a:cubicBezTo>
                    <a:pt x="432003" y="167748"/>
                    <a:pt x="383620" y="216130"/>
                    <a:pt x="323937" y="216130"/>
                  </a:cubicBezTo>
                  <a:cubicBezTo>
                    <a:pt x="264254" y="216130"/>
                    <a:pt x="215872" y="167748"/>
                    <a:pt x="215872" y="108065"/>
                  </a:cubicBezTo>
                  <a:cubicBezTo>
                    <a:pt x="215872" y="48382"/>
                    <a:pt x="264254" y="0"/>
                    <a:pt x="323937" y="0"/>
                  </a:cubicBezTo>
                  <a:close/>
                  <a:moveTo>
                    <a:pt x="362138" y="69864"/>
                  </a:moveTo>
                  <a:lnTo>
                    <a:pt x="285736" y="146266"/>
                  </a:lnTo>
                  <a:moveTo>
                    <a:pt x="285736" y="69864"/>
                  </a:moveTo>
                  <a:lnTo>
                    <a:pt x="362138" y="146266"/>
                  </a:lnTo>
                  <a:moveTo>
                    <a:pt x="204453" y="410990"/>
                  </a:moveTo>
                  <a:cubicBezTo>
                    <a:pt x="161227" y="367638"/>
                    <a:pt x="176554" y="333868"/>
                    <a:pt x="200022" y="310400"/>
                  </a:cubicBezTo>
                  <a:lnTo>
                    <a:pt x="215169" y="295252"/>
                  </a:lnTo>
                  <a:cubicBezTo>
                    <a:pt x="230249" y="280173"/>
                    <a:pt x="254698" y="280173"/>
                    <a:pt x="269778" y="295252"/>
                  </a:cubicBezTo>
                  <a:lnTo>
                    <a:pt x="335338" y="360812"/>
                  </a:lnTo>
                  <a:cubicBezTo>
                    <a:pt x="340680" y="366160"/>
                    <a:pt x="342990" y="373828"/>
                    <a:pt x="341491" y="381237"/>
                  </a:cubicBezTo>
                  <a:cubicBezTo>
                    <a:pt x="339992" y="388646"/>
                    <a:pt x="334883" y="394812"/>
                    <a:pt x="327882" y="397662"/>
                  </a:cubicBezTo>
                  <a:cubicBezTo>
                    <a:pt x="243948" y="431967"/>
                    <a:pt x="147626" y="412571"/>
                    <a:pt x="83511" y="348456"/>
                  </a:cubicBezTo>
                  <a:cubicBezTo>
                    <a:pt x="19395" y="284340"/>
                    <a:pt x="0" y="188018"/>
                    <a:pt x="34304" y="104085"/>
                  </a:cubicBezTo>
                  <a:cubicBezTo>
                    <a:pt x="37154" y="97084"/>
                    <a:pt x="43321" y="91975"/>
                    <a:pt x="50730" y="90475"/>
                  </a:cubicBezTo>
                  <a:cubicBezTo>
                    <a:pt x="58139" y="88976"/>
                    <a:pt x="65806" y="91286"/>
                    <a:pt x="71154" y="96628"/>
                  </a:cubicBezTo>
                  <a:lnTo>
                    <a:pt x="136714" y="162188"/>
                  </a:lnTo>
                  <a:cubicBezTo>
                    <a:pt x="151793" y="177268"/>
                    <a:pt x="151793" y="201717"/>
                    <a:pt x="136714" y="216797"/>
                  </a:cubicBezTo>
                  <a:lnTo>
                    <a:pt x="121567" y="231944"/>
                  </a:lnTo>
                  <a:cubicBezTo>
                    <a:pt x="98153" y="255358"/>
                    <a:pt x="64328" y="270739"/>
                    <a:pt x="20976" y="227513"/>
                  </a:cubicBezTo>
                </a:path>
              </a:pathLst>
            </a:custGeom>
            <a:noFill/>
            <a:ln w="1350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50"/>
            </a:p>
          </p:txBody>
        </p:sp>
      </p:grpSp>
    </p:spTree>
    <p:extLst>
      <p:ext uri="{BB962C8B-B14F-4D97-AF65-F5344CB8AC3E}">
        <p14:creationId xmlns:p14="http://schemas.microsoft.com/office/powerpoint/2010/main" val="2898405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A285544-0C27-06B0-F336-91B69DB0A988}"/>
              </a:ext>
            </a:extLst>
          </p:cNvPr>
          <p:cNvGrpSpPr/>
          <p:nvPr/>
        </p:nvGrpSpPr>
        <p:grpSpPr>
          <a:xfrm>
            <a:off x="5129535" y="3058447"/>
            <a:ext cx="4006866" cy="1866900"/>
            <a:chOff x="1464276" y="2124075"/>
            <a:chExt cx="6541292" cy="260985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4359EB6-6C45-0131-E6CE-E67EC9585676}"/>
                </a:ext>
              </a:extLst>
            </p:cNvPr>
            <p:cNvGrpSpPr/>
            <p:nvPr/>
          </p:nvGrpSpPr>
          <p:grpSpPr>
            <a:xfrm>
              <a:off x="4963925" y="3705225"/>
              <a:ext cx="1063351" cy="685799"/>
              <a:chOff x="4080148" y="2057400"/>
              <a:chExt cx="1063351" cy="685799"/>
            </a:xfrm>
          </p:grpSpPr>
          <p:sp>
            <p:nvSpPr>
              <p:cNvPr id="26" name="Rounded Rectangle 1">
                <a:extLst>
                  <a:ext uri="{FF2B5EF4-FFF2-40B4-BE49-F238E27FC236}">
                    <a16:creationId xmlns:a16="http://schemas.microsoft.com/office/drawing/2014/main" id="{4BEA3ACE-0C33-308E-3112-7643DB8E42DD}"/>
                  </a:ext>
                </a:extLst>
              </p:cNvPr>
              <p:cNvSpPr/>
              <p:nvPr/>
            </p:nvSpPr>
            <p:spPr>
              <a:xfrm>
                <a:off x="4080148" y="2057400"/>
                <a:ext cx="1063351" cy="685799"/>
              </a:xfrm>
              <a:custGeom>
                <a:avLst/>
                <a:gdLst/>
                <a:ahLst/>
                <a:cxnLst/>
                <a:rect l="0" t="0" r="0" b="0"/>
                <a:pathLst>
                  <a:path w="1063351" h="685799">
                    <a:moveTo>
                      <a:pt x="133026" y="465705"/>
                    </a:moveTo>
                    <a:lnTo>
                      <a:pt x="0" y="342900"/>
                    </a:lnTo>
                    <a:lnTo>
                      <a:pt x="133026" y="220103"/>
                    </a:lnTo>
                    <a:lnTo>
                      <a:pt x="133026" y="288455"/>
                    </a:lnTo>
                    <a:lnTo>
                      <a:pt x="381847" y="288455"/>
                    </a:lnTo>
                    <a:cubicBezTo>
                      <a:pt x="407936" y="124948"/>
                      <a:pt x="549602" y="0"/>
                      <a:pt x="720451" y="0"/>
                    </a:cubicBezTo>
                    <a:cubicBezTo>
                      <a:pt x="909827" y="0"/>
                      <a:pt x="1063351" y="153523"/>
                      <a:pt x="1063351" y="342900"/>
                    </a:cubicBezTo>
                    <a:cubicBezTo>
                      <a:pt x="1063351" y="532276"/>
                      <a:pt x="909827" y="685799"/>
                      <a:pt x="720451" y="685799"/>
                    </a:cubicBezTo>
                    <a:cubicBezTo>
                      <a:pt x="549840" y="685799"/>
                      <a:pt x="408327" y="561193"/>
                      <a:pt x="381962" y="398030"/>
                    </a:cubicBezTo>
                    <a:lnTo>
                      <a:pt x="133026" y="39803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282"/>
                  </a:gs>
                  <a:gs pos="100000">
                    <a:srgbClr val="FFE714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27" name="Rounded Rectangle 2">
                <a:extLst>
                  <a:ext uri="{FF2B5EF4-FFF2-40B4-BE49-F238E27FC236}">
                    <a16:creationId xmlns:a16="http://schemas.microsoft.com/office/drawing/2014/main" id="{429F1817-4D94-C59D-0FC9-DF789AEC45B5}"/>
                  </a:ext>
                </a:extLst>
              </p:cNvPr>
              <p:cNvSpPr/>
              <p:nvPr/>
            </p:nvSpPr>
            <p:spPr>
              <a:xfrm>
                <a:off x="4080148" y="2057400"/>
                <a:ext cx="1063351" cy="685799"/>
              </a:xfrm>
              <a:custGeom>
                <a:avLst/>
                <a:gdLst/>
                <a:ahLst/>
                <a:cxnLst/>
                <a:rect l="0" t="0" r="0" b="0"/>
                <a:pathLst>
                  <a:path w="1063351" h="685799">
                    <a:moveTo>
                      <a:pt x="133026" y="465705"/>
                    </a:moveTo>
                    <a:lnTo>
                      <a:pt x="0" y="342900"/>
                    </a:lnTo>
                    <a:lnTo>
                      <a:pt x="133026" y="220103"/>
                    </a:lnTo>
                    <a:lnTo>
                      <a:pt x="133026" y="288455"/>
                    </a:lnTo>
                    <a:lnTo>
                      <a:pt x="381847" y="288455"/>
                    </a:lnTo>
                    <a:cubicBezTo>
                      <a:pt x="407936" y="124948"/>
                      <a:pt x="549602" y="0"/>
                      <a:pt x="720451" y="0"/>
                    </a:cubicBezTo>
                    <a:cubicBezTo>
                      <a:pt x="909827" y="0"/>
                      <a:pt x="1063351" y="153523"/>
                      <a:pt x="1063351" y="342900"/>
                    </a:cubicBezTo>
                    <a:cubicBezTo>
                      <a:pt x="1063351" y="532276"/>
                      <a:pt x="909827" y="685799"/>
                      <a:pt x="720451" y="685799"/>
                    </a:cubicBezTo>
                    <a:cubicBezTo>
                      <a:pt x="549840" y="685799"/>
                      <a:pt x="408327" y="561193"/>
                      <a:pt x="381962" y="398030"/>
                    </a:cubicBezTo>
                    <a:lnTo>
                      <a:pt x="133026" y="398030"/>
                    </a:lnTo>
                    <a:close/>
                  </a:path>
                </a:pathLst>
              </a:custGeom>
              <a:noFill/>
              <a:ln w="1428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A9A4997-9369-0DB3-B96A-A4DA2B3B33C4}"/>
                </a:ext>
              </a:extLst>
            </p:cNvPr>
            <p:cNvGrpSpPr/>
            <p:nvPr/>
          </p:nvGrpSpPr>
          <p:grpSpPr>
            <a:xfrm>
              <a:off x="2255377" y="3705225"/>
              <a:ext cx="1063952" cy="685800"/>
              <a:chOff x="1371600" y="2057400"/>
              <a:chExt cx="1063952" cy="685800"/>
            </a:xfrm>
          </p:grpSpPr>
          <p:sp>
            <p:nvSpPr>
              <p:cNvPr id="24" name="Rounded Rectangle 4">
                <a:extLst>
                  <a:ext uri="{FF2B5EF4-FFF2-40B4-BE49-F238E27FC236}">
                    <a16:creationId xmlns:a16="http://schemas.microsoft.com/office/drawing/2014/main" id="{8E5C7B17-652E-7D49-EA13-62B9E3B7F301}"/>
                  </a:ext>
                </a:extLst>
              </p:cNvPr>
              <p:cNvSpPr/>
              <p:nvPr/>
            </p:nvSpPr>
            <p:spPr>
              <a:xfrm>
                <a:off x="1371600" y="2057400"/>
                <a:ext cx="1063952" cy="685800"/>
              </a:xfrm>
              <a:custGeom>
                <a:avLst/>
                <a:gdLst/>
                <a:ahLst/>
                <a:cxnLst/>
                <a:rect l="0" t="0" r="0" b="0"/>
                <a:pathLst>
                  <a:path w="1063952" h="685800">
                    <a:moveTo>
                      <a:pt x="930925" y="398021"/>
                    </a:moveTo>
                    <a:lnTo>
                      <a:pt x="681389" y="398021"/>
                    </a:lnTo>
                    <a:cubicBezTo>
                      <a:pt x="655024" y="561193"/>
                      <a:pt x="513511" y="685800"/>
                      <a:pt x="342900" y="685800"/>
                    </a:cubicBezTo>
                    <a:cubicBezTo>
                      <a:pt x="153523" y="685800"/>
                      <a:pt x="0" y="532276"/>
                      <a:pt x="0" y="342900"/>
                    </a:cubicBezTo>
                    <a:cubicBezTo>
                      <a:pt x="0" y="153523"/>
                      <a:pt x="153523" y="0"/>
                      <a:pt x="342900" y="0"/>
                    </a:cubicBezTo>
                    <a:cubicBezTo>
                      <a:pt x="513749" y="0"/>
                      <a:pt x="655415" y="124948"/>
                      <a:pt x="681504" y="288455"/>
                    </a:cubicBezTo>
                    <a:lnTo>
                      <a:pt x="930925" y="288455"/>
                    </a:lnTo>
                    <a:lnTo>
                      <a:pt x="930925" y="220094"/>
                    </a:lnTo>
                    <a:lnTo>
                      <a:pt x="1063952" y="342900"/>
                    </a:lnTo>
                    <a:lnTo>
                      <a:pt x="930925" y="46569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FF976"/>
                  </a:gs>
                  <a:gs pos="100000">
                    <a:srgbClr val="A8DD38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25" name="Rounded Rectangle 5">
                <a:extLst>
                  <a:ext uri="{FF2B5EF4-FFF2-40B4-BE49-F238E27FC236}">
                    <a16:creationId xmlns:a16="http://schemas.microsoft.com/office/drawing/2014/main" id="{68483D90-0600-2C97-2631-04E5C866180C}"/>
                  </a:ext>
                </a:extLst>
              </p:cNvPr>
              <p:cNvSpPr/>
              <p:nvPr/>
            </p:nvSpPr>
            <p:spPr>
              <a:xfrm>
                <a:off x="1371600" y="2057400"/>
                <a:ext cx="1063952" cy="685800"/>
              </a:xfrm>
              <a:custGeom>
                <a:avLst/>
                <a:gdLst/>
                <a:ahLst/>
                <a:cxnLst/>
                <a:rect l="0" t="0" r="0" b="0"/>
                <a:pathLst>
                  <a:path w="1063952" h="685800">
                    <a:moveTo>
                      <a:pt x="930925" y="398021"/>
                    </a:moveTo>
                    <a:lnTo>
                      <a:pt x="681389" y="398021"/>
                    </a:lnTo>
                    <a:cubicBezTo>
                      <a:pt x="655024" y="561193"/>
                      <a:pt x="513511" y="685800"/>
                      <a:pt x="342900" y="685800"/>
                    </a:cubicBezTo>
                    <a:cubicBezTo>
                      <a:pt x="153523" y="685800"/>
                      <a:pt x="0" y="532276"/>
                      <a:pt x="0" y="342900"/>
                    </a:cubicBezTo>
                    <a:cubicBezTo>
                      <a:pt x="0" y="153523"/>
                      <a:pt x="153523" y="0"/>
                      <a:pt x="342900" y="0"/>
                    </a:cubicBezTo>
                    <a:cubicBezTo>
                      <a:pt x="513749" y="0"/>
                      <a:pt x="655415" y="124948"/>
                      <a:pt x="681504" y="288455"/>
                    </a:cubicBezTo>
                    <a:lnTo>
                      <a:pt x="930925" y="288455"/>
                    </a:lnTo>
                    <a:lnTo>
                      <a:pt x="930925" y="220094"/>
                    </a:lnTo>
                    <a:lnTo>
                      <a:pt x="1063952" y="342900"/>
                    </a:lnTo>
                    <a:lnTo>
                      <a:pt x="930925" y="465696"/>
                    </a:lnTo>
                    <a:close/>
                  </a:path>
                </a:pathLst>
              </a:custGeom>
              <a:noFill/>
              <a:ln w="1428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3657532-0B2E-C7F2-93A3-E664D5A27DC7}"/>
                </a:ext>
              </a:extLst>
            </p:cNvPr>
            <p:cNvGrpSpPr/>
            <p:nvPr/>
          </p:nvGrpSpPr>
          <p:grpSpPr>
            <a:xfrm>
              <a:off x="4828279" y="2711443"/>
              <a:ext cx="935488" cy="823436"/>
              <a:chOff x="3944502" y="1063618"/>
              <a:chExt cx="935488" cy="823436"/>
            </a:xfrm>
          </p:grpSpPr>
          <p:sp>
            <p:nvSpPr>
              <p:cNvPr id="22" name="Rounded Rectangle 7">
                <a:extLst>
                  <a:ext uri="{FF2B5EF4-FFF2-40B4-BE49-F238E27FC236}">
                    <a16:creationId xmlns:a16="http://schemas.microsoft.com/office/drawing/2014/main" id="{68D90BFA-DBB7-737F-EBFF-0A8947854F30}"/>
                  </a:ext>
                </a:extLst>
              </p:cNvPr>
              <p:cNvSpPr/>
              <p:nvPr/>
            </p:nvSpPr>
            <p:spPr>
              <a:xfrm>
                <a:off x="3944502" y="1063618"/>
                <a:ext cx="935488" cy="823436"/>
              </a:xfrm>
              <a:custGeom>
                <a:avLst/>
                <a:gdLst/>
                <a:ahLst/>
                <a:cxnLst/>
                <a:rect l="0" t="0" r="0" b="0"/>
                <a:pathLst>
                  <a:path w="935488" h="823436">
                    <a:moveTo>
                      <a:pt x="180270" y="823436"/>
                    </a:moveTo>
                    <a:lnTo>
                      <a:pt x="0" y="807424"/>
                    </a:lnTo>
                    <a:lnTo>
                      <a:pt x="30184" y="628878"/>
                    </a:lnTo>
                    <a:lnTo>
                      <a:pt x="71951" y="683028"/>
                    </a:lnTo>
                    <a:lnTo>
                      <a:pt x="268338" y="531352"/>
                    </a:lnTo>
                    <a:lnTo>
                      <a:pt x="269662" y="530256"/>
                    </a:lnTo>
                    <a:cubicBezTo>
                      <a:pt x="249907" y="494309"/>
                      <a:pt x="236324" y="454180"/>
                      <a:pt x="230504" y="411089"/>
                    </a:cubicBezTo>
                    <a:cubicBezTo>
                      <a:pt x="205139" y="223418"/>
                      <a:pt x="336718" y="50720"/>
                      <a:pt x="524389" y="25360"/>
                    </a:cubicBezTo>
                    <a:cubicBezTo>
                      <a:pt x="712069" y="0"/>
                      <a:pt x="884767" y="131578"/>
                      <a:pt x="910123" y="319249"/>
                    </a:cubicBezTo>
                    <a:cubicBezTo>
                      <a:pt x="935488" y="506930"/>
                      <a:pt x="803900" y="679618"/>
                      <a:pt x="616229" y="704983"/>
                    </a:cubicBezTo>
                    <a:cubicBezTo>
                      <a:pt x="510578" y="719261"/>
                      <a:pt x="409670" y="683799"/>
                      <a:pt x="337127" y="616591"/>
                    </a:cubicBezTo>
                    <a:lnTo>
                      <a:pt x="335375" y="618086"/>
                    </a:lnTo>
                    <a:lnTo>
                      <a:pt x="138912" y="7698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3FAC1"/>
                  </a:gs>
                  <a:gs pos="100000">
                    <a:srgbClr val="44E09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23" name="Rounded Rectangle 8">
                <a:extLst>
                  <a:ext uri="{FF2B5EF4-FFF2-40B4-BE49-F238E27FC236}">
                    <a16:creationId xmlns:a16="http://schemas.microsoft.com/office/drawing/2014/main" id="{F84D0E9B-4B7C-F5B0-BB0E-AE6E192BE385}"/>
                  </a:ext>
                </a:extLst>
              </p:cNvPr>
              <p:cNvSpPr/>
              <p:nvPr/>
            </p:nvSpPr>
            <p:spPr>
              <a:xfrm>
                <a:off x="3944502" y="1063618"/>
                <a:ext cx="935488" cy="823436"/>
              </a:xfrm>
              <a:custGeom>
                <a:avLst/>
                <a:gdLst/>
                <a:ahLst/>
                <a:cxnLst/>
                <a:rect l="0" t="0" r="0" b="0"/>
                <a:pathLst>
                  <a:path w="935488" h="823436">
                    <a:moveTo>
                      <a:pt x="180270" y="823436"/>
                    </a:moveTo>
                    <a:lnTo>
                      <a:pt x="0" y="807424"/>
                    </a:lnTo>
                    <a:lnTo>
                      <a:pt x="30184" y="628878"/>
                    </a:lnTo>
                    <a:lnTo>
                      <a:pt x="71951" y="683028"/>
                    </a:lnTo>
                    <a:lnTo>
                      <a:pt x="268338" y="531352"/>
                    </a:lnTo>
                    <a:lnTo>
                      <a:pt x="269662" y="530256"/>
                    </a:lnTo>
                    <a:cubicBezTo>
                      <a:pt x="249907" y="494309"/>
                      <a:pt x="236324" y="454180"/>
                      <a:pt x="230504" y="411089"/>
                    </a:cubicBezTo>
                    <a:cubicBezTo>
                      <a:pt x="205139" y="223418"/>
                      <a:pt x="336718" y="50720"/>
                      <a:pt x="524389" y="25360"/>
                    </a:cubicBezTo>
                    <a:cubicBezTo>
                      <a:pt x="712069" y="0"/>
                      <a:pt x="884767" y="131578"/>
                      <a:pt x="910123" y="319249"/>
                    </a:cubicBezTo>
                    <a:cubicBezTo>
                      <a:pt x="935488" y="506930"/>
                      <a:pt x="803900" y="679618"/>
                      <a:pt x="616229" y="704983"/>
                    </a:cubicBezTo>
                    <a:cubicBezTo>
                      <a:pt x="510578" y="719261"/>
                      <a:pt x="409670" y="683799"/>
                      <a:pt x="337127" y="616591"/>
                    </a:cubicBezTo>
                    <a:lnTo>
                      <a:pt x="335375" y="618086"/>
                    </a:lnTo>
                    <a:lnTo>
                      <a:pt x="138912" y="769820"/>
                    </a:lnTo>
                    <a:close/>
                  </a:path>
                </a:pathLst>
              </a:custGeom>
              <a:noFill/>
              <a:ln w="1428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6F6BF0A-C81E-22B3-C348-8D8E137D1FB8}"/>
                </a:ext>
              </a:extLst>
            </p:cNvPr>
            <p:cNvGrpSpPr/>
            <p:nvPr/>
          </p:nvGrpSpPr>
          <p:grpSpPr>
            <a:xfrm>
              <a:off x="2518885" y="2711423"/>
              <a:ext cx="935726" cy="823313"/>
              <a:chOff x="1635108" y="1063598"/>
              <a:chExt cx="935726" cy="823313"/>
            </a:xfrm>
          </p:grpSpPr>
          <p:sp>
            <p:nvSpPr>
              <p:cNvPr id="20" name="Rounded Rectangle 10">
                <a:extLst>
                  <a:ext uri="{FF2B5EF4-FFF2-40B4-BE49-F238E27FC236}">
                    <a16:creationId xmlns:a16="http://schemas.microsoft.com/office/drawing/2014/main" id="{91F86B73-2B03-12C7-3577-A1E0706AF389}"/>
                  </a:ext>
                </a:extLst>
              </p:cNvPr>
              <p:cNvSpPr/>
              <p:nvPr/>
            </p:nvSpPr>
            <p:spPr>
              <a:xfrm>
                <a:off x="1635108" y="1063598"/>
                <a:ext cx="935726" cy="823313"/>
              </a:xfrm>
              <a:custGeom>
                <a:avLst/>
                <a:gdLst/>
                <a:ahLst/>
                <a:cxnLst/>
                <a:rect l="0" t="0" r="0" b="0"/>
                <a:pathLst>
                  <a:path w="935726" h="823313">
                    <a:moveTo>
                      <a:pt x="796851" y="769754"/>
                    </a:moveTo>
                    <a:lnTo>
                      <a:pt x="600370" y="617640"/>
                    </a:lnTo>
                    <a:lnTo>
                      <a:pt x="598674" y="616316"/>
                    </a:lnTo>
                    <a:cubicBezTo>
                      <a:pt x="526094" y="683714"/>
                      <a:pt x="425043" y="719300"/>
                      <a:pt x="319239" y="704993"/>
                    </a:cubicBezTo>
                    <a:cubicBezTo>
                      <a:pt x="131568" y="679619"/>
                      <a:pt x="0" y="506911"/>
                      <a:pt x="25374" y="319240"/>
                    </a:cubicBezTo>
                    <a:cubicBezTo>
                      <a:pt x="50749" y="131569"/>
                      <a:pt x="223456" y="0"/>
                      <a:pt x="411127" y="25374"/>
                    </a:cubicBezTo>
                    <a:cubicBezTo>
                      <a:pt x="598798" y="50748"/>
                      <a:pt x="730367" y="223457"/>
                      <a:pt x="704992" y="411128"/>
                    </a:cubicBezTo>
                    <a:cubicBezTo>
                      <a:pt x="699192" y="454019"/>
                      <a:pt x="685695" y="493986"/>
                      <a:pt x="666083" y="529810"/>
                    </a:cubicBezTo>
                    <a:lnTo>
                      <a:pt x="667445" y="530924"/>
                    </a:lnTo>
                    <a:lnTo>
                      <a:pt x="863917" y="683038"/>
                    </a:lnTo>
                    <a:lnTo>
                      <a:pt x="905751" y="628936"/>
                    </a:lnTo>
                    <a:lnTo>
                      <a:pt x="935726" y="807520"/>
                    </a:lnTo>
                    <a:lnTo>
                      <a:pt x="755437" y="82331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FDFFF"/>
                  </a:gs>
                  <a:gs pos="100000">
                    <a:srgbClr val="1AC6FF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21" name="Rounded Rectangle 11">
                <a:extLst>
                  <a:ext uri="{FF2B5EF4-FFF2-40B4-BE49-F238E27FC236}">
                    <a16:creationId xmlns:a16="http://schemas.microsoft.com/office/drawing/2014/main" id="{AC1BE781-430C-303A-40FB-E7AED9D05E3E}"/>
                  </a:ext>
                </a:extLst>
              </p:cNvPr>
              <p:cNvSpPr/>
              <p:nvPr/>
            </p:nvSpPr>
            <p:spPr>
              <a:xfrm>
                <a:off x="1635108" y="1063598"/>
                <a:ext cx="935726" cy="823313"/>
              </a:xfrm>
              <a:custGeom>
                <a:avLst/>
                <a:gdLst/>
                <a:ahLst/>
                <a:cxnLst/>
                <a:rect l="0" t="0" r="0" b="0"/>
                <a:pathLst>
                  <a:path w="935726" h="823313">
                    <a:moveTo>
                      <a:pt x="796851" y="769754"/>
                    </a:moveTo>
                    <a:lnTo>
                      <a:pt x="600370" y="617640"/>
                    </a:lnTo>
                    <a:lnTo>
                      <a:pt x="598674" y="616316"/>
                    </a:lnTo>
                    <a:cubicBezTo>
                      <a:pt x="526094" y="683714"/>
                      <a:pt x="425043" y="719300"/>
                      <a:pt x="319239" y="704993"/>
                    </a:cubicBezTo>
                    <a:cubicBezTo>
                      <a:pt x="131568" y="679619"/>
                      <a:pt x="0" y="506911"/>
                      <a:pt x="25374" y="319240"/>
                    </a:cubicBezTo>
                    <a:cubicBezTo>
                      <a:pt x="50749" y="131569"/>
                      <a:pt x="223456" y="0"/>
                      <a:pt x="411127" y="25374"/>
                    </a:cubicBezTo>
                    <a:cubicBezTo>
                      <a:pt x="598798" y="50748"/>
                      <a:pt x="730367" y="223457"/>
                      <a:pt x="704992" y="411128"/>
                    </a:cubicBezTo>
                    <a:cubicBezTo>
                      <a:pt x="699192" y="454019"/>
                      <a:pt x="685695" y="493986"/>
                      <a:pt x="666083" y="529810"/>
                    </a:cubicBezTo>
                    <a:lnTo>
                      <a:pt x="667445" y="530924"/>
                    </a:lnTo>
                    <a:lnTo>
                      <a:pt x="863917" y="683038"/>
                    </a:lnTo>
                    <a:lnTo>
                      <a:pt x="905751" y="628936"/>
                    </a:lnTo>
                    <a:lnTo>
                      <a:pt x="935726" y="807520"/>
                    </a:lnTo>
                    <a:lnTo>
                      <a:pt x="755437" y="823313"/>
                    </a:lnTo>
                    <a:close/>
                  </a:path>
                </a:pathLst>
              </a:custGeom>
              <a:noFill/>
              <a:ln w="1428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7DEFC4A-BF1A-3AEC-6640-34E5DB766FB5}"/>
                </a:ext>
              </a:extLst>
            </p:cNvPr>
            <p:cNvGrpSpPr/>
            <p:nvPr/>
          </p:nvGrpSpPr>
          <p:grpSpPr>
            <a:xfrm>
              <a:off x="3455527" y="3362325"/>
              <a:ext cx="1371600" cy="1371600"/>
              <a:chOff x="2571750" y="1714500"/>
              <a:chExt cx="1371600" cy="1371600"/>
            </a:xfrm>
          </p:grpSpPr>
          <p:sp>
            <p:nvSpPr>
              <p:cNvPr id="18" name="Rounded Rectangle 13">
                <a:extLst>
                  <a:ext uri="{FF2B5EF4-FFF2-40B4-BE49-F238E27FC236}">
                    <a16:creationId xmlns:a16="http://schemas.microsoft.com/office/drawing/2014/main" id="{17C6C25A-CA7B-F834-713B-F049213271E5}"/>
                  </a:ext>
                </a:extLst>
              </p:cNvPr>
              <p:cNvSpPr/>
              <p:nvPr/>
            </p:nvSpPr>
            <p:spPr>
              <a:xfrm>
                <a:off x="2571750" y="1714500"/>
                <a:ext cx="1371600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1371600" h="1371600">
                    <a:moveTo>
                      <a:pt x="0" y="685800"/>
                    </a:moveTo>
                    <a:cubicBezTo>
                      <a:pt x="0" y="307043"/>
                      <a:pt x="307043" y="0"/>
                      <a:pt x="685800" y="0"/>
                    </a:cubicBezTo>
                    <a:cubicBezTo>
                      <a:pt x="1064556" y="0"/>
                      <a:pt x="1371600" y="307043"/>
                      <a:pt x="1371600" y="685800"/>
                    </a:cubicBezTo>
                    <a:cubicBezTo>
                      <a:pt x="1371600" y="1064556"/>
                      <a:pt x="1064556" y="1371600"/>
                      <a:pt x="685800" y="1371600"/>
                    </a:cubicBezTo>
                    <a:cubicBezTo>
                      <a:pt x="307043" y="1371600"/>
                      <a:pt x="0" y="1064556"/>
                      <a:pt x="0" y="685800"/>
                    </a:cubicBezTo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  <p:sp>
            <p:nvSpPr>
              <p:cNvPr id="19" name="Rounded Rectangle 14">
                <a:extLst>
                  <a:ext uri="{FF2B5EF4-FFF2-40B4-BE49-F238E27FC236}">
                    <a16:creationId xmlns:a16="http://schemas.microsoft.com/office/drawing/2014/main" id="{6EE4BE7F-755C-0A1F-DFEE-7E3606B78E6B}"/>
                  </a:ext>
                </a:extLst>
              </p:cNvPr>
              <p:cNvSpPr/>
              <p:nvPr/>
            </p:nvSpPr>
            <p:spPr>
              <a:xfrm>
                <a:off x="2571750" y="1714500"/>
                <a:ext cx="1371600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1371600" h="1371600">
                    <a:moveTo>
                      <a:pt x="0" y="685800"/>
                    </a:moveTo>
                    <a:cubicBezTo>
                      <a:pt x="0" y="307043"/>
                      <a:pt x="307043" y="0"/>
                      <a:pt x="685800" y="0"/>
                    </a:cubicBezTo>
                    <a:cubicBezTo>
                      <a:pt x="1064556" y="0"/>
                      <a:pt x="1371600" y="307043"/>
                      <a:pt x="1371600" y="685800"/>
                    </a:cubicBezTo>
                    <a:cubicBezTo>
                      <a:pt x="1371600" y="1064556"/>
                      <a:pt x="1064556" y="1371600"/>
                      <a:pt x="685800" y="1371600"/>
                    </a:cubicBezTo>
                    <a:cubicBezTo>
                      <a:pt x="307043" y="1371600"/>
                      <a:pt x="0" y="1064556"/>
                      <a:pt x="0" y="685800"/>
                    </a:cubicBezTo>
                  </a:path>
                </a:pathLst>
              </a:custGeom>
              <a:noFill/>
              <a:ln w="14287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5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EA170D-48B5-A4E9-3ED4-A4768FA7EB85}"/>
                </a:ext>
              </a:extLst>
            </p:cNvPr>
            <p:cNvSpPr txBox="1"/>
            <p:nvPr/>
          </p:nvSpPr>
          <p:spPr>
            <a:xfrm>
              <a:off x="3100630" y="2124075"/>
              <a:ext cx="243496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50" b="0" dirty="0">
                  <a:solidFill>
                    <a:srgbClr val="484848"/>
                  </a:solidFill>
                  <a:latin typeface="Roboto"/>
                </a:rPr>
                <a:t>Agentic AI for Proactive Issue Resolution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18E1A4D-D89D-0F2F-435E-21AA23CFD82C}"/>
                </a:ext>
              </a:extLst>
            </p:cNvPr>
            <p:cNvSpPr txBox="1"/>
            <p:nvPr/>
          </p:nvSpPr>
          <p:spPr>
            <a:xfrm>
              <a:off x="1601152" y="2796166"/>
              <a:ext cx="779059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50" b="0" dirty="0">
                  <a:solidFill>
                    <a:srgbClr val="484848"/>
                  </a:solidFill>
                  <a:latin typeface="Roboto"/>
                </a:rPr>
                <a:t>Message
Specification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57D778-AB6C-C320-6931-2424AFD9E1F8}"/>
                </a:ext>
              </a:extLst>
            </p:cNvPr>
            <p:cNvSpPr txBox="1"/>
            <p:nvPr/>
          </p:nvSpPr>
          <p:spPr>
            <a:xfrm>
              <a:off x="6084983" y="2753410"/>
              <a:ext cx="663643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0" dirty="0">
                  <a:solidFill>
                    <a:srgbClr val="484848"/>
                  </a:solidFill>
                  <a:latin typeface="Roboto"/>
                </a:rPr>
                <a:t>System
Knowledge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AEF92C-2815-3E97-9205-89E9DFACC8BE}"/>
                </a:ext>
              </a:extLst>
            </p:cNvPr>
            <p:cNvSpPr txBox="1"/>
            <p:nvPr/>
          </p:nvSpPr>
          <p:spPr>
            <a:xfrm>
              <a:off x="1464276" y="3854708"/>
              <a:ext cx="665246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50" b="0" dirty="0">
                  <a:solidFill>
                    <a:srgbClr val="484848"/>
                  </a:solidFill>
                  <a:latin typeface="Roboto"/>
                </a:rPr>
                <a:t>Automated
Actions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9474C3-0B37-ED3F-B48D-72BA904DE21E}"/>
                </a:ext>
              </a:extLst>
            </p:cNvPr>
            <p:cNvSpPr txBox="1"/>
            <p:nvPr/>
          </p:nvSpPr>
          <p:spPr>
            <a:xfrm>
              <a:off x="6160627" y="3838575"/>
              <a:ext cx="1844941" cy="451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0" dirty="0">
                  <a:solidFill>
                    <a:srgbClr val="484848"/>
                  </a:solidFill>
                  <a:latin typeface="Roboto"/>
                </a:rPr>
                <a:t>Insights </a:t>
              </a:r>
              <a:r>
                <a:rPr lang="en-US" sz="1050" b="0" dirty="0">
                  <a:solidFill>
                    <a:srgbClr val="484848"/>
                  </a:solidFill>
                  <a:latin typeface="Roboto"/>
                </a:rPr>
                <a:t>&amp;</a:t>
              </a:r>
              <a:r>
                <a:rPr sz="1050" b="0" dirty="0">
                  <a:solidFill>
                    <a:srgbClr val="484848"/>
                  </a:solidFill>
                  <a:latin typeface="Roboto"/>
                </a:rPr>
                <a:t>
Recommendations</a:t>
              </a:r>
            </a:p>
          </p:txBody>
        </p:sp>
        <p:sp>
          <p:nvSpPr>
            <p:cNvPr id="13" name="Rounded Rectangle 21">
              <a:extLst>
                <a:ext uri="{FF2B5EF4-FFF2-40B4-BE49-F238E27FC236}">
                  <a16:creationId xmlns:a16="http://schemas.microsoft.com/office/drawing/2014/main" id="{26882E9D-83BB-F4FC-D6F4-5495EF7C3BAA}"/>
                </a:ext>
              </a:extLst>
            </p:cNvPr>
            <p:cNvSpPr/>
            <p:nvPr/>
          </p:nvSpPr>
          <p:spPr>
            <a:xfrm>
              <a:off x="2664952" y="2857500"/>
              <a:ext cx="438150" cy="438150"/>
            </a:xfrm>
            <a:custGeom>
              <a:avLst/>
              <a:gdLst/>
              <a:ahLst/>
              <a:cxnLst/>
              <a:rect l="0" t="0" r="0" b="0"/>
              <a:pathLst>
                <a:path w="438150" h="438150">
                  <a:moveTo>
                    <a:pt x="314877" y="228600"/>
                  </a:moveTo>
                  <a:cubicBezTo>
                    <a:pt x="362527" y="228600"/>
                    <a:pt x="401154" y="267227"/>
                    <a:pt x="401154" y="314877"/>
                  </a:cubicBezTo>
                  <a:cubicBezTo>
                    <a:pt x="401154" y="362527"/>
                    <a:pt x="362527" y="401154"/>
                    <a:pt x="314877" y="401154"/>
                  </a:cubicBezTo>
                  <a:cubicBezTo>
                    <a:pt x="267227" y="401154"/>
                    <a:pt x="228600" y="362527"/>
                    <a:pt x="228600" y="314877"/>
                  </a:cubicBezTo>
                  <a:cubicBezTo>
                    <a:pt x="228600" y="267227"/>
                    <a:pt x="267227" y="228600"/>
                    <a:pt x="314877" y="228600"/>
                  </a:cubicBezTo>
                  <a:close/>
                  <a:moveTo>
                    <a:pt x="438150" y="438150"/>
                  </a:moveTo>
                  <a:lnTo>
                    <a:pt x="376275" y="376275"/>
                  </a:lnTo>
                  <a:moveTo>
                    <a:pt x="257175" y="152400"/>
                  </a:moveTo>
                  <a:lnTo>
                    <a:pt x="76200" y="152400"/>
                  </a:lnTo>
                  <a:moveTo>
                    <a:pt x="190500" y="209550"/>
                  </a:moveTo>
                  <a:lnTo>
                    <a:pt x="76200" y="209550"/>
                  </a:lnTo>
                  <a:moveTo>
                    <a:pt x="209550" y="95250"/>
                  </a:moveTo>
                  <a:lnTo>
                    <a:pt x="76200" y="95250"/>
                  </a:lnTo>
                  <a:moveTo>
                    <a:pt x="152400" y="266700"/>
                  </a:moveTo>
                  <a:lnTo>
                    <a:pt x="76200" y="266700"/>
                  </a:lnTo>
                  <a:moveTo>
                    <a:pt x="152400" y="323850"/>
                  </a:moveTo>
                  <a:lnTo>
                    <a:pt x="76200" y="323850"/>
                  </a:lnTo>
                  <a:moveTo>
                    <a:pt x="228600" y="438150"/>
                  </a:moveTo>
                  <a:lnTo>
                    <a:pt x="19050" y="438150"/>
                  </a:lnTo>
                  <a:cubicBezTo>
                    <a:pt x="8528" y="438150"/>
                    <a:pt x="0" y="429621"/>
                    <a:pt x="0" y="419100"/>
                  </a:cubicBezTo>
                  <a:lnTo>
                    <a:pt x="0" y="19050"/>
                  </a:lnTo>
                  <a:cubicBezTo>
                    <a:pt x="0" y="8528"/>
                    <a:pt x="8528" y="0"/>
                    <a:pt x="19050" y="0"/>
                  </a:cubicBezTo>
                  <a:lnTo>
                    <a:pt x="272281" y="0"/>
                  </a:lnTo>
                  <a:cubicBezTo>
                    <a:pt x="277333" y="1"/>
                    <a:pt x="282178" y="2008"/>
                    <a:pt x="285750" y="5581"/>
                  </a:cubicBezTo>
                  <a:lnTo>
                    <a:pt x="356368" y="76200"/>
                  </a:lnTo>
                  <a:cubicBezTo>
                    <a:pt x="359941" y="79771"/>
                    <a:pt x="361948" y="84616"/>
                    <a:pt x="361950" y="89668"/>
                  </a:cubicBezTo>
                  <a:lnTo>
                    <a:pt x="361950" y="17145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" name="Rounded Rectangle 22">
              <a:extLst>
                <a:ext uri="{FF2B5EF4-FFF2-40B4-BE49-F238E27FC236}">
                  <a16:creationId xmlns:a16="http://schemas.microsoft.com/office/drawing/2014/main" id="{21B0007D-AB85-1B35-38F4-38EF2E9BD118}"/>
                </a:ext>
              </a:extLst>
            </p:cNvPr>
            <p:cNvSpPr/>
            <p:nvPr/>
          </p:nvSpPr>
          <p:spPr>
            <a:xfrm>
              <a:off x="5180804" y="2857500"/>
              <a:ext cx="434935" cy="438150"/>
            </a:xfrm>
            <a:custGeom>
              <a:avLst/>
              <a:gdLst/>
              <a:ahLst/>
              <a:cxnLst/>
              <a:rect l="0" t="0" r="0" b="0"/>
              <a:pathLst>
                <a:path w="434935" h="438150">
                  <a:moveTo>
                    <a:pt x="268343" y="161696"/>
                  </a:moveTo>
                  <a:cubicBezTo>
                    <a:pt x="280631" y="161696"/>
                    <a:pt x="290593" y="151734"/>
                    <a:pt x="290593" y="139445"/>
                  </a:cubicBezTo>
                  <a:lnTo>
                    <a:pt x="290593" y="118795"/>
                  </a:lnTo>
                  <a:cubicBezTo>
                    <a:pt x="290593" y="112881"/>
                    <a:pt x="292948" y="107210"/>
                    <a:pt x="297137" y="103035"/>
                  </a:cubicBezTo>
                  <a:cubicBezTo>
                    <a:pt x="301326" y="98860"/>
                    <a:pt x="307006" y="96525"/>
                    <a:pt x="312920" y="96545"/>
                  </a:cubicBezTo>
                  <a:lnTo>
                    <a:pt x="387386" y="96545"/>
                  </a:lnTo>
                  <a:moveTo>
                    <a:pt x="153452" y="161772"/>
                  </a:moveTo>
                  <a:lnTo>
                    <a:pt x="333532" y="161772"/>
                  </a:lnTo>
                  <a:moveTo>
                    <a:pt x="387310" y="96545"/>
                  </a:moveTo>
                  <a:cubicBezTo>
                    <a:pt x="387310" y="83394"/>
                    <a:pt x="397971" y="72732"/>
                    <a:pt x="411123" y="72732"/>
                  </a:cubicBezTo>
                  <a:cubicBezTo>
                    <a:pt x="424274" y="72732"/>
                    <a:pt x="434935" y="83394"/>
                    <a:pt x="434935" y="96545"/>
                  </a:cubicBezTo>
                  <a:cubicBezTo>
                    <a:pt x="434935" y="109696"/>
                    <a:pt x="424274" y="120357"/>
                    <a:pt x="411123" y="120357"/>
                  </a:cubicBezTo>
                  <a:cubicBezTo>
                    <a:pt x="397971" y="120357"/>
                    <a:pt x="387310" y="109696"/>
                    <a:pt x="387310" y="96545"/>
                  </a:cubicBezTo>
                  <a:moveTo>
                    <a:pt x="337018" y="23812"/>
                  </a:moveTo>
                  <a:cubicBezTo>
                    <a:pt x="337018" y="10661"/>
                    <a:pt x="347679" y="0"/>
                    <a:pt x="360831" y="0"/>
                  </a:cubicBezTo>
                  <a:cubicBezTo>
                    <a:pt x="373982" y="0"/>
                    <a:pt x="384643" y="10661"/>
                    <a:pt x="384643" y="23812"/>
                  </a:cubicBezTo>
                  <a:cubicBezTo>
                    <a:pt x="384643" y="36963"/>
                    <a:pt x="373982" y="47625"/>
                    <a:pt x="360831" y="47625"/>
                  </a:cubicBezTo>
                  <a:cubicBezTo>
                    <a:pt x="347679" y="47625"/>
                    <a:pt x="337018" y="36963"/>
                    <a:pt x="337018" y="23812"/>
                  </a:cubicBezTo>
                  <a:moveTo>
                    <a:pt x="387386" y="226847"/>
                  </a:moveTo>
                  <a:lnTo>
                    <a:pt x="312920" y="226847"/>
                  </a:lnTo>
                  <a:cubicBezTo>
                    <a:pt x="307005" y="226867"/>
                    <a:pt x="301326" y="224532"/>
                    <a:pt x="297137" y="220357"/>
                  </a:cubicBezTo>
                  <a:cubicBezTo>
                    <a:pt x="292948" y="216182"/>
                    <a:pt x="290593" y="210511"/>
                    <a:pt x="290593" y="204596"/>
                  </a:cubicBezTo>
                  <a:lnTo>
                    <a:pt x="290593" y="183946"/>
                  </a:lnTo>
                  <a:cubicBezTo>
                    <a:pt x="290593" y="171658"/>
                    <a:pt x="280631" y="161696"/>
                    <a:pt x="268343" y="161696"/>
                  </a:cubicBezTo>
                  <a:moveTo>
                    <a:pt x="387310" y="226847"/>
                  </a:moveTo>
                  <a:cubicBezTo>
                    <a:pt x="387310" y="213696"/>
                    <a:pt x="397971" y="203034"/>
                    <a:pt x="411123" y="203034"/>
                  </a:cubicBezTo>
                  <a:cubicBezTo>
                    <a:pt x="424274" y="203034"/>
                    <a:pt x="434935" y="213696"/>
                    <a:pt x="434935" y="226847"/>
                  </a:cubicBezTo>
                  <a:cubicBezTo>
                    <a:pt x="434935" y="239998"/>
                    <a:pt x="424274" y="250659"/>
                    <a:pt x="411123" y="250659"/>
                  </a:cubicBezTo>
                  <a:cubicBezTo>
                    <a:pt x="397971" y="250659"/>
                    <a:pt x="387310" y="239998"/>
                    <a:pt x="387310" y="226847"/>
                  </a:cubicBezTo>
                  <a:moveTo>
                    <a:pt x="333532" y="161772"/>
                  </a:moveTo>
                  <a:cubicBezTo>
                    <a:pt x="333532" y="148621"/>
                    <a:pt x="344193" y="137960"/>
                    <a:pt x="357344" y="137960"/>
                  </a:cubicBezTo>
                  <a:cubicBezTo>
                    <a:pt x="370496" y="137960"/>
                    <a:pt x="381157" y="148621"/>
                    <a:pt x="381157" y="161772"/>
                  </a:cubicBezTo>
                  <a:cubicBezTo>
                    <a:pt x="381157" y="174923"/>
                    <a:pt x="370496" y="185585"/>
                    <a:pt x="357344" y="185585"/>
                  </a:cubicBezTo>
                  <a:cubicBezTo>
                    <a:pt x="344193" y="185585"/>
                    <a:pt x="333532" y="174923"/>
                    <a:pt x="333532" y="161772"/>
                  </a:cubicBezTo>
                  <a:moveTo>
                    <a:pt x="277411" y="438150"/>
                  </a:moveTo>
                  <a:lnTo>
                    <a:pt x="277411" y="351910"/>
                  </a:lnTo>
                  <a:cubicBezTo>
                    <a:pt x="299335" y="335875"/>
                    <a:pt x="316723" y="314424"/>
                    <a:pt x="327874" y="289655"/>
                  </a:cubicBezTo>
                  <a:moveTo>
                    <a:pt x="117391" y="438150"/>
                  </a:moveTo>
                  <a:lnTo>
                    <a:pt x="117391" y="390144"/>
                  </a:lnTo>
                  <a:lnTo>
                    <a:pt x="101465" y="390144"/>
                  </a:lnTo>
                  <a:cubicBezTo>
                    <a:pt x="74952" y="390144"/>
                    <a:pt x="53459" y="368650"/>
                    <a:pt x="53459" y="342138"/>
                  </a:cubicBezTo>
                  <a:lnTo>
                    <a:pt x="53459" y="294112"/>
                  </a:lnTo>
                  <a:lnTo>
                    <a:pt x="8406" y="294112"/>
                  </a:lnTo>
                  <a:cubicBezTo>
                    <a:pt x="5846" y="294114"/>
                    <a:pt x="3440" y="292892"/>
                    <a:pt x="1933" y="290823"/>
                  </a:cubicBezTo>
                  <a:cubicBezTo>
                    <a:pt x="426" y="288755"/>
                    <a:pt x="0" y="286090"/>
                    <a:pt x="786" y="283654"/>
                  </a:cubicBezTo>
                  <a:cubicBezTo>
                    <a:pt x="33933" y="180975"/>
                    <a:pt x="56983" y="70084"/>
                    <a:pt x="185399" y="70084"/>
                  </a:cubicBezTo>
                  <a:moveTo>
                    <a:pt x="231005" y="161772"/>
                  </a:moveTo>
                  <a:lnTo>
                    <a:pt x="255770" y="53454"/>
                  </a:lnTo>
                  <a:cubicBezTo>
                    <a:pt x="259718" y="36115"/>
                    <a:pt x="275135" y="23813"/>
                    <a:pt x="292917" y="23812"/>
                  </a:cubicBezTo>
                  <a:lnTo>
                    <a:pt x="337075" y="23812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5" name="Rounded Rectangle 23">
              <a:extLst>
                <a:ext uri="{FF2B5EF4-FFF2-40B4-BE49-F238E27FC236}">
                  <a16:creationId xmlns:a16="http://schemas.microsoft.com/office/drawing/2014/main" id="{C0119A06-D488-9A8B-E933-D92265BFFCAE}"/>
                </a:ext>
              </a:extLst>
            </p:cNvPr>
            <p:cNvSpPr/>
            <p:nvPr/>
          </p:nvSpPr>
          <p:spPr>
            <a:xfrm>
              <a:off x="2380211" y="3833336"/>
              <a:ext cx="431753" cy="429577"/>
            </a:xfrm>
            <a:custGeom>
              <a:avLst/>
              <a:gdLst/>
              <a:ahLst/>
              <a:cxnLst/>
              <a:rect l="0" t="0" r="0" b="0"/>
              <a:pathLst>
                <a:path w="431753" h="429577">
                  <a:moveTo>
                    <a:pt x="0" y="429577"/>
                  </a:moveTo>
                  <a:lnTo>
                    <a:pt x="0" y="210502"/>
                  </a:lnTo>
                  <a:cubicBezTo>
                    <a:pt x="0" y="189460"/>
                    <a:pt x="17057" y="172402"/>
                    <a:pt x="38100" y="172402"/>
                  </a:cubicBezTo>
                  <a:lnTo>
                    <a:pt x="185680" y="172402"/>
                  </a:lnTo>
                  <a:cubicBezTo>
                    <a:pt x="206722" y="172402"/>
                    <a:pt x="223780" y="189460"/>
                    <a:pt x="223780" y="210502"/>
                  </a:cubicBezTo>
                  <a:lnTo>
                    <a:pt x="223780" y="429577"/>
                  </a:lnTo>
                  <a:moveTo>
                    <a:pt x="223837" y="300990"/>
                  </a:moveTo>
                  <a:lnTo>
                    <a:pt x="0" y="300990"/>
                  </a:lnTo>
                  <a:moveTo>
                    <a:pt x="58673" y="172402"/>
                  </a:moveTo>
                  <a:lnTo>
                    <a:pt x="46824" y="110490"/>
                  </a:lnTo>
                  <a:moveTo>
                    <a:pt x="61912" y="239077"/>
                  </a:moveTo>
                  <a:cubicBezTo>
                    <a:pt x="61912" y="241707"/>
                    <a:pt x="64044" y="243840"/>
                    <a:pt x="66675" y="243840"/>
                  </a:cubicBezTo>
                  <a:cubicBezTo>
                    <a:pt x="69305" y="243840"/>
                    <a:pt x="71437" y="241707"/>
                    <a:pt x="71437" y="239077"/>
                  </a:cubicBezTo>
                  <a:cubicBezTo>
                    <a:pt x="71437" y="236447"/>
                    <a:pt x="69305" y="234315"/>
                    <a:pt x="66675" y="234315"/>
                  </a:cubicBezTo>
                  <a:cubicBezTo>
                    <a:pt x="64044" y="234315"/>
                    <a:pt x="61912" y="236447"/>
                    <a:pt x="61912" y="239077"/>
                  </a:cubicBezTo>
                  <a:moveTo>
                    <a:pt x="147637" y="239077"/>
                  </a:moveTo>
                  <a:cubicBezTo>
                    <a:pt x="147637" y="241707"/>
                    <a:pt x="149769" y="243840"/>
                    <a:pt x="152400" y="243840"/>
                  </a:cubicBezTo>
                  <a:cubicBezTo>
                    <a:pt x="155030" y="243840"/>
                    <a:pt x="157162" y="241707"/>
                    <a:pt x="157162" y="239077"/>
                  </a:cubicBezTo>
                  <a:cubicBezTo>
                    <a:pt x="157162" y="236447"/>
                    <a:pt x="155030" y="234315"/>
                    <a:pt x="152400" y="234315"/>
                  </a:cubicBezTo>
                  <a:cubicBezTo>
                    <a:pt x="149769" y="234315"/>
                    <a:pt x="147637" y="236447"/>
                    <a:pt x="147637" y="239077"/>
                  </a:cubicBezTo>
                  <a:moveTo>
                    <a:pt x="312058" y="0"/>
                  </a:moveTo>
                  <a:lnTo>
                    <a:pt x="312058" y="73266"/>
                  </a:lnTo>
                  <a:cubicBezTo>
                    <a:pt x="312058" y="88595"/>
                    <a:pt x="324484" y="101022"/>
                    <a:pt x="339813" y="101022"/>
                  </a:cubicBezTo>
                  <a:cubicBezTo>
                    <a:pt x="355143" y="101022"/>
                    <a:pt x="367569" y="88595"/>
                    <a:pt x="367569" y="73266"/>
                  </a:cubicBezTo>
                  <a:lnTo>
                    <a:pt x="367569" y="0"/>
                  </a:lnTo>
                  <a:cubicBezTo>
                    <a:pt x="400813" y="10846"/>
                    <a:pt x="424554" y="40247"/>
                    <a:pt x="428153" y="75030"/>
                  </a:cubicBezTo>
                  <a:cubicBezTo>
                    <a:pt x="431753" y="109812"/>
                    <a:pt x="414537" y="143453"/>
                    <a:pt x="384219" y="160877"/>
                  </a:cubicBezTo>
                  <a:cubicBezTo>
                    <a:pt x="356490" y="175775"/>
                    <a:pt x="323137" y="175775"/>
                    <a:pt x="295408" y="160877"/>
                  </a:cubicBezTo>
                  <a:cubicBezTo>
                    <a:pt x="265090" y="143453"/>
                    <a:pt x="247874" y="109812"/>
                    <a:pt x="251473" y="75030"/>
                  </a:cubicBezTo>
                  <a:cubicBezTo>
                    <a:pt x="255073" y="40247"/>
                    <a:pt x="278814" y="10846"/>
                    <a:pt x="312058" y="0"/>
                  </a:cubicBezTo>
                  <a:moveTo>
                    <a:pt x="304533" y="387781"/>
                  </a:moveTo>
                  <a:cubicBezTo>
                    <a:pt x="299707" y="389230"/>
                    <a:pt x="294546" y="389117"/>
                    <a:pt x="289788" y="387457"/>
                  </a:cubicBezTo>
                  <a:lnTo>
                    <a:pt x="223780" y="364331"/>
                  </a:lnTo>
                  <a:moveTo>
                    <a:pt x="223837" y="313162"/>
                  </a:moveTo>
                  <a:lnTo>
                    <a:pt x="304552" y="342157"/>
                  </a:lnTo>
                  <a:moveTo>
                    <a:pt x="316134" y="330574"/>
                  </a:moveTo>
                  <a:cubicBezTo>
                    <a:pt x="315461" y="328235"/>
                    <a:pt x="315152" y="325806"/>
                    <a:pt x="315220" y="323373"/>
                  </a:cubicBezTo>
                  <a:lnTo>
                    <a:pt x="316630" y="169068"/>
                  </a:lnTo>
                  <a:moveTo>
                    <a:pt x="364255" y="168668"/>
                  </a:moveTo>
                  <a:lnTo>
                    <a:pt x="362845" y="323945"/>
                  </a:lnTo>
                  <a:cubicBezTo>
                    <a:pt x="362814" y="326190"/>
                    <a:pt x="362475" y="328421"/>
                    <a:pt x="361835" y="330574"/>
                  </a:cubicBezTo>
                  <a:moveTo>
                    <a:pt x="297675" y="364978"/>
                  </a:moveTo>
                  <a:cubicBezTo>
                    <a:pt x="297675" y="342190"/>
                    <a:pt x="316149" y="323716"/>
                    <a:pt x="338937" y="323716"/>
                  </a:cubicBezTo>
                  <a:cubicBezTo>
                    <a:pt x="361726" y="323716"/>
                    <a:pt x="380199" y="342190"/>
                    <a:pt x="380199" y="364978"/>
                  </a:cubicBezTo>
                  <a:cubicBezTo>
                    <a:pt x="380199" y="387767"/>
                    <a:pt x="361726" y="406241"/>
                    <a:pt x="338937" y="406241"/>
                  </a:cubicBezTo>
                  <a:cubicBezTo>
                    <a:pt x="316149" y="406241"/>
                    <a:pt x="297675" y="387767"/>
                    <a:pt x="297675" y="364978"/>
                  </a:cubicBezTo>
                  <a:moveTo>
                    <a:pt x="167544" y="429577"/>
                  </a:moveTo>
                  <a:lnTo>
                    <a:pt x="167544" y="351682"/>
                  </a:lnTo>
                  <a:lnTo>
                    <a:pt x="56292" y="351682"/>
                  </a:lnTo>
                  <a:lnTo>
                    <a:pt x="56292" y="429577"/>
                  </a:lnTo>
                  <a:moveTo>
                    <a:pt x="56292" y="398811"/>
                  </a:moveTo>
                  <a:lnTo>
                    <a:pt x="167544" y="398811"/>
                  </a:lnTo>
                  <a:moveTo>
                    <a:pt x="16649" y="86029"/>
                  </a:moveTo>
                  <a:cubicBezTo>
                    <a:pt x="16648" y="72214"/>
                    <a:pt x="27847" y="61015"/>
                    <a:pt x="41662" y="61015"/>
                  </a:cubicBezTo>
                  <a:cubicBezTo>
                    <a:pt x="55477" y="61015"/>
                    <a:pt x="66676" y="72214"/>
                    <a:pt x="66675" y="86029"/>
                  </a:cubicBezTo>
                  <a:cubicBezTo>
                    <a:pt x="66676" y="99844"/>
                    <a:pt x="55477" y="111044"/>
                    <a:pt x="41662" y="111044"/>
                  </a:cubicBezTo>
                  <a:cubicBezTo>
                    <a:pt x="27847" y="111044"/>
                    <a:pt x="16648" y="99844"/>
                    <a:pt x="16649" y="86029"/>
                  </a:cubicBezTo>
                  <a:moveTo>
                    <a:pt x="175145" y="110490"/>
                  </a:moveTo>
                  <a:lnTo>
                    <a:pt x="163296" y="172402"/>
                  </a:lnTo>
                  <a:moveTo>
                    <a:pt x="155295" y="86029"/>
                  </a:moveTo>
                  <a:cubicBezTo>
                    <a:pt x="155294" y="72214"/>
                    <a:pt x="166493" y="61015"/>
                    <a:pt x="180308" y="61015"/>
                  </a:cubicBezTo>
                  <a:cubicBezTo>
                    <a:pt x="194123" y="61015"/>
                    <a:pt x="205321" y="72214"/>
                    <a:pt x="205320" y="86029"/>
                  </a:cubicBezTo>
                  <a:cubicBezTo>
                    <a:pt x="205321" y="99844"/>
                    <a:pt x="194123" y="111044"/>
                    <a:pt x="180308" y="111044"/>
                  </a:cubicBezTo>
                  <a:cubicBezTo>
                    <a:pt x="166493" y="111044"/>
                    <a:pt x="155294" y="99844"/>
                    <a:pt x="155295" y="86029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6" name="Rounded Rectangle 24">
              <a:extLst>
                <a:ext uri="{FF2B5EF4-FFF2-40B4-BE49-F238E27FC236}">
                  <a16:creationId xmlns:a16="http://schemas.microsoft.com/office/drawing/2014/main" id="{DBD8B5B4-4AA8-CEFE-26D1-94696BFC398E}"/>
                </a:ext>
              </a:extLst>
            </p:cNvPr>
            <p:cNvSpPr/>
            <p:nvPr/>
          </p:nvSpPr>
          <p:spPr>
            <a:xfrm>
              <a:off x="3798427" y="3705225"/>
              <a:ext cx="660076" cy="638485"/>
            </a:xfrm>
            <a:custGeom>
              <a:avLst/>
              <a:gdLst/>
              <a:ahLst/>
              <a:cxnLst/>
              <a:rect l="0" t="0" r="0" b="0"/>
              <a:pathLst>
                <a:path w="660076" h="638485">
                  <a:moveTo>
                    <a:pt x="348514" y="449098"/>
                  </a:moveTo>
                  <a:cubicBezTo>
                    <a:pt x="405959" y="426930"/>
                    <a:pt x="443906" y="371709"/>
                    <a:pt x="443949" y="310141"/>
                  </a:cubicBezTo>
                  <a:lnTo>
                    <a:pt x="443949" y="264758"/>
                  </a:lnTo>
                  <a:cubicBezTo>
                    <a:pt x="443949" y="256190"/>
                    <a:pt x="436968" y="249208"/>
                    <a:pt x="428399" y="249208"/>
                  </a:cubicBezTo>
                  <a:lnTo>
                    <a:pt x="257433" y="249208"/>
                  </a:lnTo>
                  <a:cubicBezTo>
                    <a:pt x="248864" y="249208"/>
                    <a:pt x="241882" y="256190"/>
                    <a:pt x="241882" y="264758"/>
                  </a:cubicBezTo>
                  <a:lnTo>
                    <a:pt x="241882" y="310141"/>
                  </a:lnTo>
                  <a:cubicBezTo>
                    <a:pt x="241973" y="371755"/>
                    <a:pt x="279875" y="426976"/>
                    <a:pt x="337316" y="449144"/>
                  </a:cubicBezTo>
                  <a:cubicBezTo>
                    <a:pt x="340945" y="450550"/>
                    <a:pt x="344934" y="450550"/>
                    <a:pt x="348514" y="449144"/>
                  </a:cubicBezTo>
                  <a:close/>
                  <a:moveTo>
                    <a:pt x="130101" y="332384"/>
                  </a:moveTo>
                  <a:cubicBezTo>
                    <a:pt x="130085" y="214831"/>
                    <a:pt x="225376" y="119528"/>
                    <a:pt x="342928" y="119528"/>
                  </a:cubicBezTo>
                  <a:cubicBezTo>
                    <a:pt x="460480" y="119528"/>
                    <a:pt x="555771" y="214831"/>
                    <a:pt x="555755" y="332384"/>
                  </a:cubicBezTo>
                  <a:cubicBezTo>
                    <a:pt x="555771" y="449936"/>
                    <a:pt x="460480" y="545240"/>
                    <a:pt x="342928" y="545240"/>
                  </a:cubicBezTo>
                  <a:cubicBezTo>
                    <a:pt x="225376" y="545240"/>
                    <a:pt x="130085" y="449936"/>
                    <a:pt x="130101" y="332384"/>
                  </a:cubicBezTo>
                  <a:moveTo>
                    <a:pt x="575014" y="89839"/>
                  </a:moveTo>
                  <a:cubicBezTo>
                    <a:pt x="575014" y="66356"/>
                    <a:pt x="594051" y="47320"/>
                    <a:pt x="617534" y="47320"/>
                  </a:cubicBezTo>
                  <a:cubicBezTo>
                    <a:pt x="641017" y="47320"/>
                    <a:pt x="660054" y="66356"/>
                    <a:pt x="660054" y="89839"/>
                  </a:cubicBezTo>
                  <a:cubicBezTo>
                    <a:pt x="660054" y="113322"/>
                    <a:pt x="641017" y="132359"/>
                    <a:pt x="617534" y="132359"/>
                  </a:cubicBezTo>
                  <a:cubicBezTo>
                    <a:pt x="594051" y="132359"/>
                    <a:pt x="575014" y="113322"/>
                    <a:pt x="575014" y="89839"/>
                  </a:cubicBezTo>
                  <a:moveTo>
                    <a:pt x="110785" y="89839"/>
                  </a:moveTo>
                  <a:cubicBezTo>
                    <a:pt x="110785" y="113322"/>
                    <a:pt x="91748" y="132359"/>
                    <a:pt x="68265" y="132359"/>
                  </a:cubicBezTo>
                  <a:cubicBezTo>
                    <a:pt x="44782" y="132359"/>
                    <a:pt x="25746" y="113322"/>
                    <a:pt x="25746" y="89839"/>
                  </a:cubicBezTo>
                  <a:cubicBezTo>
                    <a:pt x="25746" y="66356"/>
                    <a:pt x="44782" y="47320"/>
                    <a:pt x="68265" y="47320"/>
                  </a:cubicBezTo>
                  <a:cubicBezTo>
                    <a:pt x="91748" y="47320"/>
                    <a:pt x="110785" y="66356"/>
                    <a:pt x="110785" y="89839"/>
                  </a:cubicBezTo>
                  <a:moveTo>
                    <a:pt x="0" y="0"/>
                  </a:moveTo>
                  <a:moveTo>
                    <a:pt x="232171" y="514350"/>
                  </a:moveTo>
                  <a:lnTo>
                    <a:pt x="188816" y="575666"/>
                  </a:lnTo>
                  <a:lnTo>
                    <a:pt x="26342" y="575663"/>
                  </a:lnTo>
                  <a:moveTo>
                    <a:pt x="0" y="0"/>
                  </a:moveTo>
                  <a:moveTo>
                    <a:pt x="660076" y="575666"/>
                  </a:moveTo>
                  <a:lnTo>
                    <a:pt x="509149" y="575663"/>
                  </a:lnTo>
                  <a:lnTo>
                    <a:pt x="462557" y="509437"/>
                  </a:lnTo>
                  <a:moveTo>
                    <a:pt x="110745" y="89826"/>
                  </a:moveTo>
                  <a:lnTo>
                    <a:pt x="188791" y="89826"/>
                  </a:lnTo>
                  <a:lnTo>
                    <a:pt x="231278" y="150465"/>
                  </a:lnTo>
                  <a:moveTo>
                    <a:pt x="0" y="0"/>
                  </a:moveTo>
                  <a:moveTo>
                    <a:pt x="454519" y="150911"/>
                  </a:moveTo>
                  <a:lnTo>
                    <a:pt x="496979" y="89826"/>
                  </a:lnTo>
                  <a:lnTo>
                    <a:pt x="575026" y="89826"/>
                  </a:lnTo>
                  <a:moveTo>
                    <a:pt x="0" y="0"/>
                  </a:moveTo>
                  <a:moveTo>
                    <a:pt x="597228" y="638485"/>
                  </a:moveTo>
                  <a:lnTo>
                    <a:pt x="660051" y="575666"/>
                  </a:lnTo>
                  <a:lnTo>
                    <a:pt x="597228" y="512844"/>
                  </a:lnTo>
                  <a:moveTo>
                    <a:pt x="88571" y="638485"/>
                  </a:moveTo>
                  <a:lnTo>
                    <a:pt x="25749" y="575666"/>
                  </a:lnTo>
                  <a:lnTo>
                    <a:pt x="88571" y="512844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7" name="Rounded Rectangle 25">
              <a:extLst>
                <a:ext uri="{FF2B5EF4-FFF2-40B4-BE49-F238E27FC236}">
                  <a16:creationId xmlns:a16="http://schemas.microsoft.com/office/drawing/2014/main" id="{432225FA-5695-3010-C3E3-E46D204169E6}"/>
                </a:ext>
              </a:extLst>
            </p:cNvPr>
            <p:cNvSpPr/>
            <p:nvPr/>
          </p:nvSpPr>
          <p:spPr>
            <a:xfrm>
              <a:off x="5465302" y="3829050"/>
              <a:ext cx="438150" cy="438150"/>
            </a:xfrm>
            <a:custGeom>
              <a:avLst/>
              <a:gdLst/>
              <a:ahLst/>
              <a:cxnLst/>
              <a:rect l="0" t="0" r="0" b="0"/>
              <a:pathLst>
                <a:path w="438150" h="438150">
                  <a:moveTo>
                    <a:pt x="152400" y="19050"/>
                  </a:moveTo>
                  <a:cubicBezTo>
                    <a:pt x="152400" y="8528"/>
                    <a:pt x="160928" y="0"/>
                    <a:pt x="171450" y="0"/>
                  </a:cubicBezTo>
                  <a:lnTo>
                    <a:pt x="419100" y="0"/>
                  </a:lnTo>
                  <a:cubicBezTo>
                    <a:pt x="429621" y="0"/>
                    <a:pt x="438150" y="8528"/>
                    <a:pt x="438150" y="19050"/>
                  </a:cubicBezTo>
                  <a:lnTo>
                    <a:pt x="438150" y="219075"/>
                  </a:lnTo>
                  <a:cubicBezTo>
                    <a:pt x="438150" y="229596"/>
                    <a:pt x="429621" y="238125"/>
                    <a:pt x="419100" y="238125"/>
                  </a:cubicBezTo>
                  <a:lnTo>
                    <a:pt x="276225" y="238125"/>
                  </a:lnTo>
                  <a:lnTo>
                    <a:pt x="209550" y="304800"/>
                  </a:lnTo>
                  <a:lnTo>
                    <a:pt x="209550" y="238125"/>
                  </a:lnTo>
                  <a:lnTo>
                    <a:pt x="171450" y="238125"/>
                  </a:lnTo>
                  <a:cubicBezTo>
                    <a:pt x="160928" y="238125"/>
                    <a:pt x="152400" y="229596"/>
                    <a:pt x="152400" y="219075"/>
                  </a:cubicBezTo>
                  <a:close/>
                  <a:moveTo>
                    <a:pt x="14287" y="185737"/>
                  </a:moveTo>
                  <a:cubicBezTo>
                    <a:pt x="14287" y="162065"/>
                    <a:pt x="33477" y="142875"/>
                    <a:pt x="57150" y="142875"/>
                  </a:cubicBezTo>
                  <a:cubicBezTo>
                    <a:pt x="80822" y="142875"/>
                    <a:pt x="100012" y="162065"/>
                    <a:pt x="100012" y="185737"/>
                  </a:cubicBezTo>
                  <a:cubicBezTo>
                    <a:pt x="100012" y="209409"/>
                    <a:pt x="80822" y="228600"/>
                    <a:pt x="57150" y="228600"/>
                  </a:cubicBezTo>
                  <a:cubicBezTo>
                    <a:pt x="33477" y="228600"/>
                    <a:pt x="14287" y="209409"/>
                    <a:pt x="14287" y="185737"/>
                  </a:cubicBezTo>
                  <a:moveTo>
                    <a:pt x="114300" y="304800"/>
                  </a:moveTo>
                  <a:lnTo>
                    <a:pt x="114300" y="342900"/>
                  </a:lnTo>
                  <a:lnTo>
                    <a:pt x="85725" y="342900"/>
                  </a:lnTo>
                  <a:lnTo>
                    <a:pt x="76200" y="438150"/>
                  </a:lnTo>
                  <a:lnTo>
                    <a:pt x="38100" y="438150"/>
                  </a:lnTo>
                  <a:lnTo>
                    <a:pt x="28575" y="342900"/>
                  </a:lnTo>
                  <a:lnTo>
                    <a:pt x="0" y="342900"/>
                  </a:lnTo>
                  <a:lnTo>
                    <a:pt x="0" y="304800"/>
                  </a:lnTo>
                  <a:cubicBezTo>
                    <a:pt x="0" y="273237"/>
                    <a:pt x="25586" y="247650"/>
                    <a:pt x="57150" y="247650"/>
                  </a:cubicBezTo>
                  <a:cubicBezTo>
                    <a:pt x="88713" y="247650"/>
                    <a:pt x="114300" y="273237"/>
                    <a:pt x="114300" y="304800"/>
                  </a:cubicBezTo>
                  <a:close/>
                  <a:moveTo>
                    <a:pt x="314325" y="152400"/>
                  </a:moveTo>
                  <a:cubicBezTo>
                    <a:pt x="314321" y="140769"/>
                    <a:pt x="319151" y="129659"/>
                    <a:pt x="327659" y="121729"/>
                  </a:cubicBezTo>
                  <a:cubicBezTo>
                    <a:pt x="337989" y="112697"/>
                    <a:pt x="343605" y="99427"/>
                    <a:pt x="342900" y="85725"/>
                  </a:cubicBezTo>
                  <a:cubicBezTo>
                    <a:pt x="342900" y="59422"/>
                    <a:pt x="321577" y="38100"/>
                    <a:pt x="295275" y="38100"/>
                  </a:cubicBezTo>
                  <a:cubicBezTo>
                    <a:pt x="268972" y="38100"/>
                    <a:pt x="247650" y="59422"/>
                    <a:pt x="247650" y="85725"/>
                  </a:cubicBezTo>
                  <a:cubicBezTo>
                    <a:pt x="246807" y="99466"/>
                    <a:pt x="252362" y="112826"/>
                    <a:pt x="262699" y="121920"/>
                  </a:cubicBezTo>
                  <a:cubicBezTo>
                    <a:pt x="271327" y="129701"/>
                    <a:pt x="276243" y="140781"/>
                    <a:pt x="276225" y="152400"/>
                  </a:cubicBezTo>
                  <a:close/>
                  <a:moveTo>
                    <a:pt x="295275" y="180975"/>
                  </a:moveTo>
                  <a:lnTo>
                    <a:pt x="295275" y="200025"/>
                  </a:lnTo>
                  <a:moveTo>
                    <a:pt x="314325" y="180975"/>
                  </a:moveTo>
                  <a:lnTo>
                    <a:pt x="276225" y="180975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05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D59A1E8-32D7-5F5C-F34A-D9AC51131CA6}"/>
              </a:ext>
            </a:extLst>
          </p:cNvPr>
          <p:cNvGrpSpPr/>
          <p:nvPr/>
        </p:nvGrpSpPr>
        <p:grpSpPr>
          <a:xfrm>
            <a:off x="479081" y="574060"/>
            <a:ext cx="4504839" cy="2484387"/>
            <a:chOff x="638541" y="1147286"/>
            <a:chExt cx="8857002" cy="4552950"/>
          </a:xfrm>
        </p:grpSpPr>
        <p:sp>
          <p:nvSpPr>
            <p:cNvPr id="29" name="Rounded Rectangle 1">
              <a:extLst>
                <a:ext uri="{FF2B5EF4-FFF2-40B4-BE49-F238E27FC236}">
                  <a16:creationId xmlns:a16="http://schemas.microsoft.com/office/drawing/2014/main" id="{C12D2381-1757-7437-4DEE-54487C8C8259}"/>
                </a:ext>
              </a:extLst>
            </p:cNvPr>
            <p:cNvSpPr/>
            <p:nvPr/>
          </p:nvSpPr>
          <p:spPr>
            <a:xfrm>
              <a:off x="1343025" y="1585436"/>
              <a:ext cx="6410325" cy="4114800"/>
            </a:xfrm>
            <a:custGeom>
              <a:avLst/>
              <a:gdLst/>
              <a:ahLst/>
              <a:cxnLst/>
              <a:rect l="0" t="0" r="0" b="0"/>
              <a:pathLst>
                <a:path w="6410325" h="4114800">
                  <a:moveTo>
                    <a:pt x="3209925" y="0"/>
                  </a:moveTo>
                  <a:lnTo>
                    <a:pt x="3209925" y="1028700"/>
                  </a:lnTo>
                  <a:moveTo>
                    <a:pt x="3209925" y="3086100"/>
                  </a:moveTo>
                  <a:lnTo>
                    <a:pt x="3209925" y="4114800"/>
                  </a:lnTo>
                  <a:moveTo>
                    <a:pt x="4238625" y="2057400"/>
                  </a:moveTo>
                  <a:lnTo>
                    <a:pt x="6410325" y="2057400"/>
                  </a:lnTo>
                  <a:moveTo>
                    <a:pt x="2181225" y="2057400"/>
                  </a:moveTo>
                  <a:lnTo>
                    <a:pt x="0" y="2057400"/>
                  </a:lnTo>
                </a:path>
              </a:pathLst>
            </a:custGeom>
            <a:noFill/>
            <a:ln w="14287">
              <a:solidFill>
                <a:srgbClr val="969696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027F6AA-D786-C8CD-A1C1-1D9901228176}"/>
                </a:ext>
              </a:extLst>
            </p:cNvPr>
            <p:cNvGrpSpPr/>
            <p:nvPr/>
          </p:nvGrpSpPr>
          <p:grpSpPr>
            <a:xfrm>
              <a:off x="4530975" y="3493560"/>
              <a:ext cx="1279270" cy="1349424"/>
              <a:chOff x="3416550" y="2822524"/>
              <a:chExt cx="1279270" cy="1349424"/>
            </a:xfrm>
          </p:grpSpPr>
          <p:sp>
            <p:nvSpPr>
              <p:cNvPr id="53" name="Rounded Rectangle 2">
                <a:extLst>
                  <a:ext uri="{FF2B5EF4-FFF2-40B4-BE49-F238E27FC236}">
                    <a16:creationId xmlns:a16="http://schemas.microsoft.com/office/drawing/2014/main" id="{43150C75-530F-083E-3AEA-C984C63F7CDE}"/>
                  </a:ext>
                </a:extLst>
              </p:cNvPr>
              <p:cNvSpPr/>
              <p:nvPr/>
            </p:nvSpPr>
            <p:spPr>
              <a:xfrm>
                <a:off x="3416550" y="2822524"/>
                <a:ext cx="1028690" cy="1197035"/>
              </a:xfrm>
              <a:custGeom>
                <a:avLst/>
                <a:gdLst/>
                <a:ahLst/>
                <a:cxnLst/>
                <a:rect l="0" t="0" r="0" b="0"/>
                <a:pathLst>
                  <a:path w="1028690" h="1197035">
                    <a:moveTo>
                      <a:pt x="180782" y="586034"/>
                    </a:moveTo>
                    <a:cubicBezTo>
                      <a:pt x="180782" y="424325"/>
                      <a:pt x="116651" y="277595"/>
                      <a:pt x="12435" y="169889"/>
                    </a:cubicBezTo>
                    <a:cubicBezTo>
                      <a:pt x="120285" y="64764"/>
                      <a:pt x="267663" y="0"/>
                      <a:pt x="430169" y="0"/>
                    </a:cubicBezTo>
                    <a:cubicBezTo>
                      <a:pt x="760720" y="0"/>
                      <a:pt x="1028690" y="267964"/>
                      <a:pt x="1028690" y="598516"/>
                    </a:cubicBezTo>
                    <a:cubicBezTo>
                      <a:pt x="1028690" y="929067"/>
                      <a:pt x="760720" y="1197035"/>
                      <a:pt x="430169" y="1197035"/>
                    </a:cubicBezTo>
                    <a:cubicBezTo>
                      <a:pt x="261326" y="1197035"/>
                      <a:pt x="108813" y="1127121"/>
                      <a:pt x="0" y="1014660"/>
                    </a:cubicBezTo>
                    <a:cubicBezTo>
                      <a:pt x="111527" y="905951"/>
                      <a:pt x="180782" y="754080"/>
                      <a:pt x="180782" y="586034"/>
                    </a:cubicBezTo>
                    <a:close/>
                  </a:path>
                </a:pathLst>
              </a:custGeom>
              <a:solidFill>
                <a:srgbClr val="FFEBF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Rounded Rectangle 3">
                <a:extLst>
                  <a:ext uri="{FF2B5EF4-FFF2-40B4-BE49-F238E27FC236}">
                    <a16:creationId xmlns:a16="http://schemas.microsoft.com/office/drawing/2014/main" id="{80A3AFBF-04B6-8475-16F1-C35B7A5EEE23}"/>
                  </a:ext>
                </a:extLst>
              </p:cNvPr>
              <p:cNvSpPr/>
              <p:nvPr/>
            </p:nvSpPr>
            <p:spPr>
              <a:xfrm>
                <a:off x="3416550" y="2822524"/>
                <a:ext cx="1279270" cy="1349424"/>
              </a:xfrm>
              <a:custGeom>
                <a:avLst/>
                <a:gdLst/>
                <a:ahLst/>
                <a:cxnLst/>
                <a:rect l="0" t="0" r="0" b="0"/>
                <a:pathLst>
                  <a:path w="1279270" h="1349424">
                    <a:moveTo>
                      <a:pt x="180782" y="586034"/>
                    </a:moveTo>
                    <a:cubicBezTo>
                      <a:pt x="180782" y="424325"/>
                      <a:pt x="116651" y="277595"/>
                      <a:pt x="12435" y="169889"/>
                    </a:cubicBezTo>
                    <a:cubicBezTo>
                      <a:pt x="120285" y="64764"/>
                      <a:pt x="267663" y="0"/>
                      <a:pt x="430169" y="0"/>
                    </a:cubicBezTo>
                    <a:cubicBezTo>
                      <a:pt x="760720" y="0"/>
                      <a:pt x="1028685" y="267964"/>
                      <a:pt x="1028685" y="598516"/>
                    </a:cubicBezTo>
                    <a:cubicBezTo>
                      <a:pt x="1028685" y="929067"/>
                      <a:pt x="760720" y="1197032"/>
                      <a:pt x="430169" y="1197032"/>
                    </a:cubicBezTo>
                    <a:cubicBezTo>
                      <a:pt x="261326" y="1197032"/>
                      <a:pt x="108813" y="1127118"/>
                      <a:pt x="0" y="1014661"/>
                    </a:cubicBezTo>
                    <a:cubicBezTo>
                      <a:pt x="111527" y="905951"/>
                      <a:pt x="180782" y="754080"/>
                      <a:pt x="180782" y="586034"/>
                    </a:cubicBezTo>
                    <a:close/>
                    <a:moveTo>
                      <a:pt x="536320" y="1006524"/>
                    </a:moveTo>
                    <a:cubicBezTo>
                      <a:pt x="536320" y="974961"/>
                      <a:pt x="510733" y="949374"/>
                      <a:pt x="479170" y="949374"/>
                    </a:cubicBezTo>
                    <a:cubicBezTo>
                      <a:pt x="447607" y="949374"/>
                      <a:pt x="422020" y="974961"/>
                      <a:pt x="422020" y="1006524"/>
                    </a:cubicBezTo>
                    <a:cubicBezTo>
                      <a:pt x="422020" y="1038087"/>
                      <a:pt x="447607" y="1063674"/>
                      <a:pt x="479170" y="1063674"/>
                    </a:cubicBezTo>
                    <a:cubicBezTo>
                      <a:pt x="510733" y="1063674"/>
                      <a:pt x="536320" y="1038087"/>
                      <a:pt x="536320" y="1006524"/>
                    </a:cubicBezTo>
                    <a:close/>
                    <a:moveTo>
                      <a:pt x="1279270" y="1349424"/>
                    </a:moveTo>
                    <a:lnTo>
                      <a:pt x="593470" y="1349424"/>
                    </a:lnTo>
                    <a:lnTo>
                      <a:pt x="498220" y="1058912"/>
                    </a:lnTo>
                  </a:path>
                </a:pathLst>
              </a:custGeom>
              <a:noFill/>
              <a:ln w="14287">
                <a:solidFill>
                  <a:srgbClr val="DE58A9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FC3C3ED-858B-FF97-14DD-DC46522EE0EA}"/>
                </a:ext>
              </a:extLst>
            </p:cNvPr>
            <p:cNvGrpSpPr/>
            <p:nvPr/>
          </p:nvGrpSpPr>
          <p:grpSpPr>
            <a:xfrm>
              <a:off x="3181350" y="3649436"/>
              <a:ext cx="1530410" cy="1193545"/>
              <a:chOff x="2066925" y="2978400"/>
              <a:chExt cx="1530410" cy="1193545"/>
            </a:xfrm>
          </p:grpSpPr>
          <p:sp>
            <p:nvSpPr>
              <p:cNvPr id="51" name="Rounded Rectangle 5">
                <a:extLst>
                  <a:ext uri="{FF2B5EF4-FFF2-40B4-BE49-F238E27FC236}">
                    <a16:creationId xmlns:a16="http://schemas.microsoft.com/office/drawing/2014/main" id="{1E3C705E-E86E-50CA-364D-EE3CC4F379F4}"/>
                  </a:ext>
                </a:extLst>
              </p:cNvPr>
              <p:cNvSpPr/>
              <p:nvPr/>
            </p:nvSpPr>
            <p:spPr>
              <a:xfrm>
                <a:off x="2400300" y="2978400"/>
                <a:ext cx="1197035" cy="1028671"/>
              </a:xfrm>
              <a:custGeom>
                <a:avLst/>
                <a:gdLst/>
                <a:ahLst/>
                <a:cxnLst/>
                <a:rect l="0" t="0" r="0" b="0"/>
                <a:pathLst>
                  <a:path w="1197035" h="1028671">
                    <a:moveTo>
                      <a:pt x="182358" y="0"/>
                    </a:moveTo>
                    <a:cubicBezTo>
                      <a:pt x="291067" y="111524"/>
                      <a:pt x="442936" y="180778"/>
                      <a:pt x="610981" y="180778"/>
                    </a:cubicBezTo>
                    <a:cubicBezTo>
                      <a:pt x="772696" y="180778"/>
                      <a:pt x="919432" y="116642"/>
                      <a:pt x="1027137" y="12418"/>
                    </a:cubicBezTo>
                    <a:cubicBezTo>
                      <a:pt x="1132265" y="120269"/>
                      <a:pt x="1197035" y="267649"/>
                      <a:pt x="1197035" y="430156"/>
                    </a:cubicBezTo>
                    <a:cubicBezTo>
                      <a:pt x="1197035" y="760708"/>
                      <a:pt x="929067" y="1028671"/>
                      <a:pt x="598516" y="1028671"/>
                    </a:cubicBezTo>
                    <a:cubicBezTo>
                      <a:pt x="267964" y="1028671"/>
                      <a:pt x="0" y="760708"/>
                      <a:pt x="0" y="430156"/>
                    </a:cubicBezTo>
                    <a:cubicBezTo>
                      <a:pt x="0" y="261320"/>
                      <a:pt x="69908" y="108812"/>
                      <a:pt x="182358" y="0"/>
                    </a:cubicBezTo>
                    <a:close/>
                  </a:path>
                </a:pathLst>
              </a:custGeom>
              <a:solidFill>
                <a:srgbClr val="FFFBDA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Rounded Rectangle 6">
                <a:extLst>
                  <a:ext uri="{FF2B5EF4-FFF2-40B4-BE49-F238E27FC236}">
                    <a16:creationId xmlns:a16="http://schemas.microsoft.com/office/drawing/2014/main" id="{CDBCACFD-8513-E6EB-689B-11AC9ED0521E}"/>
                  </a:ext>
                </a:extLst>
              </p:cNvPr>
              <p:cNvSpPr/>
              <p:nvPr/>
            </p:nvSpPr>
            <p:spPr>
              <a:xfrm>
                <a:off x="2066925" y="2978400"/>
                <a:ext cx="1530407" cy="1193545"/>
              </a:xfrm>
              <a:custGeom>
                <a:avLst/>
                <a:gdLst/>
                <a:ahLst/>
                <a:cxnLst/>
                <a:rect l="0" t="0" r="0" b="0"/>
                <a:pathLst>
                  <a:path w="1530407" h="1193545">
                    <a:moveTo>
                      <a:pt x="515733" y="0"/>
                    </a:moveTo>
                    <a:cubicBezTo>
                      <a:pt x="624442" y="111524"/>
                      <a:pt x="776311" y="180778"/>
                      <a:pt x="944356" y="180778"/>
                    </a:cubicBezTo>
                    <a:cubicBezTo>
                      <a:pt x="1106071" y="180778"/>
                      <a:pt x="1252807" y="116642"/>
                      <a:pt x="1360513" y="12418"/>
                    </a:cubicBezTo>
                    <a:cubicBezTo>
                      <a:pt x="1465642" y="120269"/>
                      <a:pt x="1530407" y="267649"/>
                      <a:pt x="1530407" y="430156"/>
                    </a:cubicBezTo>
                    <a:cubicBezTo>
                      <a:pt x="1530407" y="760708"/>
                      <a:pt x="1262442" y="1028673"/>
                      <a:pt x="931891" y="1028673"/>
                    </a:cubicBezTo>
                    <a:cubicBezTo>
                      <a:pt x="601339" y="1028673"/>
                      <a:pt x="333374" y="760708"/>
                      <a:pt x="333374" y="430156"/>
                    </a:cubicBezTo>
                    <a:cubicBezTo>
                      <a:pt x="333374" y="261320"/>
                      <a:pt x="403283" y="108812"/>
                      <a:pt x="515733" y="0"/>
                    </a:cubicBezTo>
                    <a:close/>
                    <a:moveTo>
                      <a:pt x="800100" y="907795"/>
                    </a:moveTo>
                    <a:cubicBezTo>
                      <a:pt x="831662" y="907795"/>
                      <a:pt x="857250" y="882208"/>
                      <a:pt x="857250" y="850645"/>
                    </a:cubicBezTo>
                    <a:cubicBezTo>
                      <a:pt x="857250" y="819082"/>
                      <a:pt x="831662" y="793495"/>
                      <a:pt x="800100" y="793495"/>
                    </a:cubicBezTo>
                    <a:cubicBezTo>
                      <a:pt x="768537" y="793495"/>
                      <a:pt x="742950" y="819082"/>
                      <a:pt x="742950" y="850645"/>
                    </a:cubicBezTo>
                    <a:cubicBezTo>
                      <a:pt x="742950" y="882208"/>
                      <a:pt x="768537" y="907795"/>
                      <a:pt x="800100" y="907795"/>
                    </a:cubicBezTo>
                    <a:close/>
                    <a:moveTo>
                      <a:pt x="781050" y="903033"/>
                    </a:moveTo>
                    <a:lnTo>
                      <a:pt x="685800" y="1193545"/>
                    </a:lnTo>
                    <a:lnTo>
                      <a:pt x="0" y="1193545"/>
                    </a:lnTo>
                  </a:path>
                </a:pathLst>
              </a:custGeom>
              <a:noFill/>
              <a:ln w="14287">
                <a:solidFill>
                  <a:srgbClr val="E0CB15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F3A659E-948E-7369-4A1A-668B4E7F2AC3}"/>
                </a:ext>
              </a:extLst>
            </p:cNvPr>
            <p:cNvGrpSpPr/>
            <p:nvPr/>
          </p:nvGrpSpPr>
          <p:grpSpPr>
            <a:xfrm>
              <a:off x="4375089" y="2442686"/>
              <a:ext cx="1435158" cy="1231640"/>
              <a:chOff x="3260664" y="1771650"/>
              <a:chExt cx="1435158" cy="1231640"/>
            </a:xfrm>
          </p:grpSpPr>
          <p:sp>
            <p:nvSpPr>
              <p:cNvPr id="49" name="Rounded Rectangle 8">
                <a:extLst>
                  <a:ext uri="{FF2B5EF4-FFF2-40B4-BE49-F238E27FC236}">
                    <a16:creationId xmlns:a16="http://schemas.microsoft.com/office/drawing/2014/main" id="{2945E616-FB66-D45C-6566-03DC2140C84A}"/>
                  </a:ext>
                </a:extLst>
              </p:cNvPr>
              <p:cNvSpPr/>
              <p:nvPr/>
            </p:nvSpPr>
            <p:spPr>
              <a:xfrm>
                <a:off x="3260664" y="1974614"/>
                <a:ext cx="1197035" cy="1028671"/>
              </a:xfrm>
              <a:custGeom>
                <a:avLst/>
                <a:gdLst/>
                <a:ahLst/>
                <a:cxnLst/>
                <a:rect l="0" t="0" r="0" b="0"/>
                <a:pathLst>
                  <a:path w="1197035" h="1028671">
                    <a:moveTo>
                      <a:pt x="586043" y="847892"/>
                    </a:moveTo>
                    <a:cubicBezTo>
                      <a:pt x="424330" y="847892"/>
                      <a:pt x="277595" y="912027"/>
                      <a:pt x="169888" y="1016250"/>
                    </a:cubicBezTo>
                    <a:cubicBezTo>
                      <a:pt x="64764" y="908399"/>
                      <a:pt x="0" y="761020"/>
                      <a:pt x="0" y="598516"/>
                    </a:cubicBezTo>
                    <a:cubicBezTo>
                      <a:pt x="0" y="267964"/>
                      <a:pt x="267964" y="0"/>
                      <a:pt x="598516" y="0"/>
                    </a:cubicBezTo>
                    <a:cubicBezTo>
                      <a:pt x="929067" y="0"/>
                      <a:pt x="1197035" y="267964"/>
                      <a:pt x="1197035" y="598516"/>
                    </a:cubicBezTo>
                    <a:cubicBezTo>
                      <a:pt x="1197035" y="767354"/>
                      <a:pt x="1127121" y="919863"/>
                      <a:pt x="1014669" y="1028671"/>
                    </a:cubicBezTo>
                    <a:cubicBezTo>
                      <a:pt x="905961" y="917148"/>
                      <a:pt x="754090" y="847892"/>
                      <a:pt x="586043" y="847892"/>
                    </a:cubicBezTo>
                    <a:close/>
                  </a:path>
                </a:pathLst>
              </a:custGeom>
              <a:solidFill>
                <a:srgbClr val="FFECE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Rounded Rectangle 9">
                <a:extLst>
                  <a:ext uri="{FF2B5EF4-FFF2-40B4-BE49-F238E27FC236}">
                    <a16:creationId xmlns:a16="http://schemas.microsoft.com/office/drawing/2014/main" id="{E47E3F00-27CE-6864-FDDA-2EFB8FA295CE}"/>
                  </a:ext>
                </a:extLst>
              </p:cNvPr>
              <p:cNvSpPr/>
              <p:nvPr/>
            </p:nvSpPr>
            <p:spPr>
              <a:xfrm>
                <a:off x="3260664" y="1771650"/>
                <a:ext cx="1435158" cy="1231640"/>
              </a:xfrm>
              <a:custGeom>
                <a:avLst/>
                <a:gdLst/>
                <a:ahLst/>
                <a:cxnLst/>
                <a:rect l="0" t="0" r="0" b="0"/>
                <a:pathLst>
                  <a:path w="1435158" h="1231640">
                    <a:moveTo>
                      <a:pt x="586043" y="1050856"/>
                    </a:moveTo>
                    <a:cubicBezTo>
                      <a:pt x="424330" y="1050856"/>
                      <a:pt x="277595" y="1114991"/>
                      <a:pt x="169888" y="1219213"/>
                    </a:cubicBezTo>
                    <a:cubicBezTo>
                      <a:pt x="64763" y="1111363"/>
                      <a:pt x="0" y="963985"/>
                      <a:pt x="0" y="801481"/>
                    </a:cubicBezTo>
                    <a:cubicBezTo>
                      <a:pt x="0" y="470929"/>
                      <a:pt x="267964" y="202964"/>
                      <a:pt x="598516" y="202964"/>
                    </a:cubicBezTo>
                    <a:cubicBezTo>
                      <a:pt x="929067" y="202964"/>
                      <a:pt x="1197032" y="470929"/>
                      <a:pt x="1197032" y="801481"/>
                    </a:cubicBezTo>
                    <a:cubicBezTo>
                      <a:pt x="1197032" y="970318"/>
                      <a:pt x="1127122" y="1122827"/>
                      <a:pt x="1014671" y="1231640"/>
                    </a:cubicBezTo>
                    <a:cubicBezTo>
                      <a:pt x="905961" y="1120113"/>
                      <a:pt x="754090" y="1050856"/>
                      <a:pt x="586043" y="1050856"/>
                    </a:cubicBezTo>
                    <a:close/>
                    <a:moveTo>
                      <a:pt x="635058" y="285750"/>
                    </a:moveTo>
                    <a:cubicBezTo>
                      <a:pt x="603495" y="285750"/>
                      <a:pt x="577908" y="311337"/>
                      <a:pt x="577908" y="342900"/>
                    </a:cubicBezTo>
                    <a:cubicBezTo>
                      <a:pt x="577908" y="374462"/>
                      <a:pt x="603495" y="400050"/>
                      <a:pt x="635058" y="400050"/>
                    </a:cubicBezTo>
                    <a:cubicBezTo>
                      <a:pt x="666621" y="400050"/>
                      <a:pt x="692208" y="374462"/>
                      <a:pt x="692208" y="342900"/>
                    </a:cubicBezTo>
                    <a:cubicBezTo>
                      <a:pt x="692208" y="311337"/>
                      <a:pt x="666621" y="285750"/>
                      <a:pt x="635058" y="285750"/>
                    </a:cubicBezTo>
                    <a:close/>
                    <a:moveTo>
                      <a:pt x="654108" y="290512"/>
                    </a:moveTo>
                    <a:lnTo>
                      <a:pt x="749358" y="0"/>
                    </a:lnTo>
                    <a:lnTo>
                      <a:pt x="1435158" y="0"/>
                    </a:lnTo>
                  </a:path>
                </a:pathLst>
              </a:custGeom>
              <a:noFill/>
              <a:ln w="14287">
                <a:solidFill>
                  <a:srgbClr val="E55753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373740F-926D-874B-B582-12768E7C07CA}"/>
                </a:ext>
              </a:extLst>
            </p:cNvPr>
            <p:cNvGrpSpPr/>
            <p:nvPr/>
          </p:nvGrpSpPr>
          <p:grpSpPr>
            <a:xfrm>
              <a:off x="3181350" y="2442686"/>
              <a:ext cx="1374519" cy="1387535"/>
              <a:chOff x="2066925" y="1771650"/>
              <a:chExt cx="1374519" cy="1387535"/>
            </a:xfrm>
          </p:grpSpPr>
          <p:sp>
            <p:nvSpPr>
              <p:cNvPr id="47" name="Rounded Rectangle 11">
                <a:extLst>
                  <a:ext uri="{FF2B5EF4-FFF2-40B4-BE49-F238E27FC236}">
                    <a16:creationId xmlns:a16="http://schemas.microsoft.com/office/drawing/2014/main" id="{3A692D93-BF7F-1DC5-61A4-D65EB69F5A5A}"/>
                  </a:ext>
                </a:extLst>
              </p:cNvPr>
              <p:cNvSpPr/>
              <p:nvPr/>
            </p:nvSpPr>
            <p:spPr>
              <a:xfrm>
                <a:off x="2412764" y="1962150"/>
                <a:ext cx="1028680" cy="1197035"/>
              </a:xfrm>
              <a:custGeom>
                <a:avLst/>
                <a:gdLst/>
                <a:ahLst/>
                <a:cxnLst/>
                <a:rect l="0" t="0" r="0" b="0"/>
                <a:pathLst>
                  <a:path w="1028680" h="1197035">
                    <a:moveTo>
                      <a:pt x="598516" y="0"/>
                    </a:moveTo>
                    <a:cubicBezTo>
                      <a:pt x="767354" y="0"/>
                      <a:pt x="919863" y="69909"/>
                      <a:pt x="1028680" y="182361"/>
                    </a:cubicBezTo>
                    <a:cubicBezTo>
                      <a:pt x="917154" y="291071"/>
                      <a:pt x="847902" y="442938"/>
                      <a:pt x="847902" y="610981"/>
                    </a:cubicBezTo>
                    <a:cubicBezTo>
                      <a:pt x="847902" y="772694"/>
                      <a:pt x="912036" y="919428"/>
                      <a:pt x="1016260" y="1027137"/>
                    </a:cubicBezTo>
                    <a:cubicBezTo>
                      <a:pt x="908407" y="1132265"/>
                      <a:pt x="761025" y="1197035"/>
                      <a:pt x="598516" y="1197035"/>
                    </a:cubicBezTo>
                    <a:cubicBezTo>
                      <a:pt x="267964" y="1197035"/>
                      <a:pt x="0" y="929067"/>
                      <a:pt x="0" y="598516"/>
                    </a:cubicBezTo>
                    <a:cubicBezTo>
                      <a:pt x="0" y="267964"/>
                      <a:pt x="267964" y="0"/>
                      <a:pt x="598516" y="0"/>
                    </a:cubicBezTo>
                    <a:close/>
                  </a:path>
                </a:pathLst>
              </a:custGeom>
              <a:solidFill>
                <a:srgbClr val="FFF2E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Rounded Rectangle 12">
                <a:extLst>
                  <a:ext uri="{FF2B5EF4-FFF2-40B4-BE49-F238E27FC236}">
                    <a16:creationId xmlns:a16="http://schemas.microsoft.com/office/drawing/2014/main" id="{AAC5552E-B178-F219-A054-8AAC50B03126}"/>
                  </a:ext>
                </a:extLst>
              </p:cNvPr>
              <p:cNvSpPr/>
              <p:nvPr/>
            </p:nvSpPr>
            <p:spPr>
              <a:xfrm>
                <a:off x="2066925" y="1771650"/>
                <a:ext cx="1374515" cy="1387532"/>
              </a:xfrm>
              <a:custGeom>
                <a:avLst/>
                <a:gdLst/>
                <a:ahLst/>
                <a:cxnLst/>
                <a:rect l="0" t="0" r="0" b="0"/>
                <a:pathLst>
                  <a:path w="1374515" h="1387532">
                    <a:moveTo>
                      <a:pt x="944356" y="190500"/>
                    </a:moveTo>
                    <a:cubicBezTo>
                      <a:pt x="1113193" y="190500"/>
                      <a:pt x="1265702" y="260409"/>
                      <a:pt x="1374515" y="372861"/>
                    </a:cubicBezTo>
                    <a:cubicBezTo>
                      <a:pt x="1262993" y="481571"/>
                      <a:pt x="1193741" y="633438"/>
                      <a:pt x="1193741" y="801481"/>
                    </a:cubicBezTo>
                    <a:cubicBezTo>
                      <a:pt x="1193741" y="963194"/>
                      <a:pt x="1257876" y="1109928"/>
                      <a:pt x="1362096" y="1217635"/>
                    </a:cubicBezTo>
                    <a:cubicBezTo>
                      <a:pt x="1254247" y="1322765"/>
                      <a:pt x="1106864" y="1387532"/>
                      <a:pt x="944356" y="1387532"/>
                    </a:cubicBezTo>
                    <a:cubicBezTo>
                      <a:pt x="613804" y="1387532"/>
                      <a:pt x="345839" y="1119567"/>
                      <a:pt x="345839" y="789016"/>
                    </a:cubicBezTo>
                    <a:cubicBezTo>
                      <a:pt x="345839" y="458464"/>
                      <a:pt x="613804" y="190499"/>
                      <a:pt x="944356" y="190499"/>
                    </a:cubicBezTo>
                    <a:close/>
                    <a:moveTo>
                      <a:pt x="742950" y="342900"/>
                    </a:moveTo>
                    <a:cubicBezTo>
                      <a:pt x="742950" y="374462"/>
                      <a:pt x="768537" y="400050"/>
                      <a:pt x="800100" y="400050"/>
                    </a:cubicBezTo>
                    <a:cubicBezTo>
                      <a:pt x="831662" y="400050"/>
                      <a:pt x="857250" y="374462"/>
                      <a:pt x="857250" y="342900"/>
                    </a:cubicBezTo>
                    <a:cubicBezTo>
                      <a:pt x="857250" y="311337"/>
                      <a:pt x="831662" y="285750"/>
                      <a:pt x="800100" y="285750"/>
                    </a:cubicBezTo>
                    <a:cubicBezTo>
                      <a:pt x="768537" y="285750"/>
                      <a:pt x="742950" y="311337"/>
                      <a:pt x="742950" y="342900"/>
                    </a:cubicBezTo>
                    <a:close/>
                    <a:moveTo>
                      <a:pt x="0" y="0"/>
                    </a:moveTo>
                    <a:lnTo>
                      <a:pt x="685800" y="0"/>
                    </a:lnTo>
                    <a:lnTo>
                      <a:pt x="781050" y="290512"/>
                    </a:lnTo>
                  </a:path>
                </a:pathLst>
              </a:custGeom>
              <a:noFill/>
              <a:ln w="14287">
                <a:solidFill>
                  <a:srgbClr val="DE8431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B15C0FD-929D-D77F-5CE7-20AA855D3404}"/>
                </a:ext>
              </a:extLst>
            </p:cNvPr>
            <p:cNvSpPr txBox="1"/>
            <p:nvPr/>
          </p:nvSpPr>
          <p:spPr>
            <a:xfrm>
              <a:off x="2887292" y="1147286"/>
              <a:ext cx="379270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484848"/>
                  </a:solidFill>
                  <a:latin typeface="Roboto"/>
                </a:rPr>
                <a:t>Impact and Frequency of Pre-Production Issues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EC3F8A1-4386-F292-69CF-D580543E44FD}"/>
                </a:ext>
              </a:extLst>
            </p:cNvPr>
            <p:cNvSpPr txBox="1"/>
            <p:nvPr/>
          </p:nvSpPr>
          <p:spPr>
            <a:xfrm>
              <a:off x="5362234" y="1997184"/>
              <a:ext cx="1768766" cy="275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55753"/>
                  </a:solidFill>
                  <a:latin typeface="Roboto"/>
                </a:rPr>
                <a:t>Upstream Errors</a:t>
              </a:r>
              <a:endParaRPr sz="1200" b="1" dirty="0">
                <a:solidFill>
                  <a:srgbClr val="E55753"/>
                </a:solidFill>
                <a:latin typeface="Roboto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CBA12C1-5F80-6A76-9156-FA256675F24A}"/>
                </a:ext>
              </a:extLst>
            </p:cNvPr>
            <p:cNvSpPr txBox="1"/>
            <p:nvPr/>
          </p:nvSpPr>
          <p:spPr>
            <a:xfrm>
              <a:off x="2331601" y="1997184"/>
              <a:ext cx="8752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1" dirty="0">
                  <a:solidFill>
                    <a:srgbClr val="DE8431"/>
                  </a:solidFill>
                  <a:latin typeface="Roboto"/>
                </a:rPr>
                <a:t>Environment
down issues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B41E8F3-6E0C-E04E-9C41-FAA6856D63B2}"/>
                </a:ext>
              </a:extLst>
            </p:cNvPr>
            <p:cNvSpPr txBox="1"/>
            <p:nvPr/>
          </p:nvSpPr>
          <p:spPr>
            <a:xfrm>
              <a:off x="638541" y="2769685"/>
              <a:ext cx="2845966" cy="564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lang="en-US" sz="1000" dirty="0">
                  <a:solidFill>
                    <a:srgbClr val="484848"/>
                  </a:solidFill>
                  <a:latin typeface="Roboto"/>
                </a:rPr>
                <a:t>Env </a:t>
              </a:r>
              <a:r>
                <a:rPr sz="1000" b="0" dirty="0">
                  <a:solidFill>
                    <a:srgbClr val="484848"/>
                  </a:solidFill>
                  <a:latin typeface="Roboto"/>
                </a:rPr>
                <a:t>failures cause critical
operational disruptions.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5219822-4B32-5BBB-3CF6-265AF127FFF0}"/>
                </a:ext>
              </a:extLst>
            </p:cNvPr>
            <p:cNvSpPr txBox="1"/>
            <p:nvPr/>
          </p:nvSpPr>
          <p:spPr>
            <a:xfrm>
              <a:off x="5943601" y="2510312"/>
              <a:ext cx="3551942" cy="84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484848"/>
                  </a:solidFill>
                  <a:latin typeface="Roboto"/>
                </a:rPr>
                <a:t>Frequent upstream
errors delay</a:t>
              </a:r>
              <a:r>
                <a:rPr lang="en-US" sz="1000" dirty="0">
                  <a:solidFill>
                    <a:srgbClr val="484848"/>
                  </a:solidFill>
                  <a:latin typeface="Roboto"/>
                </a:rPr>
                <a:t> r</a:t>
              </a:r>
              <a:r>
                <a:rPr sz="1000" b="0" dirty="0">
                  <a:solidFill>
                    <a:srgbClr val="484848"/>
                  </a:solidFill>
                  <a:latin typeface="Roboto"/>
                </a:rPr>
                <a:t>eleases </a:t>
              </a:r>
              <a:r>
                <a:rPr lang="en-US" sz="1000" b="0" dirty="0">
                  <a:solidFill>
                    <a:srgbClr val="484848"/>
                  </a:solidFill>
                  <a:latin typeface="Roboto"/>
                </a:rPr>
                <a:t>&amp;</a:t>
              </a:r>
              <a:r>
                <a:rPr sz="1000" b="0" dirty="0">
                  <a:solidFill>
                    <a:srgbClr val="484848"/>
                  </a:solidFill>
                  <a:latin typeface="Roboto"/>
                </a:rPr>
                <a:t> increase
risks.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1B92172-BA11-4D94-7CFB-9C9A86738B35}"/>
                </a:ext>
              </a:extLst>
            </p:cNvPr>
            <p:cNvSpPr txBox="1"/>
            <p:nvPr/>
          </p:nvSpPr>
          <p:spPr>
            <a:xfrm>
              <a:off x="3956589" y="2934238"/>
              <a:ext cx="185736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200" b="1" dirty="0">
                  <a:solidFill>
                    <a:srgbClr val="DE8431"/>
                  </a:solidFill>
                  <a:latin typeface="Roboto"/>
                </a:rPr>
                <a:t>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50EE69C-31FE-0B48-4631-0B1A071D7178}"/>
                </a:ext>
              </a:extLst>
            </p:cNvPr>
            <p:cNvSpPr txBox="1"/>
            <p:nvPr/>
          </p:nvSpPr>
          <p:spPr>
            <a:xfrm>
              <a:off x="4885009" y="2903443"/>
              <a:ext cx="185736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200" b="1" dirty="0">
                  <a:solidFill>
                    <a:srgbClr val="E55753"/>
                  </a:solidFill>
                  <a:latin typeface="Roboto"/>
                </a:rPr>
                <a:t>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D24ED9F-EB59-F58B-EC60-2232584E282E}"/>
                </a:ext>
              </a:extLst>
            </p:cNvPr>
            <p:cNvSpPr txBox="1"/>
            <p:nvPr/>
          </p:nvSpPr>
          <p:spPr>
            <a:xfrm>
              <a:off x="3956589" y="3852899"/>
              <a:ext cx="185736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200" b="1" dirty="0">
                  <a:solidFill>
                    <a:srgbClr val="E0CB15"/>
                  </a:solidFill>
                  <a:latin typeface="Roboto"/>
                </a:rPr>
                <a:t>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D5234B4-E28D-115B-4765-E24C23FF3605}"/>
                </a:ext>
              </a:extLst>
            </p:cNvPr>
            <p:cNvSpPr txBox="1"/>
            <p:nvPr/>
          </p:nvSpPr>
          <p:spPr>
            <a:xfrm>
              <a:off x="4904859" y="3819679"/>
              <a:ext cx="185736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200" b="1" dirty="0">
                  <a:solidFill>
                    <a:srgbClr val="DE58A9"/>
                  </a:solidFill>
                  <a:latin typeface="Roboto"/>
                </a:rPr>
                <a:t>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A31840F-8AF2-619D-588E-679B3AC2E449}"/>
                </a:ext>
              </a:extLst>
            </p:cNvPr>
            <p:cNvSpPr txBox="1"/>
            <p:nvPr/>
          </p:nvSpPr>
          <p:spPr>
            <a:xfrm>
              <a:off x="1603889" y="4233387"/>
              <a:ext cx="1603178" cy="55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E0CB15"/>
                  </a:solidFill>
                  <a:latin typeface="Roboto"/>
                </a:rPr>
                <a:t>DB</a:t>
              </a:r>
              <a:r>
                <a:rPr sz="1200" b="1" dirty="0">
                  <a:solidFill>
                    <a:srgbClr val="E0CB15"/>
                  </a:solidFill>
                  <a:latin typeface="Roboto"/>
                </a:rPr>
                <a:t> Connection
issues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DBA9A32-ECA1-85EC-2F3A-955957E8BABB}"/>
                </a:ext>
              </a:extLst>
            </p:cNvPr>
            <p:cNvSpPr txBox="1"/>
            <p:nvPr/>
          </p:nvSpPr>
          <p:spPr>
            <a:xfrm>
              <a:off x="5943600" y="4119085"/>
              <a:ext cx="1776291" cy="55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1" dirty="0">
                  <a:solidFill>
                    <a:srgbClr val="DE58A9"/>
                  </a:solidFill>
                  <a:latin typeface="Roboto"/>
                </a:rPr>
                <a:t>MQ Queue
Manager issues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4098152-F9B4-90AF-850E-1003D23D472E}"/>
                </a:ext>
              </a:extLst>
            </p:cNvPr>
            <p:cNvSpPr txBox="1"/>
            <p:nvPr/>
          </p:nvSpPr>
          <p:spPr>
            <a:xfrm>
              <a:off x="1272489" y="4957680"/>
              <a:ext cx="1934352" cy="458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000" b="0" dirty="0">
                  <a:solidFill>
                    <a:srgbClr val="484848"/>
                  </a:solidFill>
                  <a:latin typeface="Roboto"/>
                </a:rPr>
                <a:t>Infrequent </a:t>
              </a:r>
              <a:r>
                <a:rPr lang="en-US" sz="1000" b="0" dirty="0">
                  <a:solidFill>
                    <a:srgbClr val="484848"/>
                  </a:solidFill>
                  <a:latin typeface="Roboto"/>
                </a:rPr>
                <a:t>DB</a:t>
              </a:r>
              <a:r>
                <a:rPr sz="1000" b="0" dirty="0">
                  <a:solidFill>
                    <a:srgbClr val="484848"/>
                  </a:solidFill>
                  <a:latin typeface="Roboto"/>
                </a:rPr>
                <a:t>
connection problems.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69E92F3-C337-2480-08BD-4491F440DDD0}"/>
                </a:ext>
              </a:extLst>
            </p:cNvPr>
            <p:cNvSpPr txBox="1"/>
            <p:nvPr/>
          </p:nvSpPr>
          <p:spPr>
            <a:xfrm>
              <a:off x="5943600" y="4910613"/>
              <a:ext cx="1147750" cy="615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484848"/>
                  </a:solidFill>
                  <a:latin typeface="Roboto"/>
                </a:rPr>
                <a:t>Common queue full
issues lead to minor
operational
inefficiencies.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D482C17-906F-ABEA-23CA-2B6429E26ADB}"/>
              </a:ext>
            </a:extLst>
          </p:cNvPr>
          <p:cNvGrpSpPr/>
          <p:nvPr/>
        </p:nvGrpSpPr>
        <p:grpSpPr>
          <a:xfrm>
            <a:off x="41839" y="4127337"/>
            <a:ext cx="4540233" cy="2258129"/>
            <a:chOff x="668464" y="868994"/>
            <a:chExt cx="7172683" cy="489336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64A7D08-8506-8815-C802-6609EEF44C27}"/>
                </a:ext>
              </a:extLst>
            </p:cNvPr>
            <p:cNvGrpSpPr/>
            <p:nvPr/>
          </p:nvGrpSpPr>
          <p:grpSpPr>
            <a:xfrm>
              <a:off x="1799528" y="4130726"/>
              <a:ext cx="1848315" cy="626408"/>
              <a:chOff x="217448" y="3714750"/>
              <a:chExt cx="1848315" cy="626408"/>
            </a:xfrm>
          </p:grpSpPr>
          <p:sp>
            <p:nvSpPr>
              <p:cNvPr id="90" name="Rounded Rectangle 1">
                <a:extLst>
                  <a:ext uri="{FF2B5EF4-FFF2-40B4-BE49-F238E27FC236}">
                    <a16:creationId xmlns:a16="http://schemas.microsoft.com/office/drawing/2014/main" id="{4C439F09-D7B6-E936-39A7-7FBEBE367CC7}"/>
                  </a:ext>
                </a:extLst>
              </p:cNvPr>
              <p:cNvSpPr/>
              <p:nvPr/>
            </p:nvSpPr>
            <p:spPr>
              <a:xfrm>
                <a:off x="1141606" y="3886630"/>
                <a:ext cx="924157" cy="454528"/>
              </a:xfrm>
              <a:custGeom>
                <a:avLst/>
                <a:gdLst/>
                <a:ahLst/>
                <a:cxnLst/>
                <a:rect l="0" t="0" r="0" b="0"/>
                <a:pathLst>
                  <a:path w="924157" h="454528">
                    <a:moveTo>
                      <a:pt x="0" y="324662"/>
                    </a:moveTo>
                    <a:lnTo>
                      <a:pt x="924157" y="0"/>
                    </a:lnTo>
                    <a:lnTo>
                      <a:pt x="924157" y="129864"/>
                    </a:lnTo>
                    <a:lnTo>
                      <a:pt x="0" y="45452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91" name="Rounded Rectangle 2">
                <a:extLst>
                  <a:ext uri="{FF2B5EF4-FFF2-40B4-BE49-F238E27FC236}">
                    <a16:creationId xmlns:a16="http://schemas.microsoft.com/office/drawing/2014/main" id="{9940EA5E-9D6F-EC22-ABC6-670C055EE2B3}"/>
                  </a:ext>
                </a:extLst>
              </p:cNvPr>
              <p:cNvSpPr/>
              <p:nvPr/>
            </p:nvSpPr>
            <p:spPr>
              <a:xfrm>
                <a:off x="217448" y="3886630"/>
                <a:ext cx="924157" cy="454528"/>
              </a:xfrm>
              <a:custGeom>
                <a:avLst/>
                <a:gdLst/>
                <a:ahLst/>
                <a:cxnLst/>
                <a:rect l="0" t="0" r="0" b="0"/>
                <a:pathLst>
                  <a:path w="924157" h="454528">
                    <a:moveTo>
                      <a:pt x="924157" y="324662"/>
                    </a:moveTo>
                    <a:lnTo>
                      <a:pt x="924157" y="454528"/>
                    </a:lnTo>
                    <a:lnTo>
                      <a:pt x="0" y="12986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92" name="Rounded Rectangle 3">
                <a:extLst>
                  <a:ext uri="{FF2B5EF4-FFF2-40B4-BE49-F238E27FC236}">
                    <a16:creationId xmlns:a16="http://schemas.microsoft.com/office/drawing/2014/main" id="{991A9B18-39F3-8BFC-31EE-F074D782813C}"/>
                  </a:ext>
                </a:extLst>
              </p:cNvPr>
              <p:cNvSpPr/>
              <p:nvPr/>
            </p:nvSpPr>
            <p:spPr>
              <a:xfrm>
                <a:off x="217448" y="3714750"/>
                <a:ext cx="1848314" cy="496543"/>
              </a:xfrm>
              <a:custGeom>
                <a:avLst/>
                <a:gdLst/>
                <a:ahLst/>
                <a:cxnLst/>
                <a:rect l="0" t="0" r="0" b="0"/>
                <a:pathLst>
                  <a:path w="1848314" h="496543">
                    <a:moveTo>
                      <a:pt x="1359054" y="0"/>
                    </a:moveTo>
                    <a:lnTo>
                      <a:pt x="1848314" y="171880"/>
                    </a:lnTo>
                    <a:lnTo>
                      <a:pt x="924157" y="496543"/>
                    </a:lnTo>
                    <a:lnTo>
                      <a:pt x="0" y="171880"/>
                    </a:lnTo>
                    <a:lnTo>
                      <a:pt x="489259" y="0"/>
                    </a:lnTo>
                    <a:lnTo>
                      <a:pt x="489259" y="146208"/>
                    </a:lnTo>
                    <a:cubicBezTo>
                      <a:pt x="489259" y="266303"/>
                      <a:pt x="683969" y="363657"/>
                      <a:pt x="924157" y="363658"/>
                    </a:cubicBezTo>
                    <a:cubicBezTo>
                      <a:pt x="1164347" y="363658"/>
                      <a:pt x="1359054" y="266303"/>
                      <a:pt x="1359054" y="14620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93" name="Rounded Rectangle 4">
                <a:extLst>
                  <a:ext uri="{FF2B5EF4-FFF2-40B4-BE49-F238E27FC236}">
                    <a16:creationId xmlns:a16="http://schemas.microsoft.com/office/drawing/2014/main" id="{0EC7749E-67A7-2F82-C664-73C73CDD0089}"/>
                  </a:ext>
                </a:extLst>
              </p:cNvPr>
              <p:cNvSpPr/>
              <p:nvPr/>
            </p:nvSpPr>
            <p:spPr>
              <a:xfrm>
                <a:off x="1141606" y="3886630"/>
                <a:ext cx="924157" cy="454528"/>
              </a:xfrm>
              <a:custGeom>
                <a:avLst/>
                <a:gdLst/>
                <a:ahLst/>
                <a:cxnLst/>
                <a:rect l="0" t="0" r="0" b="0"/>
                <a:pathLst>
                  <a:path w="924157" h="454528">
                    <a:moveTo>
                      <a:pt x="0" y="324662"/>
                    </a:moveTo>
                    <a:lnTo>
                      <a:pt x="924157" y="0"/>
                    </a:lnTo>
                    <a:lnTo>
                      <a:pt x="924157" y="129864"/>
                    </a:lnTo>
                    <a:lnTo>
                      <a:pt x="0" y="454528"/>
                    </a:lnTo>
                    <a:close/>
                  </a:path>
                </a:pathLst>
              </a:custGeom>
              <a:noFill/>
              <a:ln w="13590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94" name="Rounded Rectangle 5">
                <a:extLst>
                  <a:ext uri="{FF2B5EF4-FFF2-40B4-BE49-F238E27FC236}">
                    <a16:creationId xmlns:a16="http://schemas.microsoft.com/office/drawing/2014/main" id="{7B01006D-FDF7-D0A7-3EED-3DFA513974F0}"/>
                  </a:ext>
                </a:extLst>
              </p:cNvPr>
              <p:cNvSpPr/>
              <p:nvPr/>
            </p:nvSpPr>
            <p:spPr>
              <a:xfrm>
                <a:off x="217448" y="3886630"/>
                <a:ext cx="924157" cy="454528"/>
              </a:xfrm>
              <a:custGeom>
                <a:avLst/>
                <a:gdLst/>
                <a:ahLst/>
                <a:cxnLst/>
                <a:rect l="0" t="0" r="0" b="0"/>
                <a:pathLst>
                  <a:path w="924157" h="454528">
                    <a:moveTo>
                      <a:pt x="924157" y="324662"/>
                    </a:moveTo>
                    <a:lnTo>
                      <a:pt x="924157" y="454528"/>
                    </a:lnTo>
                    <a:lnTo>
                      <a:pt x="0" y="12986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3590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95" name="Rounded Rectangle 6">
                <a:extLst>
                  <a:ext uri="{FF2B5EF4-FFF2-40B4-BE49-F238E27FC236}">
                    <a16:creationId xmlns:a16="http://schemas.microsoft.com/office/drawing/2014/main" id="{3362217E-DBAA-760A-F5EE-67092FFFC8B7}"/>
                  </a:ext>
                </a:extLst>
              </p:cNvPr>
              <p:cNvSpPr/>
              <p:nvPr/>
            </p:nvSpPr>
            <p:spPr>
              <a:xfrm>
                <a:off x="217448" y="3714750"/>
                <a:ext cx="1848314" cy="496543"/>
              </a:xfrm>
              <a:custGeom>
                <a:avLst/>
                <a:gdLst/>
                <a:ahLst/>
                <a:cxnLst/>
                <a:rect l="0" t="0" r="0" b="0"/>
                <a:pathLst>
                  <a:path w="1848314" h="496543">
                    <a:moveTo>
                      <a:pt x="1359054" y="0"/>
                    </a:moveTo>
                    <a:lnTo>
                      <a:pt x="1848314" y="171880"/>
                    </a:lnTo>
                    <a:lnTo>
                      <a:pt x="924157" y="496543"/>
                    </a:lnTo>
                    <a:lnTo>
                      <a:pt x="0" y="171880"/>
                    </a:lnTo>
                    <a:lnTo>
                      <a:pt x="489259" y="0"/>
                    </a:lnTo>
                    <a:lnTo>
                      <a:pt x="489259" y="146208"/>
                    </a:lnTo>
                    <a:cubicBezTo>
                      <a:pt x="489259" y="266303"/>
                      <a:pt x="683969" y="363657"/>
                      <a:pt x="924157" y="363658"/>
                    </a:cubicBezTo>
                    <a:cubicBezTo>
                      <a:pt x="1164344" y="363658"/>
                      <a:pt x="1359054" y="266303"/>
                      <a:pt x="1359054" y="146209"/>
                    </a:cubicBezTo>
                    <a:close/>
                  </a:path>
                </a:pathLst>
              </a:custGeom>
              <a:noFill/>
              <a:ln w="13590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3A8075B-96F5-EEEC-B9EF-7B6F7F0603D6}"/>
                </a:ext>
              </a:extLst>
            </p:cNvPr>
            <p:cNvGrpSpPr/>
            <p:nvPr/>
          </p:nvGrpSpPr>
          <p:grpSpPr>
            <a:xfrm>
              <a:off x="2288788" y="2945629"/>
              <a:ext cx="869795" cy="1565631"/>
              <a:chOff x="706708" y="2529653"/>
              <a:chExt cx="869795" cy="1565631"/>
            </a:xfrm>
          </p:grpSpPr>
          <p:sp>
            <p:nvSpPr>
              <p:cNvPr id="88" name="Rounded Rectangle 8">
                <a:extLst>
                  <a:ext uri="{FF2B5EF4-FFF2-40B4-BE49-F238E27FC236}">
                    <a16:creationId xmlns:a16="http://schemas.microsoft.com/office/drawing/2014/main" id="{67A59E3E-5086-A964-5A36-302FE60EE8AC}"/>
                  </a:ext>
                </a:extLst>
              </p:cNvPr>
              <p:cNvSpPr/>
              <p:nvPr/>
            </p:nvSpPr>
            <p:spPr>
              <a:xfrm>
                <a:off x="706708" y="2529653"/>
                <a:ext cx="869795" cy="1565631"/>
              </a:xfrm>
              <a:custGeom>
                <a:avLst/>
                <a:gdLst/>
                <a:ahLst/>
                <a:cxnLst/>
                <a:rect l="0" t="0" r="0" b="0"/>
                <a:pathLst>
                  <a:path w="869795" h="1565631">
                    <a:moveTo>
                      <a:pt x="0" y="217448"/>
                    </a:moveTo>
                    <a:cubicBezTo>
                      <a:pt x="0" y="97355"/>
                      <a:pt x="194709" y="0"/>
                      <a:pt x="434897" y="0"/>
                    </a:cubicBezTo>
                    <a:cubicBezTo>
                      <a:pt x="675085" y="0"/>
                      <a:pt x="869795" y="97355"/>
                      <a:pt x="869795" y="217448"/>
                    </a:cubicBezTo>
                    <a:close/>
                    <a:moveTo>
                      <a:pt x="869795" y="1348182"/>
                    </a:moveTo>
                    <a:lnTo>
                      <a:pt x="0" y="1348182"/>
                    </a:lnTo>
                    <a:lnTo>
                      <a:pt x="0" y="217448"/>
                    </a:lnTo>
                    <a:lnTo>
                      <a:pt x="869795" y="217448"/>
                    </a:lnTo>
                    <a:close/>
                    <a:moveTo>
                      <a:pt x="0" y="1348182"/>
                    </a:moveTo>
                    <a:lnTo>
                      <a:pt x="869795" y="1348182"/>
                    </a:lnTo>
                    <a:cubicBezTo>
                      <a:pt x="869795" y="1468276"/>
                      <a:pt x="675085" y="1565631"/>
                      <a:pt x="434897" y="1565631"/>
                    </a:cubicBezTo>
                    <a:cubicBezTo>
                      <a:pt x="194709" y="1565631"/>
                      <a:pt x="0" y="1468276"/>
                      <a:pt x="0" y="1348182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A6A3"/>
                  </a:gs>
                  <a:gs pos="100000">
                    <a:srgbClr val="FD6A6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89" name="Rounded Rectangle 9">
                <a:extLst>
                  <a:ext uri="{FF2B5EF4-FFF2-40B4-BE49-F238E27FC236}">
                    <a16:creationId xmlns:a16="http://schemas.microsoft.com/office/drawing/2014/main" id="{2EB96C9E-E7F7-CD9F-EC43-B54993E39751}"/>
                  </a:ext>
                </a:extLst>
              </p:cNvPr>
              <p:cNvSpPr/>
              <p:nvPr/>
            </p:nvSpPr>
            <p:spPr>
              <a:xfrm>
                <a:off x="706708" y="2529653"/>
                <a:ext cx="869795" cy="1565631"/>
              </a:xfrm>
              <a:custGeom>
                <a:avLst/>
                <a:gdLst/>
                <a:ahLst/>
                <a:cxnLst/>
                <a:rect l="0" t="0" r="0" b="0"/>
                <a:pathLst>
                  <a:path w="869795" h="1565631">
                    <a:moveTo>
                      <a:pt x="869795" y="217448"/>
                    </a:moveTo>
                    <a:lnTo>
                      <a:pt x="869795" y="1348182"/>
                    </a:lnTo>
                    <a:moveTo>
                      <a:pt x="0" y="1348182"/>
                    </a:moveTo>
                    <a:lnTo>
                      <a:pt x="0" y="217448"/>
                    </a:lnTo>
                    <a:moveTo>
                      <a:pt x="869795" y="1348182"/>
                    </a:moveTo>
                    <a:cubicBezTo>
                      <a:pt x="869795" y="1468276"/>
                      <a:pt x="675085" y="1565631"/>
                      <a:pt x="434897" y="1565631"/>
                    </a:cubicBezTo>
                    <a:cubicBezTo>
                      <a:pt x="194709" y="1565631"/>
                      <a:pt x="0" y="1468276"/>
                      <a:pt x="0" y="1348182"/>
                    </a:cubicBezTo>
                    <a:moveTo>
                      <a:pt x="869795" y="217448"/>
                    </a:moveTo>
                    <a:cubicBezTo>
                      <a:pt x="869795" y="337542"/>
                      <a:pt x="675085" y="434897"/>
                      <a:pt x="434897" y="434897"/>
                    </a:cubicBezTo>
                    <a:cubicBezTo>
                      <a:pt x="194709" y="434897"/>
                      <a:pt x="0" y="337542"/>
                      <a:pt x="0" y="217448"/>
                    </a:cubicBezTo>
                    <a:cubicBezTo>
                      <a:pt x="0" y="97355"/>
                      <a:pt x="194709" y="0"/>
                      <a:pt x="434897" y="0"/>
                    </a:cubicBezTo>
                    <a:cubicBezTo>
                      <a:pt x="675085" y="0"/>
                      <a:pt x="869795" y="97355"/>
                      <a:pt x="869795" y="217448"/>
                    </a:cubicBezTo>
                    <a:close/>
                  </a:path>
                </a:pathLst>
              </a:custGeom>
              <a:noFill/>
              <a:ln w="13590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BFB2178-85D6-87AB-0262-48055383D330}"/>
                </a:ext>
              </a:extLst>
            </p:cNvPr>
            <p:cNvGrpSpPr/>
            <p:nvPr/>
          </p:nvGrpSpPr>
          <p:grpSpPr>
            <a:xfrm>
              <a:off x="3647843" y="3587104"/>
              <a:ext cx="1848314" cy="626408"/>
              <a:chOff x="2065763" y="3171128"/>
              <a:chExt cx="1848314" cy="626408"/>
            </a:xfrm>
          </p:grpSpPr>
          <p:sp>
            <p:nvSpPr>
              <p:cNvPr id="82" name="Rounded Rectangle 11">
                <a:extLst>
                  <a:ext uri="{FF2B5EF4-FFF2-40B4-BE49-F238E27FC236}">
                    <a16:creationId xmlns:a16="http://schemas.microsoft.com/office/drawing/2014/main" id="{7A876392-90A1-5994-5FEC-BE050CE1E95B}"/>
                  </a:ext>
                </a:extLst>
              </p:cNvPr>
              <p:cNvSpPr/>
              <p:nvPr/>
            </p:nvSpPr>
            <p:spPr>
              <a:xfrm>
                <a:off x="2989920" y="3343008"/>
                <a:ext cx="924157" cy="454528"/>
              </a:xfrm>
              <a:custGeom>
                <a:avLst/>
                <a:gdLst/>
                <a:ahLst/>
                <a:cxnLst/>
                <a:rect l="0" t="0" r="0" b="0"/>
                <a:pathLst>
                  <a:path w="924157" h="454528">
                    <a:moveTo>
                      <a:pt x="0" y="324662"/>
                    </a:moveTo>
                    <a:lnTo>
                      <a:pt x="924157" y="0"/>
                    </a:lnTo>
                    <a:lnTo>
                      <a:pt x="924157" y="129864"/>
                    </a:lnTo>
                    <a:lnTo>
                      <a:pt x="0" y="45452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83" name="Rounded Rectangle 12">
                <a:extLst>
                  <a:ext uri="{FF2B5EF4-FFF2-40B4-BE49-F238E27FC236}">
                    <a16:creationId xmlns:a16="http://schemas.microsoft.com/office/drawing/2014/main" id="{D0758EA4-5C51-77C1-B153-96239488B50E}"/>
                  </a:ext>
                </a:extLst>
              </p:cNvPr>
              <p:cNvSpPr/>
              <p:nvPr/>
            </p:nvSpPr>
            <p:spPr>
              <a:xfrm>
                <a:off x="2065763" y="3343008"/>
                <a:ext cx="924157" cy="454528"/>
              </a:xfrm>
              <a:custGeom>
                <a:avLst/>
                <a:gdLst/>
                <a:ahLst/>
                <a:cxnLst/>
                <a:rect l="0" t="0" r="0" b="0"/>
                <a:pathLst>
                  <a:path w="924157" h="454528">
                    <a:moveTo>
                      <a:pt x="924157" y="324662"/>
                    </a:moveTo>
                    <a:lnTo>
                      <a:pt x="924157" y="454528"/>
                    </a:lnTo>
                    <a:lnTo>
                      <a:pt x="0" y="12986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84" name="Rounded Rectangle 13">
                <a:extLst>
                  <a:ext uri="{FF2B5EF4-FFF2-40B4-BE49-F238E27FC236}">
                    <a16:creationId xmlns:a16="http://schemas.microsoft.com/office/drawing/2014/main" id="{BD3B227D-0C60-24C2-E05C-FE78A6995249}"/>
                  </a:ext>
                </a:extLst>
              </p:cNvPr>
              <p:cNvSpPr/>
              <p:nvPr/>
            </p:nvSpPr>
            <p:spPr>
              <a:xfrm>
                <a:off x="2065763" y="3171128"/>
                <a:ext cx="1848314" cy="496543"/>
              </a:xfrm>
              <a:custGeom>
                <a:avLst/>
                <a:gdLst/>
                <a:ahLst/>
                <a:cxnLst/>
                <a:rect l="0" t="0" r="0" b="0"/>
                <a:pathLst>
                  <a:path w="1848314" h="496543">
                    <a:moveTo>
                      <a:pt x="1359054" y="0"/>
                    </a:moveTo>
                    <a:lnTo>
                      <a:pt x="1848314" y="171880"/>
                    </a:lnTo>
                    <a:lnTo>
                      <a:pt x="924157" y="496543"/>
                    </a:lnTo>
                    <a:lnTo>
                      <a:pt x="0" y="171880"/>
                    </a:lnTo>
                    <a:lnTo>
                      <a:pt x="489259" y="0"/>
                    </a:lnTo>
                    <a:lnTo>
                      <a:pt x="489259" y="146208"/>
                    </a:lnTo>
                    <a:cubicBezTo>
                      <a:pt x="489259" y="266303"/>
                      <a:pt x="683969" y="363657"/>
                      <a:pt x="924157" y="363658"/>
                    </a:cubicBezTo>
                    <a:cubicBezTo>
                      <a:pt x="1164347" y="363658"/>
                      <a:pt x="1359054" y="266303"/>
                      <a:pt x="1359054" y="14620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85" name="Rounded Rectangle 14">
                <a:extLst>
                  <a:ext uri="{FF2B5EF4-FFF2-40B4-BE49-F238E27FC236}">
                    <a16:creationId xmlns:a16="http://schemas.microsoft.com/office/drawing/2014/main" id="{1C02053E-CABC-82C5-DB0F-05C971813C02}"/>
                  </a:ext>
                </a:extLst>
              </p:cNvPr>
              <p:cNvSpPr/>
              <p:nvPr/>
            </p:nvSpPr>
            <p:spPr>
              <a:xfrm>
                <a:off x="2989920" y="3343008"/>
                <a:ext cx="924157" cy="454528"/>
              </a:xfrm>
              <a:custGeom>
                <a:avLst/>
                <a:gdLst/>
                <a:ahLst/>
                <a:cxnLst/>
                <a:rect l="0" t="0" r="0" b="0"/>
                <a:pathLst>
                  <a:path w="924157" h="454528">
                    <a:moveTo>
                      <a:pt x="0" y="324662"/>
                    </a:moveTo>
                    <a:lnTo>
                      <a:pt x="924157" y="0"/>
                    </a:lnTo>
                    <a:lnTo>
                      <a:pt x="924157" y="129864"/>
                    </a:lnTo>
                    <a:lnTo>
                      <a:pt x="0" y="454528"/>
                    </a:lnTo>
                    <a:close/>
                  </a:path>
                </a:pathLst>
              </a:custGeom>
              <a:noFill/>
              <a:ln w="13590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86" name="Rounded Rectangle 15">
                <a:extLst>
                  <a:ext uri="{FF2B5EF4-FFF2-40B4-BE49-F238E27FC236}">
                    <a16:creationId xmlns:a16="http://schemas.microsoft.com/office/drawing/2014/main" id="{0D48F022-535E-E56E-FFBE-B9ADE1BD5EAA}"/>
                  </a:ext>
                </a:extLst>
              </p:cNvPr>
              <p:cNvSpPr/>
              <p:nvPr/>
            </p:nvSpPr>
            <p:spPr>
              <a:xfrm>
                <a:off x="2065763" y="3343008"/>
                <a:ext cx="924157" cy="454528"/>
              </a:xfrm>
              <a:custGeom>
                <a:avLst/>
                <a:gdLst/>
                <a:ahLst/>
                <a:cxnLst/>
                <a:rect l="0" t="0" r="0" b="0"/>
                <a:pathLst>
                  <a:path w="924157" h="454528">
                    <a:moveTo>
                      <a:pt x="924157" y="324662"/>
                    </a:moveTo>
                    <a:lnTo>
                      <a:pt x="924157" y="454528"/>
                    </a:lnTo>
                    <a:lnTo>
                      <a:pt x="0" y="12986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3590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87" name="Rounded Rectangle 16">
                <a:extLst>
                  <a:ext uri="{FF2B5EF4-FFF2-40B4-BE49-F238E27FC236}">
                    <a16:creationId xmlns:a16="http://schemas.microsoft.com/office/drawing/2014/main" id="{90245BAE-7DC6-E66E-4602-671ED3017432}"/>
                  </a:ext>
                </a:extLst>
              </p:cNvPr>
              <p:cNvSpPr/>
              <p:nvPr/>
            </p:nvSpPr>
            <p:spPr>
              <a:xfrm>
                <a:off x="2065763" y="3171128"/>
                <a:ext cx="1848314" cy="496543"/>
              </a:xfrm>
              <a:custGeom>
                <a:avLst/>
                <a:gdLst/>
                <a:ahLst/>
                <a:cxnLst/>
                <a:rect l="0" t="0" r="0" b="0"/>
                <a:pathLst>
                  <a:path w="1848314" h="496543">
                    <a:moveTo>
                      <a:pt x="1359054" y="0"/>
                    </a:moveTo>
                    <a:lnTo>
                      <a:pt x="1848314" y="171880"/>
                    </a:lnTo>
                    <a:lnTo>
                      <a:pt x="924157" y="496543"/>
                    </a:lnTo>
                    <a:lnTo>
                      <a:pt x="0" y="171880"/>
                    </a:lnTo>
                    <a:lnTo>
                      <a:pt x="489259" y="0"/>
                    </a:lnTo>
                    <a:lnTo>
                      <a:pt x="489259" y="146208"/>
                    </a:lnTo>
                    <a:cubicBezTo>
                      <a:pt x="489259" y="266303"/>
                      <a:pt x="683969" y="363657"/>
                      <a:pt x="924157" y="363658"/>
                    </a:cubicBezTo>
                    <a:cubicBezTo>
                      <a:pt x="1164344" y="363658"/>
                      <a:pt x="1359054" y="266303"/>
                      <a:pt x="1359054" y="146209"/>
                    </a:cubicBezTo>
                    <a:close/>
                  </a:path>
                </a:pathLst>
              </a:custGeom>
              <a:noFill/>
              <a:ln w="13590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D5E060A-82B9-2398-2C13-93B21B26F639}"/>
                </a:ext>
              </a:extLst>
            </p:cNvPr>
            <p:cNvGrpSpPr/>
            <p:nvPr/>
          </p:nvGrpSpPr>
          <p:grpSpPr>
            <a:xfrm>
              <a:off x="4137103" y="1720668"/>
              <a:ext cx="869795" cy="2246970"/>
              <a:chOff x="2555023" y="1304692"/>
              <a:chExt cx="869795" cy="2246970"/>
            </a:xfrm>
          </p:grpSpPr>
          <p:sp>
            <p:nvSpPr>
              <p:cNvPr id="80" name="Rounded Rectangle 18">
                <a:extLst>
                  <a:ext uri="{FF2B5EF4-FFF2-40B4-BE49-F238E27FC236}">
                    <a16:creationId xmlns:a16="http://schemas.microsoft.com/office/drawing/2014/main" id="{6BA97CD1-27E3-4A03-796E-27573B78E6DD}"/>
                  </a:ext>
                </a:extLst>
              </p:cNvPr>
              <p:cNvSpPr/>
              <p:nvPr/>
            </p:nvSpPr>
            <p:spPr>
              <a:xfrm>
                <a:off x="2555023" y="1304692"/>
                <a:ext cx="869795" cy="2246970"/>
              </a:xfrm>
              <a:custGeom>
                <a:avLst/>
                <a:gdLst/>
                <a:ahLst/>
                <a:cxnLst/>
                <a:rect l="0" t="0" r="0" b="0"/>
                <a:pathLst>
                  <a:path w="869795" h="2246970">
                    <a:moveTo>
                      <a:pt x="0" y="217448"/>
                    </a:moveTo>
                    <a:cubicBezTo>
                      <a:pt x="0" y="97355"/>
                      <a:pt x="194709" y="0"/>
                      <a:pt x="434897" y="0"/>
                    </a:cubicBezTo>
                    <a:cubicBezTo>
                      <a:pt x="675085" y="0"/>
                      <a:pt x="869795" y="97355"/>
                      <a:pt x="869795" y="217448"/>
                    </a:cubicBezTo>
                    <a:close/>
                    <a:moveTo>
                      <a:pt x="869795" y="2029521"/>
                    </a:moveTo>
                    <a:lnTo>
                      <a:pt x="0" y="2029521"/>
                    </a:lnTo>
                    <a:lnTo>
                      <a:pt x="0" y="217448"/>
                    </a:lnTo>
                    <a:lnTo>
                      <a:pt x="869795" y="217448"/>
                    </a:lnTo>
                    <a:close/>
                    <a:moveTo>
                      <a:pt x="0" y="2029521"/>
                    </a:moveTo>
                    <a:lnTo>
                      <a:pt x="869795" y="2029521"/>
                    </a:lnTo>
                    <a:cubicBezTo>
                      <a:pt x="869795" y="2149615"/>
                      <a:pt x="675085" y="2246970"/>
                      <a:pt x="434897" y="2246970"/>
                    </a:cubicBezTo>
                    <a:cubicBezTo>
                      <a:pt x="194709" y="2246970"/>
                      <a:pt x="0" y="2149615"/>
                      <a:pt x="0" y="202952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CC2FF"/>
                  </a:gs>
                  <a:gs pos="100000">
                    <a:srgbClr val="4F92FF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81" name="Rounded Rectangle 19">
                <a:extLst>
                  <a:ext uri="{FF2B5EF4-FFF2-40B4-BE49-F238E27FC236}">
                    <a16:creationId xmlns:a16="http://schemas.microsoft.com/office/drawing/2014/main" id="{8A816A29-0F6D-962E-1A2E-D56040DB12D3}"/>
                  </a:ext>
                </a:extLst>
              </p:cNvPr>
              <p:cNvSpPr/>
              <p:nvPr/>
            </p:nvSpPr>
            <p:spPr>
              <a:xfrm>
                <a:off x="2555023" y="1304692"/>
                <a:ext cx="869795" cy="2246970"/>
              </a:xfrm>
              <a:custGeom>
                <a:avLst/>
                <a:gdLst/>
                <a:ahLst/>
                <a:cxnLst/>
                <a:rect l="0" t="0" r="0" b="0"/>
                <a:pathLst>
                  <a:path w="869795" h="2246970">
                    <a:moveTo>
                      <a:pt x="869794" y="217448"/>
                    </a:moveTo>
                    <a:lnTo>
                      <a:pt x="869794" y="2029521"/>
                    </a:lnTo>
                    <a:moveTo>
                      <a:pt x="0" y="217448"/>
                    </a:moveTo>
                    <a:lnTo>
                      <a:pt x="0" y="2029521"/>
                    </a:lnTo>
                    <a:moveTo>
                      <a:pt x="869795" y="2029521"/>
                    </a:moveTo>
                    <a:cubicBezTo>
                      <a:pt x="869795" y="2149615"/>
                      <a:pt x="675085" y="2246970"/>
                      <a:pt x="434897" y="2246970"/>
                    </a:cubicBezTo>
                    <a:cubicBezTo>
                      <a:pt x="194709" y="2246970"/>
                      <a:pt x="0" y="2149615"/>
                      <a:pt x="0" y="2029521"/>
                    </a:cubicBezTo>
                    <a:moveTo>
                      <a:pt x="869795" y="217448"/>
                    </a:moveTo>
                    <a:cubicBezTo>
                      <a:pt x="869795" y="337542"/>
                      <a:pt x="675085" y="434897"/>
                      <a:pt x="434897" y="434897"/>
                    </a:cubicBezTo>
                    <a:cubicBezTo>
                      <a:pt x="194709" y="434897"/>
                      <a:pt x="0" y="337542"/>
                      <a:pt x="0" y="217448"/>
                    </a:cubicBezTo>
                    <a:cubicBezTo>
                      <a:pt x="0" y="97355"/>
                      <a:pt x="194709" y="0"/>
                      <a:pt x="434897" y="0"/>
                    </a:cubicBezTo>
                    <a:cubicBezTo>
                      <a:pt x="675085" y="0"/>
                      <a:pt x="869795" y="97355"/>
                      <a:pt x="869795" y="217448"/>
                    </a:cubicBezTo>
                    <a:close/>
                  </a:path>
                </a:pathLst>
              </a:custGeom>
              <a:noFill/>
              <a:ln w="13590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A5A1F1D-0B0F-C6E3-F0B9-6CAB5CC220ED}"/>
                </a:ext>
              </a:extLst>
            </p:cNvPr>
            <p:cNvGrpSpPr/>
            <p:nvPr/>
          </p:nvGrpSpPr>
          <p:grpSpPr>
            <a:xfrm>
              <a:off x="5496158" y="4130726"/>
              <a:ext cx="1848314" cy="626408"/>
              <a:chOff x="3914078" y="3714750"/>
              <a:chExt cx="1848314" cy="626408"/>
            </a:xfrm>
          </p:grpSpPr>
          <p:sp>
            <p:nvSpPr>
              <p:cNvPr id="74" name="Rounded Rectangle 21">
                <a:extLst>
                  <a:ext uri="{FF2B5EF4-FFF2-40B4-BE49-F238E27FC236}">
                    <a16:creationId xmlns:a16="http://schemas.microsoft.com/office/drawing/2014/main" id="{CF807302-37BB-4DAF-FFC6-7A4826EFFFB9}"/>
                  </a:ext>
                </a:extLst>
              </p:cNvPr>
              <p:cNvSpPr/>
              <p:nvPr/>
            </p:nvSpPr>
            <p:spPr>
              <a:xfrm>
                <a:off x="4838235" y="3886630"/>
                <a:ext cx="924157" cy="454528"/>
              </a:xfrm>
              <a:custGeom>
                <a:avLst/>
                <a:gdLst/>
                <a:ahLst/>
                <a:cxnLst/>
                <a:rect l="0" t="0" r="0" b="0"/>
                <a:pathLst>
                  <a:path w="924157" h="454528">
                    <a:moveTo>
                      <a:pt x="0" y="324662"/>
                    </a:moveTo>
                    <a:lnTo>
                      <a:pt x="924157" y="0"/>
                    </a:lnTo>
                    <a:lnTo>
                      <a:pt x="924157" y="129864"/>
                    </a:lnTo>
                    <a:lnTo>
                      <a:pt x="0" y="45452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75" name="Rounded Rectangle 22">
                <a:extLst>
                  <a:ext uri="{FF2B5EF4-FFF2-40B4-BE49-F238E27FC236}">
                    <a16:creationId xmlns:a16="http://schemas.microsoft.com/office/drawing/2014/main" id="{EDBE31C1-6D26-C208-9863-DEEE6BC3FD98}"/>
                  </a:ext>
                </a:extLst>
              </p:cNvPr>
              <p:cNvSpPr/>
              <p:nvPr/>
            </p:nvSpPr>
            <p:spPr>
              <a:xfrm>
                <a:off x="3914078" y="3886630"/>
                <a:ext cx="924157" cy="454528"/>
              </a:xfrm>
              <a:custGeom>
                <a:avLst/>
                <a:gdLst/>
                <a:ahLst/>
                <a:cxnLst/>
                <a:rect l="0" t="0" r="0" b="0"/>
                <a:pathLst>
                  <a:path w="924157" h="454528">
                    <a:moveTo>
                      <a:pt x="924157" y="324662"/>
                    </a:moveTo>
                    <a:lnTo>
                      <a:pt x="924157" y="454528"/>
                    </a:lnTo>
                    <a:lnTo>
                      <a:pt x="0" y="12986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76" name="Rounded Rectangle 23">
                <a:extLst>
                  <a:ext uri="{FF2B5EF4-FFF2-40B4-BE49-F238E27FC236}">
                    <a16:creationId xmlns:a16="http://schemas.microsoft.com/office/drawing/2014/main" id="{E5F4585E-0095-4791-1C79-6CDFA5BC859D}"/>
                  </a:ext>
                </a:extLst>
              </p:cNvPr>
              <p:cNvSpPr/>
              <p:nvPr/>
            </p:nvSpPr>
            <p:spPr>
              <a:xfrm>
                <a:off x="3914078" y="3714750"/>
                <a:ext cx="1848314" cy="496543"/>
              </a:xfrm>
              <a:custGeom>
                <a:avLst/>
                <a:gdLst/>
                <a:ahLst/>
                <a:cxnLst/>
                <a:rect l="0" t="0" r="0" b="0"/>
                <a:pathLst>
                  <a:path w="1848314" h="496543">
                    <a:moveTo>
                      <a:pt x="1359054" y="0"/>
                    </a:moveTo>
                    <a:lnTo>
                      <a:pt x="1848314" y="171880"/>
                    </a:lnTo>
                    <a:lnTo>
                      <a:pt x="924157" y="496543"/>
                    </a:lnTo>
                    <a:lnTo>
                      <a:pt x="0" y="171880"/>
                    </a:lnTo>
                    <a:lnTo>
                      <a:pt x="489259" y="0"/>
                    </a:lnTo>
                    <a:lnTo>
                      <a:pt x="489259" y="146208"/>
                    </a:lnTo>
                    <a:cubicBezTo>
                      <a:pt x="489259" y="266303"/>
                      <a:pt x="683969" y="363657"/>
                      <a:pt x="924157" y="363658"/>
                    </a:cubicBezTo>
                    <a:cubicBezTo>
                      <a:pt x="1164347" y="363658"/>
                      <a:pt x="1359054" y="266303"/>
                      <a:pt x="1359054" y="14620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9D9D9"/>
                  </a:gs>
                  <a:gs pos="100000">
                    <a:srgbClr val="BCBCBC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77" name="Rounded Rectangle 24">
                <a:extLst>
                  <a:ext uri="{FF2B5EF4-FFF2-40B4-BE49-F238E27FC236}">
                    <a16:creationId xmlns:a16="http://schemas.microsoft.com/office/drawing/2014/main" id="{428322F0-A8EF-5B65-158E-8E1E189D042A}"/>
                  </a:ext>
                </a:extLst>
              </p:cNvPr>
              <p:cNvSpPr/>
              <p:nvPr/>
            </p:nvSpPr>
            <p:spPr>
              <a:xfrm>
                <a:off x="4838235" y="3886630"/>
                <a:ext cx="924157" cy="454528"/>
              </a:xfrm>
              <a:custGeom>
                <a:avLst/>
                <a:gdLst/>
                <a:ahLst/>
                <a:cxnLst/>
                <a:rect l="0" t="0" r="0" b="0"/>
                <a:pathLst>
                  <a:path w="924157" h="454528">
                    <a:moveTo>
                      <a:pt x="0" y="324662"/>
                    </a:moveTo>
                    <a:lnTo>
                      <a:pt x="924157" y="0"/>
                    </a:lnTo>
                    <a:lnTo>
                      <a:pt x="924157" y="129864"/>
                    </a:lnTo>
                    <a:lnTo>
                      <a:pt x="0" y="454528"/>
                    </a:lnTo>
                    <a:close/>
                  </a:path>
                </a:pathLst>
              </a:custGeom>
              <a:noFill/>
              <a:ln w="13590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78" name="Rounded Rectangle 25">
                <a:extLst>
                  <a:ext uri="{FF2B5EF4-FFF2-40B4-BE49-F238E27FC236}">
                    <a16:creationId xmlns:a16="http://schemas.microsoft.com/office/drawing/2014/main" id="{B0A50C4B-9CF5-B160-6011-ABB1A83BD574}"/>
                  </a:ext>
                </a:extLst>
              </p:cNvPr>
              <p:cNvSpPr/>
              <p:nvPr/>
            </p:nvSpPr>
            <p:spPr>
              <a:xfrm>
                <a:off x="3914078" y="3886630"/>
                <a:ext cx="924157" cy="454528"/>
              </a:xfrm>
              <a:custGeom>
                <a:avLst/>
                <a:gdLst/>
                <a:ahLst/>
                <a:cxnLst/>
                <a:rect l="0" t="0" r="0" b="0"/>
                <a:pathLst>
                  <a:path w="924157" h="454528">
                    <a:moveTo>
                      <a:pt x="924157" y="324662"/>
                    </a:moveTo>
                    <a:lnTo>
                      <a:pt x="924157" y="454528"/>
                    </a:lnTo>
                    <a:lnTo>
                      <a:pt x="0" y="12986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3590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79" name="Rounded Rectangle 26">
                <a:extLst>
                  <a:ext uri="{FF2B5EF4-FFF2-40B4-BE49-F238E27FC236}">
                    <a16:creationId xmlns:a16="http://schemas.microsoft.com/office/drawing/2014/main" id="{7A33B0DF-6C73-DFFD-9A28-E3546225C084}"/>
                  </a:ext>
                </a:extLst>
              </p:cNvPr>
              <p:cNvSpPr/>
              <p:nvPr/>
            </p:nvSpPr>
            <p:spPr>
              <a:xfrm>
                <a:off x="3914078" y="3714750"/>
                <a:ext cx="1848314" cy="496543"/>
              </a:xfrm>
              <a:custGeom>
                <a:avLst/>
                <a:gdLst/>
                <a:ahLst/>
                <a:cxnLst/>
                <a:rect l="0" t="0" r="0" b="0"/>
                <a:pathLst>
                  <a:path w="1848314" h="496543">
                    <a:moveTo>
                      <a:pt x="1359054" y="0"/>
                    </a:moveTo>
                    <a:lnTo>
                      <a:pt x="1848314" y="171880"/>
                    </a:lnTo>
                    <a:lnTo>
                      <a:pt x="924157" y="496543"/>
                    </a:lnTo>
                    <a:lnTo>
                      <a:pt x="0" y="171880"/>
                    </a:lnTo>
                    <a:lnTo>
                      <a:pt x="489259" y="0"/>
                    </a:lnTo>
                    <a:lnTo>
                      <a:pt x="489259" y="146208"/>
                    </a:lnTo>
                    <a:cubicBezTo>
                      <a:pt x="489259" y="266303"/>
                      <a:pt x="683969" y="363657"/>
                      <a:pt x="924157" y="363658"/>
                    </a:cubicBezTo>
                    <a:cubicBezTo>
                      <a:pt x="1164344" y="363658"/>
                      <a:pt x="1359054" y="266303"/>
                      <a:pt x="1359054" y="146209"/>
                    </a:cubicBezTo>
                    <a:close/>
                  </a:path>
                </a:pathLst>
              </a:custGeom>
              <a:noFill/>
              <a:ln w="13590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6492A13-14D0-73CA-ADDF-A96C7C327C92}"/>
                </a:ext>
              </a:extLst>
            </p:cNvPr>
            <p:cNvGrpSpPr/>
            <p:nvPr/>
          </p:nvGrpSpPr>
          <p:grpSpPr>
            <a:xfrm>
              <a:off x="5985417" y="2604961"/>
              <a:ext cx="869795" cy="1906300"/>
              <a:chOff x="4403337" y="2188985"/>
              <a:chExt cx="869795" cy="1906300"/>
            </a:xfrm>
          </p:grpSpPr>
          <p:sp>
            <p:nvSpPr>
              <p:cNvPr id="72" name="Rounded Rectangle 28">
                <a:extLst>
                  <a:ext uri="{FF2B5EF4-FFF2-40B4-BE49-F238E27FC236}">
                    <a16:creationId xmlns:a16="http://schemas.microsoft.com/office/drawing/2014/main" id="{559D02F9-510D-EF46-6904-2EDF6FD4C7D1}"/>
                  </a:ext>
                </a:extLst>
              </p:cNvPr>
              <p:cNvSpPr/>
              <p:nvPr/>
            </p:nvSpPr>
            <p:spPr>
              <a:xfrm>
                <a:off x="4403337" y="2188985"/>
                <a:ext cx="869795" cy="1906300"/>
              </a:xfrm>
              <a:custGeom>
                <a:avLst/>
                <a:gdLst/>
                <a:ahLst/>
                <a:cxnLst/>
                <a:rect l="0" t="0" r="0" b="0"/>
                <a:pathLst>
                  <a:path w="869795" h="1906300">
                    <a:moveTo>
                      <a:pt x="0" y="217448"/>
                    </a:moveTo>
                    <a:cubicBezTo>
                      <a:pt x="0" y="97355"/>
                      <a:pt x="194709" y="0"/>
                      <a:pt x="434897" y="0"/>
                    </a:cubicBezTo>
                    <a:cubicBezTo>
                      <a:pt x="675085" y="0"/>
                      <a:pt x="869795" y="97355"/>
                      <a:pt x="869795" y="217448"/>
                    </a:cubicBezTo>
                    <a:close/>
                    <a:moveTo>
                      <a:pt x="869795" y="1688851"/>
                    </a:moveTo>
                    <a:lnTo>
                      <a:pt x="0" y="1688851"/>
                    </a:lnTo>
                    <a:lnTo>
                      <a:pt x="0" y="217448"/>
                    </a:lnTo>
                    <a:lnTo>
                      <a:pt x="869795" y="217448"/>
                    </a:lnTo>
                    <a:close/>
                    <a:moveTo>
                      <a:pt x="0" y="1688851"/>
                    </a:moveTo>
                    <a:lnTo>
                      <a:pt x="869795" y="1688851"/>
                    </a:lnTo>
                    <a:cubicBezTo>
                      <a:pt x="869795" y="1808944"/>
                      <a:pt x="675085" y="1906300"/>
                      <a:pt x="434897" y="1906300"/>
                    </a:cubicBezTo>
                    <a:cubicBezTo>
                      <a:pt x="194709" y="1906300"/>
                      <a:pt x="0" y="1808944"/>
                      <a:pt x="0" y="168885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3FAC1"/>
                  </a:gs>
                  <a:gs pos="100000">
                    <a:srgbClr val="44E095"/>
                  </a:gs>
                </a:gsLst>
                <a:lin ang="5400000" scaled="1"/>
              </a:gra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  <p:sp>
            <p:nvSpPr>
              <p:cNvPr id="73" name="Rounded Rectangle 29">
                <a:extLst>
                  <a:ext uri="{FF2B5EF4-FFF2-40B4-BE49-F238E27FC236}">
                    <a16:creationId xmlns:a16="http://schemas.microsoft.com/office/drawing/2014/main" id="{03D65E71-B960-FDB6-D626-B5B116051A7C}"/>
                  </a:ext>
                </a:extLst>
              </p:cNvPr>
              <p:cNvSpPr/>
              <p:nvPr/>
            </p:nvSpPr>
            <p:spPr>
              <a:xfrm>
                <a:off x="4403337" y="2188985"/>
                <a:ext cx="869795" cy="1906300"/>
              </a:xfrm>
              <a:custGeom>
                <a:avLst/>
                <a:gdLst/>
                <a:ahLst/>
                <a:cxnLst/>
                <a:rect l="0" t="0" r="0" b="0"/>
                <a:pathLst>
                  <a:path w="869795" h="1906300">
                    <a:moveTo>
                      <a:pt x="869795" y="217448"/>
                    </a:moveTo>
                    <a:lnTo>
                      <a:pt x="869795" y="1688851"/>
                    </a:lnTo>
                    <a:moveTo>
                      <a:pt x="0" y="1688851"/>
                    </a:moveTo>
                    <a:lnTo>
                      <a:pt x="0" y="217448"/>
                    </a:lnTo>
                    <a:moveTo>
                      <a:pt x="869795" y="1688851"/>
                    </a:moveTo>
                    <a:cubicBezTo>
                      <a:pt x="869795" y="1808944"/>
                      <a:pt x="675085" y="1906300"/>
                      <a:pt x="434897" y="1906300"/>
                    </a:cubicBezTo>
                    <a:cubicBezTo>
                      <a:pt x="194709" y="1906300"/>
                      <a:pt x="0" y="1808944"/>
                      <a:pt x="0" y="1688851"/>
                    </a:cubicBezTo>
                    <a:moveTo>
                      <a:pt x="869795" y="217448"/>
                    </a:moveTo>
                    <a:cubicBezTo>
                      <a:pt x="869795" y="337542"/>
                      <a:pt x="675085" y="434897"/>
                      <a:pt x="434897" y="434897"/>
                    </a:cubicBezTo>
                    <a:cubicBezTo>
                      <a:pt x="194709" y="434897"/>
                      <a:pt x="0" y="337542"/>
                      <a:pt x="0" y="217448"/>
                    </a:cubicBezTo>
                    <a:cubicBezTo>
                      <a:pt x="0" y="97355"/>
                      <a:pt x="194709" y="0"/>
                      <a:pt x="434897" y="0"/>
                    </a:cubicBezTo>
                    <a:cubicBezTo>
                      <a:pt x="675085" y="0"/>
                      <a:pt x="869795" y="97355"/>
                      <a:pt x="869795" y="217448"/>
                    </a:cubicBezTo>
                    <a:close/>
                  </a:path>
                </a:pathLst>
              </a:custGeom>
              <a:noFill/>
              <a:ln w="13590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 sz="1000"/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63B134-649F-7C41-1188-F0959681A961}"/>
                </a:ext>
              </a:extLst>
            </p:cNvPr>
            <p:cNvSpPr txBox="1"/>
            <p:nvPr/>
          </p:nvSpPr>
          <p:spPr>
            <a:xfrm>
              <a:off x="3570700" y="868994"/>
              <a:ext cx="235160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00" b="0">
                  <a:solidFill>
                    <a:srgbClr val="484848"/>
                  </a:solidFill>
                  <a:latin typeface="Roboto"/>
                </a:rPr>
                <a:t>Business Benefits and ROI Improvements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D4D8ADD-DA1A-E330-E42A-F9142292237C}"/>
                </a:ext>
              </a:extLst>
            </p:cNvPr>
            <p:cNvSpPr txBox="1"/>
            <p:nvPr/>
          </p:nvSpPr>
          <p:spPr>
            <a:xfrm>
              <a:off x="4468278" y="1331978"/>
              <a:ext cx="24205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00" b="1">
                  <a:solidFill>
                    <a:srgbClr val="4E88E7"/>
                  </a:solidFill>
                  <a:latin typeface="Roboto"/>
                </a:rPr>
                <a:t>50%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44326B2-CE63-5684-AC24-8E16D15714EC}"/>
                </a:ext>
              </a:extLst>
            </p:cNvPr>
            <p:cNvSpPr txBox="1"/>
            <p:nvPr/>
          </p:nvSpPr>
          <p:spPr>
            <a:xfrm>
              <a:off x="6316593" y="2216271"/>
              <a:ext cx="24205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00" b="1">
                  <a:solidFill>
                    <a:srgbClr val="3CC583"/>
                  </a:solidFill>
                  <a:latin typeface="Roboto"/>
                </a:rPr>
                <a:t>40%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B0865CF-0135-9495-2E05-EB76733869A3}"/>
                </a:ext>
              </a:extLst>
            </p:cNvPr>
            <p:cNvSpPr txBox="1"/>
            <p:nvPr/>
          </p:nvSpPr>
          <p:spPr>
            <a:xfrm>
              <a:off x="2619964" y="2556940"/>
              <a:ext cx="24205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00" b="1">
                  <a:solidFill>
                    <a:srgbClr val="E55753"/>
                  </a:solidFill>
                  <a:latin typeface="Roboto"/>
                </a:rPr>
                <a:t>30%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3EC4B30-79A6-67B3-D118-59CCFF3BC0BC}"/>
                </a:ext>
              </a:extLst>
            </p:cNvPr>
            <p:cNvSpPr txBox="1"/>
            <p:nvPr/>
          </p:nvSpPr>
          <p:spPr>
            <a:xfrm>
              <a:off x="4217407" y="4255529"/>
              <a:ext cx="7437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00" b="1" dirty="0">
                  <a:solidFill>
                    <a:srgbClr val="484848"/>
                  </a:solidFill>
                  <a:latin typeface="Roboto"/>
                </a:rPr>
                <a:t>Mean Time to
Detect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B248B87-19B3-3FD2-F4D3-AFB689D3E29F}"/>
                </a:ext>
              </a:extLst>
            </p:cNvPr>
            <p:cNvSpPr txBox="1"/>
            <p:nvPr/>
          </p:nvSpPr>
          <p:spPr>
            <a:xfrm>
              <a:off x="668464" y="4707164"/>
              <a:ext cx="2531974" cy="6669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000" b="1" dirty="0">
                  <a:solidFill>
                    <a:srgbClr val="484848"/>
                  </a:solidFill>
                  <a:latin typeface="Roboto"/>
                </a:rPr>
                <a:t>Notification
Delivery Failures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58DB702-FF21-0439-B2CB-78D2E067059D}"/>
                </a:ext>
              </a:extLst>
            </p:cNvPr>
            <p:cNvSpPr txBox="1"/>
            <p:nvPr/>
          </p:nvSpPr>
          <p:spPr>
            <a:xfrm>
              <a:off x="4173326" y="4935000"/>
              <a:ext cx="10740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00" b="0" dirty="0">
                  <a:solidFill>
                    <a:srgbClr val="484848"/>
                  </a:solidFill>
                  <a:latin typeface="Roboto"/>
                </a:rPr>
                <a:t>Faster detection of
issues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0DE95F2-4759-3D88-1E78-BE434A0570CE}"/>
                </a:ext>
              </a:extLst>
            </p:cNvPr>
            <p:cNvSpPr txBox="1"/>
            <p:nvPr/>
          </p:nvSpPr>
          <p:spPr>
            <a:xfrm>
              <a:off x="6793371" y="4713383"/>
              <a:ext cx="323806" cy="153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00" b="1" dirty="0">
                  <a:solidFill>
                    <a:srgbClr val="484848"/>
                  </a:solidFill>
                  <a:latin typeface="Roboto"/>
                </a:rPr>
                <a:t>MTTD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E6913CD-EF3B-D09B-25FC-EB2B6E4810B9}"/>
                </a:ext>
              </a:extLst>
            </p:cNvPr>
            <p:cNvSpPr txBox="1"/>
            <p:nvPr/>
          </p:nvSpPr>
          <p:spPr>
            <a:xfrm>
              <a:off x="6640498" y="5024259"/>
              <a:ext cx="120064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00" b="0" dirty="0">
                  <a:solidFill>
                    <a:srgbClr val="484848"/>
                  </a:solidFill>
                  <a:latin typeface="Roboto"/>
                </a:rPr>
                <a:t>Shorter mean time to
detect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46DD3D6-D2D0-3248-5629-B5E0E1373387}"/>
                </a:ext>
              </a:extLst>
            </p:cNvPr>
            <p:cNvSpPr txBox="1"/>
            <p:nvPr/>
          </p:nvSpPr>
          <p:spPr>
            <a:xfrm>
              <a:off x="1276111" y="5454582"/>
              <a:ext cx="13865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000" b="0" dirty="0">
                  <a:solidFill>
                    <a:srgbClr val="484848"/>
                  </a:solidFill>
                  <a:latin typeface="Roboto"/>
                </a:rPr>
                <a:t>Reduction in delivery
failures across channels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4259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350</Words>
  <Application>Microsoft Office PowerPoint</Application>
  <PresentationFormat>On-screen Show (4:3)</PresentationFormat>
  <Paragraphs>80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Sabbu</dc:creator>
  <cp:keywords/>
  <dc:description>generated using python-pptx</dc:description>
  <cp:lastModifiedBy>Krishna Sabbu</cp:lastModifiedBy>
  <cp:revision>2</cp:revision>
  <dcterms:created xsi:type="dcterms:W3CDTF">2013-01-27T09:14:16Z</dcterms:created>
  <dcterms:modified xsi:type="dcterms:W3CDTF">2025-04-25T05:36:00Z</dcterms:modified>
  <cp:category/>
</cp:coreProperties>
</file>