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Quattrocen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C0FD5E-FBDE-4546-8840-4468F2901C8F}">
  <a:tblStyle styleId="{1BC0FD5E-FBDE-4546-8840-4468F2901C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QuattrocentoSa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7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1742" y="2378422"/>
            <a:ext cx="1928514" cy="2933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2786062"/>
            <a:ext cx="9001125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Engineering Enterprise AI Systems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450877"/>
            <a:ext cx="857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Evolution from Prompt Engineering to Autonomous Agent Platforms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203352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Enterprise AI is Evolving from Conversations to Intelligent Systems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4"/>
          <p:cNvGrpSpPr/>
          <p:nvPr/>
        </p:nvGrpSpPr>
        <p:grpSpPr>
          <a:xfrm>
            <a:off x="476250" y="1143000"/>
            <a:ext cx="2095500" cy="3048000"/>
            <a:chOff x="0" y="0"/>
            <a:chExt cx="2095500" cy="3048000"/>
          </a:xfrm>
        </p:grpSpPr>
        <p:sp>
          <p:nvSpPr>
            <p:cNvPr id="94" name="Google Shape;94;p14"/>
            <p:cNvSpPr/>
            <p:nvPr/>
          </p:nvSpPr>
          <p:spPr>
            <a:xfrm>
              <a:off x="0" y="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366F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01</a:t>
              </a:r>
              <a:endParaRPr b="1" sz="1000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Prompt Eng.</a:t>
              </a:r>
              <a:endParaRPr b="1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1" lang="en-US" sz="1100">
                  <a:solidFill>
                    <a:srgbClr val="312E81"/>
                  </a:solidFill>
                  <a:highlight>
                    <a:srgbClr val="EEF2F6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"How should I ask?"</a:t>
              </a:r>
              <a:endParaRPr b="1" i="1" sz="1100">
                <a:solidFill>
                  <a:srgbClr val="312E81"/>
                </a:solidFill>
                <a:highlight>
                  <a:srgbClr val="EEF2F6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Formatting input text for single LLM interaction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2762250" y="1143000"/>
            <a:ext cx="2095500" cy="3048000"/>
            <a:chOff x="0" y="0"/>
            <a:chExt cx="2095500" cy="3048000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0" y="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F46E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02</a:t>
              </a:r>
              <a:endParaRPr b="1" sz="100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Context Eng.</a:t>
              </a:r>
              <a:endParaRPr b="1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1" lang="en-US" sz="1100">
                  <a:solidFill>
                    <a:srgbClr val="312E81"/>
                  </a:solidFill>
                  <a:highlight>
                    <a:srgbClr val="EEF2F6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"What should AI know?"</a:t>
              </a:r>
              <a:endParaRPr b="1" i="1" sz="1100">
                <a:solidFill>
                  <a:srgbClr val="312E81"/>
                </a:solidFill>
                <a:highlight>
                  <a:srgbClr val="EEF2F6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RAG, repository embeddings, vector memory injection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5048250" y="1143000"/>
            <a:ext cx="2095500" cy="3048000"/>
            <a:chOff x="0" y="0"/>
            <a:chExt cx="2095500" cy="3048000"/>
          </a:xfrm>
        </p:grpSpPr>
        <p:sp>
          <p:nvSpPr>
            <p:cNvPr id="102" name="Google Shape;102;p14"/>
            <p:cNvSpPr/>
            <p:nvPr/>
          </p:nvSpPr>
          <p:spPr>
            <a:xfrm>
              <a:off x="0" y="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4338C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0" y="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338C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03</a:t>
              </a:r>
              <a:endParaRPr b="1" sz="1000">
                <a:solidFill>
                  <a:srgbClr val="4338C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Loop Eng.</a:t>
              </a:r>
              <a:endParaRPr b="1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1" lang="en-US" sz="1100">
                  <a:solidFill>
                    <a:srgbClr val="312E81"/>
                  </a:solidFill>
                  <a:highlight>
                    <a:srgbClr val="EEF2F6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"How should AI execute?"</a:t>
              </a:r>
              <a:endParaRPr b="1" i="1" sz="1100">
                <a:solidFill>
                  <a:srgbClr val="312E81"/>
                </a:solidFill>
                <a:highlight>
                  <a:srgbClr val="EEF2F6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Autonomous planning, execution, verification &amp; retries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7334250" y="1143000"/>
            <a:ext cx="2095500" cy="3048000"/>
            <a:chOff x="0" y="0"/>
            <a:chExt cx="2095500" cy="3048000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3730A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0" y="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730A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04</a:t>
              </a:r>
              <a:endParaRPr b="1" sz="1000">
                <a:solidFill>
                  <a:srgbClr val="3730A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Graph Eng.</a:t>
              </a:r>
              <a:endParaRPr b="1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1" lang="en-US" sz="1100">
                  <a:solidFill>
                    <a:srgbClr val="312E81"/>
                  </a:solidFill>
                  <a:highlight>
                    <a:srgbClr val="EEF2F6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"How should AI collaborate?"</a:t>
              </a:r>
              <a:endParaRPr b="1" i="1" sz="1100">
                <a:solidFill>
                  <a:srgbClr val="312E81"/>
                </a:solidFill>
                <a:highlight>
                  <a:srgbClr val="EEF2F6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Multi-agent teams, stateful graphs, shared execution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9620250" y="1143000"/>
            <a:ext cx="2095500" cy="3048000"/>
            <a:chOff x="0" y="0"/>
            <a:chExt cx="2095500" cy="3048000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2095500" cy="3048000"/>
            </a:xfrm>
            <a:prstGeom prst="roundRect">
              <a:avLst>
                <a:gd fmla="val 5454" name="adj"/>
              </a:avLst>
            </a:prstGeom>
            <a:solidFill>
              <a:srgbClr val="F5F3FF"/>
            </a:solidFill>
            <a:ln cap="flat" cmpd="sng" w="14300">
              <a:solidFill>
                <a:srgbClr val="DDD6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0" y="0"/>
              <a:ext cx="2095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B5C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05</a:t>
              </a:r>
              <a:endParaRPr b="1" sz="1000">
                <a:solidFill>
                  <a:srgbClr val="8B5C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AI Platform</a:t>
              </a:r>
              <a:endParaRPr b="1" sz="16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1" lang="en-US" sz="1100">
                  <a:solidFill>
                    <a:srgbClr val="1E1B4B"/>
                  </a:solidFill>
                  <a:highlight>
                    <a:srgbClr val="EDE9FE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"How to govern at scale?"</a:t>
              </a:r>
              <a:endParaRPr b="1" i="1" sz="1100">
                <a:solidFill>
                  <a:srgbClr val="1E1B4B"/>
                </a:solidFill>
                <a:highlight>
                  <a:srgbClr val="EDE9FE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B556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Governance, observability, security, and enterprise policies</a:t>
              </a:r>
              <a:endParaRPr b="0" sz="1100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476250" y="4476750"/>
            <a:ext cx="5476800" cy="1714500"/>
            <a:chOff x="0" y="0"/>
            <a:chExt cx="5476800" cy="1714500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5476800" cy="17145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0" y="0"/>
              <a:ext cx="228600" cy="1714500"/>
            </a:xfrm>
            <a:custGeom>
              <a:rect b="b" l="l" r="r" t="t"/>
              <a:pathLst>
                <a:path extrusionOk="0" h="120000" w="120000">
                  <a:moveTo>
                    <a:pt x="0" y="10667"/>
                  </a:moveTo>
                  <a:cubicBezTo>
                    <a:pt x="0" y="4773"/>
                    <a:pt x="35800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35800" y="120000"/>
                    <a:pt x="0" y="115227"/>
                    <a:pt x="0" y="109333"/>
                  </a:cubicBez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0" y="0"/>
              <a:ext cx="54768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4191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12E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Enterprise Lens</a:t>
              </a:r>
              <a:endParaRPr b="1" sz="1600">
                <a:solidFill>
                  <a:srgbClr val="312E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Mirrors traditional software: Monoliths </a:t>
              </a:r>
              <a:r>
                <a:rPr b="0" lang="en-US" sz="1150">
                  <a:solidFill>
                    <a:srgbClr val="6366F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Microservices </a:t>
              </a:r>
              <a:r>
                <a:rPr b="0" lang="en-US" sz="1150">
                  <a:solidFill>
                    <a:srgbClr val="6366F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Cloud Native </a:t>
              </a:r>
              <a:r>
                <a:rPr b="0" lang="en-US" sz="1150">
                  <a:solidFill>
                    <a:srgbClr val="6366F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Platform Engineering.</a:t>
              </a:r>
              <a:endParaRPr b="0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6238875" y="4476750"/>
            <a:ext cx="5476800" cy="1714500"/>
            <a:chOff x="0" y="0"/>
            <a:chExt cx="5476800" cy="1714500"/>
          </a:xfrm>
        </p:grpSpPr>
        <p:sp>
          <p:nvSpPr>
            <p:cNvPr id="118" name="Google Shape;118;p14"/>
            <p:cNvSpPr/>
            <p:nvPr/>
          </p:nvSpPr>
          <p:spPr>
            <a:xfrm>
              <a:off x="0" y="0"/>
              <a:ext cx="5476800" cy="1714500"/>
            </a:xfrm>
            <a:prstGeom prst="roundRect">
              <a:avLst>
                <a:gd fmla="val 8888" name="adj"/>
              </a:avLst>
            </a:prstGeom>
            <a:solidFill>
              <a:srgbClr val="F5F3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0" y="0"/>
              <a:ext cx="228600" cy="1714500"/>
            </a:xfrm>
            <a:custGeom>
              <a:rect b="b" l="l" r="r" t="t"/>
              <a:pathLst>
                <a:path extrusionOk="0" h="120000" w="120000">
                  <a:moveTo>
                    <a:pt x="0" y="10667"/>
                  </a:moveTo>
                  <a:cubicBezTo>
                    <a:pt x="0" y="4773"/>
                    <a:pt x="35800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35800" y="120000"/>
                    <a:pt x="0" y="115227"/>
                    <a:pt x="0" y="109333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0" y="0"/>
              <a:ext cx="54768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4191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8B5C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Key Takeaway</a:t>
              </a:r>
              <a:endParaRPr b="1" sz="1600">
                <a:solidFill>
                  <a:srgbClr val="8B5C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B556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Each discipline builds directly on top of the capabilities of the previous one rather than replacing it.</a:t>
              </a:r>
              <a:endParaRPr b="0" sz="1150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21" name="Google Shape;121;p14"/>
          <p:cNvSpPr txBox="1"/>
          <p:nvPr/>
        </p:nvSpPr>
        <p:spPr>
          <a:xfrm>
            <a:off x="476250" y="381000"/>
            <a:ext cx="117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Evolution of AI Engineering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476250" y="822870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2152650" y="1428750"/>
            <a:ext cx="228600" cy="20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87273"/>
                </a:lnTo>
                <a:lnTo>
                  <a:pt x="50000" y="87273"/>
                </a:lnTo>
                <a:lnTo>
                  <a:pt x="20000" y="120000"/>
                </a:lnTo>
                <a:lnTo>
                  <a:pt x="20000" y="87273"/>
                </a:lnTo>
                <a:lnTo>
                  <a:pt x="0" y="8727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14"/>
          <p:cNvGrpSpPr/>
          <p:nvPr/>
        </p:nvGrpSpPr>
        <p:grpSpPr>
          <a:xfrm>
            <a:off x="4457700" y="1409700"/>
            <a:ext cx="190500" cy="228600"/>
            <a:chOff x="57150" y="38100"/>
            <a:chExt cx="190500" cy="228600"/>
          </a:xfrm>
        </p:grpSpPr>
        <p:sp>
          <p:nvSpPr>
            <p:cNvPr id="125" name="Google Shape;125;p14"/>
            <p:cNvSpPr/>
            <p:nvPr/>
          </p:nvSpPr>
          <p:spPr>
            <a:xfrm>
              <a:off x="57150" y="38100"/>
              <a:ext cx="190500" cy="762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4F46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7150" y="7620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48000"/>
                  </a:lnTo>
                  <a:cubicBezTo>
                    <a:pt x="0" y="61200"/>
                    <a:pt x="27000" y="72000"/>
                    <a:pt x="60000" y="72000"/>
                  </a:cubicBezTo>
                  <a:lnTo>
                    <a:pt x="120000" y="61200"/>
                  </a:lnTo>
                  <a:lnTo>
                    <a:pt x="120000" y="48000"/>
                  </a:lnTo>
                  <a:lnTo>
                    <a:pt x="120000" y="0"/>
                  </a:lnTo>
                  <a:moveTo>
                    <a:pt x="0" y="48000"/>
                  </a:moveTo>
                  <a:lnTo>
                    <a:pt x="0" y="96000"/>
                  </a:lnTo>
                  <a:cubicBezTo>
                    <a:pt x="0" y="109200"/>
                    <a:pt x="27000" y="120000"/>
                    <a:pt x="60000" y="120000"/>
                  </a:cubicBezTo>
                  <a:lnTo>
                    <a:pt x="120000" y="109200"/>
                  </a:lnTo>
                  <a:lnTo>
                    <a:pt x="120000" y="96000"/>
                  </a:lnTo>
                  <a:lnTo>
                    <a:pt x="120000" y="48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F46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4"/>
          <p:cNvSpPr/>
          <p:nvPr/>
        </p:nvSpPr>
        <p:spPr>
          <a:xfrm>
            <a:off x="6743701" y="1400175"/>
            <a:ext cx="190500" cy="219600"/>
          </a:xfrm>
          <a:custGeom>
            <a:rect b="b" l="l" r="r" t="t"/>
            <a:pathLst>
              <a:path extrusionOk="0" h="120000" w="120000">
                <a:moveTo>
                  <a:pt x="120000" y="67710"/>
                </a:moveTo>
                <a:cubicBezTo>
                  <a:pt x="120102" y="90248"/>
                  <a:pt x="103494" y="110286"/>
                  <a:pt x="78845" y="117364"/>
                </a:cubicBezTo>
                <a:cubicBezTo>
                  <a:pt x="54196" y="124443"/>
                  <a:pt x="27099" y="116956"/>
                  <a:pt x="11697" y="98812"/>
                </a:cubicBezTo>
                <a:cubicBezTo>
                  <a:pt x="-3704" y="80668"/>
                  <a:pt x="-3915" y="55983"/>
                  <a:pt x="11175" y="37643"/>
                </a:cubicBezTo>
                <a:cubicBezTo>
                  <a:pt x="26265" y="19303"/>
                  <a:pt x="53232" y="11469"/>
                  <a:pt x="78000" y="18230"/>
                </a:cubicBezTo>
                <a:moveTo>
                  <a:pt x="54000" y="0"/>
                </a:moveTo>
                <a:lnTo>
                  <a:pt x="84000" y="0"/>
                </a:lnTo>
                <a:lnTo>
                  <a:pt x="84000" y="26042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4338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" name="Google Shape;128;p14"/>
          <p:cNvGrpSpPr/>
          <p:nvPr/>
        </p:nvGrpSpPr>
        <p:grpSpPr>
          <a:xfrm>
            <a:off x="9010650" y="1409700"/>
            <a:ext cx="228600" cy="209550"/>
            <a:chOff x="38100" y="38100"/>
            <a:chExt cx="228600" cy="209550"/>
          </a:xfrm>
        </p:grpSpPr>
        <p:sp>
          <p:nvSpPr>
            <p:cNvPr id="129" name="Google Shape;129;p14"/>
            <p:cNvSpPr/>
            <p:nvPr/>
          </p:nvSpPr>
          <p:spPr>
            <a:xfrm>
              <a:off x="114300" y="38100"/>
              <a:ext cx="76200" cy="762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730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8100" y="171450"/>
              <a:ext cx="76200" cy="762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730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190500" y="171450"/>
              <a:ext cx="76200" cy="762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730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" name="Google Shape;132;p14"/>
            <p:cNvCxnSpPr/>
            <p:nvPr/>
          </p:nvCxnSpPr>
          <p:spPr>
            <a:xfrm flipH="1">
              <a:off x="100088" y="109538"/>
              <a:ext cx="28500" cy="666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3730A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14"/>
            <p:cNvCxnSpPr/>
            <p:nvPr/>
          </p:nvCxnSpPr>
          <p:spPr>
            <a:xfrm>
              <a:off x="176213" y="109538"/>
              <a:ext cx="28500" cy="666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3730A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14"/>
            <p:cNvCxnSpPr/>
            <p:nvPr/>
          </p:nvCxnSpPr>
          <p:spPr>
            <a:xfrm>
              <a:off x="114300" y="20955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3730A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5" name="Google Shape;135;p14"/>
          <p:cNvSpPr/>
          <p:nvPr/>
        </p:nvSpPr>
        <p:spPr>
          <a:xfrm>
            <a:off x="11315700" y="1400175"/>
            <a:ext cx="190500" cy="238200"/>
          </a:xfrm>
          <a:custGeom>
            <a:rect b="b" l="l" r="r" t="t"/>
            <a:pathLst>
              <a:path extrusionOk="0" h="120000" w="120000">
                <a:moveTo>
                  <a:pt x="0" y="14400"/>
                </a:moveTo>
                <a:lnTo>
                  <a:pt x="60000" y="0"/>
                </a:lnTo>
                <a:lnTo>
                  <a:pt x="120000" y="14400"/>
                </a:lnTo>
                <a:lnTo>
                  <a:pt x="120000" y="62400"/>
                </a:lnTo>
                <a:cubicBezTo>
                  <a:pt x="120000" y="91200"/>
                  <a:pt x="60000" y="120000"/>
                  <a:pt x="60000" y="120000"/>
                </a:cubicBezTo>
                <a:lnTo>
                  <a:pt x="0" y="91200"/>
                </a:lnTo>
                <a:lnTo>
                  <a:pt x="0" y="624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5534025" y="4743450"/>
            <a:ext cx="228600" cy="22860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lnTo>
                  <a:pt x="0" y="30000"/>
                </a:lnTo>
                <a:lnTo>
                  <a:pt x="60000" y="0"/>
                </a:lnTo>
                <a:lnTo>
                  <a:pt x="120000" y="30000"/>
                </a:lnTo>
                <a:lnTo>
                  <a:pt x="120000" y="120000"/>
                </a:lnTo>
                <a:moveTo>
                  <a:pt x="30000" y="60000"/>
                </a:moveTo>
                <a:lnTo>
                  <a:pt x="50000" y="60000"/>
                </a:lnTo>
                <a:moveTo>
                  <a:pt x="30000" y="90000"/>
                </a:moveTo>
                <a:lnTo>
                  <a:pt x="50000" y="90000"/>
                </a:lnTo>
                <a:moveTo>
                  <a:pt x="70000" y="60000"/>
                </a:moveTo>
                <a:lnTo>
                  <a:pt x="90000" y="60000"/>
                </a:lnTo>
                <a:moveTo>
                  <a:pt x="70000" y="90000"/>
                </a:moveTo>
                <a:lnTo>
                  <a:pt x="90000" y="9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4"/>
          <p:cNvGrpSpPr/>
          <p:nvPr/>
        </p:nvGrpSpPr>
        <p:grpSpPr>
          <a:xfrm>
            <a:off x="11306175" y="4762500"/>
            <a:ext cx="199913" cy="200025"/>
            <a:chOff x="47625" y="57150"/>
            <a:chExt cx="199913" cy="200025"/>
          </a:xfrm>
        </p:grpSpPr>
        <p:sp>
          <p:nvSpPr>
            <p:cNvPr id="138" name="Google Shape;138;p14"/>
            <p:cNvSpPr/>
            <p:nvPr/>
          </p:nvSpPr>
          <p:spPr>
            <a:xfrm>
              <a:off x="47625" y="142875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47638" y="57150"/>
              <a:ext cx="99900" cy="999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0"/>
                  </a:lnTo>
                  <a:moveTo>
                    <a:pt x="62857" y="57143"/>
                  </a:moveTo>
                  <a:lnTo>
                    <a:pt x="97143" y="91429"/>
                  </a:lnTo>
                  <a:moveTo>
                    <a:pt x="85714" y="34286"/>
                  </a:moveTo>
                  <a:lnTo>
                    <a:pt x="120000" y="68571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5"/>
          <p:cNvGrpSpPr/>
          <p:nvPr/>
        </p:nvGrpSpPr>
        <p:grpSpPr>
          <a:xfrm>
            <a:off x="476250" y="1238250"/>
            <a:ext cx="5334000" cy="3571800"/>
            <a:chOff x="0" y="0"/>
            <a:chExt cx="5334000" cy="3571800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5334000" cy="3571800"/>
            </a:xfrm>
            <a:prstGeom prst="roundRect">
              <a:avLst>
                <a:gd fmla="val 42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333375" y="285750"/>
              <a:ext cx="952500" cy="2478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5"/>
            <p:cNvSpPr txBox="1"/>
            <p:nvPr/>
          </p:nvSpPr>
          <p:spPr>
            <a:xfrm>
              <a:off x="333375" y="285750"/>
              <a:ext cx="952500" cy="2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YESTERDAY</a:t>
              </a:r>
              <a:endParaRPr b="1" sz="12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" name="Google Shape;148;p15"/>
            <p:cNvSpPr txBox="1"/>
            <p:nvPr/>
          </p:nvSpPr>
          <p:spPr>
            <a:xfrm>
              <a:off x="333375" y="714375"/>
              <a:ext cx="46674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Traditional Conversational AI</a:t>
              </a:r>
              <a:endParaRPr b="1" sz="24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34155"/>
                  </a:solidFill>
                  <a:highlight>
                    <a:srgbClr val="F1F5F9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Workflow: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Developer </a:t>
              </a:r>
              <a:r>
                <a:rPr b="0" lang="en-US" sz="120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Prompt </a:t>
              </a:r>
              <a:r>
                <a:rPr b="0" lang="en-US" sz="120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LLM </a:t>
              </a:r>
              <a:r>
                <a:rPr b="0" lang="en-US" sz="120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Response</a:t>
              </a:r>
              <a:endParaRPr b="1" sz="12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Stateless conversations</a:t>
              </a:r>
              <a:endParaRPr b="0" sz="14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Single-shot text generation</a:t>
              </a:r>
              <a:endParaRPr b="0" sz="14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Human drives every iteration step</a:t>
              </a:r>
              <a:endParaRPr b="0" sz="14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9" name="Google Shape;149;p15"/>
          <p:cNvGrpSpPr/>
          <p:nvPr/>
        </p:nvGrpSpPr>
        <p:grpSpPr>
          <a:xfrm>
            <a:off x="6381750" y="1238250"/>
            <a:ext cx="5334000" cy="3571800"/>
            <a:chOff x="0" y="0"/>
            <a:chExt cx="5334000" cy="3571800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5334000" cy="3571800"/>
            </a:xfrm>
            <a:prstGeom prst="roundRect">
              <a:avLst>
                <a:gd fmla="val 4266" name="adj"/>
              </a:avLst>
            </a:prstGeom>
            <a:solidFill>
              <a:srgbClr val="F5F3FF"/>
            </a:solidFill>
            <a:ln cap="flat" cmpd="sng" w="19050">
              <a:solidFill>
                <a:srgbClr val="DDD6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333375" y="285750"/>
              <a:ext cx="762000" cy="2478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 txBox="1"/>
            <p:nvPr/>
          </p:nvSpPr>
          <p:spPr>
            <a:xfrm>
              <a:off x="333375" y="285750"/>
              <a:ext cx="762000" cy="2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TODAY</a:t>
              </a:r>
              <a:endParaRPr b="1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" name="Google Shape;153;p15"/>
            <p:cNvSpPr txBox="1"/>
            <p:nvPr/>
          </p:nvSpPr>
          <p:spPr>
            <a:xfrm>
              <a:off x="333375" y="714375"/>
              <a:ext cx="46674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Modern Autonomous Worker</a:t>
              </a:r>
              <a:endParaRPr b="1" sz="24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12E81"/>
                  </a:solidFill>
                  <a:highlight>
                    <a:srgbClr val="EDE9FE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Workflow: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Goal </a:t>
              </a:r>
              <a:r>
                <a:rPr b="0" lang="en-US" sz="1200">
                  <a:solidFill>
                    <a:srgbClr val="818CF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Plan </a:t>
              </a:r>
              <a:r>
                <a:rPr b="0" lang="en-US" sz="1200">
                  <a:solidFill>
                    <a:srgbClr val="818CF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Mem </a:t>
              </a:r>
              <a:r>
                <a:rPr b="0" lang="en-US" sz="1200">
                  <a:solidFill>
                    <a:srgbClr val="818CF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Tools </a:t>
              </a:r>
              <a:r>
                <a:rPr b="0" lang="en-US" sz="1200">
                  <a:solidFill>
                    <a:srgbClr val="818CF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Exec </a:t>
              </a:r>
              <a:r>
                <a:rPr b="0" lang="en-US" sz="1200">
                  <a:solidFill>
                    <a:srgbClr val="818CF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Verify </a:t>
              </a:r>
              <a:r>
                <a:rPr b="0" lang="en-US" sz="1200">
                  <a:solidFill>
                    <a:srgbClr val="818CF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Retry</a:t>
              </a:r>
              <a:endParaRPr b="1" sz="12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Stateful autonomous worker</a:t>
              </a:r>
              <a:endParaRPr b="0" sz="14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Outcome &amp; workflow focused</a:t>
              </a:r>
              <a:endParaRPr b="0" sz="14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Executes and validates autonomously</a:t>
              </a:r>
              <a:endParaRPr b="0" sz="14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476250" y="5000625"/>
            <a:ext cx="11239500" cy="1333500"/>
            <a:chOff x="0" y="0"/>
            <a:chExt cx="11239500" cy="1333500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11239500" cy="1333500"/>
            </a:xfrm>
            <a:prstGeom prst="roundRect">
              <a:avLst>
                <a:gd fmla="val 11428" name="adj"/>
              </a:avLst>
            </a:prstGeom>
            <a:solidFill>
              <a:srgbClr val="F5F3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0" y="0"/>
              <a:ext cx="190500" cy="1333500"/>
            </a:xfrm>
            <a:custGeom>
              <a:rect b="b" l="l" r="r" t="t"/>
              <a:pathLst>
                <a:path extrusionOk="0" h="120000" w="120000">
                  <a:moveTo>
                    <a:pt x="0" y="13714"/>
                  </a:moveTo>
                  <a:cubicBezTo>
                    <a:pt x="1" y="6140"/>
                    <a:pt x="42981" y="0"/>
                    <a:pt x="96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6000" y="120000"/>
                  </a:lnTo>
                  <a:cubicBezTo>
                    <a:pt x="70539" y="120000"/>
                    <a:pt x="46121" y="118555"/>
                    <a:pt x="28118" y="115983"/>
                  </a:cubicBezTo>
                  <a:cubicBezTo>
                    <a:pt x="10114" y="113411"/>
                    <a:pt x="0" y="109923"/>
                    <a:pt x="0" y="106286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447675" y="504825"/>
              <a:ext cx="247800" cy="3333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1000125" y="238125"/>
              <a:ext cx="9906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Architect's Insight</a:t>
              </a:r>
              <a:endParaRPr b="1" sz="16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B556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Enterprise AI spends significantly more effort executing, validating and recovering than generating its first response.</a:t>
              </a:r>
              <a:endParaRPr b="1" sz="13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59" name="Google Shape;159;p15"/>
          <p:cNvSpPr txBox="1"/>
          <p:nvPr/>
        </p:nvSpPr>
        <p:spPr>
          <a:xfrm>
            <a:off x="476250" y="381000"/>
            <a:ext cx="117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Has Moved Beyond Chat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476250" y="822870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16"/>
          <p:cNvGrpSpPr/>
          <p:nvPr/>
        </p:nvGrpSpPr>
        <p:grpSpPr>
          <a:xfrm>
            <a:off x="476250" y="1333500"/>
            <a:ext cx="4191000" cy="4667400"/>
            <a:chOff x="0" y="0"/>
            <a:chExt cx="4191000" cy="4667400"/>
          </a:xfrm>
        </p:grpSpPr>
        <p:sp>
          <p:nvSpPr>
            <p:cNvPr id="167" name="Google Shape;167;p16"/>
            <p:cNvSpPr/>
            <p:nvPr/>
          </p:nvSpPr>
          <p:spPr>
            <a:xfrm>
              <a:off x="0" y="0"/>
              <a:ext cx="4191000" cy="4667400"/>
            </a:xfrm>
            <a:prstGeom prst="roundRect">
              <a:avLst>
                <a:gd fmla="val 3636" name="adj"/>
              </a:avLst>
            </a:prstGeom>
            <a:solidFill>
              <a:srgbClr val="F5F3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" name="Google Shape;168;p16"/>
            <p:cNvGrpSpPr/>
            <p:nvPr/>
          </p:nvGrpSpPr>
          <p:grpSpPr>
            <a:xfrm>
              <a:off x="285750" y="333375"/>
              <a:ext cx="1238400" cy="266700"/>
              <a:chOff x="0" y="0"/>
              <a:chExt cx="1238400" cy="266700"/>
            </a:xfrm>
          </p:grpSpPr>
          <p:sp>
            <p:nvSpPr>
              <p:cNvPr id="169" name="Google Shape;169;p16"/>
              <p:cNvSpPr/>
              <p:nvPr/>
            </p:nvSpPr>
            <p:spPr>
              <a:xfrm>
                <a:off x="0" y="0"/>
                <a:ext cx="12384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8B5C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6"/>
              <p:cNvSpPr txBox="1"/>
              <p:nvPr/>
            </p:nvSpPr>
            <p:spPr>
              <a:xfrm>
                <a:off x="0" y="0"/>
                <a:ext cx="12384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Workflow Reality</a:t>
                </a:r>
                <a:endParaRPr b="1" sz="9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71" name="Google Shape;171;p16"/>
            <p:cNvSpPr txBox="1"/>
            <p:nvPr/>
          </p:nvSpPr>
          <p:spPr>
            <a:xfrm>
              <a:off x="285750" y="809625"/>
              <a:ext cx="36195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40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10%</a:t>
              </a:r>
              <a:endParaRPr b="1" sz="84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Writing Code</a:t>
              </a:r>
              <a:endParaRPr b="1" sz="18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B556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Writing code represents only a tiny fraction of the actual software engineering lifecycle.</a:t>
              </a:r>
              <a:endParaRPr b="0" sz="1350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5B21B6"/>
                  </a:solidFill>
                  <a:highlight>
                    <a:srgbClr val="FFFFFF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The 90% Execution Gap</a:t>
              </a:r>
              <a:endParaRPr b="1" sz="1150">
                <a:solidFill>
                  <a:srgbClr val="5B21B6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highlight>
                    <a:srgbClr val="FFFFFF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The remaining effort is spent on engineering execution—integrating, testing, fixing, and deploying.</a:t>
              </a:r>
              <a:endParaRPr b="0" sz="1100">
                <a:solidFill>
                  <a:srgbClr val="475569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72" name="Google Shape;172;p16"/>
          <p:cNvSpPr txBox="1"/>
          <p:nvPr/>
        </p:nvSpPr>
        <p:spPr>
          <a:xfrm>
            <a:off x="5143500" y="1333500"/>
            <a:ext cx="65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Beyond Code Generation</a:t>
            </a:r>
            <a:endParaRPr b="1" sz="2000">
              <a:solidFill>
                <a:srgbClr val="1E1B4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Asking AI to </a:t>
            </a:r>
            <a:r>
              <a:rPr b="1" i="1" lang="en-US" sz="1150">
                <a:solidFill>
                  <a:srgbClr val="312E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"Upgrade Spring Boot &amp; Raise PR"</a:t>
            </a:r>
            <a:r>
              <a:rPr b="0" lang="en-US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requires a complete engineering pipeline:</a:t>
            </a:r>
            <a:endParaRPr b="0" sz="11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73" name="Google Shape;173;p16"/>
          <p:cNvGrpSpPr/>
          <p:nvPr/>
        </p:nvGrpSpPr>
        <p:grpSpPr>
          <a:xfrm>
            <a:off x="5143500" y="2238375"/>
            <a:ext cx="6572400" cy="3667200"/>
            <a:chOff x="0" y="0"/>
            <a:chExt cx="6572400" cy="3667200"/>
          </a:xfrm>
        </p:grpSpPr>
        <p:grpSp>
          <p:nvGrpSpPr>
            <p:cNvPr id="174" name="Google Shape;174;p16"/>
            <p:cNvGrpSpPr/>
            <p:nvPr/>
          </p:nvGrpSpPr>
          <p:grpSpPr>
            <a:xfrm>
              <a:off x="0" y="0"/>
              <a:ext cx="6572400" cy="809700"/>
              <a:chOff x="0" y="0"/>
              <a:chExt cx="6572400" cy="809700"/>
            </a:xfrm>
          </p:grpSpPr>
          <p:sp>
            <p:nvSpPr>
              <p:cNvPr id="175" name="Google Shape;175;p16"/>
              <p:cNvSpPr/>
              <p:nvPr/>
            </p:nvSpPr>
            <p:spPr>
              <a:xfrm>
                <a:off x="0" y="0"/>
                <a:ext cx="65724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6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7" name="Google Shape;177;p16"/>
              <p:cNvGrpSpPr/>
              <p:nvPr/>
            </p:nvGrpSpPr>
            <p:grpSpPr>
              <a:xfrm>
                <a:off x="228600" y="209550"/>
                <a:ext cx="381000" cy="381000"/>
                <a:chOff x="0" y="0"/>
                <a:chExt cx="381000" cy="381000"/>
              </a:xfrm>
            </p:grpSpPr>
            <p:sp>
              <p:nvSpPr>
                <p:cNvPr id="178" name="Google Shape;178;p16"/>
                <p:cNvSpPr/>
                <p:nvPr/>
              </p:nvSpPr>
              <p:spPr>
                <a:xfrm>
                  <a:off x="0" y="0"/>
                  <a:ext cx="381000" cy="381000"/>
                </a:xfrm>
                <a:prstGeom prst="ellipse">
                  <a:avLst/>
                </a:prstGeom>
                <a:solidFill>
                  <a:srgbClr val="EEF2F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" name="Google Shape;179;p16"/>
                <p:cNvSpPr txBox="1"/>
                <p:nvPr/>
              </p:nvSpPr>
              <p:spPr>
                <a:xfrm>
                  <a:off x="0" y="0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6366F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01</a:t>
                  </a:r>
                  <a:endParaRPr b="1" sz="1200">
                    <a:solidFill>
                      <a:srgbClr val="6366F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80" name="Google Shape;180;p16"/>
              <p:cNvSpPr txBox="1"/>
              <p:nvPr/>
            </p:nvSpPr>
            <p:spPr>
              <a:xfrm>
                <a:off x="800100" y="0"/>
                <a:ext cx="5524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1B4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Understand Architecture &amp; Build Setup</a:t>
                </a:r>
                <a:endParaRPr b="1" sz="13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Analyzing codebase structure, dependencies, and configuration mapping.</a:t>
                </a:r>
                <a:endParaRPr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81" name="Google Shape;181;p16"/>
            <p:cNvGrpSpPr/>
            <p:nvPr/>
          </p:nvGrpSpPr>
          <p:grpSpPr>
            <a:xfrm>
              <a:off x="0" y="952500"/>
              <a:ext cx="6572400" cy="809700"/>
              <a:chOff x="0" y="0"/>
              <a:chExt cx="6572400" cy="809700"/>
            </a:xfrm>
          </p:grpSpPr>
          <p:sp>
            <p:nvSpPr>
              <p:cNvPr id="182" name="Google Shape;182;p16"/>
              <p:cNvSpPr/>
              <p:nvPr/>
            </p:nvSpPr>
            <p:spPr>
              <a:xfrm>
                <a:off x="0" y="0"/>
                <a:ext cx="65724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6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4" name="Google Shape;184;p16"/>
              <p:cNvGrpSpPr/>
              <p:nvPr/>
            </p:nvGrpSpPr>
            <p:grpSpPr>
              <a:xfrm>
                <a:off x="228600" y="209550"/>
                <a:ext cx="381000" cy="381000"/>
                <a:chOff x="0" y="0"/>
                <a:chExt cx="381000" cy="381000"/>
              </a:xfrm>
            </p:grpSpPr>
            <p:sp>
              <p:nvSpPr>
                <p:cNvPr id="185" name="Google Shape;185;p16"/>
                <p:cNvSpPr/>
                <p:nvPr/>
              </p:nvSpPr>
              <p:spPr>
                <a:xfrm>
                  <a:off x="0" y="0"/>
                  <a:ext cx="381000" cy="381000"/>
                </a:xfrm>
                <a:prstGeom prst="ellipse">
                  <a:avLst/>
                </a:prstGeom>
                <a:solidFill>
                  <a:srgbClr val="EEF2F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" name="Google Shape;186;p16"/>
                <p:cNvSpPr txBox="1"/>
                <p:nvPr/>
              </p:nvSpPr>
              <p:spPr>
                <a:xfrm>
                  <a:off x="0" y="0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6366F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02</a:t>
                  </a:r>
                  <a:endParaRPr b="1" sz="1200">
                    <a:solidFill>
                      <a:srgbClr val="6366F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87" name="Google Shape;187;p16"/>
              <p:cNvSpPr txBox="1"/>
              <p:nvPr/>
            </p:nvSpPr>
            <p:spPr>
              <a:xfrm>
                <a:off x="800100" y="0"/>
                <a:ext cx="5524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1B4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Upgrade Dependencies &amp; Fix Compilation</a:t>
                </a:r>
                <a:endParaRPr b="1" sz="13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Resolving version mismatches and fixing broken imports or deprecated APIs.</a:t>
                </a:r>
                <a:endParaRPr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88" name="Google Shape;188;p16"/>
            <p:cNvGrpSpPr/>
            <p:nvPr/>
          </p:nvGrpSpPr>
          <p:grpSpPr>
            <a:xfrm>
              <a:off x="0" y="1905000"/>
              <a:ext cx="6572400" cy="809700"/>
              <a:chOff x="0" y="0"/>
              <a:chExt cx="6572400" cy="809700"/>
            </a:xfrm>
          </p:grpSpPr>
          <p:sp>
            <p:nvSpPr>
              <p:cNvPr id="189" name="Google Shape;189;p16"/>
              <p:cNvSpPr/>
              <p:nvPr/>
            </p:nvSpPr>
            <p:spPr>
              <a:xfrm>
                <a:off x="0" y="0"/>
                <a:ext cx="65724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6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1" name="Google Shape;191;p16"/>
              <p:cNvGrpSpPr/>
              <p:nvPr/>
            </p:nvGrpSpPr>
            <p:grpSpPr>
              <a:xfrm>
                <a:off x="228600" y="209550"/>
                <a:ext cx="381000" cy="381000"/>
                <a:chOff x="0" y="0"/>
                <a:chExt cx="381000" cy="381000"/>
              </a:xfrm>
            </p:grpSpPr>
            <p:sp>
              <p:nvSpPr>
                <p:cNvPr id="192" name="Google Shape;192;p16"/>
                <p:cNvSpPr/>
                <p:nvPr/>
              </p:nvSpPr>
              <p:spPr>
                <a:xfrm>
                  <a:off x="0" y="0"/>
                  <a:ext cx="381000" cy="381000"/>
                </a:xfrm>
                <a:prstGeom prst="ellipse">
                  <a:avLst/>
                </a:prstGeom>
                <a:solidFill>
                  <a:srgbClr val="EEF2F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" name="Google Shape;193;p16"/>
                <p:cNvSpPr txBox="1"/>
                <p:nvPr/>
              </p:nvSpPr>
              <p:spPr>
                <a:xfrm>
                  <a:off x="0" y="0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6366F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03</a:t>
                  </a:r>
                  <a:endParaRPr b="1" sz="1200">
                    <a:solidFill>
                      <a:srgbClr val="6366F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94" name="Google Shape;194;p16"/>
              <p:cNvSpPr txBox="1"/>
              <p:nvPr/>
            </p:nvSpPr>
            <p:spPr>
              <a:xfrm>
                <a:off x="800100" y="0"/>
                <a:ext cx="5524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1B4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Execute Unit Tests &amp; Resolve Failures</a:t>
                </a:r>
                <a:endParaRPr b="1" sz="13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Running test suites, parsing logs, and self-correcting regression errors.</a:t>
                </a:r>
                <a:endParaRPr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95" name="Google Shape;195;p16"/>
            <p:cNvGrpSpPr/>
            <p:nvPr/>
          </p:nvGrpSpPr>
          <p:grpSpPr>
            <a:xfrm>
              <a:off x="0" y="2857500"/>
              <a:ext cx="6572400" cy="809700"/>
              <a:chOff x="0" y="0"/>
              <a:chExt cx="6572400" cy="809700"/>
            </a:xfrm>
          </p:grpSpPr>
          <p:sp>
            <p:nvSpPr>
              <p:cNvPr id="196" name="Google Shape;196;p16"/>
              <p:cNvSpPr/>
              <p:nvPr/>
            </p:nvSpPr>
            <p:spPr>
              <a:xfrm>
                <a:off x="0" y="0"/>
                <a:ext cx="65724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8" name="Google Shape;198;p16"/>
              <p:cNvGrpSpPr/>
              <p:nvPr/>
            </p:nvGrpSpPr>
            <p:grpSpPr>
              <a:xfrm>
                <a:off x="228600" y="209550"/>
                <a:ext cx="381000" cy="381000"/>
                <a:chOff x="0" y="0"/>
                <a:chExt cx="381000" cy="381000"/>
              </a:xfrm>
            </p:grpSpPr>
            <p:sp>
              <p:nvSpPr>
                <p:cNvPr id="199" name="Google Shape;199;p16"/>
                <p:cNvSpPr/>
                <p:nvPr/>
              </p:nvSpPr>
              <p:spPr>
                <a:xfrm>
                  <a:off x="0" y="0"/>
                  <a:ext cx="381000" cy="381000"/>
                </a:xfrm>
                <a:prstGeom prst="ellipse">
                  <a:avLst/>
                </a:prstGeom>
                <a:solidFill>
                  <a:srgbClr val="EEF2F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" name="Google Shape;200;p16"/>
                <p:cNvSpPr txBox="1"/>
                <p:nvPr/>
              </p:nvSpPr>
              <p:spPr>
                <a:xfrm>
                  <a:off x="0" y="0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6366F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04</a:t>
                  </a:r>
                  <a:endParaRPr b="1" sz="1200">
                    <a:solidFill>
                      <a:srgbClr val="6366F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01" name="Google Shape;201;p16"/>
              <p:cNvSpPr txBox="1"/>
              <p:nvPr/>
            </p:nvSpPr>
            <p:spPr>
              <a:xfrm>
                <a:off x="800100" y="0"/>
                <a:ext cx="5524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1B4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Run Static Scans &amp; Update Documentation</a:t>
                </a:r>
                <a:endParaRPr b="1" sz="13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Ensuring security compliance and modifying architectural records.</a:t>
                </a:r>
                <a:endParaRPr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202" name="Google Shape;202;p16"/>
          <p:cNvSpPr txBox="1"/>
          <p:nvPr/>
        </p:nvSpPr>
        <p:spPr>
          <a:xfrm>
            <a:off x="476250" y="381000"/>
            <a:ext cx="117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Execution Gap in Engineering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476250" y="822870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7"/>
          <p:cNvGrpSpPr/>
          <p:nvPr/>
        </p:nvGrpSpPr>
        <p:grpSpPr>
          <a:xfrm>
            <a:off x="476250" y="381000"/>
            <a:ext cx="11239500" cy="476400"/>
            <a:chOff x="0" y="0"/>
            <a:chExt cx="11239500" cy="476400"/>
          </a:xfrm>
        </p:grpSpPr>
        <p:sp>
          <p:nvSpPr>
            <p:cNvPr id="209" name="Google Shape;209;p17"/>
            <p:cNvSpPr txBox="1"/>
            <p:nvPr/>
          </p:nvSpPr>
          <p:spPr>
            <a:xfrm>
              <a:off x="0" y="0"/>
              <a:ext cx="11239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Why Context Engineering Isn't Enough</a:t>
              </a:r>
              <a:endParaRPr b="1" sz="2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0" y="457200"/>
              <a:ext cx="112395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17"/>
          <p:cNvGrpSpPr/>
          <p:nvPr/>
        </p:nvGrpSpPr>
        <p:grpSpPr>
          <a:xfrm>
            <a:off x="476250" y="1143000"/>
            <a:ext cx="11239650" cy="1428900"/>
            <a:chOff x="0" y="0"/>
            <a:chExt cx="11239650" cy="1428900"/>
          </a:xfrm>
        </p:grpSpPr>
        <p:grpSp>
          <p:nvGrpSpPr>
            <p:cNvPr id="212" name="Google Shape;212;p17"/>
            <p:cNvGrpSpPr/>
            <p:nvPr/>
          </p:nvGrpSpPr>
          <p:grpSpPr>
            <a:xfrm>
              <a:off x="0" y="0"/>
              <a:ext cx="5429400" cy="1428900"/>
              <a:chOff x="0" y="0"/>
              <a:chExt cx="5429400" cy="1428900"/>
            </a:xfrm>
          </p:grpSpPr>
          <p:sp>
            <p:nvSpPr>
              <p:cNvPr id="213" name="Google Shape;213;p17"/>
              <p:cNvSpPr/>
              <p:nvPr/>
            </p:nvSpPr>
            <p:spPr>
              <a:xfrm>
                <a:off x="0" y="0"/>
                <a:ext cx="5429400" cy="1428900"/>
              </a:xfrm>
              <a:prstGeom prst="roundRect">
                <a:avLst>
                  <a:gd fmla="val 106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228600" y="190500"/>
                <a:ext cx="12384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7"/>
              <p:cNvSpPr txBox="1"/>
              <p:nvPr/>
            </p:nvSpPr>
            <p:spPr>
              <a:xfrm>
                <a:off x="228600" y="190500"/>
                <a:ext cx="12384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1E40A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Context Answers</a:t>
                </a:r>
                <a:endParaRPr b="1" sz="1000">
                  <a:solidFill>
                    <a:srgbClr val="1E40A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16" name="Google Shape;216;p17"/>
              <p:cNvSpPr txBox="1"/>
              <p:nvPr/>
            </p:nvSpPr>
            <p:spPr>
              <a:xfrm>
                <a:off x="228600" y="590550"/>
                <a:ext cx="49722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E1B4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"What should I know?"</a:t>
                </a:r>
                <a:endParaRPr b="1" sz="16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Provides repository awareness, documentation, vector databases, and coding standards.</a:t>
                </a:r>
                <a:endParaRPr b="0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17" name="Google Shape;217;p17"/>
            <p:cNvGrpSpPr/>
            <p:nvPr/>
          </p:nvGrpSpPr>
          <p:grpSpPr>
            <a:xfrm>
              <a:off x="5810250" y="0"/>
              <a:ext cx="5429400" cy="1428900"/>
              <a:chOff x="0" y="0"/>
              <a:chExt cx="5429400" cy="1428900"/>
            </a:xfrm>
          </p:grpSpPr>
          <p:sp>
            <p:nvSpPr>
              <p:cNvPr id="218" name="Google Shape;218;p17"/>
              <p:cNvSpPr/>
              <p:nvPr/>
            </p:nvSpPr>
            <p:spPr>
              <a:xfrm>
                <a:off x="0" y="0"/>
                <a:ext cx="5429400" cy="1428900"/>
              </a:xfrm>
              <a:prstGeom prst="roundRect">
                <a:avLst>
                  <a:gd fmla="val 10666" name="adj"/>
                </a:avLst>
              </a:prstGeom>
              <a:solidFill>
                <a:srgbClr val="FEF2F2"/>
              </a:solidFill>
              <a:ln cap="flat" cmpd="sng" w="14300">
                <a:solidFill>
                  <a:srgbClr val="FEE2E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228600" y="190500"/>
                <a:ext cx="11430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7"/>
              <p:cNvSpPr txBox="1"/>
              <p:nvPr/>
            </p:nvSpPr>
            <p:spPr>
              <a:xfrm>
                <a:off x="228600" y="190500"/>
                <a:ext cx="1143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991B1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Context Misses</a:t>
                </a:r>
                <a:endParaRPr b="1" sz="1000">
                  <a:solidFill>
                    <a:srgbClr val="99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21" name="Google Shape;221;p17"/>
              <p:cNvSpPr txBox="1"/>
              <p:nvPr/>
            </p:nvSpPr>
            <p:spPr>
              <a:xfrm>
                <a:off x="228600" y="590550"/>
                <a:ext cx="49722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991B1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"What should I do next?"</a:t>
                </a:r>
                <a:endParaRPr b="1" sz="1600">
                  <a:solidFill>
                    <a:srgbClr val="99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Does not answer how to plan execution, verify outputs, or recover from unexpected build errors.</a:t>
                </a:r>
                <a:endParaRPr b="0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aphicFrame>
        <p:nvGraphicFramePr>
          <p:cNvPr id="222" name="Google Shape;222;p17"/>
          <p:cNvGraphicFramePr/>
          <p:nvPr/>
        </p:nvGraphicFramePr>
        <p:xfrm>
          <a:off x="476250" y="28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{1BC0FD5E-FBDE-4546-8840-4468F2901C8F}</a:tableStyleId>
              </a:tblPr>
              <a:tblGrid>
                <a:gridCol w="2809875"/>
                <a:gridCol w="2809875"/>
                <a:gridCol w="2809875"/>
                <a:gridCol w="2809875"/>
              </a:tblGrid>
              <a:tr h="74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Capability</a:t>
                      </a:r>
                      <a:endParaRPr b="1" sz="1300">
                        <a:solidFill>
                          <a:srgbClr val="0F172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0" marL="228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E293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Prompt Engineering</a:t>
                      </a:r>
                      <a:endParaRPr b="1" sz="1300">
                        <a:solidFill>
                          <a:srgbClr val="1E293B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E293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Context Engineering</a:t>
                      </a:r>
                      <a:endParaRPr b="1" sz="1300">
                        <a:solidFill>
                          <a:srgbClr val="1E293B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2E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highlight>
                            <a:srgbClr val="312E81"/>
                          </a:highlight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Loop Engineering</a:t>
                      </a:r>
                      <a:endParaRPr b="1" sz="1300">
                        <a:solidFill>
                          <a:srgbClr val="FFFFFF"/>
                        </a:solidFill>
                        <a:highlight>
                          <a:srgbClr val="312E81"/>
                        </a:highlight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12E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2E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2E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2E81"/>
                    </a:solidFill>
                  </a:tcPr>
                </a:tc>
              </a:tr>
              <a:tr h="92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E1B4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Repository Awareness</a:t>
                      </a:r>
                      <a:endParaRPr b="1" sz="1250">
                        <a:solidFill>
                          <a:srgbClr val="1E1B4B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0" marL="228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EF444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✘</a:t>
                      </a:r>
                      <a:r>
                        <a:rPr lang="en-US" sz="1200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</a:t>
                      </a:r>
                      <a:endParaRPr sz="1200">
                        <a:solidFill>
                          <a:srgbClr val="EF4444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2C55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</a:t>
                      </a:r>
                      <a:r>
                        <a:rPr b="1" lang="en-US" sz="1200">
                          <a:solidFill>
                            <a:srgbClr val="1E1B4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</a:t>
                      </a:r>
                      <a:endParaRPr b="1" sz="1200">
                        <a:solidFill>
                          <a:srgbClr val="22C55E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2C55E"/>
                          </a:solidFill>
                          <a:highlight>
                            <a:srgbClr val="FAF5FF"/>
                          </a:highlight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</a:t>
                      </a:r>
                      <a:r>
                        <a:rPr b="1" lang="en-US" sz="1200">
                          <a:solidFill>
                            <a:srgbClr val="312E81"/>
                          </a:solidFill>
                          <a:highlight>
                            <a:srgbClr val="FAF5FF"/>
                          </a:highlight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</a:t>
                      </a:r>
                      <a:endParaRPr b="1" sz="1200">
                        <a:solidFill>
                          <a:srgbClr val="22C55E"/>
                        </a:solidFill>
                        <a:highlight>
                          <a:srgbClr val="FAF5FF"/>
                        </a:highlight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</a:tr>
              <a:tr h="92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E1B4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Tool Access</a:t>
                      </a:r>
                      <a:endParaRPr b="1" sz="1250">
                        <a:solidFill>
                          <a:srgbClr val="1E1B4B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0" marL="228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EF444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✘</a:t>
                      </a:r>
                      <a:r>
                        <a:rPr lang="en-US" sz="1200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</a:t>
                      </a:r>
                      <a:endParaRPr sz="1200">
                        <a:solidFill>
                          <a:srgbClr val="EF4444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2C55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</a:t>
                      </a:r>
                      <a:r>
                        <a:rPr b="1" lang="en-US" sz="1200">
                          <a:solidFill>
                            <a:srgbClr val="1E1B4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</a:t>
                      </a:r>
                      <a:endParaRPr b="1" sz="1200">
                        <a:solidFill>
                          <a:srgbClr val="22C55E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2C55E"/>
                          </a:solidFill>
                          <a:highlight>
                            <a:srgbClr val="FAF5FF"/>
                          </a:highlight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</a:t>
                      </a:r>
                      <a:r>
                        <a:rPr b="1" lang="en-US" sz="1200">
                          <a:solidFill>
                            <a:srgbClr val="312E81"/>
                          </a:solidFill>
                          <a:highlight>
                            <a:srgbClr val="FAF5FF"/>
                          </a:highlight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</a:t>
                      </a:r>
                      <a:endParaRPr b="1" sz="1200">
                        <a:solidFill>
                          <a:srgbClr val="22C55E"/>
                        </a:solidFill>
                        <a:highlight>
                          <a:srgbClr val="FAF5FF"/>
                        </a:highlight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</a:tr>
              <a:tr h="92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E1B4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Autonomous Task Completion</a:t>
                      </a:r>
                      <a:endParaRPr b="1" sz="1250">
                        <a:solidFill>
                          <a:srgbClr val="1E1B4B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0" marL="228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EF444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✘</a:t>
                      </a:r>
                      <a:r>
                        <a:rPr lang="en-US" sz="1200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</a:t>
                      </a:r>
                      <a:endParaRPr sz="1200">
                        <a:solidFill>
                          <a:srgbClr val="EF4444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EF444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✘</a:t>
                      </a:r>
                      <a:r>
                        <a:rPr lang="en-US" sz="1200">
                          <a:solidFill>
                            <a:srgbClr val="64748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</a:t>
                      </a:r>
                      <a:endParaRPr sz="1200">
                        <a:solidFill>
                          <a:srgbClr val="EF4444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22C55E"/>
                          </a:solidFill>
                          <a:highlight>
                            <a:srgbClr val="FAF5FF"/>
                          </a:highlight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</a:t>
                      </a:r>
                      <a:r>
                        <a:rPr b="0" lang="en-US" sz="1250">
                          <a:solidFill>
                            <a:srgbClr val="5B21B6"/>
                          </a:solidFill>
                          <a:highlight>
                            <a:srgbClr val="FAF5FF"/>
                          </a:highlight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Full Execution</a:t>
                      </a:r>
                      <a:endParaRPr b="0" sz="1250">
                        <a:solidFill>
                          <a:srgbClr val="22C55E"/>
                        </a:solidFill>
                        <a:highlight>
                          <a:srgbClr val="FAF5FF"/>
                        </a:highlight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18"/>
          <p:cNvGrpSpPr/>
          <p:nvPr/>
        </p:nvGrpSpPr>
        <p:grpSpPr>
          <a:xfrm>
            <a:off x="476250" y="1333500"/>
            <a:ext cx="4191000" cy="4810125"/>
            <a:chOff x="0" y="0"/>
            <a:chExt cx="4191000" cy="4810125"/>
          </a:xfrm>
        </p:grpSpPr>
        <p:sp>
          <p:nvSpPr>
            <p:cNvPr id="228" name="Google Shape;228;p18"/>
            <p:cNvSpPr/>
            <p:nvPr/>
          </p:nvSpPr>
          <p:spPr>
            <a:xfrm>
              <a:off x="0" y="0"/>
              <a:ext cx="4191000" cy="4667400"/>
            </a:xfrm>
            <a:prstGeom prst="roundRect">
              <a:avLst>
                <a:gd fmla="val 3636" name="adj"/>
              </a:avLst>
            </a:prstGeom>
            <a:solidFill>
              <a:srgbClr val="F5F3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" name="Google Shape;229;p18"/>
            <p:cNvGrpSpPr/>
            <p:nvPr/>
          </p:nvGrpSpPr>
          <p:grpSpPr>
            <a:xfrm>
              <a:off x="285750" y="333375"/>
              <a:ext cx="1238400" cy="266700"/>
              <a:chOff x="0" y="0"/>
              <a:chExt cx="1238400" cy="266700"/>
            </a:xfrm>
          </p:grpSpPr>
          <p:sp>
            <p:nvSpPr>
              <p:cNvPr id="230" name="Google Shape;230;p18"/>
              <p:cNvSpPr/>
              <p:nvPr/>
            </p:nvSpPr>
            <p:spPr>
              <a:xfrm>
                <a:off x="0" y="0"/>
                <a:ext cx="12384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8B5C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8"/>
              <p:cNvSpPr txBox="1"/>
              <p:nvPr/>
            </p:nvSpPr>
            <p:spPr>
              <a:xfrm>
                <a:off x="0" y="0"/>
                <a:ext cx="12384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Task Reality</a:t>
                </a:r>
                <a:endParaRPr b="1" sz="9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232" name="Google Shape;232;p18"/>
            <p:cNvSpPr txBox="1"/>
            <p:nvPr/>
          </p:nvSpPr>
          <p:spPr>
            <a:xfrm>
              <a:off x="285750" y="809625"/>
              <a:ext cx="36195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40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100s</a:t>
              </a:r>
              <a:endParaRPr b="1" sz="84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Micro-Failures Per Task</a:t>
              </a:r>
              <a:endParaRPr b="1" sz="18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B556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Consider an autonomous development task with multiple failure points:</a:t>
              </a:r>
              <a:endParaRPr b="0" sz="1250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Compilation Fails</a:t>
              </a:r>
              <a:endParaRPr b="1" sz="84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Unit Tests Break</a:t>
              </a:r>
              <a:endParaRPr b="1" sz="84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Security Vulnerabilities Flagged</a:t>
              </a:r>
              <a:endParaRPr b="1" sz="84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Missing Documentation</a:t>
              </a:r>
              <a:endParaRPr b="1" sz="84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33" name="Google Shape;233;p18"/>
          <p:cNvGrpSpPr/>
          <p:nvPr/>
        </p:nvGrpSpPr>
        <p:grpSpPr>
          <a:xfrm>
            <a:off x="5143500" y="1333500"/>
            <a:ext cx="6572400" cy="3714600"/>
            <a:chOff x="0" y="0"/>
            <a:chExt cx="6572400" cy="3714600"/>
          </a:xfrm>
        </p:grpSpPr>
        <p:sp>
          <p:nvSpPr>
            <p:cNvPr id="234" name="Google Shape;234;p18"/>
            <p:cNvSpPr txBox="1"/>
            <p:nvPr/>
          </p:nvSpPr>
          <p:spPr>
            <a:xfrm>
              <a:off x="0" y="0"/>
              <a:ext cx="6572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Autonomous Recovery is Essential</a:t>
              </a:r>
              <a:endParaRPr b="1" sz="20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Instead of fragile linear scripts, agentic execution models require a resilient dynamic loop.</a:t>
              </a:r>
              <a:endParaRPr b="0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235" name="Google Shape;235;p18"/>
            <p:cNvGrpSpPr/>
            <p:nvPr/>
          </p:nvGrpSpPr>
          <p:grpSpPr>
            <a:xfrm>
              <a:off x="0" y="857250"/>
              <a:ext cx="6572400" cy="809700"/>
              <a:chOff x="0" y="0"/>
              <a:chExt cx="6572400" cy="809700"/>
            </a:xfrm>
          </p:grpSpPr>
          <p:sp>
            <p:nvSpPr>
              <p:cNvPr id="236" name="Google Shape;236;p18"/>
              <p:cNvSpPr/>
              <p:nvPr/>
            </p:nvSpPr>
            <p:spPr>
              <a:xfrm>
                <a:off x="0" y="0"/>
                <a:ext cx="65724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8"/>
              <p:cNvSpPr txBox="1"/>
              <p:nvPr/>
            </p:nvSpPr>
            <p:spPr>
              <a:xfrm>
                <a:off x="228600" y="0"/>
                <a:ext cx="61152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1B4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The Continuous Engine Loop</a:t>
                </a:r>
                <a:endParaRPr b="1" sz="13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Every micro-failure triggers continuous: </a:t>
                </a:r>
                <a:r>
                  <a:rPr b="1" lang="en-US" sz="1050">
                    <a:solidFill>
                      <a:srgbClr val="6366F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Observation → Reasoning → Correction → Retry</a:t>
                </a:r>
                <a:endParaRPr b="0"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39" name="Google Shape;239;p18"/>
            <p:cNvGrpSpPr/>
            <p:nvPr/>
          </p:nvGrpSpPr>
          <p:grpSpPr>
            <a:xfrm>
              <a:off x="0" y="1905000"/>
              <a:ext cx="6572400" cy="1809600"/>
              <a:chOff x="0" y="0"/>
              <a:chExt cx="6572400" cy="1809600"/>
            </a:xfrm>
          </p:grpSpPr>
          <p:sp>
            <p:nvSpPr>
              <p:cNvPr id="240" name="Google Shape;240;p18"/>
              <p:cNvSpPr/>
              <p:nvPr/>
            </p:nvSpPr>
            <p:spPr>
              <a:xfrm>
                <a:off x="0" y="0"/>
                <a:ext cx="6572400" cy="1809600"/>
              </a:xfrm>
              <a:prstGeom prst="roundRect">
                <a:avLst>
                  <a:gd fmla="val 8421" name="adj"/>
                </a:avLst>
              </a:prstGeom>
              <a:solidFill>
                <a:srgbClr val="FAF5FF"/>
              </a:solidFill>
              <a:ln cap="flat" cmpd="sng" w="14300">
                <a:solidFill>
                  <a:srgbClr val="F3E8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8"/>
              <p:cNvSpPr txBox="1"/>
              <p:nvPr/>
            </p:nvSpPr>
            <p:spPr>
              <a:xfrm>
                <a:off x="285750" y="714375"/>
                <a:ext cx="60009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1650">
                    <a:solidFill>
                      <a:srgbClr val="5B21B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"Enterprise AI is not about making fewer mistakes. It is about recovering from mistakes autonomously."</a:t>
                </a:r>
                <a:endParaRPr b="1" i="1" sz="165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242" name="Google Shape;242;p18"/>
          <p:cNvSpPr txBox="1"/>
          <p:nvPr/>
        </p:nvSpPr>
        <p:spPr>
          <a:xfrm>
            <a:off x="476250" y="381000"/>
            <a:ext cx="117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 AI Fails Hundreds of Times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5429250" y="3419475"/>
            <a:ext cx="285900" cy="247800"/>
          </a:xfrm>
          <a:custGeom>
            <a:rect b="b" l="l" r="r" t="t"/>
            <a:pathLst>
              <a:path extrusionOk="0" h="120000" w="120000">
                <a:moveTo>
                  <a:pt x="0" y="50769"/>
                </a:moveTo>
                <a:lnTo>
                  <a:pt x="0" y="120000"/>
                </a:lnTo>
                <a:lnTo>
                  <a:pt x="48000" y="120000"/>
                </a:lnTo>
                <a:lnTo>
                  <a:pt x="48000" y="64615"/>
                </a:lnTo>
                <a:cubicBezTo>
                  <a:pt x="48000" y="27692"/>
                  <a:pt x="32000" y="9231"/>
                  <a:pt x="0" y="0"/>
                </a:cubicBezTo>
                <a:lnTo>
                  <a:pt x="0" y="27692"/>
                </a:lnTo>
                <a:cubicBezTo>
                  <a:pt x="16000" y="32308"/>
                  <a:pt x="24000" y="41538"/>
                  <a:pt x="24000" y="64615"/>
                </a:cubicBezTo>
                <a:lnTo>
                  <a:pt x="0" y="64615"/>
                </a:lnTo>
                <a:close/>
                <a:moveTo>
                  <a:pt x="72000" y="50769"/>
                </a:moveTo>
                <a:lnTo>
                  <a:pt x="72000" y="120000"/>
                </a:lnTo>
                <a:lnTo>
                  <a:pt x="120000" y="120000"/>
                </a:lnTo>
                <a:lnTo>
                  <a:pt x="120000" y="64615"/>
                </a:lnTo>
                <a:cubicBezTo>
                  <a:pt x="120000" y="27692"/>
                  <a:pt x="104000" y="9231"/>
                  <a:pt x="72000" y="0"/>
                </a:cubicBezTo>
                <a:lnTo>
                  <a:pt x="72000" y="27692"/>
                </a:lnTo>
                <a:cubicBezTo>
                  <a:pt x="88000" y="32308"/>
                  <a:pt x="96000" y="41538"/>
                  <a:pt x="96000" y="64615"/>
                </a:cubicBezTo>
                <a:lnTo>
                  <a:pt x="72000" y="64615"/>
                </a:lnTo>
                <a:close/>
              </a:path>
            </a:pathLst>
          </a:custGeom>
          <a:solidFill>
            <a:srgbClr val="A855F7">
              <a:alpha val="2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476250" y="822870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19"/>
          <p:cNvGrpSpPr/>
          <p:nvPr/>
        </p:nvGrpSpPr>
        <p:grpSpPr>
          <a:xfrm>
            <a:off x="476250" y="381000"/>
            <a:ext cx="11239500" cy="495450"/>
            <a:chOff x="0" y="0"/>
            <a:chExt cx="11239500" cy="495450"/>
          </a:xfrm>
        </p:grpSpPr>
        <p:sp>
          <p:nvSpPr>
            <p:cNvPr id="250" name="Google Shape;250;p19"/>
            <p:cNvSpPr txBox="1"/>
            <p:nvPr/>
          </p:nvSpPr>
          <p:spPr>
            <a:xfrm>
              <a:off x="0" y="0"/>
              <a:ext cx="1123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Case Study: Copilot vs Devin</a:t>
              </a:r>
              <a:endParaRPr b="1" sz="2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0" y="476250"/>
              <a:ext cx="112395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19"/>
          <p:cNvGrpSpPr/>
          <p:nvPr/>
        </p:nvGrpSpPr>
        <p:grpSpPr>
          <a:xfrm>
            <a:off x="476250" y="1238250"/>
            <a:ext cx="3429000" cy="3238500"/>
            <a:chOff x="0" y="0"/>
            <a:chExt cx="3429000" cy="32385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0" y="0"/>
              <a:ext cx="3429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GitHub Copilot Chat</a:t>
              </a:r>
              <a:endParaRPr b="1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Conversational Assistant</a:t>
              </a:r>
              <a:endParaRPr b="0" sz="10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Interaction Style</a:t>
              </a:r>
              <a:endParaRPr b="1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💬 Conversational</a:t>
              </a:r>
              <a:endParaRPr b="1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Planning &amp; Reflection</a:t>
              </a:r>
              <a:endParaRPr b="1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EF4444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🚫 None</a:t>
              </a:r>
              <a:endParaRPr b="1" sz="1250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Self-Healing / Retry</a:t>
              </a:r>
              <a:endParaRPr b="1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EF4444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✋ Manual</a:t>
              </a:r>
              <a:endParaRPr b="1" sz="1250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55" name="Google Shape;255;p19"/>
          <p:cNvGrpSpPr/>
          <p:nvPr/>
        </p:nvGrpSpPr>
        <p:grpSpPr>
          <a:xfrm>
            <a:off x="4381500" y="1238250"/>
            <a:ext cx="3429000" cy="3238500"/>
            <a:chOff x="0" y="0"/>
            <a:chExt cx="3429000" cy="3238500"/>
          </a:xfrm>
        </p:grpSpPr>
        <p:sp>
          <p:nvSpPr>
            <p:cNvPr id="256" name="Google Shape;256;p19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0" y="0"/>
              <a:ext cx="3429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Copilot Agent Mode</a:t>
              </a:r>
              <a:endParaRPr b="1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Semi-Autonomous Loop</a:t>
              </a:r>
              <a:endParaRPr b="0" sz="10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Interaction Style</a:t>
              </a:r>
              <a:endParaRPr b="1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🔄 Iterative Loop</a:t>
              </a:r>
              <a:endParaRPr b="1" sz="12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Planning &amp; Reflection</a:t>
              </a:r>
              <a:endParaRPr b="1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F59E0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⏳ Partial</a:t>
              </a:r>
              <a:endParaRPr b="1" sz="1250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Self-Healing / Retry</a:t>
              </a:r>
              <a:endParaRPr b="1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⚙️ Automatic</a:t>
              </a:r>
              <a:endParaRPr b="1" sz="125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8286750" y="1238250"/>
            <a:ext cx="3429000" cy="3238500"/>
            <a:chOff x="0" y="0"/>
            <a:chExt cx="3429000" cy="3238500"/>
          </a:xfrm>
        </p:grpSpPr>
        <p:sp>
          <p:nvSpPr>
            <p:cNvPr id="259" name="Google Shape;259;p19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4705" name="adj"/>
              </a:avLst>
            </a:prstGeom>
            <a:solidFill>
              <a:srgbClr val="F9F5FF"/>
            </a:solidFill>
            <a:ln cap="flat" cmpd="sng" w="190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0" y="0"/>
              <a:ext cx="3429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Devin</a:t>
              </a:r>
              <a:r>
                <a:rPr b="1" lang="en-US" sz="8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Featured</a:t>
              </a:r>
              <a:endParaRPr b="1" sz="1400">
                <a:solidFill>
                  <a:srgbClr val="4C1D9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Fully Autonomous Agent</a:t>
              </a:r>
              <a:endParaRPr b="0" sz="1050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8B5C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Interaction Style</a:t>
              </a:r>
              <a:endParaRPr b="1" sz="950">
                <a:solidFill>
                  <a:srgbClr val="8B5C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🚀 Autonomous Long-running</a:t>
              </a:r>
              <a:endParaRPr b="1" sz="125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8B5C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Planning &amp; Reflection</a:t>
              </a:r>
              <a:endParaRPr b="1" sz="950">
                <a:solidFill>
                  <a:srgbClr val="8B5C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🧠 Advanced</a:t>
              </a:r>
              <a:endParaRPr b="1" sz="125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8B5C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Self-Healing / Retry</a:t>
              </a:r>
              <a:endParaRPr b="1" sz="950">
                <a:solidFill>
                  <a:srgbClr val="8B5C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🤖 Autonomous</a:t>
              </a:r>
              <a:endParaRPr b="1" sz="125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61" name="Google Shape;261;p19"/>
          <p:cNvGrpSpPr/>
          <p:nvPr/>
        </p:nvGrpSpPr>
        <p:grpSpPr>
          <a:xfrm>
            <a:off x="476250" y="4714875"/>
            <a:ext cx="11239500" cy="1065050"/>
            <a:chOff x="0" y="0"/>
            <a:chExt cx="11239500" cy="1065050"/>
          </a:xfrm>
        </p:grpSpPr>
        <p:sp>
          <p:nvSpPr>
            <p:cNvPr id="262" name="Google Shape;262;p19"/>
            <p:cNvSpPr/>
            <p:nvPr/>
          </p:nvSpPr>
          <p:spPr>
            <a:xfrm>
              <a:off x="0" y="0"/>
              <a:ext cx="11239500" cy="809700"/>
            </a:xfrm>
            <a:prstGeom prst="roundRect">
              <a:avLst>
                <a:gd fmla="val 14117" name="adj"/>
              </a:avLst>
            </a:prstGeom>
            <a:solidFill>
              <a:srgbClr val="FAF5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0" y="0"/>
              <a:ext cx="57300" cy="8097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 txBox="1"/>
            <p:nvPr/>
          </p:nvSpPr>
          <p:spPr>
            <a:xfrm>
              <a:off x="228600" y="255350"/>
              <a:ext cx="107823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14300" spcFirstLastPara="1" rIns="1143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💡 </a:t>
              </a:r>
              <a:r>
                <a:rPr b="1" lang="en-US" sz="120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Architect's Insight:</a:t>
              </a:r>
              <a:r>
                <a:rPr lang="en-US" sz="120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The innovation behind autonomous coding agents is not bigger LLMs—it is better execution architecture.</a:t>
              </a:r>
              <a:endParaRPr sz="12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0"/>
          <p:cNvGrpSpPr/>
          <p:nvPr/>
        </p:nvGrpSpPr>
        <p:grpSpPr>
          <a:xfrm>
            <a:off x="476250" y="381000"/>
            <a:ext cx="11239500" cy="495450"/>
            <a:chOff x="0" y="0"/>
            <a:chExt cx="11239500" cy="495450"/>
          </a:xfrm>
        </p:grpSpPr>
        <p:sp>
          <p:nvSpPr>
            <p:cNvPr id="270" name="Google Shape;270;p20"/>
            <p:cNvSpPr txBox="1"/>
            <p:nvPr/>
          </p:nvSpPr>
          <p:spPr>
            <a:xfrm>
              <a:off x="0" y="0"/>
              <a:ext cx="11239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We Optimized Conversations. We Forgot Execution.</a:t>
              </a:r>
              <a:endParaRPr b="1" sz="2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0" y="476250"/>
              <a:ext cx="112395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0"/>
          <p:cNvGrpSpPr/>
          <p:nvPr/>
        </p:nvGrpSpPr>
        <p:grpSpPr>
          <a:xfrm>
            <a:off x="476250" y="1333500"/>
            <a:ext cx="5381700" cy="2952900"/>
            <a:chOff x="0" y="0"/>
            <a:chExt cx="5381700" cy="2952900"/>
          </a:xfrm>
        </p:grpSpPr>
        <p:sp>
          <p:nvSpPr>
            <p:cNvPr id="273" name="Google Shape;273;p20"/>
            <p:cNvSpPr/>
            <p:nvPr/>
          </p:nvSpPr>
          <p:spPr>
            <a:xfrm>
              <a:off x="0" y="0"/>
              <a:ext cx="5381700" cy="29529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What We Already Have</a:t>
              </a:r>
              <a:endParaRPr b="1" sz="18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275" name="Google Shape;275;p20"/>
            <p:cNvGrpSpPr/>
            <p:nvPr/>
          </p:nvGrpSpPr>
          <p:grpSpPr>
            <a:xfrm>
              <a:off x="285750" y="904875"/>
              <a:ext cx="4743600" cy="351536"/>
              <a:chOff x="0" y="0"/>
              <a:chExt cx="4743600" cy="351536"/>
            </a:xfrm>
          </p:grpSpPr>
          <p:sp>
            <p:nvSpPr>
              <p:cNvPr id="276" name="Google Shape;276;p20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D1FA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0"/>
              <p:cNvSpPr txBox="1"/>
              <p:nvPr/>
            </p:nvSpPr>
            <p:spPr>
              <a:xfrm>
                <a:off x="0" y="46736"/>
                <a:ext cx="304800" cy="304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10B98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🛡</a:t>
                </a:r>
                <a:endParaRPr b="0" sz="160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78" name="Google Shape;278;p20"/>
              <p:cNvSpPr txBox="1"/>
              <p:nvPr/>
            </p:nvSpPr>
            <p:spPr>
              <a:xfrm>
                <a:off x="457200" y="0"/>
                <a:ext cx="4286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Better Prompts &amp; Model Guardrails</a:t>
                </a:r>
                <a:endParaRPr b="1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79" name="Google Shape;279;p20"/>
            <p:cNvGrpSpPr/>
            <p:nvPr/>
          </p:nvGrpSpPr>
          <p:grpSpPr>
            <a:xfrm>
              <a:off x="285750" y="1524000"/>
              <a:ext cx="4743600" cy="351536"/>
              <a:chOff x="0" y="0"/>
              <a:chExt cx="4743600" cy="351536"/>
            </a:xfrm>
          </p:grpSpPr>
          <p:sp>
            <p:nvSpPr>
              <p:cNvPr id="280" name="Google Shape;280;p20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D1FA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0"/>
              <p:cNvSpPr txBox="1"/>
              <p:nvPr/>
            </p:nvSpPr>
            <p:spPr>
              <a:xfrm>
                <a:off x="0" y="46736"/>
                <a:ext cx="304800" cy="304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10B98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❖</a:t>
                </a:r>
                <a:endParaRPr b="0" sz="160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82" name="Google Shape;282;p20"/>
              <p:cNvSpPr txBox="1"/>
              <p:nvPr/>
            </p:nvSpPr>
            <p:spPr>
              <a:xfrm>
                <a:off x="457200" y="0"/>
                <a:ext cx="4286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Richer Context &amp; Vector Embeddings</a:t>
                </a:r>
                <a:endParaRPr b="1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83" name="Google Shape;283;p20"/>
            <p:cNvGrpSpPr/>
            <p:nvPr/>
          </p:nvGrpSpPr>
          <p:grpSpPr>
            <a:xfrm>
              <a:off x="285750" y="2143125"/>
              <a:ext cx="4743600" cy="351536"/>
              <a:chOff x="0" y="0"/>
              <a:chExt cx="4743600" cy="351536"/>
            </a:xfrm>
          </p:grpSpPr>
          <p:sp>
            <p:nvSpPr>
              <p:cNvPr id="284" name="Google Shape;284;p20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D1FA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0"/>
              <p:cNvSpPr txBox="1"/>
              <p:nvPr/>
            </p:nvSpPr>
            <p:spPr>
              <a:xfrm>
                <a:off x="0" y="46736"/>
                <a:ext cx="304800" cy="304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10B98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🔧</a:t>
                </a:r>
                <a:endParaRPr b="0" sz="160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86" name="Google Shape;286;p20"/>
              <p:cNvSpPr txBox="1"/>
              <p:nvPr/>
            </p:nvSpPr>
            <p:spPr>
              <a:xfrm>
                <a:off x="457200" y="0"/>
                <a:ext cx="4286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Expanded Tool Access &amp; API Wrappers</a:t>
                </a:r>
                <a:endParaRPr b="1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287" name="Google Shape;287;p20"/>
          <p:cNvGrpSpPr/>
          <p:nvPr/>
        </p:nvGrpSpPr>
        <p:grpSpPr>
          <a:xfrm>
            <a:off x="6334125" y="1333500"/>
            <a:ext cx="5381700" cy="2952900"/>
            <a:chOff x="0" y="0"/>
            <a:chExt cx="5381700" cy="2952900"/>
          </a:xfrm>
        </p:grpSpPr>
        <p:sp>
          <p:nvSpPr>
            <p:cNvPr id="288" name="Google Shape;288;p20"/>
            <p:cNvSpPr/>
            <p:nvPr/>
          </p:nvSpPr>
          <p:spPr>
            <a:xfrm>
              <a:off x="0" y="0"/>
              <a:ext cx="5381700" cy="2952900"/>
            </a:xfrm>
            <a:prstGeom prst="roundRect">
              <a:avLst>
                <a:gd fmla="val 5161" name="adj"/>
              </a:avLst>
            </a:prstGeom>
            <a:solidFill>
              <a:srgbClr val="F5F3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What Loop Engineering Adds</a:t>
              </a:r>
              <a:endParaRPr b="1" sz="1800">
                <a:solidFill>
                  <a:srgbClr val="4C1D9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285750" y="857250"/>
              <a:ext cx="4810200" cy="723900"/>
            </a:xfrm>
            <a:prstGeom prst="roundRect">
              <a:avLst>
                <a:gd fmla="val 10526" name="adj"/>
              </a:avLst>
            </a:prstGeom>
            <a:solidFill>
              <a:srgbClr val="FAF5FF"/>
            </a:solidFill>
            <a:ln cap="flat" cmpd="sng" w="9525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 txBox="1"/>
            <p:nvPr/>
          </p:nvSpPr>
          <p:spPr>
            <a:xfrm>
              <a:off x="428625" y="904875"/>
              <a:ext cx="4524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 → Execute → Observe → Verify → Reflect → Retry → Remember → Continue</a:t>
              </a:r>
              <a:endParaRPr b="1" sz="1150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92" name="Google Shape;292;p20"/>
            <p:cNvSpPr txBox="1"/>
            <p:nvPr/>
          </p:nvSpPr>
          <p:spPr>
            <a:xfrm>
              <a:off x="285750" y="1809750"/>
              <a:ext cx="4810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Durable Agentic Loop</a:t>
              </a:r>
              <a:endParaRPr b="1" sz="125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B556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Rediscovering classic engineering principles: workflow engines, state machines, and durable execution.</a:t>
              </a:r>
              <a:endParaRPr sz="1150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93" name="Google Shape;293;p20"/>
          <p:cNvGrpSpPr/>
          <p:nvPr/>
        </p:nvGrpSpPr>
        <p:grpSpPr>
          <a:xfrm>
            <a:off x="476250" y="4572000"/>
            <a:ext cx="11239500" cy="762000"/>
            <a:chOff x="0" y="0"/>
            <a:chExt cx="11239500" cy="762000"/>
          </a:xfrm>
        </p:grpSpPr>
        <p:sp>
          <p:nvSpPr>
            <p:cNvPr id="294" name="Google Shape;294;p20"/>
            <p:cNvSpPr/>
            <p:nvPr/>
          </p:nvSpPr>
          <p:spPr>
            <a:xfrm>
              <a:off x="0" y="0"/>
              <a:ext cx="11239500" cy="762000"/>
            </a:xfrm>
            <a:prstGeom prst="roundRect">
              <a:avLst>
                <a:gd fmla="val 15000" name="adj"/>
              </a:avLst>
            </a:prstGeom>
            <a:solidFill>
              <a:srgbClr val="FAF5FF"/>
            </a:solidFill>
            <a:ln cap="flat" cmpd="sng" w="9525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0" y="0"/>
              <a:ext cx="57300" cy="7620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6" name="Google Shape;296;p20"/>
            <p:cNvGrpSpPr/>
            <p:nvPr/>
          </p:nvGrpSpPr>
          <p:grpSpPr>
            <a:xfrm>
              <a:off x="238125" y="190500"/>
              <a:ext cx="381000" cy="421894"/>
              <a:chOff x="0" y="0"/>
              <a:chExt cx="381000" cy="421894"/>
            </a:xfrm>
          </p:grpSpPr>
          <p:sp>
            <p:nvSpPr>
              <p:cNvPr id="297" name="Google Shape;297;p20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0"/>
              <p:cNvSpPr txBox="1"/>
              <p:nvPr/>
            </p:nvSpPr>
            <p:spPr>
              <a:xfrm>
                <a:off x="0" y="40894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8B5CF6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“</a:t>
                </a:r>
                <a:endParaRPr b="1" sz="2250">
                  <a:solidFill>
                    <a:srgbClr val="8B5CF6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99" name="Google Shape;299;p20"/>
            <p:cNvSpPr txBox="1"/>
            <p:nvPr/>
          </p:nvSpPr>
          <p:spPr>
            <a:xfrm>
              <a:off x="762000" y="95250"/>
              <a:ext cx="1019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30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"Prompt Engineering taught AI how to answer. Loop Engineering teaches AI how to work."</a:t>
              </a:r>
              <a:endParaRPr b="1" i="1" sz="13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1"/>
          <p:cNvGrpSpPr/>
          <p:nvPr/>
        </p:nvGrpSpPr>
        <p:grpSpPr>
          <a:xfrm>
            <a:off x="476250" y="381000"/>
            <a:ext cx="11239500" cy="514500"/>
            <a:chOff x="0" y="0"/>
            <a:chExt cx="11239500" cy="514500"/>
          </a:xfrm>
        </p:grpSpPr>
        <p:sp>
          <p:nvSpPr>
            <p:cNvPr id="305" name="Google Shape;305;p21"/>
            <p:cNvSpPr txBox="1"/>
            <p:nvPr/>
          </p:nvSpPr>
          <p:spPr>
            <a:xfrm>
              <a:off x="0" y="0"/>
              <a:ext cx="1123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Loop Engineering from First Principles</a:t>
              </a:r>
              <a:endParaRPr b="1" sz="2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0" y="495300"/>
              <a:ext cx="112395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" name="Google Shape;307;p21"/>
          <p:cNvGrpSpPr/>
          <p:nvPr/>
        </p:nvGrpSpPr>
        <p:grpSpPr>
          <a:xfrm>
            <a:off x="476250" y="1333500"/>
            <a:ext cx="5381700" cy="3429000"/>
            <a:chOff x="0" y="0"/>
            <a:chExt cx="5381700" cy="3429000"/>
          </a:xfrm>
        </p:grpSpPr>
        <p:sp>
          <p:nvSpPr>
            <p:cNvPr id="308" name="Google Shape;308;p21"/>
            <p:cNvSpPr/>
            <p:nvPr/>
          </p:nvSpPr>
          <p:spPr>
            <a:xfrm>
              <a:off x="0" y="0"/>
              <a:ext cx="5381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9" name="Google Shape;309;p21"/>
            <p:cNvGrpSpPr/>
            <p:nvPr/>
          </p:nvGrpSpPr>
          <p:grpSpPr>
            <a:xfrm>
              <a:off x="285750" y="285750"/>
              <a:ext cx="1428900" cy="266700"/>
              <a:chOff x="0" y="0"/>
              <a:chExt cx="1428900" cy="266700"/>
            </a:xfrm>
          </p:grpSpPr>
          <p:sp>
            <p:nvSpPr>
              <p:cNvPr id="310" name="Google Shape;310;p21"/>
              <p:cNvSpPr/>
              <p:nvPr/>
            </p:nvSpPr>
            <p:spPr>
              <a:xfrm>
                <a:off x="0" y="0"/>
                <a:ext cx="14289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1"/>
              <p:cNvSpPr txBox="1"/>
              <p:nvPr/>
            </p:nvSpPr>
            <p:spPr>
              <a:xfrm>
                <a:off x="0" y="0"/>
                <a:ext cx="1428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991B1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Wrong Mental Model</a:t>
                </a:r>
                <a:endParaRPr b="1" sz="1000">
                  <a:solidFill>
                    <a:srgbClr val="99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312" name="Google Shape;312;p21"/>
            <p:cNvSpPr txBox="1"/>
            <p:nvPr/>
          </p:nvSpPr>
          <p:spPr>
            <a:xfrm>
              <a:off x="762000" y="762000"/>
              <a:ext cx="4334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Single-Shot Interaction</a:t>
              </a:r>
              <a:endParaRPr b="1" i="0" sz="18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285750" y="1333500"/>
              <a:ext cx="4810200" cy="5715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1"/>
            <p:cNvSpPr txBox="1"/>
            <p:nvPr/>
          </p:nvSpPr>
          <p:spPr>
            <a:xfrm>
              <a:off x="428625" y="1333500"/>
              <a:ext cx="4524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Question </a:t>
              </a:r>
              <a:r>
                <a:rPr b="1" lang="en-US" sz="120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1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LLM </a:t>
              </a:r>
              <a:r>
                <a:rPr b="1" lang="en-US" sz="120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1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Answer</a:t>
              </a:r>
              <a:endParaRPr b="1" sz="12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15" name="Google Shape;315;p21"/>
            <p:cNvSpPr txBox="1"/>
            <p:nvPr/>
          </p:nvSpPr>
          <p:spPr>
            <a:xfrm>
              <a:off x="285750" y="2095500"/>
              <a:ext cx="4810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Assumes every enterprise task is solved in one turn without verification or feedback.</a:t>
              </a:r>
              <a:endParaRPr b="0" sz="12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16" name="Google Shape;316;p21"/>
          <p:cNvGrpSpPr/>
          <p:nvPr/>
        </p:nvGrpSpPr>
        <p:grpSpPr>
          <a:xfrm>
            <a:off x="6334125" y="1333500"/>
            <a:ext cx="5381700" cy="3429000"/>
            <a:chOff x="0" y="0"/>
            <a:chExt cx="5381700" cy="3429000"/>
          </a:xfrm>
        </p:grpSpPr>
        <p:sp>
          <p:nvSpPr>
            <p:cNvPr id="317" name="Google Shape;317;p21"/>
            <p:cNvSpPr/>
            <p:nvPr/>
          </p:nvSpPr>
          <p:spPr>
            <a:xfrm>
              <a:off x="0" y="0"/>
              <a:ext cx="5381700" cy="3429000"/>
            </a:xfrm>
            <a:prstGeom prst="roundRect">
              <a:avLst>
                <a:gd fmla="val 4444" name="adj"/>
              </a:avLst>
            </a:prstGeom>
            <a:solidFill>
              <a:srgbClr val="F5F3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8" name="Google Shape;318;p21"/>
            <p:cNvGrpSpPr/>
            <p:nvPr/>
          </p:nvGrpSpPr>
          <p:grpSpPr>
            <a:xfrm>
              <a:off x="285750" y="285750"/>
              <a:ext cx="1428900" cy="266700"/>
              <a:chOff x="0" y="0"/>
              <a:chExt cx="1428900" cy="266700"/>
            </a:xfrm>
          </p:grpSpPr>
          <p:sp>
            <p:nvSpPr>
              <p:cNvPr id="319" name="Google Shape;319;p21"/>
              <p:cNvSpPr/>
              <p:nvPr/>
            </p:nvSpPr>
            <p:spPr>
              <a:xfrm>
                <a:off x="0" y="0"/>
                <a:ext cx="14289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0E7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21"/>
              <p:cNvSpPr txBox="1"/>
              <p:nvPr/>
            </p:nvSpPr>
            <p:spPr>
              <a:xfrm>
                <a:off x="0" y="0"/>
                <a:ext cx="1428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312E8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Engineering Reality</a:t>
                </a:r>
                <a:endParaRPr b="1" sz="1000">
                  <a:solidFill>
                    <a:srgbClr val="312E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321" name="Google Shape;321;p21"/>
            <p:cNvSpPr txBox="1"/>
            <p:nvPr/>
          </p:nvSpPr>
          <p:spPr>
            <a:xfrm>
              <a:off x="762000" y="762000"/>
              <a:ext cx="4334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Iterative Feedback Loop</a:t>
              </a:r>
              <a:endParaRPr b="1" i="0" sz="1800">
                <a:solidFill>
                  <a:srgbClr val="4C1D9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285750" y="1333500"/>
              <a:ext cx="4810200" cy="571500"/>
            </a:xfrm>
            <a:prstGeom prst="roundRect">
              <a:avLst>
                <a:gd fmla="val 13333" name="adj"/>
              </a:avLst>
            </a:prstGeom>
            <a:solidFill>
              <a:srgbClr val="FAF5FF"/>
            </a:solidFill>
            <a:ln cap="flat" cmpd="sng" w="9525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1"/>
            <p:cNvSpPr txBox="1"/>
            <p:nvPr/>
          </p:nvSpPr>
          <p:spPr>
            <a:xfrm>
              <a:off x="428625" y="1333500"/>
              <a:ext cx="4524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Write Code </a:t>
              </a:r>
              <a:r>
                <a:rPr b="1" lang="en-US" sz="1150">
                  <a:solidFill>
                    <a:srgbClr val="C084F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1" lang="en-US" sz="11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Compile </a:t>
              </a:r>
              <a:r>
                <a:rPr b="1" lang="en-US" sz="1150">
                  <a:solidFill>
                    <a:srgbClr val="C084F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1" lang="en-US" sz="11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Fix </a:t>
              </a:r>
              <a:r>
                <a:rPr b="1" lang="en-US" sz="1150">
                  <a:solidFill>
                    <a:srgbClr val="C084F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1" lang="en-US" sz="11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Test </a:t>
              </a:r>
              <a:r>
                <a:rPr b="1" lang="en-US" sz="1150">
                  <a:solidFill>
                    <a:srgbClr val="C084F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1" lang="en-US" sz="11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Fix </a:t>
              </a:r>
              <a:r>
                <a:rPr b="1" lang="en-US" sz="1150">
                  <a:solidFill>
                    <a:srgbClr val="C084F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1" lang="en-US" sz="11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Deploy </a:t>
              </a:r>
              <a:r>
                <a:rPr b="1" lang="en-US" sz="1150">
                  <a:solidFill>
                    <a:srgbClr val="C084F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→</a:t>
              </a:r>
              <a:r>
                <a:rPr b="1" lang="en-US" sz="1150">
                  <a:solidFill>
                    <a:srgbClr val="6D28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Validate</a:t>
              </a:r>
              <a:endParaRPr b="1" sz="1150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4" name="Google Shape;324;p21"/>
            <p:cNvSpPr txBox="1"/>
            <p:nvPr/>
          </p:nvSpPr>
          <p:spPr>
            <a:xfrm>
              <a:off x="285750" y="2095500"/>
              <a:ext cx="4810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Success comes from controlled iteration and rapid feedback loops, not getting it right on the first attempt.</a:t>
              </a:r>
              <a:endParaRPr b="0" sz="12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25" name="Google Shape;325;p21"/>
          <p:cNvGrpSpPr/>
          <p:nvPr/>
        </p:nvGrpSpPr>
        <p:grpSpPr>
          <a:xfrm>
            <a:off x="476250" y="5143500"/>
            <a:ext cx="11239500" cy="762000"/>
            <a:chOff x="0" y="0"/>
            <a:chExt cx="11239500" cy="762000"/>
          </a:xfrm>
        </p:grpSpPr>
        <p:sp>
          <p:nvSpPr>
            <p:cNvPr id="326" name="Google Shape;326;p21"/>
            <p:cNvSpPr/>
            <p:nvPr/>
          </p:nvSpPr>
          <p:spPr>
            <a:xfrm>
              <a:off x="0" y="0"/>
              <a:ext cx="11239500" cy="762000"/>
            </a:xfrm>
            <a:prstGeom prst="roundRect">
              <a:avLst>
                <a:gd fmla="val 15000" name="adj"/>
              </a:avLst>
            </a:prstGeom>
            <a:solidFill>
              <a:srgbClr val="FAF5FF"/>
            </a:solidFill>
            <a:ln cap="flat" cmpd="sng" w="9525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0" y="0"/>
              <a:ext cx="57300" cy="7620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285750" y="95250"/>
              <a:ext cx="106683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30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"Great AI doesn't fail because it thinks—it fails because it stops too early."</a:t>
              </a:r>
              <a:endParaRPr b="1" i="1" sz="1300">
                <a:solidFill>
                  <a:srgbClr val="5B21B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22"/>
          <p:cNvGrpSpPr/>
          <p:nvPr/>
        </p:nvGrpSpPr>
        <p:grpSpPr>
          <a:xfrm>
            <a:off x="476250" y="1333500"/>
            <a:ext cx="2095500" cy="2952900"/>
            <a:chOff x="0" y="0"/>
            <a:chExt cx="2095500" cy="2952900"/>
          </a:xfrm>
        </p:grpSpPr>
        <p:sp>
          <p:nvSpPr>
            <p:cNvPr id="334" name="Google Shape;334;p22"/>
            <p:cNvSpPr/>
            <p:nvPr/>
          </p:nvSpPr>
          <p:spPr>
            <a:xfrm>
              <a:off x="0" y="0"/>
              <a:ext cx="2095500" cy="2952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142875" y="809625"/>
              <a:ext cx="18096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366F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01</a:t>
              </a:r>
              <a:endParaRPr b="1" sz="1000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</a:t>
              </a:r>
              <a:endParaRPr b="1" sz="1000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Decompose goal into tasks &amp; select strategy.</a:t>
              </a:r>
              <a:endParaRPr b="0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37" name="Google Shape;337;p22"/>
          <p:cNvGrpSpPr/>
          <p:nvPr/>
        </p:nvGrpSpPr>
        <p:grpSpPr>
          <a:xfrm>
            <a:off x="2786063" y="1333500"/>
            <a:ext cx="2095500" cy="2952900"/>
            <a:chOff x="0" y="0"/>
            <a:chExt cx="2095500" cy="2952900"/>
          </a:xfrm>
        </p:grpSpPr>
        <p:sp>
          <p:nvSpPr>
            <p:cNvPr id="338" name="Google Shape;338;p22"/>
            <p:cNvSpPr/>
            <p:nvPr/>
          </p:nvSpPr>
          <p:spPr>
            <a:xfrm>
              <a:off x="0" y="0"/>
              <a:ext cx="2095500" cy="2952900"/>
            </a:xfrm>
            <a:prstGeom prst="roundRect">
              <a:avLst>
                <a:gd fmla="val 7272" name="adj"/>
              </a:avLst>
            </a:prstGeom>
            <a:solidFill>
              <a:srgbClr val="FDF2F8"/>
            </a:solidFill>
            <a:ln cap="flat" cmpd="sng" w="14300">
              <a:solidFill>
                <a:srgbClr val="FBCF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EC48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2"/>
            <p:cNvSpPr txBox="1"/>
            <p:nvPr/>
          </p:nvSpPr>
          <p:spPr>
            <a:xfrm>
              <a:off x="142875" y="809625"/>
              <a:ext cx="18096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EC489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02</a:t>
              </a:r>
              <a:endParaRPr b="1" sz="1000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Execute</a:t>
              </a:r>
              <a:endParaRPr b="1" sz="1000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Call LLM, invoke tools, modify files.</a:t>
              </a:r>
              <a:endParaRPr b="0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41" name="Google Shape;341;p22"/>
          <p:cNvGrpSpPr/>
          <p:nvPr/>
        </p:nvGrpSpPr>
        <p:grpSpPr>
          <a:xfrm>
            <a:off x="5095875" y="1333500"/>
            <a:ext cx="2095500" cy="2952900"/>
            <a:chOff x="0" y="0"/>
            <a:chExt cx="2095500" cy="2952900"/>
          </a:xfrm>
        </p:grpSpPr>
        <p:sp>
          <p:nvSpPr>
            <p:cNvPr id="342" name="Google Shape;342;p22"/>
            <p:cNvSpPr/>
            <p:nvPr/>
          </p:nvSpPr>
          <p:spPr>
            <a:xfrm>
              <a:off x="0" y="0"/>
              <a:ext cx="2095500" cy="2952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2"/>
            <p:cNvSpPr txBox="1"/>
            <p:nvPr/>
          </p:nvSpPr>
          <p:spPr>
            <a:xfrm>
              <a:off x="142875" y="809625"/>
              <a:ext cx="18096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B82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03</a:t>
              </a:r>
              <a:endParaRPr b="1" sz="1000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Observe</a:t>
              </a:r>
              <a:endParaRPr b="1" sz="1000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Read logs, outputs, and test responses.</a:t>
              </a:r>
              <a:endParaRPr b="0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45" name="Google Shape;345;p22"/>
          <p:cNvGrpSpPr/>
          <p:nvPr/>
        </p:nvGrpSpPr>
        <p:grpSpPr>
          <a:xfrm>
            <a:off x="7405688" y="1333500"/>
            <a:ext cx="2095500" cy="2952900"/>
            <a:chOff x="0" y="0"/>
            <a:chExt cx="2095500" cy="2952900"/>
          </a:xfrm>
        </p:grpSpPr>
        <p:sp>
          <p:nvSpPr>
            <p:cNvPr id="346" name="Google Shape;346;p22"/>
            <p:cNvSpPr/>
            <p:nvPr/>
          </p:nvSpPr>
          <p:spPr>
            <a:xfrm>
              <a:off x="0" y="0"/>
              <a:ext cx="2095500" cy="2952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2"/>
            <p:cNvSpPr txBox="1"/>
            <p:nvPr/>
          </p:nvSpPr>
          <p:spPr>
            <a:xfrm>
              <a:off x="142875" y="809625"/>
              <a:ext cx="18096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59E0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04</a:t>
              </a:r>
              <a:endParaRPr b="1" sz="1000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Reflect</a:t>
              </a:r>
              <a:endParaRPr b="1" sz="1000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Analyze failures &amp; find root cause.</a:t>
              </a:r>
              <a:endParaRPr b="0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49" name="Google Shape;349;p22"/>
          <p:cNvGrpSpPr/>
          <p:nvPr/>
        </p:nvGrpSpPr>
        <p:grpSpPr>
          <a:xfrm>
            <a:off x="9715500" y="1333500"/>
            <a:ext cx="2095500" cy="2952900"/>
            <a:chOff x="0" y="0"/>
            <a:chExt cx="2095500" cy="2952900"/>
          </a:xfrm>
        </p:grpSpPr>
        <p:sp>
          <p:nvSpPr>
            <p:cNvPr id="350" name="Google Shape;350;p22"/>
            <p:cNvSpPr/>
            <p:nvPr/>
          </p:nvSpPr>
          <p:spPr>
            <a:xfrm>
              <a:off x="0" y="0"/>
              <a:ext cx="2095500" cy="2952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0" y="0"/>
              <a:ext cx="20955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 txBox="1"/>
            <p:nvPr/>
          </p:nvSpPr>
          <p:spPr>
            <a:xfrm>
              <a:off x="142875" y="809625"/>
              <a:ext cx="18096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Stage 05</a:t>
              </a:r>
              <a:endParaRPr b="1" sz="100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Decide</a:t>
              </a:r>
              <a:endParaRPr b="1" sz="100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Retry, continue, escalate or complete.</a:t>
              </a:r>
              <a:endParaRPr b="0" sz="11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53" name="Google Shape;353;p22"/>
          <p:cNvGrpSpPr/>
          <p:nvPr/>
        </p:nvGrpSpPr>
        <p:grpSpPr>
          <a:xfrm>
            <a:off x="476250" y="4572000"/>
            <a:ext cx="11239500" cy="762000"/>
            <a:chOff x="0" y="0"/>
            <a:chExt cx="11239500" cy="762000"/>
          </a:xfrm>
        </p:grpSpPr>
        <p:sp>
          <p:nvSpPr>
            <p:cNvPr id="354" name="Google Shape;354;p22"/>
            <p:cNvSpPr/>
            <p:nvPr/>
          </p:nvSpPr>
          <p:spPr>
            <a:xfrm>
              <a:off x="0" y="0"/>
              <a:ext cx="11239500" cy="762000"/>
            </a:xfrm>
            <a:prstGeom prst="roundRect">
              <a:avLst>
                <a:gd fmla="val 15000" name="adj"/>
              </a:avLst>
            </a:prstGeom>
            <a:solidFill>
              <a:srgbClr val="FAF5FF"/>
            </a:solidFill>
            <a:ln cap="flat" cmpd="sng" w="9525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0" y="0"/>
              <a:ext cx="57300" cy="7620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2"/>
            <p:cNvSpPr txBox="1"/>
            <p:nvPr/>
          </p:nvSpPr>
          <p:spPr>
            <a:xfrm>
              <a:off x="762000" y="95250"/>
              <a:ext cx="1019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The LLM is only involved during </a:t>
              </a:r>
              <a:r>
                <a:rPr b="1" lang="en-US" sz="1350">
                  <a:solidFill>
                    <a:srgbClr val="8B5C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Execute</a:t>
              </a:r>
              <a:r>
                <a:rPr b="0" lang="en-US" sz="135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. All other stages are pure execution engineering!</a:t>
              </a:r>
              <a:endParaRPr b="0" sz="1350">
                <a:solidFill>
                  <a:srgbClr val="4C1D9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57" name="Google Shape;357;p22"/>
          <p:cNvSpPr txBox="1"/>
          <p:nvPr/>
        </p:nvSpPr>
        <p:spPr>
          <a:xfrm>
            <a:off x="476250" y="381000"/>
            <a:ext cx="117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Enterprise Loop Lifecycle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476250" y="822870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22"/>
          <p:cNvGrpSpPr/>
          <p:nvPr/>
        </p:nvGrpSpPr>
        <p:grpSpPr>
          <a:xfrm>
            <a:off x="1390650" y="1600200"/>
            <a:ext cx="266700" cy="371475"/>
            <a:chOff x="95250" y="28575"/>
            <a:chExt cx="266700" cy="371475"/>
          </a:xfrm>
        </p:grpSpPr>
        <p:sp>
          <p:nvSpPr>
            <p:cNvPr id="360" name="Google Shape;360;p22"/>
            <p:cNvSpPr/>
            <p:nvPr/>
          </p:nvSpPr>
          <p:spPr>
            <a:xfrm>
              <a:off x="95250" y="57150"/>
              <a:ext cx="266700" cy="342900"/>
            </a:xfrm>
            <a:prstGeom prst="roundRect">
              <a:avLst>
                <a:gd fmla="val 14285" name="adj"/>
              </a:avLst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171450" y="28575"/>
              <a:ext cx="114300" cy="285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120000"/>
                  </a:lnTo>
                  <a:cubicBezTo>
                    <a:pt x="120000" y="53726"/>
                    <a:pt x="106569" y="0"/>
                    <a:pt x="90000" y="0"/>
                  </a:cubicBezTo>
                  <a:lnTo>
                    <a:pt x="30000" y="0"/>
                  </a:lnTo>
                  <a:cubicBezTo>
                    <a:pt x="13431" y="0"/>
                    <a:pt x="0" y="53726"/>
                    <a:pt x="0" y="120000"/>
                  </a:cubicBez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2" name="Google Shape;362;p22"/>
            <p:cNvCxnSpPr/>
            <p:nvPr/>
          </p:nvCxnSpPr>
          <p:spPr>
            <a:xfrm>
              <a:off x="152400" y="152400"/>
              <a:ext cx="1524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22"/>
            <p:cNvCxnSpPr/>
            <p:nvPr/>
          </p:nvCxnSpPr>
          <p:spPr>
            <a:xfrm>
              <a:off x="152400" y="228600"/>
              <a:ext cx="1524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22"/>
            <p:cNvCxnSpPr/>
            <p:nvPr/>
          </p:nvCxnSpPr>
          <p:spPr>
            <a:xfrm>
              <a:off x="152400" y="304800"/>
              <a:ext cx="954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5" name="Google Shape;365;p22"/>
          <p:cNvSpPr/>
          <p:nvPr/>
        </p:nvSpPr>
        <p:spPr>
          <a:xfrm>
            <a:off x="3643313" y="1666875"/>
            <a:ext cx="381000" cy="266700"/>
          </a:xfrm>
          <a:custGeom>
            <a:rect b="b" l="l" r="r" t="t"/>
            <a:pathLst>
              <a:path extrusionOk="0" h="120000" w="120000">
                <a:moveTo>
                  <a:pt x="30000" y="17143"/>
                </a:moveTo>
                <a:lnTo>
                  <a:pt x="0" y="60000"/>
                </a:lnTo>
                <a:lnTo>
                  <a:pt x="30000" y="102857"/>
                </a:lnTo>
                <a:moveTo>
                  <a:pt x="90000" y="17143"/>
                </a:moveTo>
                <a:lnTo>
                  <a:pt x="120000" y="60000"/>
                </a:lnTo>
                <a:lnTo>
                  <a:pt x="90000" y="102857"/>
                </a:lnTo>
                <a:moveTo>
                  <a:pt x="66000" y="0"/>
                </a:moveTo>
                <a:lnTo>
                  <a:pt x="54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335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6" name="Google Shape;366;p22"/>
          <p:cNvGrpSpPr/>
          <p:nvPr/>
        </p:nvGrpSpPr>
        <p:grpSpPr>
          <a:xfrm>
            <a:off x="5934075" y="1657350"/>
            <a:ext cx="419100" cy="285900"/>
            <a:chOff x="19050" y="85725"/>
            <a:chExt cx="419100" cy="285900"/>
          </a:xfrm>
        </p:grpSpPr>
        <p:sp>
          <p:nvSpPr>
            <p:cNvPr id="367" name="Google Shape;367;p22"/>
            <p:cNvSpPr/>
            <p:nvPr/>
          </p:nvSpPr>
          <p:spPr>
            <a:xfrm>
              <a:off x="19050" y="85725"/>
              <a:ext cx="419100" cy="2859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21818" y="0"/>
                  </a:lnTo>
                  <a:lnTo>
                    <a:pt x="60000" y="0"/>
                  </a:lnTo>
                  <a:lnTo>
                    <a:pt x="120000" y="60000"/>
                  </a:lnTo>
                  <a:lnTo>
                    <a:pt x="120000" y="60000"/>
                  </a:lnTo>
                  <a:lnTo>
                    <a:pt x="98182" y="120000"/>
                  </a:lnTo>
                  <a:lnTo>
                    <a:pt x="60000" y="120000"/>
                  </a:lnTo>
                  <a:lnTo>
                    <a:pt x="0" y="6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33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171450" y="171450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33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22"/>
          <p:cNvSpPr/>
          <p:nvPr/>
        </p:nvSpPr>
        <p:spPr>
          <a:xfrm>
            <a:off x="8320088" y="1628775"/>
            <a:ext cx="266700" cy="342900"/>
          </a:xfrm>
          <a:custGeom>
            <a:rect b="b" l="l" r="r" t="t"/>
            <a:pathLst>
              <a:path extrusionOk="0" h="120000" w="120000">
                <a:moveTo>
                  <a:pt x="21429" y="106667"/>
                </a:moveTo>
                <a:lnTo>
                  <a:pt x="98571" y="106667"/>
                </a:lnTo>
                <a:moveTo>
                  <a:pt x="34286" y="120000"/>
                </a:moveTo>
                <a:lnTo>
                  <a:pt x="85714" y="120000"/>
                </a:lnTo>
                <a:moveTo>
                  <a:pt x="60000" y="0"/>
                </a:moveTo>
                <a:cubicBezTo>
                  <a:pt x="26863" y="0"/>
                  <a:pt x="0" y="20893"/>
                  <a:pt x="0" y="46667"/>
                </a:cubicBezTo>
                <a:cubicBezTo>
                  <a:pt x="0" y="72333"/>
                  <a:pt x="22714" y="88000"/>
                  <a:pt x="34286" y="100000"/>
                </a:cubicBezTo>
                <a:lnTo>
                  <a:pt x="85714" y="100000"/>
                </a:lnTo>
                <a:cubicBezTo>
                  <a:pt x="97286" y="88000"/>
                  <a:pt x="120000" y="72333"/>
                  <a:pt x="120000" y="46667"/>
                </a:cubicBezTo>
                <a:cubicBezTo>
                  <a:pt x="120000" y="34290"/>
                  <a:pt x="113679" y="22420"/>
                  <a:pt x="102427" y="13668"/>
                </a:cubicBezTo>
                <a:cubicBezTo>
                  <a:pt x="91174" y="4917"/>
                  <a:pt x="75913" y="0"/>
                  <a:pt x="60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rnd" cmpd="sng" w="333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>
            <a:off x="10629900" y="1666875"/>
            <a:ext cx="266700" cy="3240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60000" y="49412"/>
                </a:lnTo>
                <a:moveTo>
                  <a:pt x="60000" y="49412"/>
                </a:moveTo>
                <a:lnTo>
                  <a:pt x="0" y="0"/>
                </a:lnTo>
                <a:moveTo>
                  <a:pt x="60000" y="49412"/>
                </a:moveTo>
                <a:lnTo>
                  <a:pt x="120000" y="0"/>
                </a:lnTo>
                <a:moveTo>
                  <a:pt x="0" y="0"/>
                </a:moveTo>
                <a:lnTo>
                  <a:pt x="42857" y="0"/>
                </a:lnTo>
                <a:moveTo>
                  <a:pt x="0" y="0"/>
                </a:moveTo>
                <a:lnTo>
                  <a:pt x="0" y="35294"/>
                </a:lnTo>
                <a:moveTo>
                  <a:pt x="120000" y="0"/>
                </a:moveTo>
                <a:lnTo>
                  <a:pt x="77143" y="0"/>
                </a:lnTo>
                <a:moveTo>
                  <a:pt x="120000" y="0"/>
                </a:moveTo>
                <a:lnTo>
                  <a:pt x="120000" y="35294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33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" name="Google Shape;371;p22"/>
          <p:cNvGrpSpPr/>
          <p:nvPr/>
        </p:nvGrpSpPr>
        <p:grpSpPr>
          <a:xfrm>
            <a:off x="752475" y="4800600"/>
            <a:ext cx="304800" cy="304800"/>
            <a:chOff x="38100" y="38100"/>
            <a:chExt cx="304800" cy="304800"/>
          </a:xfrm>
        </p:grpSpPr>
        <p:sp>
          <p:nvSpPr>
            <p:cNvPr id="372" name="Google Shape;372;p22"/>
            <p:cNvSpPr/>
            <p:nvPr/>
          </p:nvSpPr>
          <p:spPr>
            <a:xfrm>
              <a:off x="38100" y="38100"/>
              <a:ext cx="304800" cy="3048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190500" y="114300"/>
              <a:ext cx="0" cy="152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9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333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9" name="Google Shape;379;p23"/>
          <p:cNvGrpSpPr/>
          <p:nvPr/>
        </p:nvGrpSpPr>
        <p:grpSpPr>
          <a:xfrm>
            <a:off x="476250" y="1428750"/>
            <a:ext cx="2524200" cy="3619500"/>
            <a:chOff x="0" y="0"/>
            <a:chExt cx="2524200" cy="3619500"/>
          </a:xfrm>
        </p:grpSpPr>
        <p:sp>
          <p:nvSpPr>
            <p:cNvPr id="380" name="Google Shape;380;p23"/>
            <p:cNvSpPr/>
            <p:nvPr/>
          </p:nvSpPr>
          <p:spPr>
            <a:xfrm>
              <a:off x="0" y="0"/>
              <a:ext cx="2524200" cy="36195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190500" y="904875"/>
              <a:ext cx="21432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366F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PATTERN 01</a:t>
              </a:r>
              <a:endParaRPr b="1" sz="900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Planner → Executor</a:t>
              </a:r>
              <a:endParaRPr b="1" sz="14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Planner decides </a:t>
              </a:r>
              <a:r>
                <a:rPr b="0" i="1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what</a:t>
              </a: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needs to be done; Executor handles </a:t>
              </a:r>
              <a:r>
                <a:rPr b="0" i="1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how</a:t>
              </a: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to execute individual actions.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83" name="Google Shape;383;p23"/>
          <p:cNvGrpSpPr/>
          <p:nvPr/>
        </p:nvGrpSpPr>
        <p:grpSpPr>
          <a:xfrm>
            <a:off x="3381375" y="1428750"/>
            <a:ext cx="2524200" cy="3619500"/>
            <a:chOff x="0" y="0"/>
            <a:chExt cx="2524200" cy="3619500"/>
          </a:xfrm>
        </p:grpSpPr>
        <p:sp>
          <p:nvSpPr>
            <p:cNvPr id="384" name="Google Shape;384;p23"/>
            <p:cNvSpPr/>
            <p:nvPr/>
          </p:nvSpPr>
          <p:spPr>
            <a:xfrm>
              <a:off x="0" y="0"/>
              <a:ext cx="2524200" cy="36195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3"/>
            <p:cNvSpPr txBox="1"/>
            <p:nvPr/>
          </p:nvSpPr>
          <p:spPr>
            <a:xfrm>
              <a:off x="190500" y="904875"/>
              <a:ext cx="21432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B5C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PATTERN 02</a:t>
              </a:r>
              <a:endParaRPr b="1" sz="900">
                <a:solidFill>
                  <a:srgbClr val="8B5C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Reflection Loop</a:t>
              </a:r>
              <a:endParaRPr b="1" sz="14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Agent evaluates its output against criteria, generating feedback to refine results iteratively.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87" name="Google Shape;387;p23"/>
          <p:cNvGrpSpPr/>
          <p:nvPr/>
        </p:nvGrpSpPr>
        <p:grpSpPr>
          <a:xfrm>
            <a:off x="6286500" y="1428750"/>
            <a:ext cx="2524200" cy="3619500"/>
            <a:chOff x="0" y="0"/>
            <a:chExt cx="2524200" cy="3619500"/>
          </a:xfrm>
        </p:grpSpPr>
        <p:sp>
          <p:nvSpPr>
            <p:cNvPr id="388" name="Google Shape;388;p23"/>
            <p:cNvSpPr/>
            <p:nvPr/>
          </p:nvSpPr>
          <p:spPr>
            <a:xfrm>
              <a:off x="0" y="0"/>
              <a:ext cx="2524200" cy="36195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3"/>
            <p:cNvSpPr txBox="1"/>
            <p:nvPr/>
          </p:nvSpPr>
          <p:spPr>
            <a:xfrm>
              <a:off x="190500" y="904875"/>
              <a:ext cx="21432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3B82F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PATTERN 03</a:t>
              </a:r>
              <a:endParaRPr b="1" sz="900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Critic / Gatekeeper</a:t>
              </a:r>
              <a:endParaRPr b="1" sz="14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Dedicated validator agent evaluates compliance, security, or code quality before granting approval.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91" name="Google Shape;391;p23"/>
          <p:cNvGrpSpPr/>
          <p:nvPr/>
        </p:nvGrpSpPr>
        <p:grpSpPr>
          <a:xfrm>
            <a:off x="9191625" y="1428750"/>
            <a:ext cx="2524200" cy="3619500"/>
            <a:chOff x="0" y="0"/>
            <a:chExt cx="2524200" cy="3619500"/>
          </a:xfrm>
        </p:grpSpPr>
        <p:sp>
          <p:nvSpPr>
            <p:cNvPr id="392" name="Google Shape;392;p23"/>
            <p:cNvSpPr/>
            <p:nvPr/>
          </p:nvSpPr>
          <p:spPr>
            <a:xfrm>
              <a:off x="0" y="0"/>
              <a:ext cx="2524200" cy="36195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3"/>
            <p:cNvSpPr txBox="1"/>
            <p:nvPr/>
          </p:nvSpPr>
          <p:spPr>
            <a:xfrm>
              <a:off x="190500" y="904875"/>
              <a:ext cx="21432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PATTERN 04</a:t>
              </a:r>
              <a:endParaRPr b="1" sz="90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Repair Loop</a:t>
              </a:r>
              <a:endParaRPr b="1" sz="14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Captures error stack traces, identifies root cause, applies patch, and re-runs test suite automatically.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95" name="Google Shape;395;p23"/>
          <p:cNvSpPr txBox="1"/>
          <p:nvPr/>
        </p:nvSpPr>
        <p:spPr>
          <a:xfrm>
            <a:off x="476250" y="381000"/>
            <a:ext cx="117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Loop Design Patterns</a:t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476250" y="822870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" name="Google Shape;397;p23"/>
          <p:cNvGrpSpPr/>
          <p:nvPr/>
        </p:nvGrpSpPr>
        <p:grpSpPr>
          <a:xfrm>
            <a:off x="666750" y="1733550"/>
            <a:ext cx="457200" cy="457200"/>
            <a:chOff x="0" y="0"/>
            <a:chExt cx="457200" cy="457200"/>
          </a:xfrm>
        </p:grpSpPr>
        <p:sp>
          <p:nvSpPr>
            <p:cNvPr id="398" name="Google Shape;398;p23"/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95250" y="76200"/>
              <a:ext cx="266700" cy="324000"/>
            </a:xfrm>
            <a:prstGeom prst="roundRect">
              <a:avLst>
                <a:gd fmla="val 10714" name="adj"/>
              </a:avLst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171450" y="47625"/>
              <a:ext cx="114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152400" y="171450"/>
              <a:ext cx="152400" cy="152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60000"/>
                  </a:moveTo>
                  <a:lnTo>
                    <a:pt x="75000" y="6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23"/>
          <p:cNvGrpSpPr/>
          <p:nvPr/>
        </p:nvGrpSpPr>
        <p:grpSpPr>
          <a:xfrm>
            <a:off x="3571875" y="1733550"/>
            <a:ext cx="457200" cy="457200"/>
            <a:chOff x="0" y="0"/>
            <a:chExt cx="457200" cy="457200"/>
          </a:xfrm>
        </p:grpSpPr>
        <p:sp>
          <p:nvSpPr>
            <p:cNvPr id="403" name="Google Shape;403;p23"/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76200" y="762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50" y="0"/>
                    <a:pt x="0" y="26850"/>
                    <a:pt x="0" y="60000"/>
                  </a:cubicBezTo>
                  <a:lnTo>
                    <a:pt x="15000" y="60000"/>
                  </a:lnTo>
                  <a:cubicBezTo>
                    <a:pt x="15000" y="35137"/>
                    <a:pt x="35137" y="15000"/>
                    <a:pt x="60000" y="15000"/>
                  </a:cubicBezTo>
                  <a:lnTo>
                    <a:pt x="105000" y="35137"/>
                  </a:lnTo>
                  <a:lnTo>
                    <a:pt x="105000" y="60000"/>
                  </a:lnTo>
                  <a:lnTo>
                    <a:pt x="84863" y="105000"/>
                  </a:lnTo>
                  <a:lnTo>
                    <a:pt x="60000" y="105000"/>
                  </a:lnTo>
                  <a:cubicBezTo>
                    <a:pt x="47588" y="105000"/>
                    <a:pt x="36338" y="99975"/>
                    <a:pt x="28163" y="91838"/>
                  </a:cubicBezTo>
                  <a:lnTo>
                    <a:pt x="17550" y="102450"/>
                  </a:lnTo>
                  <a:cubicBezTo>
                    <a:pt x="28275" y="113100"/>
                    <a:pt x="43275" y="120000"/>
                    <a:pt x="60000" y="120000"/>
                  </a:cubicBezTo>
                  <a:cubicBezTo>
                    <a:pt x="93150" y="120000"/>
                    <a:pt x="120000" y="93150"/>
                    <a:pt x="120000" y="60000"/>
                  </a:cubicBezTo>
                  <a:lnTo>
                    <a:pt x="93150" y="0"/>
                  </a:lnTo>
                  <a:lnTo>
                    <a:pt x="60000" y="0"/>
                  </a:ln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19050" y="190500"/>
              <a:ext cx="114300" cy="573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23"/>
          <p:cNvGrpSpPr/>
          <p:nvPr/>
        </p:nvGrpSpPr>
        <p:grpSpPr>
          <a:xfrm>
            <a:off x="6477000" y="1733550"/>
            <a:ext cx="457200" cy="457200"/>
            <a:chOff x="0" y="0"/>
            <a:chExt cx="457200" cy="457200"/>
          </a:xfrm>
        </p:grpSpPr>
        <p:sp>
          <p:nvSpPr>
            <p:cNvPr id="407" name="Google Shape;407;p23"/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76200" y="38100"/>
              <a:ext cx="3048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0" y="18000"/>
                  </a:lnTo>
                  <a:lnTo>
                    <a:pt x="0" y="54000"/>
                  </a:lnTo>
                  <a:cubicBezTo>
                    <a:pt x="0" y="83640"/>
                    <a:pt x="25575" y="111300"/>
                    <a:pt x="60000" y="120000"/>
                  </a:cubicBezTo>
                  <a:cubicBezTo>
                    <a:pt x="94425" y="111300"/>
                    <a:pt x="120000" y="83640"/>
                    <a:pt x="120000" y="54000"/>
                  </a:cubicBezTo>
                  <a:lnTo>
                    <a:pt x="120000" y="18000"/>
                  </a:lnTo>
                  <a:lnTo>
                    <a:pt x="60000" y="0"/>
                  </a:lnTo>
                  <a:close/>
                  <a:moveTo>
                    <a:pt x="60000" y="107400"/>
                  </a:moveTo>
                  <a:cubicBezTo>
                    <a:pt x="32325" y="99780"/>
                    <a:pt x="12000" y="76740"/>
                    <a:pt x="12000" y="54000"/>
                  </a:cubicBezTo>
                  <a:lnTo>
                    <a:pt x="12000" y="23640"/>
                  </a:lnTo>
                  <a:lnTo>
                    <a:pt x="60000" y="9240"/>
                  </a:lnTo>
                  <a:lnTo>
                    <a:pt x="108000" y="23640"/>
                  </a:lnTo>
                  <a:lnTo>
                    <a:pt x="108000" y="54000"/>
                  </a:lnTo>
                  <a:cubicBezTo>
                    <a:pt x="108000" y="76740"/>
                    <a:pt x="87675" y="99780"/>
                    <a:pt x="60000" y="107400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171450" y="152400"/>
              <a:ext cx="133500" cy="95400"/>
            </a:xfrm>
            <a:custGeom>
              <a:rect b="b" l="l" r="r" t="t"/>
              <a:pathLst>
                <a:path extrusionOk="0" h="120000" w="120000">
                  <a:moveTo>
                    <a:pt x="0" y="72000"/>
                  </a:moveTo>
                  <a:lnTo>
                    <a:pt x="34286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0" name="Google Shape;410;p23"/>
          <p:cNvGrpSpPr/>
          <p:nvPr/>
        </p:nvGrpSpPr>
        <p:grpSpPr>
          <a:xfrm>
            <a:off x="9382125" y="1733550"/>
            <a:ext cx="457200" cy="457200"/>
            <a:chOff x="0" y="0"/>
            <a:chExt cx="457200" cy="457200"/>
          </a:xfrm>
        </p:grpSpPr>
        <p:sp>
          <p:nvSpPr>
            <p:cNvPr id="411" name="Google Shape;411;p23"/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22860" y="3810"/>
              <a:ext cx="373500" cy="402000"/>
            </a:xfrm>
            <a:custGeom>
              <a:rect b="b" l="l" r="r" t="t"/>
              <a:pathLst>
                <a:path extrusionOk="0" h="120000" w="120000">
                  <a:moveTo>
                    <a:pt x="120000" y="17062"/>
                  </a:moveTo>
                  <a:cubicBezTo>
                    <a:pt x="106837" y="4834"/>
                    <a:pt x="86020" y="3697"/>
                    <a:pt x="71633" y="14218"/>
                  </a:cubicBezTo>
                  <a:lnTo>
                    <a:pt x="54490" y="30142"/>
                  </a:lnTo>
                  <a:lnTo>
                    <a:pt x="87551" y="60853"/>
                  </a:lnTo>
                  <a:lnTo>
                    <a:pt x="104694" y="44929"/>
                  </a:lnTo>
                  <a:cubicBezTo>
                    <a:pt x="116020" y="31564"/>
                    <a:pt x="114796" y="12227"/>
                    <a:pt x="101633" y="0"/>
                  </a:cubicBezTo>
                  <a:close/>
                  <a:moveTo>
                    <a:pt x="47143" y="39242"/>
                  </a:moveTo>
                  <a:lnTo>
                    <a:pt x="7347" y="76209"/>
                  </a:lnTo>
                  <a:cubicBezTo>
                    <a:pt x="0" y="83033"/>
                    <a:pt x="0" y="94123"/>
                    <a:pt x="7347" y="100948"/>
                  </a:cubicBezTo>
                  <a:lnTo>
                    <a:pt x="20510" y="113175"/>
                  </a:lnTo>
                  <a:cubicBezTo>
                    <a:pt x="27857" y="120000"/>
                    <a:pt x="39796" y="120000"/>
                    <a:pt x="47143" y="113175"/>
                  </a:cubicBezTo>
                  <a:lnTo>
                    <a:pt x="86939" y="76209"/>
                  </a:lnTo>
                  <a:lnTo>
                    <a:pt x="47143" y="39242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24"/>
          <p:cNvGrpSpPr/>
          <p:nvPr/>
        </p:nvGrpSpPr>
        <p:grpSpPr>
          <a:xfrm>
            <a:off x="476250" y="428625"/>
            <a:ext cx="1714500" cy="285900"/>
            <a:chOff x="0" y="0"/>
            <a:chExt cx="1714500" cy="285900"/>
          </a:xfrm>
        </p:grpSpPr>
        <p:sp>
          <p:nvSpPr>
            <p:cNvPr id="419" name="Google Shape;419;p24"/>
            <p:cNvSpPr/>
            <p:nvPr/>
          </p:nvSpPr>
          <p:spPr>
            <a:xfrm>
              <a:off x="0" y="0"/>
              <a:ext cx="1714500" cy="285900"/>
            </a:xfrm>
            <a:prstGeom prst="roundRect">
              <a:avLst>
                <a:gd fmla="val 50000" name="adj"/>
              </a:avLst>
            </a:prstGeom>
            <a:solidFill>
              <a:srgbClr val="FEF3C7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4"/>
            <p:cNvSpPr txBox="1"/>
            <p:nvPr/>
          </p:nvSpPr>
          <p:spPr>
            <a:xfrm>
              <a:off x="0" y="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B4530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Scaling Bottleneck</a:t>
              </a:r>
              <a:endParaRPr b="1" sz="1050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21" name="Google Shape;421;p24"/>
          <p:cNvSpPr txBox="1"/>
          <p:nvPr/>
        </p:nvSpPr>
        <p:spPr>
          <a:xfrm>
            <a:off x="476250" y="904875"/>
            <a:ext cx="11239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One Agent Eventually Fails</a:t>
            </a:r>
            <a:endParaRPr b="1" sz="2400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476250" y="1476375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"/>
          <p:cNvSpPr txBox="1"/>
          <p:nvPr/>
        </p:nvSpPr>
        <p:spPr>
          <a:xfrm>
            <a:off x="476250" y="1666875"/>
            <a:ext cx="11239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 scope grows, concentrating every responsibility into a single agent loop causes severe context overload.</a:t>
            </a:r>
            <a:endParaRPr b="0" sz="13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24" name="Google Shape;424;p24"/>
          <p:cNvGrpSpPr/>
          <p:nvPr/>
        </p:nvGrpSpPr>
        <p:grpSpPr>
          <a:xfrm>
            <a:off x="476250" y="2286000"/>
            <a:ext cx="3486300" cy="2190900"/>
            <a:chOff x="0" y="0"/>
            <a:chExt cx="3486300" cy="2190900"/>
          </a:xfrm>
        </p:grpSpPr>
        <p:sp>
          <p:nvSpPr>
            <p:cNvPr id="425" name="Google Shape;425;p24"/>
            <p:cNvSpPr/>
            <p:nvPr/>
          </p:nvSpPr>
          <p:spPr>
            <a:xfrm>
              <a:off x="0" y="0"/>
              <a:ext cx="3486300" cy="2190900"/>
            </a:xfrm>
            <a:prstGeom prst="roundRect">
              <a:avLst>
                <a:gd fmla="val 5217" name="adj"/>
              </a:avLst>
            </a:prstGeom>
            <a:solidFill>
              <a:srgbClr val="FFFBEB"/>
            </a:solidFill>
            <a:ln cap="flat" cmpd="sng" w="1430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4"/>
            <p:cNvSpPr txBox="1"/>
            <p:nvPr/>
          </p:nvSpPr>
          <p:spPr>
            <a:xfrm>
              <a:off x="228600" y="762000"/>
              <a:ext cx="3029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78350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Planning &amp; Memory Overload</a:t>
              </a:r>
              <a:endParaRPr b="1" sz="1500">
                <a:solidFill>
                  <a:srgbClr val="78350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2400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Exceeding maximum context window limits as execution history grows complex.</a:t>
              </a:r>
              <a:endParaRPr b="0" sz="1100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28" name="Google Shape;428;p24"/>
          <p:cNvGrpSpPr/>
          <p:nvPr/>
        </p:nvGrpSpPr>
        <p:grpSpPr>
          <a:xfrm>
            <a:off x="4343400" y="2286000"/>
            <a:ext cx="3486300" cy="2190900"/>
            <a:chOff x="0" y="0"/>
            <a:chExt cx="3486300" cy="2190900"/>
          </a:xfrm>
        </p:grpSpPr>
        <p:sp>
          <p:nvSpPr>
            <p:cNvPr id="429" name="Google Shape;429;p24"/>
            <p:cNvSpPr/>
            <p:nvPr/>
          </p:nvSpPr>
          <p:spPr>
            <a:xfrm>
              <a:off x="0" y="0"/>
              <a:ext cx="3486300" cy="2190900"/>
            </a:xfrm>
            <a:prstGeom prst="roundRect">
              <a:avLst>
                <a:gd fmla="val 5217" name="adj"/>
              </a:avLst>
            </a:prstGeom>
            <a:solidFill>
              <a:srgbClr val="FFFBEB"/>
            </a:solidFill>
            <a:ln cap="flat" cmpd="sng" w="1430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 txBox="1"/>
            <p:nvPr/>
          </p:nvSpPr>
          <p:spPr>
            <a:xfrm>
              <a:off x="228600" y="762000"/>
              <a:ext cx="3029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78350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Tool Selection Confusion</a:t>
              </a:r>
              <a:endParaRPr b="1" sz="1500">
                <a:solidFill>
                  <a:srgbClr val="78350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2400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Inability to choose the correct API or function when presented with too many options.</a:t>
              </a:r>
              <a:endParaRPr b="0" sz="1100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32" name="Google Shape;432;p24"/>
          <p:cNvGrpSpPr/>
          <p:nvPr/>
        </p:nvGrpSpPr>
        <p:grpSpPr>
          <a:xfrm>
            <a:off x="8210550" y="2286000"/>
            <a:ext cx="3486300" cy="2190900"/>
            <a:chOff x="0" y="0"/>
            <a:chExt cx="3486300" cy="2190900"/>
          </a:xfrm>
        </p:grpSpPr>
        <p:sp>
          <p:nvSpPr>
            <p:cNvPr id="433" name="Google Shape;433;p24"/>
            <p:cNvSpPr/>
            <p:nvPr/>
          </p:nvSpPr>
          <p:spPr>
            <a:xfrm>
              <a:off x="0" y="0"/>
              <a:ext cx="3486300" cy="2190900"/>
            </a:xfrm>
            <a:prstGeom prst="roundRect">
              <a:avLst>
                <a:gd fmla="val 5217" name="adj"/>
              </a:avLst>
            </a:prstGeom>
            <a:solidFill>
              <a:srgbClr val="FFFBEB"/>
            </a:solidFill>
            <a:ln cap="flat" cmpd="sng" w="14300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4"/>
            <p:cNvSpPr txBox="1"/>
            <p:nvPr/>
          </p:nvSpPr>
          <p:spPr>
            <a:xfrm>
              <a:off x="228600" y="762000"/>
              <a:ext cx="3029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78350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Security Policy Violations</a:t>
              </a:r>
              <a:endParaRPr b="1" sz="1500">
                <a:solidFill>
                  <a:srgbClr val="78350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2400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Failure to isolate high-risk functions leading to potential permission leakages.</a:t>
              </a:r>
              <a:endParaRPr b="0" sz="1100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36" name="Google Shape;436;p24"/>
          <p:cNvGrpSpPr/>
          <p:nvPr/>
        </p:nvGrpSpPr>
        <p:grpSpPr>
          <a:xfrm>
            <a:off x="476250" y="4857750"/>
            <a:ext cx="11239500" cy="818300"/>
            <a:chOff x="0" y="0"/>
            <a:chExt cx="11239500" cy="818300"/>
          </a:xfrm>
        </p:grpSpPr>
        <p:sp>
          <p:nvSpPr>
            <p:cNvPr id="437" name="Google Shape;437;p24"/>
            <p:cNvSpPr/>
            <p:nvPr/>
          </p:nvSpPr>
          <p:spPr>
            <a:xfrm>
              <a:off x="0" y="0"/>
              <a:ext cx="11239500" cy="628800"/>
            </a:xfrm>
            <a:prstGeom prst="roundRect">
              <a:avLst>
                <a:gd fmla="val 12121" name="adj"/>
              </a:avLst>
            </a:prstGeom>
            <a:solidFill>
              <a:srgbClr val="FAF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0" y="0"/>
              <a:ext cx="76200" cy="628800"/>
            </a:xfrm>
            <a:custGeom>
              <a:rect b="b" l="l" r="r" t="t"/>
              <a:pathLst>
                <a:path extrusionOk="0" h="120000" w="120000">
                  <a:moveTo>
                    <a:pt x="0" y="14545"/>
                  </a:moveTo>
                  <a:cubicBezTo>
                    <a:pt x="0" y="6545"/>
                    <a:pt x="54000" y="0"/>
                    <a:pt x="120000" y="0"/>
                  </a:cubicBezTo>
                  <a:lnTo>
                    <a:pt x="120000" y="120000"/>
                  </a:lnTo>
                  <a:cubicBezTo>
                    <a:pt x="54000" y="120000"/>
                    <a:pt x="0" y="113455"/>
                    <a:pt x="0" y="105455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4"/>
            <p:cNvSpPr txBox="1"/>
            <p:nvPr/>
          </p:nvSpPr>
          <p:spPr>
            <a:xfrm>
              <a:off x="285750" y="189500"/>
              <a:ext cx="10668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B21A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Loops optimize time. Graphs optimize coordination across specialized teams.</a:t>
              </a:r>
              <a:endParaRPr b="0" sz="1300">
                <a:solidFill>
                  <a:srgbClr val="6B21A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40" name="Google Shape;440;p24"/>
          <p:cNvGrpSpPr/>
          <p:nvPr/>
        </p:nvGrpSpPr>
        <p:grpSpPr>
          <a:xfrm>
            <a:off x="685800" y="2495550"/>
            <a:ext cx="266700" cy="266700"/>
            <a:chOff x="209550" y="209550"/>
            <a:chExt cx="266700" cy="266700"/>
          </a:xfrm>
        </p:grpSpPr>
        <p:sp>
          <p:nvSpPr>
            <p:cNvPr id="441" name="Google Shape;441;p24"/>
            <p:cNvSpPr/>
            <p:nvPr/>
          </p:nvSpPr>
          <p:spPr>
            <a:xfrm>
              <a:off x="257175" y="257175"/>
              <a:ext cx="171600" cy="171600"/>
            </a:xfrm>
            <a:prstGeom prst="roundRect">
              <a:avLst>
                <a:gd fmla="val 16666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295275" y="295275"/>
              <a:ext cx="95400" cy="95400"/>
            </a:xfrm>
            <a:prstGeom prst="roundRect">
              <a:avLst>
                <a:gd fmla="val 1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209550" y="209550"/>
              <a:ext cx="266700" cy="266700"/>
            </a:xfrm>
            <a:custGeom>
              <a:rect b="b" l="l" r="r" t="t"/>
              <a:pathLst>
                <a:path extrusionOk="0" fill="none" h="120000" w="120000">
                  <a:moveTo>
                    <a:pt x="38571" y="0"/>
                  </a:moveTo>
                  <a:lnTo>
                    <a:pt x="38571" y="21429"/>
                  </a:lnTo>
                  <a:moveTo>
                    <a:pt x="60000" y="0"/>
                  </a:moveTo>
                  <a:lnTo>
                    <a:pt x="60000" y="21429"/>
                  </a:lnTo>
                  <a:moveTo>
                    <a:pt x="81429" y="0"/>
                  </a:moveTo>
                  <a:lnTo>
                    <a:pt x="81429" y="21429"/>
                  </a:lnTo>
                  <a:moveTo>
                    <a:pt x="38571" y="98571"/>
                  </a:moveTo>
                  <a:lnTo>
                    <a:pt x="38571" y="120000"/>
                  </a:lnTo>
                  <a:moveTo>
                    <a:pt x="60000" y="98571"/>
                  </a:moveTo>
                  <a:lnTo>
                    <a:pt x="60000" y="120000"/>
                  </a:lnTo>
                  <a:moveTo>
                    <a:pt x="81429" y="98571"/>
                  </a:moveTo>
                  <a:lnTo>
                    <a:pt x="81429" y="120000"/>
                  </a:lnTo>
                  <a:moveTo>
                    <a:pt x="0" y="38571"/>
                  </a:moveTo>
                  <a:lnTo>
                    <a:pt x="21429" y="38571"/>
                  </a:lnTo>
                  <a:moveTo>
                    <a:pt x="0" y="60000"/>
                  </a:moveTo>
                  <a:lnTo>
                    <a:pt x="21429" y="60000"/>
                  </a:lnTo>
                  <a:moveTo>
                    <a:pt x="0" y="81429"/>
                  </a:moveTo>
                  <a:lnTo>
                    <a:pt x="21429" y="81429"/>
                  </a:lnTo>
                  <a:moveTo>
                    <a:pt x="98571" y="38571"/>
                  </a:moveTo>
                  <a:lnTo>
                    <a:pt x="120000" y="38571"/>
                  </a:lnTo>
                  <a:moveTo>
                    <a:pt x="98571" y="60000"/>
                  </a:moveTo>
                  <a:lnTo>
                    <a:pt x="120000" y="60000"/>
                  </a:lnTo>
                  <a:moveTo>
                    <a:pt x="98571" y="81429"/>
                  </a:moveTo>
                  <a:lnTo>
                    <a:pt x="120000" y="81429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24"/>
          <p:cNvGrpSpPr/>
          <p:nvPr/>
        </p:nvGrpSpPr>
        <p:grpSpPr>
          <a:xfrm>
            <a:off x="4486275" y="2519363"/>
            <a:ext cx="285900" cy="180900"/>
            <a:chOff x="142875" y="233363"/>
            <a:chExt cx="285900" cy="180900"/>
          </a:xfrm>
        </p:grpSpPr>
        <p:sp>
          <p:nvSpPr>
            <p:cNvPr id="445" name="Google Shape;445;p24"/>
            <p:cNvSpPr/>
            <p:nvPr/>
          </p:nvSpPr>
          <p:spPr>
            <a:xfrm>
              <a:off x="142875" y="233363"/>
              <a:ext cx="285900" cy="180900"/>
            </a:xfrm>
            <a:custGeom>
              <a:rect b="b" l="l" r="r" t="t"/>
              <a:pathLst>
                <a:path extrusionOk="0" h="120000" w="120000">
                  <a:moveTo>
                    <a:pt x="44000" y="110526"/>
                  </a:moveTo>
                  <a:lnTo>
                    <a:pt x="84000" y="47368"/>
                  </a:lnTo>
                  <a:moveTo>
                    <a:pt x="72000" y="41053"/>
                  </a:moveTo>
                  <a:lnTo>
                    <a:pt x="92000" y="9474"/>
                  </a:lnTo>
                  <a:cubicBezTo>
                    <a:pt x="98000" y="0"/>
                    <a:pt x="108000" y="0"/>
                    <a:pt x="114000" y="9474"/>
                  </a:cubicBezTo>
                  <a:lnTo>
                    <a:pt x="120000" y="34737"/>
                  </a:lnTo>
                  <a:lnTo>
                    <a:pt x="114000" y="44211"/>
                  </a:lnTo>
                  <a:lnTo>
                    <a:pt x="94000" y="75789"/>
                  </a:lnTo>
                  <a:moveTo>
                    <a:pt x="56000" y="66316"/>
                  </a:moveTo>
                  <a:lnTo>
                    <a:pt x="28000" y="110526"/>
                  </a:lnTo>
                  <a:cubicBezTo>
                    <a:pt x="22000" y="120000"/>
                    <a:pt x="12000" y="120000"/>
                    <a:pt x="6000" y="110526"/>
                  </a:cubicBezTo>
                  <a:lnTo>
                    <a:pt x="0" y="85263"/>
                  </a:lnTo>
                  <a:lnTo>
                    <a:pt x="6000" y="75789"/>
                  </a:lnTo>
                  <a:lnTo>
                    <a:pt x="34000" y="31579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323850" y="323850"/>
              <a:ext cx="38100" cy="38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24"/>
          <p:cNvGrpSpPr/>
          <p:nvPr/>
        </p:nvGrpSpPr>
        <p:grpSpPr>
          <a:xfrm>
            <a:off x="8458200" y="2514600"/>
            <a:ext cx="190500" cy="180900"/>
            <a:chOff x="247650" y="228600"/>
            <a:chExt cx="190500" cy="180900"/>
          </a:xfrm>
        </p:grpSpPr>
        <p:sp>
          <p:nvSpPr>
            <p:cNvPr id="448" name="Google Shape;448;p24"/>
            <p:cNvSpPr/>
            <p:nvPr/>
          </p:nvSpPr>
          <p:spPr>
            <a:xfrm>
              <a:off x="247650" y="228600"/>
              <a:ext cx="190500" cy="180900"/>
            </a:xfrm>
            <a:custGeom>
              <a:rect b="b" l="l" r="r" t="t"/>
              <a:pathLst>
                <a:path extrusionOk="0" h="120000" w="120000">
                  <a:moveTo>
                    <a:pt x="0" y="18947"/>
                  </a:moveTo>
                  <a:lnTo>
                    <a:pt x="60000" y="0"/>
                  </a:lnTo>
                  <a:lnTo>
                    <a:pt x="120000" y="18947"/>
                  </a:lnTo>
                  <a:lnTo>
                    <a:pt x="120000" y="63158"/>
                  </a:lnTo>
                  <a:cubicBezTo>
                    <a:pt x="120000" y="94737"/>
                    <a:pt x="60000" y="120000"/>
                    <a:pt x="60000" y="120000"/>
                  </a:cubicBezTo>
                  <a:lnTo>
                    <a:pt x="0" y="94737"/>
                  </a:lnTo>
                  <a:lnTo>
                    <a:pt x="0" y="63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342900" y="295275"/>
              <a:ext cx="0" cy="762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75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4" name="Google Shape;4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5"/>
          <p:cNvSpPr txBox="1"/>
          <p:nvPr/>
        </p:nvSpPr>
        <p:spPr>
          <a:xfrm>
            <a:off x="476250" y="381000"/>
            <a:ext cx="117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Graph Engineering Fundamentals</a:t>
            </a:r>
            <a:endParaRPr/>
          </a:p>
        </p:txBody>
      </p:sp>
      <p:grpSp>
        <p:nvGrpSpPr>
          <p:cNvPr id="456" name="Google Shape;456;p25"/>
          <p:cNvGrpSpPr/>
          <p:nvPr/>
        </p:nvGrpSpPr>
        <p:grpSpPr>
          <a:xfrm>
            <a:off x="762000" y="1333500"/>
            <a:ext cx="5048400" cy="4857900"/>
            <a:chOff x="0" y="0"/>
            <a:chExt cx="5048400" cy="4857900"/>
          </a:xfrm>
        </p:grpSpPr>
        <p:sp>
          <p:nvSpPr>
            <p:cNvPr id="457" name="Google Shape;457;p25"/>
            <p:cNvSpPr/>
            <p:nvPr/>
          </p:nvSpPr>
          <p:spPr>
            <a:xfrm>
              <a:off x="0" y="0"/>
              <a:ext cx="5048400" cy="4857900"/>
            </a:xfrm>
            <a:prstGeom prst="roundRect">
              <a:avLst>
                <a:gd fmla="val 31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5"/>
            <p:cNvSpPr txBox="1"/>
            <p:nvPr/>
          </p:nvSpPr>
          <p:spPr>
            <a:xfrm>
              <a:off x="333375" y="333375"/>
              <a:ext cx="4381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highlight>
                    <a:srgbClr val="E2E8F0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Workflow Dynamics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Linear vs Non-Linear</a:t>
              </a:r>
              <a:endParaRPr b="1" sz="26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Enterprise work is rarely linear. Payment processing, fraud checks, and risk analysis execute in parallel branches with conditional routing.</a:t>
              </a:r>
              <a:endParaRPr b="0" sz="12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459" name="Google Shape;459;p25"/>
            <p:cNvGrpSpPr/>
            <p:nvPr/>
          </p:nvGrpSpPr>
          <p:grpSpPr>
            <a:xfrm>
              <a:off x="333375" y="2571750"/>
              <a:ext cx="4381500" cy="476400"/>
              <a:chOff x="0" y="0"/>
              <a:chExt cx="4381500" cy="476400"/>
            </a:xfrm>
          </p:grpSpPr>
          <p:sp>
            <p:nvSpPr>
              <p:cNvPr id="460" name="Google Shape;460;p25"/>
              <p:cNvSpPr/>
              <p:nvPr/>
            </p:nvSpPr>
            <p:spPr>
              <a:xfrm>
                <a:off x="0" y="0"/>
                <a:ext cx="419100" cy="419100"/>
              </a:xfrm>
              <a:prstGeom prst="roundRect">
                <a:avLst>
                  <a:gd fmla="val 50000" name="adj"/>
                </a:avLst>
              </a:prstGeom>
              <a:solidFill>
                <a:srgbClr val="EEF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5"/>
              <p:cNvSpPr txBox="1"/>
              <p:nvPr/>
            </p:nvSpPr>
            <p:spPr>
              <a:xfrm>
                <a:off x="571500" y="0"/>
                <a:ext cx="3810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Nodes</a:t>
                </a:r>
                <a:endParaRPr b="1" sz="13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Agents, Humans, APIs, Databases</a:t>
                </a:r>
                <a:endParaRPr b="1" sz="115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462" name="Google Shape;462;p25"/>
            <p:cNvGrpSpPr/>
            <p:nvPr/>
          </p:nvGrpSpPr>
          <p:grpSpPr>
            <a:xfrm>
              <a:off x="333375" y="3333750"/>
              <a:ext cx="4381500" cy="476400"/>
              <a:chOff x="0" y="0"/>
              <a:chExt cx="4381500" cy="476400"/>
            </a:xfrm>
          </p:grpSpPr>
          <p:sp>
            <p:nvSpPr>
              <p:cNvPr id="463" name="Google Shape;463;p25"/>
              <p:cNvSpPr/>
              <p:nvPr/>
            </p:nvSpPr>
            <p:spPr>
              <a:xfrm>
                <a:off x="0" y="0"/>
                <a:ext cx="419100" cy="419100"/>
              </a:xfrm>
              <a:prstGeom prst="roundRect">
                <a:avLst>
                  <a:gd fmla="val 50000" name="adj"/>
                </a:avLst>
              </a:prstGeom>
              <a:solidFill>
                <a:srgbClr val="EEF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5"/>
              <p:cNvSpPr txBox="1"/>
              <p:nvPr/>
            </p:nvSpPr>
            <p:spPr>
              <a:xfrm>
                <a:off x="571500" y="0"/>
                <a:ext cx="3810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Edges</a:t>
                </a:r>
                <a:endParaRPr b="1" sz="13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Dependencies, Control Flow, State</a:t>
                </a:r>
                <a:endParaRPr b="1" sz="115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465" name="Google Shape;465;p25"/>
          <p:cNvSpPr/>
          <p:nvPr/>
        </p:nvSpPr>
        <p:spPr>
          <a:xfrm>
            <a:off x="1209675" y="4019550"/>
            <a:ext cx="190500" cy="1905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1219200" y="4799648"/>
            <a:ext cx="162900" cy="1533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75000" y="0"/>
                </a:moveTo>
                <a:lnTo>
                  <a:pt x="120000" y="60000"/>
                </a:lnTo>
                <a:lnTo>
                  <a:pt x="75000" y="120000"/>
                </a:lnTo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5"/>
          <p:cNvSpPr/>
          <p:nvPr/>
        </p:nvSpPr>
        <p:spPr>
          <a:xfrm>
            <a:off x="476250" y="822870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8" name="Google Shape;468;p25"/>
          <p:cNvGrpSpPr/>
          <p:nvPr/>
        </p:nvGrpSpPr>
        <p:grpSpPr>
          <a:xfrm>
            <a:off x="6381750" y="1333500"/>
            <a:ext cx="5048400" cy="4857900"/>
            <a:chOff x="0" y="0"/>
            <a:chExt cx="5048400" cy="4857900"/>
          </a:xfrm>
        </p:grpSpPr>
        <p:sp>
          <p:nvSpPr>
            <p:cNvPr id="469" name="Google Shape;469;p25"/>
            <p:cNvSpPr/>
            <p:nvPr/>
          </p:nvSpPr>
          <p:spPr>
            <a:xfrm>
              <a:off x="0" y="0"/>
              <a:ext cx="5048400" cy="4857900"/>
            </a:xfrm>
            <a:prstGeom prst="roundRect">
              <a:avLst>
                <a:gd fmla="val 3137" name="adj"/>
              </a:avLst>
            </a:prstGeom>
            <a:solidFill>
              <a:srgbClr val="FAF5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5"/>
            <p:cNvSpPr txBox="1"/>
            <p:nvPr/>
          </p:nvSpPr>
          <p:spPr>
            <a:xfrm>
              <a:off x="333375" y="333375"/>
              <a:ext cx="4381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3AED"/>
                  </a:solidFill>
                  <a:highlight>
                    <a:srgbClr val="F3E8FF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Graph Execution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Execution Topology</a:t>
              </a:r>
              <a:endParaRPr b="1" sz="2600">
                <a:solidFill>
                  <a:srgbClr val="4C1D9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How a multi-agent system coordinates specialized tasks in parallel:</a:t>
              </a:r>
              <a:endParaRPr b="0" sz="12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71" name="Google Shape;471;p25"/>
            <p:cNvSpPr txBox="1"/>
            <p:nvPr/>
          </p:nvSpPr>
          <p:spPr>
            <a:xfrm>
              <a:off x="333375" y="2143125"/>
              <a:ext cx="438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6B21A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Sample Workflow Pattern</a:t>
              </a:r>
              <a:endParaRPr b="1" sz="1050">
                <a:solidFill>
                  <a:srgbClr val="6B21A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472" name="Google Shape;472;p25"/>
            <p:cNvGrpSpPr/>
            <p:nvPr/>
          </p:nvGrpSpPr>
          <p:grpSpPr>
            <a:xfrm>
              <a:off x="333375" y="2476500"/>
              <a:ext cx="904800" cy="342900"/>
              <a:chOff x="0" y="0"/>
              <a:chExt cx="904800" cy="342900"/>
            </a:xfrm>
          </p:grpSpPr>
          <p:sp>
            <p:nvSpPr>
              <p:cNvPr id="473" name="Google Shape;473;p25"/>
              <p:cNvSpPr/>
              <p:nvPr/>
            </p:nvSpPr>
            <p:spPr>
              <a:xfrm>
                <a:off x="0" y="0"/>
                <a:ext cx="9048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9D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5"/>
              <p:cNvSpPr txBox="1"/>
              <p:nvPr/>
            </p:nvSpPr>
            <p:spPr>
              <a:xfrm>
                <a:off x="0" y="0"/>
                <a:ext cx="9048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4C1D95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Supervisor</a:t>
                </a:r>
                <a:endParaRPr b="1" sz="105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475" name="Google Shape;475;p25"/>
            <p:cNvGrpSpPr/>
            <p:nvPr/>
          </p:nvGrpSpPr>
          <p:grpSpPr>
            <a:xfrm>
              <a:off x="1581150" y="2476500"/>
              <a:ext cx="1714500" cy="342900"/>
              <a:chOff x="0" y="0"/>
              <a:chExt cx="1714500" cy="342900"/>
            </a:xfrm>
          </p:grpSpPr>
          <p:sp>
            <p:nvSpPr>
              <p:cNvPr id="476" name="Google Shape;476;p25"/>
              <p:cNvSpPr/>
              <p:nvPr/>
            </p:nvSpPr>
            <p:spPr>
              <a:xfrm>
                <a:off x="0" y="0"/>
                <a:ext cx="17145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F5F3FF"/>
              </a:solidFill>
              <a:ln cap="flat" cmpd="sng" w="9525">
                <a:solidFill>
                  <a:srgbClr val="D8B4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5"/>
              <p:cNvSpPr txBox="1"/>
              <p:nvPr/>
            </p:nvSpPr>
            <p:spPr>
              <a:xfrm>
                <a:off x="0" y="0"/>
                <a:ext cx="1714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4C1D95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Dev + Security + Comp</a:t>
                </a:r>
                <a:endParaRPr b="1" sz="100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478" name="Google Shape;478;p25"/>
            <p:cNvGrpSpPr/>
            <p:nvPr/>
          </p:nvGrpSpPr>
          <p:grpSpPr>
            <a:xfrm>
              <a:off x="3638550" y="2476500"/>
              <a:ext cx="743100" cy="342900"/>
              <a:chOff x="0" y="0"/>
              <a:chExt cx="743100" cy="342900"/>
            </a:xfrm>
          </p:grpSpPr>
          <p:sp>
            <p:nvSpPr>
              <p:cNvPr id="479" name="Google Shape;479;p25"/>
              <p:cNvSpPr/>
              <p:nvPr/>
            </p:nvSpPr>
            <p:spPr>
              <a:xfrm>
                <a:off x="0" y="0"/>
                <a:ext cx="7431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9D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5"/>
              <p:cNvSpPr txBox="1"/>
              <p:nvPr/>
            </p:nvSpPr>
            <p:spPr>
              <a:xfrm>
                <a:off x="0" y="0"/>
                <a:ext cx="743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4C1D95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Approval</a:t>
                </a:r>
                <a:endParaRPr b="1" sz="105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333375" y="3190875"/>
              <a:ext cx="4381500" cy="1333500"/>
              <a:chOff x="0" y="0"/>
              <a:chExt cx="4381500" cy="13335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0" y="0"/>
                <a:ext cx="43815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5F3FF"/>
              </a:solidFill>
              <a:ln cap="flat" cmpd="sng" w="9525">
                <a:solidFill>
                  <a:srgbClr val="E9D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5"/>
              <p:cNvSpPr txBox="1"/>
              <p:nvPr/>
            </p:nvSpPr>
            <p:spPr>
              <a:xfrm>
                <a:off x="228600" y="190500"/>
                <a:ext cx="39243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1450">
                    <a:solidFill>
                      <a:srgbClr val="5B21B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"A loop optimizes execution. A graph optimizes coordination."</a:t>
                </a:r>
                <a:endParaRPr b="1" i="1" sz="1450">
                  <a:solidFill>
                    <a:srgbClr val="5B21B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485" name="Google Shape;485;p25"/>
          <p:cNvSpPr/>
          <p:nvPr/>
        </p:nvSpPr>
        <p:spPr>
          <a:xfrm>
            <a:off x="7715250" y="3924300"/>
            <a:ext cx="152400" cy="1143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75000" y="0"/>
                </a:moveTo>
                <a:lnTo>
                  <a:pt x="120000" y="60000"/>
                </a:lnTo>
                <a:lnTo>
                  <a:pt x="75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>
            <a:off x="9772650" y="3924300"/>
            <a:ext cx="152400" cy="1143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75000" y="0"/>
                </a:moveTo>
                <a:lnTo>
                  <a:pt x="120000" y="60000"/>
                </a:lnTo>
                <a:lnTo>
                  <a:pt x="75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26"/>
          <p:cNvGrpSpPr/>
          <p:nvPr/>
        </p:nvGrpSpPr>
        <p:grpSpPr>
          <a:xfrm>
            <a:off x="571500" y="476250"/>
            <a:ext cx="11049000" cy="543075"/>
            <a:chOff x="0" y="0"/>
            <a:chExt cx="11049000" cy="543075"/>
          </a:xfrm>
        </p:grpSpPr>
        <p:sp>
          <p:nvSpPr>
            <p:cNvPr id="492" name="Google Shape;492;p26"/>
            <p:cNvSpPr txBox="1"/>
            <p:nvPr/>
          </p:nvSpPr>
          <p:spPr>
            <a:xfrm>
              <a:off x="0" y="0"/>
              <a:ext cx="1104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Why Graphs Scale Better</a:t>
              </a:r>
              <a:endParaRPr b="1" sz="2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0" y="523875"/>
              <a:ext cx="11049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26"/>
          <p:cNvGrpSpPr/>
          <p:nvPr/>
        </p:nvGrpSpPr>
        <p:grpSpPr>
          <a:xfrm>
            <a:off x="571500" y="1333500"/>
            <a:ext cx="3619500" cy="4714800"/>
            <a:chOff x="0" y="0"/>
            <a:chExt cx="3619500" cy="4714800"/>
          </a:xfrm>
        </p:grpSpPr>
        <p:sp>
          <p:nvSpPr>
            <p:cNvPr id="495" name="Google Shape;495;p26"/>
            <p:cNvSpPr/>
            <p:nvPr/>
          </p:nvSpPr>
          <p:spPr>
            <a:xfrm>
              <a:off x="0" y="0"/>
              <a:ext cx="3619500" cy="4714800"/>
            </a:xfrm>
            <a:prstGeom prst="roundRect">
              <a:avLst>
                <a:gd fmla="val 4210" name="adj"/>
              </a:avLst>
            </a:prstGeom>
            <a:solidFill>
              <a:srgbClr val="FAF5FF"/>
            </a:solidFill>
            <a:ln cap="flat" cmpd="sng" w="14300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0" y="0"/>
              <a:ext cx="76200" cy="47148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6"/>
            <p:cNvSpPr txBox="1"/>
            <p:nvPr/>
          </p:nvSpPr>
          <p:spPr>
            <a:xfrm>
              <a:off x="285750" y="333375"/>
              <a:ext cx="3048000" cy="40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7C3AE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Key Analogy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4C1D9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Graph Engineering is to Loop Engineering what Microservices are to Monoliths.</a:t>
              </a:r>
              <a:endParaRPr b="1" sz="2100">
                <a:solidFill>
                  <a:srgbClr val="4C1D9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6B21A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Decoupled, parallel specialist agents scale systematically better than monolithic sequential loops.</a:t>
              </a:r>
              <a:endParaRPr b="0" sz="1250">
                <a:solidFill>
                  <a:srgbClr val="6B21A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98" name="Google Shape;498;p26"/>
          <p:cNvGrpSpPr/>
          <p:nvPr/>
        </p:nvGrpSpPr>
        <p:grpSpPr>
          <a:xfrm>
            <a:off x="4476750" y="1333500"/>
            <a:ext cx="7143900" cy="1047900"/>
            <a:chOff x="0" y="0"/>
            <a:chExt cx="7143900" cy="1047900"/>
          </a:xfrm>
        </p:grpSpPr>
        <p:sp>
          <p:nvSpPr>
            <p:cNvPr id="499" name="Google Shape;499;p26"/>
            <p:cNvSpPr/>
            <p:nvPr/>
          </p:nvSpPr>
          <p:spPr>
            <a:xfrm>
              <a:off x="0" y="0"/>
              <a:ext cx="7143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6"/>
            <p:cNvSpPr txBox="1"/>
            <p:nvPr/>
          </p:nvSpPr>
          <p:spPr>
            <a:xfrm>
              <a:off x="238125" y="190500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Dimension</a:t>
              </a:r>
              <a:endParaRPr b="1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Agent Count</a:t>
              </a:r>
              <a:endParaRPr b="1" sz="14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01" name="Google Shape;501;p26"/>
            <p:cNvCxnSpPr/>
            <p:nvPr/>
          </p:nvCxnSpPr>
          <p:spPr>
            <a:xfrm>
              <a:off x="1952625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2" name="Google Shape;502;p26"/>
            <p:cNvSpPr txBox="1"/>
            <p:nvPr/>
          </p:nvSpPr>
          <p:spPr>
            <a:xfrm>
              <a:off x="2143125" y="1905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Loop Engineering</a:t>
              </a:r>
              <a:endParaRPr b="1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Single generalist agent</a:t>
              </a:r>
              <a:endParaRPr b="0" sz="12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03" name="Google Shape;503;p26"/>
            <p:cNvCxnSpPr/>
            <p:nvPr/>
          </p:nvCxnSpPr>
          <p:spPr>
            <a:xfrm>
              <a:off x="4429125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4" name="Google Shape;504;p26"/>
            <p:cNvSpPr txBox="1"/>
            <p:nvPr/>
          </p:nvSpPr>
          <p:spPr>
            <a:xfrm>
              <a:off x="4619625" y="1905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4F46E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Graph Engineering</a:t>
              </a:r>
              <a:endParaRPr b="1" sz="85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312E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Coordinated team of specialists</a:t>
              </a:r>
              <a:endParaRPr b="1" sz="1250">
                <a:solidFill>
                  <a:srgbClr val="312E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05" name="Google Shape;505;p26"/>
          <p:cNvGrpSpPr/>
          <p:nvPr/>
        </p:nvGrpSpPr>
        <p:grpSpPr>
          <a:xfrm>
            <a:off x="4476750" y="2552700"/>
            <a:ext cx="7143900" cy="1047900"/>
            <a:chOff x="0" y="0"/>
            <a:chExt cx="7143900" cy="1047900"/>
          </a:xfrm>
        </p:grpSpPr>
        <p:sp>
          <p:nvSpPr>
            <p:cNvPr id="506" name="Google Shape;506;p26"/>
            <p:cNvSpPr/>
            <p:nvPr/>
          </p:nvSpPr>
          <p:spPr>
            <a:xfrm>
              <a:off x="0" y="0"/>
              <a:ext cx="7143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6"/>
            <p:cNvSpPr txBox="1"/>
            <p:nvPr/>
          </p:nvSpPr>
          <p:spPr>
            <a:xfrm>
              <a:off x="238125" y="190500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Dimension</a:t>
              </a:r>
              <a:endParaRPr b="1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Execution Style</a:t>
              </a:r>
              <a:endParaRPr b="1" sz="14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08" name="Google Shape;508;p26"/>
            <p:cNvCxnSpPr/>
            <p:nvPr/>
          </p:nvCxnSpPr>
          <p:spPr>
            <a:xfrm>
              <a:off x="1952625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9" name="Google Shape;509;p26"/>
            <p:cNvSpPr txBox="1"/>
            <p:nvPr/>
          </p:nvSpPr>
          <p:spPr>
            <a:xfrm>
              <a:off x="2143125" y="1905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Loop Engineering</a:t>
              </a:r>
              <a:endParaRPr b="1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Sequential loop</a:t>
              </a:r>
              <a:endParaRPr b="0" sz="12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10" name="Google Shape;510;p26"/>
            <p:cNvCxnSpPr/>
            <p:nvPr/>
          </p:nvCxnSpPr>
          <p:spPr>
            <a:xfrm>
              <a:off x="4429125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1" name="Google Shape;511;p26"/>
            <p:cNvSpPr txBox="1"/>
            <p:nvPr/>
          </p:nvSpPr>
          <p:spPr>
            <a:xfrm>
              <a:off x="4619625" y="1905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4F46E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Graph Engineering</a:t>
              </a:r>
              <a:endParaRPr b="1" sz="85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312E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Parallel &amp; branched execution</a:t>
              </a:r>
              <a:endParaRPr b="1" sz="1250">
                <a:solidFill>
                  <a:srgbClr val="312E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12" name="Google Shape;512;p26"/>
          <p:cNvGrpSpPr/>
          <p:nvPr/>
        </p:nvGrpSpPr>
        <p:grpSpPr>
          <a:xfrm>
            <a:off x="4476750" y="3771900"/>
            <a:ext cx="7143900" cy="1047900"/>
            <a:chOff x="0" y="0"/>
            <a:chExt cx="7143900" cy="1047900"/>
          </a:xfrm>
        </p:grpSpPr>
        <p:sp>
          <p:nvSpPr>
            <p:cNvPr id="513" name="Google Shape;513;p26"/>
            <p:cNvSpPr/>
            <p:nvPr/>
          </p:nvSpPr>
          <p:spPr>
            <a:xfrm>
              <a:off x="0" y="0"/>
              <a:ext cx="7143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6"/>
            <p:cNvSpPr txBox="1"/>
            <p:nvPr/>
          </p:nvSpPr>
          <p:spPr>
            <a:xfrm>
              <a:off x="238125" y="190500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Dimension</a:t>
              </a:r>
              <a:endParaRPr b="1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Context Mgmt</a:t>
              </a:r>
              <a:endParaRPr b="1" sz="14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15" name="Google Shape;515;p26"/>
            <p:cNvCxnSpPr/>
            <p:nvPr/>
          </p:nvCxnSpPr>
          <p:spPr>
            <a:xfrm>
              <a:off x="1952625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6" name="Google Shape;516;p26"/>
            <p:cNvSpPr txBox="1"/>
            <p:nvPr/>
          </p:nvSpPr>
          <p:spPr>
            <a:xfrm>
              <a:off x="2143125" y="1905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Loop Engineering</a:t>
              </a:r>
              <a:endParaRPr b="1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Monolithic context window</a:t>
              </a:r>
              <a:endParaRPr b="0" sz="12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17" name="Google Shape;517;p26"/>
            <p:cNvCxnSpPr/>
            <p:nvPr/>
          </p:nvCxnSpPr>
          <p:spPr>
            <a:xfrm>
              <a:off x="4429125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8" name="Google Shape;518;p26"/>
            <p:cNvSpPr txBox="1"/>
            <p:nvPr/>
          </p:nvSpPr>
          <p:spPr>
            <a:xfrm>
              <a:off x="4619625" y="1905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4F46E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Graph Engineering</a:t>
              </a:r>
              <a:endParaRPr b="1" sz="85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312E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Distributed shared memory</a:t>
              </a:r>
              <a:endParaRPr b="1" sz="1250">
                <a:solidFill>
                  <a:srgbClr val="312E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19" name="Google Shape;519;p26"/>
          <p:cNvGrpSpPr/>
          <p:nvPr/>
        </p:nvGrpSpPr>
        <p:grpSpPr>
          <a:xfrm>
            <a:off x="4476750" y="4991100"/>
            <a:ext cx="7143900" cy="1047900"/>
            <a:chOff x="0" y="0"/>
            <a:chExt cx="7143900" cy="1047900"/>
          </a:xfrm>
        </p:grpSpPr>
        <p:sp>
          <p:nvSpPr>
            <p:cNvPr id="520" name="Google Shape;520;p26"/>
            <p:cNvSpPr/>
            <p:nvPr/>
          </p:nvSpPr>
          <p:spPr>
            <a:xfrm>
              <a:off x="0" y="0"/>
              <a:ext cx="71439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6"/>
            <p:cNvSpPr txBox="1"/>
            <p:nvPr/>
          </p:nvSpPr>
          <p:spPr>
            <a:xfrm>
              <a:off x="238125" y="190500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Dimension</a:t>
              </a:r>
              <a:endParaRPr b="1" sz="9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Retry Granularity</a:t>
              </a:r>
              <a:endParaRPr b="1" sz="14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22" name="Google Shape;522;p26"/>
            <p:cNvCxnSpPr/>
            <p:nvPr/>
          </p:nvCxnSpPr>
          <p:spPr>
            <a:xfrm>
              <a:off x="1952625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3" name="Google Shape;523;p26"/>
            <p:cNvSpPr txBox="1"/>
            <p:nvPr/>
          </p:nvSpPr>
          <p:spPr>
            <a:xfrm>
              <a:off x="2143125" y="1905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94A3B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Loop Engineering</a:t>
              </a:r>
              <a:endParaRPr b="1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Restarts entire task</a:t>
              </a:r>
              <a:endParaRPr b="0" sz="12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24" name="Google Shape;524;p26"/>
            <p:cNvCxnSpPr/>
            <p:nvPr/>
          </p:nvCxnSpPr>
          <p:spPr>
            <a:xfrm>
              <a:off x="4429125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5" name="Google Shape;525;p26"/>
            <p:cNvSpPr txBox="1"/>
            <p:nvPr/>
          </p:nvSpPr>
          <p:spPr>
            <a:xfrm>
              <a:off x="4619625" y="1905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4F46E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Graph Engineering</a:t>
              </a:r>
              <a:endParaRPr b="1" sz="85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312E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Isolated node-level recovery</a:t>
              </a:r>
              <a:endParaRPr b="1" sz="1250">
                <a:solidFill>
                  <a:srgbClr val="312E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7"/>
          <p:cNvSpPr txBox="1"/>
          <p:nvPr/>
        </p:nvSpPr>
        <p:spPr>
          <a:xfrm>
            <a:off x="571500" y="428625"/>
            <a:ext cx="11049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 Agent Architecture</a:t>
            </a:r>
            <a:endParaRPr b="1" sz="2400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571500" y="904875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2" name="Google Shape;532;p27"/>
          <p:cNvGrpSpPr/>
          <p:nvPr/>
        </p:nvGrpSpPr>
        <p:grpSpPr>
          <a:xfrm>
            <a:off x="1238250" y="1095375"/>
            <a:ext cx="10382250" cy="285900"/>
            <a:chOff x="1238250" y="1095375"/>
            <a:chExt cx="10382250" cy="285900"/>
          </a:xfrm>
        </p:grpSpPr>
        <p:sp>
          <p:nvSpPr>
            <p:cNvPr id="533" name="Google Shape;533;p27"/>
            <p:cNvSpPr txBox="1"/>
            <p:nvPr/>
          </p:nvSpPr>
          <p:spPr>
            <a:xfrm>
              <a:off x="1238250" y="1095375"/>
              <a:ext cx="447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Core Architectural Pillars</a:t>
              </a:r>
              <a:endParaRPr b="1" sz="11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34" name="Google Shape;534;p27"/>
            <p:cNvSpPr txBox="1"/>
            <p:nvPr/>
          </p:nvSpPr>
          <p:spPr>
            <a:xfrm>
              <a:off x="6477000" y="1095375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Implementation Stack Layers</a:t>
              </a:r>
              <a:endParaRPr b="1" sz="11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35" name="Google Shape;535;p27"/>
          <p:cNvGrpSpPr/>
          <p:nvPr/>
        </p:nvGrpSpPr>
        <p:grpSpPr>
          <a:xfrm>
            <a:off x="571500" y="1476375"/>
            <a:ext cx="11049000" cy="1047900"/>
            <a:chOff x="0" y="0"/>
            <a:chExt cx="11049000" cy="1047900"/>
          </a:xfrm>
        </p:grpSpPr>
        <p:sp>
          <p:nvSpPr>
            <p:cNvPr id="536" name="Google Shape;536;p27"/>
            <p:cNvSpPr/>
            <p:nvPr/>
          </p:nvSpPr>
          <p:spPr>
            <a:xfrm>
              <a:off x="0" y="0"/>
              <a:ext cx="476400" cy="1047900"/>
            </a:xfrm>
            <a:prstGeom prst="roundRect">
              <a:avLst>
                <a:gd fmla="val 16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7"/>
            <p:cNvSpPr txBox="1"/>
            <p:nvPr/>
          </p:nvSpPr>
          <p:spPr>
            <a:xfrm>
              <a:off x="0" y="0"/>
              <a:ext cx="476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6366F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01</a:t>
              </a:r>
              <a:endParaRPr b="1" sz="1600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666750" y="0"/>
              <a:ext cx="4476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66675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7"/>
            <p:cNvSpPr txBox="1"/>
            <p:nvPr/>
          </p:nvSpPr>
          <p:spPr>
            <a:xfrm>
              <a:off x="914400" y="0"/>
              <a:ext cx="4038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1B4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Decoupled Orchestration</a:t>
              </a:r>
              <a:endParaRPr b="1" sz="13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Separates supervisor routing and policy checks from underlying execution agents.</a:t>
              </a:r>
              <a:endParaRPr b="0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5381625" y="447675"/>
              <a:ext cx="285900" cy="152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8000" y="0"/>
                  </a:moveTo>
                  <a:lnTo>
                    <a:pt x="120000" y="60000"/>
                  </a:lnTo>
                  <a:lnTo>
                    <a:pt x="8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5905500" y="0"/>
              <a:ext cx="5143500" cy="1047900"/>
            </a:xfrm>
            <a:prstGeom prst="roundRect">
              <a:avLst>
                <a:gd fmla="val 7272" name="adj"/>
              </a:avLst>
            </a:prstGeom>
            <a:solidFill>
              <a:srgbClr val="F5F3FF"/>
            </a:solidFill>
            <a:ln cap="flat" cmpd="sng" w="9525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590550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7"/>
            <p:cNvSpPr txBox="1"/>
            <p:nvPr/>
          </p:nvSpPr>
          <p:spPr>
            <a:xfrm>
              <a:off x="6153150" y="0"/>
              <a:ext cx="4705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12E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Orchestration Layer</a:t>
              </a:r>
              <a:endParaRPr b="1" sz="1300">
                <a:solidFill>
                  <a:srgbClr val="312E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6366F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Supervisor Agent • Workflow Routing • Policy Engine • Approvals</a:t>
              </a:r>
              <a:endParaRPr b="1" sz="1050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45" name="Google Shape;545;p27"/>
          <p:cNvGrpSpPr/>
          <p:nvPr/>
        </p:nvGrpSpPr>
        <p:grpSpPr>
          <a:xfrm>
            <a:off x="571500" y="2667000"/>
            <a:ext cx="11049000" cy="1047900"/>
            <a:chOff x="0" y="0"/>
            <a:chExt cx="11049000" cy="1047900"/>
          </a:xfrm>
        </p:grpSpPr>
        <p:sp>
          <p:nvSpPr>
            <p:cNvPr id="546" name="Google Shape;546;p27"/>
            <p:cNvSpPr/>
            <p:nvPr/>
          </p:nvSpPr>
          <p:spPr>
            <a:xfrm>
              <a:off x="0" y="0"/>
              <a:ext cx="476400" cy="1047900"/>
            </a:xfrm>
            <a:prstGeom prst="roundRect">
              <a:avLst>
                <a:gd fmla="val 16000" name="adj"/>
              </a:avLst>
            </a:prstGeom>
            <a:solidFill>
              <a:srgbClr val="ECFE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7"/>
            <p:cNvSpPr txBox="1"/>
            <p:nvPr/>
          </p:nvSpPr>
          <p:spPr>
            <a:xfrm>
              <a:off x="0" y="0"/>
              <a:ext cx="476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6B6D4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02</a:t>
              </a:r>
              <a:endParaRPr b="1" sz="1600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66750" y="0"/>
              <a:ext cx="4476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66675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7"/>
            <p:cNvSpPr txBox="1"/>
            <p:nvPr/>
          </p:nvSpPr>
          <p:spPr>
            <a:xfrm>
              <a:off x="914400" y="0"/>
              <a:ext cx="4038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Policy-Driven Governance</a:t>
              </a:r>
              <a:endParaRPr b="1" sz="1300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Hard safety gates enforce automated compliance checks prior to production changes.</a:t>
              </a:r>
              <a:endParaRPr b="0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5381625" y="447675"/>
              <a:ext cx="285900" cy="152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8000" y="0"/>
                  </a:moveTo>
                  <a:lnTo>
                    <a:pt x="120000" y="60000"/>
                  </a:lnTo>
                  <a:lnTo>
                    <a:pt x="8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5905500" y="0"/>
              <a:ext cx="5143500" cy="1047900"/>
            </a:xfrm>
            <a:prstGeom prst="roundRect">
              <a:avLst>
                <a:gd fmla="val 7272" name="adj"/>
              </a:avLst>
            </a:prstGeom>
            <a:solidFill>
              <a:srgbClr val="ECFEFF"/>
            </a:solidFill>
            <a:ln cap="flat" cmpd="sng" w="9525">
              <a:solidFill>
                <a:srgbClr val="CFF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590550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7"/>
            <p:cNvSpPr txBox="1"/>
            <p:nvPr/>
          </p:nvSpPr>
          <p:spPr>
            <a:xfrm>
              <a:off x="6153150" y="0"/>
              <a:ext cx="4705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E749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Specialized Intelligence Agents</a:t>
              </a:r>
              <a:endParaRPr b="1" sz="1300">
                <a:solidFill>
                  <a:srgbClr val="0E749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6B6D4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Planner Agent | Dev Agent | Tester Agent | Security Agent</a:t>
              </a:r>
              <a:endParaRPr b="1" sz="1050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55" name="Google Shape;555;p27"/>
          <p:cNvGrpSpPr/>
          <p:nvPr/>
        </p:nvGrpSpPr>
        <p:grpSpPr>
          <a:xfrm>
            <a:off x="571500" y="3857625"/>
            <a:ext cx="11049000" cy="1047900"/>
            <a:chOff x="0" y="0"/>
            <a:chExt cx="11049000" cy="1047900"/>
          </a:xfrm>
        </p:grpSpPr>
        <p:sp>
          <p:nvSpPr>
            <p:cNvPr id="556" name="Google Shape;556;p27"/>
            <p:cNvSpPr/>
            <p:nvPr/>
          </p:nvSpPr>
          <p:spPr>
            <a:xfrm>
              <a:off x="0" y="0"/>
              <a:ext cx="476400" cy="1047900"/>
            </a:xfrm>
            <a:prstGeom prst="roundRect">
              <a:avLst>
                <a:gd fmla="val 16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7"/>
            <p:cNvSpPr txBox="1"/>
            <p:nvPr/>
          </p:nvSpPr>
          <p:spPr>
            <a:xfrm>
              <a:off x="0" y="0"/>
              <a:ext cx="476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03</a:t>
              </a:r>
              <a:endParaRPr b="1" sz="160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666750" y="0"/>
              <a:ext cx="4476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66675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7"/>
            <p:cNvSpPr txBox="1"/>
            <p:nvPr/>
          </p:nvSpPr>
          <p:spPr>
            <a:xfrm>
              <a:off x="914400" y="0"/>
              <a:ext cx="4038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65F4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Durable Memory</a:t>
              </a:r>
              <a:endParaRPr b="1" sz="1300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Shared context graphs store conversation state, policy rules, and persistent checkpoints.</a:t>
              </a:r>
              <a:endParaRPr b="0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5381625" y="447675"/>
              <a:ext cx="285900" cy="152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8000" y="0"/>
                  </a:moveTo>
                  <a:lnTo>
                    <a:pt x="120000" y="60000"/>
                  </a:lnTo>
                  <a:lnTo>
                    <a:pt x="8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5905500" y="0"/>
              <a:ext cx="5143500" cy="1047900"/>
            </a:xfrm>
            <a:prstGeom prst="roundRect">
              <a:avLst>
                <a:gd fmla="val 7272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590550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7"/>
            <p:cNvSpPr txBox="1"/>
            <p:nvPr/>
          </p:nvSpPr>
          <p:spPr>
            <a:xfrm>
              <a:off x="6153150" y="0"/>
              <a:ext cx="4705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65F4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Shared Knowledge &amp; Memory</a:t>
              </a:r>
              <a:endParaRPr b="1" sz="1300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0B9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Vector Store • Context Graph • Execution Checkpoints</a:t>
              </a:r>
              <a:endParaRPr b="1" sz="105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65" name="Google Shape;565;p27"/>
          <p:cNvGrpSpPr/>
          <p:nvPr/>
        </p:nvGrpSpPr>
        <p:grpSpPr>
          <a:xfrm>
            <a:off x="571500" y="5048250"/>
            <a:ext cx="11049000" cy="1047900"/>
            <a:chOff x="0" y="0"/>
            <a:chExt cx="11049000" cy="1047900"/>
          </a:xfrm>
        </p:grpSpPr>
        <p:sp>
          <p:nvSpPr>
            <p:cNvPr id="566" name="Google Shape;566;p27"/>
            <p:cNvSpPr/>
            <p:nvPr/>
          </p:nvSpPr>
          <p:spPr>
            <a:xfrm>
              <a:off x="0" y="0"/>
              <a:ext cx="476400" cy="1047900"/>
            </a:xfrm>
            <a:prstGeom prst="roundRect">
              <a:avLst>
                <a:gd fmla="val 16000" name="adj"/>
              </a:avLst>
            </a:prstGeom>
            <a:solidFill>
              <a:srgbClr val="FFF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7"/>
            <p:cNvSpPr txBox="1"/>
            <p:nvPr/>
          </p:nvSpPr>
          <p:spPr>
            <a:xfrm>
              <a:off x="0" y="0"/>
              <a:ext cx="476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04</a:t>
              </a:r>
              <a:endParaRPr b="1" sz="1600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666750" y="0"/>
              <a:ext cx="4476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66675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7"/>
            <p:cNvSpPr txBox="1"/>
            <p:nvPr/>
          </p:nvSpPr>
          <p:spPr>
            <a:xfrm>
              <a:off x="914400" y="0"/>
              <a:ext cx="4038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78350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OpenTelemetry Integration</a:t>
              </a:r>
              <a:endParaRPr b="1" sz="1300">
                <a:solidFill>
                  <a:srgbClr val="78350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Distributed tracing tracks latency, token costs, and tool invocations across all workers.</a:t>
              </a:r>
              <a:endParaRPr b="0" sz="10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5381625" y="447675"/>
              <a:ext cx="285900" cy="152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8000" y="0"/>
                  </a:moveTo>
                  <a:lnTo>
                    <a:pt x="120000" y="60000"/>
                  </a:lnTo>
                  <a:lnTo>
                    <a:pt x="8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5905500" y="0"/>
              <a:ext cx="5143500" cy="1047900"/>
            </a:xfrm>
            <a:prstGeom prst="roundRect">
              <a:avLst>
                <a:gd fmla="val 7272" name="adj"/>
              </a:avLst>
            </a:prstGeom>
            <a:solidFill>
              <a:srgbClr val="FFFBEB"/>
            </a:solidFill>
            <a:ln cap="flat" cmpd="sng" w="9525">
              <a:solidFill>
                <a:srgbClr val="FEF3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590550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7"/>
            <p:cNvSpPr txBox="1"/>
            <p:nvPr/>
          </p:nvSpPr>
          <p:spPr>
            <a:xfrm>
              <a:off x="6153150" y="0"/>
              <a:ext cx="4705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2400E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Enterprise Integration &amp; Telemetry</a:t>
              </a:r>
              <a:endParaRPr b="1" sz="1300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9E0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GitHub • Jira • Jenkins / CI/CD • MCP Servers • OpenTelemetry</a:t>
              </a:r>
              <a:endParaRPr b="1" sz="1050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9" name="Google Shape;57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8"/>
          <p:cNvSpPr txBox="1"/>
          <p:nvPr/>
        </p:nvSpPr>
        <p:spPr>
          <a:xfrm>
            <a:off x="476250" y="1047750"/>
            <a:ext cx="11239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major shift in software engineering changed the fundamental unit of abstraction.</a:t>
            </a:r>
            <a:endParaRPr b="0" sz="130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1" name="Google Shape;581;p28"/>
          <p:cNvSpPr txBox="1"/>
          <p:nvPr/>
        </p:nvSpPr>
        <p:spPr>
          <a:xfrm>
            <a:off x="476250" y="381000"/>
            <a:ext cx="117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Next Decade of Software Engineering</a:t>
            </a:r>
            <a:endParaRPr/>
          </a:p>
        </p:txBody>
      </p:sp>
      <p:sp>
        <p:nvSpPr>
          <p:cNvPr id="582" name="Google Shape;582;p28"/>
          <p:cNvSpPr/>
          <p:nvPr/>
        </p:nvSpPr>
        <p:spPr>
          <a:xfrm>
            <a:off x="476250" y="822870"/>
            <a:ext cx="112395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3" name="Google Shape;583;p28"/>
          <p:cNvGrpSpPr/>
          <p:nvPr/>
        </p:nvGrpSpPr>
        <p:grpSpPr>
          <a:xfrm>
            <a:off x="476250" y="1524000"/>
            <a:ext cx="11239500" cy="4000500"/>
            <a:chOff x="476250" y="1524000"/>
            <a:chExt cx="11239500" cy="4000500"/>
          </a:xfrm>
        </p:grpSpPr>
        <p:grpSp>
          <p:nvGrpSpPr>
            <p:cNvPr id="584" name="Google Shape;584;p28"/>
            <p:cNvGrpSpPr/>
            <p:nvPr/>
          </p:nvGrpSpPr>
          <p:grpSpPr>
            <a:xfrm>
              <a:off x="476250" y="1524000"/>
              <a:ext cx="2019300" cy="4000500"/>
              <a:chOff x="0" y="0"/>
              <a:chExt cx="2019300" cy="4000500"/>
            </a:xfrm>
          </p:grpSpPr>
          <p:sp>
            <p:nvSpPr>
              <p:cNvPr id="585" name="Google Shape;585;p28"/>
              <p:cNvSpPr/>
              <p:nvPr/>
            </p:nvSpPr>
            <p:spPr>
              <a:xfrm>
                <a:off x="0" y="0"/>
                <a:ext cx="2019300" cy="4000500"/>
              </a:xfrm>
              <a:prstGeom prst="roundRect">
                <a:avLst>
                  <a:gd fmla="val 7547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8"/>
              <p:cNvSpPr/>
              <p:nvPr/>
            </p:nvSpPr>
            <p:spPr>
              <a:xfrm>
                <a:off x="247650" y="228600"/>
                <a:ext cx="1524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8"/>
              <p:cNvSpPr txBox="1"/>
              <p:nvPr/>
            </p:nvSpPr>
            <p:spPr>
              <a:xfrm>
                <a:off x="247650" y="22860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2023</a:t>
                </a:r>
                <a:endParaRPr b="1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88" name="Google Shape;588;p28"/>
              <p:cNvSpPr txBox="1"/>
              <p:nvPr/>
            </p:nvSpPr>
            <p:spPr>
              <a:xfrm>
                <a:off x="152400" y="157162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Prompt Engineering</a:t>
                </a:r>
                <a:endParaRPr b="1" sz="13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89" name="Google Shape;589;p28"/>
              <p:cNvSpPr txBox="1"/>
              <p:nvPr/>
            </p:nvSpPr>
            <p:spPr>
              <a:xfrm>
                <a:off x="190500" y="2238375"/>
                <a:ext cx="16383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Crafting effective LLM inputs &amp; formats</a:t>
                </a:r>
                <a:endParaRPr b="0"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590" name="Google Shape;590;p28"/>
            <p:cNvGrpSpPr/>
            <p:nvPr/>
          </p:nvGrpSpPr>
          <p:grpSpPr>
            <a:xfrm>
              <a:off x="2781300" y="1524000"/>
              <a:ext cx="2019300" cy="4000500"/>
              <a:chOff x="0" y="0"/>
              <a:chExt cx="2019300" cy="4000500"/>
            </a:xfrm>
          </p:grpSpPr>
          <p:sp>
            <p:nvSpPr>
              <p:cNvPr id="591" name="Google Shape;591;p28"/>
              <p:cNvSpPr/>
              <p:nvPr/>
            </p:nvSpPr>
            <p:spPr>
              <a:xfrm>
                <a:off x="0" y="0"/>
                <a:ext cx="2019300" cy="4000500"/>
              </a:xfrm>
              <a:prstGeom prst="roundRect">
                <a:avLst>
                  <a:gd fmla="val 7547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8"/>
              <p:cNvSpPr/>
              <p:nvPr/>
            </p:nvSpPr>
            <p:spPr>
              <a:xfrm>
                <a:off x="247650" y="228600"/>
                <a:ext cx="1524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0891B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28"/>
              <p:cNvSpPr txBox="1"/>
              <p:nvPr/>
            </p:nvSpPr>
            <p:spPr>
              <a:xfrm>
                <a:off x="247650" y="22860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2024</a:t>
                </a:r>
                <a:endParaRPr b="1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94" name="Google Shape;594;p28"/>
              <p:cNvSpPr txBox="1"/>
              <p:nvPr/>
            </p:nvSpPr>
            <p:spPr>
              <a:xfrm>
                <a:off x="152400" y="157162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Context Engineering</a:t>
                </a:r>
                <a:endParaRPr b="1" sz="13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95" name="Google Shape;595;p28"/>
              <p:cNvSpPr txBox="1"/>
              <p:nvPr/>
            </p:nvSpPr>
            <p:spPr>
              <a:xfrm>
                <a:off x="190500" y="2238375"/>
                <a:ext cx="16383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Injecting repository awareness &amp; RAG memory</a:t>
                </a:r>
                <a:endParaRPr b="0"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596" name="Google Shape;596;p28"/>
            <p:cNvGrpSpPr/>
            <p:nvPr/>
          </p:nvGrpSpPr>
          <p:grpSpPr>
            <a:xfrm>
              <a:off x="5086350" y="1524000"/>
              <a:ext cx="2019300" cy="4000500"/>
              <a:chOff x="0" y="0"/>
              <a:chExt cx="2019300" cy="4000500"/>
            </a:xfrm>
          </p:grpSpPr>
          <p:sp>
            <p:nvSpPr>
              <p:cNvPr id="597" name="Google Shape;597;p28"/>
              <p:cNvSpPr/>
              <p:nvPr/>
            </p:nvSpPr>
            <p:spPr>
              <a:xfrm>
                <a:off x="0" y="0"/>
                <a:ext cx="2019300" cy="4000500"/>
              </a:xfrm>
              <a:prstGeom prst="roundRect">
                <a:avLst>
                  <a:gd fmla="val 7547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8"/>
              <p:cNvSpPr/>
              <p:nvPr/>
            </p:nvSpPr>
            <p:spPr>
              <a:xfrm>
                <a:off x="247650" y="228600"/>
                <a:ext cx="1524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8"/>
              <p:cNvSpPr txBox="1"/>
              <p:nvPr/>
            </p:nvSpPr>
            <p:spPr>
              <a:xfrm>
                <a:off x="247650" y="22860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2025</a:t>
                </a:r>
                <a:endParaRPr b="1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00" name="Google Shape;600;p28"/>
              <p:cNvSpPr txBox="1"/>
              <p:nvPr/>
            </p:nvSpPr>
            <p:spPr>
              <a:xfrm>
                <a:off x="152400" y="157162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Loop Engineering</a:t>
                </a:r>
                <a:endParaRPr b="1" sz="13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01" name="Google Shape;601;p28"/>
              <p:cNvSpPr txBox="1"/>
              <p:nvPr/>
            </p:nvSpPr>
            <p:spPr>
              <a:xfrm>
                <a:off x="190500" y="2238375"/>
                <a:ext cx="16383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Autonomous iterative task completion &amp; retries</a:t>
                </a:r>
                <a:endParaRPr b="0"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602" name="Google Shape;602;p28"/>
            <p:cNvGrpSpPr/>
            <p:nvPr/>
          </p:nvGrpSpPr>
          <p:grpSpPr>
            <a:xfrm>
              <a:off x="7391400" y="1524000"/>
              <a:ext cx="2019300" cy="4000500"/>
              <a:chOff x="0" y="0"/>
              <a:chExt cx="2019300" cy="4000500"/>
            </a:xfrm>
          </p:grpSpPr>
          <p:sp>
            <p:nvSpPr>
              <p:cNvPr id="603" name="Google Shape;603;p28"/>
              <p:cNvSpPr/>
              <p:nvPr/>
            </p:nvSpPr>
            <p:spPr>
              <a:xfrm>
                <a:off x="0" y="0"/>
                <a:ext cx="2019300" cy="4000500"/>
              </a:xfrm>
              <a:prstGeom prst="roundRect">
                <a:avLst>
                  <a:gd fmla="val 7547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8"/>
              <p:cNvSpPr/>
              <p:nvPr/>
            </p:nvSpPr>
            <p:spPr>
              <a:xfrm>
                <a:off x="247650" y="228600"/>
                <a:ext cx="1524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B277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8"/>
              <p:cNvSpPr txBox="1"/>
              <p:nvPr/>
            </p:nvSpPr>
            <p:spPr>
              <a:xfrm>
                <a:off x="247650" y="22860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2026+</a:t>
                </a:r>
                <a:endParaRPr b="1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06" name="Google Shape;606;p28"/>
              <p:cNvSpPr txBox="1"/>
              <p:nvPr/>
            </p:nvSpPr>
            <p:spPr>
              <a:xfrm>
                <a:off x="152400" y="157162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Graph Engineering</a:t>
                </a:r>
                <a:endParaRPr b="1" sz="13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07" name="Google Shape;607;p28"/>
              <p:cNvSpPr txBox="1"/>
              <p:nvPr/>
            </p:nvSpPr>
            <p:spPr>
              <a:xfrm>
                <a:off x="190500" y="2238375"/>
                <a:ext cx="16383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Coordinating specialized multi-agent teams</a:t>
                </a:r>
                <a:endParaRPr b="0"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608" name="Google Shape;608;p28"/>
            <p:cNvGrpSpPr/>
            <p:nvPr/>
          </p:nvGrpSpPr>
          <p:grpSpPr>
            <a:xfrm>
              <a:off x="9696450" y="1524000"/>
              <a:ext cx="2019300" cy="4000500"/>
              <a:chOff x="0" y="0"/>
              <a:chExt cx="2019300" cy="4000500"/>
            </a:xfrm>
          </p:grpSpPr>
          <p:sp>
            <p:nvSpPr>
              <p:cNvPr id="609" name="Google Shape;609;p28"/>
              <p:cNvSpPr/>
              <p:nvPr/>
            </p:nvSpPr>
            <p:spPr>
              <a:xfrm>
                <a:off x="0" y="0"/>
                <a:ext cx="2019300" cy="4000500"/>
              </a:xfrm>
              <a:prstGeom prst="roundRect">
                <a:avLst>
                  <a:gd fmla="val 7547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8"/>
              <p:cNvSpPr/>
              <p:nvPr/>
            </p:nvSpPr>
            <p:spPr>
              <a:xfrm>
                <a:off x="247650" y="228600"/>
                <a:ext cx="1524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8"/>
              <p:cNvSpPr txBox="1"/>
              <p:nvPr/>
            </p:nvSpPr>
            <p:spPr>
              <a:xfrm>
                <a:off x="247650" y="22860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Future</a:t>
                </a:r>
                <a:endParaRPr b="1" sz="12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12" name="Google Shape;612;p28"/>
              <p:cNvSpPr txBox="1"/>
              <p:nvPr/>
            </p:nvSpPr>
            <p:spPr>
              <a:xfrm>
                <a:off x="152400" y="157162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Enterprise AI Platforms</a:t>
                </a:r>
                <a:endParaRPr b="1" sz="13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13" name="Google Shape;613;p28"/>
              <p:cNvSpPr txBox="1"/>
              <p:nvPr/>
            </p:nvSpPr>
            <p:spPr>
              <a:xfrm>
                <a:off x="190500" y="2238375"/>
                <a:ext cx="16383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Enterprise policy, security &amp; observability</a:t>
                </a:r>
                <a:endParaRPr b="0" sz="10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614" name="Google Shape;614;p28"/>
          <p:cNvGrpSpPr/>
          <p:nvPr/>
        </p:nvGrpSpPr>
        <p:grpSpPr>
          <a:xfrm>
            <a:off x="1295400" y="2476500"/>
            <a:ext cx="381000" cy="304800"/>
            <a:chOff x="0" y="0"/>
            <a:chExt cx="381000" cy="304800"/>
          </a:xfrm>
        </p:grpSpPr>
        <p:sp>
          <p:nvSpPr>
            <p:cNvPr id="615" name="Google Shape;615;p28"/>
            <p:cNvSpPr/>
            <p:nvPr/>
          </p:nvSpPr>
          <p:spPr>
            <a:xfrm>
              <a:off x="0" y="0"/>
              <a:ext cx="381000" cy="304800"/>
            </a:xfrm>
            <a:prstGeom prst="roundRect">
              <a:avLst>
                <a:gd fmla="val 12500" name="adj"/>
              </a:avLst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4F46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114300" y="95250"/>
              <a:ext cx="666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4F46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7" name="Google Shape;617;p28"/>
            <p:cNvCxnSpPr/>
            <p:nvPr/>
          </p:nvCxnSpPr>
          <p:spPr>
            <a:xfrm>
              <a:off x="209550" y="20955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4F46E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18" name="Google Shape;618;p28"/>
          <p:cNvGrpSpPr/>
          <p:nvPr/>
        </p:nvGrpSpPr>
        <p:grpSpPr>
          <a:xfrm>
            <a:off x="3657600" y="2571750"/>
            <a:ext cx="266700" cy="228600"/>
            <a:chOff x="57150" y="95250"/>
            <a:chExt cx="266700" cy="228600"/>
          </a:xfrm>
        </p:grpSpPr>
        <p:sp>
          <p:nvSpPr>
            <p:cNvPr id="619" name="Google Shape;619;p28"/>
            <p:cNvSpPr/>
            <p:nvPr/>
          </p:nvSpPr>
          <p:spPr>
            <a:xfrm>
              <a:off x="57150" y="95250"/>
              <a:ext cx="266700" cy="228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34286" y="0"/>
                    <a:pt x="47143" y="20000"/>
                    <a:pt x="60000" y="20000"/>
                  </a:cubicBezTo>
                  <a:cubicBezTo>
                    <a:pt x="72857" y="20000"/>
                    <a:pt x="85714" y="0"/>
                    <a:pt x="120000" y="0"/>
                  </a:cubicBezTo>
                  <a:lnTo>
                    <a:pt x="120000" y="100000"/>
                  </a:lnTo>
                  <a:cubicBezTo>
                    <a:pt x="85714" y="100000"/>
                    <a:pt x="72857" y="120000"/>
                    <a:pt x="60000" y="120000"/>
                  </a:cubicBezTo>
                  <a:cubicBezTo>
                    <a:pt x="47143" y="120000"/>
                    <a:pt x="34286" y="100000"/>
                    <a:pt x="0" y="10000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0" name="Google Shape;620;p28"/>
            <p:cNvCxnSpPr/>
            <p:nvPr/>
          </p:nvCxnSpPr>
          <p:spPr>
            <a:xfrm>
              <a:off x="190500" y="133350"/>
              <a:ext cx="0" cy="19050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21" name="Google Shape;621;p28"/>
          <p:cNvGrpSpPr/>
          <p:nvPr/>
        </p:nvGrpSpPr>
        <p:grpSpPr>
          <a:xfrm>
            <a:off x="5981199" y="2542005"/>
            <a:ext cx="229476" cy="250095"/>
            <a:chOff x="75699" y="65505"/>
            <a:chExt cx="229476" cy="250095"/>
          </a:xfrm>
        </p:grpSpPr>
        <p:sp>
          <p:nvSpPr>
            <p:cNvPr id="622" name="Google Shape;622;p28"/>
            <p:cNvSpPr/>
            <p:nvPr/>
          </p:nvSpPr>
          <p:spPr>
            <a:xfrm>
              <a:off x="75699" y="65505"/>
              <a:ext cx="200400" cy="125100"/>
            </a:xfrm>
            <a:custGeom>
              <a:rect b="b" l="l" r="r" t="t"/>
              <a:pathLst>
                <a:path extrusionOk="0" h="120000" w="120000">
                  <a:moveTo>
                    <a:pt x="300" y="120000"/>
                  </a:moveTo>
                  <a:cubicBezTo>
                    <a:pt x="-2480" y="72550"/>
                    <a:pt x="14150" y="27646"/>
                    <a:pt x="41456" y="8872"/>
                  </a:cubicBezTo>
                  <a:cubicBezTo>
                    <a:pt x="68762" y="-9902"/>
                    <a:pt x="100499" y="1747"/>
                    <a:pt x="120000" y="37701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104775" y="190500"/>
              <a:ext cx="200400" cy="125100"/>
            </a:xfrm>
            <a:custGeom>
              <a:rect b="b" l="l" r="r" t="t"/>
              <a:pathLst>
                <a:path extrusionOk="0" h="120000" w="120000">
                  <a:moveTo>
                    <a:pt x="119700" y="0"/>
                  </a:moveTo>
                  <a:cubicBezTo>
                    <a:pt x="122480" y="47450"/>
                    <a:pt x="105850" y="92354"/>
                    <a:pt x="78544" y="111128"/>
                  </a:cubicBezTo>
                  <a:cubicBezTo>
                    <a:pt x="51238" y="129902"/>
                    <a:pt x="19501" y="118253"/>
                    <a:pt x="0" y="82299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219075" y="104775"/>
              <a:ext cx="66600" cy="66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02857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95250" y="209550"/>
              <a:ext cx="66600" cy="666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0" y="120000"/>
                  </a:lnTo>
                  <a:lnTo>
                    <a:pt x="17143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28"/>
          <p:cNvGrpSpPr/>
          <p:nvPr/>
        </p:nvGrpSpPr>
        <p:grpSpPr>
          <a:xfrm>
            <a:off x="8248650" y="2552700"/>
            <a:ext cx="304800" cy="266700"/>
            <a:chOff x="38100" y="76200"/>
            <a:chExt cx="304800" cy="266700"/>
          </a:xfrm>
        </p:grpSpPr>
        <p:cxnSp>
          <p:nvCxnSpPr>
            <p:cNvPr id="627" name="Google Shape;627;p28"/>
            <p:cNvCxnSpPr/>
            <p:nvPr/>
          </p:nvCxnSpPr>
          <p:spPr>
            <a:xfrm rot="10800000">
              <a:off x="76200" y="114300"/>
              <a:ext cx="114300" cy="76200"/>
            </a:xfrm>
            <a:prstGeom prst="straightConnector1">
              <a:avLst/>
            </a:prstGeom>
            <a:solidFill>
              <a:srgbClr val="FFFFFF"/>
            </a:solidFill>
            <a:ln cap="flat" cmpd="sng" w="23825">
              <a:solidFill>
                <a:srgbClr val="DB277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28"/>
            <p:cNvCxnSpPr/>
            <p:nvPr/>
          </p:nvCxnSpPr>
          <p:spPr>
            <a:xfrm flipH="1" rot="10800000">
              <a:off x="190500" y="114300"/>
              <a:ext cx="114300" cy="76200"/>
            </a:xfrm>
            <a:prstGeom prst="straightConnector1">
              <a:avLst/>
            </a:prstGeom>
            <a:solidFill>
              <a:srgbClr val="FFFFFF"/>
            </a:solidFill>
            <a:ln cap="flat" cmpd="sng" w="23825">
              <a:solidFill>
                <a:srgbClr val="DB277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28"/>
            <p:cNvCxnSpPr/>
            <p:nvPr/>
          </p:nvCxnSpPr>
          <p:spPr>
            <a:xfrm>
              <a:off x="190500" y="19050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23825">
              <a:solidFill>
                <a:srgbClr val="DB277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0" name="Google Shape;630;p28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DB27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>
              <a:off x="38100" y="76200"/>
              <a:ext cx="76200" cy="76200"/>
            </a:xfrm>
            <a:prstGeom prst="ellipse">
              <a:avLst/>
            </a:prstGeom>
            <a:solidFill>
              <a:srgbClr val="DB27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266700" y="76200"/>
              <a:ext cx="76200" cy="76200"/>
            </a:xfrm>
            <a:prstGeom prst="ellipse">
              <a:avLst/>
            </a:prstGeom>
            <a:solidFill>
              <a:srgbClr val="DB27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152400" y="266700"/>
              <a:ext cx="76200" cy="76200"/>
            </a:xfrm>
            <a:prstGeom prst="ellipse">
              <a:avLst/>
            </a:prstGeom>
            <a:solidFill>
              <a:srgbClr val="DB27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28"/>
          <p:cNvGrpSpPr/>
          <p:nvPr/>
        </p:nvGrpSpPr>
        <p:grpSpPr>
          <a:xfrm>
            <a:off x="10572750" y="2571750"/>
            <a:ext cx="266700" cy="228600"/>
            <a:chOff x="57150" y="95250"/>
            <a:chExt cx="266700" cy="228600"/>
          </a:xfrm>
        </p:grpSpPr>
        <p:sp>
          <p:nvSpPr>
            <p:cNvPr id="635" name="Google Shape;635;p28"/>
            <p:cNvSpPr/>
            <p:nvPr/>
          </p:nvSpPr>
          <p:spPr>
            <a:xfrm>
              <a:off x="57150" y="95250"/>
              <a:ext cx="266700" cy="2286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30000"/>
                  </a:lnTo>
                  <a:lnTo>
                    <a:pt x="51429" y="30000"/>
                  </a:lnTo>
                  <a:lnTo>
                    <a:pt x="51429" y="0"/>
                  </a:lnTo>
                  <a:lnTo>
                    <a:pt x="12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6" name="Google Shape;636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013" y="209550"/>
              <a:ext cx="285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7" name="Google Shape;637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4313" y="152400"/>
              <a:ext cx="285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8" name="Google Shape;638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2413" y="152400"/>
              <a:ext cx="28500" cy="95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29"/>
          <p:cNvGrpSpPr/>
          <p:nvPr/>
        </p:nvGrpSpPr>
        <p:grpSpPr>
          <a:xfrm>
            <a:off x="5095875" y="381000"/>
            <a:ext cx="2000100" cy="285900"/>
            <a:chOff x="0" y="0"/>
            <a:chExt cx="2000100" cy="285900"/>
          </a:xfrm>
        </p:grpSpPr>
        <p:sp>
          <p:nvSpPr>
            <p:cNvPr id="644" name="Google Shape;644;p29"/>
            <p:cNvSpPr/>
            <p:nvPr/>
          </p:nvSpPr>
          <p:spPr>
            <a:xfrm>
              <a:off x="0" y="0"/>
              <a:ext cx="2000100" cy="2859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 cap="flat" cmpd="sng" w="9525">
              <a:solidFill>
                <a:srgbClr val="C7D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9"/>
            <p:cNvSpPr txBox="1"/>
            <p:nvPr/>
          </p:nvSpPr>
          <p:spPr>
            <a:xfrm>
              <a:off x="0" y="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F46E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Conclusion &amp; Takeaway</a:t>
              </a:r>
              <a:endParaRPr b="1" sz="100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646" name="Google Shape;646;p29"/>
          <p:cNvSpPr txBox="1"/>
          <p:nvPr/>
        </p:nvSpPr>
        <p:spPr>
          <a:xfrm>
            <a:off x="1333500" y="809625"/>
            <a:ext cx="9525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Future Isn't Better Prompts.</a:t>
            </a:r>
            <a:endParaRPr b="1" sz="2800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It's Better Systems.</a:t>
            </a:r>
            <a:endParaRPr b="1" sz="2800">
              <a:solidFill>
                <a:srgbClr val="4F46E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47" name="Google Shape;647;p29"/>
          <p:cNvGrpSpPr/>
          <p:nvPr/>
        </p:nvGrpSpPr>
        <p:grpSpPr>
          <a:xfrm>
            <a:off x="952500" y="2047875"/>
            <a:ext cx="3143400" cy="1809600"/>
            <a:chOff x="0" y="0"/>
            <a:chExt cx="3143400" cy="1809600"/>
          </a:xfrm>
        </p:grpSpPr>
        <p:sp>
          <p:nvSpPr>
            <p:cNvPr id="648" name="Google Shape;648;p29"/>
            <p:cNvSpPr/>
            <p:nvPr/>
          </p:nvSpPr>
          <p:spPr>
            <a:xfrm>
              <a:off x="0" y="0"/>
              <a:ext cx="31434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9"/>
            <p:cNvSpPr txBox="1"/>
            <p:nvPr/>
          </p:nvSpPr>
          <p:spPr>
            <a:xfrm>
              <a:off x="0" y="0"/>
              <a:ext cx="3143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YESTERDAY</a:t>
              </a:r>
              <a:endParaRPr b="1" sz="9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Developer &amp; Prompt</a:t>
              </a:r>
              <a:endParaRPr b="1" sz="15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Single-turn conversational assistant generating static text outputs.</a:t>
              </a:r>
              <a:endParaRPr b="0" sz="11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650" name="Google Shape;650;p29"/>
          <p:cNvGrpSpPr/>
          <p:nvPr/>
        </p:nvGrpSpPr>
        <p:grpSpPr>
          <a:xfrm>
            <a:off x="4524375" y="2047875"/>
            <a:ext cx="3143400" cy="1809600"/>
            <a:chOff x="0" y="0"/>
            <a:chExt cx="3143400" cy="1809600"/>
          </a:xfrm>
        </p:grpSpPr>
        <p:sp>
          <p:nvSpPr>
            <p:cNvPr id="651" name="Google Shape;651;p29"/>
            <p:cNvSpPr/>
            <p:nvPr/>
          </p:nvSpPr>
          <p:spPr>
            <a:xfrm>
              <a:off x="0" y="0"/>
              <a:ext cx="3143400" cy="1809600"/>
            </a:xfrm>
            <a:prstGeom prst="roundRect">
              <a:avLst>
                <a:gd fmla="val 6315" name="adj"/>
              </a:avLst>
            </a:prstGeom>
            <a:solidFill>
              <a:srgbClr val="EEF2FF"/>
            </a:solidFill>
            <a:ln cap="flat" cmpd="sng" w="14300">
              <a:solidFill>
                <a:srgbClr val="C7D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9"/>
            <p:cNvSpPr txBox="1"/>
            <p:nvPr/>
          </p:nvSpPr>
          <p:spPr>
            <a:xfrm>
              <a:off x="0" y="0"/>
              <a:ext cx="3143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4F46E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TODAY</a:t>
              </a:r>
              <a:endParaRPr b="1" sz="950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12E8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AI Autonomous Loops</a:t>
              </a:r>
              <a:endParaRPr b="1" sz="1500">
                <a:solidFill>
                  <a:srgbClr val="312E8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730A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Iterative task execution, self-healing builds, and repository context awareness.</a:t>
              </a:r>
              <a:endParaRPr b="0" sz="1100">
                <a:solidFill>
                  <a:srgbClr val="3730A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653" name="Google Shape;653;p29"/>
          <p:cNvGrpSpPr/>
          <p:nvPr/>
        </p:nvGrpSpPr>
        <p:grpSpPr>
          <a:xfrm>
            <a:off x="8096250" y="2047875"/>
            <a:ext cx="3143400" cy="1809600"/>
            <a:chOff x="0" y="0"/>
            <a:chExt cx="3143400" cy="1809600"/>
          </a:xfrm>
        </p:grpSpPr>
        <p:sp>
          <p:nvSpPr>
            <p:cNvPr id="654" name="Google Shape;654;p29"/>
            <p:cNvSpPr/>
            <p:nvPr/>
          </p:nvSpPr>
          <p:spPr>
            <a:xfrm>
              <a:off x="0" y="0"/>
              <a:ext cx="3143400" cy="1809600"/>
            </a:xfrm>
            <a:prstGeom prst="roundRect">
              <a:avLst>
                <a:gd fmla="val 6315" name="adj"/>
              </a:avLst>
            </a:prstGeom>
            <a:solidFill>
              <a:srgbClr val="FDF4FF"/>
            </a:solidFill>
            <a:ln cap="flat" cmpd="sng" w="14300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9"/>
            <p:cNvSpPr txBox="1"/>
            <p:nvPr/>
          </p:nvSpPr>
          <p:spPr>
            <a:xfrm>
              <a:off x="0" y="0"/>
              <a:ext cx="3143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A21CA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TOMORROW</a:t>
              </a:r>
              <a:endParaRPr b="1" sz="950">
                <a:solidFill>
                  <a:srgbClr val="A21CA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581C87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Enterprise AI Platforms</a:t>
              </a:r>
              <a:endParaRPr b="1" sz="1500">
                <a:solidFill>
                  <a:srgbClr val="581C87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701A7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Multi-agent graphs, policy-driven security, and governed enterprise business outcomes.</a:t>
              </a:r>
              <a:endParaRPr b="0" sz="1100">
                <a:solidFill>
                  <a:srgbClr val="701A7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656" name="Google Shape;656;p29"/>
          <p:cNvGrpSpPr/>
          <p:nvPr/>
        </p:nvGrpSpPr>
        <p:grpSpPr>
          <a:xfrm>
            <a:off x="952500" y="4048125"/>
            <a:ext cx="10287000" cy="714300"/>
            <a:chOff x="0" y="0"/>
            <a:chExt cx="10287000" cy="714300"/>
          </a:xfrm>
        </p:grpSpPr>
        <p:sp>
          <p:nvSpPr>
            <p:cNvPr id="657" name="Google Shape;657;p29"/>
            <p:cNvSpPr/>
            <p:nvPr/>
          </p:nvSpPr>
          <p:spPr>
            <a:xfrm>
              <a:off x="0" y="0"/>
              <a:ext cx="10287000" cy="714300"/>
            </a:xfrm>
            <a:prstGeom prst="roundRect">
              <a:avLst>
                <a:gd fmla="val 13333" name="adj"/>
              </a:avLst>
            </a:prstGeom>
            <a:solidFill>
              <a:srgbClr val="FAF5FF"/>
            </a:solidFill>
            <a:ln cap="flat" cmpd="sng" w="9525">
              <a:solidFill>
                <a:srgbClr val="E9D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9"/>
            <p:cNvSpPr txBox="1"/>
            <p:nvPr/>
          </p:nvSpPr>
          <p:spPr>
            <a:xfrm>
              <a:off x="0" y="0"/>
              <a:ext cx="10287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2857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50">
                  <a:solidFill>
                    <a:srgbClr val="581C87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"The future belongs not to organizations that build the smartest AI agent, but to those that design the most reliable AI systems."</a:t>
              </a:r>
              <a:endParaRPr b="0" i="1" sz="1250">
                <a:solidFill>
                  <a:srgbClr val="581C87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659" name="Google Shape;659;p29"/>
          <p:cNvSpPr txBox="1"/>
          <p:nvPr/>
        </p:nvSpPr>
        <p:spPr>
          <a:xfrm>
            <a:off x="3238500" y="5000625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E1B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You!</a:t>
            </a:r>
            <a:endParaRPr b="1" sz="2600">
              <a:solidFill>
                <a:srgbClr val="1E1B4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 &amp; Discussion</a:t>
            </a:r>
            <a:endParaRPr b="0" sz="1300">
              <a:solidFill>
                <a:srgbClr val="64748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