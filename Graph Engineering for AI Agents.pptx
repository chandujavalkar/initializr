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embeddedFontLst>
    <p:embeddedFont>
      <p:font typeface="DM Sans"/>
      <p:regular r:id="rId12"/>
      <p:bold r:id="rId13"/>
      <p:italic r:id="rId14"/>
      <p:boldItalic r:id="rId15"/>
    </p:embeddedFont>
    <p:embeddedFont>
      <p:font typeface="Space Grotesk"/>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DMSans-bold.fntdata"/><Relationship Id="rId12" Type="http://schemas.openxmlformats.org/officeDocument/2006/relationships/font" Target="fonts/DM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DMSans-boldItalic.fntdata"/><Relationship Id="rId14" Type="http://schemas.openxmlformats.org/officeDocument/2006/relationships/font" Target="fonts/DMSans-italic.fntdata"/><Relationship Id="rId17" Type="http://schemas.openxmlformats.org/officeDocument/2006/relationships/font" Target="fonts/SpaceGrotesk-bold.fntdata"/><Relationship Id="rId16" Type="http://schemas.openxmlformats.org/officeDocument/2006/relationships/font" Target="fonts/SpaceGrotesk-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2.png"/><Relationship Id="rId9" Type="http://schemas.openxmlformats.org/officeDocument/2006/relationships/image" Target="../media/image4.png"/><Relationship Id="rId5" Type="http://schemas.openxmlformats.org/officeDocument/2006/relationships/image" Target="../media/image27.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1" Type="http://schemas.openxmlformats.org/officeDocument/2006/relationships/image" Target="../media/image14.png"/><Relationship Id="rId10" Type="http://schemas.openxmlformats.org/officeDocument/2006/relationships/image" Target="../media/image20.png"/><Relationship Id="rId13" Type="http://schemas.openxmlformats.org/officeDocument/2006/relationships/image" Target="../media/image15.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12.png"/><Relationship Id="rId15" Type="http://schemas.openxmlformats.org/officeDocument/2006/relationships/image" Target="../media/image17.png"/><Relationship Id="rId14" Type="http://schemas.openxmlformats.org/officeDocument/2006/relationships/image" Target="../media/image18.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24.png"/><Relationship Id="rId7"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826793" y="2550765"/>
            <a:ext cx="2538412" cy="342900"/>
          </a:xfrm>
          <a:prstGeom prst="rect">
            <a:avLst/>
          </a:prstGeom>
          <a:noFill/>
          <a:ln>
            <a:noFill/>
          </a:ln>
        </p:spPr>
      </p:pic>
      <p:sp>
        <p:nvSpPr>
          <p:cNvPr id="86" name="Google Shape;86;p13"/>
          <p:cNvSpPr txBox="1"/>
          <p:nvPr/>
        </p:nvSpPr>
        <p:spPr>
          <a:xfrm>
            <a:off x="3265646" y="3131790"/>
            <a:ext cx="5660707" cy="67047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4800" u="none" cap="none" strike="noStrike">
                <a:solidFill>
                  <a:srgbClr val="0F172A"/>
                </a:solidFill>
                <a:latin typeface="Space Grotesk"/>
                <a:ea typeface="Space Grotesk"/>
                <a:cs typeface="Space Grotesk"/>
                <a:sym typeface="Space Grotesk"/>
              </a:rPr>
              <a:t>Graph Engineering</a:t>
            </a:r>
            <a:endParaRPr/>
          </a:p>
        </p:txBody>
      </p:sp>
      <p:sp>
        <p:nvSpPr>
          <p:cNvPr id="87" name="Google Shape;87;p13"/>
          <p:cNvSpPr txBox="1"/>
          <p:nvPr/>
        </p:nvSpPr>
        <p:spPr>
          <a:xfrm>
            <a:off x="2509837" y="3992760"/>
            <a:ext cx="7172325" cy="3143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650" u="none" cap="none" strike="noStrike">
                <a:solidFill>
                  <a:srgbClr val="475569"/>
                </a:solidFill>
                <a:latin typeface="DM Sans"/>
                <a:ea typeface="DM Sans"/>
                <a:cs typeface="DM Sans"/>
                <a:sym typeface="DM Sans"/>
              </a:rPr>
              <a:t>Moving Beyond Single-Agent Loops to Structured Multi-Agent Workflows</a:t>
            </a:r>
            <a:endParaRPr/>
          </a:p>
        </p:txBody>
      </p:sp>
      <p:pic>
        <p:nvPicPr>
          <p:cNvPr descr="image.png" id="88" name="Google Shape;88;p13"/>
          <p:cNvPicPr preferRelativeResize="0"/>
          <p:nvPr/>
        </p:nvPicPr>
        <p:blipFill rotWithShape="1">
          <a:blip r:embed="rId5">
            <a:alphaModFix/>
          </a:blip>
          <a:srcRect b="0" l="0" r="0" t="0"/>
          <a:stretch/>
        </p:blipFill>
        <p:spPr>
          <a:xfrm>
            <a:off x="5007768" y="2636490"/>
            <a:ext cx="171450" cy="171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4" name="Google Shape;94;p14"/>
          <p:cNvPicPr preferRelativeResize="0"/>
          <p:nvPr/>
        </p:nvPicPr>
        <p:blipFill rotWithShape="1">
          <a:blip r:embed="rId4">
            <a:alphaModFix/>
          </a:blip>
          <a:srcRect b="0" l="0" r="0" t="0"/>
          <a:stretch/>
        </p:blipFill>
        <p:spPr>
          <a:xfrm>
            <a:off x="581025" y="2240905"/>
            <a:ext cx="5348287" cy="3166616"/>
          </a:xfrm>
          <a:prstGeom prst="rect">
            <a:avLst/>
          </a:prstGeom>
          <a:noFill/>
          <a:ln>
            <a:noFill/>
          </a:ln>
        </p:spPr>
      </p:pic>
      <p:pic>
        <p:nvPicPr>
          <p:cNvPr descr="image.png" id="95" name="Google Shape;95;p14"/>
          <p:cNvPicPr preferRelativeResize="0"/>
          <p:nvPr/>
        </p:nvPicPr>
        <p:blipFill rotWithShape="1">
          <a:blip r:embed="rId5">
            <a:alphaModFix/>
          </a:blip>
          <a:srcRect b="0" l="0" r="0" t="0"/>
          <a:stretch/>
        </p:blipFill>
        <p:spPr>
          <a:xfrm>
            <a:off x="6262687" y="2240905"/>
            <a:ext cx="5348287" cy="3166616"/>
          </a:xfrm>
          <a:prstGeom prst="rect">
            <a:avLst/>
          </a:prstGeom>
          <a:noFill/>
          <a:ln>
            <a:noFill/>
          </a:ln>
        </p:spPr>
      </p:pic>
      <p:pic>
        <p:nvPicPr>
          <p:cNvPr descr="image.png" id="96" name="Google Shape;96;p14"/>
          <p:cNvPicPr preferRelativeResize="0"/>
          <p:nvPr/>
        </p:nvPicPr>
        <p:blipFill rotWithShape="1">
          <a:blip r:embed="rId6">
            <a:alphaModFix/>
          </a:blip>
          <a:srcRect b="0" l="0" r="0" t="0"/>
          <a:stretch/>
        </p:blipFill>
        <p:spPr>
          <a:xfrm>
            <a:off x="923925" y="2583805"/>
            <a:ext cx="514350" cy="514350"/>
          </a:xfrm>
          <a:prstGeom prst="rect">
            <a:avLst/>
          </a:prstGeom>
          <a:noFill/>
          <a:ln>
            <a:noFill/>
          </a:ln>
        </p:spPr>
      </p:pic>
      <p:pic>
        <p:nvPicPr>
          <p:cNvPr descr="image.png" id="97" name="Google Shape;97;p14"/>
          <p:cNvPicPr preferRelativeResize="0"/>
          <p:nvPr/>
        </p:nvPicPr>
        <p:blipFill rotWithShape="1">
          <a:blip r:embed="rId7">
            <a:alphaModFix/>
          </a:blip>
          <a:srcRect b="0" l="0" r="0" t="0"/>
          <a:stretch/>
        </p:blipFill>
        <p:spPr>
          <a:xfrm>
            <a:off x="6605587" y="2583805"/>
            <a:ext cx="514350" cy="514350"/>
          </a:xfrm>
          <a:prstGeom prst="rect">
            <a:avLst/>
          </a:prstGeom>
          <a:noFill/>
          <a:ln>
            <a:noFill/>
          </a:ln>
        </p:spPr>
      </p:pic>
      <p:sp>
        <p:nvSpPr>
          <p:cNvPr id="98" name="Google Shape;98;p14"/>
          <p:cNvSpPr txBox="1"/>
          <p:nvPr/>
        </p:nvSpPr>
        <p:spPr>
          <a:xfrm>
            <a:off x="923925" y="3307705"/>
            <a:ext cx="4895611"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Space Grotesk"/>
                <a:ea typeface="Space Grotesk"/>
                <a:cs typeface="Space Grotesk"/>
                <a:sym typeface="Space Grotesk"/>
              </a:rPr>
              <a:t>Limitations of Single Loops</a:t>
            </a:r>
            <a:endParaRPr/>
          </a:p>
        </p:txBody>
      </p:sp>
      <p:sp>
        <p:nvSpPr>
          <p:cNvPr id="99" name="Google Shape;99;p14"/>
          <p:cNvSpPr txBox="1"/>
          <p:nvPr/>
        </p:nvSpPr>
        <p:spPr>
          <a:xfrm>
            <a:off x="923925" y="3736330"/>
            <a:ext cx="4662487" cy="1328291"/>
          </a:xfrm>
          <a:prstGeom prst="rect">
            <a:avLst/>
          </a:prstGeom>
          <a:noFill/>
          <a:ln>
            <a:noFill/>
          </a:ln>
        </p:spPr>
        <p:txBody>
          <a:bodyPr anchorCtr="0" anchor="t" bIns="0" lIns="0" spcFirstLastPara="1" rIns="0" wrap="square" tIns="0">
            <a:spAutoFit/>
          </a:bodyPr>
          <a:lstStyle/>
          <a:p>
            <a:pPr indent="0" lvl="0" marL="0" marR="0" rtl="0" algn="l">
              <a:lnSpc>
                <a:spcPct val="154962"/>
              </a:lnSpc>
              <a:spcBef>
                <a:spcPts val="0"/>
              </a:spcBef>
              <a:spcAft>
                <a:spcPts val="0"/>
              </a:spcAft>
              <a:buNone/>
            </a:pPr>
            <a:r>
              <a:rPr b="0" i="0" lang="en-US" sz="1350" u="none" cap="none" strike="noStrike">
                <a:solidFill>
                  <a:srgbClr val="475569"/>
                </a:solidFill>
                <a:latin typeface="DM Sans"/>
                <a:ea typeface="DM Sans"/>
                <a:cs typeface="DM Sans"/>
                <a:sym typeface="DM Sans"/>
              </a:rPr>
              <a:t>Early AI agent design relied on unconstrained autonomous loops. Hiding routing decisions and state changes inside model context windows leads to non-deterministic execution, infinite retries, and opaque debugging in production.</a:t>
            </a:r>
            <a:endParaRPr/>
          </a:p>
        </p:txBody>
      </p:sp>
      <p:sp>
        <p:nvSpPr>
          <p:cNvPr id="100" name="Google Shape;100;p14"/>
          <p:cNvSpPr txBox="1"/>
          <p:nvPr/>
        </p:nvSpPr>
        <p:spPr>
          <a:xfrm>
            <a:off x="6605587" y="3307705"/>
            <a:ext cx="4895611" cy="295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Space Grotesk"/>
                <a:ea typeface="Space Grotesk"/>
                <a:cs typeface="Space Grotesk"/>
                <a:sym typeface="Space Grotesk"/>
              </a:rPr>
              <a:t>The Graph-Engineered Model</a:t>
            </a:r>
            <a:endParaRPr/>
          </a:p>
        </p:txBody>
      </p:sp>
      <p:sp>
        <p:nvSpPr>
          <p:cNvPr id="101" name="Google Shape;101;p14"/>
          <p:cNvSpPr txBox="1"/>
          <p:nvPr/>
        </p:nvSpPr>
        <p:spPr>
          <a:xfrm>
            <a:off x="6605587" y="3736330"/>
            <a:ext cx="4662487" cy="1062632"/>
          </a:xfrm>
          <a:prstGeom prst="rect">
            <a:avLst/>
          </a:prstGeom>
          <a:noFill/>
          <a:ln>
            <a:noFill/>
          </a:ln>
        </p:spPr>
        <p:txBody>
          <a:bodyPr anchorCtr="0" anchor="t" bIns="0" lIns="0" spcFirstLastPara="1" rIns="0" wrap="square" tIns="0">
            <a:spAutoFit/>
          </a:bodyPr>
          <a:lstStyle/>
          <a:p>
            <a:pPr indent="0" lvl="0" marL="0" marR="0" rtl="0" algn="l">
              <a:lnSpc>
                <a:spcPct val="154962"/>
              </a:lnSpc>
              <a:spcBef>
                <a:spcPts val="0"/>
              </a:spcBef>
              <a:spcAft>
                <a:spcPts val="0"/>
              </a:spcAft>
              <a:buNone/>
            </a:pPr>
            <a:r>
              <a:rPr b="0" i="0" lang="en-US" sz="1350" u="none" cap="none" strike="noStrike">
                <a:solidFill>
                  <a:srgbClr val="475569"/>
                </a:solidFill>
                <a:latin typeface="DM Sans"/>
                <a:ea typeface="DM Sans"/>
                <a:cs typeface="DM Sans"/>
                <a:sym typeface="DM Sans"/>
              </a:rPr>
              <a:t>Graph engineering treats AI systems as explicit executable graphs. It models agents, deterministic code, evaluators, and humans as distinct nodes linked by strict edges and shared typed state—ensuring reliability and control.</a:t>
            </a:r>
            <a:endParaRPr/>
          </a:p>
        </p:txBody>
      </p:sp>
      <p:pic>
        <p:nvPicPr>
          <p:cNvPr descr="image.png" id="102" name="Google Shape;102;p14"/>
          <p:cNvPicPr preferRelativeResize="0"/>
          <p:nvPr/>
        </p:nvPicPr>
        <p:blipFill rotWithShape="1">
          <a:blip r:embed="rId8">
            <a:alphaModFix/>
          </a:blip>
          <a:srcRect b="0" l="0" r="0" t="0"/>
          <a:stretch/>
        </p:blipFill>
        <p:spPr>
          <a:xfrm>
            <a:off x="1057275" y="2717155"/>
            <a:ext cx="247650" cy="247650"/>
          </a:xfrm>
          <a:prstGeom prst="rect">
            <a:avLst/>
          </a:prstGeom>
          <a:noFill/>
          <a:ln>
            <a:noFill/>
          </a:ln>
        </p:spPr>
      </p:pic>
      <p:pic>
        <p:nvPicPr>
          <p:cNvPr descr="image.png" id="103" name="Google Shape;103;p14"/>
          <p:cNvPicPr preferRelativeResize="0"/>
          <p:nvPr/>
        </p:nvPicPr>
        <p:blipFill rotWithShape="1">
          <a:blip r:embed="rId9">
            <a:alphaModFix/>
          </a:blip>
          <a:srcRect b="0" l="0" r="0" t="0"/>
          <a:stretch/>
        </p:blipFill>
        <p:spPr>
          <a:xfrm>
            <a:off x="6738937" y="2717155"/>
            <a:ext cx="247650" cy="247650"/>
          </a:xfrm>
          <a:prstGeom prst="rect">
            <a:avLst/>
          </a:prstGeom>
          <a:noFill/>
          <a:ln>
            <a:noFill/>
          </a:ln>
        </p:spPr>
      </p:pic>
      <p:sp>
        <p:nvSpPr>
          <p:cNvPr id="104" name="Google Shape;104;p14"/>
          <p:cNvSpPr txBox="1"/>
          <p:nvPr/>
        </p:nvSpPr>
        <p:spPr>
          <a:xfrm>
            <a:off x="581025" y="581025"/>
            <a:ext cx="11581447"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Space Grotesk"/>
                <a:ea typeface="Space Grotesk"/>
                <a:cs typeface="Space Grotesk"/>
                <a:sym typeface="Space Grotesk"/>
              </a:rPr>
              <a:t>The Shift to Graph Engineering</a:t>
            </a:r>
            <a:endParaRPr/>
          </a:p>
        </p:txBody>
      </p:sp>
      <p:sp>
        <p:nvSpPr>
          <p:cNvPr id="105" name="Google Shape;105;p14"/>
          <p:cNvSpPr/>
          <p:nvPr/>
        </p:nvSpPr>
        <p:spPr>
          <a:xfrm>
            <a:off x="581025" y="1038225"/>
            <a:ext cx="95250" cy="304800"/>
          </a:xfrm>
          <a:prstGeom prst="roundRect">
            <a:avLst>
              <a:gd fmla="val 4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 name="Shape 109"/>
        <p:cNvGrpSpPr/>
        <p:nvPr/>
      </p:nvGrpSpPr>
      <p:grpSpPr>
        <a:xfrm>
          <a:off x="0" y="0"/>
          <a:ext cx="0" cy="0"/>
          <a:chOff x="0" y="0"/>
          <a:chExt cx="0" cy="0"/>
        </a:xfrm>
      </p:grpSpPr>
      <p:pic>
        <p:nvPicPr>
          <p:cNvPr descr="image.png" id="110" name="Google Shape;110;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1" name="Google Shape;111;p15"/>
          <p:cNvPicPr preferRelativeResize="0"/>
          <p:nvPr/>
        </p:nvPicPr>
        <p:blipFill rotWithShape="1">
          <a:blip r:embed="rId4">
            <a:alphaModFix/>
          </a:blip>
          <a:srcRect b="0" l="0" r="0" t="0"/>
          <a:stretch/>
        </p:blipFill>
        <p:spPr>
          <a:xfrm>
            <a:off x="581025" y="2516981"/>
            <a:ext cx="2614612" cy="2614612"/>
          </a:xfrm>
          <a:prstGeom prst="rect">
            <a:avLst/>
          </a:prstGeom>
          <a:noFill/>
          <a:ln>
            <a:noFill/>
          </a:ln>
        </p:spPr>
      </p:pic>
      <p:pic>
        <p:nvPicPr>
          <p:cNvPr descr="image.png" id="112" name="Google Shape;112;p15"/>
          <p:cNvPicPr preferRelativeResize="0"/>
          <p:nvPr/>
        </p:nvPicPr>
        <p:blipFill rotWithShape="1">
          <a:blip r:embed="rId5">
            <a:alphaModFix/>
          </a:blip>
          <a:srcRect b="0" l="0" r="0" t="0"/>
          <a:stretch/>
        </p:blipFill>
        <p:spPr>
          <a:xfrm>
            <a:off x="3386137" y="2516981"/>
            <a:ext cx="2614612" cy="2614612"/>
          </a:xfrm>
          <a:prstGeom prst="rect">
            <a:avLst/>
          </a:prstGeom>
          <a:noFill/>
          <a:ln>
            <a:noFill/>
          </a:ln>
        </p:spPr>
      </p:pic>
      <p:pic>
        <p:nvPicPr>
          <p:cNvPr descr="image.png" id="113" name="Google Shape;113;p15"/>
          <p:cNvPicPr preferRelativeResize="0"/>
          <p:nvPr/>
        </p:nvPicPr>
        <p:blipFill rotWithShape="1">
          <a:blip r:embed="rId6">
            <a:alphaModFix/>
          </a:blip>
          <a:srcRect b="0" l="0" r="0" t="0"/>
          <a:stretch/>
        </p:blipFill>
        <p:spPr>
          <a:xfrm>
            <a:off x="6191250" y="2516981"/>
            <a:ext cx="2614612" cy="2614612"/>
          </a:xfrm>
          <a:prstGeom prst="rect">
            <a:avLst/>
          </a:prstGeom>
          <a:noFill/>
          <a:ln>
            <a:noFill/>
          </a:ln>
        </p:spPr>
      </p:pic>
      <p:pic>
        <p:nvPicPr>
          <p:cNvPr descr="image.png" id="114" name="Google Shape;114;p15"/>
          <p:cNvPicPr preferRelativeResize="0"/>
          <p:nvPr/>
        </p:nvPicPr>
        <p:blipFill rotWithShape="1">
          <a:blip r:embed="rId7">
            <a:alphaModFix/>
          </a:blip>
          <a:srcRect b="0" l="0" r="0" t="0"/>
          <a:stretch/>
        </p:blipFill>
        <p:spPr>
          <a:xfrm>
            <a:off x="8996362" y="2516981"/>
            <a:ext cx="2614612" cy="2614612"/>
          </a:xfrm>
          <a:prstGeom prst="rect">
            <a:avLst/>
          </a:prstGeom>
          <a:noFill/>
          <a:ln>
            <a:noFill/>
          </a:ln>
        </p:spPr>
      </p:pic>
      <p:pic>
        <p:nvPicPr>
          <p:cNvPr descr="image.png" id="115" name="Google Shape;115;p15"/>
          <p:cNvPicPr preferRelativeResize="0"/>
          <p:nvPr/>
        </p:nvPicPr>
        <p:blipFill rotWithShape="1">
          <a:blip r:embed="rId8">
            <a:alphaModFix/>
          </a:blip>
          <a:srcRect b="0" l="0" r="0" t="0"/>
          <a:stretch/>
        </p:blipFill>
        <p:spPr>
          <a:xfrm>
            <a:off x="819150" y="2793206"/>
            <a:ext cx="476250" cy="476250"/>
          </a:xfrm>
          <a:prstGeom prst="rect">
            <a:avLst/>
          </a:prstGeom>
          <a:noFill/>
          <a:ln>
            <a:noFill/>
          </a:ln>
        </p:spPr>
      </p:pic>
      <p:pic>
        <p:nvPicPr>
          <p:cNvPr descr="image.png" id="116" name="Google Shape;116;p15"/>
          <p:cNvPicPr preferRelativeResize="0"/>
          <p:nvPr/>
        </p:nvPicPr>
        <p:blipFill rotWithShape="1">
          <a:blip r:embed="rId9">
            <a:alphaModFix/>
          </a:blip>
          <a:srcRect b="0" l="0" r="0" t="0"/>
          <a:stretch/>
        </p:blipFill>
        <p:spPr>
          <a:xfrm>
            <a:off x="3624262" y="2793206"/>
            <a:ext cx="476250" cy="476250"/>
          </a:xfrm>
          <a:prstGeom prst="rect">
            <a:avLst/>
          </a:prstGeom>
          <a:noFill/>
          <a:ln>
            <a:noFill/>
          </a:ln>
        </p:spPr>
      </p:pic>
      <p:pic>
        <p:nvPicPr>
          <p:cNvPr descr="image.png" id="117" name="Google Shape;117;p15"/>
          <p:cNvPicPr preferRelativeResize="0"/>
          <p:nvPr/>
        </p:nvPicPr>
        <p:blipFill rotWithShape="1">
          <a:blip r:embed="rId10">
            <a:alphaModFix/>
          </a:blip>
          <a:srcRect b="0" l="0" r="0" t="0"/>
          <a:stretch/>
        </p:blipFill>
        <p:spPr>
          <a:xfrm>
            <a:off x="6429375" y="2793206"/>
            <a:ext cx="476250" cy="476250"/>
          </a:xfrm>
          <a:prstGeom prst="rect">
            <a:avLst/>
          </a:prstGeom>
          <a:noFill/>
          <a:ln>
            <a:noFill/>
          </a:ln>
        </p:spPr>
      </p:pic>
      <p:pic>
        <p:nvPicPr>
          <p:cNvPr descr="image.png" id="118" name="Google Shape;118;p15"/>
          <p:cNvPicPr preferRelativeResize="0"/>
          <p:nvPr/>
        </p:nvPicPr>
        <p:blipFill rotWithShape="1">
          <a:blip r:embed="rId11">
            <a:alphaModFix/>
          </a:blip>
          <a:srcRect b="0" l="0" r="0" t="0"/>
          <a:stretch/>
        </p:blipFill>
        <p:spPr>
          <a:xfrm>
            <a:off x="9234487" y="2793206"/>
            <a:ext cx="476250" cy="476250"/>
          </a:xfrm>
          <a:prstGeom prst="rect">
            <a:avLst/>
          </a:prstGeom>
          <a:noFill/>
          <a:ln>
            <a:noFill/>
          </a:ln>
        </p:spPr>
      </p:pic>
      <p:sp>
        <p:nvSpPr>
          <p:cNvPr id="119" name="Google Shape;119;p15"/>
          <p:cNvSpPr txBox="1"/>
          <p:nvPr/>
        </p:nvSpPr>
        <p:spPr>
          <a:xfrm>
            <a:off x="819150" y="3440906"/>
            <a:ext cx="152019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Space Grotesk"/>
                <a:ea typeface="Space Grotesk"/>
                <a:cs typeface="Space Grotesk"/>
                <a:sym typeface="Space Grotesk"/>
              </a:rPr>
              <a:t>Bounded Nodes</a:t>
            </a:r>
            <a:endParaRPr/>
          </a:p>
        </p:txBody>
      </p:sp>
      <p:sp>
        <p:nvSpPr>
          <p:cNvPr id="120" name="Google Shape;120;p15"/>
          <p:cNvSpPr txBox="1"/>
          <p:nvPr/>
        </p:nvSpPr>
        <p:spPr>
          <a:xfrm>
            <a:off x="819150" y="3783806"/>
            <a:ext cx="2138362" cy="107156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DM Sans"/>
                <a:ea typeface="DM Sans"/>
                <a:cs typeface="DM Sans"/>
                <a:sym typeface="DM Sans"/>
              </a:rPr>
              <a:t>Discrete execution units representing LLMs, Python tools, API calls, validators, or human tasks. Not every node needs an LLM agent.</a:t>
            </a:r>
            <a:endParaRPr/>
          </a:p>
        </p:txBody>
      </p:sp>
      <p:sp>
        <p:nvSpPr>
          <p:cNvPr id="121" name="Google Shape;121;p15"/>
          <p:cNvSpPr txBox="1"/>
          <p:nvPr/>
        </p:nvSpPr>
        <p:spPr>
          <a:xfrm>
            <a:off x="3624262" y="3440906"/>
            <a:ext cx="136017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Space Grotesk"/>
                <a:ea typeface="Space Grotesk"/>
                <a:cs typeface="Space Grotesk"/>
                <a:sym typeface="Space Grotesk"/>
              </a:rPr>
              <a:t>Explicit Edges</a:t>
            </a:r>
            <a:endParaRPr/>
          </a:p>
        </p:txBody>
      </p:sp>
      <p:sp>
        <p:nvSpPr>
          <p:cNvPr id="122" name="Google Shape;122;p15"/>
          <p:cNvSpPr txBox="1"/>
          <p:nvPr/>
        </p:nvSpPr>
        <p:spPr>
          <a:xfrm>
            <a:off x="3624262" y="3783806"/>
            <a:ext cx="2138362" cy="107156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DM Sans"/>
                <a:ea typeface="DM Sans"/>
                <a:cs typeface="DM Sans"/>
                <a:sym typeface="DM Sans"/>
              </a:rPr>
              <a:t>Conditional transition logic and routes between nodes. Controls execution flow, parallel fan-out, and failure recovery paths.</a:t>
            </a:r>
            <a:endParaRPr/>
          </a:p>
        </p:txBody>
      </p:sp>
      <p:sp>
        <p:nvSpPr>
          <p:cNvPr id="123" name="Google Shape;123;p15"/>
          <p:cNvSpPr txBox="1"/>
          <p:nvPr/>
        </p:nvSpPr>
        <p:spPr>
          <a:xfrm>
            <a:off x="6429375" y="3440906"/>
            <a:ext cx="1930241"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Space Grotesk"/>
                <a:ea typeface="Space Grotesk"/>
                <a:cs typeface="Space Grotesk"/>
                <a:sym typeface="Space Grotesk"/>
              </a:rPr>
              <a:t>Typed Shared State</a:t>
            </a:r>
            <a:endParaRPr/>
          </a:p>
        </p:txBody>
      </p:sp>
      <p:sp>
        <p:nvSpPr>
          <p:cNvPr id="124" name="Google Shape;124;p15"/>
          <p:cNvSpPr txBox="1"/>
          <p:nvPr/>
        </p:nvSpPr>
        <p:spPr>
          <a:xfrm>
            <a:off x="6429375" y="3783806"/>
            <a:ext cx="2138362" cy="1071562"/>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DM Sans"/>
                <a:ea typeface="DM Sans"/>
                <a:cs typeface="DM Sans"/>
                <a:sym typeface="DM Sans"/>
              </a:rPr>
              <a:t>A centralized, typed schema passed across the graph. Uses state reducers to reconcile concurrent node updates seamlessly.</a:t>
            </a:r>
            <a:endParaRPr/>
          </a:p>
        </p:txBody>
      </p:sp>
      <p:sp>
        <p:nvSpPr>
          <p:cNvPr id="125" name="Google Shape;125;p15"/>
          <p:cNvSpPr txBox="1"/>
          <p:nvPr/>
        </p:nvSpPr>
        <p:spPr>
          <a:xfrm>
            <a:off x="9234487" y="3440906"/>
            <a:ext cx="1310163"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72A"/>
                </a:solidFill>
                <a:latin typeface="Space Grotesk"/>
                <a:ea typeface="Space Grotesk"/>
                <a:cs typeface="Space Grotesk"/>
                <a:sym typeface="Space Grotesk"/>
              </a:rPr>
              <a:t>Control Gates</a:t>
            </a:r>
            <a:endParaRPr/>
          </a:p>
        </p:txBody>
      </p:sp>
      <p:sp>
        <p:nvSpPr>
          <p:cNvPr id="126" name="Google Shape;126;p15"/>
          <p:cNvSpPr txBox="1"/>
          <p:nvPr/>
        </p:nvSpPr>
        <p:spPr>
          <a:xfrm>
            <a:off x="9234487" y="3783806"/>
            <a:ext cx="2138362" cy="857250"/>
          </a:xfrm>
          <a:prstGeom prst="rect">
            <a:avLst/>
          </a:prstGeom>
          <a:noFill/>
          <a:ln>
            <a:noFill/>
          </a:ln>
        </p:spPr>
        <p:txBody>
          <a:bodyPr anchorCtr="0" anchor="t" bIns="0" lIns="0" spcFirstLastPara="1" rIns="0" wrap="square" tIns="0">
            <a:spAutoFit/>
          </a:bodyPr>
          <a:lstStyle/>
          <a:p>
            <a:pPr indent="0" lvl="0" marL="0" marR="0" rtl="0" algn="l">
              <a:lnSpc>
                <a:spcPct val="149955"/>
              </a:lnSpc>
              <a:spcBef>
                <a:spcPts val="0"/>
              </a:spcBef>
              <a:spcAft>
                <a:spcPts val="0"/>
              </a:spcAft>
              <a:buNone/>
            </a:pPr>
            <a:r>
              <a:rPr b="0" i="0" lang="en-US" sz="1125" u="none" cap="none" strike="noStrike">
                <a:solidFill>
                  <a:srgbClr val="475569"/>
                </a:solidFill>
                <a:latin typeface="DM Sans"/>
                <a:ea typeface="DM Sans"/>
                <a:cs typeface="DM Sans"/>
                <a:sym typeface="DM Sans"/>
              </a:rPr>
              <a:t>Checkpoints and interrupts that log thread state, preserve long-term storage, and enforce risk-calibrated human approval.</a:t>
            </a:r>
            <a:endParaRPr/>
          </a:p>
        </p:txBody>
      </p:sp>
      <p:pic>
        <p:nvPicPr>
          <p:cNvPr descr="image.png" id="127" name="Google Shape;127;p15"/>
          <p:cNvPicPr preferRelativeResize="0"/>
          <p:nvPr/>
        </p:nvPicPr>
        <p:blipFill rotWithShape="1">
          <a:blip r:embed="rId12">
            <a:alphaModFix/>
          </a:blip>
          <a:srcRect b="0" l="0" r="0" t="0"/>
          <a:stretch/>
        </p:blipFill>
        <p:spPr>
          <a:xfrm>
            <a:off x="942975" y="2917031"/>
            <a:ext cx="228600" cy="228600"/>
          </a:xfrm>
          <a:prstGeom prst="rect">
            <a:avLst/>
          </a:prstGeom>
          <a:noFill/>
          <a:ln>
            <a:noFill/>
          </a:ln>
        </p:spPr>
      </p:pic>
      <p:pic>
        <p:nvPicPr>
          <p:cNvPr descr="image.png" id="128" name="Google Shape;128;p15"/>
          <p:cNvPicPr preferRelativeResize="0"/>
          <p:nvPr/>
        </p:nvPicPr>
        <p:blipFill rotWithShape="1">
          <a:blip r:embed="rId13">
            <a:alphaModFix/>
          </a:blip>
          <a:srcRect b="0" l="0" r="0" t="0"/>
          <a:stretch/>
        </p:blipFill>
        <p:spPr>
          <a:xfrm>
            <a:off x="3748087" y="2917031"/>
            <a:ext cx="228600" cy="228600"/>
          </a:xfrm>
          <a:prstGeom prst="rect">
            <a:avLst/>
          </a:prstGeom>
          <a:noFill/>
          <a:ln>
            <a:noFill/>
          </a:ln>
        </p:spPr>
      </p:pic>
      <p:pic>
        <p:nvPicPr>
          <p:cNvPr descr="image.png" id="129" name="Google Shape;129;p15"/>
          <p:cNvPicPr preferRelativeResize="0"/>
          <p:nvPr/>
        </p:nvPicPr>
        <p:blipFill rotWithShape="1">
          <a:blip r:embed="rId14">
            <a:alphaModFix/>
          </a:blip>
          <a:srcRect b="0" l="0" r="0" t="0"/>
          <a:stretch/>
        </p:blipFill>
        <p:spPr>
          <a:xfrm>
            <a:off x="6553200" y="2917031"/>
            <a:ext cx="228600" cy="228600"/>
          </a:xfrm>
          <a:prstGeom prst="rect">
            <a:avLst/>
          </a:prstGeom>
          <a:noFill/>
          <a:ln>
            <a:noFill/>
          </a:ln>
        </p:spPr>
      </p:pic>
      <p:pic>
        <p:nvPicPr>
          <p:cNvPr descr="image.png" id="130" name="Google Shape;130;p15"/>
          <p:cNvPicPr preferRelativeResize="0"/>
          <p:nvPr/>
        </p:nvPicPr>
        <p:blipFill rotWithShape="1">
          <a:blip r:embed="rId15">
            <a:alphaModFix/>
          </a:blip>
          <a:srcRect b="0" l="0" r="0" t="0"/>
          <a:stretch/>
        </p:blipFill>
        <p:spPr>
          <a:xfrm>
            <a:off x="9358312" y="2917031"/>
            <a:ext cx="228600" cy="228600"/>
          </a:xfrm>
          <a:prstGeom prst="rect">
            <a:avLst/>
          </a:prstGeom>
          <a:noFill/>
          <a:ln>
            <a:noFill/>
          </a:ln>
        </p:spPr>
      </p:pic>
      <p:sp>
        <p:nvSpPr>
          <p:cNvPr id="131" name="Google Shape;131;p15"/>
          <p:cNvSpPr txBox="1"/>
          <p:nvPr/>
        </p:nvSpPr>
        <p:spPr>
          <a:xfrm>
            <a:off x="581025" y="581025"/>
            <a:ext cx="11581447"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Space Grotesk"/>
                <a:ea typeface="Space Grotesk"/>
                <a:cs typeface="Space Grotesk"/>
                <a:sym typeface="Space Grotesk"/>
              </a:rPr>
              <a:t>Core Building Blocks</a:t>
            </a:r>
            <a:endParaRPr/>
          </a:p>
        </p:txBody>
      </p:sp>
      <p:sp>
        <p:nvSpPr>
          <p:cNvPr id="132" name="Google Shape;132;p15"/>
          <p:cNvSpPr/>
          <p:nvPr/>
        </p:nvSpPr>
        <p:spPr>
          <a:xfrm>
            <a:off x="581025" y="1038225"/>
            <a:ext cx="95250" cy="304800"/>
          </a:xfrm>
          <a:prstGeom prst="roundRect">
            <a:avLst>
              <a:gd fmla="val 4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 name="Shape 136"/>
        <p:cNvGrpSpPr/>
        <p:nvPr/>
      </p:nvGrpSpPr>
      <p:grpSpPr>
        <a:xfrm>
          <a:off x="0" y="0"/>
          <a:ext cx="0" cy="0"/>
          <a:chOff x="0" y="0"/>
          <a:chExt cx="0" cy="0"/>
        </a:xfrm>
      </p:grpSpPr>
      <p:pic>
        <p:nvPicPr>
          <p:cNvPr descr="image.png" id="137" name="Google Shape;13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8" name="Google Shape;138;p16"/>
          <p:cNvSpPr txBox="1"/>
          <p:nvPr/>
        </p:nvSpPr>
        <p:spPr>
          <a:xfrm>
            <a:off x="581025" y="581025"/>
            <a:ext cx="5540700" cy="4386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Space Grotesk"/>
                <a:ea typeface="Space Grotesk"/>
                <a:cs typeface="Space Grotesk"/>
                <a:sym typeface="Space Grotesk"/>
              </a:rPr>
              <a:t>Graph Patterns &amp; Control</a:t>
            </a:r>
            <a:endParaRPr/>
          </a:p>
        </p:txBody>
      </p:sp>
      <p:pic>
        <p:nvPicPr>
          <p:cNvPr descr="image.png" id="139" name="Google Shape;139;p16"/>
          <p:cNvPicPr preferRelativeResize="0"/>
          <p:nvPr/>
        </p:nvPicPr>
        <p:blipFill rotWithShape="1">
          <a:blip r:embed="rId4">
            <a:alphaModFix/>
          </a:blip>
          <a:srcRect b="0" l="0" r="0" t="0"/>
          <a:stretch/>
        </p:blipFill>
        <p:spPr>
          <a:xfrm>
            <a:off x="6334125" y="9525"/>
            <a:ext cx="5848350" cy="6858000"/>
          </a:xfrm>
          <a:prstGeom prst="rect">
            <a:avLst/>
          </a:prstGeom>
          <a:noFill/>
          <a:ln>
            <a:noFill/>
          </a:ln>
        </p:spPr>
      </p:pic>
      <p:sp>
        <p:nvSpPr>
          <p:cNvPr id="140" name="Google Shape;140;p16"/>
          <p:cNvSpPr txBox="1"/>
          <p:nvPr/>
        </p:nvSpPr>
        <p:spPr>
          <a:xfrm>
            <a:off x="581025" y="1333500"/>
            <a:ext cx="5143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2563EB"/>
                </a:solidFill>
                <a:latin typeface="Space Grotesk"/>
                <a:ea typeface="Space Grotesk"/>
                <a:cs typeface="Space Grotesk"/>
                <a:sym typeface="Space Grotesk"/>
              </a:rPr>
              <a:t>Orchestration in Action</a:t>
            </a:r>
            <a:endParaRPr b="1" sz="2000">
              <a:solidFill>
                <a:srgbClr val="2563EB"/>
              </a:solidFill>
              <a:latin typeface="Space Grotesk"/>
              <a:ea typeface="Space Grotesk"/>
              <a:cs typeface="Space Grotesk"/>
              <a:sym typeface="Space Grotesk"/>
            </a:endParaRPr>
          </a:p>
        </p:txBody>
      </p:sp>
      <p:sp>
        <p:nvSpPr>
          <p:cNvPr id="141" name="Google Shape;141;p16"/>
          <p:cNvSpPr txBox="1"/>
          <p:nvPr/>
        </p:nvSpPr>
        <p:spPr>
          <a:xfrm>
            <a:off x="581025" y="2047875"/>
            <a:ext cx="5143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2563EB"/>
                </a:solidFill>
                <a:latin typeface="Space Grotesk"/>
                <a:ea typeface="Space Grotesk"/>
                <a:cs typeface="Space Grotesk"/>
                <a:sym typeface="Space Grotesk"/>
              </a:rPr>
              <a:t>01</a:t>
            </a:r>
            <a:r>
              <a:rPr b="1" lang="en-US" sz="1600">
                <a:solidFill>
                  <a:srgbClr val="0F172A"/>
                </a:solidFill>
                <a:latin typeface="Space Grotesk"/>
                <a:ea typeface="Space Grotesk"/>
                <a:cs typeface="Space Grotesk"/>
                <a:sym typeface="Space Grotesk"/>
              </a:rPr>
              <a:t>Parallel Execution &amp; Loops</a:t>
            </a:r>
            <a:endParaRPr b="1" sz="1600">
              <a:solidFill>
                <a:srgbClr val="0F172A"/>
              </a:solidFill>
              <a:latin typeface="Space Grotesk"/>
              <a:ea typeface="Space Grotesk"/>
              <a:cs typeface="Space Grotesk"/>
              <a:sym typeface="Space Grotesk"/>
            </a:endParaRPr>
          </a:p>
          <a:p>
            <a:pPr indent="0" lvl="0" marL="0" rtl="0" algn="l">
              <a:spcBef>
                <a:spcPts val="750"/>
              </a:spcBef>
              <a:spcAft>
                <a:spcPts val="0"/>
              </a:spcAft>
              <a:buNone/>
            </a:pPr>
            <a:r>
              <a:rPr b="0" lang="en-US" sz="1300">
                <a:solidFill>
                  <a:srgbClr val="475569"/>
                </a:solidFill>
                <a:latin typeface="DM Sans"/>
                <a:ea typeface="DM Sans"/>
                <a:cs typeface="DM Sans"/>
                <a:sym typeface="DM Sans"/>
              </a:rPr>
              <a:t>By defining explicit graph routes, systems leverage parallel fan-out execution for concurrent task analysis alongside reflection loops for quality evaluation.</a:t>
            </a:r>
            <a:endParaRPr b="0" sz="1300">
              <a:solidFill>
                <a:srgbClr val="475569"/>
              </a:solidFill>
              <a:latin typeface="DM Sans"/>
              <a:ea typeface="DM Sans"/>
              <a:cs typeface="DM Sans"/>
              <a:sym typeface="DM Sans"/>
            </a:endParaRPr>
          </a:p>
        </p:txBody>
      </p:sp>
      <p:sp>
        <p:nvSpPr>
          <p:cNvPr id="142" name="Google Shape;142;p16"/>
          <p:cNvSpPr txBox="1"/>
          <p:nvPr/>
        </p:nvSpPr>
        <p:spPr>
          <a:xfrm>
            <a:off x="581025" y="3667125"/>
            <a:ext cx="5143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2563EB"/>
                </a:solidFill>
                <a:latin typeface="Space Grotesk"/>
                <a:ea typeface="Space Grotesk"/>
                <a:cs typeface="Space Grotesk"/>
                <a:sym typeface="Space Grotesk"/>
              </a:rPr>
              <a:t>02</a:t>
            </a:r>
            <a:r>
              <a:rPr b="1" lang="en-US" sz="1600">
                <a:solidFill>
                  <a:srgbClr val="0F172A"/>
                </a:solidFill>
                <a:latin typeface="Space Grotesk"/>
                <a:ea typeface="Space Grotesk"/>
                <a:cs typeface="Space Grotesk"/>
                <a:sym typeface="Space Grotesk"/>
              </a:rPr>
              <a:t>Persistence &amp; Oversight</a:t>
            </a:r>
            <a:endParaRPr b="1" sz="1600">
              <a:solidFill>
                <a:srgbClr val="0F172A"/>
              </a:solidFill>
              <a:latin typeface="Space Grotesk"/>
              <a:ea typeface="Space Grotesk"/>
              <a:cs typeface="Space Grotesk"/>
              <a:sym typeface="Space Grotesk"/>
            </a:endParaRPr>
          </a:p>
          <a:p>
            <a:pPr indent="0" lvl="0" marL="0" rtl="0" algn="l">
              <a:spcBef>
                <a:spcPts val="750"/>
              </a:spcBef>
              <a:spcAft>
                <a:spcPts val="0"/>
              </a:spcAft>
              <a:buNone/>
            </a:pPr>
            <a:r>
              <a:rPr b="0" lang="en-US" sz="1300">
                <a:solidFill>
                  <a:srgbClr val="475569"/>
                </a:solidFill>
                <a:latin typeface="DM Sans"/>
                <a:ea typeface="DM Sans"/>
                <a:cs typeface="DM Sans"/>
                <a:sym typeface="DM Sans"/>
              </a:rPr>
              <a:t>State checkpoints enable long-running persistence, while targeted interrupts allow humans to review high-stakes decisions without delaying low-risk automated paths.</a:t>
            </a:r>
            <a:endParaRPr b="0" sz="1300">
              <a:solidFill>
                <a:srgbClr val="475569"/>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pic>
        <p:nvPicPr>
          <p:cNvPr descr="image.png" id="147" name="Google Shape;147;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8" name="Google Shape;148;p17"/>
          <p:cNvSpPr/>
          <p:nvPr/>
        </p:nvSpPr>
        <p:spPr>
          <a:xfrm>
            <a:off x="1333500" y="1662112"/>
            <a:ext cx="9525000" cy="928687"/>
          </a:xfrm>
          <a:prstGeom prst="roundRect">
            <a:avLst>
              <a:gd fmla="val 10256"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7"/>
          <p:cNvSpPr txBox="1"/>
          <p:nvPr/>
        </p:nvSpPr>
        <p:spPr>
          <a:xfrm>
            <a:off x="1952625" y="1852612"/>
            <a:ext cx="8677275" cy="5476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2563EB"/>
                </a:solidFill>
                <a:latin typeface="DM Sans"/>
                <a:ea typeface="DM Sans"/>
                <a:cs typeface="DM Sans"/>
                <a:sym typeface="DM Sans"/>
              </a:rPr>
              <a:t> </a:t>
            </a:r>
            <a:r>
              <a:rPr b="0" i="0" lang="en-US" sz="1350" u="none" cap="none" strike="noStrike">
                <a:solidFill>
                  <a:srgbClr val="475569"/>
                </a:solidFill>
                <a:latin typeface="DM Sans"/>
                <a:ea typeface="DM Sans"/>
                <a:cs typeface="DM Sans"/>
                <a:sym typeface="DM Sans"/>
              </a:rPr>
              <a:t> </a:t>
            </a:r>
            <a:r>
              <a:rPr b="1" i="0" lang="en-US" sz="1350" u="none" cap="none" strike="noStrike">
                <a:solidFill>
                  <a:srgbClr val="0F172A"/>
                </a:solidFill>
                <a:latin typeface="DM Sans"/>
                <a:ea typeface="DM Sans"/>
                <a:cs typeface="DM Sans"/>
                <a:sym typeface="DM Sans"/>
              </a:rPr>
              <a:t>Engineering Lives in Edges:</a:t>
            </a:r>
            <a:r>
              <a:rPr b="0" i="0" lang="en-US" sz="1350" u="none" cap="none" strike="noStrike">
                <a:solidFill>
                  <a:srgbClr val="475569"/>
                </a:solidFill>
                <a:latin typeface="DM Sans"/>
                <a:ea typeface="DM Sans"/>
                <a:cs typeface="DM Sans"/>
                <a:sym typeface="DM Sans"/>
              </a:rPr>
              <a:t> Agents fill individual nodes, but true system reliability comes from designing the control logic, dependencies, and boundaries along the edges.</a:t>
            </a:r>
            <a:endParaRPr/>
          </a:p>
        </p:txBody>
      </p:sp>
      <p:sp>
        <p:nvSpPr>
          <p:cNvPr id="150" name="Google Shape;150;p17"/>
          <p:cNvSpPr/>
          <p:nvPr/>
        </p:nvSpPr>
        <p:spPr>
          <a:xfrm>
            <a:off x="1333500" y="2743200"/>
            <a:ext cx="9525000" cy="928687"/>
          </a:xfrm>
          <a:prstGeom prst="roundRect">
            <a:avLst>
              <a:gd fmla="val 10256"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7"/>
          <p:cNvSpPr txBox="1"/>
          <p:nvPr/>
        </p:nvSpPr>
        <p:spPr>
          <a:xfrm>
            <a:off x="1952625" y="2933700"/>
            <a:ext cx="8677275" cy="5476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2563EB"/>
                </a:solidFill>
                <a:latin typeface="DM Sans"/>
                <a:ea typeface="DM Sans"/>
                <a:cs typeface="DM Sans"/>
                <a:sym typeface="DM Sans"/>
              </a:rPr>
              <a:t> </a:t>
            </a:r>
            <a:r>
              <a:rPr b="0" i="0" lang="en-US" sz="1350" u="none" cap="none" strike="noStrike">
                <a:solidFill>
                  <a:srgbClr val="475569"/>
                </a:solidFill>
                <a:latin typeface="DM Sans"/>
                <a:ea typeface="DM Sans"/>
                <a:cs typeface="DM Sans"/>
                <a:sym typeface="DM Sans"/>
              </a:rPr>
              <a:t> </a:t>
            </a:r>
            <a:r>
              <a:rPr b="1" i="0" lang="en-US" sz="1350" u="none" cap="none" strike="noStrike">
                <a:solidFill>
                  <a:srgbClr val="0F172A"/>
                </a:solidFill>
                <a:latin typeface="DM Sans"/>
                <a:ea typeface="DM Sans"/>
                <a:cs typeface="DM Sans"/>
                <a:sym typeface="DM Sans"/>
              </a:rPr>
              <a:t>Scope State per Node:</a:t>
            </a:r>
            <a:r>
              <a:rPr b="0" i="0" lang="en-US" sz="1350" u="none" cap="none" strike="noStrike">
                <a:solidFill>
                  <a:srgbClr val="475569"/>
                </a:solidFill>
                <a:latin typeface="DM Sans"/>
                <a:ea typeface="DM Sans"/>
                <a:cs typeface="DM Sans"/>
                <a:sym typeface="DM Sans"/>
              </a:rPr>
              <a:t> Avoid prompt bloat by passing only relevant evidence to each node rather than feeding the entire transcript to every agent.</a:t>
            </a:r>
            <a:endParaRPr/>
          </a:p>
        </p:txBody>
      </p:sp>
      <p:sp>
        <p:nvSpPr>
          <p:cNvPr id="152" name="Google Shape;152;p17"/>
          <p:cNvSpPr/>
          <p:nvPr/>
        </p:nvSpPr>
        <p:spPr>
          <a:xfrm>
            <a:off x="1333500" y="3824287"/>
            <a:ext cx="9525000" cy="928687"/>
          </a:xfrm>
          <a:prstGeom prst="roundRect">
            <a:avLst>
              <a:gd fmla="val 10256"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7"/>
          <p:cNvSpPr txBox="1"/>
          <p:nvPr/>
        </p:nvSpPr>
        <p:spPr>
          <a:xfrm>
            <a:off x="1952625" y="4014787"/>
            <a:ext cx="8677275" cy="5476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2563EB"/>
                </a:solidFill>
                <a:latin typeface="DM Sans"/>
                <a:ea typeface="DM Sans"/>
                <a:cs typeface="DM Sans"/>
                <a:sym typeface="DM Sans"/>
              </a:rPr>
              <a:t> </a:t>
            </a:r>
            <a:r>
              <a:rPr b="0" i="0" lang="en-US" sz="1350" u="none" cap="none" strike="noStrike">
                <a:solidFill>
                  <a:srgbClr val="475569"/>
                </a:solidFill>
                <a:latin typeface="DM Sans"/>
                <a:ea typeface="DM Sans"/>
                <a:cs typeface="DM Sans"/>
                <a:sym typeface="DM Sans"/>
              </a:rPr>
              <a:t> </a:t>
            </a:r>
            <a:r>
              <a:rPr b="1" i="0" lang="en-US" sz="1350" u="none" cap="none" strike="noStrike">
                <a:solidFill>
                  <a:srgbClr val="0F172A"/>
                </a:solidFill>
                <a:latin typeface="DM Sans"/>
                <a:ea typeface="DM Sans"/>
                <a:cs typeface="DM Sans"/>
                <a:sym typeface="DM Sans"/>
              </a:rPr>
              <a:t>Combine AI &amp; Determinism:</a:t>
            </a:r>
            <a:r>
              <a:rPr b="0" i="0" lang="en-US" sz="1350" u="none" cap="none" strike="noStrike">
                <a:solidFill>
                  <a:srgbClr val="475569"/>
                </a:solidFill>
                <a:latin typeface="DM Sans"/>
                <a:ea typeface="DM Sans"/>
                <a:cs typeface="DM Sans"/>
                <a:sym typeface="DM Sans"/>
              </a:rPr>
              <a:t> Use fast, deterministic code for routing and validation, reserving LLMs for specialized reasoning nodes.</a:t>
            </a:r>
            <a:endParaRPr/>
          </a:p>
        </p:txBody>
      </p:sp>
      <p:sp>
        <p:nvSpPr>
          <p:cNvPr id="154" name="Google Shape;154;p17"/>
          <p:cNvSpPr/>
          <p:nvPr/>
        </p:nvSpPr>
        <p:spPr>
          <a:xfrm>
            <a:off x="1333500" y="4905375"/>
            <a:ext cx="9525000" cy="928687"/>
          </a:xfrm>
          <a:prstGeom prst="roundRect">
            <a:avLst>
              <a:gd fmla="val 10256"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7"/>
          <p:cNvSpPr txBox="1"/>
          <p:nvPr/>
        </p:nvSpPr>
        <p:spPr>
          <a:xfrm>
            <a:off x="1952625" y="5095875"/>
            <a:ext cx="8677275" cy="54768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2563EB"/>
                </a:solidFill>
                <a:latin typeface="DM Sans"/>
                <a:ea typeface="DM Sans"/>
                <a:cs typeface="DM Sans"/>
                <a:sym typeface="DM Sans"/>
              </a:rPr>
              <a:t> </a:t>
            </a:r>
            <a:r>
              <a:rPr b="0" i="0" lang="en-US" sz="1350" u="none" cap="none" strike="noStrike">
                <a:solidFill>
                  <a:srgbClr val="475569"/>
                </a:solidFill>
                <a:latin typeface="DM Sans"/>
                <a:ea typeface="DM Sans"/>
                <a:cs typeface="DM Sans"/>
                <a:sym typeface="DM Sans"/>
              </a:rPr>
              <a:t> </a:t>
            </a:r>
            <a:r>
              <a:rPr b="1" i="0" lang="en-US" sz="1350" u="none" cap="none" strike="noStrike">
                <a:solidFill>
                  <a:srgbClr val="0F172A"/>
                </a:solidFill>
                <a:latin typeface="DM Sans"/>
                <a:ea typeface="DM Sans"/>
                <a:cs typeface="DM Sans"/>
                <a:sym typeface="DM Sans"/>
              </a:rPr>
              <a:t>Avoid Overengineering:</a:t>
            </a:r>
            <a:r>
              <a:rPr b="0" i="0" lang="en-US" sz="1350" u="none" cap="none" strike="noStrike">
                <a:solidFill>
                  <a:srgbClr val="475569"/>
                </a:solidFill>
                <a:latin typeface="DM Sans"/>
                <a:ea typeface="DM Sans"/>
                <a:cs typeface="DM Sans"/>
                <a:sym typeface="DM Sans"/>
              </a:rPr>
              <a:t> Do not build complex graph structures for simple linear tasks—reserve graphs for workflows requiring concurrency, retries, or human oversight.</a:t>
            </a:r>
            <a:endParaRPr/>
          </a:p>
        </p:txBody>
      </p:sp>
      <p:sp>
        <p:nvSpPr>
          <p:cNvPr id="156" name="Google Shape;156;p17"/>
          <p:cNvSpPr/>
          <p:nvPr/>
        </p:nvSpPr>
        <p:spPr>
          <a:xfrm>
            <a:off x="1333500" y="2581275"/>
            <a:ext cx="9525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7"/>
          <p:cNvSpPr/>
          <p:nvPr/>
        </p:nvSpPr>
        <p:spPr>
          <a:xfrm>
            <a:off x="1333500" y="3662362"/>
            <a:ext cx="9525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7"/>
          <p:cNvSpPr/>
          <p:nvPr/>
        </p:nvSpPr>
        <p:spPr>
          <a:xfrm>
            <a:off x="1333500" y="4743450"/>
            <a:ext cx="9525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7"/>
          <p:cNvSpPr/>
          <p:nvPr/>
        </p:nvSpPr>
        <p:spPr>
          <a:xfrm>
            <a:off x="1333500" y="5824537"/>
            <a:ext cx="95250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0" name="Google Shape;160;p17"/>
          <p:cNvPicPr preferRelativeResize="0"/>
          <p:nvPr/>
        </p:nvPicPr>
        <p:blipFill rotWithShape="1">
          <a:blip r:embed="rId4">
            <a:alphaModFix/>
          </a:blip>
          <a:srcRect b="0" l="0" r="0" t="0"/>
          <a:stretch/>
        </p:blipFill>
        <p:spPr>
          <a:xfrm>
            <a:off x="1552575" y="1881187"/>
            <a:ext cx="190500" cy="190500"/>
          </a:xfrm>
          <a:prstGeom prst="rect">
            <a:avLst/>
          </a:prstGeom>
          <a:noFill/>
          <a:ln>
            <a:noFill/>
          </a:ln>
        </p:spPr>
      </p:pic>
      <p:pic>
        <p:nvPicPr>
          <p:cNvPr descr="image.png" id="161" name="Google Shape;161;p17"/>
          <p:cNvPicPr preferRelativeResize="0"/>
          <p:nvPr/>
        </p:nvPicPr>
        <p:blipFill rotWithShape="1">
          <a:blip r:embed="rId5">
            <a:alphaModFix/>
          </a:blip>
          <a:srcRect b="0" l="0" r="0" t="0"/>
          <a:stretch/>
        </p:blipFill>
        <p:spPr>
          <a:xfrm>
            <a:off x="1552575" y="2962275"/>
            <a:ext cx="190500" cy="190500"/>
          </a:xfrm>
          <a:prstGeom prst="rect">
            <a:avLst/>
          </a:prstGeom>
          <a:noFill/>
          <a:ln>
            <a:noFill/>
          </a:ln>
        </p:spPr>
      </p:pic>
      <p:pic>
        <p:nvPicPr>
          <p:cNvPr descr="image.png" id="162" name="Google Shape;162;p17"/>
          <p:cNvPicPr preferRelativeResize="0"/>
          <p:nvPr/>
        </p:nvPicPr>
        <p:blipFill rotWithShape="1">
          <a:blip r:embed="rId6">
            <a:alphaModFix/>
          </a:blip>
          <a:srcRect b="0" l="0" r="0" t="0"/>
          <a:stretch/>
        </p:blipFill>
        <p:spPr>
          <a:xfrm>
            <a:off x="1552575" y="4043362"/>
            <a:ext cx="190500" cy="190500"/>
          </a:xfrm>
          <a:prstGeom prst="rect">
            <a:avLst/>
          </a:prstGeom>
          <a:noFill/>
          <a:ln>
            <a:noFill/>
          </a:ln>
        </p:spPr>
      </p:pic>
      <p:pic>
        <p:nvPicPr>
          <p:cNvPr descr="image.png" id="163" name="Google Shape;163;p17"/>
          <p:cNvPicPr preferRelativeResize="0"/>
          <p:nvPr/>
        </p:nvPicPr>
        <p:blipFill rotWithShape="1">
          <a:blip r:embed="rId7">
            <a:alphaModFix/>
          </a:blip>
          <a:srcRect b="0" l="0" r="0" t="0"/>
          <a:stretch/>
        </p:blipFill>
        <p:spPr>
          <a:xfrm>
            <a:off x="1552575" y="5124450"/>
            <a:ext cx="190500" cy="190500"/>
          </a:xfrm>
          <a:prstGeom prst="rect">
            <a:avLst/>
          </a:prstGeom>
          <a:noFill/>
          <a:ln>
            <a:noFill/>
          </a:ln>
        </p:spPr>
      </p:pic>
      <p:sp>
        <p:nvSpPr>
          <p:cNvPr id="164" name="Google Shape;164;p17"/>
          <p:cNvSpPr txBox="1"/>
          <p:nvPr/>
        </p:nvSpPr>
        <p:spPr>
          <a:xfrm>
            <a:off x="581025" y="581025"/>
            <a:ext cx="11581447"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Space Grotesk"/>
                <a:ea typeface="Space Grotesk"/>
                <a:cs typeface="Space Grotesk"/>
                <a:sym typeface="Space Grotesk"/>
              </a:rPr>
              <a:t>Production Rules &amp; Takeaways</a:t>
            </a:r>
            <a:endParaRPr/>
          </a:p>
        </p:txBody>
      </p:sp>
      <p:sp>
        <p:nvSpPr>
          <p:cNvPr id="165" name="Google Shape;165;p17"/>
          <p:cNvSpPr/>
          <p:nvPr/>
        </p:nvSpPr>
        <p:spPr>
          <a:xfrm>
            <a:off x="581025" y="1038225"/>
            <a:ext cx="95250" cy="304800"/>
          </a:xfrm>
          <a:prstGeom prst="roundRect">
            <a:avLst>
              <a:gd fmla="val 4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pic>
        <p:nvPicPr>
          <p:cNvPr descr="image.png" id="170" name="Google Shape;170;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1" name="Google Shape;171;p18"/>
          <p:cNvPicPr preferRelativeResize="0"/>
          <p:nvPr/>
        </p:nvPicPr>
        <p:blipFill rotWithShape="1">
          <a:blip r:embed="rId4">
            <a:alphaModFix/>
          </a:blip>
          <a:srcRect b="0" l="0" r="0" t="0"/>
          <a:stretch/>
        </p:blipFill>
        <p:spPr>
          <a:xfrm>
            <a:off x="4152900" y="3586162"/>
            <a:ext cx="857250" cy="476250"/>
          </a:xfrm>
          <a:prstGeom prst="rect">
            <a:avLst/>
          </a:prstGeom>
          <a:noFill/>
          <a:ln>
            <a:noFill/>
          </a:ln>
        </p:spPr>
      </p:pic>
      <p:sp>
        <p:nvSpPr>
          <p:cNvPr id="172" name="Google Shape;172;p18"/>
          <p:cNvSpPr txBox="1"/>
          <p:nvPr/>
        </p:nvSpPr>
        <p:spPr>
          <a:xfrm>
            <a:off x="5248275" y="3586460"/>
            <a:ext cx="2790825" cy="191839"/>
          </a:xfrm>
          <a:prstGeom prst="rect">
            <a:avLst/>
          </a:prstGeom>
          <a:noFill/>
          <a:ln>
            <a:noFill/>
          </a:ln>
        </p:spPr>
        <p:txBody>
          <a:bodyPr anchorCtr="0" anchor="t" bIns="0" lIns="0" spcFirstLastPara="1" rIns="0" wrap="square" tIns="0">
            <a:spAutoFit/>
          </a:bodyPr>
          <a:lstStyle/>
          <a:p>
            <a:pPr indent="0" lvl="0" marL="0" marR="0" rtl="0" algn="l">
              <a:lnSpc>
                <a:spcPct val="154974"/>
              </a:lnSpc>
              <a:spcBef>
                <a:spcPts val="0"/>
              </a:spcBef>
              <a:spcAft>
                <a:spcPts val="0"/>
              </a:spcAft>
              <a:buNone/>
            </a:pPr>
            <a:r>
              <a:rPr b="0" i="0" lang="en-US" sz="975" u="none" cap="none" strike="noStrike">
                <a:solidFill>
                  <a:srgbClr val="475569"/>
                </a:solidFill>
                <a:latin typeface="DM Sans"/>
                <a:ea typeface="DM Sans"/>
                <a:cs typeface="DM Sans"/>
                <a:sym typeface="DM Sans"/>
              </a:rPr>
              <a:t>https://miro.medium.com/0*GPBX9dQnHzXv-LYi</a:t>
            </a:r>
            <a:endParaRPr/>
          </a:p>
        </p:txBody>
      </p:sp>
      <p:sp>
        <p:nvSpPr>
          <p:cNvPr id="173" name="Google Shape;173;p18"/>
          <p:cNvSpPr txBox="1"/>
          <p:nvPr/>
        </p:nvSpPr>
        <p:spPr>
          <a:xfrm>
            <a:off x="5248275" y="3825924"/>
            <a:ext cx="2790825" cy="23619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1200" u="none" cap="none" strike="noStrike">
                <a:solidFill>
                  <a:srgbClr val="475569"/>
                </a:solidFill>
                <a:latin typeface="DM Sans"/>
                <a:ea typeface="DM Sans"/>
                <a:cs typeface="DM Sans"/>
                <a:sym typeface="DM Sans"/>
              </a:rPr>
              <a:t>Source: </a:t>
            </a:r>
            <a:r>
              <a:rPr b="0" i="0" lang="en-US" sz="1200" u="none" cap="none" strike="noStrike">
                <a:solidFill>
                  <a:srgbClr val="4F46E5"/>
                </a:solidFill>
                <a:latin typeface="DM Sans"/>
                <a:ea typeface="DM Sans"/>
                <a:cs typeface="DM Sans"/>
                <a:sym typeface="DM Sans"/>
              </a:rPr>
              <a:t>medium.com</a:t>
            </a:r>
            <a:endParaRPr/>
          </a:p>
        </p:txBody>
      </p:sp>
      <p:sp>
        <p:nvSpPr>
          <p:cNvPr id="174" name="Google Shape;174;p18"/>
          <p:cNvSpPr txBox="1"/>
          <p:nvPr/>
        </p:nvSpPr>
        <p:spPr>
          <a:xfrm>
            <a:off x="581025" y="581025"/>
            <a:ext cx="11581447"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850" u="none" cap="none" strike="noStrike">
                <a:solidFill>
                  <a:srgbClr val="0F172A"/>
                </a:solidFill>
                <a:latin typeface="Space Grotesk"/>
                <a:ea typeface="Space Grotesk"/>
                <a:cs typeface="Space Grotesk"/>
                <a:sym typeface="Space Grotesk"/>
              </a:rPr>
              <a:t>Image Sources</a:t>
            </a:r>
            <a:endParaRPr/>
          </a:p>
        </p:txBody>
      </p:sp>
      <p:sp>
        <p:nvSpPr>
          <p:cNvPr id="175" name="Google Shape;175;p18"/>
          <p:cNvSpPr/>
          <p:nvPr/>
        </p:nvSpPr>
        <p:spPr>
          <a:xfrm>
            <a:off x="581025" y="1038225"/>
            <a:ext cx="95250" cy="304800"/>
          </a:xfrm>
          <a:prstGeom prst="roundRect">
            <a:avLst>
              <a:gd fmla="val 4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