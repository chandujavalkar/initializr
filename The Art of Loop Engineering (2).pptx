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Plus Jakarta Sans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Plus Jakarta Sans SemiBold"/>
      <p:regular r:id="rId29"/>
      <p:bold r:id="rId30"/>
      <p:italic r:id="rId31"/>
      <p:boldItalic r:id="rId32"/>
    </p:embeddedFont>
    <p:embeddedFont>
      <p:font typeface="Inter ExtraBold"/>
      <p:bold r:id="rId33"/>
      <p:boldItalic r:id="rId34"/>
    </p:embeddedFont>
    <p:embeddedFont>
      <p:font typeface="Inter Medium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PlusJakartaSans-bold.fntdata"/><Relationship Id="rId21" Type="http://schemas.openxmlformats.org/officeDocument/2006/relationships/font" Target="fonts/PlusJakartaSans-regular.fntdata"/><Relationship Id="rId24" Type="http://schemas.openxmlformats.org/officeDocument/2006/relationships/font" Target="fonts/PlusJakartaSans-boldItalic.fntdata"/><Relationship Id="rId23" Type="http://schemas.openxmlformats.org/officeDocument/2006/relationships/font" Target="fonts/PlusJakarta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usJakartaSansSemiBo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usJakartaSansSemiBold-italic.fntdata"/><Relationship Id="rId30" Type="http://schemas.openxmlformats.org/officeDocument/2006/relationships/font" Target="fonts/PlusJakartaSansSemiBold-bold.fntdata"/><Relationship Id="rId11" Type="http://schemas.openxmlformats.org/officeDocument/2006/relationships/slide" Target="slides/slide6.xml"/><Relationship Id="rId33" Type="http://schemas.openxmlformats.org/officeDocument/2006/relationships/font" Target="fonts/InterExtraBold-bold.fntdata"/><Relationship Id="rId10" Type="http://schemas.openxmlformats.org/officeDocument/2006/relationships/slide" Target="slides/slide5.xml"/><Relationship Id="rId32" Type="http://schemas.openxmlformats.org/officeDocument/2006/relationships/font" Target="fonts/PlusJakartaSansSemiBold-boldItalic.fntdata"/><Relationship Id="rId13" Type="http://schemas.openxmlformats.org/officeDocument/2006/relationships/slide" Target="slides/slide8.xml"/><Relationship Id="rId35" Type="http://schemas.openxmlformats.org/officeDocument/2006/relationships/font" Target="fonts/InterMedium-regular.fntdata"/><Relationship Id="rId12" Type="http://schemas.openxmlformats.org/officeDocument/2006/relationships/slide" Target="slides/slide7.xml"/><Relationship Id="rId34" Type="http://schemas.openxmlformats.org/officeDocument/2006/relationships/font" Target="fonts/InterExtraBold-boldItalic.fntdata"/><Relationship Id="rId15" Type="http://schemas.openxmlformats.org/officeDocument/2006/relationships/slide" Target="slides/slide10.xml"/><Relationship Id="rId37" Type="http://schemas.openxmlformats.org/officeDocument/2006/relationships/font" Target="fonts/InterMedium-italic.fntdata"/><Relationship Id="rId14" Type="http://schemas.openxmlformats.org/officeDocument/2006/relationships/slide" Target="slides/slide9.xml"/><Relationship Id="rId36" Type="http://schemas.openxmlformats.org/officeDocument/2006/relationships/font" Target="fonts/InterMedium-bold.fntdata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1.xml"/><Relationship Id="rId38" Type="http://schemas.openxmlformats.org/officeDocument/2006/relationships/font" Target="fonts/InterMedium-boldItalic.fntdata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12.png"/><Relationship Id="rId13" Type="http://schemas.openxmlformats.org/officeDocument/2006/relationships/image" Target="../media/image13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9" Type="http://schemas.openxmlformats.org/officeDocument/2006/relationships/image" Target="../media/image5.png"/><Relationship Id="rId15" Type="http://schemas.openxmlformats.org/officeDocument/2006/relationships/image" Target="../media/image15.png"/><Relationship Id="rId1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Relationship Id="rId7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1.png"/><Relationship Id="rId10" Type="http://schemas.openxmlformats.org/officeDocument/2006/relationships/image" Target="../media/image29.png"/><Relationship Id="rId13" Type="http://schemas.openxmlformats.org/officeDocument/2006/relationships/image" Target="../media/image17.png"/><Relationship Id="rId1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9" Type="http://schemas.openxmlformats.org/officeDocument/2006/relationships/image" Target="../media/image25.png"/><Relationship Id="rId15" Type="http://schemas.openxmlformats.org/officeDocument/2006/relationships/image" Target="../media/image23.png"/><Relationship Id="rId14" Type="http://schemas.openxmlformats.org/officeDocument/2006/relationships/image" Target="../media/image26.png"/><Relationship Id="rId5" Type="http://schemas.openxmlformats.org/officeDocument/2006/relationships/image" Target="../media/image3.png"/><Relationship Id="rId6" Type="http://schemas.openxmlformats.org/officeDocument/2006/relationships/image" Target="../media/image21.png"/><Relationship Id="rId7" Type="http://schemas.openxmlformats.org/officeDocument/2006/relationships/image" Target="../media/image24.png"/><Relationship Id="rId8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6.png"/><Relationship Id="rId10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44.png"/><Relationship Id="rId5" Type="http://schemas.openxmlformats.org/officeDocument/2006/relationships/image" Target="../media/image27.png"/><Relationship Id="rId6" Type="http://schemas.openxmlformats.org/officeDocument/2006/relationships/image" Target="../media/image30.png"/><Relationship Id="rId7" Type="http://schemas.openxmlformats.org/officeDocument/2006/relationships/image" Target="../media/image33.png"/><Relationship Id="rId8" Type="http://schemas.openxmlformats.org/officeDocument/2006/relationships/image" Target="../media/image39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8.png"/><Relationship Id="rId10" Type="http://schemas.openxmlformats.org/officeDocument/2006/relationships/image" Target="../media/image72.png"/><Relationship Id="rId13" Type="http://schemas.openxmlformats.org/officeDocument/2006/relationships/image" Target="../media/image45.png"/><Relationship Id="rId1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4.png"/><Relationship Id="rId9" Type="http://schemas.openxmlformats.org/officeDocument/2006/relationships/image" Target="../media/image40.png"/><Relationship Id="rId15" Type="http://schemas.openxmlformats.org/officeDocument/2006/relationships/image" Target="../media/image53.png"/><Relationship Id="rId14" Type="http://schemas.openxmlformats.org/officeDocument/2006/relationships/image" Target="../media/image48.png"/><Relationship Id="rId16" Type="http://schemas.openxmlformats.org/officeDocument/2006/relationships/image" Target="../media/image50.png"/><Relationship Id="rId5" Type="http://schemas.openxmlformats.org/officeDocument/2006/relationships/image" Target="../media/image42.png"/><Relationship Id="rId6" Type="http://schemas.openxmlformats.org/officeDocument/2006/relationships/image" Target="../media/image35.png"/><Relationship Id="rId7" Type="http://schemas.openxmlformats.org/officeDocument/2006/relationships/image" Target="../media/image37.png"/><Relationship Id="rId8" Type="http://schemas.openxmlformats.org/officeDocument/2006/relationships/image" Target="../media/image43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47.png"/><Relationship Id="rId5" Type="http://schemas.openxmlformats.org/officeDocument/2006/relationships/image" Target="../media/image46.png"/><Relationship Id="rId6" Type="http://schemas.openxmlformats.org/officeDocument/2006/relationships/image" Target="../media/image59.png"/><Relationship Id="rId7" Type="http://schemas.openxmlformats.org/officeDocument/2006/relationships/image" Target="../media/image62.png"/><Relationship Id="rId8" Type="http://schemas.openxmlformats.org/officeDocument/2006/relationships/image" Target="../media/image54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55.png"/><Relationship Id="rId10" Type="http://schemas.openxmlformats.org/officeDocument/2006/relationships/image" Target="../media/image51.png"/><Relationship Id="rId13" Type="http://schemas.openxmlformats.org/officeDocument/2006/relationships/image" Target="../media/image57.png"/><Relationship Id="rId1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9" Type="http://schemas.openxmlformats.org/officeDocument/2006/relationships/image" Target="../media/image58.png"/><Relationship Id="rId14" Type="http://schemas.openxmlformats.org/officeDocument/2006/relationships/image" Target="../media/image65.png"/><Relationship Id="rId5" Type="http://schemas.openxmlformats.org/officeDocument/2006/relationships/image" Target="../media/image3.png"/><Relationship Id="rId6" Type="http://schemas.openxmlformats.org/officeDocument/2006/relationships/image" Target="../media/image52.png"/><Relationship Id="rId7" Type="http://schemas.openxmlformats.org/officeDocument/2006/relationships/image" Target="../media/image56.png"/><Relationship Id="rId8" Type="http://schemas.openxmlformats.org/officeDocument/2006/relationships/image" Target="../media/image6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64.png"/><Relationship Id="rId5" Type="http://schemas.openxmlformats.org/officeDocument/2006/relationships/image" Target="../media/image73.png"/><Relationship Id="rId6" Type="http://schemas.openxmlformats.org/officeDocument/2006/relationships/image" Target="../media/image66.png"/><Relationship Id="rId7" Type="http://schemas.openxmlformats.org/officeDocument/2006/relationships/image" Target="../media/image71.png"/><Relationship Id="rId8" Type="http://schemas.openxmlformats.org/officeDocument/2006/relationships/image" Target="../media/image6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68.png"/><Relationship Id="rId7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2269777"/>
            <a:ext cx="22669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33400" y="2746027"/>
            <a:ext cx="7158550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Art of Loop Engineering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33400" y="3549848"/>
            <a:ext cx="8572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comprehensive framework for stacking agentic loops to build reliable, continuous, and self-improving AI systems.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225" y="2331690"/>
            <a:ext cx="14287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533400" y="4426148"/>
            <a:ext cx="10668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Loop 1: Agent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752600" y="4426148"/>
            <a:ext cx="14573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Loop 2: Verification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362325" y="4426148"/>
            <a:ext cx="15621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Loop 3: Event-Driven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076825" y="4426148"/>
            <a:ext cx="15430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Loop 4: Hill Climbing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1133475"/>
            <a:ext cx="5410200" cy="5267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8400" y="1133475"/>
            <a:ext cx="5410200" cy="5267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7725" y="1447800"/>
            <a:ext cx="9239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62725" y="1447800"/>
            <a:ext cx="11906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3400" y="500062"/>
            <a:ext cx="40317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725" y="18478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847725" y="2495550"/>
            <a:ext cx="502062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Basic Agentic Cycle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47725" y="2876550"/>
            <a:ext cx="4781550" cy="708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most fundamental loop in AI automation. The LLM receives context, plans actions, and dynamically calls available tools in a loop until the goal is met.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62725" y="18478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562725" y="2495550"/>
            <a:ext cx="502062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LangChain Primitives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562725" y="2876550"/>
            <a:ext cx="47815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Instantiated directly via LangChain's framework with standard model bindings.</a:t>
            </a:r>
            <a:endParaRPr/>
          </a:p>
        </p:txBody>
      </p:sp>
      <p:pic>
        <p:nvPicPr>
          <p:cNvPr descr="image.png" id="109" name="Google Shape;109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1075" y="19812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1152525" y="3737520"/>
            <a:ext cx="44767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Dynamic Reasoning: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Decides tool calls based on intermediate step outputs.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152525" y="4362301"/>
            <a:ext cx="44767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Real-World Actions: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Reads files, executes code, queries APIs, and pushes changes.</a:t>
            </a:r>
            <a:endParaRPr/>
          </a:p>
        </p:txBody>
      </p:sp>
      <p:pic>
        <p:nvPicPr>
          <p:cNvPr descr="image.png" id="112" name="Google Shape;112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72262" y="1981200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201150" y="2905125"/>
            <a:ext cx="1025128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6867525" y="3501330"/>
            <a:ext cx="4476750" cy="236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Tool Harness: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Connects models to structured I/O functions.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867525" y="3889920"/>
            <a:ext cx="44767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Execution Control: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Manages chat history and state progression.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867525" y="4514701"/>
            <a:ext cx="44767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Task Completion: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Halts automatically when model emits final answer.</a:t>
            </a:r>
            <a:endParaRPr/>
          </a:p>
        </p:txBody>
      </p:sp>
      <p:pic>
        <p:nvPicPr>
          <p:cNvPr descr="image.png" id="117" name="Google Shape;117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47725" y="376609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47725" y="4390876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562725" y="3529905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562725" y="3918495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562725" y="4543276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 txBox="1"/>
          <p:nvPr/>
        </p:nvSpPr>
        <p:spPr>
          <a:xfrm>
            <a:off x="1050875" y="457200"/>
            <a:ext cx="1113811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Loop 1: The Core Agent Loop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8400" y="1133475"/>
            <a:ext cx="5410200" cy="438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500062"/>
            <a:ext cx="3555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533400" y="1133475"/>
            <a:ext cx="56807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Motivating Case: The Docs Agent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533400" y="1552575"/>
            <a:ext cx="541020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Consider an automated documentation assistant designed to process updates, fix broken references, and open pull requests autonomously.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38200" y="2215455"/>
            <a:ext cx="5105400" cy="236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Receive Request: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Agent parses issue text or user command.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38200" y="2604045"/>
            <a:ext cx="510540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Tool Calls: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Clones Git repository, searches codebase, edits Markdown files.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38200" y="3228826"/>
            <a:ext cx="5105400" cy="236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Action Dispatch: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Commits changes and opens a GitHub Pull Request.</a:t>
            </a:r>
            <a:endParaRPr/>
          </a:p>
        </p:txBody>
      </p:sp>
      <p:pic>
        <p:nvPicPr>
          <p:cNvPr descr="image.png" id="135" name="Google Shape;13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57925" y="1143000"/>
            <a:ext cx="5391150" cy="436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400" y="224403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400" y="263262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400" y="3257401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1003250" y="457200"/>
            <a:ext cx="11188117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Loop 1: Execution Architecture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1133475"/>
            <a:ext cx="5410200" cy="5267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8400" y="1133475"/>
            <a:ext cx="5410200" cy="5267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7725" y="1447800"/>
            <a:ext cx="11430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62725" y="1447800"/>
            <a:ext cx="10572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3400" y="500062"/>
            <a:ext cx="3174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725" y="18478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847725" y="2495550"/>
            <a:ext cx="502062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Wrapping the Agent in Evaluation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847725" y="2876550"/>
            <a:ext cx="4781550" cy="708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base agent loop creates initial output, but consistency requires verification. Loop 2 adds a grader to evaluate outputs against strict rubrics.</a:t>
            </a:r>
            <a:endParaRPr/>
          </a:p>
        </p:txBody>
      </p:sp>
      <p:pic>
        <p:nvPicPr>
          <p:cNvPr descr="image.png" id="153" name="Google Shape;153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62725" y="18478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6562725" y="2495550"/>
            <a:ext cx="502062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Deterministic vs. Agentic Grading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6562725" y="2876550"/>
            <a:ext cx="47815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Graders operate using binary code tests or specialized LLM-as-a-judge evaluation models.</a:t>
            </a:r>
            <a:endParaRPr/>
          </a:p>
        </p:txBody>
      </p:sp>
      <p:pic>
        <p:nvPicPr>
          <p:cNvPr descr="image.png" id="156" name="Google Shape;156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1075" y="19812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1152525" y="3737520"/>
            <a:ext cx="44767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Feedback Mechanism: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Rejects invalid output and requests retry with feedback.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1152525" y="4362301"/>
            <a:ext cx="44767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Error Catching: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Eliminates hallucinated facts, syntax breaks, or missed constraints.</a:t>
            </a:r>
            <a:endParaRPr/>
          </a:p>
        </p:txBody>
      </p:sp>
      <p:pic>
        <p:nvPicPr>
          <p:cNvPr descr="image.png" id="159" name="Google Shape;159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96075" y="19812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6"/>
          <p:cNvSpPr txBox="1"/>
          <p:nvPr/>
        </p:nvSpPr>
        <p:spPr>
          <a:xfrm>
            <a:off x="6867525" y="3501330"/>
            <a:ext cx="44767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Deterministic: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Unit tests, link checkers, schema validators, CI builds.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6867525" y="4126110"/>
            <a:ext cx="44767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Agentic (LLM Judge):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Style compliance, tone checking, semantic alignment.</a:t>
            </a:r>
            <a:endParaRPr/>
          </a:p>
        </p:txBody>
      </p:sp>
      <p:pic>
        <p:nvPicPr>
          <p:cNvPr descr="image.png" id="162" name="Google Shape;162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7725" y="376609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7725" y="4390876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562725" y="352990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562725" y="415468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6"/>
          <p:cNvSpPr txBox="1"/>
          <p:nvPr/>
        </p:nvSpPr>
        <p:spPr>
          <a:xfrm>
            <a:off x="965150" y="457200"/>
            <a:ext cx="11226849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Loop 2: The Verification Loop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8400" y="1133475"/>
            <a:ext cx="5410200" cy="438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500062"/>
            <a:ext cx="2412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533400" y="1133475"/>
            <a:ext cx="56807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Implementation &amp; Economics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533400" y="1552575"/>
            <a:ext cx="541020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LangChain provides built-in hooks like and hooks to cleanly wrap agent execution.</a:t>
            </a:r>
            <a:endParaRPr/>
          </a:p>
        </p:txBody>
      </p:sp>
      <p:pic>
        <p:nvPicPr>
          <p:cNvPr descr="image.png" id="176" name="Google Shape;17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43275" y="1581150"/>
            <a:ext cx="1322337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400" y="1817340"/>
            <a:ext cx="950862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7"/>
          <p:cNvSpPr txBox="1"/>
          <p:nvPr/>
        </p:nvSpPr>
        <p:spPr>
          <a:xfrm>
            <a:off x="838200" y="2215455"/>
            <a:ext cx="510540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Quality vs. Speed: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Verification increases latency and token costs per run.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838200" y="2840235"/>
            <a:ext cx="510540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Automated CI: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Runs link validation and syntax checks before human review.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838200" y="3465016"/>
            <a:ext cx="510540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Production Standard: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Critical when accuracy matters more than raw speed.</a:t>
            </a:r>
            <a:endParaRPr/>
          </a:p>
        </p:txBody>
      </p:sp>
      <p:pic>
        <p:nvPicPr>
          <p:cNvPr descr="image.png" id="181" name="Google Shape;18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57925" y="1143000"/>
            <a:ext cx="5391150" cy="436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3400" y="224403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3400" y="286881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33400" y="3493591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7"/>
          <p:cNvSpPr txBox="1"/>
          <p:nvPr/>
        </p:nvSpPr>
        <p:spPr>
          <a:xfrm>
            <a:off x="888950" y="457200"/>
            <a:ext cx="11303049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Loop 2: Primitives &amp; Tradeoffs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1133475"/>
            <a:ext cx="3555950" cy="32383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1133475"/>
            <a:ext cx="3555950" cy="32383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02500" y="1133475"/>
            <a:ext cx="3556099" cy="32383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7725" y="1447800"/>
            <a:ext cx="7429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2275" y="1447800"/>
            <a:ext cx="9429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16825" y="1447800"/>
            <a:ext cx="904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3400" y="500062"/>
            <a:ext cx="2793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7725" y="18478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8"/>
          <p:cNvSpPr txBox="1"/>
          <p:nvPr/>
        </p:nvSpPr>
        <p:spPr>
          <a:xfrm>
            <a:off x="847725" y="2495550"/>
            <a:ext cx="307366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Webhook Triggers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847725" y="2876550"/>
            <a:ext cx="2927300" cy="944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Instantly triggers the agent loop when external state changes occur—such as new documents landing, webhooks arriving, or Slack messages posted.</a:t>
            </a:r>
            <a:endParaRPr/>
          </a:p>
        </p:txBody>
      </p:sp>
      <p:pic>
        <p:nvPicPr>
          <p:cNvPr descr="image.png" id="201" name="Google Shape;201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632275" y="18478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8"/>
          <p:cNvSpPr txBox="1"/>
          <p:nvPr/>
        </p:nvSpPr>
        <p:spPr>
          <a:xfrm>
            <a:off x="4632275" y="2495550"/>
            <a:ext cx="307366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Cron &amp; Heartbeats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4632275" y="2876550"/>
            <a:ext cx="2927300" cy="1180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Scheduled cron execution turns agents into proactive assistants that periodically check systems, clean repos, or generate reports without prompt invocation.</a:t>
            </a:r>
            <a:endParaRPr/>
          </a:p>
        </p:txBody>
      </p:sp>
      <p:pic>
        <p:nvPicPr>
          <p:cNvPr descr="image.png" id="204" name="Google Shape;204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16825" y="18478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8"/>
          <p:cNvSpPr txBox="1"/>
          <p:nvPr/>
        </p:nvSpPr>
        <p:spPr>
          <a:xfrm>
            <a:off x="8416825" y="2495550"/>
            <a:ext cx="307382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Always-On Ecosystem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8416825" y="2876550"/>
            <a:ext cx="2927449" cy="944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Transforms agents from manual single-turn utilities into continuous background workers embedded directly inside production pipelines.</a:t>
            </a:r>
            <a:endParaRPr/>
          </a:p>
        </p:txBody>
      </p:sp>
      <p:pic>
        <p:nvPicPr>
          <p:cNvPr descr="image.png" id="207" name="Google Shape;207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81075" y="19812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765625" y="19812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526363" y="1981200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8"/>
          <p:cNvSpPr txBox="1"/>
          <p:nvPr/>
        </p:nvSpPr>
        <p:spPr>
          <a:xfrm>
            <a:off x="927050" y="457200"/>
            <a:ext cx="11264949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Loop 3: The Event-Driven Loop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8400" y="1133475"/>
            <a:ext cx="5410200" cy="438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500062"/>
            <a:ext cx="3174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9"/>
          <p:cNvSpPr txBox="1"/>
          <p:nvPr/>
        </p:nvSpPr>
        <p:spPr>
          <a:xfrm>
            <a:off x="533400" y="1133475"/>
            <a:ext cx="56807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LangChain Event Architecture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533400" y="1552575"/>
            <a:ext cx="541020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LangSmith Deployments and Fleet provide continuous trigger infrastructure for event-driven loops.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838200" y="2215455"/>
            <a:ext cx="510540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Slack Integration: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Docs agent listens on channels like and triggers automatically.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838200" y="2840235"/>
            <a:ext cx="510540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OpenClaw Heartbeats: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Enables background task polling and proactive maintenance.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838200" y="3465016"/>
            <a:ext cx="510540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Zero Manual Invocation: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Continuous execution inside enterprise ecosystems.</a:t>
            </a:r>
            <a:endParaRPr/>
          </a:p>
        </p:txBody>
      </p:sp>
      <p:pic>
        <p:nvPicPr>
          <p:cNvPr descr="image.png" id="223" name="Google Shape;22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57925" y="1143000"/>
            <a:ext cx="5391150" cy="436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4400" y="2244030"/>
            <a:ext cx="802183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3400" y="224403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3400" y="286881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3400" y="3493591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9"/>
          <p:cNvSpPr txBox="1"/>
          <p:nvPr/>
        </p:nvSpPr>
        <p:spPr>
          <a:xfrm>
            <a:off x="965150" y="457200"/>
            <a:ext cx="11226849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Loop 3: Production Infrastructure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1133475"/>
            <a:ext cx="5410200" cy="5267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8400" y="1133475"/>
            <a:ext cx="5410200" cy="5267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7725" y="1447800"/>
            <a:ext cx="13525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62725" y="1447800"/>
            <a:ext cx="11620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3400" y="500062"/>
            <a:ext cx="3174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725" y="18478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0"/>
          <p:cNvSpPr txBox="1"/>
          <p:nvPr/>
        </p:nvSpPr>
        <p:spPr>
          <a:xfrm>
            <a:off x="847725" y="2495550"/>
            <a:ext cx="502062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Automating Agent Optimization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847725" y="2876550"/>
            <a:ext cx="4781550" cy="708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While Loops 1-3 automate tasks, Loop 4 automates improvement itself. Production execution traces feed an analysis agent to refine system prompts and tool sets.</a:t>
            </a:r>
            <a:endParaRPr/>
          </a:p>
        </p:txBody>
      </p:sp>
      <p:pic>
        <p:nvPicPr>
          <p:cNvPr descr="image.png" id="242" name="Google Shape;242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62725" y="18478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0"/>
          <p:cNvSpPr txBox="1"/>
          <p:nvPr/>
        </p:nvSpPr>
        <p:spPr>
          <a:xfrm>
            <a:off x="6562725" y="2495550"/>
            <a:ext cx="502062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Outer Loop Meta-Optimization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6562725" y="2876550"/>
            <a:ext cx="47815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return arrow doesn't just loop back to task start—it reaches inside and modifies the inner agent loop configuration directly.</a:t>
            </a:r>
            <a:endParaRPr/>
          </a:p>
        </p:txBody>
      </p:sp>
      <p:pic>
        <p:nvPicPr>
          <p:cNvPr descr="image.png" id="245" name="Google Shape;245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1075" y="19812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0"/>
          <p:cNvSpPr txBox="1"/>
          <p:nvPr/>
        </p:nvSpPr>
        <p:spPr>
          <a:xfrm>
            <a:off x="1152525" y="3737520"/>
            <a:ext cx="44767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Trace Signals: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Analyzes tool failures, grader rejections, and user edits.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1152525" y="4362301"/>
            <a:ext cx="44767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Harness Modification: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Dynamically updates prompts, tool signatures, and rubric rules.</a:t>
            </a:r>
            <a:endParaRPr/>
          </a:p>
        </p:txBody>
      </p:sp>
      <p:pic>
        <p:nvPicPr>
          <p:cNvPr descr="image.png" id="248" name="Google Shape;248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96075" y="19812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0"/>
          <p:cNvSpPr txBox="1"/>
          <p:nvPr/>
        </p:nvSpPr>
        <p:spPr>
          <a:xfrm>
            <a:off x="6867525" y="3501330"/>
            <a:ext cx="44767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Prompt Tuning: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Fixes repetitive errors across hundreds of trace samples.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6867525" y="4126110"/>
            <a:ext cx="44767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RL Training Signal: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Feeds high-value trace outcomes into model fine-tuning.</a:t>
            </a:r>
            <a:endParaRPr/>
          </a:p>
        </p:txBody>
      </p:sp>
      <p:pic>
        <p:nvPicPr>
          <p:cNvPr descr="image.png" id="251" name="Google Shape;251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7725" y="3766095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7725" y="4390876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562725" y="352990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562725" y="415468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0"/>
          <p:cNvSpPr txBox="1"/>
          <p:nvPr/>
        </p:nvSpPr>
        <p:spPr>
          <a:xfrm>
            <a:off x="965150" y="457200"/>
            <a:ext cx="11226849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Loop 4: The Hill Climbing Loop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8400" y="1133475"/>
            <a:ext cx="5410200" cy="438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500062"/>
            <a:ext cx="3555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1"/>
          <p:cNvSpPr txBox="1"/>
          <p:nvPr/>
        </p:nvSpPr>
        <p:spPr>
          <a:xfrm>
            <a:off x="533400" y="1133475"/>
            <a:ext cx="56807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LangSmith Engine &amp; Learning Loops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533400" y="1552575"/>
            <a:ext cx="541020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LangSmith Engine acts as the analysis agent for Loop 4, turning execution telemetry into permanent system upgrades.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838200" y="2215455"/>
            <a:ext cx="510540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Pattern Detection: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Aggregates recurring failures across multiple execution traces.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838200" y="2840235"/>
            <a:ext cx="510540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Auto-Filing Issues: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Requests prompt/tool alterations automatically when bottlenecks appear.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838200" y="3465016"/>
            <a:ext cx="510540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Compounding Advantage: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Human expertise &amp; token capital compound with every cycle.</a:t>
            </a:r>
            <a:endParaRPr/>
          </a:p>
        </p:txBody>
      </p:sp>
      <p:pic>
        <p:nvPicPr>
          <p:cNvPr descr="image.png" id="268" name="Google Shape;26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57925" y="1143000"/>
            <a:ext cx="5391150" cy="436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400" y="224403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3400" y="286881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3400" y="3493591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1"/>
          <p:cNvSpPr txBox="1"/>
          <p:nvPr/>
        </p:nvSpPr>
        <p:spPr>
          <a:xfrm>
            <a:off x="1003250" y="457200"/>
            <a:ext cx="11188117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Loop 4: Autonomous Harness Optimization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2"/>
          <p:cNvSpPr txBox="1"/>
          <p:nvPr/>
        </p:nvSpPr>
        <p:spPr>
          <a:xfrm>
            <a:off x="533400" y="428625"/>
            <a:ext cx="11125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Loop Stack &amp; Human Oversight</a:t>
            </a:r>
            <a:endParaRPr b="1" sz="26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279" name="Google Shape;279;p22"/>
          <p:cNvGrpSpPr/>
          <p:nvPr/>
        </p:nvGrpSpPr>
        <p:grpSpPr>
          <a:xfrm>
            <a:off x="533400" y="1333500"/>
            <a:ext cx="2610000" cy="4572000"/>
            <a:chOff x="0" y="0"/>
            <a:chExt cx="2610000" cy="4572000"/>
          </a:xfrm>
        </p:grpSpPr>
        <p:sp>
          <p:nvSpPr>
            <p:cNvPr id="280" name="Google Shape;280;p22"/>
            <p:cNvSpPr/>
            <p:nvPr/>
          </p:nvSpPr>
          <p:spPr>
            <a:xfrm>
              <a:off x="0" y="0"/>
              <a:ext cx="2610000" cy="4572000"/>
            </a:xfrm>
            <a:prstGeom prst="roundRect">
              <a:avLst>
                <a:gd fmla="val 583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0" y="0"/>
              <a:ext cx="2610000" cy="228600"/>
            </a:xfrm>
            <a:custGeom>
              <a:rect b="b" l="l" r="r" t="t"/>
              <a:pathLst>
                <a:path extrusionOk="0" h="120000" w="120000">
                  <a:moveTo>
                    <a:pt x="0" y="80000"/>
                  </a:moveTo>
                  <a:cubicBezTo>
                    <a:pt x="0" y="58783"/>
                    <a:pt x="738" y="38434"/>
                    <a:pt x="2052" y="23431"/>
                  </a:cubicBezTo>
                  <a:cubicBezTo>
                    <a:pt x="3367" y="8429"/>
                    <a:pt x="5149" y="0"/>
                    <a:pt x="7007" y="0"/>
                  </a:cubicBezTo>
                  <a:lnTo>
                    <a:pt x="112993" y="0"/>
                  </a:lnTo>
                  <a:cubicBezTo>
                    <a:pt x="116863" y="2"/>
                    <a:pt x="120000" y="35819"/>
                    <a:pt x="120000" y="8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2"/>
            <p:cNvSpPr txBox="1"/>
            <p:nvPr/>
          </p:nvSpPr>
          <p:spPr>
            <a:xfrm>
              <a:off x="228600" y="419100"/>
              <a:ext cx="2152800" cy="392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</a:t>
              </a:r>
              <a:endParaRPr b="0" sz="28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Agent Loop</a:t>
              </a:r>
              <a:endParaRPr b="0" sz="16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Model calls tools repeatedly until done.</a:t>
              </a:r>
              <a:endParaRPr b="0" sz="115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Objective</a:t>
              </a:r>
              <a:endParaRPr b="0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Automate discrete work</a:t>
              </a:r>
              <a:endParaRPr b="0" sz="115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Component</a:t>
              </a:r>
              <a:endParaRPr b="0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2563EB"/>
                  </a:solidFill>
                  <a:highlight>
                    <a:srgbClr val="EFF6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create_agent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83" name="Google Shape;283;p22"/>
          <p:cNvGrpSpPr/>
          <p:nvPr/>
        </p:nvGrpSpPr>
        <p:grpSpPr>
          <a:xfrm>
            <a:off x="3371850" y="1333500"/>
            <a:ext cx="2610000" cy="4572000"/>
            <a:chOff x="0" y="0"/>
            <a:chExt cx="2610000" cy="4572000"/>
          </a:xfrm>
        </p:grpSpPr>
        <p:sp>
          <p:nvSpPr>
            <p:cNvPr id="284" name="Google Shape;284;p22"/>
            <p:cNvSpPr/>
            <p:nvPr/>
          </p:nvSpPr>
          <p:spPr>
            <a:xfrm>
              <a:off x="0" y="0"/>
              <a:ext cx="2610000" cy="4572000"/>
            </a:xfrm>
            <a:prstGeom prst="roundRect">
              <a:avLst>
                <a:gd fmla="val 583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2"/>
            <p:cNvSpPr/>
            <p:nvPr/>
          </p:nvSpPr>
          <p:spPr>
            <a:xfrm>
              <a:off x="0" y="0"/>
              <a:ext cx="2610000" cy="228600"/>
            </a:xfrm>
            <a:custGeom>
              <a:rect b="b" l="l" r="r" t="t"/>
              <a:pathLst>
                <a:path extrusionOk="0" h="120000" w="120000">
                  <a:moveTo>
                    <a:pt x="0" y="80000"/>
                  </a:moveTo>
                  <a:cubicBezTo>
                    <a:pt x="0" y="58783"/>
                    <a:pt x="738" y="38434"/>
                    <a:pt x="2052" y="23431"/>
                  </a:cubicBezTo>
                  <a:cubicBezTo>
                    <a:pt x="3367" y="8429"/>
                    <a:pt x="5149" y="0"/>
                    <a:pt x="7007" y="0"/>
                  </a:cubicBezTo>
                  <a:lnTo>
                    <a:pt x="112993" y="0"/>
                  </a:lnTo>
                  <a:cubicBezTo>
                    <a:pt x="116863" y="2"/>
                    <a:pt x="120000" y="35819"/>
                    <a:pt x="120000" y="8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2"/>
            <p:cNvSpPr txBox="1"/>
            <p:nvPr/>
          </p:nvSpPr>
          <p:spPr>
            <a:xfrm>
              <a:off x="228600" y="419100"/>
              <a:ext cx="2152800" cy="392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05966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</a:t>
              </a:r>
              <a:endParaRPr b="0" sz="28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Verification</a:t>
              </a:r>
              <a:endParaRPr b="0" sz="16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Output scored against rubric; retried with feedback.</a:t>
              </a:r>
              <a:endParaRPr b="0" sz="115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Objective</a:t>
              </a:r>
              <a:endParaRPr b="0" sz="9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Ensure output quality</a:t>
              </a:r>
              <a:endParaRPr b="0" sz="115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Component</a:t>
              </a:r>
              <a:endParaRPr b="0" sz="9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0596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RubricMiddleware</a:t>
              </a:r>
              <a:endParaRPr b="0" sz="9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87" name="Google Shape;287;p22"/>
          <p:cNvGrpSpPr/>
          <p:nvPr/>
        </p:nvGrpSpPr>
        <p:grpSpPr>
          <a:xfrm>
            <a:off x="6210300" y="1333500"/>
            <a:ext cx="2610000" cy="4572000"/>
            <a:chOff x="0" y="0"/>
            <a:chExt cx="2610000" cy="4572000"/>
          </a:xfrm>
        </p:grpSpPr>
        <p:sp>
          <p:nvSpPr>
            <p:cNvPr id="288" name="Google Shape;288;p22"/>
            <p:cNvSpPr/>
            <p:nvPr/>
          </p:nvSpPr>
          <p:spPr>
            <a:xfrm>
              <a:off x="0" y="0"/>
              <a:ext cx="2610000" cy="4572000"/>
            </a:xfrm>
            <a:prstGeom prst="roundRect">
              <a:avLst>
                <a:gd fmla="val 583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2"/>
            <p:cNvSpPr/>
            <p:nvPr/>
          </p:nvSpPr>
          <p:spPr>
            <a:xfrm>
              <a:off x="0" y="0"/>
              <a:ext cx="2610000" cy="228600"/>
            </a:xfrm>
            <a:custGeom>
              <a:rect b="b" l="l" r="r" t="t"/>
              <a:pathLst>
                <a:path extrusionOk="0" h="120000" w="120000">
                  <a:moveTo>
                    <a:pt x="0" y="80000"/>
                  </a:moveTo>
                  <a:cubicBezTo>
                    <a:pt x="0" y="58783"/>
                    <a:pt x="738" y="38434"/>
                    <a:pt x="2052" y="23431"/>
                  </a:cubicBezTo>
                  <a:cubicBezTo>
                    <a:pt x="3367" y="8429"/>
                    <a:pt x="5149" y="0"/>
                    <a:pt x="7007" y="0"/>
                  </a:cubicBezTo>
                  <a:lnTo>
                    <a:pt x="112993" y="0"/>
                  </a:lnTo>
                  <a:cubicBezTo>
                    <a:pt x="116863" y="2"/>
                    <a:pt x="120000" y="35819"/>
                    <a:pt x="120000" y="8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2"/>
            <p:cNvSpPr txBox="1"/>
            <p:nvPr/>
          </p:nvSpPr>
          <p:spPr>
            <a:xfrm>
              <a:off x="228600" y="419100"/>
              <a:ext cx="2152800" cy="392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D9770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</a:t>
              </a:r>
              <a:endParaRPr b="0" sz="2800">
                <a:solidFill>
                  <a:srgbClr val="D9770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Event-Driven</a:t>
              </a:r>
              <a:endParaRPr b="0" sz="1600">
                <a:solidFill>
                  <a:srgbClr val="D9770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External triggers and crons launch agent tasks.</a:t>
              </a:r>
              <a:endParaRPr b="0" sz="1150">
                <a:solidFill>
                  <a:srgbClr val="D9770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Objective</a:t>
              </a:r>
              <a:endParaRPr b="0" sz="900">
                <a:solidFill>
                  <a:srgbClr val="D9770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Automated work at scale</a:t>
              </a:r>
              <a:endParaRPr b="0" sz="1150">
                <a:solidFill>
                  <a:srgbClr val="D9770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Component</a:t>
              </a:r>
              <a:endParaRPr b="0" sz="900">
                <a:solidFill>
                  <a:srgbClr val="D9770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D9770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LangSmith Deploy</a:t>
              </a:r>
              <a:endParaRPr b="0" sz="900">
                <a:solidFill>
                  <a:srgbClr val="D9770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91" name="Google Shape;291;p22"/>
          <p:cNvGrpSpPr/>
          <p:nvPr/>
        </p:nvGrpSpPr>
        <p:grpSpPr>
          <a:xfrm>
            <a:off x="9048750" y="1333500"/>
            <a:ext cx="2610000" cy="4572000"/>
            <a:chOff x="0" y="0"/>
            <a:chExt cx="2610000" cy="4572000"/>
          </a:xfrm>
        </p:grpSpPr>
        <p:sp>
          <p:nvSpPr>
            <p:cNvPr id="292" name="Google Shape;292;p22"/>
            <p:cNvSpPr/>
            <p:nvPr/>
          </p:nvSpPr>
          <p:spPr>
            <a:xfrm>
              <a:off x="0" y="0"/>
              <a:ext cx="2610000" cy="4572000"/>
            </a:xfrm>
            <a:prstGeom prst="roundRect">
              <a:avLst>
                <a:gd fmla="val 583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2"/>
            <p:cNvSpPr/>
            <p:nvPr/>
          </p:nvSpPr>
          <p:spPr>
            <a:xfrm>
              <a:off x="0" y="0"/>
              <a:ext cx="2610000" cy="228600"/>
            </a:xfrm>
            <a:custGeom>
              <a:rect b="b" l="l" r="r" t="t"/>
              <a:pathLst>
                <a:path extrusionOk="0" h="120000" w="120000">
                  <a:moveTo>
                    <a:pt x="0" y="80000"/>
                  </a:moveTo>
                  <a:cubicBezTo>
                    <a:pt x="0" y="58783"/>
                    <a:pt x="738" y="38434"/>
                    <a:pt x="2052" y="23431"/>
                  </a:cubicBezTo>
                  <a:cubicBezTo>
                    <a:pt x="3367" y="8429"/>
                    <a:pt x="5149" y="0"/>
                    <a:pt x="7007" y="0"/>
                  </a:cubicBezTo>
                  <a:lnTo>
                    <a:pt x="112993" y="0"/>
                  </a:lnTo>
                  <a:cubicBezTo>
                    <a:pt x="116863" y="2"/>
                    <a:pt x="120000" y="35819"/>
                    <a:pt x="120000" y="8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2"/>
            <p:cNvSpPr txBox="1"/>
            <p:nvPr/>
          </p:nvSpPr>
          <p:spPr>
            <a:xfrm>
              <a:off x="228600" y="419100"/>
              <a:ext cx="2152800" cy="392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7C3AED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04</a:t>
              </a:r>
              <a:endParaRPr b="0" sz="2800">
                <a:solidFill>
                  <a:srgbClr val="7C3AE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Hill Climbing</a:t>
              </a:r>
              <a:endParaRPr b="0" sz="1600">
                <a:solidFill>
                  <a:srgbClr val="7C3AE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Traces feed analysis agent to update harness.</a:t>
              </a:r>
              <a:endParaRPr b="0" sz="1150">
                <a:solidFill>
                  <a:srgbClr val="7C3AE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Objective</a:t>
              </a:r>
              <a:endParaRPr b="0" sz="900">
                <a:solidFill>
                  <a:srgbClr val="7C3AE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Continuous improvement</a:t>
              </a:r>
              <a:endParaRPr b="0" sz="1150">
                <a:solidFill>
                  <a:srgbClr val="7C3AE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Component</a:t>
              </a:r>
              <a:endParaRPr b="0" sz="900">
                <a:solidFill>
                  <a:srgbClr val="7C3AE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7C3AED"/>
                  </a:solidFill>
                  <a:highlight>
                    <a:srgbClr val="F5F3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LangSmith Engine</a:t>
              </a:r>
              <a:endParaRPr b="0" sz="900">
                <a:solidFill>
                  <a:srgbClr val="7C3AE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9" name="Google Shape;29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3"/>
          <p:cNvSpPr/>
          <p:nvPr/>
        </p:nvSpPr>
        <p:spPr>
          <a:xfrm>
            <a:off x="533400" y="1133475"/>
            <a:ext cx="11125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3"/>
          <p:cNvSpPr/>
          <p:nvPr/>
        </p:nvSpPr>
        <p:spPr>
          <a:xfrm>
            <a:off x="533400" y="1905000"/>
            <a:ext cx="11125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3"/>
          <p:cNvSpPr/>
          <p:nvPr/>
        </p:nvSpPr>
        <p:spPr>
          <a:xfrm>
            <a:off x="533400" y="2676525"/>
            <a:ext cx="11125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3"/>
          <p:cNvSpPr/>
          <p:nvPr/>
        </p:nvSpPr>
        <p:spPr>
          <a:xfrm>
            <a:off x="533400" y="189547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3"/>
          <p:cNvSpPr/>
          <p:nvPr/>
        </p:nvSpPr>
        <p:spPr>
          <a:xfrm>
            <a:off x="533400" y="189547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3"/>
          <p:cNvSpPr/>
          <p:nvPr/>
        </p:nvSpPr>
        <p:spPr>
          <a:xfrm>
            <a:off x="533400" y="2667000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3"/>
          <p:cNvSpPr/>
          <p:nvPr/>
        </p:nvSpPr>
        <p:spPr>
          <a:xfrm>
            <a:off x="533400" y="2667000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3"/>
          <p:cNvSpPr/>
          <p:nvPr/>
        </p:nvSpPr>
        <p:spPr>
          <a:xfrm>
            <a:off x="533400" y="343852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533400" y="343852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9" name="Google Shape;30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12763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3"/>
          <p:cNvSpPr txBox="1"/>
          <p:nvPr/>
        </p:nvSpPr>
        <p:spPr>
          <a:xfrm>
            <a:off x="1628775" y="1276647"/>
            <a:ext cx="10029825" cy="191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https://n8niostorageaccount.blob.core.windows.net/n8nio-strapi-blobs-prod/assets/workflow_7004_f663b78a76.png</a:t>
            </a:r>
            <a:endParaRPr/>
          </a:p>
        </p:txBody>
      </p:sp>
      <p:sp>
        <p:nvSpPr>
          <p:cNvPr id="311" name="Google Shape;311;p23"/>
          <p:cNvSpPr txBox="1"/>
          <p:nvPr/>
        </p:nvSpPr>
        <p:spPr>
          <a:xfrm>
            <a:off x="1628775" y="1516112"/>
            <a:ext cx="10029825" cy="236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n8n.io</a:t>
            </a:r>
            <a:endParaRPr/>
          </a:p>
        </p:txBody>
      </p:sp>
      <p:pic>
        <p:nvPicPr>
          <p:cNvPr descr="image.png" id="312" name="Google Shape;31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20478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3"/>
          <p:cNvSpPr txBox="1"/>
          <p:nvPr/>
        </p:nvSpPr>
        <p:spPr>
          <a:xfrm>
            <a:off x="1628775" y="2048172"/>
            <a:ext cx="10029825" cy="191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https://www.altexsoft.com/static/blog-post/2023/12/204fe209-5e8b-4d0a-83e8-a30741441944.jpg</a:t>
            </a:r>
            <a:endParaRPr/>
          </a:p>
        </p:txBody>
      </p:sp>
      <p:sp>
        <p:nvSpPr>
          <p:cNvPr id="314" name="Google Shape;314;p23"/>
          <p:cNvSpPr txBox="1"/>
          <p:nvPr/>
        </p:nvSpPr>
        <p:spPr>
          <a:xfrm>
            <a:off x="1628775" y="2287637"/>
            <a:ext cx="10029825" cy="236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www.altexsoft.com</a:t>
            </a:r>
            <a:endParaRPr/>
          </a:p>
        </p:txBody>
      </p:sp>
      <p:pic>
        <p:nvPicPr>
          <p:cNvPr descr="image.png" id="315" name="Google Shape;31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2819400"/>
            <a:ext cx="933450" cy="70857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3"/>
          <p:cNvSpPr txBox="1"/>
          <p:nvPr/>
        </p:nvSpPr>
        <p:spPr>
          <a:xfrm>
            <a:off x="1628775" y="2819697"/>
            <a:ext cx="10029825" cy="191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https://miro.medium.com/0*k9vCsZDxVn27YWV0.jpg</a:t>
            </a: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1628775" y="3059162"/>
            <a:ext cx="10029825" cy="236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medium.com</a:t>
            </a:r>
            <a:endParaRPr/>
          </a:p>
        </p:txBody>
      </p:sp>
      <p:pic>
        <p:nvPicPr>
          <p:cNvPr descr="image.png" id="318" name="Google Shape;31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400" y="368647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3"/>
          <p:cNvSpPr txBox="1"/>
          <p:nvPr/>
        </p:nvSpPr>
        <p:spPr>
          <a:xfrm>
            <a:off x="1628775" y="3590925"/>
            <a:ext cx="10029825" cy="383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https://machinelearningmastery.com/wp-content/uploads/2018/12/Example-of-Train-and-Validation-Learning-Curves-Showing-a-Training-Dataset-the-May-be-too-Small-Relative-to-the-Validation-Dataset.png</a:t>
            </a:r>
            <a:endParaRPr/>
          </a:p>
        </p:txBody>
      </p:sp>
      <p:sp>
        <p:nvSpPr>
          <p:cNvPr id="320" name="Google Shape;320;p23"/>
          <p:cNvSpPr txBox="1"/>
          <p:nvPr/>
        </p:nvSpPr>
        <p:spPr>
          <a:xfrm>
            <a:off x="1628775" y="4022228"/>
            <a:ext cx="10029825" cy="236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machinelearningmastery.com</a:t>
            </a:r>
            <a:endParaRPr/>
          </a:p>
        </p:txBody>
      </p:sp>
      <p:sp>
        <p:nvSpPr>
          <p:cNvPr id="321" name="Google Shape;321;p23"/>
          <p:cNvSpPr txBox="1"/>
          <p:nvPr/>
        </p:nvSpPr>
        <p:spPr>
          <a:xfrm>
            <a:off x="533400" y="457200"/>
            <a:ext cx="116586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