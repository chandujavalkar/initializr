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10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912" y="4068067"/>
            <a:ext cx="5210175" cy="390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45468" y="2399407"/>
            <a:ext cx="8501062" cy="544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290"/>
              </a:lnSpc>
            </a:pPr>
            <a:r>
              <a:rPr b="0" sz="3900" i="0" u="none">
                <a:solidFill>
                  <a:srgbClr val="0F172A"/>
                </a:solidFill>
                <a:latin typeface="Plus Jakarta Sans ExtraBold"/>
              </a:rPr>
              <a:t>Devin AI Usage &amp; Cost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3096517"/>
            <a:ext cx="7810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 Comprehensive Technical Guide to Metering Drivers, ACU Consumption Variables, Sleep Behavior Mechanics, and Administrative Guardrails.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0912" y="4306192"/>
            <a:ext cx="1190625" cy="15240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 SemiBold"/>
              </a:rPr>
              <a:t>Metering Drivers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7287" y="4306192"/>
            <a:ext cx="1152525" cy="152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 SemiBold"/>
              </a:rPr>
              <a:t>Zero-Cost Sleep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5562" y="4306192"/>
            <a:ext cx="990600" cy="15240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 SemiBold"/>
              </a:rPr>
              <a:t>Task Scoping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912" y="4306192"/>
            <a:ext cx="1019175" cy="15240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 SemiBold"/>
              </a:rPr>
              <a:t>Cost Controls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912" y="4325242"/>
            <a:ext cx="12382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287" y="4325242"/>
            <a:ext cx="9525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562" y="4325242"/>
            <a:ext cx="12382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1912" y="4325242"/>
            <a:ext cx="12382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40756"/>
            <a:ext cx="3555950" cy="31861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240756"/>
            <a:ext cx="3555950" cy="31861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240756"/>
            <a:ext cx="3555950" cy="3186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478881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3088481"/>
            <a:ext cx="323368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Agent Operations &amp; Reasoning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075" y="2478881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56075" y="3088481"/>
            <a:ext cx="323368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Environment &amp; OS Architecture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0625" y="2478881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40625" y="3088481"/>
            <a:ext cx="323368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Tooling &amp; Workstream Scale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2583656"/>
            <a:ext cx="2476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0850" y="2583656"/>
            <a:ext cx="2476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1113" y="2583656"/>
            <a:ext cx="276225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3498056"/>
            <a:ext cx="180975" cy="142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7750" y="3469481"/>
            <a:ext cx="2803475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334155"/>
                </a:solidFill>
                <a:latin typeface="Plus Jakarta Sans"/>
              </a:rPr>
              <a:t>Cognitive Loops:</a:t>
            </a:r>
            <a:r>
              <a:rPr b="0" sz="1012" i="0" u="none">
                <a:solidFill>
                  <a:srgbClr val="334155"/>
                </a:solidFill>
                <a:latin typeface="Plus Jakarta Sans"/>
              </a:rPr>
              <a:t> Planning, step-by-step reasoning, and decision-making cycles.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3985021"/>
            <a:ext cx="161925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28700" y="3956446"/>
            <a:ext cx="2822525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334155"/>
                </a:solidFill>
                <a:latin typeface="Plus Jakarta Sans"/>
              </a:rPr>
              <a:t>Code Execution:</a:t>
            </a:r>
            <a:r>
              <a:rPr b="0" sz="1012" i="0" u="none">
                <a:solidFill>
                  <a:srgbClr val="334155"/>
                </a:solidFill>
                <a:latin typeface="Plus Jakarta Sans"/>
              </a:rPr>
              <a:t> File modifications, AST edits, terminal execution, and linter runs.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4471987"/>
            <a:ext cx="123825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90600" y="4443412"/>
            <a:ext cx="2860625" cy="5589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334155"/>
                </a:solidFill>
                <a:latin typeface="Plus Jakarta Sans"/>
              </a:rPr>
              <a:t>Context Window:</a:t>
            </a:r>
            <a:r>
              <a:rPr b="0" sz="1012" i="0" u="none">
                <a:solidFill>
                  <a:srgbClr val="334155"/>
                </a:solidFill>
                <a:latin typeface="Plus Jakarta Sans"/>
              </a:rPr>
              <a:t> Processing expansive prompt loops, repository indexes, and file trees.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6075" y="3498056"/>
            <a:ext cx="123825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75150" y="3469481"/>
            <a:ext cx="2860625" cy="5589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334155"/>
                </a:solidFill>
                <a:latin typeface="Plus Jakarta Sans"/>
              </a:rPr>
              <a:t>OS Overhead:</a:t>
            </a:r>
            <a:r>
              <a:rPr b="0" sz="1012" i="0" u="none">
                <a:solidFill>
                  <a:srgbClr val="334155"/>
                </a:solidFill>
                <a:latin typeface="Plus Jakarta Sans"/>
              </a:rPr>
              <a:t> Windows VMs use </a:t>
            </a:r>
            <a:r>
              <a:rPr b="1" sz="1012" i="0" u="none">
                <a:solidFill>
                  <a:srgbClr val="334155"/>
                </a:solidFill>
                <a:latin typeface="Plus Jakarta Sans"/>
              </a:rPr>
              <a:t>~9% more ACUs</a:t>
            </a:r>
            <a:r>
              <a:rPr b="0" sz="1012" i="0" u="none">
                <a:solidFill>
                  <a:srgbClr val="334155"/>
                </a:solidFill>
                <a:latin typeface="Plus Jakarta Sans"/>
              </a:rPr>
              <a:t> than Linux (Ubuntu) due to system overhead.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6075" y="4171354"/>
            <a:ext cx="142875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94200" y="4142779"/>
            <a:ext cx="2841575" cy="5589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334155"/>
                </a:solidFill>
                <a:latin typeface="Plus Jakarta Sans"/>
              </a:rPr>
              <a:t>Browser Workloads:</a:t>
            </a:r>
            <a:r>
              <a:rPr b="0" sz="1012" i="0" u="none">
                <a:solidFill>
                  <a:srgbClr val="334155"/>
                </a:solidFill>
                <a:latin typeface="Plus Jakarta Sans"/>
              </a:rPr>
              <a:t> Headless Chromium interaction, page navigation, and visual UI testing.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56075" y="4844653"/>
            <a:ext cx="142875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94200" y="4816078"/>
            <a:ext cx="2841575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334155"/>
                </a:solidFill>
                <a:latin typeface="Plus Jakarta Sans"/>
              </a:rPr>
              <a:t>Active Compute:</a:t>
            </a:r>
            <a:r>
              <a:rPr b="0" sz="1012" i="0" u="none">
                <a:solidFill>
                  <a:srgbClr val="334155"/>
                </a:solidFill>
                <a:latin typeface="Plus Jakarta Sans"/>
              </a:rPr>
              <a:t> Reserved CPU, RAM, and network throughput during live agent runs.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0625" y="3498056"/>
            <a:ext cx="142875" cy="1428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78750" y="3469481"/>
            <a:ext cx="2841575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334155"/>
                </a:solidFill>
                <a:latin typeface="Plus Jakarta Sans"/>
              </a:rPr>
              <a:t>Test Execution:</a:t>
            </a:r>
            <a:r>
              <a:rPr b="0" sz="1012" i="0" u="none">
                <a:solidFill>
                  <a:srgbClr val="334155"/>
                </a:solidFill>
                <a:latin typeface="Plus Jakarta Sans"/>
              </a:rPr>
              <a:t> Running automated test suites, compilers, and Docker container builds.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40625" y="3985021"/>
            <a:ext cx="14287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78750" y="3956446"/>
            <a:ext cx="2841575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334155"/>
                </a:solidFill>
                <a:latin typeface="Plus Jakarta Sans"/>
              </a:rPr>
              <a:t>Repo Indexing:</a:t>
            </a:r>
            <a:r>
              <a:rPr b="0" sz="1012" i="0" u="none">
                <a:solidFill>
                  <a:srgbClr val="334155"/>
                </a:solidFill>
                <a:latin typeface="Plus Jakarta Sans"/>
              </a:rPr>
              <a:t> Cross-repository symbol searches and DeepWiki indexing routines.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40625" y="4471987"/>
            <a:ext cx="180975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16850" y="4443412"/>
            <a:ext cx="2803475" cy="5589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334155"/>
                </a:solidFill>
                <a:latin typeface="Plus Jakarta Sans"/>
              </a:rPr>
              <a:t>Parallel Agents:</a:t>
            </a:r>
            <a:r>
              <a:rPr b="0" sz="1012" i="0" u="none">
                <a:solidFill>
                  <a:srgbClr val="334155"/>
                </a:solidFill>
                <a:latin typeface="Plus Jakarta Sans"/>
              </a:rPr>
              <a:t> Spawning Managed Devins allocates child VMs, scaling ACU burn concurrently.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4191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How Devin Metering Works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" y="94297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52092"/>
            <a:ext cx="3555950" cy="27634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452092"/>
            <a:ext cx="3555950" cy="27634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452092"/>
            <a:ext cx="3555950" cy="27634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690217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3299817"/>
            <a:ext cx="323368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Zero-Cost Sleep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642717"/>
            <a:ext cx="307970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When a session completes its current task or goes idle, Devin enters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Sleep mode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151114"/>
            <a:ext cx="3079700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While sleeping, the session consumes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zero ACUs or quota credits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. You can wake the agent anytime with a new message without losing session state.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75" y="2690217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56075" y="3299817"/>
            <a:ext cx="323368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0.1 ACU Auto-Sleep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3642717"/>
            <a:ext cx="307970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Devin automatically enters Sleep state after roughly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0.1 ACUs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of inactivity.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4151114"/>
            <a:ext cx="3079700" cy="82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This automated guardrail ensures that awake-but-idle time adds up to negligible cost, protecting your budget from runaway idle charges.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625" y="2690217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0625" y="3299817"/>
            <a:ext cx="323368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Non-Metered Idle Waits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0625" y="3642717"/>
            <a:ext cx="307970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Usage metering is automatically paused during inactive waiting periods: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625" y="4151114"/>
            <a:ext cx="3079700" cy="82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Devin does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not consume usage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while waiting for human user input/approvals, waiting for long external test suites, or during repo setup/cloning phases.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" y="2794992"/>
            <a:ext cx="1905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5137" y="2794992"/>
            <a:ext cx="21907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3025" y="2794992"/>
            <a:ext cx="152400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4191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Sleep &amp; Idle Protections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94297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28725"/>
            <a:ext cx="11125200" cy="5210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579739"/>
            <a:ext cx="11125200" cy="6988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4843462"/>
            <a:ext cx="17145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191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ACU Consumption Variables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94297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452687"/>
            <a:ext cx="5429250" cy="2762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62212"/>
            <a:ext cx="5410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452687"/>
            <a:ext cx="50863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Delegate Bounded Tasks: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Define clear end goals, expected deliverables, and verification criteria upfront rather than vague open-ended requests.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019425"/>
            <a:ext cx="50863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Split Big Projects: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Break massive epics into smaller sub-tasks across separate sessions to leverage unlimited parallel execution cleanly.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86162"/>
            <a:ext cx="50863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Minimize Back-and-Forth: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Provide comprehensive context in the initial prompt to reduce iterative correction loops and context inflation.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152900"/>
            <a:ext cx="50863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Keep Sessions Short: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Aim for tasks under 90 minutes of equivalent human engineering effort for maximum reliability and lowest ACU burn.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46697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033712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600450"/>
            <a:ext cx="23812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167187"/>
            <a:ext cx="17145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4191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Task Scoping &amp; Prompt Optimization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94297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66404"/>
            <a:ext cx="5429250" cy="23348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666404"/>
            <a:ext cx="5429250" cy="2334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800" y="2923579"/>
            <a:ext cx="4870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2563EB"/>
                </a:solidFill>
                <a:latin typeface="Plus Jakarta Sans"/>
              </a:rPr>
              <a:t>Memory &amp; Context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3266479"/>
            <a:ext cx="4914900" cy="413146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Pinned Knowledge Items: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Pin Knowledge to specific repos to prevent context token inflation across unrelated tasks.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3793926"/>
            <a:ext cx="4914900" cy="413146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Lean AGENTS.md Rules: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Keep rule files concise and focused on lint/test execution rather than verbose documentation.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4321373"/>
            <a:ext cx="4914900" cy="422671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Executable Skills: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Use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SKILL.md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procedures so Devin follows established paths without trial-and-error exploration.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0" y="2923579"/>
            <a:ext cx="4870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2563EB"/>
                </a:solidFill>
                <a:latin typeface="Plus Jakarta Sans"/>
              </a:rPr>
              <a:t>Administrative Cost 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266479"/>
            <a:ext cx="4914900" cy="413146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Auto-Review Trigger Modes: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Set Devin Review to run manual-only or on draft-ready PRs to avoid review spend on every commit.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793926"/>
            <a:ext cx="4914900" cy="413146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Session Spending Limits: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Configure default max credit/ACU caps per session from Settings &gt; Usage.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4321373"/>
            <a:ext cx="4914900" cy="413146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Auto-Reload Thresholds: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Set strict cap thresholds for prepaid on-demand credit refills.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2947392"/>
            <a:ext cx="18097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3304579"/>
            <a:ext cx="1524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3832026"/>
            <a:ext cx="104775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4359473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2947392"/>
            <a:ext cx="180975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525" y="3304579"/>
            <a:ext cx="13335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525" y="3832026"/>
            <a:ext cx="1333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4359473"/>
            <a:ext cx="133350" cy="1333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4191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Memory &amp; Administrative Controls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94297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595538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8775" y="3499991"/>
            <a:ext cx="10029825" cy="383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https://static.vecteezy.com/system/resources/thumbnails/065/479/753/small_2x/high-tech-ai-interface-with-circular-digital-hud-elements-futuristic-dashboard-graphics-and-geometric-tech-icons-on-a-light-blue-abstract-background-free-vector.jpg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8775" y="3931294"/>
            <a:ext cx="100298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www.vecteezy.com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4191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94297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