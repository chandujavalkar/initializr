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Plus Jakarta Sans ExtraBold"/>
      <p:bold r:id="rId32"/>
      <p:boldItalic r:id="rId33"/>
    </p:embeddedFont>
    <p:embeddedFont>
      <p:font typeface="Inter SemiBold"/>
      <p:regular r:id="rId34"/>
      <p:bold r:id="rId35"/>
      <p:italic r:id="rId36"/>
      <p:boldItalic r:id="rId37"/>
    </p:embeddedFont>
    <p:embeddedFont>
      <p:font typeface="Plus Jakarta Sans"/>
      <p:bold r:id="rId38"/>
      <p:boldItalic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JetBrains Mono SemiBold"/>
      <p:regular r:id="rId44"/>
      <p:bold r:id="rId45"/>
      <p:italic r:id="rId46"/>
      <p:boldItalic r:id="rId47"/>
    </p:embeddedFont>
    <p:embeddedFont>
      <p:font typeface="Plus Jakarta Sans SemiBold"/>
      <p:regular r:id="rId48"/>
      <p:bold r:id="rId49"/>
      <p:italic r:id="rId50"/>
      <p:boldItalic r:id="rId51"/>
    </p:embeddedFont>
    <p:embeddedFont>
      <p:font typeface="Inter ExtraBold"/>
      <p:bold r:id="rId52"/>
      <p:boldItalic r:id="rId53"/>
    </p:embeddedFont>
    <p:embeddedFont>
      <p:font typeface="Inter Medium"/>
      <p:regular r:id="rId54"/>
      <p:bold r:id="rId55"/>
      <p:italic r:id="rId56"/>
      <p:boldItalic r:id="rId57"/>
    </p:embeddedFont>
    <p:embeddedFont>
      <p:font typeface="JetBrains Mono"/>
      <p:bold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44" Type="http://schemas.openxmlformats.org/officeDocument/2006/relationships/font" Target="fonts/JetBrainsMonoSemiBold-regular.fntdata"/><Relationship Id="rId43" Type="http://schemas.openxmlformats.org/officeDocument/2006/relationships/font" Target="fonts/Inter-boldItalic.fntdata"/><Relationship Id="rId46" Type="http://schemas.openxmlformats.org/officeDocument/2006/relationships/font" Target="fonts/JetBrainsMonoSemiBold-italic.fntdata"/><Relationship Id="rId45" Type="http://schemas.openxmlformats.org/officeDocument/2006/relationships/font" Target="fonts/JetBrainsMon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usJakartaSansSemiBold-regular.fntdata"/><Relationship Id="rId47" Type="http://schemas.openxmlformats.org/officeDocument/2006/relationships/font" Target="fonts/JetBrainsMonoSemiBold-boldItalic.fntdata"/><Relationship Id="rId49" Type="http://schemas.openxmlformats.org/officeDocument/2006/relationships/font" Target="fonts/PlusJakarta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PlusJakartaSansExtraBold-boldItalic.fntdata"/><Relationship Id="rId32" Type="http://schemas.openxmlformats.org/officeDocument/2006/relationships/font" Target="fonts/PlusJakartaSansExtraBold-bold.fntdata"/><Relationship Id="rId35" Type="http://schemas.openxmlformats.org/officeDocument/2006/relationships/font" Target="fonts/InterSemiBold-bold.fntdata"/><Relationship Id="rId34" Type="http://schemas.openxmlformats.org/officeDocument/2006/relationships/font" Target="fonts/InterSemiBold-regular.fntdata"/><Relationship Id="rId37" Type="http://schemas.openxmlformats.org/officeDocument/2006/relationships/font" Target="fonts/InterSemiBold-boldItalic.fntdata"/><Relationship Id="rId36" Type="http://schemas.openxmlformats.org/officeDocument/2006/relationships/font" Target="fonts/InterSemiBold-italic.fntdata"/><Relationship Id="rId39" Type="http://schemas.openxmlformats.org/officeDocument/2006/relationships/font" Target="fonts/PlusJakartaSans-boldItalic.fntdata"/><Relationship Id="rId38" Type="http://schemas.openxmlformats.org/officeDocument/2006/relationships/font" Target="fonts/PlusJakartaSans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usJakartaSansSemiBold-boldItalic.fntdata"/><Relationship Id="rId50" Type="http://schemas.openxmlformats.org/officeDocument/2006/relationships/font" Target="fonts/PlusJakartaSansSemiBold-italic.fntdata"/><Relationship Id="rId53" Type="http://schemas.openxmlformats.org/officeDocument/2006/relationships/font" Target="fonts/InterExtraBold-boldItalic.fntdata"/><Relationship Id="rId52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55" Type="http://schemas.openxmlformats.org/officeDocument/2006/relationships/font" Target="fonts/InterMedium-bold.fntdata"/><Relationship Id="rId10" Type="http://schemas.openxmlformats.org/officeDocument/2006/relationships/slide" Target="slides/slide5.xml"/><Relationship Id="rId54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57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56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59" Type="http://schemas.openxmlformats.org/officeDocument/2006/relationships/font" Target="fonts/JetBrainsMono-boldItalic.fntdata"/><Relationship Id="rId14" Type="http://schemas.openxmlformats.org/officeDocument/2006/relationships/slide" Target="slides/slide9.xml"/><Relationship Id="rId58" Type="http://schemas.openxmlformats.org/officeDocument/2006/relationships/font" Target="fonts/JetBrains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9e8cd8fdf_1_1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09e8cd8fdf_1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09e8cd8fdf_1_15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09e8cd8fdf_1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e8cd8fdf_56_0)">
  <p:cSld name="Generated (g409e8cd8fdf_5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1.png"/><Relationship Id="rId9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20.png"/><Relationship Id="rId7" Type="http://schemas.openxmlformats.org/officeDocument/2006/relationships/image" Target="../media/image42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0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29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4.png"/><Relationship Id="rId9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5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6.png"/><Relationship Id="rId13" Type="http://schemas.openxmlformats.org/officeDocument/2006/relationships/image" Target="../media/image57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image" Target="../media/image89.png"/><Relationship Id="rId15" Type="http://schemas.openxmlformats.org/officeDocument/2006/relationships/image" Target="../media/image54.png"/><Relationship Id="rId14" Type="http://schemas.openxmlformats.org/officeDocument/2006/relationships/image" Target="../media/image55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Relationship Id="rId5" Type="http://schemas.openxmlformats.org/officeDocument/2006/relationships/image" Target="../media/image53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73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71.png"/><Relationship Id="rId8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9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70.png"/><Relationship Id="rId5" Type="http://schemas.openxmlformats.org/officeDocument/2006/relationships/image" Target="../media/image5.png"/><Relationship Id="rId6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76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84.png"/><Relationship Id="rId5" Type="http://schemas.openxmlformats.org/officeDocument/2006/relationships/image" Target="../media/image90.png"/><Relationship Id="rId6" Type="http://schemas.openxmlformats.org/officeDocument/2006/relationships/image" Target="../media/image80.png"/><Relationship Id="rId7" Type="http://schemas.openxmlformats.org/officeDocument/2006/relationships/image" Target="../media/image83.png"/><Relationship Id="rId8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92.png"/><Relationship Id="rId5" Type="http://schemas.openxmlformats.org/officeDocument/2006/relationships/image" Target="../media/image85.png"/><Relationship Id="rId6" Type="http://schemas.openxmlformats.org/officeDocument/2006/relationships/image" Target="../media/image8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952500" y="1714500"/>
            <a:ext cx="10287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Autonomous Notification</a:t>
            </a:r>
            <a:br>
              <a:rPr b="0" lang="en-US" sz="44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b="0" lang="en-US" sz="44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Intelligence</a:t>
            </a:r>
            <a:endParaRPr b="0" sz="44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Evolving from mechanical delivery to cognitive evaluation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952500" y="4572000"/>
            <a:ext cx="10287000" cy="1047900"/>
            <a:chOff x="0" y="0"/>
            <a:chExt cx="10287000" cy="10479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10287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304800" y="0"/>
              <a:ext cx="9677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5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“Reimagining how platforms make notification decisions in real-time.”</a:t>
              </a:r>
              <a:endParaRPr b="0" i="1" sz="14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571500" y="4000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endParaRPr b="1" sz="11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 Statement</a:t>
            </a:r>
            <a:endParaRPr b="0" sz="32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96" name="Google Shape;96;p15"/>
          <p:cNvGrpSpPr/>
          <p:nvPr/>
        </p:nvGrpSpPr>
        <p:grpSpPr>
          <a:xfrm>
            <a:off x="571500" y="1333500"/>
            <a:ext cx="5334000" cy="3429000"/>
            <a:chOff x="0" y="0"/>
            <a:chExt cx="5334000" cy="3429000"/>
          </a:xfrm>
        </p:grpSpPr>
        <p:sp>
          <p:nvSpPr>
            <p:cNvPr id="97" name="Google Shape;97;p15"/>
            <p:cNvSpPr/>
            <p:nvPr/>
          </p:nvSpPr>
          <p:spPr>
            <a:xfrm>
              <a:off x="0" y="0"/>
              <a:ext cx="53340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266700" y="266700"/>
              <a:ext cx="48006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Notification Fatigue &amp; Noise</a:t>
              </a:r>
              <a:endParaRPr b="1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Current systems operate purely mechanically, firing alerts for every upstream event without context or user awareness.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Overwhelming Volume: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Users receive redundant alerts across multiple channels.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Lack of Context: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Messages lack real-time evaluation of user intent or urgency.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Diminishing Engagement: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 opt-out rates and ignored critical security alerts.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6096000" y="1333500"/>
            <a:ext cx="5524500" cy="1619100"/>
            <a:chOff x="0" y="0"/>
            <a:chExt cx="5524500" cy="16191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5524500" cy="1619100"/>
            </a:xfrm>
            <a:prstGeom prst="roundRect">
              <a:avLst>
                <a:gd fmla="val 941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266700" y="2286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70%+</a:t>
              </a:r>
              <a:endParaRPr b="0" sz="32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UNACTIONABLE ALERTS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Sent without cognitive filtering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2" name="Google Shape;102;p15"/>
            <p:cNvCxnSpPr/>
            <p:nvPr/>
          </p:nvCxnSpPr>
          <p:spPr>
            <a:xfrm>
              <a:off x="2762250" y="228600"/>
              <a:ext cx="0" cy="1162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" name="Google Shape;103;p15"/>
            <p:cNvSpPr txBox="1"/>
            <p:nvPr/>
          </p:nvSpPr>
          <p:spPr>
            <a:xfrm>
              <a:off x="302895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65%</a:t>
              </a:r>
              <a:endParaRPr b="0" sz="32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 DESENSITIZATION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Disable notifications completely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6096000" y="3143250"/>
            <a:ext cx="5524500" cy="1619100"/>
            <a:chOff x="0" y="0"/>
            <a:chExt cx="5524500" cy="1619100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0"/>
              <a:ext cx="5524500" cy="1619100"/>
            </a:xfrm>
            <a:prstGeom prst="roundRect">
              <a:avLst>
                <a:gd fmla="val 9411" name="adj"/>
              </a:avLst>
            </a:prstGeom>
            <a:solidFill>
              <a:srgbClr val="EFF6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266700" y="228600"/>
              <a:ext cx="49911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Core Need</a:t>
              </a:r>
              <a:endParaRPr b="1" sz="180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To shift from blind message dispatching to an intelligent cognitive engine that evaluates </a:t>
              </a:r>
              <a:r>
                <a:rPr b="0" i="1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if</a:t>
              </a:r>
              <a:r>
                <a:rPr b="0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i="1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when</a:t>
              </a:r>
              <a:r>
                <a:rPr b="0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0" i="1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how</a:t>
              </a:r>
              <a:r>
                <a:rPr b="0" lang="en-US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 a notification should be delivered.</a:t>
              </a:r>
              <a:endParaRPr b="0" sz="12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571500" y="4991100"/>
            <a:ext cx="11049000" cy="876300"/>
            <a:chOff x="0" y="0"/>
            <a:chExt cx="11049000" cy="8763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11049000" cy="876300"/>
            </a:xfrm>
            <a:prstGeom prst="roundRect">
              <a:avLst>
                <a:gd fmla="val 1304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266700" y="0"/>
              <a:ext cx="10515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5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“High volume delivery without intelligence turns critical communication into background noise.”</a:t>
              </a:r>
              <a:endParaRPr b="0" i="1" sz="14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6"/>
          <p:cNvGrpSpPr/>
          <p:nvPr/>
        </p:nvGrpSpPr>
        <p:grpSpPr>
          <a:xfrm>
            <a:off x="571500" y="428625"/>
            <a:ext cx="11049000" cy="800100"/>
            <a:chOff x="0" y="0"/>
            <a:chExt cx="11049000" cy="800100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0" y="0"/>
              <a:ext cx="1104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FUTURE OF NOTIFICATIONS</a:t>
              </a:r>
              <a:endParaRPr b="1" sz="11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0" y="266700"/>
              <a:ext cx="11049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33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What if Notifications Could Think?</a:t>
              </a:r>
              <a:endParaRPr b="0" sz="333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571500" y="1333500"/>
            <a:ext cx="11049000" cy="914400"/>
            <a:chOff x="0" y="0"/>
            <a:chExt cx="11049000" cy="9144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11049000" cy="9144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228600" y="0"/>
              <a:ext cx="1059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Today, platforms answer: </a:t>
              </a: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“What should I send?”</a:t>
              </a:r>
              <a:endParaRPr b="0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Tomorrow, they should answer: </a:t>
              </a:r>
              <a:r>
                <a:rPr b="1" lang="en-US" sz="15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“Should I send it, when, through which channel, and is there a better way?”</a:t>
              </a:r>
              <a:endParaRPr b="0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2476500"/>
            <a:ext cx="3276600" cy="2095500"/>
            <a:chOff x="0" y="0"/>
            <a:chExt cx="3276600" cy="20955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3276600" cy="20955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228600" y="228600"/>
              <a:ext cx="609600" cy="247800"/>
            </a:xfrm>
            <a:prstGeom prst="roundRect">
              <a:avLst>
                <a:gd fmla="val 2307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28600" y="228600"/>
              <a:ext cx="609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PAST</a:t>
              </a:r>
              <a:endParaRPr b="1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28600" y="628650"/>
              <a:ext cx="2819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Notification Delivery</a:t>
              </a:r>
              <a:endParaRPr b="1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Purely mechanical execution. Focuses on system uptime, message triggers, and basic template rendering.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962400" y="3381375"/>
            <a:ext cx="304800" cy="304800"/>
            <a:chOff x="0" y="0"/>
            <a:chExt cx="304800" cy="3048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304800" cy="304800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endParaRPr b="1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4457700" y="2476500"/>
            <a:ext cx="3276600" cy="2095500"/>
            <a:chOff x="0" y="0"/>
            <a:chExt cx="3276600" cy="20955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276600" cy="20955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228600" y="228600"/>
              <a:ext cx="800100" cy="247800"/>
            </a:xfrm>
            <a:prstGeom prst="roundRect">
              <a:avLst>
                <a:gd fmla="val 2307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228600" y="228600"/>
              <a:ext cx="800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PRESENT</a:t>
              </a:r>
              <a:endParaRPr b="1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228600" y="628650"/>
              <a:ext cx="2819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Notification Intelligence</a:t>
              </a:r>
              <a:endParaRPr b="1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Rules-based orchestration. Incorporates user channel preferences, basic throttling, and static logic.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7848600" y="3381375"/>
            <a:ext cx="304800" cy="304800"/>
            <a:chOff x="0" y="0"/>
            <a:chExt cx="304800" cy="3048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304800" cy="304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0" y="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8343900" y="2476500"/>
            <a:ext cx="3276600" cy="2095500"/>
            <a:chOff x="0" y="0"/>
            <a:chExt cx="3276600" cy="20955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32766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228600" y="228600"/>
              <a:ext cx="685800" cy="247800"/>
            </a:xfrm>
            <a:prstGeom prst="roundRect">
              <a:avLst>
                <a:gd fmla="val 23076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28600" y="228600"/>
              <a:ext cx="685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FUTURE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228600" y="628650"/>
              <a:ext cx="2819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65">
                  <a:solidFill>
                    <a:srgbClr val="1E40A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Autonomous Notifications</a:t>
              </a:r>
              <a:endParaRPr b="0" sz="1665">
                <a:solidFill>
                  <a:srgbClr val="1E40A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1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Cognitive reasoning engine. Self-evaluates necessity, optimal timing, channel routing, and event bundling.</a:t>
              </a:r>
              <a:endParaRPr b="0" sz="111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571500" y="4857750"/>
            <a:ext cx="11049000" cy="952500"/>
            <a:chOff x="0" y="0"/>
            <a:chExt cx="11049000" cy="952500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110490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266700" y="0"/>
              <a:ext cx="10553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5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“We are not proposing another notification channel. We are proposing a fundamental evolution of the notification platform itself.”</a:t>
              </a:r>
              <a:endParaRPr b="0" i="1" sz="15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71500" y="4000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ECOSYSTEM OVERVIEW</a:t>
            </a:r>
            <a:endParaRPr b="1" sz="11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Where We Are Today</a:t>
            </a:r>
            <a:endParaRPr b="0" sz="32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71500" y="1333500"/>
            <a:ext cx="5143500" cy="3429000"/>
            <a:chOff x="0" y="0"/>
            <a:chExt cx="5143500" cy="34290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266700" y="228600"/>
              <a:ext cx="46101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 Powerful Ecosystem</a:t>
              </a:r>
              <a:endParaRPr b="1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Multiple upstream systems constantly generate operational events.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0" lang="en-US" sz="13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Credit Card &amp; Debit Card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0" lang="en-US" sz="13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Account Updates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0" lang="en-US" sz="13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Payments &amp; Transfers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0" lang="en-US" sz="13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Security &amp; Fraud Alerts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Font typeface="Inter"/>
                <a:buChar char="●"/>
              </a:pPr>
              <a:r>
                <a:rPr b="0" lang="en-US" sz="135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Other Enterprise Systems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6000750" y="1333500"/>
            <a:ext cx="5619900" cy="3429000"/>
            <a:chOff x="0" y="0"/>
            <a:chExt cx="5619900" cy="34290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5619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228600" y="190500"/>
              <a:ext cx="5162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UPSTREAM SYSTEMS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7" name="Google Shape;157;p17"/>
            <p:cNvGrpSpPr/>
            <p:nvPr/>
          </p:nvGrpSpPr>
          <p:grpSpPr>
            <a:xfrm>
              <a:off x="190500" y="457200"/>
              <a:ext cx="1190700" cy="400200"/>
              <a:chOff x="0" y="0"/>
              <a:chExt cx="1190700" cy="400200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0" y="0"/>
                <a:ext cx="11907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0" y="0"/>
                <a:ext cx="119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Credit Card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60" name="Google Shape;160;p17"/>
            <p:cNvGrpSpPr/>
            <p:nvPr/>
          </p:nvGrpSpPr>
          <p:grpSpPr>
            <a:xfrm>
              <a:off x="1504950" y="457200"/>
              <a:ext cx="1190700" cy="400200"/>
              <a:chOff x="0" y="0"/>
              <a:chExt cx="1190700" cy="400200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0" y="0"/>
                <a:ext cx="11907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0" y="0"/>
                <a:ext cx="119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Debit Card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63" name="Google Shape;163;p17"/>
            <p:cNvGrpSpPr/>
            <p:nvPr/>
          </p:nvGrpSpPr>
          <p:grpSpPr>
            <a:xfrm>
              <a:off x="2819400" y="457200"/>
              <a:ext cx="1190700" cy="400200"/>
              <a:chOff x="0" y="0"/>
              <a:chExt cx="1190700" cy="40020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11907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0" y="0"/>
                <a:ext cx="119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Account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4133850" y="457200"/>
              <a:ext cx="1247700" cy="400200"/>
              <a:chOff x="0" y="0"/>
              <a:chExt cx="1247700" cy="40020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12477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1247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Payment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69" name="Google Shape;169;p17"/>
            <p:cNvSpPr txBox="1"/>
            <p:nvPr/>
          </p:nvSpPr>
          <p:spPr>
            <a:xfrm>
              <a:off x="0" y="933450"/>
              <a:ext cx="5619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0" name="Google Shape;170;p17"/>
            <p:cNvGrpSpPr/>
            <p:nvPr/>
          </p:nvGrpSpPr>
          <p:grpSpPr>
            <a:xfrm>
              <a:off x="190500" y="1200150"/>
              <a:ext cx="5238900" cy="723900"/>
              <a:chOff x="0" y="0"/>
              <a:chExt cx="5238900" cy="72390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0" y="0"/>
                <a:ext cx="5238900" cy="723900"/>
              </a:xfrm>
              <a:prstGeom prst="roundRect">
                <a:avLst>
                  <a:gd fmla="val 15789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0" y="0"/>
                <a:ext cx="5238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Notification Platform</a:t>
                </a:r>
                <a:endParaRPr b="1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DBEAF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Central Operational Hub</a:t>
                </a:r>
                <a:endParaRPr b="0" sz="1050">
                  <a:solidFill>
                    <a:srgbClr val="DBEAF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173" name="Google Shape;173;p17"/>
            <p:cNvSpPr txBox="1"/>
            <p:nvPr/>
          </p:nvSpPr>
          <p:spPr>
            <a:xfrm>
              <a:off x="0" y="1981200"/>
              <a:ext cx="5619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228600" y="2266950"/>
              <a:ext cx="5162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DELIVERY CHANNELS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5" name="Google Shape;175;p17"/>
            <p:cNvGrpSpPr/>
            <p:nvPr/>
          </p:nvGrpSpPr>
          <p:grpSpPr>
            <a:xfrm>
              <a:off x="333375" y="2533650"/>
              <a:ext cx="1428900" cy="457200"/>
              <a:chOff x="0" y="0"/>
              <a:chExt cx="1428900" cy="457200"/>
            </a:xfrm>
          </p:grpSpPr>
          <p:sp>
            <p:nvSpPr>
              <p:cNvPr id="176" name="Google Shape;176;p17"/>
              <p:cNvSpPr/>
              <p:nvPr/>
            </p:nvSpPr>
            <p:spPr>
              <a:xfrm>
                <a:off x="0" y="0"/>
                <a:ext cx="14289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0" y="0"/>
                <a:ext cx="1428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Email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8" name="Google Shape;178;p17"/>
            <p:cNvGrpSpPr/>
            <p:nvPr/>
          </p:nvGrpSpPr>
          <p:grpSpPr>
            <a:xfrm>
              <a:off x="2095500" y="2533650"/>
              <a:ext cx="1428900" cy="457200"/>
              <a:chOff x="0" y="0"/>
              <a:chExt cx="1428900" cy="457200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0" y="0"/>
                <a:ext cx="14289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 txBox="1"/>
              <p:nvPr/>
            </p:nvSpPr>
            <p:spPr>
              <a:xfrm>
                <a:off x="0" y="0"/>
                <a:ext cx="1428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Push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1" name="Google Shape;181;p17"/>
            <p:cNvGrpSpPr/>
            <p:nvPr/>
          </p:nvGrpSpPr>
          <p:grpSpPr>
            <a:xfrm>
              <a:off x="3857625" y="2533650"/>
              <a:ext cx="1428900" cy="457200"/>
              <a:chOff x="0" y="0"/>
              <a:chExt cx="1428900" cy="457200"/>
            </a:xfrm>
          </p:grpSpPr>
          <p:sp>
            <p:nvSpPr>
              <p:cNvPr id="182" name="Google Shape;182;p17"/>
              <p:cNvSpPr/>
              <p:nvPr/>
            </p:nvSpPr>
            <p:spPr>
              <a:xfrm>
                <a:off x="0" y="0"/>
                <a:ext cx="14289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7"/>
              <p:cNvSpPr txBox="1"/>
              <p:nvPr/>
            </p:nvSpPr>
            <p:spPr>
              <a:xfrm>
                <a:off x="0" y="0"/>
                <a:ext cx="1428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SMS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84" name="Google Shape;184;p17"/>
          <p:cNvGrpSpPr/>
          <p:nvPr/>
        </p:nvGrpSpPr>
        <p:grpSpPr>
          <a:xfrm>
            <a:off x="571500" y="4991100"/>
            <a:ext cx="11049000" cy="876300"/>
            <a:chOff x="0" y="0"/>
            <a:chExt cx="11049000" cy="876300"/>
          </a:xfrm>
        </p:grpSpPr>
        <p:sp>
          <p:nvSpPr>
            <p:cNvPr id="185" name="Google Shape;185;p17"/>
            <p:cNvSpPr/>
            <p:nvPr/>
          </p:nvSpPr>
          <p:spPr>
            <a:xfrm>
              <a:off x="0" y="0"/>
              <a:ext cx="11049000" cy="876300"/>
            </a:xfrm>
            <a:prstGeom prst="roundRect">
              <a:avLst>
                <a:gd fmla="val 1304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266700" y="0"/>
              <a:ext cx="10515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5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“Our platform already sits at the center of a very large operational notification ecosystem.”</a:t>
              </a:r>
              <a:endParaRPr b="0" i="1" sz="14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8745"/>
            <a:ext cx="52387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038725"/>
            <a:ext cx="523875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35639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17554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99469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813845"/>
            <a:ext cx="47434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571500" y="1457325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Event Happens → Notification Delivered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381750" y="145732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Optimized For Execution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381750" y="19145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current platform is highly optimized for mechanical delivery, but lacks cognitive evaluation.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19150" y="2937420"/>
            <a:ext cx="47434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19150" y="3756570"/>
            <a:ext cx="47434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19150" y="4575720"/>
            <a:ext cx="47434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572250" y="2762250"/>
            <a:ext cx="5048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Ensuring the system stays up.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6381750" y="2762250"/>
            <a:ext cx="285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572250" y="3295650"/>
            <a:ext cx="5048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Handling massive volumes.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381750" y="3295650"/>
            <a:ext cx="285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6572250" y="3829050"/>
            <a:ext cx="5048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Delivery &amp; Retry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Getting the message out and handling failures.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381750" y="3829050"/>
            <a:ext cx="285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572250" y="4362450"/>
            <a:ext cx="5048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Monitoring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Tracking system health.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381750" y="4362450"/>
            <a:ext cx="285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657975" y="5229225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“We are excellent at delivering. But delivery is only one part of the notification experience.”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Happens Today?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03391"/>
            <a:ext cx="11049000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42170"/>
            <a:ext cx="355595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2842170"/>
            <a:ext cx="355595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842170"/>
            <a:ext cx="3556099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05176"/>
            <a:ext cx="3555950" cy="1198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7950" y="4505176"/>
            <a:ext cx="3555950" cy="1198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64400" y="4505176"/>
            <a:ext cx="3556099" cy="119821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571500" y="1457325"/>
            <a:ext cx="4972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What happens between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"Event"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"Send"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571500" y="2108745"/>
            <a:ext cx="10201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notification request arrives. But several critical questions remain unanswered by a purely mechanical system: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847725" y="5893891"/>
            <a:ext cx="10534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“Today these decisions are largely predetermined. Tomorrow they can become intelligent.”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19150" y="3226891"/>
            <a:ext cx="306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819150" y="3655516"/>
            <a:ext cx="306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 this notification still necessary?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4565600" y="3226891"/>
            <a:ext cx="306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02.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4565600" y="3655516"/>
            <a:ext cx="306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Did we already notify the customer?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312050" y="3089820"/>
            <a:ext cx="30607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03.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312050" y="3518445"/>
            <a:ext cx="3060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 another related notification coming?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19150" y="4752826"/>
            <a:ext cx="306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19150" y="5181451"/>
            <a:ext cx="306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 this the right channel?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4565600" y="4752826"/>
            <a:ext cx="306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05.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4565600" y="5181451"/>
            <a:ext cx="306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 this the right time?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8312050" y="4752826"/>
            <a:ext cx="30607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06.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312050" y="5181451"/>
            <a:ext cx="30607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Can multiple events be combined?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Opportunity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4100" y="2987250"/>
            <a:ext cx="5238750" cy="1203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24150"/>
            <a:ext cx="52387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43500"/>
            <a:ext cx="5332999" cy="7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571500" y="14573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More Notifications ≠ Better Communication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19240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Customers often receive multiple operational notifications within a short window: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72425" y="3118275"/>
            <a:ext cx="4648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“The problem isn’t that individual notifications are wrong. The problem is that the platform doesn’t have a holistic view of the notification journey.”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552575" y="5295900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 Valid Alerts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2667000" y="52959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2962275" y="5295900"/>
            <a:ext cx="1866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1 Overwhelmed Customer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95350" y="2924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▪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962025" y="292417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Payment Due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95350" y="3305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▪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62025" y="330517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Payment Processed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895350" y="3686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▪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962025" y="368617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Balance Updated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895350" y="4067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▪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962025" y="406717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Transaction Alert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95350" y="4448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▪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962025" y="444817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Statement Available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Customer Problem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8745"/>
            <a:ext cx="52387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23320"/>
            <a:ext cx="523875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571500" y="1457325"/>
            <a:ext cx="627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Our Notifications Are Already Telling Us a Story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571500" y="1916278"/>
            <a:ext cx="57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already possess valuable engagement signals within our ecosystem: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781800" y="2508795"/>
            <a:ext cx="4438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CAPABILITY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670833" y="2765970"/>
            <a:ext cx="46605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Open-Rate-Tracking Service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781800" y="3289845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This forms the foundation of our sensory data.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657975" y="4613820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Message:</a:t>
            </a: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The platform already has the sensors. We just need to add intelligence.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62000" y="286122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Notification requests &amp; history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762000" y="335652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Delivery status &amp; Channel info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762000" y="385182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Email open data &amp; Push engagement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62000" y="434712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Notification type classification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62000" y="484242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Subscription &amp; preferences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Hidden Signal We Already Have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77556"/>
            <a:ext cx="1104900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4045"/>
            <a:ext cx="2547937" cy="1992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5187" y="2604045"/>
            <a:ext cx="2547937" cy="1992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04045"/>
            <a:ext cx="2547937" cy="1992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2562" y="2604045"/>
            <a:ext cx="2547937" cy="19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571500" y="14573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Introduce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AUTONOMOUS NOTIFICATION INTELLIGENCE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571500" y="201349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AI-powered layer that understands context and autonomously determines: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28675" y="5263781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“Our existing platform becomes the reliable delivery backbone, while the intelligence layer makes the communication smarter.”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66775" y="2927895"/>
            <a:ext cx="1957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DECISION 1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866775" y="321364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866775" y="3670845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Should this notification happen at all?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700462" y="2927895"/>
            <a:ext cx="1957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DECISION 2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3700462" y="321364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3700462" y="3670845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Should it be sent now or delayed for later?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534150" y="2927895"/>
            <a:ext cx="1957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DECISION 3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534150" y="321364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534150" y="3670845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Email, Push, or SMS based on context?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9367837" y="2927895"/>
            <a:ext cx="1957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DECISION 4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9367837" y="321364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WHETHER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9367837" y="3670845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Send, suppress, merge, or recommend?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Vision: Give the Platform a Brain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5732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650" y="5019675"/>
            <a:ext cx="45165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1800" y="5019675"/>
            <a:ext cx="4438649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 txBox="1"/>
          <p:nvPr/>
        </p:nvSpPr>
        <p:spPr>
          <a:xfrm>
            <a:off x="971550" y="1895475"/>
            <a:ext cx="443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ENGINE 01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971550" y="2143125"/>
            <a:ext cx="46605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Subscription AI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971550" y="2619375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Intelligent Subscription Recommendation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971550" y="3084165"/>
            <a:ext cx="4438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Determines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operational alerts the customer should receive based on their engagement history.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781800" y="1895475"/>
            <a:ext cx="443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ENGINE 02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781800" y="2143125"/>
            <a:ext cx="46605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Notification AI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6781800" y="2619375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Autonomous Notification Orchestration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781800" y="3084165"/>
            <a:ext cx="4438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Determines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each individual notification should be handled, timed, and routed.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2295525" y="5133975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"What should I receive?"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8067675" y="5133975"/>
            <a:ext cx="18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"How should I receive it?"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Platform. Two Intelligence Engines.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725" y="3798775"/>
            <a:ext cx="5238750" cy="1203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7725" y="1771650"/>
            <a:ext cx="52387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4"/>
          <p:cNvSpPr txBox="1"/>
          <p:nvPr/>
        </p:nvSpPr>
        <p:spPr>
          <a:xfrm>
            <a:off x="571500" y="1457325"/>
            <a:ext cx="55006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Don’t Make Customers Discover Important Alerts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571500" y="22288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Customers may be eligible for multiple operational notifications (e.g., Payment Due, Confirmation, Transaction Alert).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571500" y="32861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Instead of expecting customers to hunt for every available alert, the platform proactively recommends relevant subscriptions.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6736275" y="3981450"/>
            <a:ext cx="4724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“This is not marketing. It is helping customers subscribe to operational information relevant to their existing relationship.”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844900" y="1947375"/>
            <a:ext cx="472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 RECOMMENDATION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6736275" y="2251825"/>
            <a:ext cx="472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"We noticed you check your statements frequently. Would you like to receive Payment Due reminders?"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Subscription Recommendation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4645"/>
            <a:ext cx="523875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4785270"/>
            <a:ext cx="46672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8487" y="2394495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8762" y="2394495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8487" y="2965995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8762" y="2965995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48487" y="3537495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48762" y="3537495"/>
            <a:ext cx="19050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5"/>
          <p:cNvSpPr txBox="1"/>
          <p:nvPr/>
        </p:nvSpPr>
        <p:spPr>
          <a:xfrm>
            <a:off x="571500" y="1457325"/>
            <a:ext cx="8067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How can we recommend without knowing everything about the customer?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590475" y="2394495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don’t need web browsing or marketing behavior. We can build intelligence purely from the signals we already own.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6667500" y="4270920"/>
            <a:ext cx="4667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847725" y="3785145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Message:</a:t>
            </a: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We learn notification behavior — not personal behavior.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750843" y="4975770"/>
            <a:ext cx="45005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Notification Engagement Profile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8948737" y="2546895"/>
            <a:ext cx="10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8948737" y="3118395"/>
            <a:ext cx="10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8948737" y="3689895"/>
            <a:ext cx="10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 From the Notification Relationship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3" name="Google Shape;3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334000" cy="3196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57325"/>
            <a:ext cx="5334000" cy="372219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571500" y="145732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lang="en-US" sz="1200">
                <a:solidFill>
                  <a:srgbClr val="0F172A"/>
                </a:solidFill>
              </a:rPr>
              <a:t>ECN</a:t>
            </a: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#123458901112 Profile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581775" y="1752600"/>
            <a:ext cx="49806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PLATFORM INSIGHTS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6581775" y="4305300"/>
            <a:ext cx="4743450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"This understands how the customer interacts with our operational notifications, not their entire life."</a:t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6581775" y="4162425"/>
            <a:ext cx="4743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6772275" y="218122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engagement with Payment Due alerts.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772275" y="267652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engagement with Statements.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6772275" y="317182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Strong Push engagement overall.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6772275" y="366712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Lower Email engagement for certain types.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Example: Notification Engagement Profile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387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09925"/>
            <a:ext cx="52387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43450"/>
            <a:ext cx="523875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70497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50507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330517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4105275"/>
            <a:ext cx="4743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5114925"/>
            <a:ext cx="47434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 txBox="1"/>
          <p:nvPr/>
        </p:nvSpPr>
        <p:spPr>
          <a:xfrm>
            <a:off x="819150" y="2286000"/>
            <a:ext cx="474345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819150" y="3086100"/>
            <a:ext cx="474345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819150" y="3886200"/>
            <a:ext cx="474345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401" name="Google Shape;401;p27"/>
          <p:cNvSpPr txBox="1"/>
          <p:nvPr/>
        </p:nvSpPr>
        <p:spPr>
          <a:xfrm>
            <a:off x="819150" y="4781550"/>
            <a:ext cx="47434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02" name="Google Shape;402;p27"/>
          <p:cNvSpPr txBox="1"/>
          <p:nvPr/>
        </p:nvSpPr>
        <p:spPr>
          <a:xfrm>
            <a:off x="6381750" y="1457325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 Scenario</a:t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6381750" y="18669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 frequently engages with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Payment Due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The platform identifies an eligible related alert: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Payment Confirmation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657975" y="3448050"/>
            <a:ext cx="4724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RECOMMENDATION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657975" y="3686175"/>
            <a:ext cx="472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"Would you like to receive Payment Confirmation alerts?"</a:t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6657975" y="4933950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Goal:</a:t>
            </a: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Increase useful operational email subscriptions and engagement.</a:t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Engagement to Recommendation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8"/>
          <p:cNvSpPr txBox="1"/>
          <p:nvPr/>
        </p:nvSpPr>
        <p:spPr>
          <a:xfrm>
            <a:off x="571500" y="495300"/>
            <a:ext cx="11049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But Subscription is Only Half the Story</a:t>
            </a:r>
            <a:endParaRPr b="0" sz="28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414" name="Google Shape;414;p28"/>
          <p:cNvGrpSpPr/>
          <p:nvPr/>
        </p:nvGrpSpPr>
        <p:grpSpPr>
          <a:xfrm>
            <a:off x="571500" y="1162050"/>
            <a:ext cx="5334000" cy="400200"/>
            <a:chOff x="0" y="0"/>
            <a:chExt cx="5334000" cy="400200"/>
          </a:xfrm>
        </p:grpSpPr>
        <p:sp>
          <p:nvSpPr>
            <p:cNvPr id="415" name="Google Shape;415;p28"/>
            <p:cNvSpPr/>
            <p:nvPr/>
          </p:nvSpPr>
          <p:spPr>
            <a:xfrm>
              <a:off x="0" y="0"/>
              <a:ext cx="5334000" cy="400200"/>
            </a:xfrm>
            <a:prstGeom prst="roundRect">
              <a:avLst>
                <a:gd fmla="val 1904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0" y="0"/>
              <a:ext cx="5334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Event Occurs</a:t>
              </a:r>
              <a:r>
                <a:rPr b="0" lang="en-US" sz="11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-US" sz="1100">
                  <a:solidFill>
                    <a:srgbClr val="94A3B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→</a:t>
              </a:r>
              <a:r>
                <a:rPr b="0" lang="en-US" sz="11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-US" sz="1100">
                  <a:solidFill>
                    <a:srgbClr val="64748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Subscribed</a:t>
              </a:r>
              <a:r>
                <a:rPr b="0" lang="en-US" sz="11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-US" sz="1100">
                  <a:solidFill>
                    <a:srgbClr val="94A3B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→</a:t>
              </a:r>
              <a:r>
                <a:rPr b="0" lang="en-US" sz="11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1" lang="en-US" sz="11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Should we send?</a:t>
              </a:r>
              <a:endParaRPr b="0" sz="110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sp>
        <p:nvSpPr>
          <p:cNvPr id="417" name="Google Shape;417;p28"/>
          <p:cNvSpPr txBox="1"/>
          <p:nvPr/>
        </p:nvSpPr>
        <p:spPr>
          <a:xfrm>
            <a:off x="571500" y="1714500"/>
            <a:ext cx="5334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Happens After the Customer Subscribes?</a:t>
            </a:r>
            <a:endParaRPr b="1" sz="18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intelligent platform asks:</a:t>
            </a:r>
            <a:endParaRPr b="0" sz="12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18" name="Google Shape;418;p28"/>
          <p:cNvGrpSpPr/>
          <p:nvPr/>
        </p:nvGrpSpPr>
        <p:grpSpPr>
          <a:xfrm>
            <a:off x="571500" y="2476500"/>
            <a:ext cx="5334000" cy="3429000"/>
            <a:chOff x="0" y="0"/>
            <a:chExt cx="5334000" cy="3429000"/>
          </a:xfrm>
        </p:grpSpPr>
        <p:grpSp>
          <p:nvGrpSpPr>
            <p:cNvPr id="419" name="Google Shape;419;p28"/>
            <p:cNvGrpSpPr/>
            <p:nvPr/>
          </p:nvGrpSpPr>
          <p:grpSpPr>
            <a:xfrm>
              <a:off x="0" y="0"/>
              <a:ext cx="5334000" cy="609600"/>
              <a:chOff x="0" y="0"/>
              <a:chExt cx="5334000" cy="609600"/>
            </a:xfrm>
          </p:grpSpPr>
          <p:sp>
            <p:nvSpPr>
              <p:cNvPr id="420" name="Google Shape;420;p28"/>
              <p:cNvSpPr/>
              <p:nvPr/>
            </p:nvSpPr>
            <p:spPr>
              <a:xfrm>
                <a:off x="0" y="0"/>
                <a:ext cx="5334000" cy="609600"/>
              </a:xfrm>
              <a:prstGeom prst="roundRect">
                <a:avLst>
                  <a:gd fmla="val 1562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171450" y="171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8"/>
              <p:cNvSpPr txBox="1"/>
              <p:nvPr/>
            </p:nvSpPr>
            <p:spPr>
              <a:xfrm>
                <a:off x="171450" y="1714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28"/>
              <p:cNvSpPr txBox="1"/>
              <p:nvPr/>
            </p:nvSpPr>
            <p:spPr>
              <a:xfrm>
                <a:off x="571500" y="0"/>
                <a:ext cx="4572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Was a similar alert already sent?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24" name="Google Shape;424;p28"/>
            <p:cNvGrpSpPr/>
            <p:nvPr/>
          </p:nvGrpSpPr>
          <p:grpSpPr>
            <a:xfrm>
              <a:off x="0" y="704850"/>
              <a:ext cx="5334000" cy="609600"/>
              <a:chOff x="0" y="0"/>
              <a:chExt cx="5334000" cy="609600"/>
            </a:xfrm>
          </p:grpSpPr>
          <p:sp>
            <p:nvSpPr>
              <p:cNvPr id="425" name="Google Shape;425;p28"/>
              <p:cNvSpPr/>
              <p:nvPr/>
            </p:nvSpPr>
            <p:spPr>
              <a:xfrm>
                <a:off x="0" y="0"/>
                <a:ext cx="5334000" cy="609600"/>
              </a:xfrm>
              <a:prstGeom prst="roundRect">
                <a:avLst>
                  <a:gd fmla="val 1562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171450" y="171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8"/>
              <p:cNvSpPr txBox="1"/>
              <p:nvPr/>
            </p:nvSpPr>
            <p:spPr>
              <a:xfrm>
                <a:off x="171450" y="1714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28"/>
              <p:cNvSpPr txBox="1"/>
              <p:nvPr/>
            </p:nvSpPr>
            <p:spPr>
              <a:xfrm>
                <a:off x="571500" y="0"/>
                <a:ext cx="4572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Is this event related to another event?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29" name="Google Shape;429;p28"/>
            <p:cNvGrpSpPr/>
            <p:nvPr/>
          </p:nvGrpSpPr>
          <p:grpSpPr>
            <a:xfrm>
              <a:off x="0" y="1409700"/>
              <a:ext cx="5334000" cy="609600"/>
              <a:chOff x="0" y="0"/>
              <a:chExt cx="5334000" cy="609600"/>
            </a:xfrm>
          </p:grpSpPr>
          <p:sp>
            <p:nvSpPr>
              <p:cNvPr id="430" name="Google Shape;430;p28"/>
              <p:cNvSpPr/>
              <p:nvPr/>
            </p:nvSpPr>
            <p:spPr>
              <a:xfrm>
                <a:off x="0" y="0"/>
                <a:ext cx="5334000" cy="609600"/>
              </a:xfrm>
              <a:prstGeom prst="roundRect">
                <a:avLst>
                  <a:gd fmla="val 1562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171450" y="171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8"/>
              <p:cNvSpPr txBox="1"/>
              <p:nvPr/>
            </p:nvSpPr>
            <p:spPr>
              <a:xfrm>
                <a:off x="171450" y="1714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3" name="Google Shape;433;p28"/>
              <p:cNvSpPr txBox="1"/>
              <p:nvPr/>
            </p:nvSpPr>
            <p:spPr>
              <a:xfrm>
                <a:off x="571500" y="0"/>
                <a:ext cx="4572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Is the notification urgent?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34" name="Google Shape;434;p28"/>
            <p:cNvGrpSpPr/>
            <p:nvPr/>
          </p:nvGrpSpPr>
          <p:grpSpPr>
            <a:xfrm>
              <a:off x="0" y="2114550"/>
              <a:ext cx="5334000" cy="609600"/>
              <a:chOff x="0" y="0"/>
              <a:chExt cx="5334000" cy="609600"/>
            </a:xfrm>
          </p:grpSpPr>
          <p:sp>
            <p:nvSpPr>
              <p:cNvPr id="435" name="Google Shape;435;p28"/>
              <p:cNvSpPr/>
              <p:nvPr/>
            </p:nvSpPr>
            <p:spPr>
              <a:xfrm>
                <a:off x="0" y="0"/>
                <a:ext cx="5334000" cy="609600"/>
              </a:xfrm>
              <a:prstGeom prst="roundRect">
                <a:avLst>
                  <a:gd fmla="val 1562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8"/>
              <p:cNvSpPr/>
              <p:nvPr/>
            </p:nvSpPr>
            <p:spPr>
              <a:xfrm>
                <a:off x="171450" y="171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8"/>
              <p:cNvSpPr txBox="1"/>
              <p:nvPr/>
            </p:nvSpPr>
            <p:spPr>
              <a:xfrm>
                <a:off x="171450" y="1714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28"/>
              <p:cNvSpPr txBox="1"/>
              <p:nvPr/>
            </p:nvSpPr>
            <p:spPr>
              <a:xfrm>
                <a:off x="571500" y="0"/>
                <a:ext cx="4572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Which channel is appropriate?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39" name="Google Shape;439;p28"/>
            <p:cNvGrpSpPr/>
            <p:nvPr/>
          </p:nvGrpSpPr>
          <p:grpSpPr>
            <a:xfrm>
              <a:off x="0" y="2819400"/>
              <a:ext cx="5334000" cy="609600"/>
              <a:chOff x="0" y="0"/>
              <a:chExt cx="5334000" cy="609600"/>
            </a:xfrm>
          </p:grpSpPr>
          <p:sp>
            <p:nvSpPr>
              <p:cNvPr id="440" name="Google Shape;440;p28"/>
              <p:cNvSpPr/>
              <p:nvPr/>
            </p:nvSpPr>
            <p:spPr>
              <a:xfrm>
                <a:off x="0" y="0"/>
                <a:ext cx="5334000" cy="609600"/>
              </a:xfrm>
              <a:prstGeom prst="roundRect">
                <a:avLst>
                  <a:gd fmla="val 1562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>
                <a:off x="171450" y="171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8"/>
              <p:cNvSpPr txBox="1"/>
              <p:nvPr/>
            </p:nvSpPr>
            <p:spPr>
              <a:xfrm>
                <a:off x="171450" y="1714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5</a:t>
                </a:r>
                <a:endPara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28"/>
              <p:cNvSpPr txBox="1"/>
              <p:nvPr/>
            </p:nvSpPr>
            <p:spPr>
              <a:xfrm>
                <a:off x="571500" y="0"/>
                <a:ext cx="4572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Should we send immediately, wait, or combine?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44" name="Google Shape;444;p28"/>
          <p:cNvGrpSpPr/>
          <p:nvPr/>
        </p:nvGrpSpPr>
        <p:grpSpPr>
          <a:xfrm>
            <a:off x="6286500" y="1714500"/>
            <a:ext cx="5334000" cy="4191000"/>
            <a:chOff x="0" y="0"/>
            <a:chExt cx="5334000" cy="4191000"/>
          </a:xfrm>
        </p:grpSpPr>
        <p:sp>
          <p:nvSpPr>
            <p:cNvPr id="445" name="Google Shape;445;p28"/>
            <p:cNvSpPr/>
            <p:nvPr/>
          </p:nvSpPr>
          <p:spPr>
            <a:xfrm>
              <a:off x="0" y="0"/>
              <a:ext cx="5334000" cy="4191000"/>
            </a:xfrm>
            <a:prstGeom prst="roundRect">
              <a:avLst>
                <a:gd fmla="val 363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0" y="0"/>
              <a:ext cx="57300" cy="419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8"/>
            <p:cNvSpPr txBox="1"/>
            <p:nvPr/>
          </p:nvSpPr>
          <p:spPr>
            <a:xfrm>
              <a:off x="457200" y="457200"/>
              <a:ext cx="441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20">
                  <a:solidFill>
                    <a:srgbClr val="3B82F6"/>
                  </a:solidFill>
                  <a:latin typeface="Georgia"/>
                  <a:ea typeface="Georgia"/>
                  <a:cs typeface="Georgia"/>
                  <a:sym typeface="Georgia"/>
                </a:rPr>
                <a:t>“</a:t>
              </a:r>
              <a:endParaRPr b="1" sz="3720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48" name="Google Shape;448;p28"/>
            <p:cNvSpPr txBox="1"/>
            <p:nvPr/>
          </p:nvSpPr>
          <p:spPr>
            <a:xfrm>
              <a:off x="457200" y="952500"/>
              <a:ext cx="44196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Subscription tells us what the customer wants to receive.</a:t>
              </a:r>
              <a:endParaRPr b="0" sz="20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563EB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Autonomous orchestration decides how to deliver it intelligently.</a:t>
              </a:r>
              <a:endParaRPr b="0" sz="2000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sp>
          <p:nvSpPr>
            <p:cNvPr id="449" name="Google Shape;449;p28"/>
            <p:cNvSpPr txBox="1"/>
            <p:nvPr/>
          </p:nvSpPr>
          <p:spPr>
            <a:xfrm>
              <a:off x="457200" y="3390900"/>
              <a:ext cx="4419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— Core Orchestration Principle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8745"/>
            <a:ext cx="3555950" cy="116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108745"/>
            <a:ext cx="3555950" cy="116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08745"/>
            <a:ext cx="3556099" cy="116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66951"/>
            <a:ext cx="3555950" cy="116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3466951"/>
            <a:ext cx="3555950" cy="116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3466951"/>
            <a:ext cx="3556099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9"/>
          <p:cNvSpPr txBox="1"/>
          <p:nvPr/>
        </p:nvSpPr>
        <p:spPr>
          <a:xfrm>
            <a:off x="571500" y="14573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Every Notification Gets an Intelligent Decision</a:t>
            </a:r>
            <a:endParaRPr/>
          </a:p>
        </p:txBody>
      </p:sp>
      <p:pic>
        <p:nvPicPr>
          <p:cNvPr descr="image.png" id="462" name="Google Shape;462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06500" y="2356395"/>
            <a:ext cx="6858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 txBox="1"/>
          <p:nvPr/>
        </p:nvSpPr>
        <p:spPr>
          <a:xfrm>
            <a:off x="1620738" y="2785020"/>
            <a:ext cx="14573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 immediately.</a:t>
            </a:r>
            <a:endParaRPr/>
          </a:p>
        </p:txBody>
      </p:sp>
      <p:pic>
        <p:nvPicPr>
          <p:cNvPr descr="image.png" id="464" name="Google Shape;464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07707" y="2356395"/>
            <a:ext cx="77628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 txBox="1"/>
          <p:nvPr/>
        </p:nvSpPr>
        <p:spPr>
          <a:xfrm>
            <a:off x="5171926" y="2785020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Wait for a better moment.</a:t>
            </a:r>
            <a:endParaRPr/>
          </a:p>
        </p:txBody>
      </p:sp>
      <p:pic>
        <p:nvPicPr>
          <p:cNvPr descr="image.png" id="466" name="Google Shape;466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09050" y="2356395"/>
            <a:ext cx="10668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9"/>
          <p:cNvSpPr txBox="1"/>
          <p:nvPr/>
        </p:nvSpPr>
        <p:spPr>
          <a:xfrm>
            <a:off x="8656587" y="2785020"/>
            <a:ext cx="23717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Avoid redundant communication.</a:t>
            </a:r>
            <a:endParaRPr/>
          </a:p>
        </p:txBody>
      </p:sp>
      <p:pic>
        <p:nvPicPr>
          <p:cNvPr descr="image.png" id="468" name="Google Shape;468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42207" y="3714601"/>
            <a:ext cx="81438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1473100" y="4143226"/>
            <a:ext cx="1752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Combine related events.</a:t>
            </a:r>
            <a:endParaRPr/>
          </a:p>
        </p:txBody>
      </p:sp>
      <p:pic>
        <p:nvPicPr>
          <p:cNvPr descr="image.png" id="470" name="Google Shape;470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98182" y="3714601"/>
            <a:ext cx="79533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9"/>
          <p:cNvSpPr txBox="1"/>
          <p:nvPr/>
        </p:nvSpPr>
        <p:spPr>
          <a:xfrm>
            <a:off x="5052863" y="4143226"/>
            <a:ext cx="2085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Choose appropriate channel.</a:t>
            </a:r>
            <a:endParaRPr/>
          </a:p>
        </p:txBody>
      </p:sp>
      <p:pic>
        <p:nvPicPr>
          <p:cNvPr descr="image.png" id="472" name="Google Shape;472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182844" y="3566963"/>
            <a:ext cx="13192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9"/>
          <p:cNvSpPr txBox="1"/>
          <p:nvPr/>
        </p:nvSpPr>
        <p:spPr>
          <a:xfrm>
            <a:off x="8689913" y="3990826"/>
            <a:ext cx="2305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Suggest additional subscription.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Decision Engine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9" name="Google Shape;4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787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4787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019425"/>
            <a:ext cx="1286172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571875"/>
            <a:ext cx="10287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4143375"/>
            <a:ext cx="1400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0"/>
          <p:cNvSpPr txBox="1"/>
          <p:nvPr/>
        </p:nvSpPr>
        <p:spPr>
          <a:xfrm>
            <a:off x="571500" y="1457325"/>
            <a:ext cx="672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Issue: The same event is received multiple times (e.g., PAYMENT_DUE x3)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962025" y="246697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Platform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962025" y="6038850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Result: Notification Noise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6772275" y="246697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Platform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6772275" y="6038850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Outcome: Less Notification Noise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962025" y="3114675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Request 1 →</a:t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962025" y="3467100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 txBox="1"/>
          <p:nvPr/>
        </p:nvSpPr>
        <p:spPr>
          <a:xfrm>
            <a:off x="962025" y="361950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Request 2 →</a:t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962025" y="3971925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 txBox="1"/>
          <p:nvPr/>
        </p:nvSpPr>
        <p:spPr>
          <a:xfrm>
            <a:off x="962025" y="412432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Request 3 →</a:t>
            </a:r>
            <a:endParaRPr/>
          </a:p>
        </p:txBody>
      </p:sp>
      <p:sp>
        <p:nvSpPr>
          <p:cNvPr id="495" name="Google Shape;495;p30"/>
          <p:cNvSpPr txBox="1"/>
          <p:nvPr/>
        </p:nvSpPr>
        <p:spPr>
          <a:xfrm>
            <a:off x="6962775" y="3333750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6962775" y="3905250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97" name="Google Shape;497;p30"/>
          <p:cNvSpPr txBox="1"/>
          <p:nvPr/>
        </p:nvSpPr>
        <p:spPr>
          <a:xfrm>
            <a:off x="6962775" y="4476750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pic>
        <p:nvPicPr>
          <p:cNvPr descr="image.png" id="498" name="Google Shape;49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4762500"/>
            <a:ext cx="9715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4258" y="3114675"/>
            <a:ext cx="628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4258" y="3619500"/>
            <a:ext cx="628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4258" y="4124325"/>
            <a:ext cx="628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 1: Autonomous Suppression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7" name="Google Shape;5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787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4787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114675"/>
            <a:ext cx="4457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752850"/>
            <a:ext cx="4457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391025"/>
            <a:ext cx="4457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895725"/>
            <a:ext cx="44577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4781550"/>
            <a:ext cx="4457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1"/>
          <p:cNvSpPr txBox="1"/>
          <p:nvPr/>
        </p:nvSpPr>
        <p:spPr>
          <a:xfrm>
            <a:off x="571500" y="1457325"/>
            <a:ext cx="820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Issue: Notification Storm (Payment Due + Processed + Balance Updated)</a:t>
            </a:r>
            <a:endParaRPr/>
          </a:p>
        </p:txBody>
      </p:sp>
      <p:sp>
        <p:nvSpPr>
          <p:cNvPr id="516" name="Google Shape;516;p31"/>
          <p:cNvSpPr txBox="1"/>
          <p:nvPr/>
        </p:nvSpPr>
        <p:spPr>
          <a:xfrm>
            <a:off x="962025" y="246697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Approach</a:t>
            </a:r>
            <a:endParaRPr/>
          </a:p>
        </p:txBody>
      </p:sp>
      <p:sp>
        <p:nvSpPr>
          <p:cNvPr id="517" name="Google Shape;517;p31"/>
          <p:cNvSpPr txBox="1"/>
          <p:nvPr/>
        </p:nvSpPr>
        <p:spPr>
          <a:xfrm>
            <a:off x="962025" y="6038850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Result: 3 separate, fragmented notifications</a:t>
            </a:r>
            <a:endParaRPr/>
          </a:p>
        </p:txBody>
      </p:sp>
      <p:sp>
        <p:nvSpPr>
          <p:cNvPr id="518" name="Google Shape;518;p31"/>
          <p:cNvSpPr txBox="1"/>
          <p:nvPr/>
        </p:nvSpPr>
        <p:spPr>
          <a:xfrm>
            <a:off x="6772275" y="246697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Approach</a:t>
            </a:r>
            <a:endParaRPr/>
          </a:p>
        </p:txBody>
      </p:sp>
      <p:sp>
        <p:nvSpPr>
          <p:cNvPr id="519" name="Google Shape;519;p31"/>
          <p:cNvSpPr txBox="1"/>
          <p:nvPr/>
        </p:nvSpPr>
        <p:spPr>
          <a:xfrm>
            <a:off x="6772275" y="6038850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Outcome: Fewer Messages. Better Experience.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8920162" y="3571875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521" name="Google Shape;521;p31"/>
          <p:cNvSpPr txBox="1"/>
          <p:nvPr/>
        </p:nvSpPr>
        <p:spPr>
          <a:xfrm>
            <a:off x="8920162" y="445770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522" name="Google Shape;522;p31"/>
          <p:cNvSpPr txBox="1"/>
          <p:nvPr/>
        </p:nvSpPr>
        <p:spPr>
          <a:xfrm>
            <a:off x="1114425" y="3267075"/>
            <a:ext cx="11203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1. Credit Card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4314825" y="326707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Payment Due</a:t>
            </a:r>
            <a:endParaRPr/>
          </a:p>
        </p:txBody>
      </p:sp>
      <p:sp>
        <p:nvSpPr>
          <p:cNvPr id="524" name="Google Shape;524;p31"/>
          <p:cNvSpPr txBox="1"/>
          <p:nvPr/>
        </p:nvSpPr>
        <p:spPr>
          <a:xfrm>
            <a:off x="1114425" y="3905250"/>
            <a:ext cx="11203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2. Payment Sys</a:t>
            </a:r>
            <a:endParaRPr/>
          </a:p>
        </p:txBody>
      </p:sp>
      <p:sp>
        <p:nvSpPr>
          <p:cNvPr id="525" name="Google Shape;525;p31"/>
          <p:cNvSpPr txBox="1"/>
          <p:nvPr/>
        </p:nvSpPr>
        <p:spPr>
          <a:xfrm>
            <a:off x="3848100" y="3905250"/>
            <a:ext cx="141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Payment Processed</a:t>
            </a:r>
            <a:endParaRPr/>
          </a:p>
        </p:txBody>
      </p:sp>
      <p:sp>
        <p:nvSpPr>
          <p:cNvPr id="526" name="Google Shape;526;p31"/>
          <p:cNvSpPr txBox="1"/>
          <p:nvPr/>
        </p:nvSpPr>
        <p:spPr>
          <a:xfrm>
            <a:off x="1114425" y="4543425"/>
            <a:ext cx="11203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 Account Sys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4038600" y="4543425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Balance Updated</a:t>
            </a:r>
            <a:endParaRPr/>
          </a:p>
        </p:txBody>
      </p:sp>
      <p:pic>
        <p:nvPicPr>
          <p:cNvPr descr="image.png" id="528" name="Google Shape;528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114675"/>
            <a:ext cx="14223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9875" y="3114675"/>
            <a:ext cx="14223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07475" y="3114675"/>
            <a:ext cx="14223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13143" y="4000500"/>
            <a:ext cx="728662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 2: Intelligent Consolidation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7" name="Google Shape;5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2"/>
          <p:cNvSpPr txBox="1"/>
          <p:nvPr/>
        </p:nvSpPr>
        <p:spPr>
          <a:xfrm>
            <a:off x="571500" y="476250"/>
            <a:ext cx="11049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Scenario 3: Channel Intelligence</a:t>
            </a:r>
            <a:endParaRPr b="0" sz="28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539" name="Google Shape;539;p32"/>
          <p:cNvSpPr txBox="1"/>
          <p:nvPr/>
        </p:nvSpPr>
        <p:spPr>
          <a:xfrm>
            <a:off x="571500" y="1047750"/>
            <a:ext cx="6477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Best Channel Is Not Always the Requested Channel</a:t>
            </a:r>
            <a:endParaRPr b="1" sz="1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Example: Payment Alerts context demonstrates higher user responsiveness via Push notifications over traditional Email.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0" name="Google Shape;540;p32"/>
          <p:cNvGrpSpPr/>
          <p:nvPr/>
        </p:nvGrpSpPr>
        <p:grpSpPr>
          <a:xfrm>
            <a:off x="7334250" y="1047750"/>
            <a:ext cx="1905000" cy="714300"/>
            <a:chOff x="0" y="0"/>
            <a:chExt cx="1905000" cy="714300"/>
          </a:xfrm>
        </p:grpSpPr>
        <p:sp>
          <p:nvSpPr>
            <p:cNvPr id="541" name="Google Shape;541;p32"/>
            <p:cNvSpPr/>
            <p:nvPr/>
          </p:nvSpPr>
          <p:spPr>
            <a:xfrm>
              <a:off x="0" y="0"/>
              <a:ext cx="1905000" cy="714300"/>
            </a:xfrm>
            <a:prstGeom prst="roundRect">
              <a:avLst>
                <a:gd fmla="val 16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2"/>
            <p:cNvSpPr txBox="1"/>
            <p:nvPr/>
          </p:nvSpPr>
          <p:spPr>
            <a:xfrm>
              <a:off x="0" y="0"/>
              <a:ext cx="1905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Email Engagement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475569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72%</a:t>
              </a:r>
              <a:endParaRPr b="0" sz="2200">
                <a:solidFill>
                  <a:srgbClr val="47556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543" name="Google Shape;543;p32"/>
          <p:cNvGrpSpPr/>
          <p:nvPr/>
        </p:nvGrpSpPr>
        <p:grpSpPr>
          <a:xfrm>
            <a:off x="9429750" y="1047750"/>
            <a:ext cx="2190900" cy="714300"/>
            <a:chOff x="0" y="0"/>
            <a:chExt cx="2190900" cy="714300"/>
          </a:xfrm>
        </p:grpSpPr>
        <p:sp>
          <p:nvSpPr>
            <p:cNvPr id="544" name="Google Shape;544;p32"/>
            <p:cNvSpPr/>
            <p:nvPr/>
          </p:nvSpPr>
          <p:spPr>
            <a:xfrm>
              <a:off x="0" y="0"/>
              <a:ext cx="2190900" cy="714300"/>
            </a:xfrm>
            <a:prstGeom prst="roundRect">
              <a:avLst>
                <a:gd fmla="val 16000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2"/>
            <p:cNvSpPr txBox="1"/>
            <p:nvPr/>
          </p:nvSpPr>
          <p:spPr>
            <a:xfrm>
              <a:off x="0" y="0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Push Engagement (Optimal)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D4ED8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94%</a:t>
              </a:r>
              <a:endParaRPr b="0" sz="2200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546" name="Google Shape;546;p32"/>
          <p:cNvGrpSpPr/>
          <p:nvPr/>
        </p:nvGrpSpPr>
        <p:grpSpPr>
          <a:xfrm>
            <a:off x="571500" y="2047875"/>
            <a:ext cx="5334000" cy="3048000"/>
            <a:chOff x="0" y="0"/>
            <a:chExt cx="5334000" cy="3048000"/>
          </a:xfrm>
        </p:grpSpPr>
        <p:sp>
          <p:nvSpPr>
            <p:cNvPr id="547" name="Google Shape;547;p32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2"/>
            <p:cNvSpPr/>
            <p:nvPr/>
          </p:nvSpPr>
          <p:spPr>
            <a:xfrm>
              <a:off x="0" y="0"/>
              <a:ext cx="5334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2"/>
            <p:cNvSpPr txBox="1"/>
            <p:nvPr/>
          </p:nvSpPr>
          <p:spPr>
            <a:xfrm>
              <a:off x="266700" y="228600"/>
              <a:ext cx="4800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Standard Routing Logic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Standard Event (e.g., Payment)</a:t>
              </a:r>
              <a:endParaRPr b="1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50" name="Google Shape;550;p32"/>
            <p:cNvGrpSpPr/>
            <p:nvPr/>
          </p:nvGrpSpPr>
          <p:grpSpPr>
            <a:xfrm>
              <a:off x="266700" y="1000125"/>
              <a:ext cx="4476900" cy="571500"/>
              <a:chOff x="0" y="0"/>
              <a:chExt cx="4476900" cy="571500"/>
            </a:xfrm>
          </p:grpSpPr>
          <p:sp>
            <p:nvSpPr>
              <p:cNvPr id="551" name="Google Shape;551;p32"/>
              <p:cNvSpPr/>
              <p:nvPr/>
            </p:nvSpPr>
            <p:spPr>
              <a:xfrm>
                <a:off x="0" y="0"/>
                <a:ext cx="12384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32"/>
              <p:cNvSpPr txBox="1"/>
              <p:nvPr/>
            </p:nvSpPr>
            <p:spPr>
              <a:xfrm>
                <a:off x="0" y="0"/>
                <a:ext cx="1238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Engagement</a:t>
                </a:r>
                <a:endParaRPr b="0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53" name="Google Shape;553;p32"/>
              <p:cNvSpPr txBox="1"/>
              <p:nvPr/>
            </p:nvSpPr>
            <p:spPr>
              <a:xfrm>
                <a:off x="128587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</a:rPr>
                  <a:t>→</a:t>
                </a:r>
                <a:endParaRPr sz="1400">
                  <a:solidFill>
                    <a:srgbClr val="94A3B8"/>
                  </a:solidFill>
                </a:endParaRPr>
              </a:p>
            </p:txBody>
          </p:sp>
          <p:sp>
            <p:nvSpPr>
              <p:cNvPr id="554" name="Google Shape;554;p32"/>
              <p:cNvSpPr/>
              <p:nvPr/>
            </p:nvSpPr>
            <p:spPr>
              <a:xfrm>
                <a:off x="1619250" y="0"/>
                <a:ext cx="12384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2"/>
              <p:cNvSpPr txBox="1"/>
              <p:nvPr/>
            </p:nvSpPr>
            <p:spPr>
              <a:xfrm>
                <a:off x="1619250" y="0"/>
                <a:ext cx="1238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Priority</a:t>
                </a:r>
                <a:endParaRPr b="0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56" name="Google Shape;556;p32"/>
              <p:cNvSpPr txBox="1"/>
              <p:nvPr/>
            </p:nvSpPr>
            <p:spPr>
              <a:xfrm>
                <a:off x="29051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</a:rPr>
                  <a:t>→</a:t>
                </a:r>
                <a:endParaRPr sz="1400">
                  <a:solidFill>
                    <a:srgbClr val="94A3B8"/>
                  </a:solidFill>
                </a:endParaRPr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3238500" y="0"/>
                <a:ext cx="12384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2"/>
              <p:cNvSpPr txBox="1"/>
              <p:nvPr/>
            </p:nvSpPr>
            <p:spPr>
              <a:xfrm>
                <a:off x="3238500" y="0"/>
                <a:ext cx="1238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Decision</a:t>
                </a:r>
                <a:endParaRPr b="0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59" name="Google Shape;559;p32"/>
            <p:cNvGrpSpPr/>
            <p:nvPr/>
          </p:nvGrpSpPr>
          <p:grpSpPr>
            <a:xfrm>
              <a:off x="266700" y="1952625"/>
              <a:ext cx="4800600" cy="762000"/>
              <a:chOff x="0" y="0"/>
              <a:chExt cx="4800600" cy="762000"/>
            </a:xfrm>
          </p:grpSpPr>
          <p:sp>
            <p:nvSpPr>
              <p:cNvPr id="560" name="Google Shape;560;p32"/>
              <p:cNvSpPr/>
              <p:nvPr/>
            </p:nvSpPr>
            <p:spPr>
              <a:xfrm>
                <a:off x="0" y="0"/>
                <a:ext cx="48006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2"/>
              <p:cNvSpPr txBox="1"/>
              <p:nvPr/>
            </p:nvSpPr>
            <p:spPr>
              <a:xfrm>
                <a:off x="190500" y="0"/>
                <a:ext cx="4419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1E40A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Selected Output Channel</a:t>
                </a:r>
                <a:endParaRPr b="0" sz="1000">
                  <a:solidFill>
                    <a:srgbClr val="1E40A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D4ED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PUSH</a:t>
                </a:r>
                <a:endParaRPr b="0" sz="1800">
                  <a:solidFill>
                    <a:srgbClr val="1D4ED8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</p:grpSp>
      <p:grpSp>
        <p:nvGrpSpPr>
          <p:cNvPr id="562" name="Google Shape;562;p32"/>
          <p:cNvGrpSpPr/>
          <p:nvPr/>
        </p:nvGrpSpPr>
        <p:grpSpPr>
          <a:xfrm>
            <a:off x="6286500" y="2047875"/>
            <a:ext cx="5334000" cy="3048000"/>
            <a:chOff x="0" y="0"/>
            <a:chExt cx="5334000" cy="3048000"/>
          </a:xfrm>
        </p:grpSpPr>
        <p:sp>
          <p:nvSpPr>
            <p:cNvPr id="563" name="Google Shape;563;p32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0" y="0"/>
              <a:ext cx="53340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2"/>
            <p:cNvSpPr txBox="1"/>
            <p:nvPr/>
          </p:nvSpPr>
          <p:spPr>
            <a:xfrm>
              <a:off x="266700" y="228600"/>
              <a:ext cx="4800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Policy Override Logic</a:t>
              </a:r>
              <a:endParaRPr b="1" sz="10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91B1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Critical Event (e.g., Security)</a:t>
              </a:r>
              <a:endParaRPr b="1" sz="160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66" name="Google Shape;566;p32"/>
            <p:cNvGrpSpPr/>
            <p:nvPr/>
          </p:nvGrpSpPr>
          <p:grpSpPr>
            <a:xfrm>
              <a:off x="266700" y="1000125"/>
              <a:ext cx="4476600" cy="571500"/>
              <a:chOff x="0" y="0"/>
              <a:chExt cx="4476600" cy="571500"/>
            </a:xfrm>
          </p:grpSpPr>
          <p:sp>
            <p:nvSpPr>
              <p:cNvPr id="567" name="Google Shape;567;p32"/>
              <p:cNvSpPr/>
              <p:nvPr/>
            </p:nvSpPr>
            <p:spPr>
              <a:xfrm>
                <a:off x="0" y="0"/>
                <a:ext cx="19050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ECAC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2"/>
              <p:cNvSpPr txBox="1"/>
              <p:nvPr/>
            </p:nvSpPr>
            <p:spPr>
              <a:xfrm>
                <a:off x="0" y="0"/>
                <a:ext cx="190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7F1D1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 Priority</a:t>
                </a:r>
                <a:endParaRPr b="0" sz="1100">
                  <a:solidFill>
                    <a:srgbClr val="7F1D1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69" name="Google Shape;569;p32"/>
              <p:cNvSpPr txBox="1"/>
              <p:nvPr/>
            </p:nvSpPr>
            <p:spPr>
              <a:xfrm>
                <a:off x="2019300" y="142875"/>
                <a:ext cx="381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87171"/>
                    </a:solidFill>
                  </a:rPr>
                  <a:t>→</a:t>
                </a:r>
                <a:endParaRPr sz="1400">
                  <a:solidFill>
                    <a:srgbClr val="F87171"/>
                  </a:solidFill>
                </a:endParaRPr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2476500" y="0"/>
                <a:ext cx="20001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ECAC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32"/>
              <p:cNvSpPr txBox="1"/>
              <p:nvPr/>
            </p:nvSpPr>
            <p:spPr>
              <a:xfrm>
                <a:off x="2476500" y="0"/>
                <a:ext cx="2000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7F1D1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Policy Engine</a:t>
                </a:r>
                <a:endParaRPr b="0" sz="1100">
                  <a:solidFill>
                    <a:srgbClr val="7F1D1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72" name="Google Shape;572;p32"/>
            <p:cNvGrpSpPr/>
            <p:nvPr/>
          </p:nvGrpSpPr>
          <p:grpSpPr>
            <a:xfrm>
              <a:off x="266700" y="1952625"/>
              <a:ext cx="4800600" cy="762000"/>
              <a:chOff x="0" y="0"/>
              <a:chExt cx="4800600" cy="762000"/>
            </a:xfrm>
          </p:grpSpPr>
          <p:sp>
            <p:nvSpPr>
              <p:cNvPr id="573" name="Google Shape;573;p32"/>
              <p:cNvSpPr/>
              <p:nvPr/>
            </p:nvSpPr>
            <p:spPr>
              <a:xfrm>
                <a:off x="0" y="0"/>
                <a:ext cx="48006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32"/>
              <p:cNvSpPr txBox="1"/>
              <p:nvPr/>
            </p:nvSpPr>
            <p:spPr>
              <a:xfrm>
                <a:off x="190500" y="0"/>
                <a:ext cx="4419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Selected Output Channels</a:t>
                </a:r>
                <a:endParaRPr b="0" sz="10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DC262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PUSH + EMAIL / SMS</a:t>
                </a:r>
                <a:endParaRPr b="0" sz="1800">
                  <a:solidFill>
                    <a:srgbClr val="DC2626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</p:grpSp>
      <p:grpSp>
        <p:nvGrpSpPr>
          <p:cNvPr id="575" name="Google Shape;575;p32"/>
          <p:cNvGrpSpPr/>
          <p:nvPr/>
        </p:nvGrpSpPr>
        <p:grpSpPr>
          <a:xfrm>
            <a:off x="571500" y="5381625"/>
            <a:ext cx="11049000" cy="857400"/>
            <a:chOff x="0" y="0"/>
            <a:chExt cx="11049000" cy="857400"/>
          </a:xfrm>
        </p:grpSpPr>
        <p:sp>
          <p:nvSpPr>
            <p:cNvPr id="576" name="Google Shape;576;p32"/>
            <p:cNvSpPr/>
            <p:nvPr/>
          </p:nvSpPr>
          <p:spPr>
            <a:xfrm>
              <a:off x="0" y="0"/>
              <a:ext cx="11049000" cy="8574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0" y="0"/>
              <a:ext cx="76200" cy="8574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2"/>
            <p:cNvSpPr txBox="1"/>
            <p:nvPr/>
          </p:nvSpPr>
          <p:spPr>
            <a:xfrm>
              <a:off x="266700" y="0"/>
              <a:ext cx="10515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Important: Business rules always govern the AI decision.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While engagement data optimizes routine notifications, explicit policy controls guarantee multi-channel delivery for essential events.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3" name="Google Shape;5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3"/>
          <p:cNvSpPr txBox="1"/>
          <p:nvPr/>
        </p:nvSpPr>
        <p:spPr>
          <a:xfrm>
            <a:off x="571500" y="476250"/>
            <a:ext cx="11049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Role of LangGraph</a:t>
            </a:r>
            <a:endParaRPr b="0" sz="30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585" name="Google Shape;585;p33"/>
          <p:cNvGrpSpPr/>
          <p:nvPr/>
        </p:nvGrpSpPr>
        <p:grpSpPr>
          <a:xfrm>
            <a:off x="571500" y="1285875"/>
            <a:ext cx="5334000" cy="5000700"/>
            <a:chOff x="0" y="0"/>
            <a:chExt cx="5334000" cy="5000700"/>
          </a:xfrm>
        </p:grpSpPr>
        <p:sp>
          <p:nvSpPr>
            <p:cNvPr id="586" name="Google Shape;586;p33"/>
            <p:cNvSpPr/>
            <p:nvPr/>
          </p:nvSpPr>
          <p:spPr>
            <a:xfrm>
              <a:off x="0" y="0"/>
              <a:ext cx="5334000" cy="5000700"/>
            </a:xfrm>
            <a:prstGeom prst="roundRect">
              <a:avLst>
                <a:gd fmla="val 304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0" y="0"/>
              <a:ext cx="53340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3"/>
            <p:cNvSpPr txBox="1"/>
            <p:nvPr/>
          </p:nvSpPr>
          <p:spPr>
            <a:xfrm>
              <a:off x="266700" y="228600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91B1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LangGraph is NOT</a:t>
              </a:r>
              <a:endParaRPr b="1" sz="180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89" name="Google Shape;589;p33"/>
            <p:cNvGrpSpPr/>
            <p:nvPr/>
          </p:nvGrpSpPr>
          <p:grpSpPr>
            <a:xfrm>
              <a:off x="266700" y="762000"/>
              <a:ext cx="4800600" cy="838200"/>
              <a:chOff x="0" y="0"/>
              <a:chExt cx="4800600" cy="838200"/>
            </a:xfrm>
          </p:grpSpPr>
          <p:sp>
            <p:nvSpPr>
              <p:cNvPr id="590" name="Google Shape;590;p33"/>
              <p:cNvSpPr/>
              <p:nvPr/>
            </p:nvSpPr>
            <p:spPr>
              <a:xfrm>
                <a:off x="0" y="0"/>
                <a:ext cx="48006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3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3"/>
              <p:cNvSpPr txBox="1"/>
              <p:nvPr/>
            </p:nvSpPr>
            <p:spPr>
              <a:xfrm>
                <a:off x="266700" y="285750"/>
                <a:ext cx="228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✕</a:t>
                </a:r>
                <a:endParaRPr b="1" sz="14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33"/>
              <p:cNvSpPr txBox="1"/>
              <p:nvPr/>
            </p:nvSpPr>
            <p:spPr>
              <a:xfrm>
                <a:off x="685800" y="0"/>
                <a:ext cx="39243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email delivery engine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94" name="Google Shape;594;p33"/>
            <p:cNvGrpSpPr/>
            <p:nvPr/>
          </p:nvGrpSpPr>
          <p:grpSpPr>
            <a:xfrm>
              <a:off x="266700" y="1752600"/>
              <a:ext cx="4800600" cy="838200"/>
              <a:chOff x="0" y="0"/>
              <a:chExt cx="4800600" cy="838200"/>
            </a:xfrm>
          </p:grpSpPr>
          <p:sp>
            <p:nvSpPr>
              <p:cNvPr id="595" name="Google Shape;595;p33"/>
              <p:cNvSpPr/>
              <p:nvPr/>
            </p:nvSpPr>
            <p:spPr>
              <a:xfrm>
                <a:off x="0" y="0"/>
                <a:ext cx="48006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3"/>
              <p:cNvSpPr txBox="1"/>
              <p:nvPr/>
            </p:nvSpPr>
            <p:spPr>
              <a:xfrm>
                <a:off x="266700" y="285750"/>
                <a:ext cx="228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✕</a:t>
                </a:r>
                <a:endParaRPr b="1" sz="14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8" name="Google Shape;598;p33"/>
              <p:cNvSpPr txBox="1"/>
              <p:nvPr/>
            </p:nvSpPr>
            <p:spPr>
              <a:xfrm>
                <a:off x="685800" y="0"/>
                <a:ext cx="39243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Kafka / Event Bus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99" name="Google Shape;599;p33"/>
            <p:cNvGrpSpPr/>
            <p:nvPr/>
          </p:nvGrpSpPr>
          <p:grpSpPr>
            <a:xfrm>
              <a:off x="266700" y="2743200"/>
              <a:ext cx="4800600" cy="838200"/>
              <a:chOff x="0" y="0"/>
              <a:chExt cx="4800600" cy="838200"/>
            </a:xfrm>
          </p:grpSpPr>
          <p:sp>
            <p:nvSpPr>
              <p:cNvPr id="600" name="Google Shape;600;p33"/>
              <p:cNvSpPr/>
              <p:nvPr/>
            </p:nvSpPr>
            <p:spPr>
              <a:xfrm>
                <a:off x="0" y="0"/>
                <a:ext cx="48006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3"/>
              <p:cNvSpPr txBox="1"/>
              <p:nvPr/>
            </p:nvSpPr>
            <p:spPr>
              <a:xfrm>
                <a:off x="266700" y="285750"/>
                <a:ext cx="228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✕</a:t>
                </a:r>
                <a:endParaRPr b="1" sz="14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3" name="Google Shape;603;p33"/>
              <p:cNvSpPr txBox="1"/>
              <p:nvPr/>
            </p:nvSpPr>
            <p:spPr>
              <a:xfrm>
                <a:off x="685800" y="0"/>
                <a:ext cx="39243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ML model itself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04" name="Google Shape;604;p33"/>
            <p:cNvGrpSpPr/>
            <p:nvPr/>
          </p:nvGrpSpPr>
          <p:grpSpPr>
            <a:xfrm>
              <a:off x="266700" y="3733800"/>
              <a:ext cx="4800600" cy="838200"/>
              <a:chOff x="0" y="0"/>
              <a:chExt cx="4800600" cy="838200"/>
            </a:xfrm>
          </p:grpSpPr>
          <p:sp>
            <p:nvSpPr>
              <p:cNvPr id="605" name="Google Shape;605;p33"/>
              <p:cNvSpPr/>
              <p:nvPr/>
            </p:nvSpPr>
            <p:spPr>
              <a:xfrm>
                <a:off x="0" y="0"/>
                <a:ext cx="48006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3"/>
              <p:cNvSpPr txBox="1"/>
              <p:nvPr/>
            </p:nvSpPr>
            <p:spPr>
              <a:xfrm>
                <a:off x="266700" y="285750"/>
                <a:ext cx="228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✕</a:t>
                </a:r>
                <a:endParaRPr b="1" sz="14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33"/>
              <p:cNvSpPr txBox="1"/>
              <p:nvPr/>
            </p:nvSpPr>
            <p:spPr>
              <a:xfrm>
                <a:off x="685800" y="0"/>
                <a:ext cx="39243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deterministic rules engine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609" name="Google Shape;609;p33"/>
          <p:cNvGrpSpPr/>
          <p:nvPr/>
        </p:nvGrpSpPr>
        <p:grpSpPr>
          <a:xfrm>
            <a:off x="6286500" y="1285875"/>
            <a:ext cx="5334000" cy="5000700"/>
            <a:chOff x="0" y="0"/>
            <a:chExt cx="5334000" cy="5000700"/>
          </a:xfrm>
        </p:grpSpPr>
        <p:sp>
          <p:nvSpPr>
            <p:cNvPr id="610" name="Google Shape;610;p33"/>
            <p:cNvSpPr/>
            <p:nvPr/>
          </p:nvSpPr>
          <p:spPr>
            <a:xfrm>
              <a:off x="0" y="0"/>
              <a:ext cx="5334000" cy="5000700"/>
            </a:xfrm>
            <a:prstGeom prst="roundRect">
              <a:avLst>
                <a:gd fmla="val 3047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0" y="0"/>
              <a:ext cx="5334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3"/>
            <p:cNvSpPr txBox="1"/>
            <p:nvPr/>
          </p:nvSpPr>
          <p:spPr>
            <a:xfrm>
              <a:off x="266700" y="228600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LangGraph IS</a:t>
              </a:r>
              <a:endParaRPr b="1" sz="180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613" name="Google Shape;613;p33"/>
            <p:cNvGrpSpPr/>
            <p:nvPr/>
          </p:nvGrpSpPr>
          <p:grpSpPr>
            <a:xfrm>
              <a:off x="266700" y="762000"/>
              <a:ext cx="4800600" cy="952500"/>
              <a:chOff x="0" y="0"/>
              <a:chExt cx="4800600" cy="952500"/>
            </a:xfrm>
          </p:grpSpPr>
          <p:sp>
            <p:nvSpPr>
              <p:cNvPr id="614" name="Google Shape;614;p33"/>
              <p:cNvSpPr/>
              <p:nvPr/>
            </p:nvSpPr>
            <p:spPr>
              <a:xfrm>
                <a:off x="0" y="0"/>
                <a:ext cx="48006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DBEA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3"/>
              <p:cNvSpPr txBox="1"/>
              <p:nvPr/>
            </p:nvSpPr>
            <p:spPr>
              <a:xfrm>
                <a:off x="190500" y="152400"/>
                <a:ext cx="4419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ROLE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THE AI WORKFLOW ORCHESTRATOR</a:t>
                </a:r>
                <a:endParaRPr b="0" sz="16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sp>
          <p:nvSpPr>
            <p:cNvPr id="616" name="Google Shape;616;p33"/>
            <p:cNvSpPr txBox="1"/>
            <p:nvPr/>
          </p:nvSpPr>
          <p:spPr>
            <a:xfrm>
              <a:off x="266700" y="1905000"/>
              <a:ext cx="480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It coordinates the stateful decision journey:</a:t>
              </a:r>
              <a:endParaRPr b="0" sz="12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266700" y="2286000"/>
              <a:ext cx="48006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18" name="Google Shape;618;p33"/>
          <p:cNvPicPr preferRelativeResize="0"/>
          <p:nvPr/>
        </p:nvPicPr>
        <p:blipFill rotWithShape="1">
          <a:blip r:embed="rId4">
            <a:alphaModFix/>
          </a:blip>
          <a:srcRect b="209" l="0" r="0" t="219"/>
          <a:stretch/>
        </p:blipFill>
        <p:spPr>
          <a:xfrm>
            <a:off x="6724650" y="4162425"/>
            <a:ext cx="44577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3" name="Google Shape;6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4" name="Google Shape;62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8745"/>
            <a:ext cx="52387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5" name="Google Shape;62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99420"/>
            <a:ext cx="523875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4"/>
          <p:cNvSpPr txBox="1"/>
          <p:nvPr/>
        </p:nvSpPr>
        <p:spPr>
          <a:xfrm>
            <a:off x="571500" y="1457325"/>
            <a:ext cx="4914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The Autonomous Notification Decision Graph</a:t>
            </a:r>
            <a:endParaRPr/>
          </a:p>
        </p:txBody>
      </p:sp>
      <p:sp>
        <p:nvSpPr>
          <p:cNvPr id="627" name="Google Shape;627;p34"/>
          <p:cNvSpPr txBox="1"/>
          <p:nvPr/>
        </p:nvSpPr>
        <p:spPr>
          <a:xfrm>
            <a:off x="6381750" y="210874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Multi-Step Decision Journey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6381750" y="256594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Rather than making a single LLM call, the workflow orchestrates specialized nodes for specific evaluations.</a:t>
            </a:r>
            <a:endParaRPr/>
          </a:p>
        </p:txBody>
      </p:sp>
      <p:sp>
        <p:nvSpPr>
          <p:cNvPr id="629" name="Google Shape;629;p34"/>
          <p:cNvSpPr txBox="1"/>
          <p:nvPr/>
        </p:nvSpPr>
        <p:spPr>
          <a:xfrm>
            <a:off x="819150" y="2356395"/>
            <a:ext cx="4743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819150" y="26516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Load Context</a:t>
            </a:r>
            <a:endParaRPr/>
          </a:p>
        </p:txBody>
      </p:sp>
      <p:sp>
        <p:nvSpPr>
          <p:cNvPr id="631" name="Google Shape;631;p34"/>
          <p:cNvSpPr txBox="1"/>
          <p:nvPr/>
        </p:nvSpPr>
        <p:spPr>
          <a:xfrm>
            <a:off x="819150" y="29564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Check Subscription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819150" y="32612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Check History &amp; Engagement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819150" y="35660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Determine Priority</a:t>
            </a:r>
            <a:endParaRPr/>
          </a:p>
        </p:txBody>
      </p:sp>
      <p:sp>
        <p:nvSpPr>
          <p:cNvPr id="634" name="Google Shape;634;p34"/>
          <p:cNvSpPr txBox="1"/>
          <p:nvPr/>
        </p:nvSpPr>
        <p:spPr>
          <a:xfrm>
            <a:off x="819150" y="38708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↓ Should Notify?</a:t>
            </a: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819150" y="41756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→ SUPPRESS</a:t>
            </a:r>
            <a:endParaRPr/>
          </a:p>
        </p:txBody>
      </p:sp>
      <p:sp>
        <p:nvSpPr>
          <p:cNvPr id="636" name="Google Shape;636;p34"/>
          <p:cNvSpPr txBox="1"/>
          <p:nvPr/>
        </p:nvSpPr>
        <p:spPr>
          <a:xfrm>
            <a:off x="819150" y="44804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└──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637" name="Google Shape;637;p34"/>
          <p:cNvSpPr txBox="1"/>
          <p:nvPr/>
        </p:nvSpPr>
        <p:spPr>
          <a:xfrm>
            <a:off x="819150" y="47852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Choose Channel</a:t>
            </a:r>
            <a:endParaRPr/>
          </a:p>
        </p:txBody>
      </p:sp>
      <p:sp>
        <p:nvSpPr>
          <p:cNvPr id="638" name="Google Shape;638;p34"/>
          <p:cNvSpPr txBox="1"/>
          <p:nvPr/>
        </p:nvSpPr>
        <p:spPr>
          <a:xfrm>
            <a:off x="819150" y="50900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↓ Related Event?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819150" y="53948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 → MERGE</a:t>
            </a:r>
            <a:endParaRPr/>
          </a:p>
        </p:txBody>
      </p:sp>
      <p:sp>
        <p:nvSpPr>
          <p:cNvPr id="640" name="Google Shape;640;p34"/>
          <p:cNvSpPr txBox="1"/>
          <p:nvPr/>
        </p:nvSpPr>
        <p:spPr>
          <a:xfrm>
            <a:off x="819150" y="56996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└──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641" name="Google Shape;641;p34"/>
          <p:cNvSpPr txBox="1"/>
          <p:nvPr/>
        </p:nvSpPr>
        <p:spPr>
          <a:xfrm>
            <a:off x="819150" y="6004470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Policy Check</a:t>
            </a:r>
            <a:endParaRPr/>
          </a:p>
        </p:txBody>
      </p:sp>
      <p:sp>
        <p:nvSpPr>
          <p:cNvPr id="642" name="Google Shape;642;p34"/>
          <p:cNvSpPr txBox="1"/>
          <p:nvPr/>
        </p:nvSpPr>
        <p:spPr>
          <a:xfrm>
            <a:off x="819150" y="6309270"/>
            <a:ext cx="474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643" name="Google Shape;643;p34"/>
          <p:cNvSpPr txBox="1"/>
          <p:nvPr/>
        </p:nvSpPr>
        <p:spPr>
          <a:xfrm>
            <a:off x="819150" y="6642645"/>
            <a:ext cx="474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↓ Capture Feedback</a:t>
            </a:r>
            <a:endParaRPr/>
          </a:p>
        </p:txBody>
      </p:sp>
      <p:sp>
        <p:nvSpPr>
          <p:cNvPr id="644" name="Google Shape;644;p34"/>
          <p:cNvSpPr txBox="1"/>
          <p:nvPr/>
        </p:nvSpPr>
        <p:spPr>
          <a:xfrm>
            <a:off x="6657975" y="3889920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“This is where LangGraph becomes useful — it orchestrates a multi-step decision journey.”</a:t>
            </a:r>
            <a:endParaRPr/>
          </a:p>
        </p:txBody>
      </p:sp>
      <p:pic>
        <p:nvPicPr>
          <p:cNvPr descr="image.png" id="645" name="Google Shape;64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894" y="6309270"/>
            <a:ext cx="68505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Inside the LangGraph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1" name="Google Shape;6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5"/>
          <p:cNvSpPr txBox="1"/>
          <p:nvPr/>
        </p:nvSpPr>
        <p:spPr>
          <a:xfrm>
            <a:off x="571500" y="145732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Notification Intelligence</a:t>
            </a:r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762000" y="19621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Upstream Systems: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Flow into Kafka.</a:t>
            </a:r>
            <a:endParaRPr/>
          </a:p>
        </p:txBody>
      </p:sp>
      <p:sp>
        <p:nvSpPr>
          <p:cNvPr id="654" name="Google Shape;654;p35"/>
          <p:cNvSpPr txBox="1"/>
          <p:nvPr/>
        </p:nvSpPr>
        <p:spPr>
          <a:xfrm>
            <a:off x="762000" y="24574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Stream Processor: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Validates events.</a:t>
            </a:r>
            <a:endParaRPr/>
          </a:p>
        </p:txBody>
      </p:sp>
      <p:sp>
        <p:nvSpPr>
          <p:cNvPr id="655" name="Google Shape;655;p35"/>
          <p:cNvSpPr txBox="1"/>
          <p:nvPr/>
        </p:nvSpPr>
        <p:spPr>
          <a:xfrm>
            <a:off x="762000" y="29527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Intelligence Layer (LangGraph):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Orchestrates Context, Engagement, Decision, Recommendation.</a:t>
            </a:r>
            <a:endParaRPr/>
          </a:p>
        </p:txBody>
      </p:sp>
      <p:sp>
        <p:nvSpPr>
          <p:cNvPr id="656" name="Google Shape;656;p35"/>
          <p:cNvSpPr txBox="1"/>
          <p:nvPr/>
        </p:nvSpPr>
        <p:spPr>
          <a:xfrm>
            <a:off x="762000" y="37528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Existing Platform: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Executes delivery.</a:t>
            </a:r>
            <a:endParaRPr/>
          </a:p>
        </p:txBody>
      </p:sp>
      <p:sp>
        <p:nvSpPr>
          <p:cNvPr id="657" name="Google Shape;657;p35"/>
          <p:cNvSpPr txBox="1"/>
          <p:nvPr/>
        </p:nvSpPr>
        <p:spPr>
          <a:xfrm>
            <a:off x="762000" y="42481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Feedback Loop: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Feeds engagement data back.</a:t>
            </a:r>
            <a:endParaRPr/>
          </a:p>
        </p:txBody>
      </p:sp>
      <p:sp>
        <p:nvSpPr>
          <p:cNvPr id="658" name="Google Shape;658;p3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Architecture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3" name="Google Shape;6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5" name="Google Shape;66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57325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6" name="Google Shape;66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5172075"/>
            <a:ext cx="44577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7" name="Google Shape;66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5191125"/>
            <a:ext cx="44577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36"/>
          <p:cNvSpPr txBox="1"/>
          <p:nvPr/>
        </p:nvSpPr>
        <p:spPr>
          <a:xfrm>
            <a:off x="962025" y="187642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Platform Continues to Own:</a:t>
            </a:r>
            <a:endParaRPr/>
          </a:p>
        </p:txBody>
      </p:sp>
      <p:sp>
        <p:nvSpPr>
          <p:cNvPr id="669" name="Google Shape;669;p36"/>
          <p:cNvSpPr txBox="1"/>
          <p:nvPr/>
        </p:nvSpPr>
        <p:spPr>
          <a:xfrm>
            <a:off x="6772275" y="187642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Intelligence Layer Owns:</a:t>
            </a:r>
            <a:endParaRPr/>
          </a:p>
        </p:txBody>
      </p:sp>
      <p:sp>
        <p:nvSpPr>
          <p:cNvPr id="670" name="Google Shape;670;p36"/>
          <p:cNvSpPr txBox="1"/>
          <p:nvPr/>
        </p:nvSpPr>
        <p:spPr>
          <a:xfrm>
            <a:off x="1152525" y="25241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Notification delivery &amp; Providers</a:t>
            </a:r>
            <a:endParaRPr/>
          </a:p>
        </p:txBody>
      </p:sp>
      <p:sp>
        <p:nvSpPr>
          <p:cNvPr id="671" name="Google Shape;671;p36"/>
          <p:cNvSpPr txBox="1"/>
          <p:nvPr/>
        </p:nvSpPr>
        <p:spPr>
          <a:xfrm>
            <a:off x="1152525" y="30194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Templates</a:t>
            </a:r>
            <a:endParaRPr/>
          </a:p>
        </p:txBody>
      </p:sp>
      <p:sp>
        <p:nvSpPr>
          <p:cNvPr id="672" name="Google Shape;672;p36"/>
          <p:cNvSpPr txBox="1"/>
          <p:nvPr/>
        </p:nvSpPr>
        <p:spPr>
          <a:xfrm>
            <a:off x="1152525" y="35147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Retry &amp; Failure handling</a:t>
            </a:r>
            <a:endParaRPr/>
          </a:p>
        </p:txBody>
      </p:sp>
      <p:sp>
        <p:nvSpPr>
          <p:cNvPr id="673" name="Google Shape;673;p36"/>
          <p:cNvSpPr txBox="1"/>
          <p:nvPr/>
        </p:nvSpPr>
        <p:spPr>
          <a:xfrm>
            <a:off x="1152525" y="4010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Channel integration</a:t>
            </a:r>
            <a:endParaRPr/>
          </a:p>
        </p:txBody>
      </p:sp>
      <p:sp>
        <p:nvSpPr>
          <p:cNvPr id="674" name="Google Shape;674;p36"/>
          <p:cNvSpPr txBox="1"/>
          <p:nvPr/>
        </p:nvSpPr>
        <p:spPr>
          <a:xfrm>
            <a:off x="1152525" y="45053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Monitoring &amp; Reliability</a:t>
            </a:r>
            <a:endParaRPr/>
          </a:p>
        </p:txBody>
      </p:sp>
      <p:sp>
        <p:nvSpPr>
          <p:cNvPr id="675" name="Google Shape;675;p36"/>
          <p:cNvSpPr txBox="1"/>
          <p:nvPr/>
        </p:nvSpPr>
        <p:spPr>
          <a:xfrm>
            <a:off x="6962775" y="25241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Context &amp; Decisioning</a:t>
            </a:r>
            <a:endParaRPr/>
          </a:p>
        </p:txBody>
      </p:sp>
      <p:sp>
        <p:nvSpPr>
          <p:cNvPr id="676" name="Google Shape;676;p36"/>
          <p:cNvSpPr txBox="1"/>
          <p:nvPr/>
        </p:nvSpPr>
        <p:spPr>
          <a:xfrm>
            <a:off x="6962775" y="30194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Recommendation &amp; Learning</a:t>
            </a:r>
            <a:endParaRPr/>
          </a:p>
        </p:txBody>
      </p:sp>
      <p:sp>
        <p:nvSpPr>
          <p:cNvPr id="677" name="Google Shape;677;p36"/>
          <p:cNvSpPr txBox="1"/>
          <p:nvPr/>
        </p:nvSpPr>
        <p:spPr>
          <a:xfrm>
            <a:off x="6962775" y="35147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Consolidation &amp; Suppression</a:t>
            </a:r>
            <a:endParaRPr/>
          </a:p>
        </p:txBody>
      </p:sp>
      <p:sp>
        <p:nvSpPr>
          <p:cNvPr id="678" name="Google Shape;678;p36"/>
          <p:cNvSpPr txBox="1"/>
          <p:nvPr/>
        </p:nvSpPr>
        <p:spPr>
          <a:xfrm>
            <a:off x="6962775" y="4010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Channel optimization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Doesn’t Replace What Already Works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4" name="Google Shape;6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5" name="Google Shape;68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432845"/>
            <a:ext cx="523875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6" name="Google Shape;68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80320"/>
            <a:ext cx="4857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7" name="Google Shape;68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80445"/>
            <a:ext cx="48577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8" name="Google Shape;68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261520"/>
            <a:ext cx="48577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9" name="Google Shape;689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299245"/>
            <a:ext cx="2219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0" name="Google Shape;690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00425" y="2299245"/>
            <a:ext cx="22193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7"/>
          <p:cNvSpPr txBox="1"/>
          <p:nvPr/>
        </p:nvSpPr>
        <p:spPr>
          <a:xfrm>
            <a:off x="571500" y="1457325"/>
            <a:ext cx="4914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Every Notification Makes the System Smarter</a:t>
            </a:r>
            <a:endParaRPr/>
          </a:p>
        </p:txBody>
      </p:sp>
      <p:sp>
        <p:nvSpPr>
          <p:cNvPr id="692" name="Google Shape;692;p37"/>
          <p:cNvSpPr txBox="1"/>
          <p:nvPr/>
        </p:nvSpPr>
        <p:spPr>
          <a:xfrm>
            <a:off x="6381750" y="210874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</a:t>
            </a:r>
            <a:endParaRPr/>
          </a:p>
        </p:txBody>
      </p:sp>
      <p:sp>
        <p:nvSpPr>
          <p:cNvPr id="693" name="Google Shape;693;p37"/>
          <p:cNvSpPr txBox="1"/>
          <p:nvPr/>
        </p:nvSpPr>
        <p:spPr>
          <a:xfrm>
            <a:off x="6381750" y="256594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Payment Due</a:t>
            </a:r>
            <a:endParaRPr/>
          </a:p>
        </p:txBody>
      </p:sp>
      <p:sp>
        <p:nvSpPr>
          <p:cNvPr id="694" name="Google Shape;694;p37"/>
          <p:cNvSpPr txBox="1"/>
          <p:nvPr/>
        </p:nvSpPr>
        <p:spPr>
          <a:xfrm>
            <a:off x="762000" y="2908845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695" name="Google Shape;695;p37"/>
          <p:cNvSpPr txBox="1"/>
          <p:nvPr/>
        </p:nvSpPr>
        <p:spPr>
          <a:xfrm>
            <a:off x="762000" y="3908970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696" name="Google Shape;696;p37"/>
          <p:cNvSpPr txBox="1"/>
          <p:nvPr/>
        </p:nvSpPr>
        <p:spPr>
          <a:xfrm>
            <a:off x="762000" y="4890045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697" name="Google Shape;697;p37"/>
          <p:cNvSpPr txBox="1"/>
          <p:nvPr/>
        </p:nvSpPr>
        <p:spPr>
          <a:xfrm>
            <a:off x="6657975" y="4623345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“The platform doesn’t just send notifications. It learns from them.”</a:t>
            </a:r>
            <a:endParaRPr/>
          </a:p>
        </p:txBody>
      </p:sp>
      <p:sp>
        <p:nvSpPr>
          <p:cNvPr id="698" name="Google Shape;698;p37"/>
          <p:cNvSpPr txBox="1"/>
          <p:nvPr/>
        </p:nvSpPr>
        <p:spPr>
          <a:xfrm>
            <a:off x="3124200" y="2451645"/>
            <a:ext cx="133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699" name="Google Shape;699;p37"/>
          <p:cNvSpPr txBox="1"/>
          <p:nvPr/>
        </p:nvSpPr>
        <p:spPr>
          <a:xfrm>
            <a:off x="6381750" y="3156495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Email Open Rate </a:t>
            </a: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70%</a:t>
            </a:r>
            <a:endParaRPr/>
          </a:p>
        </p:txBody>
      </p:sp>
      <p:sp>
        <p:nvSpPr>
          <p:cNvPr id="700" name="Google Shape;700;p37"/>
          <p:cNvSpPr txBox="1"/>
          <p:nvPr/>
        </p:nvSpPr>
        <p:spPr>
          <a:xfrm>
            <a:off x="6477000" y="3394620"/>
            <a:ext cx="514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Informs future recommendations</a:t>
            </a:r>
            <a:endParaRPr/>
          </a:p>
        </p:txBody>
      </p:sp>
      <p:sp>
        <p:nvSpPr>
          <p:cNvPr id="701" name="Google Shape;701;p37"/>
          <p:cNvSpPr/>
          <p:nvPr/>
        </p:nvSpPr>
        <p:spPr>
          <a:xfrm>
            <a:off x="6381750" y="3394620"/>
            <a:ext cx="19050" cy="161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6381750" y="3747045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Push Open Rate </a:t>
            </a: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94%</a:t>
            </a:r>
            <a:endParaRPr/>
          </a:p>
        </p:txBody>
      </p:sp>
      <p:sp>
        <p:nvSpPr>
          <p:cNvPr id="703" name="Google Shape;703;p37"/>
          <p:cNvSpPr txBox="1"/>
          <p:nvPr/>
        </p:nvSpPr>
        <p:spPr>
          <a:xfrm>
            <a:off x="6477000" y="3985170"/>
            <a:ext cx="514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Informs future channel optimization</a:t>
            </a:r>
            <a:endParaRPr/>
          </a:p>
        </p:txBody>
      </p:sp>
      <p:sp>
        <p:nvSpPr>
          <p:cNvPr id="704" name="Google Shape;704;p37"/>
          <p:cNvSpPr/>
          <p:nvPr/>
        </p:nvSpPr>
        <p:spPr>
          <a:xfrm>
            <a:off x="6381750" y="3985170"/>
            <a:ext cx="19050" cy="161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Feedback Loop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0" name="Google Shape;7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1" name="Google Shape;71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4924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2" name="Google Shape;71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457325"/>
            <a:ext cx="3492549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3" name="Google Shape;71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457325"/>
            <a:ext cx="349240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38"/>
          <p:cNvSpPr txBox="1"/>
          <p:nvPr/>
        </p:nvSpPr>
        <p:spPr>
          <a:xfrm>
            <a:off x="866775" y="1781175"/>
            <a:ext cx="30469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</a:t>
            </a:r>
            <a:endParaRPr/>
          </a:p>
        </p:txBody>
      </p:sp>
      <p:sp>
        <p:nvSpPr>
          <p:cNvPr id="715" name="Google Shape;715;p38"/>
          <p:cNvSpPr txBox="1"/>
          <p:nvPr/>
        </p:nvSpPr>
        <p:spPr>
          <a:xfrm>
            <a:off x="4644925" y="178117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</a:t>
            </a:r>
            <a:endParaRPr/>
          </a:p>
        </p:txBody>
      </p:sp>
      <p:sp>
        <p:nvSpPr>
          <p:cNvPr id="716" name="Google Shape;716;p38"/>
          <p:cNvSpPr txBox="1"/>
          <p:nvPr/>
        </p:nvSpPr>
        <p:spPr>
          <a:xfrm>
            <a:off x="8423225" y="1781175"/>
            <a:ext cx="30469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</a:t>
            </a:r>
            <a:endParaRPr/>
          </a:p>
        </p:txBody>
      </p:sp>
      <p:sp>
        <p:nvSpPr>
          <p:cNvPr id="717" name="Google Shape;717;p38"/>
          <p:cNvSpPr txBox="1"/>
          <p:nvPr/>
        </p:nvSpPr>
        <p:spPr>
          <a:xfrm>
            <a:off x="1057275" y="2238375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More relevant operational alerts</a:t>
            </a:r>
            <a:endParaRPr/>
          </a:p>
        </p:txBody>
      </p:sp>
      <p:sp>
        <p:nvSpPr>
          <p:cNvPr id="718" name="Google Shape;718;p38"/>
          <p:cNvSpPr txBox="1"/>
          <p:nvPr/>
        </p:nvSpPr>
        <p:spPr>
          <a:xfrm>
            <a:off x="1057275" y="30384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Less notification noise</a:t>
            </a:r>
            <a:endParaRPr/>
          </a:p>
        </p:txBody>
      </p:sp>
      <p:sp>
        <p:nvSpPr>
          <p:cNvPr id="719" name="Google Shape;719;p38"/>
          <p:cNvSpPr txBox="1"/>
          <p:nvPr/>
        </p:nvSpPr>
        <p:spPr>
          <a:xfrm>
            <a:off x="1057275" y="35337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channel experience</a:t>
            </a:r>
            <a:endParaRPr/>
          </a:p>
        </p:txBody>
      </p:sp>
      <p:sp>
        <p:nvSpPr>
          <p:cNvPr id="720" name="Google Shape;720;p38"/>
          <p:cNvSpPr txBox="1"/>
          <p:nvPr/>
        </p:nvSpPr>
        <p:spPr>
          <a:xfrm>
            <a:off x="1057275" y="40290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Timely information</a:t>
            </a:r>
            <a:endParaRPr/>
          </a:p>
        </p:txBody>
      </p:sp>
      <p:sp>
        <p:nvSpPr>
          <p:cNvPr id="721" name="Google Shape;721;p38"/>
          <p:cNvSpPr txBox="1"/>
          <p:nvPr/>
        </p:nvSpPr>
        <p:spPr>
          <a:xfrm>
            <a:off x="1057275" y="4524375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Easier discovery of subscriptions</a:t>
            </a:r>
            <a:endParaRPr/>
          </a:p>
        </p:txBody>
      </p:sp>
      <p:sp>
        <p:nvSpPr>
          <p:cNvPr id="722" name="Google Shape;722;p38"/>
          <p:cNvSpPr txBox="1"/>
          <p:nvPr/>
        </p:nvSpPr>
        <p:spPr>
          <a:xfrm>
            <a:off x="4835425" y="2238375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Increased subscriptions</a:t>
            </a:r>
            <a:endParaRPr/>
          </a:p>
        </p:txBody>
      </p:sp>
      <p:sp>
        <p:nvSpPr>
          <p:cNvPr id="723" name="Google Shape;723;p38"/>
          <p:cNvSpPr txBox="1"/>
          <p:nvPr/>
        </p:nvSpPr>
        <p:spPr>
          <a:xfrm>
            <a:off x="4835425" y="2733675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Higher email engagement</a:t>
            </a:r>
            <a:endParaRPr/>
          </a:p>
        </p:txBody>
      </p:sp>
      <p:sp>
        <p:nvSpPr>
          <p:cNvPr id="724" name="Google Shape;724;p38"/>
          <p:cNvSpPr txBox="1"/>
          <p:nvPr/>
        </p:nvSpPr>
        <p:spPr>
          <a:xfrm>
            <a:off x="4835425" y="3228975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notification effectiveness</a:t>
            </a:r>
            <a:endParaRPr/>
          </a:p>
        </p:txBody>
      </p:sp>
      <p:sp>
        <p:nvSpPr>
          <p:cNvPr id="725" name="Google Shape;725;p38"/>
          <p:cNvSpPr txBox="1"/>
          <p:nvPr/>
        </p:nvSpPr>
        <p:spPr>
          <a:xfrm>
            <a:off x="4835425" y="4029075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redundant notifications</a:t>
            </a:r>
            <a:endParaRPr/>
          </a:p>
        </p:txBody>
      </p:sp>
      <p:sp>
        <p:nvSpPr>
          <p:cNvPr id="726" name="Google Shape;726;p38"/>
          <p:cNvSpPr txBox="1"/>
          <p:nvPr/>
        </p:nvSpPr>
        <p:spPr>
          <a:xfrm>
            <a:off x="4835425" y="4829175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Lower notification fatigue</a:t>
            </a:r>
            <a:endParaRPr/>
          </a:p>
        </p:txBody>
      </p:sp>
      <p:sp>
        <p:nvSpPr>
          <p:cNvPr id="727" name="Google Shape;727;p38"/>
          <p:cNvSpPr txBox="1"/>
          <p:nvPr/>
        </p:nvSpPr>
        <p:spPr>
          <a:xfrm>
            <a:off x="8613725" y="22383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Intelligent decision layer</a:t>
            </a:r>
            <a:endParaRPr/>
          </a:p>
        </p:txBody>
      </p:sp>
      <p:sp>
        <p:nvSpPr>
          <p:cNvPr id="728" name="Google Shape;728;p38"/>
          <p:cNvSpPr txBox="1"/>
          <p:nvPr/>
        </p:nvSpPr>
        <p:spPr>
          <a:xfrm>
            <a:off x="8613725" y="27336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optimization</a:t>
            </a:r>
            <a:endParaRPr/>
          </a:p>
        </p:txBody>
      </p:sp>
      <p:sp>
        <p:nvSpPr>
          <p:cNvPr id="729" name="Google Shape;729;p38"/>
          <p:cNvSpPr txBox="1"/>
          <p:nvPr/>
        </p:nvSpPr>
        <p:spPr>
          <a:xfrm>
            <a:off x="8613725" y="32289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Reusable AI capabilities</a:t>
            </a:r>
            <a:endParaRPr/>
          </a:p>
        </p:txBody>
      </p:sp>
      <p:sp>
        <p:nvSpPr>
          <p:cNvPr id="730" name="Google Shape;730;p38"/>
          <p:cNvSpPr txBox="1"/>
          <p:nvPr/>
        </p:nvSpPr>
        <p:spPr>
          <a:xfrm>
            <a:off x="8613725" y="37242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Extensible architecture</a:t>
            </a:r>
            <a:endParaRPr/>
          </a:p>
        </p:txBody>
      </p:sp>
      <p:sp>
        <p:nvSpPr>
          <p:cNvPr id="731" name="Google Shape;731;p38"/>
          <p:cNvSpPr txBox="1"/>
          <p:nvPr/>
        </p:nvSpPr>
        <p:spPr>
          <a:xfrm>
            <a:off x="8613725" y="4219575"/>
            <a:ext cx="271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channel utilization</a:t>
            </a:r>
            <a:endParaRPr/>
          </a:p>
        </p:txBody>
      </p:sp>
      <p:sp>
        <p:nvSpPr>
          <p:cNvPr id="732" name="Google Shape;732;p3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Do We Gain?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7" name="Google Shape;7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8" name="Google Shape;73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0" y="5338762"/>
            <a:ext cx="476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9" name="Google Shape;73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319337"/>
            <a:ext cx="408622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0" name="Google Shape;74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975" y="2319337"/>
            <a:ext cx="4105275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9"/>
          <p:cNvSpPr txBox="1"/>
          <p:nvPr/>
        </p:nvSpPr>
        <p:spPr>
          <a:xfrm>
            <a:off x="1700450" y="681037"/>
            <a:ext cx="8791098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Future Isn’t More Notifications.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It’s Smarter Notifications.</a:t>
            </a:r>
            <a:endParaRPr/>
          </a:p>
        </p:txBody>
      </p:sp>
      <p:sp>
        <p:nvSpPr>
          <p:cNvPr id="742" name="Google Shape;742;p39"/>
          <p:cNvSpPr txBox="1"/>
          <p:nvPr/>
        </p:nvSpPr>
        <p:spPr>
          <a:xfrm>
            <a:off x="2347912" y="4586287"/>
            <a:ext cx="7496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EVENT </a:t>
            </a:r>
            <a:r>
              <a:rPr b="0" i="0" lang="en-US" sz="1650" u="none" cap="none" strike="noStrik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→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UNDERSTAND </a:t>
            </a:r>
            <a:r>
              <a:rPr b="0" i="0" lang="en-US" sz="1650" u="none" cap="none" strike="noStrik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→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DECIDE </a:t>
            </a:r>
            <a:r>
              <a:rPr b="0" i="0" lang="en-US" sz="1650" u="none" cap="none" strike="noStrik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→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ACT </a:t>
            </a:r>
            <a:r>
              <a:rPr b="0" i="0" lang="en-US" sz="1650" u="none" cap="none" strike="noStrik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→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LEARN </a:t>
            </a:r>
            <a:r>
              <a:rPr b="0" i="0" lang="en-US" sz="1650" u="none" cap="none" strike="noStrik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→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ADAPT</a:t>
            </a:r>
            <a:endParaRPr/>
          </a:p>
        </p:txBody>
      </p:sp>
      <p:sp>
        <p:nvSpPr>
          <p:cNvPr id="743" name="Google Shape;743;p39"/>
          <p:cNvSpPr txBox="1"/>
          <p:nvPr/>
        </p:nvSpPr>
        <p:spPr>
          <a:xfrm>
            <a:off x="3714750" y="5929312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WE ARE GIVING IT A BRAIN.</a:t>
            </a:r>
            <a:endParaRPr/>
          </a:p>
        </p:txBody>
      </p:sp>
      <p:sp>
        <p:nvSpPr>
          <p:cNvPr id="744" name="Google Shape;744;p39"/>
          <p:cNvSpPr txBox="1"/>
          <p:nvPr/>
        </p:nvSpPr>
        <p:spPr>
          <a:xfrm>
            <a:off x="2017633" y="2614612"/>
            <a:ext cx="36704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</a:t>
            </a:r>
            <a:endParaRPr/>
          </a:p>
        </p:txBody>
      </p:sp>
      <p:sp>
        <p:nvSpPr>
          <p:cNvPr id="745" name="Google Shape;745;p39"/>
          <p:cNvSpPr txBox="1"/>
          <p:nvPr/>
        </p:nvSpPr>
        <p:spPr>
          <a:xfrm>
            <a:off x="2105025" y="2976562"/>
            <a:ext cx="3495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"Business systems tell us what to send."</a:t>
            </a:r>
            <a:endParaRPr/>
          </a:p>
        </p:txBody>
      </p:sp>
      <p:sp>
        <p:nvSpPr>
          <p:cNvPr id="746" name="Google Shape;746;p39"/>
          <p:cNvSpPr txBox="1"/>
          <p:nvPr/>
        </p:nvSpPr>
        <p:spPr>
          <a:xfrm>
            <a:off x="6494383" y="2624137"/>
            <a:ext cx="36704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TOMORROW</a:t>
            </a:r>
            <a:endParaRPr/>
          </a:p>
        </p:txBody>
      </p:sp>
      <p:sp>
        <p:nvSpPr>
          <p:cNvPr id="747" name="Google Shape;747;p39"/>
          <p:cNvSpPr txBox="1"/>
          <p:nvPr/>
        </p:nvSpPr>
        <p:spPr>
          <a:xfrm>
            <a:off x="6581775" y="2986087"/>
            <a:ext cx="34956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"The platform understands the context and determines the best way to communicate it."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