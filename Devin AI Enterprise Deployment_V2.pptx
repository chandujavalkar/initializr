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Lst>
  <p:sldSz cy="6858000" cx="12192000"/>
  <p:notesSz cx="6858000" cy="9144000"/>
  <p:embeddedFontLst>
    <p:embeddedFont>
      <p:font typeface="Plus Jakarta Sans ExtraBold"/>
      <p:bold r:id="rId41"/>
      <p:boldItalic r:id="rId42"/>
    </p:embeddedFont>
    <p:embeddedFont>
      <p:font typeface="Plus Jakarta Sans"/>
      <p:regular r:id="rId43"/>
      <p:bold r:id="rId44"/>
      <p:italic r:id="rId45"/>
      <p:boldItalic r:id="rId46"/>
    </p:embeddedFont>
    <p:embeddedFont>
      <p:font typeface="JetBrains Mono ExtraBold"/>
      <p:bold r:id="rId47"/>
      <p:boldItalic r:id="rId48"/>
    </p:embeddedFont>
    <p:embeddedFont>
      <p:font typeface="Plus Jakarta Sans SemiBold"/>
      <p:regular r:id="rId49"/>
      <p:bold r:id="rId50"/>
      <p:italic r:id="rId51"/>
      <p:boldItalic r:id="rId52"/>
    </p:embeddedFont>
    <p:embeddedFont>
      <p:font typeface="Plus Jakarta Sans Medium"/>
      <p:regular r:id="rId53"/>
      <p:bold r:id="rId54"/>
      <p:italic r:id="rId55"/>
      <p:boldItalic r:id="rId56"/>
    </p:embeddedFont>
    <p:embeddedFont>
      <p:font typeface="JetBrains Mono"/>
      <p:bold r:id="rId57"/>
      <p:boldItalic r:id="rId5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AF95251-05E6-4B1C-8FEE-4ABA8F11838E}">
  <a:tblStyle styleId="{6AF95251-05E6-4B1C-8FEE-4ABA8F11838E}"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a:tcStyle>
        <a:fill>
          <a:solidFill>
            <a:srgbClr val="CFD7E7"/>
          </a:solidFill>
        </a:fill>
      </a:tcStyle>
    </a:band1H>
    <a:band2H>
      <a:tcTxStyle/>
    </a:band2H>
    <a:band1V>
      <a:tcTxStyle/>
      <a:tcStyle>
        <a:fill>
          <a:solidFill>
            <a:srgbClr val="CFD7E7"/>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font" Target="fonts/PlusJakartaSansExtraBold-boldItalic.fntdata"/><Relationship Id="rId41" Type="http://schemas.openxmlformats.org/officeDocument/2006/relationships/font" Target="fonts/PlusJakartaSansExtraBold-bold.fntdata"/><Relationship Id="rId44" Type="http://schemas.openxmlformats.org/officeDocument/2006/relationships/font" Target="fonts/PlusJakartaSans-bold.fntdata"/><Relationship Id="rId43" Type="http://schemas.openxmlformats.org/officeDocument/2006/relationships/font" Target="fonts/PlusJakartaSans-regular.fntdata"/><Relationship Id="rId46" Type="http://schemas.openxmlformats.org/officeDocument/2006/relationships/font" Target="fonts/PlusJakartaSans-boldItalic.fntdata"/><Relationship Id="rId45" Type="http://schemas.openxmlformats.org/officeDocument/2006/relationships/font" Target="fonts/PlusJakartaSans-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font" Target="fonts/JetBrainsMonoExtraBold-boldItalic.fntdata"/><Relationship Id="rId47" Type="http://schemas.openxmlformats.org/officeDocument/2006/relationships/font" Target="fonts/JetBrainsMonoExtraBold-bold.fntdata"/><Relationship Id="rId49" Type="http://schemas.openxmlformats.org/officeDocument/2006/relationships/font" Target="fonts/PlusJakartaSansSemiBold-regular.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PlusJakartaSansSemiBold-italic.fntdata"/><Relationship Id="rId50" Type="http://schemas.openxmlformats.org/officeDocument/2006/relationships/font" Target="fonts/PlusJakartaSansSemiBold-bold.fntdata"/><Relationship Id="rId53" Type="http://schemas.openxmlformats.org/officeDocument/2006/relationships/font" Target="fonts/PlusJakartaSansMedium-regular.fntdata"/><Relationship Id="rId52" Type="http://schemas.openxmlformats.org/officeDocument/2006/relationships/font" Target="fonts/PlusJakartaSansSemiBold-boldItalic.fntdata"/><Relationship Id="rId11" Type="http://schemas.openxmlformats.org/officeDocument/2006/relationships/slide" Target="slides/slide5.xml"/><Relationship Id="rId55" Type="http://schemas.openxmlformats.org/officeDocument/2006/relationships/font" Target="fonts/PlusJakartaSansMedium-italic.fntdata"/><Relationship Id="rId10" Type="http://schemas.openxmlformats.org/officeDocument/2006/relationships/slide" Target="slides/slide4.xml"/><Relationship Id="rId54" Type="http://schemas.openxmlformats.org/officeDocument/2006/relationships/font" Target="fonts/PlusJakartaSansMedium-bold.fntdata"/><Relationship Id="rId13" Type="http://schemas.openxmlformats.org/officeDocument/2006/relationships/slide" Target="slides/slide7.xml"/><Relationship Id="rId57" Type="http://schemas.openxmlformats.org/officeDocument/2006/relationships/font" Target="fonts/JetBrainsMono-bold.fntdata"/><Relationship Id="rId12" Type="http://schemas.openxmlformats.org/officeDocument/2006/relationships/slide" Target="slides/slide6.xml"/><Relationship Id="rId56" Type="http://schemas.openxmlformats.org/officeDocument/2006/relationships/font" Target="fonts/PlusJakartaSansMedium-boldItalic.fntdata"/><Relationship Id="rId15" Type="http://schemas.openxmlformats.org/officeDocument/2006/relationships/slide" Target="slides/slide9.xml"/><Relationship Id="rId14" Type="http://schemas.openxmlformats.org/officeDocument/2006/relationships/slide" Target="slides/slide8.xml"/><Relationship Id="rId58" Type="http://schemas.openxmlformats.org/officeDocument/2006/relationships/font" Target="fonts/JetBrainsMono-boldItalic.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 name="Shape 491"/>
        <p:cNvGrpSpPr/>
        <p:nvPr/>
      </p:nvGrpSpPr>
      <p:grpSpPr>
        <a:xfrm>
          <a:off x="0" y="0"/>
          <a:ext cx="0" cy="0"/>
          <a:chOff x="0" y="0"/>
          <a:chExt cx="0" cy="0"/>
        </a:xfrm>
      </p:grpSpPr>
      <p:sp>
        <p:nvSpPr>
          <p:cNvPr id="492" name="Google Shape;492;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3" name="Google Shape;493;p1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71" name="Google Shape;571;p1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7" name="Shape 627"/>
        <p:cNvGrpSpPr/>
        <p:nvPr/>
      </p:nvGrpSpPr>
      <p:grpSpPr>
        <a:xfrm>
          <a:off x="0" y="0"/>
          <a:ext cx="0" cy="0"/>
          <a:chOff x="0" y="0"/>
          <a:chExt cx="0" cy="0"/>
        </a:xfrm>
      </p:grpSpPr>
      <p:sp>
        <p:nvSpPr>
          <p:cNvPr id="628" name="Google Shape;628;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29" name="Google Shape;629;p1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7" name="Shape 687"/>
        <p:cNvGrpSpPr/>
        <p:nvPr/>
      </p:nvGrpSpPr>
      <p:grpSpPr>
        <a:xfrm>
          <a:off x="0" y="0"/>
          <a:ext cx="0" cy="0"/>
          <a:chOff x="0" y="0"/>
          <a:chExt cx="0" cy="0"/>
        </a:xfrm>
      </p:grpSpPr>
      <p:sp>
        <p:nvSpPr>
          <p:cNvPr id="688" name="Google Shape;688;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89" name="Google Shape;689;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1" name="Shape 741"/>
        <p:cNvGrpSpPr/>
        <p:nvPr/>
      </p:nvGrpSpPr>
      <p:grpSpPr>
        <a:xfrm>
          <a:off x="0" y="0"/>
          <a:ext cx="0" cy="0"/>
          <a:chOff x="0" y="0"/>
          <a:chExt cx="0" cy="0"/>
        </a:xfrm>
      </p:grpSpPr>
      <p:sp>
        <p:nvSpPr>
          <p:cNvPr id="742" name="Google Shape;742;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43" name="Google Shape;743;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1" name="Shape 801"/>
        <p:cNvGrpSpPr/>
        <p:nvPr/>
      </p:nvGrpSpPr>
      <p:grpSpPr>
        <a:xfrm>
          <a:off x="0" y="0"/>
          <a:ext cx="0" cy="0"/>
          <a:chOff x="0" y="0"/>
          <a:chExt cx="0" cy="0"/>
        </a:xfrm>
      </p:grpSpPr>
      <p:sp>
        <p:nvSpPr>
          <p:cNvPr id="802" name="Google Shape;802;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03" name="Google Shape;803;p1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3" name="Shape 863"/>
        <p:cNvGrpSpPr/>
        <p:nvPr/>
      </p:nvGrpSpPr>
      <p:grpSpPr>
        <a:xfrm>
          <a:off x="0" y="0"/>
          <a:ext cx="0" cy="0"/>
          <a:chOff x="0" y="0"/>
          <a:chExt cx="0" cy="0"/>
        </a:xfrm>
      </p:grpSpPr>
      <p:sp>
        <p:nvSpPr>
          <p:cNvPr id="864" name="Google Shape;864;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65" name="Google Shape;865;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8" name="Shape 908"/>
        <p:cNvGrpSpPr/>
        <p:nvPr/>
      </p:nvGrpSpPr>
      <p:grpSpPr>
        <a:xfrm>
          <a:off x="0" y="0"/>
          <a:ext cx="0" cy="0"/>
          <a:chOff x="0" y="0"/>
          <a:chExt cx="0" cy="0"/>
        </a:xfrm>
      </p:grpSpPr>
      <p:sp>
        <p:nvSpPr>
          <p:cNvPr id="909" name="Google Shape;909;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10" name="Google Shape;910;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9" name="Shape 959"/>
        <p:cNvGrpSpPr/>
        <p:nvPr/>
      </p:nvGrpSpPr>
      <p:grpSpPr>
        <a:xfrm>
          <a:off x="0" y="0"/>
          <a:ext cx="0" cy="0"/>
          <a:chOff x="0" y="0"/>
          <a:chExt cx="0" cy="0"/>
        </a:xfrm>
      </p:grpSpPr>
      <p:sp>
        <p:nvSpPr>
          <p:cNvPr id="960" name="Google Shape;960;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61" name="Google Shape;961;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4" name="Shape 1004"/>
        <p:cNvGrpSpPr/>
        <p:nvPr/>
      </p:nvGrpSpPr>
      <p:grpSpPr>
        <a:xfrm>
          <a:off x="0" y="0"/>
          <a:ext cx="0" cy="0"/>
          <a:chOff x="0" y="0"/>
          <a:chExt cx="0" cy="0"/>
        </a:xfrm>
      </p:grpSpPr>
      <p:sp>
        <p:nvSpPr>
          <p:cNvPr id="1005" name="Google Shape;1005;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06" name="Google Shape;1006;p2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3" name="Shape 1043"/>
        <p:cNvGrpSpPr/>
        <p:nvPr/>
      </p:nvGrpSpPr>
      <p:grpSpPr>
        <a:xfrm>
          <a:off x="0" y="0"/>
          <a:ext cx="0" cy="0"/>
          <a:chOff x="0" y="0"/>
          <a:chExt cx="0" cy="0"/>
        </a:xfrm>
      </p:grpSpPr>
      <p:sp>
        <p:nvSpPr>
          <p:cNvPr id="1044" name="Google Shape;1044;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45" name="Google Shape;1045;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3" name="Shape 1063"/>
        <p:cNvGrpSpPr/>
        <p:nvPr/>
      </p:nvGrpSpPr>
      <p:grpSpPr>
        <a:xfrm>
          <a:off x="0" y="0"/>
          <a:ext cx="0" cy="0"/>
          <a:chOff x="0" y="0"/>
          <a:chExt cx="0" cy="0"/>
        </a:xfrm>
      </p:grpSpPr>
      <p:sp>
        <p:nvSpPr>
          <p:cNvPr id="1064" name="Google Shape;1064;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65" name="Google Shape;1065;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6" name="Shape 1116"/>
        <p:cNvGrpSpPr/>
        <p:nvPr/>
      </p:nvGrpSpPr>
      <p:grpSpPr>
        <a:xfrm>
          <a:off x="0" y="0"/>
          <a:ext cx="0" cy="0"/>
          <a:chOff x="0" y="0"/>
          <a:chExt cx="0" cy="0"/>
        </a:xfrm>
      </p:grpSpPr>
      <p:sp>
        <p:nvSpPr>
          <p:cNvPr id="1117" name="Google Shape;1117;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18" name="Google Shape;1118;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7" name="Shape 1147"/>
        <p:cNvGrpSpPr/>
        <p:nvPr/>
      </p:nvGrpSpPr>
      <p:grpSpPr>
        <a:xfrm>
          <a:off x="0" y="0"/>
          <a:ext cx="0" cy="0"/>
          <a:chOff x="0" y="0"/>
          <a:chExt cx="0" cy="0"/>
        </a:xfrm>
      </p:grpSpPr>
      <p:sp>
        <p:nvSpPr>
          <p:cNvPr id="1148" name="Google Shape;1148;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49" name="Google Shape;1149;p2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7" name="Shape 1177"/>
        <p:cNvGrpSpPr/>
        <p:nvPr/>
      </p:nvGrpSpPr>
      <p:grpSpPr>
        <a:xfrm>
          <a:off x="0" y="0"/>
          <a:ext cx="0" cy="0"/>
          <a:chOff x="0" y="0"/>
          <a:chExt cx="0" cy="0"/>
        </a:xfrm>
      </p:grpSpPr>
      <p:sp>
        <p:nvSpPr>
          <p:cNvPr id="1178" name="Google Shape;1178;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79" name="Google Shape;1179;p2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7" name="Shape 1207"/>
        <p:cNvGrpSpPr/>
        <p:nvPr/>
      </p:nvGrpSpPr>
      <p:grpSpPr>
        <a:xfrm>
          <a:off x="0" y="0"/>
          <a:ext cx="0" cy="0"/>
          <a:chOff x="0" y="0"/>
          <a:chExt cx="0" cy="0"/>
        </a:xfrm>
      </p:grpSpPr>
      <p:sp>
        <p:nvSpPr>
          <p:cNvPr id="1208" name="Google Shape;1208;p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09" name="Google Shape;1209;p2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5" name="Shape 1235"/>
        <p:cNvGrpSpPr/>
        <p:nvPr/>
      </p:nvGrpSpPr>
      <p:grpSpPr>
        <a:xfrm>
          <a:off x="0" y="0"/>
          <a:ext cx="0" cy="0"/>
          <a:chOff x="0" y="0"/>
          <a:chExt cx="0" cy="0"/>
        </a:xfrm>
      </p:grpSpPr>
      <p:sp>
        <p:nvSpPr>
          <p:cNvPr id="1236" name="Google Shape;1236;p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37" name="Google Shape;1237;p2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0" name="Shape 1270"/>
        <p:cNvGrpSpPr/>
        <p:nvPr/>
      </p:nvGrpSpPr>
      <p:grpSpPr>
        <a:xfrm>
          <a:off x="0" y="0"/>
          <a:ext cx="0" cy="0"/>
          <a:chOff x="0" y="0"/>
          <a:chExt cx="0" cy="0"/>
        </a:xfrm>
      </p:grpSpPr>
      <p:sp>
        <p:nvSpPr>
          <p:cNvPr id="1271" name="Google Shape;1271;p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72" name="Google Shape;1272;p2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1" name="Shape 1301"/>
        <p:cNvGrpSpPr/>
        <p:nvPr/>
      </p:nvGrpSpPr>
      <p:grpSpPr>
        <a:xfrm>
          <a:off x="0" y="0"/>
          <a:ext cx="0" cy="0"/>
          <a:chOff x="0" y="0"/>
          <a:chExt cx="0" cy="0"/>
        </a:xfrm>
      </p:grpSpPr>
      <p:sp>
        <p:nvSpPr>
          <p:cNvPr id="1302" name="Google Shape;1302;p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03" name="Google Shape;1303;p3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6" name="Shape 1336"/>
        <p:cNvGrpSpPr/>
        <p:nvPr/>
      </p:nvGrpSpPr>
      <p:grpSpPr>
        <a:xfrm>
          <a:off x="0" y="0"/>
          <a:ext cx="0" cy="0"/>
          <a:chOff x="0" y="0"/>
          <a:chExt cx="0" cy="0"/>
        </a:xfrm>
      </p:grpSpPr>
      <p:sp>
        <p:nvSpPr>
          <p:cNvPr id="1337" name="Google Shape;1337;p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38" name="Google Shape;1338;p3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0" name="Shape 1360"/>
        <p:cNvGrpSpPr/>
        <p:nvPr/>
      </p:nvGrpSpPr>
      <p:grpSpPr>
        <a:xfrm>
          <a:off x="0" y="0"/>
          <a:ext cx="0" cy="0"/>
          <a:chOff x="0" y="0"/>
          <a:chExt cx="0" cy="0"/>
        </a:xfrm>
      </p:grpSpPr>
      <p:sp>
        <p:nvSpPr>
          <p:cNvPr id="1361" name="Google Shape;1361;p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62" name="Google Shape;1362;p3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8" name="Shape 1388"/>
        <p:cNvGrpSpPr/>
        <p:nvPr/>
      </p:nvGrpSpPr>
      <p:grpSpPr>
        <a:xfrm>
          <a:off x="0" y="0"/>
          <a:ext cx="0" cy="0"/>
          <a:chOff x="0" y="0"/>
          <a:chExt cx="0" cy="0"/>
        </a:xfrm>
      </p:grpSpPr>
      <p:sp>
        <p:nvSpPr>
          <p:cNvPr id="1389" name="Google Shape;1389;p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90" name="Google Shape;1390;p3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8" name="Shape 1418"/>
        <p:cNvGrpSpPr/>
        <p:nvPr/>
      </p:nvGrpSpPr>
      <p:grpSpPr>
        <a:xfrm>
          <a:off x="0" y="0"/>
          <a:ext cx="0" cy="0"/>
          <a:chOff x="0" y="0"/>
          <a:chExt cx="0" cy="0"/>
        </a:xfrm>
      </p:grpSpPr>
      <p:sp>
        <p:nvSpPr>
          <p:cNvPr id="1419" name="Google Shape;1419;p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20" name="Google Shape;1420;p3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0.png"/><Relationship Id="rId4" Type="http://schemas.openxmlformats.org/officeDocument/2006/relationships/image" Target="../media/image76.png"/><Relationship Id="rId5" Type="http://schemas.openxmlformats.org/officeDocument/2006/relationships/image" Target="../media/image3.png"/><Relationship Id="rId6" Type="http://schemas.openxmlformats.org/officeDocument/2006/relationships/image" Target="../media/image7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0.png"/><Relationship Id="rId4" Type="http://schemas.openxmlformats.org/officeDocument/2006/relationships/image" Target="../media/image4.png"/><Relationship Id="rId10" Type="http://schemas.openxmlformats.org/officeDocument/2006/relationships/image" Target="../media/image9.png"/><Relationship Id="rId9" Type="http://schemas.openxmlformats.org/officeDocument/2006/relationships/image" Target="../media/image2.png"/><Relationship Id="rId5" Type="http://schemas.openxmlformats.org/officeDocument/2006/relationships/image" Target="../media/image11.png"/><Relationship Id="rId6" Type="http://schemas.openxmlformats.org/officeDocument/2006/relationships/image" Target="../media/image6.png"/><Relationship Id="rId7" Type="http://schemas.openxmlformats.org/officeDocument/2006/relationships/image" Target="../media/image18.png"/><Relationship Id="rId8"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0.png"/><Relationship Id="rId4" Type="http://schemas.openxmlformats.org/officeDocument/2006/relationships/image" Target="../media/image15.png"/><Relationship Id="rId5" Type="http://schemas.openxmlformats.org/officeDocument/2006/relationships/image" Target="../media/image18.png"/></Relationships>
</file>

<file path=ppt/slides/_rels/slide5.xml.rels><?xml version="1.0" encoding="UTF-8" standalone="yes"?><Relationships xmlns="http://schemas.openxmlformats.org/package/2006/relationships"><Relationship Id="rId20" Type="http://schemas.openxmlformats.org/officeDocument/2006/relationships/image" Target="../media/image27.png"/><Relationship Id="rId22" Type="http://schemas.openxmlformats.org/officeDocument/2006/relationships/image" Target="../media/image26.png"/><Relationship Id="rId21" Type="http://schemas.openxmlformats.org/officeDocument/2006/relationships/image" Target="../media/image39.png"/><Relationship Id="rId24" Type="http://schemas.openxmlformats.org/officeDocument/2006/relationships/image" Target="../media/image40.png"/><Relationship Id="rId23" Type="http://schemas.openxmlformats.org/officeDocument/2006/relationships/image" Target="../media/image50.png"/><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0.png"/><Relationship Id="rId4" Type="http://schemas.openxmlformats.org/officeDocument/2006/relationships/image" Target="../media/image14.png"/><Relationship Id="rId9" Type="http://schemas.openxmlformats.org/officeDocument/2006/relationships/image" Target="../media/image18.png"/><Relationship Id="rId26" Type="http://schemas.openxmlformats.org/officeDocument/2006/relationships/image" Target="../media/image24.png"/><Relationship Id="rId25" Type="http://schemas.openxmlformats.org/officeDocument/2006/relationships/image" Target="../media/image29.png"/><Relationship Id="rId5" Type="http://schemas.openxmlformats.org/officeDocument/2006/relationships/image" Target="../media/image7.png"/><Relationship Id="rId6" Type="http://schemas.openxmlformats.org/officeDocument/2006/relationships/image" Target="../media/image12.png"/><Relationship Id="rId7" Type="http://schemas.openxmlformats.org/officeDocument/2006/relationships/image" Target="../media/image8.png"/><Relationship Id="rId8" Type="http://schemas.openxmlformats.org/officeDocument/2006/relationships/image" Target="../media/image13.png"/><Relationship Id="rId11" Type="http://schemas.openxmlformats.org/officeDocument/2006/relationships/image" Target="../media/image21.png"/><Relationship Id="rId10" Type="http://schemas.openxmlformats.org/officeDocument/2006/relationships/image" Target="../media/image16.png"/><Relationship Id="rId13" Type="http://schemas.openxmlformats.org/officeDocument/2006/relationships/image" Target="../media/image19.png"/><Relationship Id="rId12" Type="http://schemas.openxmlformats.org/officeDocument/2006/relationships/image" Target="../media/image17.png"/><Relationship Id="rId15" Type="http://schemas.openxmlformats.org/officeDocument/2006/relationships/image" Target="../media/image28.png"/><Relationship Id="rId14" Type="http://schemas.openxmlformats.org/officeDocument/2006/relationships/image" Target="../media/image25.png"/><Relationship Id="rId17" Type="http://schemas.openxmlformats.org/officeDocument/2006/relationships/image" Target="../media/image36.png"/><Relationship Id="rId16" Type="http://schemas.openxmlformats.org/officeDocument/2006/relationships/image" Target="../media/image22.png"/><Relationship Id="rId19" Type="http://schemas.openxmlformats.org/officeDocument/2006/relationships/image" Target="../media/image20.png"/><Relationship Id="rId18" Type="http://schemas.openxmlformats.org/officeDocument/2006/relationships/image" Target="../media/image2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0.png"/></Relationships>
</file>

<file path=ppt/slides/_rels/slide7.xml.rels><?xml version="1.0" encoding="UTF-8" standalone="yes"?><Relationships xmlns="http://schemas.openxmlformats.org/package/2006/relationships"><Relationship Id="rId20" Type="http://schemas.openxmlformats.org/officeDocument/2006/relationships/image" Target="../media/image47.png"/><Relationship Id="rId22" Type="http://schemas.openxmlformats.org/officeDocument/2006/relationships/image" Target="../media/image46.png"/><Relationship Id="rId21" Type="http://schemas.openxmlformats.org/officeDocument/2006/relationships/image" Target="../media/image52.png"/><Relationship Id="rId23" Type="http://schemas.openxmlformats.org/officeDocument/2006/relationships/image" Target="../media/image82.png"/><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0.png"/><Relationship Id="rId4" Type="http://schemas.openxmlformats.org/officeDocument/2006/relationships/image" Target="../media/image44.png"/><Relationship Id="rId9" Type="http://schemas.openxmlformats.org/officeDocument/2006/relationships/image" Target="../media/image18.png"/><Relationship Id="rId5" Type="http://schemas.openxmlformats.org/officeDocument/2006/relationships/image" Target="../media/image37.png"/><Relationship Id="rId6" Type="http://schemas.openxmlformats.org/officeDocument/2006/relationships/image" Target="../media/image41.png"/><Relationship Id="rId7" Type="http://schemas.openxmlformats.org/officeDocument/2006/relationships/image" Target="../media/image30.png"/><Relationship Id="rId8" Type="http://schemas.openxmlformats.org/officeDocument/2006/relationships/image" Target="../media/image42.png"/><Relationship Id="rId11" Type="http://schemas.openxmlformats.org/officeDocument/2006/relationships/image" Target="../media/image34.png"/><Relationship Id="rId10" Type="http://schemas.openxmlformats.org/officeDocument/2006/relationships/image" Target="../media/image48.png"/><Relationship Id="rId13" Type="http://schemas.openxmlformats.org/officeDocument/2006/relationships/image" Target="../media/image32.png"/><Relationship Id="rId12" Type="http://schemas.openxmlformats.org/officeDocument/2006/relationships/image" Target="../media/image33.png"/><Relationship Id="rId15" Type="http://schemas.openxmlformats.org/officeDocument/2006/relationships/image" Target="../media/image38.png"/><Relationship Id="rId14" Type="http://schemas.openxmlformats.org/officeDocument/2006/relationships/image" Target="../media/image35.png"/><Relationship Id="rId17" Type="http://schemas.openxmlformats.org/officeDocument/2006/relationships/image" Target="../media/image49.png"/><Relationship Id="rId16" Type="http://schemas.openxmlformats.org/officeDocument/2006/relationships/image" Target="../media/image31.png"/><Relationship Id="rId19" Type="http://schemas.openxmlformats.org/officeDocument/2006/relationships/image" Target="../media/image43.png"/><Relationship Id="rId18" Type="http://schemas.openxmlformats.org/officeDocument/2006/relationships/image" Target="../media/image4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0.png"/><Relationship Id="rId4" Type="http://schemas.openxmlformats.org/officeDocument/2006/relationships/image" Target="../media/image18.png"/><Relationship Id="rId5" Type="http://schemas.openxmlformats.org/officeDocument/2006/relationships/image" Target="../media/image5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0.png"/><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20" Type="http://schemas.openxmlformats.org/officeDocument/2006/relationships/image" Target="../media/image71.png"/><Relationship Id="rId22" Type="http://schemas.openxmlformats.org/officeDocument/2006/relationships/image" Target="../media/image69.png"/><Relationship Id="rId21" Type="http://schemas.openxmlformats.org/officeDocument/2006/relationships/image" Target="../media/image66.png"/><Relationship Id="rId24" Type="http://schemas.openxmlformats.org/officeDocument/2006/relationships/image" Target="../media/image73.png"/><Relationship Id="rId23" Type="http://schemas.openxmlformats.org/officeDocument/2006/relationships/image" Target="../media/image68.png"/><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51.png"/><Relationship Id="rId4" Type="http://schemas.openxmlformats.org/officeDocument/2006/relationships/image" Target="../media/image59.png"/><Relationship Id="rId9" Type="http://schemas.openxmlformats.org/officeDocument/2006/relationships/image" Target="../media/image144.png"/><Relationship Id="rId26" Type="http://schemas.openxmlformats.org/officeDocument/2006/relationships/image" Target="../media/image72.png"/><Relationship Id="rId25" Type="http://schemas.openxmlformats.org/officeDocument/2006/relationships/image" Target="../media/image70.png"/><Relationship Id="rId27" Type="http://schemas.openxmlformats.org/officeDocument/2006/relationships/image" Target="../media/image74.png"/><Relationship Id="rId5" Type="http://schemas.openxmlformats.org/officeDocument/2006/relationships/image" Target="../media/image18.png"/><Relationship Id="rId6" Type="http://schemas.openxmlformats.org/officeDocument/2006/relationships/image" Target="../media/image57.png"/><Relationship Id="rId7" Type="http://schemas.openxmlformats.org/officeDocument/2006/relationships/image" Target="../media/image55.png"/><Relationship Id="rId8" Type="http://schemas.openxmlformats.org/officeDocument/2006/relationships/image" Target="../media/image60.png"/><Relationship Id="rId11" Type="http://schemas.openxmlformats.org/officeDocument/2006/relationships/image" Target="../media/image58.png"/><Relationship Id="rId10" Type="http://schemas.openxmlformats.org/officeDocument/2006/relationships/image" Target="../media/image56.png"/><Relationship Id="rId13" Type="http://schemas.openxmlformats.org/officeDocument/2006/relationships/image" Target="../media/image65.png"/><Relationship Id="rId12" Type="http://schemas.openxmlformats.org/officeDocument/2006/relationships/image" Target="../media/image67.png"/><Relationship Id="rId15" Type="http://schemas.openxmlformats.org/officeDocument/2006/relationships/image" Target="../media/image61.png"/><Relationship Id="rId14" Type="http://schemas.openxmlformats.org/officeDocument/2006/relationships/image" Target="../media/image143.png"/><Relationship Id="rId17" Type="http://schemas.openxmlformats.org/officeDocument/2006/relationships/image" Target="../media/image63.png"/><Relationship Id="rId16" Type="http://schemas.openxmlformats.org/officeDocument/2006/relationships/image" Target="../media/image128.png"/><Relationship Id="rId19" Type="http://schemas.openxmlformats.org/officeDocument/2006/relationships/image" Target="../media/image64.png"/><Relationship Id="rId18" Type="http://schemas.openxmlformats.org/officeDocument/2006/relationships/image" Target="../media/image6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0.png"/><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20" Type="http://schemas.openxmlformats.org/officeDocument/2006/relationships/image" Target="../media/image91.png"/><Relationship Id="rId22" Type="http://schemas.openxmlformats.org/officeDocument/2006/relationships/image" Target="../media/image90.png"/><Relationship Id="rId21" Type="http://schemas.openxmlformats.org/officeDocument/2006/relationships/image" Target="../media/image106.png"/><Relationship Id="rId24" Type="http://schemas.openxmlformats.org/officeDocument/2006/relationships/image" Target="../media/image93.png"/><Relationship Id="rId23" Type="http://schemas.openxmlformats.org/officeDocument/2006/relationships/image" Target="../media/image89.png"/><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0.png"/><Relationship Id="rId4" Type="http://schemas.openxmlformats.org/officeDocument/2006/relationships/image" Target="../media/image77.png"/><Relationship Id="rId9" Type="http://schemas.openxmlformats.org/officeDocument/2006/relationships/image" Target="../media/image83.png"/><Relationship Id="rId26" Type="http://schemas.openxmlformats.org/officeDocument/2006/relationships/image" Target="../media/image99.png"/><Relationship Id="rId25" Type="http://schemas.openxmlformats.org/officeDocument/2006/relationships/image" Target="../media/image98.png"/><Relationship Id="rId28" Type="http://schemas.openxmlformats.org/officeDocument/2006/relationships/image" Target="../media/image100.png"/><Relationship Id="rId27" Type="http://schemas.openxmlformats.org/officeDocument/2006/relationships/image" Target="../media/image95.png"/><Relationship Id="rId5" Type="http://schemas.openxmlformats.org/officeDocument/2006/relationships/image" Target="../media/image18.png"/><Relationship Id="rId6" Type="http://schemas.openxmlformats.org/officeDocument/2006/relationships/image" Target="../media/image75.png"/><Relationship Id="rId29" Type="http://schemas.openxmlformats.org/officeDocument/2006/relationships/image" Target="../media/image126.png"/><Relationship Id="rId7" Type="http://schemas.openxmlformats.org/officeDocument/2006/relationships/image" Target="../media/image79.png"/><Relationship Id="rId8" Type="http://schemas.openxmlformats.org/officeDocument/2006/relationships/image" Target="../media/image80.png"/><Relationship Id="rId30" Type="http://schemas.openxmlformats.org/officeDocument/2006/relationships/image" Target="../media/image112.png"/><Relationship Id="rId11" Type="http://schemas.openxmlformats.org/officeDocument/2006/relationships/image" Target="../media/image84.png"/><Relationship Id="rId10" Type="http://schemas.openxmlformats.org/officeDocument/2006/relationships/image" Target="../media/image85.png"/><Relationship Id="rId13" Type="http://schemas.openxmlformats.org/officeDocument/2006/relationships/image" Target="../media/image122.png"/><Relationship Id="rId12" Type="http://schemas.openxmlformats.org/officeDocument/2006/relationships/image" Target="../media/image86.png"/><Relationship Id="rId15" Type="http://schemas.openxmlformats.org/officeDocument/2006/relationships/image" Target="../media/image88.png"/><Relationship Id="rId14" Type="http://schemas.openxmlformats.org/officeDocument/2006/relationships/image" Target="../media/image81.png"/><Relationship Id="rId17" Type="http://schemas.openxmlformats.org/officeDocument/2006/relationships/image" Target="../media/image87.png"/><Relationship Id="rId16" Type="http://schemas.openxmlformats.org/officeDocument/2006/relationships/image" Target="../media/image92.png"/><Relationship Id="rId19" Type="http://schemas.openxmlformats.org/officeDocument/2006/relationships/image" Target="../media/image96.png"/><Relationship Id="rId18" Type="http://schemas.openxmlformats.org/officeDocument/2006/relationships/image" Target="../media/image9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0.png"/><Relationship Id="rId4" Type="http://schemas.openxmlformats.org/officeDocument/2006/relationships/image" Target="../media/image97.png"/><Relationship Id="rId9" Type="http://schemas.openxmlformats.org/officeDocument/2006/relationships/image" Target="../media/image108.png"/><Relationship Id="rId5" Type="http://schemas.openxmlformats.org/officeDocument/2006/relationships/image" Target="../media/image105.png"/><Relationship Id="rId6" Type="http://schemas.openxmlformats.org/officeDocument/2006/relationships/image" Target="../media/image110.png"/><Relationship Id="rId7" Type="http://schemas.openxmlformats.org/officeDocument/2006/relationships/image" Target="../media/image107.png"/><Relationship Id="rId8" Type="http://schemas.openxmlformats.org/officeDocument/2006/relationships/image" Target="../media/image18.png"/><Relationship Id="rId11" Type="http://schemas.openxmlformats.org/officeDocument/2006/relationships/image" Target="../media/image117.png"/><Relationship Id="rId10" Type="http://schemas.openxmlformats.org/officeDocument/2006/relationships/image" Target="../media/image87.png"/><Relationship Id="rId13" Type="http://schemas.openxmlformats.org/officeDocument/2006/relationships/image" Target="../media/image168.png"/><Relationship Id="rId12" Type="http://schemas.openxmlformats.org/officeDocument/2006/relationships/image" Target="../media/image114.png"/><Relationship Id="rId15" Type="http://schemas.openxmlformats.org/officeDocument/2006/relationships/image" Target="../media/image118.png"/><Relationship Id="rId14" Type="http://schemas.openxmlformats.org/officeDocument/2006/relationships/image" Target="../media/image123.png"/><Relationship Id="rId16" Type="http://schemas.openxmlformats.org/officeDocument/2006/relationships/image" Target="../media/image1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0.png"/><Relationship Id="rId4" Type="http://schemas.openxmlformats.org/officeDocument/2006/relationships/image" Target="../media/image116.png"/><Relationship Id="rId9" Type="http://schemas.openxmlformats.org/officeDocument/2006/relationships/image" Target="../media/image127.png"/><Relationship Id="rId5" Type="http://schemas.openxmlformats.org/officeDocument/2006/relationships/image" Target="../media/image18.png"/><Relationship Id="rId6" Type="http://schemas.openxmlformats.org/officeDocument/2006/relationships/image" Target="../media/image145.png"/><Relationship Id="rId7" Type="http://schemas.openxmlformats.org/officeDocument/2006/relationships/image" Target="../media/image161.png"/><Relationship Id="rId8" Type="http://schemas.openxmlformats.org/officeDocument/2006/relationships/image" Target="../media/image125.png"/><Relationship Id="rId11" Type="http://schemas.openxmlformats.org/officeDocument/2006/relationships/image" Target="../media/image132.png"/><Relationship Id="rId10" Type="http://schemas.openxmlformats.org/officeDocument/2006/relationships/image" Target="../media/image15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0.png"/><Relationship Id="rId4" Type="http://schemas.openxmlformats.org/officeDocument/2006/relationships/image" Target="../media/image138.png"/><Relationship Id="rId9" Type="http://schemas.openxmlformats.org/officeDocument/2006/relationships/image" Target="../media/image134.png"/><Relationship Id="rId5" Type="http://schemas.openxmlformats.org/officeDocument/2006/relationships/image" Target="../media/image18.png"/><Relationship Id="rId6" Type="http://schemas.openxmlformats.org/officeDocument/2006/relationships/image" Target="../media/image130.png"/><Relationship Id="rId7" Type="http://schemas.openxmlformats.org/officeDocument/2006/relationships/image" Target="../media/image87.png"/><Relationship Id="rId8" Type="http://schemas.openxmlformats.org/officeDocument/2006/relationships/image" Target="../media/image129.png"/><Relationship Id="rId11" Type="http://schemas.openxmlformats.org/officeDocument/2006/relationships/image" Target="../media/image141.png"/><Relationship Id="rId10" Type="http://schemas.openxmlformats.org/officeDocument/2006/relationships/image" Target="../media/image131.png"/><Relationship Id="rId13" Type="http://schemas.openxmlformats.org/officeDocument/2006/relationships/image" Target="../media/image142.png"/><Relationship Id="rId12" Type="http://schemas.openxmlformats.org/officeDocument/2006/relationships/image" Target="../media/image14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0.png"/><Relationship Id="rId4" Type="http://schemas.openxmlformats.org/officeDocument/2006/relationships/image" Target="../media/image139.png"/><Relationship Id="rId9" Type="http://schemas.openxmlformats.org/officeDocument/2006/relationships/image" Target="../media/image135.png"/><Relationship Id="rId5" Type="http://schemas.openxmlformats.org/officeDocument/2006/relationships/image" Target="../media/image136.png"/><Relationship Id="rId6" Type="http://schemas.openxmlformats.org/officeDocument/2006/relationships/image" Target="../media/image18.png"/><Relationship Id="rId7" Type="http://schemas.openxmlformats.org/officeDocument/2006/relationships/image" Target="../media/image133.png"/><Relationship Id="rId8" Type="http://schemas.openxmlformats.org/officeDocument/2006/relationships/image" Target="../media/image146.png"/><Relationship Id="rId11" Type="http://schemas.openxmlformats.org/officeDocument/2006/relationships/image" Target="../media/image149.png"/><Relationship Id="rId10" Type="http://schemas.openxmlformats.org/officeDocument/2006/relationships/image" Target="../media/image137.png"/><Relationship Id="rId12" Type="http://schemas.openxmlformats.org/officeDocument/2006/relationships/image" Target="../media/image14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0.png"/><Relationship Id="rId4" Type="http://schemas.openxmlformats.org/officeDocument/2006/relationships/image" Target="../media/image152.png"/><Relationship Id="rId9" Type="http://schemas.openxmlformats.org/officeDocument/2006/relationships/image" Target="../media/image18.png"/><Relationship Id="rId5" Type="http://schemas.openxmlformats.org/officeDocument/2006/relationships/image" Target="../media/image154.png"/><Relationship Id="rId6" Type="http://schemas.openxmlformats.org/officeDocument/2006/relationships/image" Target="../media/image151.png"/><Relationship Id="rId7" Type="http://schemas.openxmlformats.org/officeDocument/2006/relationships/image" Target="../media/image155.png"/><Relationship Id="rId8" Type="http://schemas.openxmlformats.org/officeDocument/2006/relationships/image" Target="../media/image153.png"/><Relationship Id="rId11" Type="http://schemas.openxmlformats.org/officeDocument/2006/relationships/image" Target="../media/image161.png"/><Relationship Id="rId10" Type="http://schemas.openxmlformats.org/officeDocument/2006/relationships/image" Target="../media/image148.png"/><Relationship Id="rId13" Type="http://schemas.openxmlformats.org/officeDocument/2006/relationships/image" Target="../media/image235.png"/><Relationship Id="rId12" Type="http://schemas.openxmlformats.org/officeDocument/2006/relationships/image" Target="../media/image180.png"/><Relationship Id="rId15" Type="http://schemas.openxmlformats.org/officeDocument/2006/relationships/image" Target="../media/image197.png"/><Relationship Id="rId14" Type="http://schemas.openxmlformats.org/officeDocument/2006/relationships/image" Target="../media/image174.png"/><Relationship Id="rId17" Type="http://schemas.openxmlformats.org/officeDocument/2006/relationships/image" Target="../media/image156.png"/><Relationship Id="rId16" Type="http://schemas.openxmlformats.org/officeDocument/2006/relationships/image" Target="../media/image20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0.png"/><Relationship Id="rId4" Type="http://schemas.openxmlformats.org/officeDocument/2006/relationships/image" Target="../media/image18.png"/><Relationship Id="rId9" Type="http://schemas.openxmlformats.org/officeDocument/2006/relationships/image" Target="../media/image160.png"/><Relationship Id="rId5" Type="http://schemas.openxmlformats.org/officeDocument/2006/relationships/image" Target="../media/image87.png"/><Relationship Id="rId6" Type="http://schemas.openxmlformats.org/officeDocument/2006/relationships/image" Target="../media/image158.png"/><Relationship Id="rId7" Type="http://schemas.openxmlformats.org/officeDocument/2006/relationships/image" Target="../media/image157.png"/><Relationship Id="rId8" Type="http://schemas.openxmlformats.org/officeDocument/2006/relationships/image" Target="../media/image159.png"/><Relationship Id="rId10" Type="http://schemas.openxmlformats.org/officeDocument/2006/relationships/image" Target="../media/image17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0.png"/><Relationship Id="rId4" Type="http://schemas.openxmlformats.org/officeDocument/2006/relationships/image" Target="../media/image163.png"/><Relationship Id="rId9" Type="http://schemas.openxmlformats.org/officeDocument/2006/relationships/image" Target="../media/image18.png"/><Relationship Id="rId5" Type="http://schemas.openxmlformats.org/officeDocument/2006/relationships/image" Target="../media/image164.png"/><Relationship Id="rId6" Type="http://schemas.openxmlformats.org/officeDocument/2006/relationships/image" Target="../media/image166.png"/><Relationship Id="rId7" Type="http://schemas.openxmlformats.org/officeDocument/2006/relationships/image" Target="../media/image165.png"/><Relationship Id="rId8" Type="http://schemas.openxmlformats.org/officeDocument/2006/relationships/image" Target="../media/image169.png"/><Relationship Id="rId11" Type="http://schemas.openxmlformats.org/officeDocument/2006/relationships/image" Target="../media/image172.png"/><Relationship Id="rId10" Type="http://schemas.openxmlformats.org/officeDocument/2006/relationships/image" Target="../media/image167.png"/><Relationship Id="rId13" Type="http://schemas.openxmlformats.org/officeDocument/2006/relationships/image" Target="../media/image182.png"/><Relationship Id="rId12" Type="http://schemas.openxmlformats.org/officeDocument/2006/relationships/image" Target="../media/image87.png"/><Relationship Id="rId15" Type="http://schemas.openxmlformats.org/officeDocument/2006/relationships/image" Target="../media/image173.png"/><Relationship Id="rId14" Type="http://schemas.openxmlformats.org/officeDocument/2006/relationships/image" Target="../media/image171.png"/><Relationship Id="rId17" Type="http://schemas.openxmlformats.org/officeDocument/2006/relationships/image" Target="../media/image175.png"/><Relationship Id="rId16" Type="http://schemas.openxmlformats.org/officeDocument/2006/relationships/image" Target="../media/image17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0.png"/><Relationship Id="rId4" Type="http://schemas.openxmlformats.org/officeDocument/2006/relationships/image" Target="../media/image176.png"/><Relationship Id="rId9" Type="http://schemas.openxmlformats.org/officeDocument/2006/relationships/image" Target="../media/image181.png"/><Relationship Id="rId5" Type="http://schemas.openxmlformats.org/officeDocument/2006/relationships/image" Target="../media/image186.png"/><Relationship Id="rId6" Type="http://schemas.openxmlformats.org/officeDocument/2006/relationships/image" Target="../media/image178.png"/><Relationship Id="rId7" Type="http://schemas.openxmlformats.org/officeDocument/2006/relationships/image" Target="../media/image184.png"/><Relationship Id="rId8" Type="http://schemas.openxmlformats.org/officeDocument/2006/relationships/image" Target="../media/image183.png"/><Relationship Id="rId11" Type="http://schemas.openxmlformats.org/officeDocument/2006/relationships/image" Target="../media/image18.png"/><Relationship Id="rId10" Type="http://schemas.openxmlformats.org/officeDocument/2006/relationships/image" Target="../media/image199.png"/><Relationship Id="rId13" Type="http://schemas.openxmlformats.org/officeDocument/2006/relationships/image" Target="../media/image185.png"/><Relationship Id="rId12" Type="http://schemas.openxmlformats.org/officeDocument/2006/relationships/image" Target="../media/image205.png"/><Relationship Id="rId15" Type="http://schemas.openxmlformats.org/officeDocument/2006/relationships/image" Target="../media/image187.png"/><Relationship Id="rId14" Type="http://schemas.openxmlformats.org/officeDocument/2006/relationships/image" Target="../media/image188.png"/><Relationship Id="rId17" Type="http://schemas.openxmlformats.org/officeDocument/2006/relationships/image" Target="../media/image189.png"/><Relationship Id="rId16" Type="http://schemas.openxmlformats.org/officeDocument/2006/relationships/image" Target="../media/image191.png"/><Relationship Id="rId18" Type="http://schemas.openxmlformats.org/officeDocument/2006/relationships/image" Target="../media/image14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0.png"/><Relationship Id="rId4" Type="http://schemas.openxmlformats.org/officeDocument/2006/relationships/image" Target="../media/image220.png"/><Relationship Id="rId5" Type="http://schemas.openxmlformats.org/officeDocument/2006/relationships/image" Target="../media/image1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0.png"/><Relationship Id="rId4" Type="http://schemas.openxmlformats.org/officeDocument/2006/relationships/image" Target="../media/image195.png"/><Relationship Id="rId5" Type="http://schemas.openxmlformats.org/officeDocument/2006/relationships/image" Target="../media/image203.png"/><Relationship Id="rId6" Type="http://schemas.openxmlformats.org/officeDocument/2006/relationships/image" Target="../media/image193.png"/><Relationship Id="rId7" Type="http://schemas.openxmlformats.org/officeDocument/2006/relationships/image" Target="../media/image196.png"/><Relationship Id="rId8" Type="http://schemas.openxmlformats.org/officeDocument/2006/relationships/image" Target="../media/image1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0.png"/><Relationship Id="rId4" Type="http://schemas.openxmlformats.org/officeDocument/2006/relationships/image" Target="../media/image190.png"/><Relationship Id="rId9" Type="http://schemas.openxmlformats.org/officeDocument/2006/relationships/image" Target="../media/image210.png"/><Relationship Id="rId5" Type="http://schemas.openxmlformats.org/officeDocument/2006/relationships/image" Target="../media/image204.png"/><Relationship Id="rId6" Type="http://schemas.openxmlformats.org/officeDocument/2006/relationships/image" Target="../media/image198.png"/><Relationship Id="rId7" Type="http://schemas.openxmlformats.org/officeDocument/2006/relationships/image" Target="../media/image194.png"/><Relationship Id="rId8" Type="http://schemas.openxmlformats.org/officeDocument/2006/relationships/image" Target="../media/image217.png"/><Relationship Id="rId11" Type="http://schemas.openxmlformats.org/officeDocument/2006/relationships/image" Target="../media/image234.png"/><Relationship Id="rId10" Type="http://schemas.openxmlformats.org/officeDocument/2006/relationships/image" Target="../media/image202.png"/><Relationship Id="rId13" Type="http://schemas.openxmlformats.org/officeDocument/2006/relationships/image" Target="../media/image201.png"/><Relationship Id="rId12" Type="http://schemas.openxmlformats.org/officeDocument/2006/relationships/image" Target="../media/image207.png"/><Relationship Id="rId15" Type="http://schemas.openxmlformats.org/officeDocument/2006/relationships/image" Target="../media/image211.png"/><Relationship Id="rId14" Type="http://schemas.openxmlformats.org/officeDocument/2006/relationships/image" Target="../media/image21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0.png"/><Relationship Id="rId4" Type="http://schemas.openxmlformats.org/officeDocument/2006/relationships/image" Target="../media/image206.png"/><Relationship Id="rId9" Type="http://schemas.openxmlformats.org/officeDocument/2006/relationships/image" Target="../media/image231.png"/><Relationship Id="rId5" Type="http://schemas.openxmlformats.org/officeDocument/2006/relationships/image" Target="../media/image208.png"/><Relationship Id="rId6" Type="http://schemas.openxmlformats.org/officeDocument/2006/relationships/image" Target="../media/image232.png"/><Relationship Id="rId7" Type="http://schemas.openxmlformats.org/officeDocument/2006/relationships/image" Target="../media/image18.png"/><Relationship Id="rId8" Type="http://schemas.openxmlformats.org/officeDocument/2006/relationships/image" Target="../media/image209.png"/><Relationship Id="rId11" Type="http://schemas.openxmlformats.org/officeDocument/2006/relationships/image" Target="../media/image225.png"/><Relationship Id="rId10" Type="http://schemas.openxmlformats.org/officeDocument/2006/relationships/image" Target="../media/image216.png"/><Relationship Id="rId13" Type="http://schemas.openxmlformats.org/officeDocument/2006/relationships/image" Target="../media/image222.png"/><Relationship Id="rId12" Type="http://schemas.openxmlformats.org/officeDocument/2006/relationships/image" Target="../media/image213.png"/><Relationship Id="rId15" Type="http://schemas.openxmlformats.org/officeDocument/2006/relationships/image" Target="../media/image219.png"/><Relationship Id="rId14" Type="http://schemas.openxmlformats.org/officeDocument/2006/relationships/image" Target="../media/image218.png"/><Relationship Id="rId16" Type="http://schemas.openxmlformats.org/officeDocument/2006/relationships/image" Target="../media/image22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0.png"/><Relationship Id="rId4" Type="http://schemas.openxmlformats.org/officeDocument/2006/relationships/image" Target="../media/image1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10.png"/><Relationship Id="rId4" Type="http://schemas.openxmlformats.org/officeDocument/2006/relationships/image" Target="../media/image1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10.png"/><Relationship Id="rId4" Type="http://schemas.openxmlformats.org/officeDocument/2006/relationships/image" Target="../media/image1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10.png"/><Relationship Id="rId4" Type="http://schemas.openxmlformats.org/officeDocument/2006/relationships/image" Target="../media/image1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10.png"/><Relationship Id="rId4" Type="http://schemas.openxmlformats.org/officeDocument/2006/relationships/image" Target="../media/image224.png"/><Relationship Id="rId5" Type="http://schemas.openxmlformats.org/officeDocument/2006/relationships/image" Target="../media/image233.png"/><Relationship Id="rId6" Type="http://schemas.openxmlformats.org/officeDocument/2006/relationships/image" Target="../media/image228.png"/><Relationship Id="rId7" Type="http://schemas.openxmlformats.org/officeDocument/2006/relationships/image" Target="../media/image223.png"/><Relationship Id="rId8" Type="http://schemas.openxmlformats.org/officeDocument/2006/relationships/image" Target="../media/image23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10.png"/><Relationship Id="rId4" Type="http://schemas.openxmlformats.org/officeDocument/2006/relationships/image" Target="../media/image228.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1.png"/><Relationship Id="rId4" Type="http://schemas.openxmlformats.org/officeDocument/2006/relationships/image" Target="../media/image228.png"/><Relationship Id="rId5" Type="http://schemas.openxmlformats.org/officeDocument/2006/relationships/image" Target="../media/image22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3" name="Shape 83"/>
        <p:cNvGrpSpPr/>
        <p:nvPr/>
      </p:nvGrpSpPr>
      <p:grpSpPr>
        <a:xfrm>
          <a:off x="0" y="0"/>
          <a:ext cx="0" cy="0"/>
          <a:chOff x="0" y="0"/>
          <a:chExt cx="0" cy="0"/>
        </a:xfrm>
      </p:grpSpPr>
      <p:pic>
        <p:nvPicPr>
          <p:cNvPr descr="image.png" id="84" name="Google Shape;84;p13"/>
          <p:cNvPicPr preferRelativeResize="0"/>
          <p:nvPr/>
        </p:nvPicPr>
        <p:blipFill rotWithShape="1">
          <a:blip r:embed="rId3">
            <a:alphaModFix/>
          </a:blip>
          <a:srcRect b="0" l="0" r="0" t="0"/>
          <a:stretch/>
        </p:blipFill>
        <p:spPr>
          <a:xfrm>
            <a:off x="0" y="0"/>
            <a:ext cx="12192000" cy="6858000"/>
          </a:xfrm>
          <a:prstGeom prst="rect">
            <a:avLst/>
          </a:prstGeom>
          <a:noFill/>
          <a:ln>
            <a:noFill/>
          </a:ln>
        </p:spPr>
      </p:pic>
      <p:grpSp>
        <p:nvGrpSpPr>
          <p:cNvPr id="85" name="Google Shape;85;p13"/>
          <p:cNvGrpSpPr/>
          <p:nvPr/>
        </p:nvGrpSpPr>
        <p:grpSpPr>
          <a:xfrm>
            <a:off x="4572000" y="1333500"/>
            <a:ext cx="3048000" cy="304800"/>
            <a:chOff x="0" y="0"/>
            <a:chExt cx="3048000" cy="304800"/>
          </a:xfrm>
        </p:grpSpPr>
        <p:sp>
          <p:nvSpPr>
            <p:cNvPr id="86" name="Google Shape;86;p13"/>
            <p:cNvSpPr/>
            <p:nvPr/>
          </p:nvSpPr>
          <p:spPr>
            <a:xfrm>
              <a:off x="0" y="0"/>
              <a:ext cx="3048000" cy="304800"/>
            </a:xfrm>
            <a:prstGeom prst="roundRect">
              <a:avLst>
                <a:gd fmla="val 50000" name="adj"/>
              </a:avLst>
            </a:prstGeom>
            <a:solidFill>
              <a:srgbClr val="EEF2FF"/>
            </a:solidFill>
            <a:ln cap="flat" cmpd="sng" w="9525">
              <a:solidFill>
                <a:srgbClr val="C7D2F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7" name="Google Shape;87;p13"/>
            <p:cNvSpPr txBox="1"/>
            <p:nvPr/>
          </p:nvSpPr>
          <p:spPr>
            <a:xfrm>
              <a:off x="0" y="0"/>
              <a:ext cx="3048000" cy="304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850">
                  <a:solidFill>
                    <a:srgbClr val="4F46E5"/>
                  </a:solidFill>
                  <a:latin typeface="JetBrains Mono"/>
                  <a:ea typeface="JetBrains Mono"/>
                  <a:cs typeface="JetBrains Mono"/>
                  <a:sym typeface="JetBrains Mono"/>
                </a:rPr>
                <a:t>MCKINSEY-GRADE EXECUTIVE BLUEPRINT</a:t>
              </a:r>
              <a:endParaRPr b="1" sz="850">
                <a:solidFill>
                  <a:srgbClr val="4F46E5"/>
                </a:solidFill>
                <a:latin typeface="JetBrains Mono"/>
                <a:ea typeface="JetBrains Mono"/>
                <a:cs typeface="JetBrains Mono"/>
                <a:sym typeface="JetBrains Mono"/>
              </a:endParaRPr>
            </a:p>
          </p:txBody>
        </p:sp>
      </p:grpSp>
      <p:sp>
        <p:nvSpPr>
          <p:cNvPr id="88" name="Google Shape;88;p13"/>
          <p:cNvSpPr txBox="1"/>
          <p:nvPr/>
        </p:nvSpPr>
        <p:spPr>
          <a:xfrm>
            <a:off x="1809750" y="1857375"/>
            <a:ext cx="8572500" cy="952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US" sz="6200">
                <a:solidFill>
                  <a:srgbClr val="0F172A"/>
                </a:solidFill>
                <a:latin typeface="Plus Jakarta Sans ExtraBold"/>
                <a:ea typeface="Plus Jakarta Sans ExtraBold"/>
                <a:cs typeface="Plus Jakarta Sans ExtraBold"/>
                <a:sym typeface="Plus Jakarta Sans ExtraBold"/>
              </a:rPr>
              <a:t>Devin AI</a:t>
            </a:r>
            <a:endParaRPr b="0" sz="6200">
              <a:solidFill>
                <a:srgbClr val="0F172A"/>
              </a:solidFill>
              <a:latin typeface="Plus Jakarta Sans ExtraBold"/>
              <a:ea typeface="Plus Jakarta Sans ExtraBold"/>
              <a:cs typeface="Plus Jakarta Sans ExtraBold"/>
              <a:sym typeface="Plus Jakarta Sans ExtraBold"/>
            </a:endParaRPr>
          </a:p>
        </p:txBody>
      </p:sp>
      <p:sp>
        <p:nvSpPr>
          <p:cNvPr id="89" name="Google Shape;89;p13"/>
          <p:cNvSpPr txBox="1"/>
          <p:nvPr/>
        </p:nvSpPr>
        <p:spPr>
          <a:xfrm>
            <a:off x="1809750" y="2952750"/>
            <a:ext cx="85725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US" sz="1900">
                <a:solidFill>
                  <a:srgbClr val="334155"/>
                </a:solidFill>
                <a:latin typeface="Plus Jakarta Sans SemiBold"/>
                <a:ea typeface="Plus Jakarta Sans SemiBold"/>
                <a:cs typeface="Plus Jakarta Sans SemiBold"/>
                <a:sym typeface="Plus Jakarta Sans SemiBold"/>
              </a:rPr>
              <a:t>The Autonomous Software Engineering Agent</a:t>
            </a:r>
            <a:endParaRPr b="0" sz="1900">
              <a:solidFill>
                <a:srgbClr val="334155"/>
              </a:solidFill>
              <a:latin typeface="Plus Jakarta Sans SemiBold"/>
              <a:ea typeface="Plus Jakarta Sans SemiBold"/>
              <a:cs typeface="Plus Jakarta Sans SemiBold"/>
              <a:sym typeface="Plus Jakarta Sans SemiBold"/>
            </a:endParaRPr>
          </a:p>
        </p:txBody>
      </p:sp>
      <p:sp>
        <p:nvSpPr>
          <p:cNvPr id="90" name="Google Shape;90;p13"/>
          <p:cNvSpPr txBox="1"/>
          <p:nvPr/>
        </p:nvSpPr>
        <p:spPr>
          <a:xfrm>
            <a:off x="2286000" y="3476625"/>
            <a:ext cx="7620000" cy="5715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0" lang="en-US" sz="1250">
                <a:solidFill>
                  <a:srgbClr val="64748B"/>
                </a:solidFill>
                <a:latin typeface="Plus Jakarta Sans"/>
                <a:ea typeface="Plus Jakarta Sans"/>
                <a:cs typeface="Plus Jakarta Sans"/>
                <a:sym typeface="Plus Jakarta Sans"/>
              </a:rPr>
              <a:t>Complete Architectural Deep-Dive, Enterprise Adoption Models, and Core Operational Best Practices for Engineering Leaders.</a:t>
            </a:r>
            <a:endParaRPr b="0" sz="1250">
              <a:solidFill>
                <a:srgbClr val="64748B"/>
              </a:solidFill>
              <a:latin typeface="Plus Jakarta Sans"/>
              <a:ea typeface="Plus Jakarta Sans"/>
              <a:cs typeface="Plus Jakarta Sans"/>
              <a:sym typeface="Plus Jakarta Sans"/>
            </a:endParaRPr>
          </a:p>
        </p:txBody>
      </p:sp>
      <p:grpSp>
        <p:nvGrpSpPr>
          <p:cNvPr id="91" name="Google Shape;91;p13"/>
          <p:cNvGrpSpPr/>
          <p:nvPr/>
        </p:nvGrpSpPr>
        <p:grpSpPr>
          <a:xfrm>
            <a:off x="2000250" y="4572000"/>
            <a:ext cx="2476500" cy="457200"/>
            <a:chOff x="0" y="0"/>
            <a:chExt cx="2476500" cy="457200"/>
          </a:xfrm>
        </p:grpSpPr>
        <p:sp>
          <p:nvSpPr>
            <p:cNvPr id="92" name="Google Shape;92;p13"/>
            <p:cNvSpPr/>
            <p:nvPr/>
          </p:nvSpPr>
          <p:spPr>
            <a:xfrm>
              <a:off x="0" y="0"/>
              <a:ext cx="2476500" cy="457200"/>
            </a:xfrm>
            <a:prstGeom prst="roundRect">
              <a:avLst>
                <a:gd fmla="val 50000"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93" name="Google Shape;93;p13"/>
            <p:cNvPicPr preferRelativeResize="0"/>
            <p:nvPr/>
          </p:nvPicPr>
          <p:blipFill rotWithShape="1">
            <a:blip r:embed="rId4">
              <a:alphaModFix/>
            </a:blip>
            <a:srcRect b="0" l="3575" r="3566" t="0"/>
            <a:stretch/>
          </p:blipFill>
          <p:spPr>
            <a:xfrm>
              <a:off x="228600" y="176213"/>
              <a:ext cx="123900" cy="104700"/>
            </a:xfrm>
            <a:prstGeom prst="rect">
              <a:avLst/>
            </a:prstGeom>
            <a:noFill/>
            <a:ln>
              <a:noFill/>
            </a:ln>
          </p:spPr>
        </p:pic>
        <p:sp>
          <p:nvSpPr>
            <p:cNvPr id="94" name="Google Shape;94;p13"/>
            <p:cNvSpPr txBox="1"/>
            <p:nvPr/>
          </p:nvSpPr>
          <p:spPr>
            <a:xfrm>
              <a:off x="428625" y="0"/>
              <a:ext cx="1809600" cy="45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850">
                  <a:solidFill>
                    <a:srgbClr val="475569"/>
                  </a:solidFill>
                  <a:latin typeface="JetBrains Mono"/>
                  <a:ea typeface="JetBrains Mono"/>
                  <a:cs typeface="JetBrains Mono"/>
                  <a:sym typeface="JetBrains Mono"/>
                </a:rPr>
                <a:t>PLATFORM DEPTH</a:t>
              </a:r>
              <a:endParaRPr b="1" sz="850">
                <a:solidFill>
                  <a:srgbClr val="475569"/>
                </a:solidFill>
                <a:latin typeface="JetBrains Mono"/>
                <a:ea typeface="JetBrains Mono"/>
                <a:cs typeface="JetBrains Mono"/>
                <a:sym typeface="JetBrains Mono"/>
              </a:endParaRPr>
            </a:p>
          </p:txBody>
        </p:sp>
      </p:grpSp>
      <p:grpSp>
        <p:nvGrpSpPr>
          <p:cNvPr id="95" name="Google Shape;95;p13"/>
          <p:cNvGrpSpPr/>
          <p:nvPr/>
        </p:nvGrpSpPr>
        <p:grpSpPr>
          <a:xfrm>
            <a:off x="4857750" y="4572000"/>
            <a:ext cx="2476500" cy="457200"/>
            <a:chOff x="0" y="0"/>
            <a:chExt cx="2476500" cy="457200"/>
          </a:xfrm>
        </p:grpSpPr>
        <p:sp>
          <p:nvSpPr>
            <p:cNvPr id="96" name="Google Shape;96;p13"/>
            <p:cNvSpPr/>
            <p:nvPr/>
          </p:nvSpPr>
          <p:spPr>
            <a:xfrm>
              <a:off x="0" y="0"/>
              <a:ext cx="2476500" cy="457200"/>
            </a:xfrm>
            <a:prstGeom prst="roundRect">
              <a:avLst>
                <a:gd fmla="val 50000"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97" name="Google Shape;97;p13"/>
            <p:cNvPicPr preferRelativeResize="0"/>
            <p:nvPr/>
          </p:nvPicPr>
          <p:blipFill rotWithShape="1">
            <a:blip r:embed="rId5">
              <a:alphaModFix/>
            </a:blip>
            <a:srcRect b="0" l="3849" r="3840" t="0"/>
            <a:stretch/>
          </p:blipFill>
          <p:spPr>
            <a:xfrm>
              <a:off x="228600" y="176213"/>
              <a:ext cx="114300" cy="104700"/>
            </a:xfrm>
            <a:prstGeom prst="rect">
              <a:avLst/>
            </a:prstGeom>
            <a:noFill/>
            <a:ln>
              <a:noFill/>
            </a:ln>
          </p:spPr>
        </p:pic>
        <p:sp>
          <p:nvSpPr>
            <p:cNvPr id="98" name="Google Shape;98;p13"/>
            <p:cNvSpPr txBox="1"/>
            <p:nvPr/>
          </p:nvSpPr>
          <p:spPr>
            <a:xfrm>
              <a:off x="428625" y="0"/>
              <a:ext cx="1809600" cy="45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850">
                  <a:solidFill>
                    <a:srgbClr val="475569"/>
                  </a:solidFill>
                  <a:latin typeface="JetBrains Mono"/>
                  <a:ea typeface="JetBrains Mono"/>
                  <a:cs typeface="JetBrains Mono"/>
                  <a:sym typeface="JetBrains Mono"/>
                </a:rPr>
                <a:t>GOVERNANCE</a:t>
              </a:r>
              <a:endParaRPr b="1" sz="850">
                <a:solidFill>
                  <a:srgbClr val="475569"/>
                </a:solidFill>
                <a:latin typeface="JetBrains Mono"/>
                <a:ea typeface="JetBrains Mono"/>
                <a:cs typeface="JetBrains Mono"/>
                <a:sym typeface="JetBrains Mono"/>
              </a:endParaRPr>
            </a:p>
          </p:txBody>
        </p:sp>
      </p:grpSp>
      <p:grpSp>
        <p:nvGrpSpPr>
          <p:cNvPr id="99" name="Google Shape;99;p13"/>
          <p:cNvGrpSpPr/>
          <p:nvPr/>
        </p:nvGrpSpPr>
        <p:grpSpPr>
          <a:xfrm>
            <a:off x="7715250" y="4572000"/>
            <a:ext cx="2476500" cy="457200"/>
            <a:chOff x="0" y="0"/>
            <a:chExt cx="2476500" cy="457200"/>
          </a:xfrm>
        </p:grpSpPr>
        <p:sp>
          <p:nvSpPr>
            <p:cNvPr id="100" name="Google Shape;100;p13"/>
            <p:cNvSpPr/>
            <p:nvPr/>
          </p:nvSpPr>
          <p:spPr>
            <a:xfrm>
              <a:off x="0" y="0"/>
              <a:ext cx="2476500" cy="457200"/>
            </a:xfrm>
            <a:prstGeom prst="roundRect">
              <a:avLst>
                <a:gd fmla="val 50000"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101" name="Google Shape;101;p13"/>
            <p:cNvPicPr preferRelativeResize="0"/>
            <p:nvPr/>
          </p:nvPicPr>
          <p:blipFill rotWithShape="1">
            <a:blip r:embed="rId6">
              <a:alphaModFix/>
            </a:blip>
            <a:srcRect b="0" l="3849" r="3840" t="0"/>
            <a:stretch/>
          </p:blipFill>
          <p:spPr>
            <a:xfrm>
              <a:off x="228600" y="176213"/>
              <a:ext cx="114300" cy="104700"/>
            </a:xfrm>
            <a:prstGeom prst="rect">
              <a:avLst/>
            </a:prstGeom>
            <a:noFill/>
            <a:ln>
              <a:noFill/>
            </a:ln>
          </p:spPr>
        </p:pic>
        <p:sp>
          <p:nvSpPr>
            <p:cNvPr id="102" name="Google Shape;102;p13"/>
            <p:cNvSpPr txBox="1"/>
            <p:nvPr/>
          </p:nvSpPr>
          <p:spPr>
            <a:xfrm>
              <a:off x="428625" y="0"/>
              <a:ext cx="1809600" cy="45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850">
                  <a:solidFill>
                    <a:srgbClr val="475569"/>
                  </a:solidFill>
                  <a:latin typeface="JetBrains Mono"/>
                  <a:ea typeface="JetBrains Mono"/>
                  <a:cs typeface="JetBrains Mono"/>
                  <a:sym typeface="JetBrains Mono"/>
                </a:rPr>
                <a:t>BEST PRACTICES</a:t>
              </a:r>
              <a:endParaRPr b="1" sz="850">
                <a:solidFill>
                  <a:srgbClr val="475569"/>
                </a:solidFill>
                <a:latin typeface="JetBrains Mono"/>
                <a:ea typeface="JetBrains Mono"/>
                <a:cs typeface="JetBrains Mono"/>
                <a:sym typeface="JetBrains Mono"/>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6" name="Shape 106"/>
        <p:cNvGrpSpPr/>
        <p:nvPr/>
      </p:nvGrpSpPr>
      <p:grpSpPr>
        <a:xfrm>
          <a:off x="0" y="0"/>
          <a:ext cx="0" cy="0"/>
          <a:chOff x="0" y="0"/>
          <a:chExt cx="0" cy="0"/>
        </a:xfrm>
      </p:grpSpPr>
      <p:grpSp>
        <p:nvGrpSpPr>
          <p:cNvPr id="107" name="Google Shape;107;p14"/>
          <p:cNvGrpSpPr/>
          <p:nvPr/>
        </p:nvGrpSpPr>
        <p:grpSpPr>
          <a:xfrm>
            <a:off x="762000" y="476250"/>
            <a:ext cx="10668000" cy="533475"/>
            <a:chOff x="0" y="0"/>
            <a:chExt cx="10668000" cy="533475"/>
          </a:xfrm>
        </p:grpSpPr>
        <p:sp>
          <p:nvSpPr>
            <p:cNvPr id="108" name="Google Shape;108;p14"/>
            <p:cNvSpPr txBox="1"/>
            <p:nvPr/>
          </p:nvSpPr>
          <p:spPr>
            <a:xfrm>
              <a:off x="0" y="0"/>
              <a:ext cx="10668000" cy="428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2400">
                  <a:solidFill>
                    <a:srgbClr val="0F172A"/>
                  </a:solidFill>
                  <a:latin typeface="Plus Jakarta Sans ExtraBold"/>
                  <a:ea typeface="Plus Jakarta Sans ExtraBold"/>
                  <a:cs typeface="Plus Jakarta Sans ExtraBold"/>
                  <a:sym typeface="Plus Jakarta Sans ExtraBold"/>
                </a:rPr>
                <a:t>What is Devin AI?</a:t>
              </a:r>
              <a:endParaRPr b="0" sz="2400">
                <a:solidFill>
                  <a:srgbClr val="0F172A"/>
                </a:solidFill>
                <a:latin typeface="Plus Jakarta Sans ExtraBold"/>
                <a:ea typeface="Plus Jakarta Sans ExtraBold"/>
                <a:cs typeface="Plus Jakarta Sans ExtraBold"/>
                <a:sym typeface="Plus Jakarta Sans ExtraBold"/>
              </a:endParaRPr>
            </a:p>
          </p:txBody>
        </p:sp>
        <p:sp>
          <p:nvSpPr>
            <p:cNvPr id="109" name="Google Shape;109;p14"/>
            <p:cNvSpPr/>
            <p:nvPr/>
          </p:nvSpPr>
          <p:spPr>
            <a:xfrm>
              <a:off x="0" y="523875"/>
              <a:ext cx="10668000" cy="9600"/>
            </a:xfrm>
            <a:prstGeom prst="rect">
              <a:avLst/>
            </a:prstGeom>
            <a:solidFill>
              <a:srgbClr val="E2E8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110" name="Google Shape;110;p14"/>
          <p:cNvGrpSpPr/>
          <p:nvPr/>
        </p:nvGrpSpPr>
        <p:grpSpPr>
          <a:xfrm>
            <a:off x="762000" y="1285875"/>
            <a:ext cx="5905500" cy="4048275"/>
            <a:chOff x="0" y="0"/>
            <a:chExt cx="5905500" cy="4048275"/>
          </a:xfrm>
        </p:grpSpPr>
        <p:sp>
          <p:nvSpPr>
            <p:cNvPr id="111" name="Google Shape;111;p14"/>
            <p:cNvSpPr txBox="1"/>
            <p:nvPr/>
          </p:nvSpPr>
          <p:spPr>
            <a:xfrm>
              <a:off x="0" y="0"/>
              <a:ext cx="5905500" cy="666900"/>
            </a:xfrm>
            <a:prstGeom prst="rect">
              <a:avLst/>
            </a:prstGeom>
            <a:noFill/>
            <a:ln>
              <a:noFill/>
            </a:ln>
          </p:spPr>
          <p:txBody>
            <a:bodyPr anchorCtr="0" anchor="t" bIns="0" lIns="142875" spcFirstLastPara="1" rIns="0" wrap="square" tIns="0">
              <a:noAutofit/>
            </a:bodyPr>
            <a:lstStyle/>
            <a:p>
              <a:pPr indent="0" lvl="0" marL="0" rtl="0" algn="l">
                <a:spcBef>
                  <a:spcPts val="0"/>
                </a:spcBef>
                <a:spcAft>
                  <a:spcPts val="0"/>
                </a:spcAft>
                <a:buNone/>
              </a:pPr>
              <a:r>
                <a:rPr b="0" lang="en-US" sz="1250">
                  <a:solidFill>
                    <a:srgbClr val="1E293B"/>
                  </a:solidFill>
                  <a:latin typeface="Plus Jakarta Sans SemiBold"/>
                  <a:ea typeface="Plus Jakarta Sans SemiBold"/>
                  <a:cs typeface="Plus Jakarta Sans SemiBold"/>
                  <a:sym typeface="Plus Jakarta Sans SemiBold"/>
                </a:rPr>
                <a:t>An autonomous software engineering agent — built by Cognition — operating as a virtualized engineer inside an isolated machine environment.</a:t>
              </a:r>
              <a:endParaRPr b="0" sz="1250">
                <a:solidFill>
                  <a:srgbClr val="1E293B"/>
                </a:solidFill>
                <a:latin typeface="Plus Jakarta Sans SemiBold"/>
                <a:ea typeface="Plus Jakarta Sans SemiBold"/>
                <a:cs typeface="Plus Jakarta Sans SemiBold"/>
                <a:sym typeface="Plus Jakarta Sans SemiBold"/>
              </a:endParaRPr>
            </a:p>
          </p:txBody>
        </p:sp>
        <p:grpSp>
          <p:nvGrpSpPr>
            <p:cNvPr id="112" name="Google Shape;112;p14"/>
            <p:cNvGrpSpPr/>
            <p:nvPr/>
          </p:nvGrpSpPr>
          <p:grpSpPr>
            <a:xfrm>
              <a:off x="0" y="904875"/>
              <a:ext cx="5905500" cy="904800"/>
              <a:chOff x="0" y="0"/>
              <a:chExt cx="5905500" cy="904800"/>
            </a:xfrm>
          </p:grpSpPr>
          <p:sp>
            <p:nvSpPr>
              <p:cNvPr id="113" name="Google Shape;113;p14"/>
              <p:cNvSpPr/>
              <p:nvPr/>
            </p:nvSpPr>
            <p:spPr>
              <a:xfrm>
                <a:off x="0" y="0"/>
                <a:ext cx="5905500" cy="904800"/>
              </a:xfrm>
              <a:prstGeom prst="roundRect">
                <a:avLst>
                  <a:gd fmla="val 8421"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4" name="Google Shape;114;p14"/>
              <p:cNvSpPr txBox="1"/>
              <p:nvPr/>
            </p:nvSpPr>
            <p:spPr>
              <a:xfrm>
                <a:off x="190500" y="177927"/>
                <a:ext cx="428700" cy="42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2400">
                    <a:solidFill>
                      <a:srgbClr val="2563EB"/>
                    </a:solidFill>
                    <a:latin typeface="Material Icons"/>
                    <a:ea typeface="Material Icons"/>
                    <a:cs typeface="Material Icons"/>
                    <a:sym typeface="Material Icons"/>
                  </a:rPr>
                  <a:t>terminal</a:t>
                </a:r>
                <a:endParaRPr sz="2400">
                  <a:solidFill>
                    <a:srgbClr val="2563EB"/>
                  </a:solidFill>
                  <a:latin typeface="Material Icons"/>
                  <a:ea typeface="Material Icons"/>
                  <a:cs typeface="Material Icons"/>
                  <a:sym typeface="Material Icons"/>
                </a:endParaRPr>
              </a:p>
            </p:txBody>
          </p:sp>
          <p:sp>
            <p:nvSpPr>
              <p:cNvPr id="115" name="Google Shape;115;p14"/>
              <p:cNvSpPr txBox="1"/>
              <p:nvPr/>
            </p:nvSpPr>
            <p:spPr>
              <a:xfrm>
                <a:off x="714375" y="142875"/>
                <a:ext cx="5000700" cy="619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150">
                    <a:solidFill>
                      <a:srgbClr val="0F172A"/>
                    </a:solidFill>
                    <a:latin typeface="Plus Jakarta Sans"/>
                    <a:ea typeface="Plus Jakarta Sans"/>
                    <a:cs typeface="Plus Jakarta Sans"/>
                    <a:sym typeface="Plus Jakarta Sans"/>
                  </a:rPr>
                  <a:t>Runtime Engine</a:t>
                </a:r>
                <a:endParaRPr b="1" sz="1150">
                  <a:solidFill>
                    <a:srgbClr val="0F172A"/>
                  </a:solidFill>
                  <a:latin typeface="Plus Jakarta Sans"/>
                  <a:ea typeface="Plus Jakarta Sans"/>
                  <a:cs typeface="Plus Jakarta Sans"/>
                  <a:sym typeface="Plus Jakarta Sans"/>
                </a:endParaRPr>
              </a:p>
              <a:p>
                <a:pPr indent="0" lvl="0" marL="0" rtl="0" algn="l">
                  <a:spcBef>
                    <a:spcPts val="300"/>
                  </a:spcBef>
                  <a:spcAft>
                    <a:spcPts val="0"/>
                  </a:spcAft>
                  <a:buNone/>
                </a:pPr>
                <a:r>
                  <a:rPr b="0" lang="en-US" sz="950">
                    <a:solidFill>
                      <a:srgbClr val="475569"/>
                    </a:solidFill>
                    <a:latin typeface="Plus Jakarta Sans"/>
                    <a:ea typeface="Plus Jakarta Sans"/>
                    <a:cs typeface="Plus Jakarta Sans"/>
                    <a:sym typeface="Plus Jakarta Sans"/>
                  </a:rPr>
                  <a:t>Full Ubuntu VM with workspace browser, secure IDE, terminal integration, and execution sandboxing.</a:t>
                </a:r>
                <a:endParaRPr b="0" sz="950">
                  <a:solidFill>
                    <a:srgbClr val="475569"/>
                  </a:solidFill>
                  <a:latin typeface="Plus Jakarta Sans"/>
                  <a:ea typeface="Plus Jakarta Sans"/>
                  <a:cs typeface="Plus Jakarta Sans"/>
                  <a:sym typeface="Plus Jakarta Sans"/>
                </a:endParaRPr>
              </a:p>
            </p:txBody>
          </p:sp>
        </p:grpSp>
        <p:grpSp>
          <p:nvGrpSpPr>
            <p:cNvPr id="116" name="Google Shape;116;p14"/>
            <p:cNvGrpSpPr/>
            <p:nvPr/>
          </p:nvGrpSpPr>
          <p:grpSpPr>
            <a:xfrm>
              <a:off x="0" y="1952625"/>
              <a:ext cx="5905500" cy="904800"/>
              <a:chOff x="0" y="0"/>
              <a:chExt cx="5905500" cy="904800"/>
            </a:xfrm>
          </p:grpSpPr>
          <p:sp>
            <p:nvSpPr>
              <p:cNvPr id="117" name="Google Shape;117;p14"/>
              <p:cNvSpPr/>
              <p:nvPr/>
            </p:nvSpPr>
            <p:spPr>
              <a:xfrm>
                <a:off x="0" y="0"/>
                <a:ext cx="5905500" cy="904800"/>
              </a:xfrm>
              <a:prstGeom prst="roundRect">
                <a:avLst>
                  <a:gd fmla="val 8421"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8" name="Google Shape;118;p14"/>
              <p:cNvSpPr txBox="1"/>
              <p:nvPr/>
            </p:nvSpPr>
            <p:spPr>
              <a:xfrm>
                <a:off x="190500" y="177927"/>
                <a:ext cx="428700" cy="42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2400">
                    <a:solidFill>
                      <a:srgbClr val="4F46E5"/>
                    </a:solidFill>
                    <a:latin typeface="Material Icons"/>
                    <a:ea typeface="Material Icons"/>
                    <a:cs typeface="Material Icons"/>
                    <a:sym typeface="Material Icons"/>
                  </a:rPr>
                  <a:t>psychology</a:t>
                </a:r>
                <a:endParaRPr sz="2400">
                  <a:solidFill>
                    <a:srgbClr val="4F46E5"/>
                  </a:solidFill>
                  <a:latin typeface="Material Icons"/>
                  <a:ea typeface="Material Icons"/>
                  <a:cs typeface="Material Icons"/>
                  <a:sym typeface="Material Icons"/>
                </a:endParaRPr>
              </a:p>
            </p:txBody>
          </p:sp>
          <p:sp>
            <p:nvSpPr>
              <p:cNvPr id="119" name="Google Shape;119;p14"/>
              <p:cNvSpPr txBox="1"/>
              <p:nvPr/>
            </p:nvSpPr>
            <p:spPr>
              <a:xfrm>
                <a:off x="714375" y="142875"/>
                <a:ext cx="5000700" cy="619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150">
                    <a:solidFill>
                      <a:srgbClr val="0F172A"/>
                    </a:solidFill>
                    <a:latin typeface="Plus Jakarta Sans"/>
                    <a:ea typeface="Plus Jakarta Sans"/>
                    <a:cs typeface="Plus Jakarta Sans"/>
                    <a:sym typeface="Plus Jakarta Sans"/>
                  </a:rPr>
                  <a:t>Memory Fabrics</a:t>
                </a:r>
                <a:endParaRPr b="1" sz="1150">
                  <a:solidFill>
                    <a:srgbClr val="0F172A"/>
                  </a:solidFill>
                  <a:latin typeface="Plus Jakarta Sans"/>
                  <a:ea typeface="Plus Jakarta Sans"/>
                  <a:cs typeface="Plus Jakarta Sans"/>
                  <a:sym typeface="Plus Jakarta Sans"/>
                </a:endParaRPr>
              </a:p>
              <a:p>
                <a:pPr indent="0" lvl="0" marL="0" rtl="0" algn="l">
                  <a:spcBef>
                    <a:spcPts val="300"/>
                  </a:spcBef>
                  <a:spcAft>
                    <a:spcPts val="0"/>
                  </a:spcAft>
                  <a:buNone/>
                </a:pPr>
                <a:r>
                  <a:rPr b="0" lang="en-US" sz="950">
                    <a:solidFill>
                      <a:srgbClr val="475569"/>
                    </a:solidFill>
                    <a:latin typeface="Plus Jakarta Sans"/>
                    <a:ea typeface="Plus Jakarta Sans"/>
                    <a:cs typeface="Plus Jakarta Sans"/>
                    <a:sym typeface="Plus Jakarta Sans"/>
                  </a:rPr>
                  <a:t>Grows with use. Utilizes custom Knowledge repositories, user Skills, and Playbook modules.</a:t>
                </a:r>
                <a:endParaRPr b="0" sz="950">
                  <a:solidFill>
                    <a:srgbClr val="475569"/>
                  </a:solidFill>
                  <a:latin typeface="Plus Jakarta Sans"/>
                  <a:ea typeface="Plus Jakarta Sans"/>
                  <a:cs typeface="Plus Jakarta Sans"/>
                  <a:sym typeface="Plus Jakarta Sans"/>
                </a:endParaRPr>
              </a:p>
            </p:txBody>
          </p:sp>
        </p:grpSp>
        <p:grpSp>
          <p:nvGrpSpPr>
            <p:cNvPr id="120" name="Google Shape;120;p14"/>
            <p:cNvGrpSpPr/>
            <p:nvPr/>
          </p:nvGrpSpPr>
          <p:grpSpPr>
            <a:xfrm>
              <a:off x="0" y="3000375"/>
              <a:ext cx="5905500" cy="1047900"/>
              <a:chOff x="0" y="0"/>
              <a:chExt cx="5905500" cy="1047900"/>
            </a:xfrm>
          </p:grpSpPr>
          <p:sp>
            <p:nvSpPr>
              <p:cNvPr id="121" name="Google Shape;121;p14"/>
              <p:cNvSpPr/>
              <p:nvPr/>
            </p:nvSpPr>
            <p:spPr>
              <a:xfrm>
                <a:off x="0" y="0"/>
                <a:ext cx="5905500" cy="1047900"/>
              </a:xfrm>
              <a:prstGeom prst="roundRect">
                <a:avLst>
                  <a:gd fmla="val 7272" name="adj"/>
                </a:avLst>
              </a:prstGeom>
              <a:solidFill>
                <a:srgbClr val="EFF6FF"/>
              </a:solidFill>
              <a:ln cap="flat" cmpd="sng" w="9525">
                <a:solidFill>
                  <a:srgbClr val="BFDBF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2" name="Google Shape;122;p14"/>
              <p:cNvSpPr txBox="1"/>
              <p:nvPr/>
            </p:nvSpPr>
            <p:spPr>
              <a:xfrm>
                <a:off x="190500" y="142875"/>
                <a:ext cx="5524500" cy="762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000">
                    <a:solidFill>
                      <a:srgbClr val="2563EB"/>
                    </a:solidFill>
                    <a:latin typeface="Plus Jakarta Sans"/>
                    <a:ea typeface="Plus Jakarta Sans"/>
                    <a:cs typeface="Plus Jakarta Sans"/>
                    <a:sym typeface="Plus Jakarta Sans"/>
                  </a:rPr>
                  <a:t>Key Distinction</a:t>
                </a:r>
                <a:endParaRPr b="1" sz="1000">
                  <a:solidFill>
                    <a:srgbClr val="2563EB"/>
                  </a:solidFill>
                  <a:latin typeface="Plus Jakarta Sans"/>
                  <a:ea typeface="Plus Jakarta Sans"/>
                  <a:cs typeface="Plus Jakarta Sans"/>
                  <a:sym typeface="Plus Jakarta Sans"/>
                </a:endParaRPr>
              </a:p>
              <a:p>
                <a:pPr indent="0" lvl="0" marL="0" rtl="0" algn="l">
                  <a:spcBef>
                    <a:spcPts val="450"/>
                  </a:spcBef>
                  <a:spcAft>
                    <a:spcPts val="0"/>
                  </a:spcAft>
                  <a:buNone/>
                </a:pPr>
                <a:r>
                  <a:rPr b="0" lang="en-US" sz="950">
                    <a:solidFill>
                      <a:srgbClr val="1E293B"/>
                    </a:solidFill>
                    <a:latin typeface="Plus Jakarta Sans"/>
                    <a:ea typeface="Plus Jakarta Sans"/>
                    <a:cs typeface="Plus Jakarta Sans"/>
                    <a:sym typeface="Plus Jakarta Sans"/>
                  </a:rPr>
                  <a:t>Devin is not a suggestion engine. It is an agent that takes a task, reasons about it, executes it autonomously, and delivers a result — typically a pull request.</a:t>
                </a:r>
                <a:endParaRPr b="0" sz="950">
                  <a:solidFill>
                    <a:srgbClr val="1E293B"/>
                  </a:solidFill>
                  <a:latin typeface="Plus Jakarta Sans"/>
                  <a:ea typeface="Plus Jakarta Sans"/>
                  <a:cs typeface="Plus Jakarta Sans"/>
                  <a:sym typeface="Plus Jakarta Sans"/>
                </a:endParaRPr>
              </a:p>
            </p:txBody>
          </p:sp>
        </p:grpSp>
      </p:grpSp>
      <p:grpSp>
        <p:nvGrpSpPr>
          <p:cNvPr id="123" name="Google Shape;123;p14"/>
          <p:cNvGrpSpPr/>
          <p:nvPr/>
        </p:nvGrpSpPr>
        <p:grpSpPr>
          <a:xfrm>
            <a:off x="7048500" y="1285875"/>
            <a:ext cx="4381500" cy="4048200"/>
            <a:chOff x="0" y="0"/>
            <a:chExt cx="4381500" cy="4048200"/>
          </a:xfrm>
        </p:grpSpPr>
        <p:sp>
          <p:nvSpPr>
            <p:cNvPr id="124" name="Google Shape;124;p14"/>
            <p:cNvSpPr/>
            <p:nvPr/>
          </p:nvSpPr>
          <p:spPr>
            <a:xfrm>
              <a:off x="0" y="0"/>
              <a:ext cx="4381500" cy="4048200"/>
            </a:xfrm>
            <a:prstGeom prst="roundRect">
              <a:avLst>
                <a:gd fmla="val 2823" name="adj"/>
              </a:avLst>
            </a:prstGeom>
            <a:solidFill>
              <a:srgbClr val="0F172A"/>
            </a:solidFill>
            <a:ln cap="flat" cmpd="sng" w="14300">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5" name="Google Shape;125;p14"/>
            <p:cNvSpPr/>
            <p:nvPr/>
          </p:nvSpPr>
          <p:spPr>
            <a:xfrm>
              <a:off x="171450" y="171450"/>
              <a:ext cx="114300" cy="114300"/>
            </a:xfrm>
            <a:prstGeom prst="ellipse">
              <a:avLst/>
            </a:prstGeom>
            <a:solidFill>
              <a:srgbClr val="EF44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6" name="Google Shape;126;p14"/>
            <p:cNvSpPr/>
            <p:nvPr/>
          </p:nvSpPr>
          <p:spPr>
            <a:xfrm>
              <a:off x="361950" y="171450"/>
              <a:ext cx="114300" cy="114300"/>
            </a:xfrm>
            <a:prstGeom prst="ellipse">
              <a:avLst/>
            </a:prstGeom>
            <a:solidFill>
              <a:srgbClr val="F59E0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7" name="Google Shape;127;p14"/>
            <p:cNvSpPr/>
            <p:nvPr/>
          </p:nvSpPr>
          <p:spPr>
            <a:xfrm>
              <a:off x="552450" y="171450"/>
              <a:ext cx="114300" cy="114300"/>
            </a:xfrm>
            <a:prstGeom prst="ellipse">
              <a:avLst/>
            </a:pr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8" name="Google Shape;128;p14"/>
            <p:cNvSpPr txBox="1"/>
            <p:nvPr/>
          </p:nvSpPr>
          <p:spPr>
            <a:xfrm>
              <a:off x="190500" y="523875"/>
              <a:ext cx="4000500" cy="3333900"/>
            </a:xfrm>
            <a:prstGeom prst="rect">
              <a:avLst/>
            </a:prstGeom>
            <a:noFill/>
            <a:ln>
              <a:noFill/>
            </a:ln>
          </p:spPr>
          <p:txBody>
            <a:bodyPr anchorCtr="0" anchor="t" bIns="95250" lIns="95250" spcFirstLastPara="1" rIns="95250" wrap="square" tIns="95250">
              <a:noAutofit/>
            </a:bodyPr>
            <a:lstStyle/>
            <a:p>
              <a:pPr indent="0" lvl="0" marL="0" rtl="0" algn="l">
                <a:spcBef>
                  <a:spcPts val="0"/>
                </a:spcBef>
                <a:spcAft>
                  <a:spcPts val="0"/>
                </a:spcAft>
                <a:buNone/>
              </a:pPr>
              <a:r>
                <a:rPr lang="en-US" sz="950">
                  <a:solidFill>
                    <a:srgbClr val="64748B"/>
                  </a:solidFill>
                  <a:latin typeface="JetBrains Mono"/>
                  <a:ea typeface="JetBrains Mono"/>
                  <a:cs typeface="JetBrains Mono"/>
                  <a:sym typeface="JetBrains Mono"/>
                </a:rPr>
                <a:t>// Devin Runtime VM Snapshot</a:t>
              </a:r>
              <a:endParaRPr sz="950">
                <a:solidFill>
                  <a:srgbClr val="64748B"/>
                </a:solidFill>
                <a:latin typeface="JetBrains Mono"/>
                <a:ea typeface="JetBrains Mono"/>
                <a:cs typeface="JetBrains Mono"/>
                <a:sym typeface="JetBrains Mono"/>
              </a:endParaRPr>
            </a:p>
            <a:p>
              <a:pPr indent="0" lvl="0" marL="0" rtl="0" algn="l">
                <a:spcBef>
                  <a:spcPts val="1125"/>
                </a:spcBef>
                <a:spcAft>
                  <a:spcPts val="0"/>
                </a:spcAft>
                <a:buNone/>
              </a:pPr>
              <a:r>
                <a:rPr lang="en-US" sz="950">
                  <a:solidFill>
                    <a:srgbClr val="F472B6"/>
                  </a:solidFill>
                  <a:latin typeface="JetBrains Mono"/>
                  <a:ea typeface="JetBrains Mono"/>
                  <a:cs typeface="JetBrains Mono"/>
                  <a:sym typeface="JetBrains Mono"/>
                </a:rPr>
                <a:t>$</a:t>
              </a:r>
              <a:r>
                <a:rPr lang="en-US" sz="950">
                  <a:solidFill>
                    <a:srgbClr val="CBD5E1"/>
                  </a:solidFill>
                  <a:latin typeface="JetBrains Mono"/>
                  <a:ea typeface="JetBrains Mono"/>
                  <a:cs typeface="JetBrains Mono"/>
                  <a:sym typeface="JetBrains Mono"/>
                </a:rPr>
                <a:t> </a:t>
              </a:r>
              <a:r>
                <a:rPr lang="en-US" sz="950">
                  <a:solidFill>
                    <a:srgbClr val="38BDF8"/>
                  </a:solidFill>
                  <a:latin typeface="JetBrains Mono"/>
                  <a:ea typeface="JetBrains Mono"/>
                  <a:cs typeface="JetBrains Mono"/>
                  <a:sym typeface="JetBrains Mono"/>
                </a:rPr>
                <a:t>devin run "deploy-service"</a:t>
              </a:r>
              <a:endParaRPr sz="950">
                <a:solidFill>
                  <a:srgbClr val="CBD5E1"/>
                </a:solidFill>
                <a:latin typeface="JetBrains Mono"/>
                <a:ea typeface="JetBrains Mono"/>
                <a:cs typeface="JetBrains Mono"/>
                <a:sym typeface="JetBrains Mono"/>
              </a:endParaRPr>
            </a:p>
            <a:p>
              <a:pPr indent="0" lvl="0" marL="0" rtl="0" algn="l">
                <a:spcBef>
                  <a:spcPts val="900"/>
                </a:spcBef>
                <a:spcAft>
                  <a:spcPts val="0"/>
                </a:spcAft>
                <a:buNone/>
              </a:pPr>
              <a:r>
                <a:rPr lang="en-US" sz="950">
                  <a:solidFill>
                    <a:srgbClr val="38BDF8"/>
                  </a:solidFill>
                  <a:latin typeface="JetBrains Mono"/>
                  <a:ea typeface="JetBrains Mono"/>
                  <a:cs typeface="JetBrains Mono"/>
                  <a:sym typeface="JetBrains Mono"/>
                </a:rPr>
                <a:t>&gt; Loading base workspace snapshot...</a:t>
              </a:r>
              <a:endParaRPr sz="950">
                <a:solidFill>
                  <a:srgbClr val="38BDF8"/>
                </a:solidFill>
                <a:latin typeface="JetBrains Mono"/>
                <a:ea typeface="JetBrains Mono"/>
                <a:cs typeface="JetBrains Mono"/>
                <a:sym typeface="JetBrains Mono"/>
              </a:endParaRPr>
            </a:p>
            <a:p>
              <a:pPr indent="0" lvl="0" marL="0" rtl="0" algn="l">
                <a:spcBef>
                  <a:spcPts val="900"/>
                </a:spcBef>
                <a:spcAft>
                  <a:spcPts val="0"/>
                </a:spcAft>
                <a:buNone/>
              </a:pPr>
              <a:r>
                <a:rPr lang="en-US" sz="950">
                  <a:solidFill>
                    <a:srgbClr val="4ADE80"/>
                  </a:solidFill>
                  <a:latin typeface="JetBrains Mono"/>
                  <a:ea typeface="JetBrains Mono"/>
                  <a:cs typeface="JetBrains Mono"/>
                  <a:sym typeface="JetBrains Mono"/>
                </a:rPr>
                <a:t>&gt; Cloned repo: payment-service-v2</a:t>
              </a:r>
              <a:endParaRPr sz="950">
                <a:solidFill>
                  <a:srgbClr val="4ADE80"/>
                </a:solidFill>
                <a:latin typeface="JetBrains Mono"/>
                <a:ea typeface="JetBrains Mono"/>
                <a:cs typeface="JetBrains Mono"/>
                <a:sym typeface="JetBrains Mono"/>
              </a:endParaRPr>
            </a:p>
            <a:p>
              <a:pPr indent="0" lvl="0" marL="0" rtl="0" algn="l">
                <a:spcBef>
                  <a:spcPts val="900"/>
                </a:spcBef>
                <a:spcAft>
                  <a:spcPts val="0"/>
                </a:spcAft>
                <a:buNone/>
              </a:pPr>
              <a:r>
                <a:rPr lang="en-US" sz="950">
                  <a:solidFill>
                    <a:srgbClr val="94A3B8"/>
                  </a:solidFill>
                  <a:latin typeface="JetBrains Mono"/>
                  <a:ea typeface="JetBrains Mono"/>
                  <a:cs typeface="JetBrains Mono"/>
                  <a:sym typeface="JetBrains Mono"/>
                </a:rPr>
                <a:t>&gt; Running tests: 42 passed, 0 failed</a:t>
              </a:r>
              <a:endParaRPr sz="950">
                <a:solidFill>
                  <a:srgbClr val="94A3B8"/>
                </a:solidFill>
                <a:latin typeface="JetBrains Mono"/>
                <a:ea typeface="JetBrains Mono"/>
                <a:cs typeface="JetBrains Mono"/>
                <a:sym typeface="JetBrains Mono"/>
              </a:endParaRPr>
            </a:p>
            <a:p>
              <a:pPr indent="0" lvl="0" marL="0" rtl="0" algn="l">
                <a:spcBef>
                  <a:spcPts val="900"/>
                </a:spcBef>
                <a:spcAft>
                  <a:spcPts val="0"/>
                </a:spcAft>
                <a:buNone/>
              </a:pPr>
              <a:r>
                <a:rPr lang="en-US" sz="950">
                  <a:solidFill>
                    <a:srgbClr val="38BDF8"/>
                  </a:solidFill>
                  <a:latin typeface="JetBrains Mono"/>
                  <a:ea typeface="JetBrains Mono"/>
                  <a:cs typeface="JetBrains Mono"/>
                  <a:sym typeface="JetBrains Mono"/>
                </a:rPr>
                <a:t>&gt; Pull request created successfully!</a:t>
              </a:r>
              <a:endParaRPr sz="950">
                <a:solidFill>
                  <a:srgbClr val="38BDF8"/>
                </a:solidFill>
                <a:latin typeface="JetBrains Mono"/>
                <a:ea typeface="JetBrains Mono"/>
                <a:cs typeface="JetBrains Mono"/>
                <a:sym typeface="JetBrains Mono"/>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2" name="Shape 132"/>
        <p:cNvGrpSpPr/>
        <p:nvPr/>
      </p:nvGrpSpPr>
      <p:grpSpPr>
        <a:xfrm>
          <a:off x="0" y="0"/>
          <a:ext cx="0" cy="0"/>
          <a:chOff x="0" y="0"/>
          <a:chExt cx="0" cy="0"/>
        </a:xfrm>
      </p:grpSpPr>
      <p:pic>
        <p:nvPicPr>
          <p:cNvPr descr="image.png" id="133" name="Google Shape;133;p15"/>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34" name="Google Shape;134;p15"/>
          <p:cNvPicPr preferRelativeResize="0"/>
          <p:nvPr/>
        </p:nvPicPr>
        <p:blipFill rotWithShape="1">
          <a:blip r:embed="rId4">
            <a:alphaModFix/>
          </a:blip>
          <a:srcRect b="0" l="0" r="0" t="0"/>
          <a:stretch/>
        </p:blipFill>
        <p:spPr>
          <a:xfrm>
            <a:off x="571500" y="2799159"/>
            <a:ext cx="3587650" cy="1916906"/>
          </a:xfrm>
          <a:prstGeom prst="rect">
            <a:avLst/>
          </a:prstGeom>
          <a:noFill/>
          <a:ln>
            <a:noFill/>
          </a:ln>
        </p:spPr>
      </p:pic>
      <p:pic>
        <p:nvPicPr>
          <p:cNvPr descr="image.png" id="135" name="Google Shape;135;p15"/>
          <p:cNvPicPr preferRelativeResize="0"/>
          <p:nvPr/>
        </p:nvPicPr>
        <p:blipFill rotWithShape="1">
          <a:blip r:embed="rId5">
            <a:alphaModFix/>
          </a:blip>
          <a:srcRect b="0" l="0" r="0" t="0"/>
          <a:stretch/>
        </p:blipFill>
        <p:spPr>
          <a:xfrm>
            <a:off x="4302025" y="2799159"/>
            <a:ext cx="3587799" cy="1916906"/>
          </a:xfrm>
          <a:prstGeom prst="rect">
            <a:avLst/>
          </a:prstGeom>
          <a:noFill/>
          <a:ln>
            <a:noFill/>
          </a:ln>
        </p:spPr>
      </p:pic>
      <p:pic>
        <p:nvPicPr>
          <p:cNvPr descr="image.png" id="136" name="Google Shape;136;p15"/>
          <p:cNvPicPr preferRelativeResize="0"/>
          <p:nvPr/>
        </p:nvPicPr>
        <p:blipFill rotWithShape="1">
          <a:blip r:embed="rId6">
            <a:alphaModFix/>
          </a:blip>
          <a:srcRect b="0" l="0" r="0" t="0"/>
          <a:stretch/>
        </p:blipFill>
        <p:spPr>
          <a:xfrm>
            <a:off x="8032700" y="2799159"/>
            <a:ext cx="3587650" cy="1916906"/>
          </a:xfrm>
          <a:prstGeom prst="rect">
            <a:avLst/>
          </a:prstGeom>
          <a:noFill/>
          <a:ln>
            <a:noFill/>
          </a:ln>
        </p:spPr>
      </p:pic>
      <p:pic>
        <p:nvPicPr>
          <p:cNvPr descr="image.png" id="137" name="Google Shape;137;p15"/>
          <p:cNvPicPr preferRelativeResize="0"/>
          <p:nvPr/>
        </p:nvPicPr>
        <p:blipFill rotWithShape="1">
          <a:blip r:embed="rId7">
            <a:alphaModFix/>
          </a:blip>
          <a:srcRect b="0" l="0" r="0" t="0"/>
          <a:stretch/>
        </p:blipFill>
        <p:spPr>
          <a:xfrm>
            <a:off x="571500" y="457200"/>
            <a:ext cx="823168" cy="200025"/>
          </a:xfrm>
          <a:prstGeom prst="rect">
            <a:avLst/>
          </a:prstGeom>
          <a:noFill/>
          <a:ln>
            <a:noFill/>
          </a:ln>
        </p:spPr>
      </p:pic>
      <p:pic>
        <p:nvPicPr>
          <p:cNvPr descr="image.png" id="138" name="Google Shape;138;p15"/>
          <p:cNvPicPr preferRelativeResize="0"/>
          <p:nvPr/>
        </p:nvPicPr>
        <p:blipFill rotWithShape="1">
          <a:blip r:embed="rId8">
            <a:alphaModFix/>
          </a:blip>
          <a:srcRect b="0" l="0" r="0" t="0"/>
          <a:stretch/>
        </p:blipFill>
        <p:spPr>
          <a:xfrm>
            <a:off x="800100" y="2999184"/>
            <a:ext cx="1440358" cy="219075"/>
          </a:xfrm>
          <a:prstGeom prst="rect">
            <a:avLst/>
          </a:prstGeom>
          <a:noFill/>
          <a:ln>
            <a:noFill/>
          </a:ln>
        </p:spPr>
      </p:pic>
      <p:sp>
        <p:nvSpPr>
          <p:cNvPr id="139" name="Google Shape;139;p15"/>
          <p:cNvSpPr txBox="1"/>
          <p:nvPr/>
        </p:nvSpPr>
        <p:spPr>
          <a:xfrm>
            <a:off x="800100" y="3361134"/>
            <a:ext cx="3159025" cy="179486"/>
          </a:xfrm>
          <a:prstGeom prst="rect">
            <a:avLst/>
          </a:prstGeom>
          <a:noFill/>
          <a:ln>
            <a:noFill/>
          </a:ln>
        </p:spPr>
        <p:txBody>
          <a:bodyPr anchorCtr="0" anchor="t" bIns="0" lIns="0" spcFirstLastPara="1" rIns="0" wrap="square" tIns="0">
            <a:spAutoFit/>
          </a:bodyPr>
          <a:lstStyle/>
          <a:p>
            <a:pPr indent="0" lvl="0" marL="0" marR="0" rtl="0" algn="l">
              <a:lnSpc>
                <a:spcPct val="144923"/>
              </a:lnSpc>
              <a:spcBef>
                <a:spcPts val="0"/>
              </a:spcBef>
              <a:spcAft>
                <a:spcPts val="0"/>
              </a:spcAft>
              <a:buNone/>
            </a:pPr>
            <a:r>
              <a:rPr b="1" i="0" lang="en-US" sz="975" u="none" cap="none" strike="noStrike">
                <a:solidFill>
                  <a:srgbClr val="0F172A"/>
                </a:solidFill>
                <a:latin typeface="Plus Jakarta Sans"/>
                <a:ea typeface="Plus Jakarta Sans"/>
                <a:cs typeface="Plus Jakarta Sans"/>
                <a:sym typeface="Plus Jakarta Sans"/>
              </a:rPr>
              <a:t>Problem:</a:t>
            </a:r>
            <a:endParaRPr/>
          </a:p>
        </p:txBody>
      </p:sp>
      <p:sp>
        <p:nvSpPr>
          <p:cNvPr id="140" name="Google Shape;140;p15"/>
          <p:cNvSpPr txBox="1"/>
          <p:nvPr/>
        </p:nvSpPr>
        <p:spPr>
          <a:xfrm>
            <a:off x="800100" y="3578721"/>
            <a:ext cx="3159025" cy="331291"/>
          </a:xfrm>
          <a:prstGeom prst="rect">
            <a:avLst/>
          </a:prstGeom>
          <a:noFill/>
          <a:ln>
            <a:noFill/>
          </a:ln>
        </p:spPr>
        <p:txBody>
          <a:bodyPr anchorCtr="0" anchor="t" bIns="0" lIns="0" spcFirstLastPara="1" rIns="0" wrap="square" tIns="0">
            <a:spAutoFit/>
          </a:bodyPr>
          <a:lstStyle/>
          <a:p>
            <a:pPr indent="0" lvl="0" marL="0" marR="0" rtl="0" algn="l">
              <a:lnSpc>
                <a:spcPct val="145000"/>
              </a:lnSpc>
              <a:spcBef>
                <a:spcPts val="0"/>
              </a:spcBef>
              <a:spcAft>
                <a:spcPts val="0"/>
              </a:spcAft>
              <a:buNone/>
            </a:pPr>
            <a:r>
              <a:rPr b="0" i="0" lang="en-US" sz="900" u="none" cap="none" strike="noStrike">
                <a:solidFill>
                  <a:srgbClr val="475569"/>
                </a:solidFill>
                <a:latin typeface="Plus Jakarta Sans"/>
                <a:ea typeface="Plus Jakarta Sans"/>
                <a:cs typeface="Plus Jakarta Sans"/>
                <a:sym typeface="Plus Jakarta Sans"/>
              </a:rPr>
              <a:t>Engineering backlogs grow faster than teams can clear them. Context-switching costs productivity.</a:t>
            </a:r>
            <a:endParaRPr/>
          </a:p>
        </p:txBody>
      </p:sp>
      <p:sp>
        <p:nvSpPr>
          <p:cNvPr id="141" name="Google Shape;141;p15"/>
          <p:cNvSpPr txBox="1"/>
          <p:nvPr/>
        </p:nvSpPr>
        <p:spPr>
          <a:xfrm>
            <a:off x="800100" y="3986212"/>
            <a:ext cx="3159025" cy="179486"/>
          </a:xfrm>
          <a:prstGeom prst="rect">
            <a:avLst/>
          </a:prstGeom>
          <a:noFill/>
          <a:ln>
            <a:noFill/>
          </a:ln>
        </p:spPr>
        <p:txBody>
          <a:bodyPr anchorCtr="0" anchor="t" bIns="0" lIns="0" spcFirstLastPara="1" rIns="0" wrap="square" tIns="0">
            <a:spAutoFit/>
          </a:bodyPr>
          <a:lstStyle/>
          <a:p>
            <a:pPr indent="0" lvl="0" marL="0" marR="0" rtl="0" algn="l">
              <a:lnSpc>
                <a:spcPct val="144923"/>
              </a:lnSpc>
              <a:spcBef>
                <a:spcPts val="0"/>
              </a:spcBef>
              <a:spcAft>
                <a:spcPts val="0"/>
              </a:spcAft>
              <a:buNone/>
            </a:pPr>
            <a:r>
              <a:rPr b="1" i="0" lang="en-US" sz="975" u="none" cap="none" strike="noStrike">
                <a:solidFill>
                  <a:srgbClr val="2563EB"/>
                </a:solidFill>
                <a:latin typeface="Plus Jakarta Sans"/>
                <a:ea typeface="Plus Jakarta Sans"/>
                <a:cs typeface="Plus Jakarta Sans"/>
                <a:sym typeface="Plus Jakarta Sans"/>
              </a:rPr>
              <a:t>Devin's Solution:</a:t>
            </a:r>
            <a:endParaRPr/>
          </a:p>
        </p:txBody>
      </p:sp>
      <p:sp>
        <p:nvSpPr>
          <p:cNvPr id="142" name="Google Shape;142;p15"/>
          <p:cNvSpPr txBox="1"/>
          <p:nvPr/>
        </p:nvSpPr>
        <p:spPr>
          <a:xfrm>
            <a:off x="800100" y="4184749"/>
            <a:ext cx="3159025" cy="331291"/>
          </a:xfrm>
          <a:prstGeom prst="rect">
            <a:avLst/>
          </a:prstGeom>
          <a:noFill/>
          <a:ln>
            <a:noFill/>
          </a:ln>
        </p:spPr>
        <p:txBody>
          <a:bodyPr anchorCtr="0" anchor="t" bIns="0" lIns="0" spcFirstLastPara="1" rIns="0" wrap="square" tIns="0">
            <a:spAutoFit/>
          </a:bodyPr>
          <a:lstStyle/>
          <a:p>
            <a:pPr indent="0" lvl="0" marL="0" marR="0" rtl="0" algn="l">
              <a:lnSpc>
                <a:spcPct val="145000"/>
              </a:lnSpc>
              <a:spcBef>
                <a:spcPts val="0"/>
              </a:spcBef>
              <a:spcAft>
                <a:spcPts val="0"/>
              </a:spcAft>
              <a:buNone/>
            </a:pPr>
            <a:r>
              <a:rPr b="0" i="0" lang="en-US" sz="900" u="none" cap="none" strike="noStrike">
                <a:solidFill>
                  <a:srgbClr val="475569"/>
                </a:solidFill>
                <a:latin typeface="Plus Jakarta Sans"/>
                <a:ea typeface="Plus Jakarta Sans"/>
                <a:cs typeface="Plus Jakarta Sans"/>
                <a:sym typeface="Plus Jakarta Sans"/>
              </a:rPr>
              <a:t>Handles high-volume, repetitive, well-defined tasks in parallel so engineers focus on high-complexity work.</a:t>
            </a:r>
            <a:endParaRPr/>
          </a:p>
        </p:txBody>
      </p:sp>
      <p:pic>
        <p:nvPicPr>
          <p:cNvPr descr="image.png" id="143" name="Google Shape;143;p15"/>
          <p:cNvPicPr preferRelativeResize="0"/>
          <p:nvPr/>
        </p:nvPicPr>
        <p:blipFill rotWithShape="1">
          <a:blip r:embed="rId9">
            <a:alphaModFix/>
          </a:blip>
          <a:srcRect b="0" l="0" r="0" t="0"/>
          <a:stretch/>
        </p:blipFill>
        <p:spPr>
          <a:xfrm>
            <a:off x="4530625" y="2999184"/>
            <a:ext cx="1874787" cy="219075"/>
          </a:xfrm>
          <a:prstGeom prst="rect">
            <a:avLst/>
          </a:prstGeom>
          <a:noFill/>
          <a:ln>
            <a:noFill/>
          </a:ln>
        </p:spPr>
      </p:pic>
      <p:sp>
        <p:nvSpPr>
          <p:cNvPr id="144" name="Google Shape;144;p15"/>
          <p:cNvSpPr txBox="1"/>
          <p:nvPr/>
        </p:nvSpPr>
        <p:spPr>
          <a:xfrm>
            <a:off x="4530625" y="3361134"/>
            <a:ext cx="3159174" cy="179486"/>
          </a:xfrm>
          <a:prstGeom prst="rect">
            <a:avLst/>
          </a:prstGeom>
          <a:noFill/>
          <a:ln>
            <a:noFill/>
          </a:ln>
        </p:spPr>
        <p:txBody>
          <a:bodyPr anchorCtr="0" anchor="t" bIns="0" lIns="0" spcFirstLastPara="1" rIns="0" wrap="square" tIns="0">
            <a:spAutoFit/>
          </a:bodyPr>
          <a:lstStyle/>
          <a:p>
            <a:pPr indent="0" lvl="0" marL="0" marR="0" rtl="0" algn="l">
              <a:lnSpc>
                <a:spcPct val="144923"/>
              </a:lnSpc>
              <a:spcBef>
                <a:spcPts val="0"/>
              </a:spcBef>
              <a:spcAft>
                <a:spcPts val="0"/>
              </a:spcAft>
              <a:buNone/>
            </a:pPr>
            <a:r>
              <a:rPr b="1" i="0" lang="en-US" sz="975" u="none" cap="none" strike="noStrike">
                <a:solidFill>
                  <a:srgbClr val="0F172A"/>
                </a:solidFill>
                <a:latin typeface="Plus Jakarta Sans"/>
                <a:ea typeface="Plus Jakarta Sans"/>
                <a:cs typeface="Plus Jakarta Sans"/>
                <a:sym typeface="Plus Jakarta Sans"/>
              </a:rPr>
              <a:t>Problem:</a:t>
            </a:r>
            <a:endParaRPr/>
          </a:p>
        </p:txBody>
      </p:sp>
      <p:sp>
        <p:nvSpPr>
          <p:cNvPr id="145" name="Google Shape;145;p15"/>
          <p:cNvSpPr txBox="1"/>
          <p:nvPr/>
        </p:nvSpPr>
        <p:spPr>
          <a:xfrm>
            <a:off x="4530625" y="3578721"/>
            <a:ext cx="3159174" cy="331291"/>
          </a:xfrm>
          <a:prstGeom prst="rect">
            <a:avLst/>
          </a:prstGeom>
          <a:noFill/>
          <a:ln>
            <a:noFill/>
          </a:ln>
        </p:spPr>
        <p:txBody>
          <a:bodyPr anchorCtr="0" anchor="t" bIns="0" lIns="0" spcFirstLastPara="1" rIns="0" wrap="square" tIns="0">
            <a:spAutoFit/>
          </a:bodyPr>
          <a:lstStyle/>
          <a:p>
            <a:pPr indent="0" lvl="0" marL="0" marR="0" rtl="0" algn="l">
              <a:lnSpc>
                <a:spcPct val="145000"/>
              </a:lnSpc>
              <a:spcBef>
                <a:spcPts val="0"/>
              </a:spcBef>
              <a:spcAft>
                <a:spcPts val="0"/>
              </a:spcAft>
              <a:buNone/>
            </a:pPr>
            <a:r>
              <a:rPr b="0" i="0" lang="en-US" sz="900" u="none" cap="none" strike="noStrike">
                <a:solidFill>
                  <a:srgbClr val="475569"/>
                </a:solidFill>
                <a:latin typeface="Plus Jakarta Sans"/>
                <a:ea typeface="Plus Jakarta Sans"/>
                <a:cs typeface="Plus Jakarta Sans"/>
                <a:sym typeface="Plus Jakarta Sans"/>
              </a:rPr>
              <a:t>Migrations, refactors, and updates are expensive. Onboarding to large codebases is slow.</a:t>
            </a:r>
            <a:endParaRPr/>
          </a:p>
        </p:txBody>
      </p:sp>
      <p:sp>
        <p:nvSpPr>
          <p:cNvPr id="146" name="Google Shape;146;p15"/>
          <p:cNvSpPr txBox="1"/>
          <p:nvPr/>
        </p:nvSpPr>
        <p:spPr>
          <a:xfrm>
            <a:off x="4530625" y="3986212"/>
            <a:ext cx="3159174" cy="179486"/>
          </a:xfrm>
          <a:prstGeom prst="rect">
            <a:avLst/>
          </a:prstGeom>
          <a:noFill/>
          <a:ln>
            <a:noFill/>
          </a:ln>
        </p:spPr>
        <p:txBody>
          <a:bodyPr anchorCtr="0" anchor="t" bIns="0" lIns="0" spcFirstLastPara="1" rIns="0" wrap="square" tIns="0">
            <a:spAutoFit/>
          </a:bodyPr>
          <a:lstStyle/>
          <a:p>
            <a:pPr indent="0" lvl="0" marL="0" marR="0" rtl="0" algn="l">
              <a:lnSpc>
                <a:spcPct val="144923"/>
              </a:lnSpc>
              <a:spcBef>
                <a:spcPts val="0"/>
              </a:spcBef>
              <a:spcAft>
                <a:spcPts val="0"/>
              </a:spcAft>
              <a:buNone/>
            </a:pPr>
            <a:r>
              <a:rPr b="1" i="0" lang="en-US" sz="975" u="none" cap="none" strike="noStrike">
                <a:solidFill>
                  <a:srgbClr val="2563EB"/>
                </a:solidFill>
                <a:latin typeface="Plus Jakarta Sans"/>
                <a:ea typeface="Plus Jakarta Sans"/>
                <a:cs typeface="Plus Jakarta Sans"/>
                <a:sym typeface="Plus Jakarta Sans"/>
              </a:rPr>
              <a:t>Devin's Solution:</a:t>
            </a:r>
            <a:endParaRPr/>
          </a:p>
        </p:txBody>
      </p:sp>
      <p:sp>
        <p:nvSpPr>
          <p:cNvPr id="147" name="Google Shape;147;p15"/>
          <p:cNvSpPr txBox="1"/>
          <p:nvPr/>
        </p:nvSpPr>
        <p:spPr>
          <a:xfrm>
            <a:off x="4530625" y="4184749"/>
            <a:ext cx="3159174" cy="331291"/>
          </a:xfrm>
          <a:prstGeom prst="rect">
            <a:avLst/>
          </a:prstGeom>
          <a:noFill/>
          <a:ln>
            <a:noFill/>
          </a:ln>
        </p:spPr>
        <p:txBody>
          <a:bodyPr anchorCtr="0" anchor="t" bIns="0" lIns="0" spcFirstLastPara="1" rIns="0" wrap="square" tIns="0">
            <a:spAutoFit/>
          </a:bodyPr>
          <a:lstStyle/>
          <a:p>
            <a:pPr indent="0" lvl="0" marL="0" marR="0" rtl="0" algn="l">
              <a:lnSpc>
                <a:spcPct val="145000"/>
              </a:lnSpc>
              <a:spcBef>
                <a:spcPts val="0"/>
              </a:spcBef>
              <a:spcAft>
                <a:spcPts val="0"/>
              </a:spcAft>
              <a:buNone/>
            </a:pPr>
            <a:r>
              <a:rPr b="0" i="0" lang="en-US" sz="900" u="none" cap="none" strike="noStrike">
                <a:solidFill>
                  <a:srgbClr val="475569"/>
                </a:solidFill>
                <a:latin typeface="Plus Jakarta Sans"/>
                <a:ea typeface="Plus Jakarta Sans"/>
                <a:cs typeface="Plus Jakarta Sans"/>
                <a:sym typeface="Plus Jakarta Sans"/>
              </a:rPr>
              <a:t>Indexes repos and uses Knowledge to operate immediately, executing isolated, incremental slices at scale.</a:t>
            </a:r>
            <a:endParaRPr/>
          </a:p>
        </p:txBody>
      </p:sp>
      <p:pic>
        <p:nvPicPr>
          <p:cNvPr descr="image.png" id="148" name="Google Shape;148;p15"/>
          <p:cNvPicPr preferRelativeResize="0"/>
          <p:nvPr/>
        </p:nvPicPr>
        <p:blipFill rotWithShape="1">
          <a:blip r:embed="rId10">
            <a:alphaModFix/>
          </a:blip>
          <a:srcRect b="0" l="0" r="0" t="0"/>
          <a:stretch/>
        </p:blipFill>
        <p:spPr>
          <a:xfrm>
            <a:off x="8261300" y="2999184"/>
            <a:ext cx="1440358" cy="219075"/>
          </a:xfrm>
          <a:prstGeom prst="rect">
            <a:avLst/>
          </a:prstGeom>
          <a:noFill/>
          <a:ln>
            <a:noFill/>
          </a:ln>
        </p:spPr>
      </p:pic>
      <p:sp>
        <p:nvSpPr>
          <p:cNvPr id="149" name="Google Shape;149;p15"/>
          <p:cNvSpPr txBox="1"/>
          <p:nvPr/>
        </p:nvSpPr>
        <p:spPr>
          <a:xfrm>
            <a:off x="8261300" y="3361134"/>
            <a:ext cx="3159025" cy="179486"/>
          </a:xfrm>
          <a:prstGeom prst="rect">
            <a:avLst/>
          </a:prstGeom>
          <a:noFill/>
          <a:ln>
            <a:noFill/>
          </a:ln>
        </p:spPr>
        <p:txBody>
          <a:bodyPr anchorCtr="0" anchor="t" bIns="0" lIns="0" spcFirstLastPara="1" rIns="0" wrap="square" tIns="0">
            <a:spAutoFit/>
          </a:bodyPr>
          <a:lstStyle/>
          <a:p>
            <a:pPr indent="0" lvl="0" marL="0" marR="0" rtl="0" algn="l">
              <a:lnSpc>
                <a:spcPct val="144923"/>
              </a:lnSpc>
              <a:spcBef>
                <a:spcPts val="0"/>
              </a:spcBef>
              <a:spcAft>
                <a:spcPts val="0"/>
              </a:spcAft>
              <a:buNone/>
            </a:pPr>
            <a:r>
              <a:rPr b="1" i="0" lang="en-US" sz="975" u="none" cap="none" strike="noStrike">
                <a:solidFill>
                  <a:srgbClr val="0F172A"/>
                </a:solidFill>
                <a:latin typeface="Plus Jakarta Sans"/>
                <a:ea typeface="Plus Jakarta Sans"/>
                <a:cs typeface="Plus Jakarta Sans"/>
                <a:sym typeface="Plus Jakarta Sans"/>
              </a:rPr>
              <a:t>Problem:</a:t>
            </a:r>
            <a:endParaRPr/>
          </a:p>
        </p:txBody>
      </p:sp>
      <p:sp>
        <p:nvSpPr>
          <p:cNvPr id="150" name="Google Shape;150;p15"/>
          <p:cNvSpPr txBox="1"/>
          <p:nvPr/>
        </p:nvSpPr>
        <p:spPr>
          <a:xfrm>
            <a:off x="8261300" y="3578721"/>
            <a:ext cx="3159025" cy="331291"/>
          </a:xfrm>
          <a:prstGeom prst="rect">
            <a:avLst/>
          </a:prstGeom>
          <a:noFill/>
          <a:ln>
            <a:noFill/>
          </a:ln>
        </p:spPr>
        <p:txBody>
          <a:bodyPr anchorCtr="0" anchor="t" bIns="0" lIns="0" spcFirstLastPara="1" rIns="0" wrap="square" tIns="0">
            <a:spAutoFit/>
          </a:bodyPr>
          <a:lstStyle/>
          <a:p>
            <a:pPr indent="0" lvl="0" marL="0" marR="0" rtl="0" algn="l">
              <a:lnSpc>
                <a:spcPct val="145000"/>
              </a:lnSpc>
              <a:spcBef>
                <a:spcPts val="0"/>
              </a:spcBef>
              <a:spcAft>
                <a:spcPts val="0"/>
              </a:spcAft>
              <a:buNone/>
            </a:pPr>
            <a:r>
              <a:rPr b="0" i="0" lang="en-US" sz="900" u="none" cap="none" strike="noStrike">
                <a:solidFill>
                  <a:srgbClr val="475569"/>
                </a:solidFill>
                <a:latin typeface="Plus Jakarta Sans"/>
                <a:ea typeface="Plus Jakarta Sans"/>
                <a:cs typeface="Plus Jakarta Sans"/>
                <a:sym typeface="Plus Jakarta Sans"/>
              </a:rPr>
              <a:t>Code review bottlenecks slow delivery. Repetitive workflows (CI fixes) consume senior time.</a:t>
            </a:r>
            <a:endParaRPr/>
          </a:p>
        </p:txBody>
      </p:sp>
      <p:sp>
        <p:nvSpPr>
          <p:cNvPr id="151" name="Google Shape;151;p15"/>
          <p:cNvSpPr txBox="1"/>
          <p:nvPr/>
        </p:nvSpPr>
        <p:spPr>
          <a:xfrm>
            <a:off x="8261300" y="3986212"/>
            <a:ext cx="3159025" cy="179486"/>
          </a:xfrm>
          <a:prstGeom prst="rect">
            <a:avLst/>
          </a:prstGeom>
          <a:noFill/>
          <a:ln>
            <a:noFill/>
          </a:ln>
        </p:spPr>
        <p:txBody>
          <a:bodyPr anchorCtr="0" anchor="t" bIns="0" lIns="0" spcFirstLastPara="1" rIns="0" wrap="square" tIns="0">
            <a:spAutoFit/>
          </a:bodyPr>
          <a:lstStyle/>
          <a:p>
            <a:pPr indent="0" lvl="0" marL="0" marR="0" rtl="0" algn="l">
              <a:lnSpc>
                <a:spcPct val="144923"/>
              </a:lnSpc>
              <a:spcBef>
                <a:spcPts val="0"/>
              </a:spcBef>
              <a:spcAft>
                <a:spcPts val="0"/>
              </a:spcAft>
              <a:buNone/>
            </a:pPr>
            <a:r>
              <a:rPr b="1" i="0" lang="en-US" sz="975" u="none" cap="none" strike="noStrike">
                <a:solidFill>
                  <a:srgbClr val="2563EB"/>
                </a:solidFill>
                <a:latin typeface="Plus Jakarta Sans"/>
                <a:ea typeface="Plus Jakarta Sans"/>
                <a:cs typeface="Plus Jakarta Sans"/>
                <a:sym typeface="Plus Jakarta Sans"/>
              </a:rPr>
              <a:t>Devin's Solution:</a:t>
            </a:r>
            <a:endParaRPr/>
          </a:p>
        </p:txBody>
      </p:sp>
      <p:sp>
        <p:nvSpPr>
          <p:cNvPr id="152" name="Google Shape;152;p15"/>
          <p:cNvSpPr txBox="1"/>
          <p:nvPr/>
        </p:nvSpPr>
        <p:spPr>
          <a:xfrm>
            <a:off x="8261300" y="4184749"/>
            <a:ext cx="3159025" cy="331291"/>
          </a:xfrm>
          <a:prstGeom prst="rect">
            <a:avLst/>
          </a:prstGeom>
          <a:noFill/>
          <a:ln>
            <a:noFill/>
          </a:ln>
        </p:spPr>
        <p:txBody>
          <a:bodyPr anchorCtr="0" anchor="t" bIns="0" lIns="0" spcFirstLastPara="1" rIns="0" wrap="square" tIns="0">
            <a:spAutoFit/>
          </a:bodyPr>
          <a:lstStyle/>
          <a:p>
            <a:pPr indent="0" lvl="0" marL="0" marR="0" rtl="0" algn="l">
              <a:lnSpc>
                <a:spcPct val="145000"/>
              </a:lnSpc>
              <a:spcBef>
                <a:spcPts val="0"/>
              </a:spcBef>
              <a:spcAft>
                <a:spcPts val="0"/>
              </a:spcAft>
              <a:buNone/>
            </a:pPr>
            <a:r>
              <a:rPr b="0" i="0" lang="en-US" sz="900" u="none" cap="none" strike="noStrike">
                <a:solidFill>
                  <a:srgbClr val="475569"/>
                </a:solidFill>
                <a:latin typeface="Plus Jakarta Sans"/>
                <a:ea typeface="Plus Jakarta Sans"/>
                <a:cs typeface="Plus Jakarta Sans"/>
                <a:sym typeface="Plus Jakarta Sans"/>
              </a:rPr>
              <a:t>Devin Review provides auto-PR scans, and Automations trigger Devin on events without human intervention.</a:t>
            </a:r>
            <a:endParaRPr/>
          </a:p>
        </p:txBody>
      </p:sp>
      <p:sp>
        <p:nvSpPr>
          <p:cNvPr id="153" name="Google Shape;153;p15"/>
          <p:cNvSpPr txBox="1"/>
          <p:nvPr/>
        </p:nvSpPr>
        <p:spPr>
          <a:xfrm>
            <a:off x="571500" y="381000"/>
            <a:ext cx="11601450" cy="37147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2400" u="none" cap="none" strike="noStrike">
                <a:solidFill>
                  <a:srgbClr val="0F172A"/>
                </a:solidFill>
                <a:latin typeface="Plus Jakarta Sans ExtraBold"/>
                <a:ea typeface="Plus Jakarta Sans ExtraBold"/>
                <a:cs typeface="Plus Jakarta Sans ExtraBold"/>
                <a:sym typeface="Plus Jakarta Sans ExtraBold"/>
              </a:rPr>
              <a:t>The Strategic Need for Devin</a:t>
            </a:r>
            <a:endParaRPr/>
          </a:p>
        </p:txBody>
      </p:sp>
      <p:sp>
        <p:nvSpPr>
          <p:cNvPr id="154" name="Google Shape;154;p15"/>
          <p:cNvSpPr/>
          <p:nvPr/>
        </p:nvSpPr>
        <p:spPr>
          <a:xfrm>
            <a:off x="571500" y="847725"/>
            <a:ext cx="11049000" cy="19050"/>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8" name="Shape 158"/>
        <p:cNvGrpSpPr/>
        <p:nvPr/>
      </p:nvGrpSpPr>
      <p:grpSpPr>
        <a:xfrm>
          <a:off x="0" y="0"/>
          <a:ext cx="0" cy="0"/>
          <a:chOff x="0" y="0"/>
          <a:chExt cx="0" cy="0"/>
        </a:xfrm>
      </p:grpSpPr>
      <p:pic>
        <p:nvPicPr>
          <p:cNvPr descr="image.png" id="159" name="Google Shape;159;p16"/>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60" name="Google Shape;160;p16"/>
          <p:cNvPicPr preferRelativeResize="0"/>
          <p:nvPr/>
        </p:nvPicPr>
        <p:blipFill rotWithShape="1">
          <a:blip r:embed="rId4">
            <a:alphaModFix/>
          </a:blip>
          <a:srcRect b="0" l="0" r="0" t="0"/>
          <a:stretch/>
        </p:blipFill>
        <p:spPr>
          <a:xfrm>
            <a:off x="571500" y="1038225"/>
            <a:ext cx="11049000" cy="1981200"/>
          </a:xfrm>
          <a:prstGeom prst="rect">
            <a:avLst/>
          </a:prstGeom>
          <a:noFill/>
          <a:ln>
            <a:noFill/>
          </a:ln>
        </p:spPr>
      </p:pic>
      <p:pic>
        <p:nvPicPr>
          <p:cNvPr descr="image.png" id="161" name="Google Shape;161;p16"/>
          <p:cNvPicPr preferRelativeResize="0"/>
          <p:nvPr/>
        </p:nvPicPr>
        <p:blipFill rotWithShape="1">
          <a:blip r:embed="rId5">
            <a:alphaModFix/>
          </a:blip>
          <a:srcRect b="0" l="0" r="0" t="0"/>
          <a:stretch/>
        </p:blipFill>
        <p:spPr>
          <a:xfrm>
            <a:off x="571500" y="457200"/>
            <a:ext cx="823168" cy="200025"/>
          </a:xfrm>
          <a:prstGeom prst="rect">
            <a:avLst/>
          </a:prstGeom>
          <a:noFill/>
          <a:ln>
            <a:noFill/>
          </a:ln>
        </p:spPr>
      </p:pic>
      <p:graphicFrame>
        <p:nvGraphicFramePr>
          <p:cNvPr id="162" name="Google Shape;162;p16"/>
          <p:cNvGraphicFramePr/>
          <p:nvPr/>
        </p:nvGraphicFramePr>
        <p:xfrm>
          <a:off x="581025" y="1047750"/>
          <a:ext cx="3000000" cy="3000000"/>
        </p:xfrm>
        <a:graphic>
          <a:graphicData uri="http://schemas.openxmlformats.org/drawingml/2006/table">
            <a:tbl>
              <a:tblPr bandRow="1" firstRow="1">
                <a:noFill/>
                <a:tableStyleId>{6AF95251-05E6-4B1C-8FEE-4ABA8F11838E}</a:tableStyleId>
              </a:tblPr>
              <a:tblGrid>
                <a:gridCol w="2001000"/>
                <a:gridCol w="1866600"/>
                <a:gridCol w="1685175"/>
                <a:gridCol w="1589475"/>
                <a:gridCol w="1608675"/>
                <a:gridCol w="2279000"/>
              </a:tblGrid>
              <a:tr h="327025">
                <a:tc>
                  <a:txBody>
                    <a:bodyPr/>
                    <a:lstStyle/>
                    <a:p>
                      <a:pPr indent="0" lvl="0" marL="0" marR="0" rtl="0" algn="l">
                        <a:spcBef>
                          <a:spcPts val="0"/>
                        </a:spcBef>
                        <a:spcAft>
                          <a:spcPts val="0"/>
                        </a:spcAft>
                        <a:buNone/>
                      </a:pPr>
                      <a:r>
                        <a:rPr b="1" i="0" lang="en-US" sz="750" u="none" cap="none" strike="noStrike">
                          <a:solidFill>
                            <a:srgbClr val="0F172A"/>
                          </a:solidFill>
                          <a:latin typeface="JetBrains Mono"/>
                          <a:ea typeface="JetBrains Mono"/>
                          <a:cs typeface="JetBrains Mono"/>
                          <a:sym typeface="JetBrains Mono"/>
                        </a:rPr>
                        <a:t>Capability</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1" i="0" lang="en-US" sz="750" u="none" cap="none" strike="noStrike">
                          <a:solidFill>
                            <a:srgbClr val="0F172A"/>
                          </a:solidFill>
                          <a:latin typeface="JetBrains Mono"/>
                          <a:ea typeface="JetBrains Mono"/>
                          <a:cs typeface="JetBrains Mono"/>
                          <a:sym typeface="JetBrains Mono"/>
                        </a:rPr>
                        <a:t>GitHub Copilot</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1" i="0" lang="en-US" sz="750" u="none" cap="none" strike="noStrike">
                          <a:solidFill>
                            <a:srgbClr val="0F172A"/>
                          </a:solidFill>
                          <a:latin typeface="JetBrains Mono"/>
                          <a:ea typeface="JetBrains Mono"/>
                          <a:cs typeface="JetBrains Mono"/>
                          <a:sym typeface="JetBrains Mono"/>
                        </a:rPr>
                        <a:t>Cursor</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1" i="0" lang="en-US" sz="750" u="none" cap="none" strike="noStrike">
                          <a:solidFill>
                            <a:srgbClr val="0F172A"/>
                          </a:solidFill>
                          <a:latin typeface="JetBrains Mono"/>
                          <a:ea typeface="JetBrains Mono"/>
                          <a:cs typeface="JetBrains Mono"/>
                          <a:sym typeface="JetBrains Mono"/>
                        </a:rPr>
                        <a:t>Claude Code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1" i="0" lang="en-US" sz="750" u="none" cap="none" strike="noStrike">
                          <a:solidFill>
                            <a:srgbClr val="0F172A"/>
                          </a:solidFill>
                          <a:latin typeface="JetBrains Mono"/>
                          <a:ea typeface="JetBrains Mono"/>
                          <a:cs typeface="JetBrains Mono"/>
                          <a:sym typeface="JetBrains Mono"/>
                        </a:rPr>
                        <a:t>ChatGPT</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1" i="0" lang="en-US" sz="750" u="none" cap="none" strike="noStrike">
                          <a:solidFill>
                            <a:srgbClr val="2563EB"/>
                          </a:solidFill>
                          <a:latin typeface="JetBrains Mono"/>
                          <a:ea typeface="JetBrains Mono"/>
                          <a:cs typeface="JetBrains Mono"/>
                          <a:sym typeface="JetBrains Mono"/>
                        </a:rPr>
                        <a:t>Devin AI</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r>
              <a:tr h="327025">
                <a:tc>
                  <a:txBody>
                    <a:bodyPr/>
                    <a:lstStyle/>
                    <a:p>
                      <a:pPr indent="0" lvl="0" marL="0" marR="0" rtl="0" algn="l">
                        <a:spcBef>
                          <a:spcPts val="0"/>
                        </a:spcBef>
                        <a:spcAft>
                          <a:spcPts val="0"/>
                        </a:spcAft>
                        <a:buNone/>
                      </a:pPr>
                      <a:r>
                        <a:rPr b="1" i="0" lang="en-US" sz="900" u="none" cap="none" strike="noStrike">
                          <a:solidFill>
                            <a:srgbClr val="0F172A"/>
                          </a:solidFill>
                          <a:latin typeface="Plus Jakarta Sans"/>
                          <a:ea typeface="Plus Jakarta Sans"/>
                          <a:cs typeface="Plus Jakarta Sans"/>
                          <a:sym typeface="Plus Jakarta Sans"/>
                        </a:rPr>
                        <a:t>Interaction Model</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Inline suggestion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IDE chat + edit</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Terminal agent</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Conversational</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1" i="0" lang="en-US" sz="900" u="none" cap="none" strike="noStrike">
                          <a:solidFill>
                            <a:srgbClr val="0D9488"/>
                          </a:solidFill>
                          <a:latin typeface="Plus Jakarta Sans"/>
                          <a:ea typeface="Plus Jakarta Sans"/>
                          <a:cs typeface="Plus Jakarta Sans"/>
                          <a:sym typeface="Plus Jakarta Sans"/>
                        </a:rPr>
                        <a:t>Autonomous agent</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D9488"/>
                    </a:solidFill>
                  </a:tcPr>
                </a:tc>
              </a:tr>
              <a:tr h="327025">
                <a:tc>
                  <a:txBody>
                    <a:bodyPr/>
                    <a:lstStyle/>
                    <a:p>
                      <a:pPr indent="0" lvl="0" marL="0" marR="0" rtl="0" algn="l">
                        <a:spcBef>
                          <a:spcPts val="0"/>
                        </a:spcBef>
                        <a:spcAft>
                          <a:spcPts val="0"/>
                        </a:spcAft>
                        <a:buNone/>
                      </a:pPr>
                      <a:r>
                        <a:rPr b="1" i="0" lang="en-US" sz="900" u="none" cap="none" strike="noStrike">
                          <a:solidFill>
                            <a:srgbClr val="0F172A"/>
                          </a:solidFill>
                          <a:latin typeface="Plus Jakarta Sans"/>
                          <a:ea typeface="Plus Jakarta Sans"/>
                          <a:cs typeface="Plus Jakarta Sans"/>
                          <a:sym typeface="Plus Jakarta Sans"/>
                        </a:rPr>
                        <a:t>Execution Env</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None (IDE only)</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None (IDE only)</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Local machine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None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1" i="0" lang="en-US" sz="900" u="none" cap="none" strike="noStrike">
                          <a:solidFill>
                            <a:srgbClr val="0D9488"/>
                          </a:solidFill>
                          <a:latin typeface="Plus Jakarta Sans"/>
                          <a:ea typeface="Plus Jakarta Sans"/>
                          <a:cs typeface="Plus Jakarta Sans"/>
                          <a:sym typeface="Plus Jakarta Sans"/>
                        </a:rPr>
                        <a:t>Isolated Linux VM</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D9488"/>
                    </a:solidFill>
                  </a:tcPr>
                </a:tc>
              </a:tr>
              <a:tr h="327025">
                <a:tc>
                  <a:txBody>
                    <a:bodyPr/>
                    <a:lstStyle/>
                    <a:p>
                      <a:pPr indent="0" lvl="0" marL="0" marR="0" rtl="0" algn="l">
                        <a:spcBef>
                          <a:spcPts val="0"/>
                        </a:spcBef>
                        <a:spcAft>
                          <a:spcPts val="0"/>
                        </a:spcAft>
                        <a:buNone/>
                      </a:pPr>
                      <a:r>
                        <a:rPr b="1" i="0" lang="en-US" sz="900" u="none" cap="none" strike="noStrike">
                          <a:solidFill>
                            <a:srgbClr val="0F172A"/>
                          </a:solidFill>
                          <a:latin typeface="Plus Jakarta Sans"/>
                          <a:ea typeface="Plus Jakarta Sans"/>
                          <a:cs typeface="Plus Jakarta Sans"/>
                          <a:sym typeface="Plus Jakarta Sans"/>
                        </a:rPr>
                        <a:t>Persistent Memory</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No</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No</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No</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No</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1" i="0" lang="en-US" sz="900" u="none" cap="none" strike="noStrike">
                          <a:solidFill>
                            <a:srgbClr val="0D9488"/>
                          </a:solidFill>
                          <a:latin typeface="Plus Jakarta Sans"/>
                          <a:ea typeface="Plus Jakarta Sans"/>
                          <a:cs typeface="Plus Jakarta Sans"/>
                          <a:sym typeface="Plus Jakarta Sans"/>
                        </a:rPr>
                        <a:t>Yes (Knowledge)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D9488"/>
                    </a:solidFill>
                  </a:tcPr>
                </a:tc>
              </a:tr>
              <a:tr h="327025">
                <a:tc>
                  <a:txBody>
                    <a:bodyPr/>
                    <a:lstStyle/>
                    <a:p>
                      <a:pPr indent="0" lvl="0" marL="0" marR="0" rtl="0" algn="l">
                        <a:spcBef>
                          <a:spcPts val="0"/>
                        </a:spcBef>
                        <a:spcAft>
                          <a:spcPts val="0"/>
                        </a:spcAft>
                        <a:buNone/>
                      </a:pPr>
                      <a:r>
                        <a:rPr b="1" i="0" lang="en-US" sz="900" u="none" cap="none" strike="noStrike">
                          <a:solidFill>
                            <a:srgbClr val="0F172A"/>
                          </a:solidFill>
                          <a:latin typeface="Plus Jakarta Sans"/>
                          <a:ea typeface="Plus Jakarta Sans"/>
                          <a:cs typeface="Plus Jakarta Sans"/>
                          <a:sym typeface="Plus Jakarta Sans"/>
                        </a:rPr>
                        <a:t>Parallel Exec</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No</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No</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No</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No</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1" i="0" lang="en-US" sz="900" u="none" cap="none" strike="noStrike">
                          <a:solidFill>
                            <a:srgbClr val="0D9488"/>
                          </a:solidFill>
                          <a:latin typeface="Plus Jakarta Sans"/>
                          <a:ea typeface="Plus Jakarta Sans"/>
                          <a:cs typeface="Plus Jakarta Sans"/>
                          <a:sym typeface="Plus Jakarta Sans"/>
                        </a:rPr>
                        <a:t>Yes (Managed Devins)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D9488"/>
                    </a:solidFill>
                  </a:tcPr>
                </a:tc>
              </a:tr>
              <a:tr h="327025">
                <a:tc>
                  <a:txBody>
                    <a:bodyPr/>
                    <a:lstStyle/>
                    <a:p>
                      <a:pPr indent="0" lvl="0" marL="0" marR="0" rtl="0" algn="l">
                        <a:spcBef>
                          <a:spcPts val="0"/>
                        </a:spcBef>
                        <a:spcAft>
                          <a:spcPts val="0"/>
                        </a:spcAft>
                        <a:buNone/>
                      </a:pPr>
                      <a:r>
                        <a:rPr b="1" i="0" lang="en-US" sz="900" u="none" cap="none" strike="noStrike">
                          <a:solidFill>
                            <a:srgbClr val="0F172A"/>
                          </a:solidFill>
                          <a:latin typeface="Plus Jakarta Sans"/>
                          <a:ea typeface="Plus Jakarta Sans"/>
                          <a:cs typeface="Plus Jakarta Sans"/>
                          <a:sym typeface="Plus Jakarta Sans"/>
                        </a:rPr>
                        <a:t>Code Review Plat</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No</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No</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No</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No</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1" i="0" lang="en-US" sz="900" u="none" cap="none" strike="noStrike">
                          <a:solidFill>
                            <a:srgbClr val="0D9488"/>
                          </a:solidFill>
                          <a:latin typeface="Plus Jakarta Sans"/>
                          <a:ea typeface="Plus Jakarta Sans"/>
                          <a:cs typeface="Plus Jakarta Sans"/>
                          <a:sym typeface="Plus Jakarta Sans"/>
                        </a:rPr>
                        <a:t>Yes (Devin Review)</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D9488"/>
                    </a:solidFill>
                  </a:tcPr>
                </a:tc>
              </a:tr>
            </a:tbl>
          </a:graphicData>
        </a:graphic>
      </p:graphicFrame>
      <p:sp>
        <p:nvSpPr>
          <p:cNvPr id="163" name="Google Shape;163;p16"/>
          <p:cNvSpPr/>
          <p:nvPr/>
        </p:nvSpPr>
        <p:spPr>
          <a:xfrm>
            <a:off x="581025" y="1338262"/>
            <a:ext cx="2000994"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4" name="Google Shape;164;p16"/>
          <p:cNvSpPr/>
          <p:nvPr/>
        </p:nvSpPr>
        <p:spPr>
          <a:xfrm>
            <a:off x="2582019" y="1338262"/>
            <a:ext cx="1866602"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5" name="Google Shape;165;p16"/>
          <p:cNvSpPr/>
          <p:nvPr/>
        </p:nvSpPr>
        <p:spPr>
          <a:xfrm>
            <a:off x="4448621" y="1338262"/>
            <a:ext cx="1685180"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6" name="Google Shape;166;p16"/>
          <p:cNvSpPr/>
          <p:nvPr/>
        </p:nvSpPr>
        <p:spPr>
          <a:xfrm>
            <a:off x="6133802" y="1338262"/>
            <a:ext cx="1589484"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7" name="Google Shape;167;p16"/>
          <p:cNvSpPr/>
          <p:nvPr/>
        </p:nvSpPr>
        <p:spPr>
          <a:xfrm>
            <a:off x="7723286" y="1338262"/>
            <a:ext cx="1608683"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8" name="Google Shape;168;p16"/>
          <p:cNvSpPr/>
          <p:nvPr/>
        </p:nvSpPr>
        <p:spPr>
          <a:xfrm>
            <a:off x="9331969" y="1338262"/>
            <a:ext cx="2279005"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9" name="Google Shape;169;p16"/>
          <p:cNvSpPr txBox="1"/>
          <p:nvPr/>
        </p:nvSpPr>
        <p:spPr>
          <a:xfrm>
            <a:off x="571500" y="3162300"/>
            <a:ext cx="5429250" cy="179486"/>
          </a:xfrm>
          <a:prstGeom prst="rect">
            <a:avLst/>
          </a:prstGeom>
          <a:noFill/>
          <a:ln>
            <a:noFill/>
          </a:ln>
        </p:spPr>
        <p:txBody>
          <a:bodyPr anchorCtr="0" anchor="t" bIns="0" lIns="0" spcFirstLastPara="1" rIns="0" wrap="square" tIns="0">
            <a:spAutoFit/>
          </a:bodyPr>
          <a:lstStyle/>
          <a:p>
            <a:pPr indent="0" lvl="0" marL="0" marR="0" rtl="0" algn="l">
              <a:lnSpc>
                <a:spcPct val="144923"/>
              </a:lnSpc>
              <a:spcBef>
                <a:spcPts val="0"/>
              </a:spcBef>
              <a:spcAft>
                <a:spcPts val="0"/>
              </a:spcAft>
              <a:buNone/>
            </a:pPr>
            <a:r>
              <a:rPr b="1" i="0" lang="en-US" sz="975" u="none" cap="none" strike="noStrike">
                <a:solidFill>
                  <a:srgbClr val="0F172A"/>
                </a:solidFill>
                <a:latin typeface="Plus Jakarta Sans"/>
                <a:ea typeface="Plus Jakarta Sans"/>
                <a:cs typeface="Plus Jakarta Sans"/>
                <a:sym typeface="Plus Jakarta Sans"/>
              </a:rPr>
              <a:t>Landscape Differentiators:</a:t>
            </a:r>
            <a:endParaRPr/>
          </a:p>
        </p:txBody>
      </p:sp>
      <p:sp>
        <p:nvSpPr>
          <p:cNvPr id="170" name="Google Shape;170;p16"/>
          <p:cNvSpPr txBox="1"/>
          <p:nvPr/>
        </p:nvSpPr>
        <p:spPr>
          <a:xfrm>
            <a:off x="571500" y="3379886"/>
            <a:ext cx="5429250" cy="331291"/>
          </a:xfrm>
          <a:prstGeom prst="rect">
            <a:avLst/>
          </a:prstGeom>
          <a:noFill/>
          <a:ln>
            <a:noFill/>
          </a:ln>
        </p:spPr>
        <p:txBody>
          <a:bodyPr anchorCtr="0" anchor="t" bIns="0" lIns="0" spcFirstLastPara="1" rIns="0" wrap="square" tIns="0">
            <a:spAutoFit/>
          </a:bodyPr>
          <a:lstStyle/>
          <a:p>
            <a:pPr indent="0" lvl="0" marL="0" marR="0" rtl="0" algn="l">
              <a:lnSpc>
                <a:spcPct val="145000"/>
              </a:lnSpc>
              <a:spcBef>
                <a:spcPts val="0"/>
              </a:spcBef>
              <a:spcAft>
                <a:spcPts val="0"/>
              </a:spcAft>
              <a:buNone/>
            </a:pPr>
            <a:r>
              <a:rPr b="0" i="0" lang="en-US" sz="900" u="none" cap="none" strike="noStrike">
                <a:solidFill>
                  <a:srgbClr val="475569"/>
                </a:solidFill>
                <a:latin typeface="Plus Jakarta Sans"/>
                <a:ea typeface="Plus Jakarta Sans"/>
                <a:cs typeface="Plus Jakarta Sans"/>
                <a:sym typeface="Plus Jakarta Sans"/>
              </a:rPr>
              <a:t>Devin provides unique advantages in </a:t>
            </a:r>
            <a:r>
              <a:rPr b="1" i="0" lang="en-US" sz="900" u="none" cap="none" strike="noStrike">
                <a:solidFill>
                  <a:srgbClr val="475569"/>
                </a:solidFill>
                <a:latin typeface="Plus Jakarta Sans"/>
                <a:ea typeface="Plus Jakarta Sans"/>
                <a:cs typeface="Plus Jakarta Sans"/>
                <a:sym typeface="Plus Jakarta Sans"/>
              </a:rPr>
              <a:t>autonomous execution</a:t>
            </a:r>
            <a:r>
              <a:rPr b="0" i="0" lang="en-US" sz="900" u="none" cap="none" strike="noStrike">
                <a:solidFill>
                  <a:srgbClr val="475569"/>
                </a:solidFill>
                <a:latin typeface="Plus Jakarta Sans"/>
                <a:ea typeface="Plus Jakarta Sans"/>
                <a:cs typeface="Plus Jakarta Sans"/>
                <a:sym typeface="Plus Jakarta Sans"/>
              </a:rPr>
              <a:t> (no human in loop), </a:t>
            </a:r>
            <a:r>
              <a:rPr b="1" i="0" lang="en-US" sz="900" u="none" cap="none" strike="noStrike">
                <a:solidFill>
                  <a:srgbClr val="475569"/>
                </a:solidFill>
                <a:latin typeface="Plus Jakarta Sans"/>
                <a:ea typeface="Plus Jakarta Sans"/>
                <a:cs typeface="Plus Jakarta Sans"/>
                <a:sym typeface="Plus Jakarta Sans"/>
              </a:rPr>
              <a:t>persistent memory</a:t>
            </a:r>
            <a:r>
              <a:rPr b="0" i="0" lang="en-US" sz="900" u="none" cap="none" strike="noStrike">
                <a:solidFill>
                  <a:srgbClr val="475569"/>
                </a:solidFill>
                <a:latin typeface="Plus Jakarta Sans"/>
                <a:ea typeface="Plus Jakarta Sans"/>
                <a:cs typeface="Plus Jakarta Sans"/>
                <a:sym typeface="Plus Jakarta Sans"/>
              </a:rPr>
              <a:t> (Knowledge, Skills), </a:t>
            </a:r>
            <a:r>
              <a:rPr b="1" i="0" lang="en-US" sz="900" u="none" cap="none" strike="noStrike">
                <a:solidFill>
                  <a:srgbClr val="475569"/>
                </a:solidFill>
                <a:latin typeface="Plus Jakarta Sans"/>
                <a:ea typeface="Plus Jakarta Sans"/>
                <a:cs typeface="Plus Jakarta Sans"/>
                <a:sym typeface="Plus Jakarta Sans"/>
              </a:rPr>
              <a:t>parallel workstreams</a:t>
            </a:r>
            <a:r>
              <a:rPr b="0" i="0" lang="en-US" sz="900" u="none" cap="none" strike="noStrike">
                <a:solidFill>
                  <a:srgbClr val="475569"/>
                </a:solidFill>
                <a:latin typeface="Plus Jakarta Sans"/>
                <a:ea typeface="Plus Jakarta Sans"/>
                <a:cs typeface="Plus Jakarta Sans"/>
                <a:sym typeface="Plus Jakarta Sans"/>
              </a:rPr>
              <a:t>, and </a:t>
            </a:r>
            <a:r>
              <a:rPr b="1" i="0" lang="en-US" sz="900" u="none" cap="none" strike="noStrike">
                <a:solidFill>
                  <a:srgbClr val="475569"/>
                </a:solidFill>
                <a:latin typeface="Plus Jakarta Sans"/>
                <a:ea typeface="Plus Jakarta Sans"/>
                <a:cs typeface="Plus Jakarta Sans"/>
                <a:sym typeface="Plus Jakarta Sans"/>
              </a:rPr>
              <a:t>event-driven integrations</a:t>
            </a:r>
            <a:r>
              <a:rPr b="0" i="0" lang="en-US" sz="900" u="none" cap="none" strike="noStrike">
                <a:solidFill>
                  <a:srgbClr val="475569"/>
                </a:solidFill>
                <a:latin typeface="Plus Jakarta Sans"/>
                <a:ea typeface="Plus Jakarta Sans"/>
                <a:cs typeface="Plus Jakarta Sans"/>
                <a:sym typeface="Plus Jakarta Sans"/>
              </a:rPr>
              <a:t>.</a:t>
            </a:r>
            <a:endParaRPr/>
          </a:p>
        </p:txBody>
      </p:sp>
      <p:sp>
        <p:nvSpPr>
          <p:cNvPr id="171" name="Google Shape;171;p16"/>
          <p:cNvSpPr txBox="1"/>
          <p:nvPr/>
        </p:nvSpPr>
        <p:spPr>
          <a:xfrm>
            <a:off x="6191250" y="3162300"/>
            <a:ext cx="5429250" cy="179486"/>
          </a:xfrm>
          <a:prstGeom prst="rect">
            <a:avLst/>
          </a:prstGeom>
          <a:noFill/>
          <a:ln>
            <a:noFill/>
          </a:ln>
        </p:spPr>
        <p:txBody>
          <a:bodyPr anchorCtr="0" anchor="t" bIns="0" lIns="0" spcFirstLastPara="1" rIns="0" wrap="square" tIns="0">
            <a:spAutoFit/>
          </a:bodyPr>
          <a:lstStyle/>
          <a:p>
            <a:pPr indent="0" lvl="0" marL="0" marR="0" rtl="0" algn="l">
              <a:lnSpc>
                <a:spcPct val="144923"/>
              </a:lnSpc>
              <a:spcBef>
                <a:spcPts val="0"/>
              </a:spcBef>
              <a:spcAft>
                <a:spcPts val="0"/>
              </a:spcAft>
              <a:buNone/>
            </a:pPr>
            <a:r>
              <a:rPr b="1" i="0" lang="en-US" sz="975" u="none" cap="none" strike="noStrike">
                <a:solidFill>
                  <a:srgbClr val="0F172A"/>
                </a:solidFill>
                <a:latin typeface="Plus Jakarta Sans"/>
                <a:ea typeface="Plus Jakarta Sans"/>
                <a:cs typeface="Plus Jakarta Sans"/>
                <a:sym typeface="Plus Jakarta Sans"/>
              </a:rPr>
              <a:t>Enterprise Governance:</a:t>
            </a:r>
            <a:endParaRPr/>
          </a:p>
        </p:txBody>
      </p:sp>
      <p:sp>
        <p:nvSpPr>
          <p:cNvPr id="172" name="Google Shape;172;p16"/>
          <p:cNvSpPr txBox="1"/>
          <p:nvPr/>
        </p:nvSpPr>
        <p:spPr>
          <a:xfrm>
            <a:off x="6191250" y="3379886"/>
            <a:ext cx="5429250" cy="331291"/>
          </a:xfrm>
          <a:prstGeom prst="rect">
            <a:avLst/>
          </a:prstGeom>
          <a:noFill/>
          <a:ln>
            <a:noFill/>
          </a:ln>
        </p:spPr>
        <p:txBody>
          <a:bodyPr anchorCtr="0" anchor="t" bIns="0" lIns="0" spcFirstLastPara="1" rIns="0" wrap="square" tIns="0">
            <a:spAutoFit/>
          </a:bodyPr>
          <a:lstStyle/>
          <a:p>
            <a:pPr indent="0" lvl="0" marL="0" marR="0" rtl="0" algn="l">
              <a:lnSpc>
                <a:spcPct val="145000"/>
              </a:lnSpc>
              <a:spcBef>
                <a:spcPts val="0"/>
              </a:spcBef>
              <a:spcAft>
                <a:spcPts val="0"/>
              </a:spcAft>
              <a:buNone/>
            </a:pPr>
            <a:r>
              <a:rPr b="0" i="0" lang="en-US" sz="900" u="none" cap="none" strike="noStrike">
                <a:solidFill>
                  <a:srgbClr val="475569"/>
                </a:solidFill>
                <a:latin typeface="Plus Jakarta Sans"/>
                <a:ea typeface="Plus Jakarta Sans"/>
                <a:cs typeface="Plus Jakarta Sans"/>
                <a:sym typeface="Plus Jakarta Sans"/>
              </a:rPr>
              <a:t>Features industrial security out of the box: Single Sign-On (SSO), Role-Based Access Control (RBAC), IP Access lists, ACU Budgets, and comprehensive audit trails.</a:t>
            </a:r>
            <a:endParaRPr/>
          </a:p>
        </p:txBody>
      </p:sp>
      <p:sp>
        <p:nvSpPr>
          <p:cNvPr id="173" name="Google Shape;173;p16"/>
          <p:cNvSpPr/>
          <p:nvPr/>
        </p:nvSpPr>
        <p:spPr>
          <a:xfrm>
            <a:off x="581025" y="1671637"/>
            <a:ext cx="2000994"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4" name="Google Shape;174;p16"/>
          <p:cNvSpPr/>
          <p:nvPr/>
        </p:nvSpPr>
        <p:spPr>
          <a:xfrm>
            <a:off x="2582019" y="1671637"/>
            <a:ext cx="1866602"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5" name="Google Shape;175;p16"/>
          <p:cNvSpPr/>
          <p:nvPr/>
        </p:nvSpPr>
        <p:spPr>
          <a:xfrm>
            <a:off x="4448621" y="1671637"/>
            <a:ext cx="1685180"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6" name="Google Shape;176;p16"/>
          <p:cNvSpPr/>
          <p:nvPr/>
        </p:nvSpPr>
        <p:spPr>
          <a:xfrm>
            <a:off x="6133802" y="1671637"/>
            <a:ext cx="1589484"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7" name="Google Shape;177;p16"/>
          <p:cNvSpPr/>
          <p:nvPr/>
        </p:nvSpPr>
        <p:spPr>
          <a:xfrm>
            <a:off x="7723286" y="1671637"/>
            <a:ext cx="1608683"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8" name="Google Shape;178;p16"/>
          <p:cNvSpPr/>
          <p:nvPr/>
        </p:nvSpPr>
        <p:spPr>
          <a:xfrm>
            <a:off x="9331969" y="1671637"/>
            <a:ext cx="2279005"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9" name="Google Shape;179;p16"/>
          <p:cNvSpPr/>
          <p:nvPr/>
        </p:nvSpPr>
        <p:spPr>
          <a:xfrm>
            <a:off x="581025" y="2005012"/>
            <a:ext cx="2000994"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0" name="Google Shape;180;p16"/>
          <p:cNvSpPr/>
          <p:nvPr/>
        </p:nvSpPr>
        <p:spPr>
          <a:xfrm>
            <a:off x="2582019" y="2005012"/>
            <a:ext cx="1866602"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1" name="Google Shape;181;p16"/>
          <p:cNvSpPr/>
          <p:nvPr/>
        </p:nvSpPr>
        <p:spPr>
          <a:xfrm>
            <a:off x="4448621" y="2005012"/>
            <a:ext cx="1685180"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2" name="Google Shape;182;p16"/>
          <p:cNvSpPr/>
          <p:nvPr/>
        </p:nvSpPr>
        <p:spPr>
          <a:xfrm>
            <a:off x="6133802" y="2005012"/>
            <a:ext cx="1589484"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3" name="Google Shape;183;p16"/>
          <p:cNvSpPr/>
          <p:nvPr/>
        </p:nvSpPr>
        <p:spPr>
          <a:xfrm>
            <a:off x="7723286" y="2005012"/>
            <a:ext cx="1608683"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4" name="Google Shape;184;p16"/>
          <p:cNvSpPr/>
          <p:nvPr/>
        </p:nvSpPr>
        <p:spPr>
          <a:xfrm>
            <a:off x="9331969" y="2005012"/>
            <a:ext cx="2279005"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5" name="Google Shape;185;p16"/>
          <p:cNvSpPr/>
          <p:nvPr/>
        </p:nvSpPr>
        <p:spPr>
          <a:xfrm>
            <a:off x="581025" y="2338387"/>
            <a:ext cx="2000994"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6" name="Google Shape;186;p16"/>
          <p:cNvSpPr/>
          <p:nvPr/>
        </p:nvSpPr>
        <p:spPr>
          <a:xfrm>
            <a:off x="2582019" y="2338387"/>
            <a:ext cx="1866602"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7" name="Google Shape;187;p16"/>
          <p:cNvSpPr/>
          <p:nvPr/>
        </p:nvSpPr>
        <p:spPr>
          <a:xfrm>
            <a:off x="4448621" y="2338387"/>
            <a:ext cx="1685180"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8" name="Google Shape;188;p16"/>
          <p:cNvSpPr/>
          <p:nvPr/>
        </p:nvSpPr>
        <p:spPr>
          <a:xfrm>
            <a:off x="6133802" y="2338387"/>
            <a:ext cx="1589484"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9" name="Google Shape;189;p16"/>
          <p:cNvSpPr/>
          <p:nvPr/>
        </p:nvSpPr>
        <p:spPr>
          <a:xfrm>
            <a:off x="7723286" y="2338387"/>
            <a:ext cx="1608683"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0" name="Google Shape;190;p16"/>
          <p:cNvSpPr/>
          <p:nvPr/>
        </p:nvSpPr>
        <p:spPr>
          <a:xfrm>
            <a:off x="9331969" y="2338387"/>
            <a:ext cx="2279005"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1" name="Google Shape;191;p16"/>
          <p:cNvSpPr/>
          <p:nvPr/>
        </p:nvSpPr>
        <p:spPr>
          <a:xfrm>
            <a:off x="581025" y="2671762"/>
            <a:ext cx="2000994"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2" name="Google Shape;192;p16"/>
          <p:cNvSpPr/>
          <p:nvPr/>
        </p:nvSpPr>
        <p:spPr>
          <a:xfrm>
            <a:off x="2582019" y="2671762"/>
            <a:ext cx="1866602"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3" name="Google Shape;193;p16"/>
          <p:cNvSpPr/>
          <p:nvPr/>
        </p:nvSpPr>
        <p:spPr>
          <a:xfrm>
            <a:off x="4448621" y="2671762"/>
            <a:ext cx="1685180"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4" name="Google Shape;194;p16"/>
          <p:cNvSpPr/>
          <p:nvPr/>
        </p:nvSpPr>
        <p:spPr>
          <a:xfrm>
            <a:off x="6133802" y="2671762"/>
            <a:ext cx="1589484"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5" name="Google Shape;195;p16"/>
          <p:cNvSpPr/>
          <p:nvPr/>
        </p:nvSpPr>
        <p:spPr>
          <a:xfrm>
            <a:off x="7723286" y="2671762"/>
            <a:ext cx="1608683"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6" name="Google Shape;196;p16"/>
          <p:cNvSpPr/>
          <p:nvPr/>
        </p:nvSpPr>
        <p:spPr>
          <a:xfrm>
            <a:off x="9331969" y="2671762"/>
            <a:ext cx="2279005"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7" name="Google Shape;197;p16"/>
          <p:cNvSpPr txBox="1"/>
          <p:nvPr/>
        </p:nvSpPr>
        <p:spPr>
          <a:xfrm>
            <a:off x="571500" y="381000"/>
            <a:ext cx="11601450" cy="37147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2400" u="none" cap="none" strike="noStrike">
                <a:solidFill>
                  <a:srgbClr val="0F172A"/>
                </a:solidFill>
                <a:latin typeface="Plus Jakarta Sans ExtraBold"/>
                <a:ea typeface="Plus Jakarta Sans ExtraBold"/>
                <a:cs typeface="Plus Jakarta Sans ExtraBold"/>
                <a:sym typeface="Plus Jakarta Sans ExtraBold"/>
              </a:rPr>
              <a:t>Landscape Capabilities Matrix</a:t>
            </a:r>
            <a:endParaRPr/>
          </a:p>
        </p:txBody>
      </p:sp>
      <p:sp>
        <p:nvSpPr>
          <p:cNvPr id="198" name="Google Shape;198;p16"/>
          <p:cNvSpPr/>
          <p:nvPr/>
        </p:nvSpPr>
        <p:spPr>
          <a:xfrm>
            <a:off x="571500" y="847725"/>
            <a:ext cx="11049000" cy="19050"/>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2" name="Shape 202"/>
        <p:cNvGrpSpPr/>
        <p:nvPr/>
      </p:nvGrpSpPr>
      <p:grpSpPr>
        <a:xfrm>
          <a:off x="0" y="0"/>
          <a:ext cx="0" cy="0"/>
          <a:chOff x="0" y="0"/>
          <a:chExt cx="0" cy="0"/>
        </a:xfrm>
      </p:grpSpPr>
      <p:pic>
        <p:nvPicPr>
          <p:cNvPr descr="image.png" id="203" name="Google Shape;203;p17"/>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04" name="Google Shape;204;p17"/>
          <p:cNvPicPr preferRelativeResize="0"/>
          <p:nvPr/>
        </p:nvPicPr>
        <p:blipFill rotWithShape="1">
          <a:blip r:embed="rId4">
            <a:alphaModFix/>
          </a:blip>
          <a:srcRect b="0" l="0" r="0" t="0"/>
          <a:stretch/>
        </p:blipFill>
        <p:spPr>
          <a:xfrm>
            <a:off x="571500" y="2281237"/>
            <a:ext cx="5919787" cy="542925"/>
          </a:xfrm>
          <a:prstGeom prst="rect">
            <a:avLst/>
          </a:prstGeom>
          <a:noFill/>
          <a:ln>
            <a:noFill/>
          </a:ln>
        </p:spPr>
      </p:pic>
      <p:pic>
        <p:nvPicPr>
          <p:cNvPr descr="image.png" id="205" name="Google Shape;205;p17"/>
          <p:cNvPicPr preferRelativeResize="0"/>
          <p:nvPr/>
        </p:nvPicPr>
        <p:blipFill rotWithShape="1">
          <a:blip r:embed="rId5">
            <a:alphaModFix/>
          </a:blip>
          <a:srcRect b="0" l="0" r="0" t="0"/>
          <a:stretch/>
        </p:blipFill>
        <p:spPr>
          <a:xfrm>
            <a:off x="571500" y="3071812"/>
            <a:ext cx="5919787" cy="542925"/>
          </a:xfrm>
          <a:prstGeom prst="rect">
            <a:avLst/>
          </a:prstGeom>
          <a:noFill/>
          <a:ln>
            <a:noFill/>
          </a:ln>
        </p:spPr>
      </p:pic>
      <p:pic>
        <p:nvPicPr>
          <p:cNvPr descr="image.png" id="206" name="Google Shape;206;p17"/>
          <p:cNvPicPr preferRelativeResize="0"/>
          <p:nvPr/>
        </p:nvPicPr>
        <p:blipFill rotWithShape="1">
          <a:blip r:embed="rId6">
            <a:alphaModFix/>
          </a:blip>
          <a:srcRect b="0" l="0" r="0" t="0"/>
          <a:stretch/>
        </p:blipFill>
        <p:spPr>
          <a:xfrm>
            <a:off x="571500" y="3862387"/>
            <a:ext cx="5919787" cy="733425"/>
          </a:xfrm>
          <a:prstGeom prst="rect">
            <a:avLst/>
          </a:prstGeom>
          <a:noFill/>
          <a:ln>
            <a:noFill/>
          </a:ln>
        </p:spPr>
      </p:pic>
      <p:pic>
        <p:nvPicPr>
          <p:cNvPr descr="image.png" id="207" name="Google Shape;207;p17"/>
          <p:cNvPicPr preferRelativeResize="0"/>
          <p:nvPr/>
        </p:nvPicPr>
        <p:blipFill rotWithShape="1">
          <a:blip r:embed="rId7">
            <a:alphaModFix/>
          </a:blip>
          <a:srcRect b="0" l="0" r="0" t="0"/>
          <a:stretch/>
        </p:blipFill>
        <p:spPr>
          <a:xfrm>
            <a:off x="571500" y="4843462"/>
            <a:ext cx="5919787" cy="390525"/>
          </a:xfrm>
          <a:prstGeom prst="rect">
            <a:avLst/>
          </a:prstGeom>
          <a:noFill/>
          <a:ln>
            <a:noFill/>
          </a:ln>
        </p:spPr>
      </p:pic>
      <p:pic>
        <p:nvPicPr>
          <p:cNvPr descr="image.png" id="208" name="Google Shape;208;p17"/>
          <p:cNvPicPr preferRelativeResize="0"/>
          <p:nvPr/>
        </p:nvPicPr>
        <p:blipFill rotWithShape="1">
          <a:blip r:embed="rId8">
            <a:alphaModFix/>
          </a:blip>
          <a:srcRect b="0" l="0" r="0" t="0"/>
          <a:stretch/>
        </p:blipFill>
        <p:spPr>
          <a:xfrm>
            <a:off x="6777037" y="3042642"/>
            <a:ext cx="4843462" cy="1744265"/>
          </a:xfrm>
          <a:prstGeom prst="rect">
            <a:avLst/>
          </a:prstGeom>
          <a:noFill/>
          <a:ln>
            <a:noFill/>
          </a:ln>
        </p:spPr>
      </p:pic>
      <p:pic>
        <p:nvPicPr>
          <p:cNvPr descr="image.png" id="209" name="Google Shape;209;p17"/>
          <p:cNvPicPr preferRelativeResize="0"/>
          <p:nvPr/>
        </p:nvPicPr>
        <p:blipFill rotWithShape="1">
          <a:blip r:embed="rId9">
            <a:alphaModFix/>
          </a:blip>
          <a:srcRect b="0" l="0" r="0" t="0"/>
          <a:stretch/>
        </p:blipFill>
        <p:spPr>
          <a:xfrm>
            <a:off x="571500" y="457200"/>
            <a:ext cx="823168" cy="200025"/>
          </a:xfrm>
          <a:prstGeom prst="rect">
            <a:avLst/>
          </a:prstGeom>
          <a:noFill/>
          <a:ln>
            <a:noFill/>
          </a:ln>
        </p:spPr>
      </p:pic>
      <p:sp>
        <p:nvSpPr>
          <p:cNvPr id="210" name="Google Shape;210;p17"/>
          <p:cNvSpPr txBox="1"/>
          <p:nvPr/>
        </p:nvSpPr>
        <p:spPr>
          <a:xfrm>
            <a:off x="6777037" y="2728317"/>
            <a:ext cx="5085635" cy="2000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50" u="none" cap="none" strike="noStrike">
                <a:solidFill>
                  <a:srgbClr val="0F172A"/>
                </a:solidFill>
                <a:latin typeface="Plus Jakarta Sans"/>
                <a:ea typeface="Plus Jakarta Sans"/>
                <a:cs typeface="Plus Jakarta Sans"/>
                <a:sym typeface="Plus Jakarta Sans"/>
              </a:rPr>
              <a:t>Core Architectural Principles</a:t>
            </a:r>
            <a:endParaRPr/>
          </a:p>
        </p:txBody>
      </p:sp>
      <p:sp>
        <p:nvSpPr>
          <p:cNvPr id="211" name="Google Shape;211;p17"/>
          <p:cNvSpPr txBox="1"/>
          <p:nvPr/>
        </p:nvSpPr>
        <p:spPr>
          <a:xfrm>
            <a:off x="723900" y="2386012"/>
            <a:ext cx="5614987" cy="1047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750" u="none" cap="none" strike="noStrike">
                <a:solidFill>
                  <a:srgbClr val="2563EB"/>
                </a:solidFill>
                <a:latin typeface="JetBrains Mono"/>
                <a:ea typeface="JetBrains Mono"/>
                <a:cs typeface="JetBrains Mono"/>
                <a:sym typeface="JetBrains Mono"/>
              </a:rPr>
              <a:t>01. INTERACTION LAYER</a:t>
            </a:r>
            <a:endParaRPr/>
          </a:p>
        </p:txBody>
      </p:sp>
      <p:pic>
        <p:nvPicPr>
          <p:cNvPr descr="image.png" id="212" name="Google Shape;212;p17"/>
          <p:cNvPicPr preferRelativeResize="0"/>
          <p:nvPr/>
        </p:nvPicPr>
        <p:blipFill rotWithShape="1">
          <a:blip r:embed="rId10">
            <a:alphaModFix/>
          </a:blip>
          <a:srcRect b="0" l="0" r="0" t="0"/>
          <a:stretch/>
        </p:blipFill>
        <p:spPr>
          <a:xfrm>
            <a:off x="3488531" y="2890837"/>
            <a:ext cx="85725" cy="114300"/>
          </a:xfrm>
          <a:prstGeom prst="rect">
            <a:avLst/>
          </a:prstGeom>
          <a:noFill/>
          <a:ln>
            <a:noFill/>
          </a:ln>
        </p:spPr>
      </p:pic>
      <p:sp>
        <p:nvSpPr>
          <p:cNvPr id="213" name="Google Shape;213;p17"/>
          <p:cNvSpPr txBox="1"/>
          <p:nvPr/>
        </p:nvSpPr>
        <p:spPr>
          <a:xfrm>
            <a:off x="723900" y="3176587"/>
            <a:ext cx="5614987" cy="1047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750" u="none" cap="none" strike="noStrike">
                <a:solidFill>
                  <a:srgbClr val="7C3AED"/>
                </a:solidFill>
                <a:latin typeface="JetBrains Mono"/>
                <a:ea typeface="JetBrains Mono"/>
                <a:cs typeface="JetBrains Mono"/>
                <a:sym typeface="JetBrains Mono"/>
              </a:rPr>
              <a:t>02. ORGANIZATIONAL MEMORY LAYER</a:t>
            </a:r>
            <a:endParaRPr/>
          </a:p>
        </p:txBody>
      </p:sp>
      <p:pic>
        <p:nvPicPr>
          <p:cNvPr descr="image.png" id="214" name="Google Shape;214;p17"/>
          <p:cNvPicPr preferRelativeResize="0"/>
          <p:nvPr/>
        </p:nvPicPr>
        <p:blipFill rotWithShape="1">
          <a:blip r:embed="rId10">
            <a:alphaModFix/>
          </a:blip>
          <a:srcRect b="0" l="0" r="0" t="0"/>
          <a:stretch/>
        </p:blipFill>
        <p:spPr>
          <a:xfrm>
            <a:off x="3488531" y="3681412"/>
            <a:ext cx="85725" cy="114300"/>
          </a:xfrm>
          <a:prstGeom prst="rect">
            <a:avLst/>
          </a:prstGeom>
          <a:noFill/>
          <a:ln>
            <a:noFill/>
          </a:ln>
        </p:spPr>
      </p:pic>
      <p:sp>
        <p:nvSpPr>
          <p:cNvPr id="215" name="Google Shape;215;p17"/>
          <p:cNvSpPr txBox="1"/>
          <p:nvPr/>
        </p:nvSpPr>
        <p:spPr>
          <a:xfrm>
            <a:off x="723900" y="3967162"/>
            <a:ext cx="5614987" cy="1047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750" u="none" cap="none" strike="noStrike">
                <a:solidFill>
                  <a:srgbClr val="0D9488"/>
                </a:solidFill>
                <a:latin typeface="JetBrains Mono"/>
                <a:ea typeface="JetBrains Mono"/>
                <a:cs typeface="JetBrains Mono"/>
                <a:sym typeface="JetBrains Mono"/>
              </a:rPr>
              <a:t>03. ENVIRONMENT &amp; INTEGRATION LAYERS</a:t>
            </a:r>
            <a:endParaRPr/>
          </a:p>
        </p:txBody>
      </p:sp>
      <p:pic>
        <p:nvPicPr>
          <p:cNvPr descr="image.png" id="216" name="Google Shape;216;p17"/>
          <p:cNvPicPr preferRelativeResize="0"/>
          <p:nvPr/>
        </p:nvPicPr>
        <p:blipFill rotWithShape="1">
          <a:blip r:embed="rId10">
            <a:alphaModFix/>
          </a:blip>
          <a:srcRect b="0" l="0" r="0" t="0"/>
          <a:stretch/>
        </p:blipFill>
        <p:spPr>
          <a:xfrm>
            <a:off x="3488531" y="4662487"/>
            <a:ext cx="85725" cy="114300"/>
          </a:xfrm>
          <a:prstGeom prst="rect">
            <a:avLst/>
          </a:prstGeom>
          <a:noFill/>
          <a:ln>
            <a:noFill/>
          </a:ln>
        </p:spPr>
      </p:pic>
      <p:sp>
        <p:nvSpPr>
          <p:cNvPr id="217" name="Google Shape;217;p17"/>
          <p:cNvSpPr txBox="1"/>
          <p:nvPr/>
        </p:nvSpPr>
        <p:spPr>
          <a:xfrm>
            <a:off x="723900" y="4929187"/>
            <a:ext cx="5614987" cy="952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675" u="none" cap="none" strike="noStrike">
                <a:solidFill>
                  <a:srgbClr val="475569"/>
                </a:solidFill>
                <a:latin typeface="JetBrains Mono"/>
                <a:ea typeface="JetBrains Mono"/>
                <a:cs typeface="JetBrains Mono"/>
                <a:sym typeface="JetBrains Mono"/>
              </a:rPr>
              <a:t>04. ENTERPRISE GOVERNANCE LAYER</a:t>
            </a:r>
            <a:endParaRPr/>
          </a:p>
        </p:txBody>
      </p:sp>
      <p:sp>
        <p:nvSpPr>
          <p:cNvPr id="218" name="Google Shape;218;p17"/>
          <p:cNvSpPr txBox="1"/>
          <p:nvPr/>
        </p:nvSpPr>
        <p:spPr>
          <a:xfrm>
            <a:off x="723900" y="5043487"/>
            <a:ext cx="5614987" cy="1047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750" u="none" cap="none" strike="noStrike">
                <a:solidFill>
                  <a:srgbClr val="334155"/>
                </a:solidFill>
                <a:latin typeface="Plus Jakarta Sans"/>
                <a:ea typeface="Plus Jakarta Sans"/>
                <a:cs typeface="Plus Jakarta Sans"/>
                <a:sym typeface="Plus Jakarta Sans"/>
              </a:rPr>
              <a:t>RBAC • SSO/IdP Group Mapping • ACU Budgets • IP Access Lists • Audit Trails</a:t>
            </a:r>
            <a:endParaRPr/>
          </a:p>
        </p:txBody>
      </p:sp>
      <p:sp>
        <p:nvSpPr>
          <p:cNvPr id="219" name="Google Shape;219;p17"/>
          <p:cNvSpPr txBox="1"/>
          <p:nvPr/>
        </p:nvSpPr>
        <p:spPr>
          <a:xfrm>
            <a:off x="6958012" y="3166467"/>
            <a:ext cx="4481512" cy="331291"/>
          </a:xfrm>
          <a:prstGeom prst="rect">
            <a:avLst/>
          </a:prstGeom>
          <a:noFill/>
          <a:ln>
            <a:noFill/>
          </a:ln>
        </p:spPr>
        <p:txBody>
          <a:bodyPr anchorCtr="0" anchor="t" bIns="0" lIns="0" spcFirstLastPara="1" rIns="0" wrap="square" tIns="0">
            <a:spAutoFit/>
          </a:bodyPr>
          <a:lstStyle/>
          <a:p>
            <a:pPr indent="0" lvl="0" marL="0" marR="0" rtl="0" algn="l">
              <a:lnSpc>
                <a:spcPct val="145000"/>
              </a:lnSpc>
              <a:spcBef>
                <a:spcPts val="0"/>
              </a:spcBef>
              <a:spcAft>
                <a:spcPts val="0"/>
              </a:spcAft>
              <a:buNone/>
            </a:pPr>
            <a:r>
              <a:rPr b="1" i="0" lang="en-US" sz="900" u="none" cap="none" strike="noStrike">
                <a:solidFill>
                  <a:srgbClr val="0F172A"/>
                </a:solidFill>
                <a:latin typeface="Plus Jakarta Sans"/>
                <a:ea typeface="Plus Jakarta Sans"/>
                <a:cs typeface="Plus Jakarta Sans"/>
                <a:sym typeface="Plus Jakarta Sans"/>
              </a:rPr>
              <a:t>1. Isolation</a:t>
            </a:r>
            <a:r>
              <a:rPr b="0" i="0" lang="en-US" sz="900" u="none" cap="none" strike="noStrike">
                <a:solidFill>
                  <a:srgbClr val="475569"/>
                </a:solidFill>
                <a:latin typeface="Plus Jakarta Sans"/>
                <a:ea typeface="Plus Jakarta Sans"/>
                <a:cs typeface="Plus Jakarta Sans"/>
                <a:sym typeface="Plus Jakarta Sans"/>
              </a:rPr>
              <a:t> — Every session boots from a clean snapshot; changes don't persist back to base images.</a:t>
            </a:r>
            <a:endParaRPr/>
          </a:p>
        </p:txBody>
      </p:sp>
      <p:sp>
        <p:nvSpPr>
          <p:cNvPr id="220" name="Google Shape;220;p17"/>
          <p:cNvSpPr txBox="1"/>
          <p:nvPr/>
        </p:nvSpPr>
        <p:spPr>
          <a:xfrm>
            <a:off x="6958012" y="3554908"/>
            <a:ext cx="4481512" cy="331291"/>
          </a:xfrm>
          <a:prstGeom prst="rect">
            <a:avLst/>
          </a:prstGeom>
          <a:noFill/>
          <a:ln>
            <a:noFill/>
          </a:ln>
        </p:spPr>
        <p:txBody>
          <a:bodyPr anchorCtr="0" anchor="t" bIns="0" lIns="0" spcFirstLastPara="1" rIns="0" wrap="square" tIns="0">
            <a:spAutoFit/>
          </a:bodyPr>
          <a:lstStyle/>
          <a:p>
            <a:pPr indent="0" lvl="0" marL="0" marR="0" rtl="0" algn="l">
              <a:lnSpc>
                <a:spcPct val="145000"/>
              </a:lnSpc>
              <a:spcBef>
                <a:spcPts val="0"/>
              </a:spcBef>
              <a:spcAft>
                <a:spcPts val="0"/>
              </a:spcAft>
              <a:buNone/>
            </a:pPr>
            <a:r>
              <a:rPr b="1" i="0" lang="en-US" sz="900" u="none" cap="none" strike="noStrike">
                <a:solidFill>
                  <a:srgbClr val="0F172A"/>
                </a:solidFill>
                <a:latin typeface="Plus Jakarta Sans"/>
                <a:ea typeface="Plus Jakarta Sans"/>
                <a:cs typeface="Plus Jakarta Sans"/>
                <a:sym typeface="Plus Jakarta Sans"/>
              </a:rPr>
              <a:t>2. Layered Memory</a:t>
            </a:r>
            <a:r>
              <a:rPr b="0" i="0" lang="en-US" sz="900" u="none" cap="none" strike="noStrike">
                <a:solidFill>
                  <a:srgbClr val="475569"/>
                </a:solidFill>
                <a:latin typeface="Plus Jakarta Sans"/>
                <a:ea typeface="Plus Jakarta Sans"/>
                <a:cs typeface="Plus Jakarta Sans"/>
                <a:sym typeface="Plus Jakarta Sans"/>
              </a:rPr>
              <a:t> — Knowledge, Skills, and Playbooks provide persistent organizational context over time.</a:t>
            </a:r>
            <a:endParaRPr/>
          </a:p>
        </p:txBody>
      </p:sp>
      <p:sp>
        <p:nvSpPr>
          <p:cNvPr id="221" name="Google Shape;221;p17"/>
          <p:cNvSpPr txBox="1"/>
          <p:nvPr/>
        </p:nvSpPr>
        <p:spPr>
          <a:xfrm>
            <a:off x="6958012" y="3943350"/>
            <a:ext cx="4481512" cy="331291"/>
          </a:xfrm>
          <a:prstGeom prst="rect">
            <a:avLst/>
          </a:prstGeom>
          <a:noFill/>
          <a:ln>
            <a:noFill/>
          </a:ln>
        </p:spPr>
        <p:txBody>
          <a:bodyPr anchorCtr="0" anchor="t" bIns="0" lIns="0" spcFirstLastPara="1" rIns="0" wrap="square" tIns="0">
            <a:spAutoFit/>
          </a:bodyPr>
          <a:lstStyle/>
          <a:p>
            <a:pPr indent="0" lvl="0" marL="0" marR="0" rtl="0" algn="l">
              <a:lnSpc>
                <a:spcPct val="145000"/>
              </a:lnSpc>
              <a:spcBef>
                <a:spcPts val="0"/>
              </a:spcBef>
              <a:spcAft>
                <a:spcPts val="0"/>
              </a:spcAft>
              <a:buNone/>
            </a:pPr>
            <a:r>
              <a:rPr b="1" i="0" lang="en-US" sz="900" u="none" cap="none" strike="noStrike">
                <a:solidFill>
                  <a:srgbClr val="0F172A"/>
                </a:solidFill>
                <a:latin typeface="Plus Jakarta Sans"/>
                <a:ea typeface="Plus Jakarta Sans"/>
                <a:cs typeface="Plus Jakarta Sans"/>
                <a:sym typeface="Plus Jakarta Sans"/>
              </a:rPr>
              <a:t>3. Event-driven Flow</a:t>
            </a:r>
            <a:r>
              <a:rPr b="0" i="0" lang="en-US" sz="900" u="none" cap="none" strike="noStrike">
                <a:solidFill>
                  <a:srgbClr val="475569"/>
                </a:solidFill>
                <a:latin typeface="Plus Jakarta Sans"/>
                <a:ea typeface="Plus Jakarta Sans"/>
                <a:cs typeface="Plus Jakarta Sans"/>
                <a:sym typeface="Plus Jakarta Sans"/>
              </a:rPr>
              <a:t> — Automations seamlessly bind external check failures or triggers to live sessions.</a:t>
            </a:r>
            <a:endParaRPr/>
          </a:p>
        </p:txBody>
      </p:sp>
      <p:sp>
        <p:nvSpPr>
          <p:cNvPr id="222" name="Google Shape;222;p17"/>
          <p:cNvSpPr txBox="1"/>
          <p:nvPr/>
        </p:nvSpPr>
        <p:spPr>
          <a:xfrm>
            <a:off x="6958012" y="4331791"/>
            <a:ext cx="4481512" cy="331291"/>
          </a:xfrm>
          <a:prstGeom prst="rect">
            <a:avLst/>
          </a:prstGeom>
          <a:noFill/>
          <a:ln>
            <a:noFill/>
          </a:ln>
        </p:spPr>
        <p:txBody>
          <a:bodyPr anchorCtr="0" anchor="t" bIns="0" lIns="0" spcFirstLastPara="1" rIns="0" wrap="square" tIns="0">
            <a:spAutoFit/>
          </a:bodyPr>
          <a:lstStyle/>
          <a:p>
            <a:pPr indent="0" lvl="0" marL="0" marR="0" rtl="0" algn="l">
              <a:lnSpc>
                <a:spcPct val="145000"/>
              </a:lnSpc>
              <a:spcBef>
                <a:spcPts val="0"/>
              </a:spcBef>
              <a:spcAft>
                <a:spcPts val="0"/>
              </a:spcAft>
              <a:buNone/>
            </a:pPr>
            <a:r>
              <a:rPr b="1" i="0" lang="en-US" sz="900" u="none" cap="none" strike="noStrike">
                <a:solidFill>
                  <a:srgbClr val="0F172A"/>
                </a:solidFill>
                <a:latin typeface="Plus Jakarta Sans"/>
                <a:ea typeface="Plus Jakarta Sans"/>
                <a:cs typeface="Plus Jakarta Sans"/>
                <a:sym typeface="Plus Jakarta Sans"/>
              </a:rPr>
              <a:t>4. Hierarchical Governance</a:t>
            </a:r>
            <a:r>
              <a:rPr b="0" i="0" lang="en-US" sz="900" u="none" cap="none" strike="noStrike">
                <a:solidFill>
                  <a:srgbClr val="475569"/>
                </a:solidFill>
                <a:latin typeface="Plus Jakarta Sans"/>
                <a:ea typeface="Plus Jakarta Sans"/>
                <a:cs typeface="Plus Jakarta Sans"/>
                <a:sym typeface="Plus Jakarta Sans"/>
              </a:rPr>
              <a:t> — Structured additive layers: Enterprise → Organization → Repository blueprints.</a:t>
            </a:r>
            <a:endParaRPr/>
          </a:p>
        </p:txBody>
      </p:sp>
      <p:pic>
        <p:nvPicPr>
          <p:cNvPr descr="image.png" id="223" name="Google Shape;223;p17"/>
          <p:cNvPicPr preferRelativeResize="0"/>
          <p:nvPr/>
        </p:nvPicPr>
        <p:blipFill rotWithShape="1">
          <a:blip r:embed="rId11">
            <a:alphaModFix/>
          </a:blip>
          <a:srcRect b="0" l="0" r="0" t="0"/>
          <a:stretch/>
        </p:blipFill>
        <p:spPr>
          <a:xfrm>
            <a:off x="1417290" y="2528887"/>
            <a:ext cx="1314598" cy="190500"/>
          </a:xfrm>
          <a:prstGeom prst="rect">
            <a:avLst/>
          </a:prstGeom>
          <a:noFill/>
          <a:ln>
            <a:noFill/>
          </a:ln>
        </p:spPr>
      </p:pic>
      <p:pic>
        <p:nvPicPr>
          <p:cNvPr descr="image.png" id="224" name="Google Shape;224;p17"/>
          <p:cNvPicPr preferRelativeResize="0"/>
          <p:nvPr/>
        </p:nvPicPr>
        <p:blipFill rotWithShape="1">
          <a:blip r:embed="rId12">
            <a:alphaModFix/>
          </a:blip>
          <a:srcRect b="0" l="0" r="0" t="0"/>
          <a:stretch/>
        </p:blipFill>
        <p:spPr>
          <a:xfrm>
            <a:off x="2808089" y="2528887"/>
            <a:ext cx="1213544" cy="190500"/>
          </a:xfrm>
          <a:prstGeom prst="rect">
            <a:avLst/>
          </a:prstGeom>
          <a:noFill/>
          <a:ln>
            <a:noFill/>
          </a:ln>
        </p:spPr>
      </p:pic>
      <p:pic>
        <p:nvPicPr>
          <p:cNvPr descr="image.png" id="225" name="Google Shape;225;p17"/>
          <p:cNvPicPr preferRelativeResize="0"/>
          <p:nvPr/>
        </p:nvPicPr>
        <p:blipFill rotWithShape="1">
          <a:blip r:embed="rId13">
            <a:alphaModFix/>
          </a:blip>
          <a:srcRect b="0" l="0" r="0" t="0"/>
          <a:stretch/>
        </p:blipFill>
        <p:spPr>
          <a:xfrm>
            <a:off x="4097833" y="2528887"/>
            <a:ext cx="1547663" cy="190500"/>
          </a:xfrm>
          <a:prstGeom prst="rect">
            <a:avLst/>
          </a:prstGeom>
          <a:noFill/>
          <a:ln>
            <a:noFill/>
          </a:ln>
        </p:spPr>
      </p:pic>
      <p:pic>
        <p:nvPicPr>
          <p:cNvPr descr="image.png" id="226" name="Google Shape;226;p17"/>
          <p:cNvPicPr preferRelativeResize="0"/>
          <p:nvPr/>
        </p:nvPicPr>
        <p:blipFill rotWithShape="1">
          <a:blip r:embed="rId14">
            <a:alphaModFix/>
          </a:blip>
          <a:srcRect b="0" l="0" r="0" t="0"/>
          <a:stretch/>
        </p:blipFill>
        <p:spPr>
          <a:xfrm>
            <a:off x="2075557" y="3319462"/>
            <a:ext cx="730299" cy="190500"/>
          </a:xfrm>
          <a:prstGeom prst="rect">
            <a:avLst/>
          </a:prstGeom>
          <a:noFill/>
          <a:ln>
            <a:noFill/>
          </a:ln>
        </p:spPr>
      </p:pic>
      <p:pic>
        <p:nvPicPr>
          <p:cNvPr descr="image.png" id="227" name="Google Shape;227;p17"/>
          <p:cNvPicPr preferRelativeResize="0"/>
          <p:nvPr/>
        </p:nvPicPr>
        <p:blipFill rotWithShape="1">
          <a:blip r:embed="rId15">
            <a:alphaModFix/>
          </a:blip>
          <a:srcRect b="0" l="0" r="0" t="0"/>
          <a:stretch/>
        </p:blipFill>
        <p:spPr>
          <a:xfrm>
            <a:off x="2882056" y="3319462"/>
            <a:ext cx="445293" cy="190500"/>
          </a:xfrm>
          <a:prstGeom prst="rect">
            <a:avLst/>
          </a:prstGeom>
          <a:noFill/>
          <a:ln>
            <a:noFill/>
          </a:ln>
        </p:spPr>
      </p:pic>
      <p:pic>
        <p:nvPicPr>
          <p:cNvPr descr="image.png" id="228" name="Google Shape;228;p17"/>
          <p:cNvPicPr preferRelativeResize="0"/>
          <p:nvPr/>
        </p:nvPicPr>
        <p:blipFill rotWithShape="1">
          <a:blip r:embed="rId16">
            <a:alphaModFix/>
          </a:blip>
          <a:srcRect b="0" l="0" r="0" t="0"/>
          <a:stretch/>
        </p:blipFill>
        <p:spPr>
          <a:xfrm>
            <a:off x="3403550" y="3319462"/>
            <a:ext cx="695622" cy="190500"/>
          </a:xfrm>
          <a:prstGeom prst="rect">
            <a:avLst/>
          </a:prstGeom>
          <a:noFill/>
          <a:ln>
            <a:noFill/>
          </a:ln>
        </p:spPr>
      </p:pic>
      <p:pic>
        <p:nvPicPr>
          <p:cNvPr descr="image.png" id="229" name="Google Shape;229;p17"/>
          <p:cNvPicPr preferRelativeResize="0"/>
          <p:nvPr/>
        </p:nvPicPr>
        <p:blipFill rotWithShape="1">
          <a:blip r:embed="rId17">
            <a:alphaModFix/>
          </a:blip>
          <a:srcRect b="0" l="0" r="0" t="0"/>
          <a:stretch/>
        </p:blipFill>
        <p:spPr>
          <a:xfrm>
            <a:off x="4175373" y="3319462"/>
            <a:ext cx="811857" cy="190500"/>
          </a:xfrm>
          <a:prstGeom prst="rect">
            <a:avLst/>
          </a:prstGeom>
          <a:noFill/>
          <a:ln>
            <a:noFill/>
          </a:ln>
        </p:spPr>
      </p:pic>
      <p:pic>
        <p:nvPicPr>
          <p:cNvPr descr="image.png" id="230" name="Google Shape;230;p17"/>
          <p:cNvPicPr preferRelativeResize="0"/>
          <p:nvPr/>
        </p:nvPicPr>
        <p:blipFill rotWithShape="1">
          <a:blip r:embed="rId18">
            <a:alphaModFix/>
          </a:blip>
          <a:srcRect b="0" l="0" r="0" t="0"/>
          <a:stretch/>
        </p:blipFill>
        <p:spPr>
          <a:xfrm>
            <a:off x="2133748" y="4110037"/>
            <a:ext cx="835074" cy="190500"/>
          </a:xfrm>
          <a:prstGeom prst="rect">
            <a:avLst/>
          </a:prstGeom>
          <a:noFill/>
          <a:ln>
            <a:noFill/>
          </a:ln>
        </p:spPr>
      </p:pic>
      <p:pic>
        <p:nvPicPr>
          <p:cNvPr descr="image.png" id="231" name="Google Shape;231;p17"/>
          <p:cNvPicPr preferRelativeResize="0"/>
          <p:nvPr/>
        </p:nvPicPr>
        <p:blipFill rotWithShape="1">
          <a:blip r:embed="rId19">
            <a:alphaModFix/>
          </a:blip>
          <a:srcRect b="0" l="0" r="0" t="0"/>
          <a:stretch/>
        </p:blipFill>
        <p:spPr>
          <a:xfrm>
            <a:off x="3045023" y="4110037"/>
            <a:ext cx="491728" cy="190500"/>
          </a:xfrm>
          <a:prstGeom prst="rect">
            <a:avLst/>
          </a:prstGeom>
          <a:noFill/>
          <a:ln>
            <a:noFill/>
          </a:ln>
        </p:spPr>
      </p:pic>
      <p:pic>
        <p:nvPicPr>
          <p:cNvPr descr="image.png" id="232" name="Google Shape;232;p17"/>
          <p:cNvPicPr preferRelativeResize="0"/>
          <p:nvPr/>
        </p:nvPicPr>
        <p:blipFill rotWithShape="1">
          <a:blip r:embed="rId20">
            <a:alphaModFix/>
          </a:blip>
          <a:srcRect b="0" l="0" r="0" t="0"/>
          <a:stretch/>
        </p:blipFill>
        <p:spPr>
          <a:xfrm>
            <a:off x="3612951" y="4110037"/>
            <a:ext cx="550217" cy="190500"/>
          </a:xfrm>
          <a:prstGeom prst="rect">
            <a:avLst/>
          </a:prstGeom>
          <a:noFill/>
          <a:ln>
            <a:noFill/>
          </a:ln>
        </p:spPr>
      </p:pic>
      <p:pic>
        <p:nvPicPr>
          <p:cNvPr descr="image.png" id="233" name="Google Shape;233;p17"/>
          <p:cNvPicPr preferRelativeResize="0"/>
          <p:nvPr/>
        </p:nvPicPr>
        <p:blipFill rotWithShape="1">
          <a:blip r:embed="rId21">
            <a:alphaModFix/>
          </a:blip>
          <a:srcRect b="0" l="0" r="0" t="0"/>
          <a:stretch/>
        </p:blipFill>
        <p:spPr>
          <a:xfrm>
            <a:off x="4239369" y="4110037"/>
            <a:ext cx="689669" cy="190500"/>
          </a:xfrm>
          <a:prstGeom prst="rect">
            <a:avLst/>
          </a:prstGeom>
          <a:noFill/>
          <a:ln>
            <a:noFill/>
          </a:ln>
        </p:spPr>
      </p:pic>
      <p:pic>
        <p:nvPicPr>
          <p:cNvPr descr="image.png" id="234" name="Google Shape;234;p17"/>
          <p:cNvPicPr preferRelativeResize="0"/>
          <p:nvPr/>
        </p:nvPicPr>
        <p:blipFill rotWithShape="1">
          <a:blip r:embed="rId22">
            <a:alphaModFix/>
          </a:blip>
          <a:srcRect b="0" l="0" r="0" t="0"/>
          <a:stretch/>
        </p:blipFill>
        <p:spPr>
          <a:xfrm>
            <a:off x="2367111" y="4348162"/>
            <a:ext cx="410765" cy="142875"/>
          </a:xfrm>
          <a:prstGeom prst="rect">
            <a:avLst/>
          </a:prstGeom>
          <a:noFill/>
          <a:ln>
            <a:noFill/>
          </a:ln>
        </p:spPr>
      </p:pic>
      <p:pic>
        <p:nvPicPr>
          <p:cNvPr descr="image.png" id="235" name="Google Shape;235;p17"/>
          <p:cNvPicPr preferRelativeResize="0"/>
          <p:nvPr/>
        </p:nvPicPr>
        <p:blipFill rotWithShape="1">
          <a:blip r:embed="rId23">
            <a:alphaModFix/>
          </a:blip>
          <a:srcRect b="0" l="0" r="0" t="0"/>
          <a:stretch/>
        </p:blipFill>
        <p:spPr>
          <a:xfrm>
            <a:off x="2835026" y="4348162"/>
            <a:ext cx="394989" cy="142875"/>
          </a:xfrm>
          <a:prstGeom prst="rect">
            <a:avLst/>
          </a:prstGeom>
          <a:noFill/>
          <a:ln>
            <a:noFill/>
          </a:ln>
        </p:spPr>
      </p:pic>
      <p:pic>
        <p:nvPicPr>
          <p:cNvPr descr="image.png" id="236" name="Google Shape;236;p17"/>
          <p:cNvPicPr preferRelativeResize="0"/>
          <p:nvPr/>
        </p:nvPicPr>
        <p:blipFill rotWithShape="1">
          <a:blip r:embed="rId24">
            <a:alphaModFix/>
          </a:blip>
          <a:srcRect b="0" l="0" r="0" t="0"/>
          <a:stretch/>
        </p:blipFill>
        <p:spPr>
          <a:xfrm>
            <a:off x="3287166" y="4348162"/>
            <a:ext cx="347216" cy="142875"/>
          </a:xfrm>
          <a:prstGeom prst="rect">
            <a:avLst/>
          </a:prstGeom>
          <a:noFill/>
          <a:ln>
            <a:noFill/>
          </a:ln>
        </p:spPr>
      </p:pic>
      <p:pic>
        <p:nvPicPr>
          <p:cNvPr descr="image.png" id="237" name="Google Shape;237;p17"/>
          <p:cNvPicPr preferRelativeResize="0"/>
          <p:nvPr/>
        </p:nvPicPr>
        <p:blipFill rotWithShape="1">
          <a:blip r:embed="rId25">
            <a:alphaModFix/>
          </a:blip>
          <a:srcRect b="0" l="0" r="0" t="0"/>
          <a:stretch/>
        </p:blipFill>
        <p:spPr>
          <a:xfrm>
            <a:off x="3691532" y="4348162"/>
            <a:ext cx="267890" cy="142875"/>
          </a:xfrm>
          <a:prstGeom prst="rect">
            <a:avLst/>
          </a:prstGeom>
          <a:noFill/>
          <a:ln>
            <a:noFill/>
          </a:ln>
        </p:spPr>
      </p:pic>
      <p:pic>
        <p:nvPicPr>
          <p:cNvPr descr="image.png" id="238" name="Google Shape;238;p17"/>
          <p:cNvPicPr preferRelativeResize="0"/>
          <p:nvPr/>
        </p:nvPicPr>
        <p:blipFill rotWithShape="1">
          <a:blip r:embed="rId26">
            <a:alphaModFix/>
          </a:blip>
          <a:srcRect b="0" l="0" r="0" t="0"/>
          <a:stretch/>
        </p:blipFill>
        <p:spPr>
          <a:xfrm>
            <a:off x="4016573" y="4348162"/>
            <a:ext cx="678953" cy="142875"/>
          </a:xfrm>
          <a:prstGeom prst="rect">
            <a:avLst/>
          </a:prstGeom>
          <a:noFill/>
          <a:ln>
            <a:noFill/>
          </a:ln>
        </p:spPr>
      </p:pic>
      <p:sp>
        <p:nvSpPr>
          <p:cNvPr id="239" name="Google Shape;239;p17"/>
          <p:cNvSpPr txBox="1"/>
          <p:nvPr/>
        </p:nvSpPr>
        <p:spPr>
          <a:xfrm>
            <a:off x="571500" y="381000"/>
            <a:ext cx="11601450" cy="37147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2400" u="none" cap="none" strike="noStrike">
                <a:solidFill>
                  <a:srgbClr val="0F172A"/>
                </a:solidFill>
                <a:latin typeface="Plus Jakarta Sans ExtraBold"/>
                <a:ea typeface="Plus Jakarta Sans ExtraBold"/>
                <a:cs typeface="Plus Jakarta Sans ExtraBold"/>
                <a:sym typeface="Plus Jakarta Sans ExtraBold"/>
              </a:rPr>
              <a:t>High-Level Architecture Blueprint</a:t>
            </a:r>
            <a:endParaRPr/>
          </a:p>
        </p:txBody>
      </p:sp>
      <p:sp>
        <p:nvSpPr>
          <p:cNvPr id="240" name="Google Shape;240;p17"/>
          <p:cNvSpPr/>
          <p:nvPr/>
        </p:nvSpPr>
        <p:spPr>
          <a:xfrm>
            <a:off x="571500" y="847725"/>
            <a:ext cx="11049000" cy="19050"/>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4" name="Shape 244"/>
        <p:cNvGrpSpPr/>
        <p:nvPr/>
      </p:nvGrpSpPr>
      <p:grpSpPr>
        <a:xfrm>
          <a:off x="0" y="0"/>
          <a:ext cx="0" cy="0"/>
          <a:chOff x="0" y="0"/>
          <a:chExt cx="0" cy="0"/>
        </a:xfrm>
      </p:grpSpPr>
      <p:pic>
        <p:nvPicPr>
          <p:cNvPr descr="image.png" id="245" name="Google Shape;245;p18"/>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46" name="Google Shape;246;p18"/>
          <p:cNvSpPr txBox="1"/>
          <p:nvPr/>
        </p:nvSpPr>
        <p:spPr>
          <a:xfrm>
            <a:off x="571500" y="381000"/>
            <a:ext cx="11601600" cy="3693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2400" u="none" cap="none" strike="noStrike">
                <a:solidFill>
                  <a:srgbClr val="0F172A"/>
                </a:solidFill>
                <a:latin typeface="Plus Jakarta Sans ExtraBold"/>
                <a:ea typeface="Plus Jakarta Sans ExtraBold"/>
                <a:cs typeface="Plus Jakarta Sans ExtraBold"/>
                <a:sym typeface="Plus Jakarta Sans ExtraBold"/>
              </a:rPr>
              <a:t>The Devin Workflow Horizon</a:t>
            </a:r>
            <a:endParaRPr/>
          </a:p>
        </p:txBody>
      </p:sp>
      <p:grpSp>
        <p:nvGrpSpPr>
          <p:cNvPr id="247" name="Google Shape;247;p18"/>
          <p:cNvGrpSpPr/>
          <p:nvPr/>
        </p:nvGrpSpPr>
        <p:grpSpPr>
          <a:xfrm>
            <a:off x="571500" y="1238250"/>
            <a:ext cx="2476500" cy="2857500"/>
            <a:chOff x="0" y="0"/>
            <a:chExt cx="2476500" cy="2857500"/>
          </a:xfrm>
        </p:grpSpPr>
        <p:sp>
          <p:nvSpPr>
            <p:cNvPr id="248" name="Google Shape;248;p18"/>
            <p:cNvSpPr/>
            <p:nvPr/>
          </p:nvSpPr>
          <p:spPr>
            <a:xfrm>
              <a:off x="0" y="0"/>
              <a:ext cx="2476500" cy="2857500"/>
            </a:xfrm>
            <a:prstGeom prst="roundRect">
              <a:avLst>
                <a:gd fmla="val 4615" name="adj"/>
              </a:avLst>
            </a:prstGeom>
            <a:solidFill>
              <a:srgbClr val="F8FAFC"/>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9" name="Google Shape;249;p18"/>
            <p:cNvSpPr/>
            <p:nvPr/>
          </p:nvSpPr>
          <p:spPr>
            <a:xfrm>
              <a:off x="0" y="0"/>
              <a:ext cx="57300" cy="2857500"/>
            </a:xfrm>
            <a:prstGeom prst="roundRect">
              <a:avLst>
                <a:gd fmla="val 50000" name="adj"/>
              </a:avLst>
            </a:prstGeom>
            <a:solidFill>
              <a:srgbClr val="64748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0" name="Google Shape;250;p18"/>
            <p:cNvSpPr txBox="1"/>
            <p:nvPr/>
          </p:nvSpPr>
          <p:spPr>
            <a:xfrm>
              <a:off x="190500" y="190500"/>
              <a:ext cx="20955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050">
                  <a:solidFill>
                    <a:srgbClr val="475569"/>
                  </a:solidFill>
                  <a:latin typeface="Plus Jakarta Sans"/>
                  <a:ea typeface="Plus Jakarta Sans"/>
                  <a:cs typeface="Plus Jakarta Sans"/>
                  <a:sym typeface="Plus Jakarta Sans"/>
                </a:rPr>
                <a:t>ENGINEER / SYSTEM</a:t>
              </a:r>
              <a:endParaRPr b="1" sz="1050">
                <a:solidFill>
                  <a:srgbClr val="475569"/>
                </a:solidFill>
                <a:latin typeface="Plus Jakarta Sans"/>
                <a:ea typeface="Plus Jakarta Sans"/>
                <a:cs typeface="Plus Jakarta Sans"/>
                <a:sym typeface="Plus Jakarta Sans"/>
              </a:endParaRPr>
            </a:p>
          </p:txBody>
        </p:sp>
        <p:grpSp>
          <p:nvGrpSpPr>
            <p:cNvPr id="251" name="Google Shape;251;p18"/>
            <p:cNvGrpSpPr/>
            <p:nvPr/>
          </p:nvGrpSpPr>
          <p:grpSpPr>
            <a:xfrm>
              <a:off x="190500" y="666750"/>
              <a:ext cx="2095500" cy="571500"/>
              <a:chOff x="0" y="0"/>
              <a:chExt cx="2095500" cy="571500"/>
            </a:xfrm>
          </p:grpSpPr>
          <p:sp>
            <p:nvSpPr>
              <p:cNvPr id="252" name="Google Shape;252;p18"/>
              <p:cNvSpPr txBox="1"/>
              <p:nvPr/>
            </p:nvSpPr>
            <p:spPr>
              <a:xfrm>
                <a:off x="0" y="29210"/>
                <a:ext cx="2859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2000">
                    <a:solidFill>
                      <a:srgbClr val="64748B"/>
                    </a:solidFill>
                    <a:latin typeface="Material Icons"/>
                    <a:ea typeface="Material Icons"/>
                    <a:cs typeface="Material Icons"/>
                    <a:sym typeface="Material Icons"/>
                  </a:rPr>
                  <a:t>play_circle</a:t>
                </a:r>
                <a:endParaRPr sz="2000">
                  <a:solidFill>
                    <a:srgbClr val="64748B"/>
                  </a:solidFill>
                  <a:latin typeface="Material Icons"/>
                  <a:ea typeface="Material Icons"/>
                  <a:cs typeface="Material Icons"/>
                  <a:sym typeface="Material Icons"/>
                </a:endParaRPr>
              </a:p>
            </p:txBody>
          </p:sp>
          <p:sp>
            <p:nvSpPr>
              <p:cNvPr id="253" name="Google Shape;253;p18"/>
              <p:cNvSpPr txBox="1"/>
              <p:nvPr/>
            </p:nvSpPr>
            <p:spPr>
              <a:xfrm>
                <a:off x="381000" y="0"/>
                <a:ext cx="17145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950">
                    <a:solidFill>
                      <a:srgbClr val="1E293B"/>
                    </a:solidFill>
                    <a:latin typeface="Plus Jakarta Sans Medium"/>
                    <a:ea typeface="Plus Jakarta Sans Medium"/>
                    <a:cs typeface="Plus Jakarta Sans Medium"/>
                    <a:sym typeface="Plus Jakarta Sans Medium"/>
                  </a:rPr>
                  <a:t>Task / Question triggers flow</a:t>
                </a:r>
                <a:endParaRPr b="0" sz="950">
                  <a:solidFill>
                    <a:srgbClr val="1E293B"/>
                  </a:solidFill>
                  <a:latin typeface="Plus Jakarta Sans Medium"/>
                  <a:ea typeface="Plus Jakarta Sans Medium"/>
                  <a:cs typeface="Plus Jakarta Sans Medium"/>
                  <a:sym typeface="Plus Jakarta Sans Medium"/>
                </a:endParaRPr>
              </a:p>
            </p:txBody>
          </p:sp>
        </p:grpSp>
        <p:grpSp>
          <p:nvGrpSpPr>
            <p:cNvPr id="254" name="Google Shape;254;p18"/>
            <p:cNvGrpSpPr/>
            <p:nvPr/>
          </p:nvGrpSpPr>
          <p:grpSpPr>
            <a:xfrm>
              <a:off x="190500" y="1524000"/>
              <a:ext cx="2095500" cy="571500"/>
              <a:chOff x="0" y="0"/>
              <a:chExt cx="2095500" cy="571500"/>
            </a:xfrm>
          </p:grpSpPr>
          <p:sp>
            <p:nvSpPr>
              <p:cNvPr id="255" name="Google Shape;255;p18"/>
              <p:cNvSpPr txBox="1"/>
              <p:nvPr/>
            </p:nvSpPr>
            <p:spPr>
              <a:xfrm>
                <a:off x="0" y="29210"/>
                <a:ext cx="2859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2000">
                    <a:solidFill>
                      <a:srgbClr val="64748B"/>
                    </a:solidFill>
                    <a:latin typeface="Material Icons"/>
                    <a:ea typeface="Material Icons"/>
                    <a:cs typeface="Material Icons"/>
                    <a:sym typeface="Material Icons"/>
                  </a:rPr>
                  <a:t>launch</a:t>
                </a:r>
                <a:endParaRPr sz="2000">
                  <a:solidFill>
                    <a:srgbClr val="64748B"/>
                  </a:solidFill>
                  <a:latin typeface="Material Icons"/>
                  <a:ea typeface="Material Icons"/>
                  <a:cs typeface="Material Icons"/>
                  <a:sym typeface="Material Icons"/>
                </a:endParaRPr>
              </a:p>
            </p:txBody>
          </p:sp>
          <p:sp>
            <p:nvSpPr>
              <p:cNvPr id="256" name="Google Shape;256;p18"/>
              <p:cNvSpPr txBox="1"/>
              <p:nvPr/>
            </p:nvSpPr>
            <p:spPr>
              <a:xfrm>
                <a:off x="381000" y="0"/>
                <a:ext cx="17145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950">
                    <a:solidFill>
                      <a:srgbClr val="1E293B"/>
                    </a:solidFill>
                    <a:latin typeface="Plus Jakarta Sans Medium"/>
                    <a:ea typeface="Plus Jakarta Sans Medium"/>
                    <a:cs typeface="Plus Jakarta Sans Medium"/>
                    <a:sym typeface="Plus Jakarta Sans Medium"/>
                  </a:rPr>
                  <a:t>Issues Start Session action</a:t>
                </a:r>
                <a:endParaRPr b="0" sz="950">
                  <a:solidFill>
                    <a:srgbClr val="1E293B"/>
                  </a:solidFill>
                  <a:latin typeface="Plus Jakarta Sans Medium"/>
                  <a:ea typeface="Plus Jakarta Sans Medium"/>
                  <a:cs typeface="Plus Jakarta Sans Medium"/>
                  <a:sym typeface="Plus Jakarta Sans Medium"/>
                </a:endParaRPr>
              </a:p>
            </p:txBody>
          </p:sp>
        </p:grpSp>
      </p:grpSp>
      <p:grpSp>
        <p:nvGrpSpPr>
          <p:cNvPr id="257" name="Google Shape;257;p18"/>
          <p:cNvGrpSpPr/>
          <p:nvPr/>
        </p:nvGrpSpPr>
        <p:grpSpPr>
          <a:xfrm>
            <a:off x="3429000" y="1238250"/>
            <a:ext cx="2476500" cy="2857500"/>
            <a:chOff x="0" y="0"/>
            <a:chExt cx="2476500" cy="2857500"/>
          </a:xfrm>
        </p:grpSpPr>
        <p:sp>
          <p:nvSpPr>
            <p:cNvPr id="258" name="Google Shape;258;p18"/>
            <p:cNvSpPr/>
            <p:nvPr/>
          </p:nvSpPr>
          <p:spPr>
            <a:xfrm>
              <a:off x="0" y="0"/>
              <a:ext cx="2476500" cy="2857500"/>
            </a:xfrm>
            <a:prstGeom prst="roundRect">
              <a:avLst>
                <a:gd fmla="val 4615" name="adj"/>
              </a:avLst>
            </a:prstGeom>
            <a:solidFill>
              <a:srgbClr val="EFF6FF"/>
            </a:solidFill>
            <a:ln cap="flat" cmpd="sng" w="14300">
              <a:solidFill>
                <a:srgbClr val="DBEAF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9" name="Google Shape;259;p18"/>
            <p:cNvSpPr/>
            <p:nvPr/>
          </p:nvSpPr>
          <p:spPr>
            <a:xfrm>
              <a:off x="0" y="0"/>
              <a:ext cx="57300" cy="2857500"/>
            </a:xfrm>
            <a:prstGeom prst="roundRect">
              <a:avLst>
                <a:gd fmla="val 5000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0" name="Google Shape;260;p18"/>
            <p:cNvSpPr txBox="1"/>
            <p:nvPr/>
          </p:nvSpPr>
          <p:spPr>
            <a:xfrm>
              <a:off x="190500" y="190500"/>
              <a:ext cx="20955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050">
                  <a:solidFill>
                    <a:srgbClr val="1D4ED8"/>
                  </a:solidFill>
                  <a:latin typeface="Plus Jakarta Sans"/>
                  <a:ea typeface="Plus Jakarta Sans"/>
                  <a:cs typeface="Plus Jakarta Sans"/>
                  <a:sym typeface="Plus Jakarta Sans"/>
                </a:rPr>
                <a:t>ASK DEVIN (Q&amp;A)</a:t>
              </a:r>
              <a:endParaRPr b="1" sz="1050">
                <a:solidFill>
                  <a:srgbClr val="1D4ED8"/>
                </a:solidFill>
                <a:latin typeface="Plus Jakarta Sans"/>
                <a:ea typeface="Plus Jakarta Sans"/>
                <a:cs typeface="Plus Jakarta Sans"/>
                <a:sym typeface="Plus Jakarta Sans"/>
              </a:endParaRPr>
            </a:p>
          </p:txBody>
        </p:sp>
        <p:grpSp>
          <p:nvGrpSpPr>
            <p:cNvPr id="261" name="Google Shape;261;p18"/>
            <p:cNvGrpSpPr/>
            <p:nvPr/>
          </p:nvGrpSpPr>
          <p:grpSpPr>
            <a:xfrm>
              <a:off x="190500" y="666750"/>
              <a:ext cx="2095500" cy="571500"/>
              <a:chOff x="0" y="0"/>
              <a:chExt cx="2095500" cy="571500"/>
            </a:xfrm>
          </p:grpSpPr>
          <p:sp>
            <p:nvSpPr>
              <p:cNvPr id="262" name="Google Shape;262;p18"/>
              <p:cNvSpPr txBox="1"/>
              <p:nvPr/>
            </p:nvSpPr>
            <p:spPr>
              <a:xfrm>
                <a:off x="0" y="29210"/>
                <a:ext cx="2859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2000">
                    <a:solidFill>
                      <a:srgbClr val="2563EB"/>
                    </a:solidFill>
                    <a:latin typeface="Material Icons"/>
                    <a:ea typeface="Material Icons"/>
                    <a:cs typeface="Material Icons"/>
                    <a:sym typeface="Material Icons"/>
                  </a:rPr>
                  <a:t>search</a:t>
                </a:r>
                <a:endParaRPr sz="2000">
                  <a:solidFill>
                    <a:srgbClr val="2563EB"/>
                  </a:solidFill>
                  <a:latin typeface="Material Icons"/>
                  <a:ea typeface="Material Icons"/>
                  <a:cs typeface="Material Icons"/>
                  <a:sym typeface="Material Icons"/>
                </a:endParaRPr>
              </a:p>
            </p:txBody>
          </p:sp>
          <p:sp>
            <p:nvSpPr>
              <p:cNvPr id="263" name="Google Shape;263;p18"/>
              <p:cNvSpPr txBox="1"/>
              <p:nvPr/>
            </p:nvSpPr>
            <p:spPr>
              <a:xfrm>
                <a:off x="381000" y="0"/>
                <a:ext cx="17145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950">
                    <a:solidFill>
                      <a:srgbClr val="1E293B"/>
                    </a:solidFill>
                    <a:latin typeface="Plus Jakarta Sans Medium"/>
                    <a:ea typeface="Plus Jakarta Sans Medium"/>
                    <a:cs typeface="Plus Jakarta Sans Medium"/>
                    <a:sym typeface="Plus Jakarta Sans Medium"/>
                  </a:rPr>
                  <a:t>Searches workspace indexes</a:t>
                </a:r>
                <a:endParaRPr b="0" sz="950">
                  <a:solidFill>
                    <a:srgbClr val="1E293B"/>
                  </a:solidFill>
                  <a:latin typeface="Plus Jakarta Sans Medium"/>
                  <a:ea typeface="Plus Jakarta Sans Medium"/>
                  <a:cs typeface="Plus Jakarta Sans Medium"/>
                  <a:sym typeface="Plus Jakarta Sans Medium"/>
                </a:endParaRPr>
              </a:p>
            </p:txBody>
          </p:sp>
        </p:grpSp>
        <p:grpSp>
          <p:nvGrpSpPr>
            <p:cNvPr id="264" name="Google Shape;264;p18"/>
            <p:cNvGrpSpPr/>
            <p:nvPr/>
          </p:nvGrpSpPr>
          <p:grpSpPr>
            <a:xfrm>
              <a:off x="190500" y="1524000"/>
              <a:ext cx="2095500" cy="571500"/>
              <a:chOff x="0" y="0"/>
              <a:chExt cx="2095500" cy="571500"/>
            </a:xfrm>
          </p:grpSpPr>
          <p:sp>
            <p:nvSpPr>
              <p:cNvPr id="265" name="Google Shape;265;p18"/>
              <p:cNvSpPr txBox="1"/>
              <p:nvPr/>
            </p:nvSpPr>
            <p:spPr>
              <a:xfrm>
                <a:off x="0" y="29210"/>
                <a:ext cx="2859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2000">
                    <a:solidFill>
                      <a:srgbClr val="2563EB"/>
                    </a:solidFill>
                    <a:latin typeface="Material Icons"/>
                    <a:ea typeface="Material Icons"/>
                    <a:cs typeface="Material Icons"/>
                    <a:sym typeface="Material Icons"/>
                  </a:rPr>
                  <a:t>question_answer</a:t>
                </a:r>
                <a:endParaRPr sz="2000">
                  <a:solidFill>
                    <a:srgbClr val="2563EB"/>
                  </a:solidFill>
                  <a:latin typeface="Material Icons"/>
                  <a:ea typeface="Material Icons"/>
                  <a:cs typeface="Material Icons"/>
                  <a:sym typeface="Material Icons"/>
                </a:endParaRPr>
              </a:p>
            </p:txBody>
          </p:sp>
          <p:sp>
            <p:nvSpPr>
              <p:cNvPr id="266" name="Google Shape;266;p18"/>
              <p:cNvSpPr txBox="1"/>
              <p:nvPr/>
            </p:nvSpPr>
            <p:spPr>
              <a:xfrm>
                <a:off x="381000" y="0"/>
                <a:ext cx="17145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950">
                    <a:solidFill>
                      <a:srgbClr val="1E293B"/>
                    </a:solidFill>
                    <a:latin typeface="Plus Jakarta Sans Medium"/>
                    <a:ea typeface="Plus Jakarta Sans Medium"/>
                    <a:cs typeface="Plus Jakarta Sans Medium"/>
                    <a:sym typeface="Plus Jakarta Sans Medium"/>
                  </a:rPr>
                  <a:t>Returns cited code answers</a:t>
                </a:r>
                <a:endParaRPr b="0" sz="950">
                  <a:solidFill>
                    <a:srgbClr val="1E293B"/>
                  </a:solidFill>
                  <a:latin typeface="Plus Jakarta Sans Medium"/>
                  <a:ea typeface="Plus Jakarta Sans Medium"/>
                  <a:cs typeface="Plus Jakarta Sans Medium"/>
                  <a:sym typeface="Plus Jakarta Sans Medium"/>
                </a:endParaRPr>
              </a:p>
            </p:txBody>
          </p:sp>
        </p:grpSp>
      </p:grpSp>
      <p:grpSp>
        <p:nvGrpSpPr>
          <p:cNvPr id="267" name="Google Shape;267;p18"/>
          <p:cNvGrpSpPr/>
          <p:nvPr/>
        </p:nvGrpSpPr>
        <p:grpSpPr>
          <a:xfrm>
            <a:off x="6286500" y="1238250"/>
            <a:ext cx="2476500" cy="2857500"/>
            <a:chOff x="0" y="0"/>
            <a:chExt cx="2476500" cy="2857500"/>
          </a:xfrm>
        </p:grpSpPr>
        <p:sp>
          <p:nvSpPr>
            <p:cNvPr id="268" name="Google Shape;268;p18"/>
            <p:cNvSpPr/>
            <p:nvPr/>
          </p:nvSpPr>
          <p:spPr>
            <a:xfrm>
              <a:off x="0" y="0"/>
              <a:ext cx="2476500" cy="2857500"/>
            </a:xfrm>
            <a:prstGeom prst="roundRect">
              <a:avLst>
                <a:gd fmla="val 4615" name="adj"/>
              </a:avLst>
            </a:prstGeom>
            <a:solidFill>
              <a:srgbClr val="F5F3FF"/>
            </a:solidFill>
            <a:ln cap="flat" cmpd="sng" w="14300">
              <a:solidFill>
                <a:srgbClr val="EDE9F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9" name="Google Shape;269;p18"/>
            <p:cNvSpPr/>
            <p:nvPr/>
          </p:nvSpPr>
          <p:spPr>
            <a:xfrm>
              <a:off x="0" y="0"/>
              <a:ext cx="57300" cy="2857500"/>
            </a:xfrm>
            <a:prstGeom prst="roundRect">
              <a:avLst>
                <a:gd fmla="val 50000" name="adj"/>
              </a:avLst>
            </a:prstGeom>
            <a:solidFill>
              <a:srgbClr val="7C3AED"/>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0" name="Google Shape;270;p18"/>
            <p:cNvSpPr txBox="1"/>
            <p:nvPr/>
          </p:nvSpPr>
          <p:spPr>
            <a:xfrm>
              <a:off x="190500" y="190500"/>
              <a:ext cx="20955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050">
                  <a:solidFill>
                    <a:srgbClr val="6D28D9"/>
                  </a:solidFill>
                  <a:latin typeface="Plus Jakarta Sans"/>
                  <a:ea typeface="Plus Jakarta Sans"/>
                  <a:cs typeface="Plus Jakarta Sans"/>
                  <a:sym typeface="Plus Jakarta Sans"/>
                </a:rPr>
                <a:t>DEVIN SESSIONS (VM)</a:t>
              </a:r>
              <a:endParaRPr b="1" sz="1050">
                <a:solidFill>
                  <a:srgbClr val="6D28D9"/>
                </a:solidFill>
                <a:latin typeface="Plus Jakarta Sans"/>
                <a:ea typeface="Plus Jakarta Sans"/>
                <a:cs typeface="Plus Jakarta Sans"/>
                <a:sym typeface="Plus Jakarta Sans"/>
              </a:endParaRPr>
            </a:p>
          </p:txBody>
        </p:sp>
        <p:grpSp>
          <p:nvGrpSpPr>
            <p:cNvPr id="271" name="Google Shape;271;p18"/>
            <p:cNvGrpSpPr/>
            <p:nvPr/>
          </p:nvGrpSpPr>
          <p:grpSpPr>
            <a:xfrm>
              <a:off x="190500" y="666750"/>
              <a:ext cx="2095500" cy="571500"/>
              <a:chOff x="0" y="0"/>
              <a:chExt cx="2095500" cy="571500"/>
            </a:xfrm>
          </p:grpSpPr>
          <p:sp>
            <p:nvSpPr>
              <p:cNvPr id="272" name="Google Shape;272;p18"/>
              <p:cNvSpPr txBox="1"/>
              <p:nvPr/>
            </p:nvSpPr>
            <p:spPr>
              <a:xfrm>
                <a:off x="0" y="29210"/>
                <a:ext cx="2859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2000">
                    <a:solidFill>
                      <a:srgbClr val="7C3AED"/>
                    </a:solidFill>
                    <a:latin typeface="Material Icons"/>
                    <a:ea typeface="Material Icons"/>
                    <a:cs typeface="Material Icons"/>
                    <a:sym typeface="Material Icons"/>
                  </a:rPr>
                  <a:t>layers</a:t>
                </a:r>
                <a:endParaRPr sz="2000">
                  <a:solidFill>
                    <a:srgbClr val="7C3AED"/>
                  </a:solidFill>
                  <a:latin typeface="Material Icons"/>
                  <a:ea typeface="Material Icons"/>
                  <a:cs typeface="Material Icons"/>
                  <a:sym typeface="Material Icons"/>
                </a:endParaRPr>
              </a:p>
            </p:txBody>
          </p:sp>
          <p:sp>
            <p:nvSpPr>
              <p:cNvPr id="273" name="Google Shape;273;p18"/>
              <p:cNvSpPr txBox="1"/>
              <p:nvPr/>
            </p:nvSpPr>
            <p:spPr>
              <a:xfrm>
                <a:off x="381000" y="0"/>
                <a:ext cx="17145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950">
                    <a:solidFill>
                      <a:srgbClr val="1E293B"/>
                    </a:solidFill>
                    <a:latin typeface="Plus Jakarta Sans Medium"/>
                    <a:ea typeface="Plus Jakarta Sans Medium"/>
                    <a:cs typeface="Plus Jakarta Sans Medium"/>
                    <a:sym typeface="Plus Jakarta Sans Medium"/>
                  </a:rPr>
                  <a:t>Boots fresh container snapshot</a:t>
                </a:r>
                <a:endParaRPr b="0" sz="950">
                  <a:solidFill>
                    <a:srgbClr val="1E293B"/>
                  </a:solidFill>
                  <a:latin typeface="Plus Jakarta Sans Medium"/>
                  <a:ea typeface="Plus Jakarta Sans Medium"/>
                  <a:cs typeface="Plus Jakarta Sans Medium"/>
                  <a:sym typeface="Plus Jakarta Sans Medium"/>
                </a:endParaRPr>
              </a:p>
            </p:txBody>
          </p:sp>
        </p:grpSp>
        <p:grpSp>
          <p:nvGrpSpPr>
            <p:cNvPr id="274" name="Google Shape;274;p18"/>
            <p:cNvGrpSpPr/>
            <p:nvPr/>
          </p:nvGrpSpPr>
          <p:grpSpPr>
            <a:xfrm>
              <a:off x="190500" y="1524000"/>
              <a:ext cx="2095500" cy="571500"/>
              <a:chOff x="0" y="0"/>
              <a:chExt cx="2095500" cy="571500"/>
            </a:xfrm>
          </p:grpSpPr>
          <p:sp>
            <p:nvSpPr>
              <p:cNvPr id="275" name="Google Shape;275;p18"/>
              <p:cNvSpPr txBox="1"/>
              <p:nvPr/>
            </p:nvSpPr>
            <p:spPr>
              <a:xfrm>
                <a:off x="0" y="29210"/>
                <a:ext cx="2859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2000">
                    <a:solidFill>
                      <a:srgbClr val="7C3AED"/>
                    </a:solidFill>
                    <a:latin typeface="Material Icons"/>
                    <a:ea typeface="Material Icons"/>
                    <a:cs typeface="Material Icons"/>
                    <a:sym typeface="Material Icons"/>
                  </a:rPr>
                  <a:t>sync</a:t>
                </a:r>
                <a:endParaRPr sz="2000">
                  <a:solidFill>
                    <a:srgbClr val="7C3AED"/>
                  </a:solidFill>
                  <a:latin typeface="Material Icons"/>
                  <a:ea typeface="Material Icons"/>
                  <a:cs typeface="Material Icons"/>
                  <a:sym typeface="Material Icons"/>
                </a:endParaRPr>
              </a:p>
            </p:txBody>
          </p:sp>
          <p:sp>
            <p:nvSpPr>
              <p:cNvPr id="276" name="Google Shape;276;p18"/>
              <p:cNvSpPr txBox="1"/>
              <p:nvPr/>
            </p:nvSpPr>
            <p:spPr>
              <a:xfrm>
                <a:off x="381000" y="0"/>
                <a:ext cx="17145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950">
                    <a:solidFill>
                      <a:srgbClr val="1E293B"/>
                    </a:solidFill>
                    <a:latin typeface="Plus Jakarta Sans Medium"/>
                    <a:ea typeface="Plus Jakarta Sans Medium"/>
                    <a:cs typeface="Plus Jakarta Sans Medium"/>
                    <a:sym typeface="Plus Jakarta Sans Medium"/>
                  </a:rPr>
                  <a:t>Runs loop: Code → Test → Lint</a:t>
                </a:r>
                <a:endParaRPr b="0" sz="950">
                  <a:solidFill>
                    <a:srgbClr val="1E293B"/>
                  </a:solidFill>
                  <a:latin typeface="Plus Jakarta Sans Medium"/>
                  <a:ea typeface="Plus Jakarta Sans Medium"/>
                  <a:cs typeface="Plus Jakarta Sans Medium"/>
                  <a:sym typeface="Plus Jakarta Sans Medium"/>
                </a:endParaRPr>
              </a:p>
            </p:txBody>
          </p:sp>
        </p:grpSp>
      </p:grpSp>
      <p:grpSp>
        <p:nvGrpSpPr>
          <p:cNvPr id="277" name="Google Shape;277;p18"/>
          <p:cNvGrpSpPr/>
          <p:nvPr/>
        </p:nvGrpSpPr>
        <p:grpSpPr>
          <a:xfrm>
            <a:off x="9144000" y="1238250"/>
            <a:ext cx="2476500" cy="2857500"/>
            <a:chOff x="0" y="0"/>
            <a:chExt cx="2476500" cy="2857500"/>
          </a:xfrm>
        </p:grpSpPr>
        <p:sp>
          <p:nvSpPr>
            <p:cNvPr id="278" name="Google Shape;278;p18"/>
            <p:cNvSpPr/>
            <p:nvPr/>
          </p:nvSpPr>
          <p:spPr>
            <a:xfrm>
              <a:off x="0" y="0"/>
              <a:ext cx="2476500" cy="2857500"/>
            </a:xfrm>
            <a:prstGeom prst="roundRect">
              <a:avLst>
                <a:gd fmla="val 4615" name="adj"/>
              </a:avLst>
            </a:prstGeom>
            <a:solidFill>
              <a:srgbClr val="F0FDFA"/>
            </a:solidFill>
            <a:ln cap="flat" cmpd="sng" w="14300">
              <a:solidFill>
                <a:srgbClr val="CCFBF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9" name="Google Shape;279;p18"/>
            <p:cNvSpPr/>
            <p:nvPr/>
          </p:nvSpPr>
          <p:spPr>
            <a:xfrm>
              <a:off x="0" y="0"/>
              <a:ext cx="57300" cy="2857500"/>
            </a:xfrm>
            <a:prstGeom prst="roundRect">
              <a:avLst>
                <a:gd fmla="val 50000" name="adj"/>
              </a:avLst>
            </a:prstGeom>
            <a:solidFill>
              <a:srgbClr val="0D948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0" name="Google Shape;280;p18"/>
            <p:cNvSpPr txBox="1"/>
            <p:nvPr/>
          </p:nvSpPr>
          <p:spPr>
            <a:xfrm>
              <a:off x="190500" y="190500"/>
              <a:ext cx="20955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050">
                  <a:solidFill>
                    <a:srgbClr val="0F766E"/>
                  </a:solidFill>
                  <a:latin typeface="Plus Jakarta Sans"/>
                  <a:ea typeface="Plus Jakarta Sans"/>
                  <a:cs typeface="Plus Jakarta Sans"/>
                  <a:sym typeface="Plus Jakarta Sans"/>
                </a:rPr>
                <a:t>VCS (GITHUB / GITLAB)</a:t>
              </a:r>
              <a:endParaRPr b="1" sz="1050">
                <a:solidFill>
                  <a:srgbClr val="0F766E"/>
                </a:solidFill>
                <a:latin typeface="Plus Jakarta Sans"/>
                <a:ea typeface="Plus Jakarta Sans"/>
                <a:cs typeface="Plus Jakarta Sans"/>
                <a:sym typeface="Plus Jakarta Sans"/>
              </a:endParaRPr>
            </a:p>
          </p:txBody>
        </p:sp>
        <p:grpSp>
          <p:nvGrpSpPr>
            <p:cNvPr id="281" name="Google Shape;281;p18"/>
            <p:cNvGrpSpPr/>
            <p:nvPr/>
          </p:nvGrpSpPr>
          <p:grpSpPr>
            <a:xfrm>
              <a:off x="190500" y="666750"/>
              <a:ext cx="2095500" cy="571500"/>
              <a:chOff x="0" y="0"/>
              <a:chExt cx="2095500" cy="571500"/>
            </a:xfrm>
          </p:grpSpPr>
          <p:sp>
            <p:nvSpPr>
              <p:cNvPr id="282" name="Google Shape;282;p18"/>
              <p:cNvSpPr txBox="1"/>
              <p:nvPr/>
            </p:nvSpPr>
            <p:spPr>
              <a:xfrm>
                <a:off x="0" y="29210"/>
                <a:ext cx="2859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2000">
                    <a:solidFill>
                      <a:srgbClr val="0D9488"/>
                    </a:solidFill>
                    <a:latin typeface="Material Icons"/>
                    <a:ea typeface="Material Icons"/>
                    <a:cs typeface="Material Icons"/>
                    <a:sym typeface="Material Icons"/>
                  </a:rPr>
                  <a:t>inventory_2</a:t>
                </a:r>
                <a:endParaRPr sz="2000">
                  <a:solidFill>
                    <a:srgbClr val="0D9488"/>
                  </a:solidFill>
                  <a:latin typeface="Material Icons"/>
                  <a:ea typeface="Material Icons"/>
                  <a:cs typeface="Material Icons"/>
                  <a:sym typeface="Material Icons"/>
                </a:endParaRPr>
              </a:p>
            </p:txBody>
          </p:sp>
          <p:sp>
            <p:nvSpPr>
              <p:cNvPr id="283" name="Google Shape;283;p18"/>
              <p:cNvSpPr txBox="1"/>
              <p:nvPr/>
            </p:nvSpPr>
            <p:spPr>
              <a:xfrm>
                <a:off x="381000" y="0"/>
                <a:ext cx="17145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950">
                    <a:solidFill>
                      <a:srgbClr val="1E293B"/>
                    </a:solidFill>
                    <a:latin typeface="Plus Jakarta Sans Medium"/>
                    <a:ea typeface="Plus Jakarta Sans Medium"/>
                    <a:cs typeface="Plus Jakarta Sans Medium"/>
                    <a:sym typeface="Plus Jakarta Sans Medium"/>
                  </a:rPr>
                  <a:t>Receives newly created PR</a:t>
                </a:r>
                <a:endParaRPr b="0" sz="950">
                  <a:solidFill>
                    <a:srgbClr val="1E293B"/>
                  </a:solidFill>
                  <a:latin typeface="Plus Jakarta Sans Medium"/>
                  <a:ea typeface="Plus Jakarta Sans Medium"/>
                  <a:cs typeface="Plus Jakarta Sans Medium"/>
                  <a:sym typeface="Plus Jakarta Sans Medium"/>
                </a:endParaRPr>
              </a:p>
            </p:txBody>
          </p:sp>
        </p:grpSp>
        <p:grpSp>
          <p:nvGrpSpPr>
            <p:cNvPr id="284" name="Google Shape;284;p18"/>
            <p:cNvGrpSpPr/>
            <p:nvPr/>
          </p:nvGrpSpPr>
          <p:grpSpPr>
            <a:xfrm>
              <a:off x="190500" y="1524000"/>
              <a:ext cx="2095500" cy="571500"/>
              <a:chOff x="0" y="0"/>
              <a:chExt cx="2095500" cy="571500"/>
            </a:xfrm>
          </p:grpSpPr>
          <p:sp>
            <p:nvSpPr>
              <p:cNvPr id="285" name="Google Shape;285;p18"/>
              <p:cNvSpPr txBox="1"/>
              <p:nvPr/>
            </p:nvSpPr>
            <p:spPr>
              <a:xfrm>
                <a:off x="0" y="29210"/>
                <a:ext cx="2859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2000">
                    <a:solidFill>
                      <a:srgbClr val="0D9488"/>
                    </a:solidFill>
                    <a:latin typeface="Material Icons"/>
                    <a:ea typeface="Material Icons"/>
                    <a:cs typeface="Material Icons"/>
                    <a:sym typeface="Material Icons"/>
                  </a:rPr>
                  <a:t>rate_review</a:t>
                </a:r>
                <a:endParaRPr sz="2000">
                  <a:solidFill>
                    <a:srgbClr val="0D9488"/>
                  </a:solidFill>
                  <a:latin typeface="Material Icons"/>
                  <a:ea typeface="Material Icons"/>
                  <a:cs typeface="Material Icons"/>
                  <a:sym typeface="Material Icons"/>
                </a:endParaRPr>
              </a:p>
            </p:txBody>
          </p:sp>
          <p:sp>
            <p:nvSpPr>
              <p:cNvPr id="286" name="Google Shape;286;p18"/>
              <p:cNvSpPr txBox="1"/>
              <p:nvPr/>
            </p:nvSpPr>
            <p:spPr>
              <a:xfrm>
                <a:off x="381000" y="0"/>
                <a:ext cx="17145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950">
                    <a:solidFill>
                      <a:srgbClr val="1E293B"/>
                    </a:solidFill>
                    <a:latin typeface="Plus Jakarta Sans Medium"/>
                    <a:ea typeface="Plus Jakarta Sans Medium"/>
                    <a:cs typeface="Plus Jakarta Sans Medium"/>
                    <a:sym typeface="Plus Jakarta Sans Medium"/>
                  </a:rPr>
                  <a:t>Devin Review scans diff maps</a:t>
                </a:r>
                <a:endParaRPr b="0" sz="950">
                  <a:solidFill>
                    <a:srgbClr val="1E293B"/>
                  </a:solidFill>
                  <a:latin typeface="Plus Jakarta Sans Medium"/>
                  <a:ea typeface="Plus Jakarta Sans Medium"/>
                  <a:cs typeface="Plus Jakarta Sans Medium"/>
                  <a:sym typeface="Plus Jakarta Sans Medium"/>
                </a:endParaRPr>
              </a:p>
            </p:txBody>
          </p:sp>
        </p:grpSp>
      </p:grpSp>
      <p:grpSp>
        <p:nvGrpSpPr>
          <p:cNvPr id="287" name="Google Shape;287;p18"/>
          <p:cNvGrpSpPr/>
          <p:nvPr/>
        </p:nvGrpSpPr>
        <p:grpSpPr>
          <a:xfrm>
            <a:off x="571500" y="4381500"/>
            <a:ext cx="11049000" cy="1143000"/>
            <a:chOff x="0" y="0"/>
            <a:chExt cx="11049000" cy="1143000"/>
          </a:xfrm>
        </p:grpSpPr>
        <p:sp>
          <p:nvSpPr>
            <p:cNvPr id="288" name="Google Shape;288;p18"/>
            <p:cNvSpPr/>
            <p:nvPr/>
          </p:nvSpPr>
          <p:spPr>
            <a:xfrm>
              <a:off x="0" y="0"/>
              <a:ext cx="11049000" cy="1143000"/>
            </a:xfrm>
            <a:prstGeom prst="roundRect">
              <a:avLst>
                <a:gd fmla="val 10000" name="adj"/>
              </a:avLst>
            </a:prstGeom>
            <a:solidFill>
              <a:srgbClr val="F8FAFC"/>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9" name="Google Shape;289;p18"/>
            <p:cNvSpPr txBox="1"/>
            <p:nvPr/>
          </p:nvSpPr>
          <p:spPr>
            <a:xfrm>
              <a:off x="228600" y="190500"/>
              <a:ext cx="8191500" cy="762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000">
                  <a:solidFill>
                    <a:srgbClr val="0F172A"/>
                  </a:solidFill>
                  <a:latin typeface="Plus Jakarta Sans"/>
                  <a:ea typeface="Plus Jakarta Sans"/>
                  <a:cs typeface="Plus Jakarta Sans"/>
                  <a:sym typeface="Plus Jakarta Sans"/>
                </a:rPr>
                <a:t>Asynchronous Pipelines</a:t>
              </a:r>
              <a:endParaRPr b="1" sz="1000">
                <a:solidFill>
                  <a:srgbClr val="0F172A"/>
                </a:solidFill>
                <a:latin typeface="Plus Jakarta Sans"/>
                <a:ea typeface="Plus Jakarta Sans"/>
                <a:cs typeface="Plus Jakarta Sans"/>
                <a:sym typeface="Plus Jakarta Sans"/>
              </a:endParaRPr>
            </a:p>
            <a:p>
              <a:pPr indent="0" lvl="0" marL="0" rtl="0" algn="l">
                <a:spcBef>
                  <a:spcPts val="300"/>
                </a:spcBef>
                <a:spcAft>
                  <a:spcPts val="0"/>
                </a:spcAft>
                <a:buNone/>
              </a:pPr>
              <a:r>
                <a:rPr b="0" lang="en-US" sz="950">
                  <a:solidFill>
                    <a:srgbClr val="334155"/>
                  </a:solidFill>
                  <a:latin typeface="Plus Jakarta Sans"/>
                  <a:ea typeface="Plus Jakarta Sans"/>
                  <a:cs typeface="Plus Jakarta Sans"/>
                  <a:sym typeface="Plus Jakarta Sans"/>
                </a:rPr>
                <a:t>Engineers kick off multiple isolated sessions at the start of the day and return to draft PRs waiting for review. The session status is visible directly inside Slack, Jira, or the Ask Devin conversation to prevent context-switching overhead.</a:t>
              </a:r>
              <a:endParaRPr b="0" sz="950">
                <a:solidFill>
                  <a:srgbClr val="334155"/>
                </a:solidFill>
                <a:latin typeface="Plus Jakarta Sans"/>
                <a:ea typeface="Plus Jakarta Sans"/>
                <a:cs typeface="Plus Jakarta Sans"/>
                <a:sym typeface="Plus Jakarta Sans"/>
              </a:endParaRPr>
            </a:p>
          </p:txBody>
        </p:sp>
        <p:grpSp>
          <p:nvGrpSpPr>
            <p:cNvPr id="290" name="Google Shape;290;p18"/>
            <p:cNvGrpSpPr/>
            <p:nvPr/>
          </p:nvGrpSpPr>
          <p:grpSpPr>
            <a:xfrm>
              <a:off x="8953500" y="409575"/>
              <a:ext cx="1866900" cy="324000"/>
              <a:chOff x="0" y="0"/>
              <a:chExt cx="1866900" cy="324000"/>
            </a:xfrm>
          </p:grpSpPr>
          <p:sp>
            <p:nvSpPr>
              <p:cNvPr id="291" name="Google Shape;291;p18"/>
              <p:cNvSpPr/>
              <p:nvPr/>
            </p:nvSpPr>
            <p:spPr>
              <a:xfrm>
                <a:off x="0" y="0"/>
                <a:ext cx="1866900" cy="324000"/>
              </a:xfrm>
              <a:prstGeom prst="roundRect">
                <a:avLst>
                  <a:gd fmla="val 50000" name="adj"/>
                </a:avLst>
              </a:prstGeom>
              <a:solidFill>
                <a:srgbClr val="F5F3FF"/>
              </a:solidFill>
              <a:ln cap="flat" cmpd="sng" w="14300">
                <a:solidFill>
                  <a:srgbClr val="DDD6F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2" name="Google Shape;292;p18"/>
              <p:cNvSpPr txBox="1"/>
              <p:nvPr/>
            </p:nvSpPr>
            <p:spPr>
              <a:xfrm>
                <a:off x="0" y="0"/>
                <a:ext cx="1866900" cy="324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800">
                    <a:solidFill>
                      <a:srgbClr val="6D28D9"/>
                    </a:solidFill>
                    <a:latin typeface="JetBrains Mono"/>
                    <a:ea typeface="JetBrains Mono"/>
                    <a:cs typeface="JetBrains Mono"/>
                    <a:sym typeface="JetBrains Mono"/>
                  </a:rPr>
                  <a:t>ASYNC FLOW COMPLETE</a:t>
                </a:r>
                <a:endParaRPr b="1" sz="800">
                  <a:solidFill>
                    <a:srgbClr val="6D28D9"/>
                  </a:solidFill>
                  <a:latin typeface="JetBrains Mono"/>
                  <a:ea typeface="JetBrains Mono"/>
                  <a:cs typeface="JetBrains Mono"/>
                  <a:sym typeface="JetBrains Mono"/>
                </a:endParaRPr>
              </a:p>
            </p:txBody>
          </p:sp>
        </p:grpSp>
      </p:grpSp>
      <p:sp>
        <p:nvSpPr>
          <p:cNvPr id="293" name="Google Shape;293;p18"/>
          <p:cNvSpPr/>
          <p:nvPr/>
        </p:nvSpPr>
        <p:spPr>
          <a:xfrm>
            <a:off x="571500" y="847725"/>
            <a:ext cx="11049000" cy="19200"/>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97" name="Shape 297"/>
        <p:cNvGrpSpPr/>
        <p:nvPr/>
      </p:nvGrpSpPr>
      <p:grpSpPr>
        <a:xfrm>
          <a:off x="0" y="0"/>
          <a:ext cx="0" cy="0"/>
          <a:chOff x="0" y="0"/>
          <a:chExt cx="0" cy="0"/>
        </a:xfrm>
      </p:grpSpPr>
      <p:pic>
        <p:nvPicPr>
          <p:cNvPr descr="image.png" id="298" name="Google Shape;298;p19"/>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99" name="Google Shape;299;p19"/>
          <p:cNvPicPr preferRelativeResize="0"/>
          <p:nvPr/>
        </p:nvPicPr>
        <p:blipFill rotWithShape="1">
          <a:blip r:embed="rId4">
            <a:alphaModFix/>
          </a:blip>
          <a:srcRect b="0" l="0" r="0" t="0"/>
          <a:stretch/>
        </p:blipFill>
        <p:spPr>
          <a:xfrm>
            <a:off x="571500" y="1038225"/>
            <a:ext cx="3587650" cy="1632346"/>
          </a:xfrm>
          <a:prstGeom prst="rect">
            <a:avLst/>
          </a:prstGeom>
          <a:noFill/>
          <a:ln>
            <a:noFill/>
          </a:ln>
        </p:spPr>
      </p:pic>
      <p:pic>
        <p:nvPicPr>
          <p:cNvPr descr="image.png" id="300" name="Google Shape;300;p19"/>
          <p:cNvPicPr preferRelativeResize="0"/>
          <p:nvPr/>
        </p:nvPicPr>
        <p:blipFill rotWithShape="1">
          <a:blip r:embed="rId5">
            <a:alphaModFix/>
          </a:blip>
          <a:srcRect b="0" l="0" r="0" t="0"/>
          <a:stretch/>
        </p:blipFill>
        <p:spPr>
          <a:xfrm>
            <a:off x="4302025" y="1038225"/>
            <a:ext cx="3587799" cy="1632346"/>
          </a:xfrm>
          <a:prstGeom prst="rect">
            <a:avLst/>
          </a:prstGeom>
          <a:noFill/>
          <a:ln>
            <a:noFill/>
          </a:ln>
        </p:spPr>
      </p:pic>
      <p:pic>
        <p:nvPicPr>
          <p:cNvPr descr="image.png" id="301" name="Google Shape;301;p19"/>
          <p:cNvPicPr preferRelativeResize="0"/>
          <p:nvPr/>
        </p:nvPicPr>
        <p:blipFill rotWithShape="1">
          <a:blip r:embed="rId6">
            <a:alphaModFix/>
          </a:blip>
          <a:srcRect b="0" l="0" r="0" t="0"/>
          <a:stretch/>
        </p:blipFill>
        <p:spPr>
          <a:xfrm>
            <a:off x="8032700" y="1038225"/>
            <a:ext cx="3587650" cy="1632346"/>
          </a:xfrm>
          <a:prstGeom prst="rect">
            <a:avLst/>
          </a:prstGeom>
          <a:noFill/>
          <a:ln>
            <a:noFill/>
          </a:ln>
        </p:spPr>
      </p:pic>
      <p:pic>
        <p:nvPicPr>
          <p:cNvPr descr="image.png" id="302" name="Google Shape;302;p19"/>
          <p:cNvPicPr preferRelativeResize="0"/>
          <p:nvPr/>
        </p:nvPicPr>
        <p:blipFill rotWithShape="1">
          <a:blip r:embed="rId7">
            <a:alphaModFix/>
          </a:blip>
          <a:srcRect b="0" l="0" r="0" t="0"/>
          <a:stretch/>
        </p:blipFill>
        <p:spPr>
          <a:xfrm>
            <a:off x="571500" y="2813446"/>
            <a:ext cx="3587650" cy="1632346"/>
          </a:xfrm>
          <a:prstGeom prst="rect">
            <a:avLst/>
          </a:prstGeom>
          <a:noFill/>
          <a:ln>
            <a:noFill/>
          </a:ln>
        </p:spPr>
      </p:pic>
      <p:pic>
        <p:nvPicPr>
          <p:cNvPr descr="image.png" id="303" name="Google Shape;303;p19"/>
          <p:cNvPicPr preferRelativeResize="0"/>
          <p:nvPr/>
        </p:nvPicPr>
        <p:blipFill rotWithShape="1">
          <a:blip r:embed="rId8">
            <a:alphaModFix/>
          </a:blip>
          <a:srcRect b="0" l="0" r="0" t="0"/>
          <a:stretch/>
        </p:blipFill>
        <p:spPr>
          <a:xfrm>
            <a:off x="4302025" y="2813446"/>
            <a:ext cx="3587799" cy="1632346"/>
          </a:xfrm>
          <a:prstGeom prst="rect">
            <a:avLst/>
          </a:prstGeom>
          <a:noFill/>
          <a:ln>
            <a:noFill/>
          </a:ln>
        </p:spPr>
      </p:pic>
      <p:pic>
        <p:nvPicPr>
          <p:cNvPr descr="image.png" id="304" name="Google Shape;304;p19"/>
          <p:cNvPicPr preferRelativeResize="0"/>
          <p:nvPr/>
        </p:nvPicPr>
        <p:blipFill rotWithShape="1">
          <a:blip r:embed="rId7">
            <a:alphaModFix/>
          </a:blip>
          <a:srcRect b="0" l="0" r="0" t="0"/>
          <a:stretch/>
        </p:blipFill>
        <p:spPr>
          <a:xfrm>
            <a:off x="8032700" y="2813446"/>
            <a:ext cx="3587650" cy="1632346"/>
          </a:xfrm>
          <a:prstGeom prst="rect">
            <a:avLst/>
          </a:prstGeom>
          <a:noFill/>
          <a:ln>
            <a:noFill/>
          </a:ln>
        </p:spPr>
      </p:pic>
      <p:pic>
        <p:nvPicPr>
          <p:cNvPr descr="image.png" id="305" name="Google Shape;305;p19"/>
          <p:cNvPicPr preferRelativeResize="0"/>
          <p:nvPr/>
        </p:nvPicPr>
        <p:blipFill rotWithShape="1">
          <a:blip r:embed="rId9">
            <a:alphaModFix/>
          </a:blip>
          <a:srcRect b="0" l="0" r="0" t="0"/>
          <a:stretch/>
        </p:blipFill>
        <p:spPr>
          <a:xfrm>
            <a:off x="571500" y="457200"/>
            <a:ext cx="823168" cy="200025"/>
          </a:xfrm>
          <a:prstGeom prst="rect">
            <a:avLst/>
          </a:prstGeom>
          <a:noFill/>
          <a:ln>
            <a:noFill/>
          </a:ln>
        </p:spPr>
      </p:pic>
      <p:sp>
        <p:nvSpPr>
          <p:cNvPr id="306" name="Google Shape;306;p19"/>
          <p:cNvSpPr txBox="1"/>
          <p:nvPr/>
        </p:nvSpPr>
        <p:spPr>
          <a:xfrm>
            <a:off x="942975" y="1181100"/>
            <a:ext cx="3226965" cy="16192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050" u="none" cap="none" strike="noStrike">
                <a:solidFill>
                  <a:srgbClr val="2563EB"/>
                </a:solidFill>
                <a:latin typeface="Plus Jakarta Sans"/>
                <a:ea typeface="Plus Jakarta Sans"/>
                <a:cs typeface="Plus Jakarta Sans"/>
                <a:sym typeface="Plus Jakarta Sans"/>
              </a:rPr>
              <a:t>INTERACTION</a:t>
            </a:r>
            <a:endParaRPr/>
          </a:p>
        </p:txBody>
      </p:sp>
      <p:sp>
        <p:nvSpPr>
          <p:cNvPr id="307" name="Google Shape;307;p19"/>
          <p:cNvSpPr/>
          <p:nvPr/>
        </p:nvSpPr>
        <p:spPr>
          <a:xfrm>
            <a:off x="714375" y="1371600"/>
            <a:ext cx="3301900" cy="9525"/>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8" name="Google Shape;308;p19"/>
          <p:cNvSpPr txBox="1"/>
          <p:nvPr/>
        </p:nvSpPr>
        <p:spPr>
          <a:xfrm>
            <a:off x="4673500" y="1181100"/>
            <a:ext cx="3227122" cy="16192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050" u="none" cap="none" strike="noStrike">
                <a:solidFill>
                  <a:srgbClr val="7C3AED"/>
                </a:solidFill>
                <a:latin typeface="Plus Jakarta Sans"/>
                <a:ea typeface="Plus Jakarta Sans"/>
                <a:cs typeface="Plus Jakarta Sans"/>
                <a:sym typeface="Plus Jakarta Sans"/>
              </a:rPr>
              <a:t>MEMORY</a:t>
            </a:r>
            <a:endParaRPr/>
          </a:p>
        </p:txBody>
      </p:sp>
      <p:sp>
        <p:nvSpPr>
          <p:cNvPr id="309" name="Google Shape;309;p19"/>
          <p:cNvSpPr/>
          <p:nvPr/>
        </p:nvSpPr>
        <p:spPr>
          <a:xfrm>
            <a:off x="4444900" y="1371600"/>
            <a:ext cx="3302049" cy="9525"/>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0" name="Google Shape;310;p19"/>
          <p:cNvSpPr txBox="1"/>
          <p:nvPr/>
        </p:nvSpPr>
        <p:spPr>
          <a:xfrm>
            <a:off x="8442275" y="1181100"/>
            <a:ext cx="3186960" cy="16192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050" u="none" cap="none" strike="noStrike">
                <a:solidFill>
                  <a:srgbClr val="0D9488"/>
                </a:solidFill>
                <a:latin typeface="Plus Jakarta Sans"/>
                <a:ea typeface="Plus Jakarta Sans"/>
                <a:cs typeface="Plus Jakarta Sans"/>
                <a:sym typeface="Plus Jakarta Sans"/>
              </a:rPr>
              <a:t>EXECUTION</a:t>
            </a:r>
            <a:endParaRPr/>
          </a:p>
        </p:txBody>
      </p:sp>
      <p:sp>
        <p:nvSpPr>
          <p:cNvPr id="311" name="Google Shape;311;p19"/>
          <p:cNvSpPr/>
          <p:nvPr/>
        </p:nvSpPr>
        <p:spPr>
          <a:xfrm>
            <a:off x="8175575" y="1371600"/>
            <a:ext cx="3301900" cy="9525"/>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2" name="Google Shape;312;p19"/>
          <p:cNvSpPr txBox="1"/>
          <p:nvPr/>
        </p:nvSpPr>
        <p:spPr>
          <a:xfrm>
            <a:off x="923925" y="2956321"/>
            <a:ext cx="3246968" cy="16192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050" u="none" cap="none" strike="noStrike">
                <a:solidFill>
                  <a:srgbClr val="EA580C"/>
                </a:solidFill>
                <a:latin typeface="Plus Jakarta Sans"/>
                <a:ea typeface="Plus Jakarta Sans"/>
                <a:cs typeface="Plus Jakarta Sans"/>
                <a:sym typeface="Plus Jakarta Sans"/>
              </a:rPr>
              <a:t>AUTOMATION</a:t>
            </a:r>
            <a:endParaRPr/>
          </a:p>
        </p:txBody>
      </p:sp>
      <p:sp>
        <p:nvSpPr>
          <p:cNvPr id="313" name="Google Shape;313;p19"/>
          <p:cNvSpPr/>
          <p:nvPr/>
        </p:nvSpPr>
        <p:spPr>
          <a:xfrm>
            <a:off x="714375" y="3146821"/>
            <a:ext cx="3301900" cy="9525"/>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4" name="Google Shape;314;p19"/>
          <p:cNvSpPr txBox="1"/>
          <p:nvPr/>
        </p:nvSpPr>
        <p:spPr>
          <a:xfrm>
            <a:off x="4673500" y="2956321"/>
            <a:ext cx="3227122" cy="16192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050" u="none" cap="none" strike="noStrike">
                <a:solidFill>
                  <a:srgbClr val="475569"/>
                </a:solidFill>
                <a:latin typeface="Plus Jakarta Sans"/>
                <a:ea typeface="Plus Jakarta Sans"/>
                <a:cs typeface="Plus Jakarta Sans"/>
                <a:sym typeface="Plus Jakarta Sans"/>
              </a:rPr>
              <a:t>GOVERNANCE</a:t>
            </a:r>
            <a:endParaRPr/>
          </a:p>
        </p:txBody>
      </p:sp>
      <p:sp>
        <p:nvSpPr>
          <p:cNvPr id="315" name="Google Shape;315;p19"/>
          <p:cNvSpPr/>
          <p:nvPr/>
        </p:nvSpPr>
        <p:spPr>
          <a:xfrm>
            <a:off x="4444900" y="3146821"/>
            <a:ext cx="3302049" cy="9525"/>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6" name="Google Shape;316;p19"/>
          <p:cNvSpPr txBox="1"/>
          <p:nvPr/>
        </p:nvSpPr>
        <p:spPr>
          <a:xfrm>
            <a:off x="8375600" y="2956321"/>
            <a:ext cx="3256969" cy="16192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050" u="none" cap="none" strike="noStrike">
                <a:solidFill>
                  <a:srgbClr val="2563EB"/>
                </a:solidFill>
                <a:latin typeface="Plus Jakarta Sans"/>
                <a:ea typeface="Plus Jakarta Sans"/>
                <a:cs typeface="Plus Jakarta Sans"/>
                <a:sym typeface="Plus Jakarta Sans"/>
              </a:rPr>
              <a:t>INTEGRATIONS</a:t>
            </a:r>
            <a:endParaRPr/>
          </a:p>
        </p:txBody>
      </p:sp>
      <p:sp>
        <p:nvSpPr>
          <p:cNvPr id="317" name="Google Shape;317;p19"/>
          <p:cNvSpPr/>
          <p:nvPr/>
        </p:nvSpPr>
        <p:spPr>
          <a:xfrm>
            <a:off x="8175575" y="3146821"/>
            <a:ext cx="3301900" cy="9525"/>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318" name="Google Shape;318;p19"/>
          <p:cNvPicPr preferRelativeResize="0"/>
          <p:nvPr/>
        </p:nvPicPr>
        <p:blipFill rotWithShape="1">
          <a:blip r:embed="rId10">
            <a:alphaModFix/>
          </a:blip>
          <a:srcRect b="0" l="0" r="0" t="0"/>
          <a:stretch/>
        </p:blipFill>
        <p:spPr>
          <a:xfrm>
            <a:off x="714375" y="1190625"/>
            <a:ext cx="133350" cy="133350"/>
          </a:xfrm>
          <a:prstGeom prst="rect">
            <a:avLst/>
          </a:prstGeom>
          <a:noFill/>
          <a:ln>
            <a:noFill/>
          </a:ln>
        </p:spPr>
      </p:pic>
      <p:sp>
        <p:nvSpPr>
          <p:cNvPr id="319" name="Google Shape;319;p19"/>
          <p:cNvSpPr txBox="1"/>
          <p:nvPr/>
        </p:nvSpPr>
        <p:spPr>
          <a:xfrm>
            <a:off x="942975" y="1476375"/>
            <a:ext cx="3073300"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1050" u="none" cap="none" strike="noStrike">
                <a:solidFill>
                  <a:srgbClr val="334155"/>
                </a:solidFill>
                <a:latin typeface="Plus Jakarta Sans"/>
                <a:ea typeface="Plus Jakarta Sans"/>
                <a:cs typeface="Plus Jakarta Sans"/>
                <a:sym typeface="Plus Jakarta Sans"/>
              </a:rPr>
              <a:t>Ask Devin:</a:t>
            </a:r>
            <a:r>
              <a:rPr b="0" i="0" lang="en-US" sz="1050" u="none" cap="none" strike="noStrike">
                <a:solidFill>
                  <a:srgbClr val="334155"/>
                </a:solidFill>
                <a:latin typeface="Plus Jakarta Sans"/>
                <a:ea typeface="Plus Jakarta Sans"/>
                <a:cs typeface="Plus Jakarta Sans"/>
                <a:sym typeface="Plus Jakarta Sans"/>
              </a:rPr>
              <a:t> Codebase Q&amp;A / Plans</a:t>
            </a:r>
            <a:endParaRPr/>
          </a:p>
        </p:txBody>
      </p:sp>
      <p:sp>
        <p:nvSpPr>
          <p:cNvPr id="320" name="Google Shape;320;p19"/>
          <p:cNvSpPr txBox="1"/>
          <p:nvPr/>
        </p:nvSpPr>
        <p:spPr>
          <a:xfrm>
            <a:off x="942975" y="1739205"/>
            <a:ext cx="3073300"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1050" u="none" cap="none" strike="noStrike">
                <a:solidFill>
                  <a:srgbClr val="334155"/>
                </a:solidFill>
                <a:latin typeface="Plus Jakarta Sans"/>
                <a:ea typeface="Plus Jakarta Sans"/>
                <a:cs typeface="Plus Jakarta Sans"/>
                <a:sym typeface="Plus Jakarta Sans"/>
              </a:rPr>
              <a:t>Devin Review:</a:t>
            </a:r>
            <a:r>
              <a:rPr b="0" i="0" lang="en-US" sz="1050" u="none" cap="none" strike="noStrike">
                <a:solidFill>
                  <a:srgbClr val="334155"/>
                </a:solidFill>
                <a:latin typeface="Plus Jakarta Sans"/>
                <a:ea typeface="Plus Jakarta Sans"/>
                <a:cs typeface="Plus Jakarta Sans"/>
                <a:sym typeface="Plus Jakarta Sans"/>
              </a:rPr>
              <a:t> Automated PR scans</a:t>
            </a:r>
            <a:endParaRPr/>
          </a:p>
        </p:txBody>
      </p:sp>
      <p:sp>
        <p:nvSpPr>
          <p:cNvPr id="321" name="Google Shape;321;p19"/>
          <p:cNvSpPr txBox="1"/>
          <p:nvPr/>
        </p:nvSpPr>
        <p:spPr>
          <a:xfrm>
            <a:off x="942975" y="2002035"/>
            <a:ext cx="3073300"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1050" u="none" cap="none" strike="noStrike">
                <a:solidFill>
                  <a:srgbClr val="334155"/>
                </a:solidFill>
                <a:latin typeface="Plus Jakarta Sans"/>
                <a:ea typeface="Plus Jakarta Sans"/>
                <a:cs typeface="Plus Jakarta Sans"/>
                <a:sym typeface="Plus Jakarta Sans"/>
              </a:rPr>
              <a:t>Slash Commands / Chat:</a:t>
            </a:r>
            <a:r>
              <a:rPr b="0" i="0" lang="en-US" sz="1050" u="none" cap="none" strike="noStrike">
                <a:solidFill>
                  <a:srgbClr val="334155"/>
                </a:solidFill>
                <a:latin typeface="Plus Jakarta Sans"/>
                <a:ea typeface="Plus Jakarta Sans"/>
                <a:cs typeface="Plus Jakarta Sans"/>
                <a:sym typeface="Plus Jakarta Sans"/>
              </a:rPr>
              <a:t> Quick controls</a:t>
            </a:r>
            <a:endParaRPr/>
          </a:p>
        </p:txBody>
      </p:sp>
      <p:sp>
        <p:nvSpPr>
          <p:cNvPr id="322" name="Google Shape;322;p19"/>
          <p:cNvSpPr txBox="1"/>
          <p:nvPr/>
        </p:nvSpPr>
        <p:spPr>
          <a:xfrm>
            <a:off x="942975" y="2264866"/>
            <a:ext cx="3073300"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1050" u="none" cap="none" strike="noStrike">
                <a:solidFill>
                  <a:srgbClr val="334155"/>
                </a:solidFill>
                <a:latin typeface="Plus Jakarta Sans"/>
                <a:ea typeface="Plus Jakarta Sans"/>
                <a:cs typeface="Plus Jakarta Sans"/>
                <a:sym typeface="Plus Jakarta Sans"/>
              </a:rPr>
              <a:t>Slack &amp; Teams Links:</a:t>
            </a:r>
            <a:r>
              <a:rPr b="0" i="0" lang="en-US" sz="1050" u="none" cap="none" strike="noStrike">
                <a:solidFill>
                  <a:srgbClr val="334155"/>
                </a:solidFill>
                <a:latin typeface="Plus Jakarta Sans"/>
                <a:ea typeface="Plus Jakarta Sans"/>
                <a:cs typeface="Plus Jakarta Sans"/>
                <a:sym typeface="Plus Jakarta Sans"/>
              </a:rPr>
              <a:t> Team updates</a:t>
            </a:r>
            <a:endParaRPr/>
          </a:p>
        </p:txBody>
      </p:sp>
      <p:pic>
        <p:nvPicPr>
          <p:cNvPr descr="image.png" id="323" name="Google Shape;323;p19"/>
          <p:cNvPicPr preferRelativeResize="0"/>
          <p:nvPr/>
        </p:nvPicPr>
        <p:blipFill rotWithShape="1">
          <a:blip r:embed="rId11">
            <a:alphaModFix/>
          </a:blip>
          <a:srcRect b="0" l="0" r="0" t="0"/>
          <a:stretch/>
        </p:blipFill>
        <p:spPr>
          <a:xfrm>
            <a:off x="4444900" y="1190625"/>
            <a:ext cx="133350" cy="133350"/>
          </a:xfrm>
          <a:prstGeom prst="rect">
            <a:avLst/>
          </a:prstGeom>
          <a:noFill/>
          <a:ln>
            <a:noFill/>
          </a:ln>
        </p:spPr>
      </p:pic>
      <p:sp>
        <p:nvSpPr>
          <p:cNvPr id="324" name="Google Shape;324;p19"/>
          <p:cNvSpPr txBox="1"/>
          <p:nvPr/>
        </p:nvSpPr>
        <p:spPr>
          <a:xfrm>
            <a:off x="4673500" y="1476375"/>
            <a:ext cx="3073449"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1050" u="none" cap="none" strike="noStrike">
                <a:solidFill>
                  <a:srgbClr val="334155"/>
                </a:solidFill>
                <a:latin typeface="Plus Jakarta Sans"/>
                <a:ea typeface="Plus Jakarta Sans"/>
                <a:cs typeface="Plus Jakarta Sans"/>
                <a:sym typeface="Plus Jakarta Sans"/>
              </a:rPr>
              <a:t>Knowledge:</a:t>
            </a:r>
            <a:r>
              <a:rPr b="0" i="0" lang="en-US" sz="1050" u="none" cap="none" strike="noStrike">
                <a:solidFill>
                  <a:srgbClr val="334155"/>
                </a:solidFill>
                <a:latin typeface="Plus Jakarta Sans"/>
                <a:ea typeface="Plus Jakarta Sans"/>
                <a:cs typeface="Plus Jakarta Sans"/>
                <a:sym typeface="Plus Jakarta Sans"/>
              </a:rPr>
              <a:t> Global &amp; team standards</a:t>
            </a:r>
            <a:endParaRPr/>
          </a:p>
        </p:txBody>
      </p:sp>
      <p:sp>
        <p:nvSpPr>
          <p:cNvPr id="325" name="Google Shape;325;p19"/>
          <p:cNvSpPr txBox="1"/>
          <p:nvPr/>
        </p:nvSpPr>
        <p:spPr>
          <a:xfrm>
            <a:off x="4673500" y="1739205"/>
            <a:ext cx="3073449"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1050" u="none" cap="none" strike="noStrike">
                <a:solidFill>
                  <a:srgbClr val="334155"/>
                </a:solidFill>
                <a:latin typeface="Plus Jakarta Sans"/>
                <a:ea typeface="Plus Jakarta Sans"/>
                <a:cs typeface="Plus Jakarta Sans"/>
                <a:sym typeface="Plus Jakarta Sans"/>
              </a:rPr>
              <a:t>Skills:</a:t>
            </a:r>
            <a:r>
              <a:rPr b="0" i="0" lang="en-US" sz="1050" u="none" cap="none" strike="noStrike">
                <a:solidFill>
                  <a:srgbClr val="334155"/>
                </a:solidFill>
                <a:latin typeface="Plus Jakarta Sans"/>
                <a:ea typeface="Plus Jakarta Sans"/>
                <a:cs typeface="Plus Jakarta Sans"/>
                <a:sym typeface="Plus Jakarta Sans"/>
              </a:rPr>
              <a:t> Executable `.md` scripts</a:t>
            </a:r>
            <a:endParaRPr/>
          </a:p>
        </p:txBody>
      </p:sp>
      <p:sp>
        <p:nvSpPr>
          <p:cNvPr id="326" name="Google Shape;326;p19"/>
          <p:cNvSpPr txBox="1"/>
          <p:nvPr/>
        </p:nvSpPr>
        <p:spPr>
          <a:xfrm>
            <a:off x="4673500" y="2002035"/>
            <a:ext cx="3073449"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1050" u="none" cap="none" strike="noStrike">
                <a:solidFill>
                  <a:srgbClr val="334155"/>
                </a:solidFill>
                <a:latin typeface="Plus Jakarta Sans"/>
                <a:ea typeface="Plus Jakarta Sans"/>
                <a:cs typeface="Plus Jakarta Sans"/>
                <a:sym typeface="Plus Jakarta Sans"/>
              </a:rPr>
              <a:t>Playbooks:</a:t>
            </a:r>
            <a:r>
              <a:rPr b="0" i="0" lang="en-US" sz="1050" u="none" cap="none" strike="noStrike">
                <a:solidFill>
                  <a:srgbClr val="334155"/>
                </a:solidFill>
                <a:latin typeface="Plus Jakarta Sans"/>
                <a:ea typeface="Plus Jakarta Sans"/>
                <a:cs typeface="Plus Jakarta Sans"/>
                <a:sym typeface="Plus Jakarta Sans"/>
              </a:rPr>
              <a:t> Reusable prompt templates</a:t>
            </a:r>
            <a:endParaRPr/>
          </a:p>
        </p:txBody>
      </p:sp>
      <p:sp>
        <p:nvSpPr>
          <p:cNvPr id="327" name="Google Shape;327;p19"/>
          <p:cNvSpPr txBox="1"/>
          <p:nvPr/>
        </p:nvSpPr>
        <p:spPr>
          <a:xfrm>
            <a:off x="4673500" y="2264866"/>
            <a:ext cx="3073449"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1050" u="none" cap="none" strike="noStrike">
                <a:solidFill>
                  <a:srgbClr val="334155"/>
                </a:solidFill>
                <a:latin typeface="Plus Jakarta Sans"/>
                <a:ea typeface="Plus Jakarta Sans"/>
                <a:cs typeface="Plus Jakarta Sans"/>
                <a:sym typeface="Plus Jakarta Sans"/>
              </a:rPr>
              <a:t>AGENTS.md:</a:t>
            </a:r>
            <a:r>
              <a:rPr b="0" i="0" lang="en-US" sz="1050" u="none" cap="none" strike="noStrike">
                <a:solidFill>
                  <a:srgbClr val="334155"/>
                </a:solidFill>
                <a:latin typeface="Plus Jakarta Sans"/>
                <a:ea typeface="Plus Jakarta Sans"/>
                <a:cs typeface="Plus Jakarta Sans"/>
                <a:sym typeface="Plus Jakarta Sans"/>
              </a:rPr>
              <a:t> Project instructions</a:t>
            </a:r>
            <a:endParaRPr/>
          </a:p>
        </p:txBody>
      </p:sp>
      <p:pic>
        <p:nvPicPr>
          <p:cNvPr descr="image.png" id="328" name="Google Shape;328;p19"/>
          <p:cNvPicPr preferRelativeResize="0"/>
          <p:nvPr/>
        </p:nvPicPr>
        <p:blipFill rotWithShape="1">
          <a:blip r:embed="rId12">
            <a:alphaModFix/>
          </a:blip>
          <a:srcRect b="0" l="0" r="0" t="0"/>
          <a:stretch/>
        </p:blipFill>
        <p:spPr>
          <a:xfrm>
            <a:off x="8175575" y="1190625"/>
            <a:ext cx="171450" cy="133350"/>
          </a:xfrm>
          <a:prstGeom prst="rect">
            <a:avLst/>
          </a:prstGeom>
          <a:noFill/>
          <a:ln>
            <a:noFill/>
          </a:ln>
        </p:spPr>
      </p:pic>
      <p:sp>
        <p:nvSpPr>
          <p:cNvPr id="329" name="Google Shape;329;p19"/>
          <p:cNvSpPr txBox="1"/>
          <p:nvPr/>
        </p:nvSpPr>
        <p:spPr>
          <a:xfrm>
            <a:off x="8404175" y="1476375"/>
            <a:ext cx="3073300"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1050" u="none" cap="none" strike="noStrike">
                <a:solidFill>
                  <a:srgbClr val="334155"/>
                </a:solidFill>
                <a:latin typeface="Plus Jakarta Sans"/>
                <a:ea typeface="Plus Jakarta Sans"/>
                <a:cs typeface="Plus Jakarta Sans"/>
                <a:sym typeface="Plus Jakarta Sans"/>
              </a:rPr>
              <a:t>Sessions:</a:t>
            </a:r>
            <a:r>
              <a:rPr b="0" i="0" lang="en-US" sz="1050" u="none" cap="none" strike="noStrike">
                <a:solidFill>
                  <a:srgbClr val="334155"/>
                </a:solidFill>
                <a:latin typeface="Plus Jakarta Sans"/>
                <a:ea typeface="Plus Jakarta Sans"/>
                <a:cs typeface="Plus Jakarta Sans"/>
                <a:sym typeface="Plus Jakarta Sans"/>
              </a:rPr>
              <a:t> Sandboxed VM Linux runs</a:t>
            </a:r>
            <a:endParaRPr/>
          </a:p>
        </p:txBody>
      </p:sp>
      <p:sp>
        <p:nvSpPr>
          <p:cNvPr id="330" name="Google Shape;330;p19"/>
          <p:cNvSpPr txBox="1"/>
          <p:nvPr/>
        </p:nvSpPr>
        <p:spPr>
          <a:xfrm>
            <a:off x="8404175" y="1739205"/>
            <a:ext cx="3073300"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1050" u="none" cap="none" strike="noStrike">
                <a:solidFill>
                  <a:srgbClr val="334155"/>
                </a:solidFill>
                <a:latin typeface="Plus Jakarta Sans"/>
                <a:ea typeface="Plus Jakarta Sans"/>
                <a:cs typeface="Plus Jakarta Sans"/>
                <a:sym typeface="Plus Jakarta Sans"/>
              </a:rPr>
              <a:t>Blueprints:</a:t>
            </a:r>
            <a:r>
              <a:rPr b="0" i="0" lang="en-US" sz="1050" u="none" cap="none" strike="noStrike">
                <a:solidFill>
                  <a:srgbClr val="334155"/>
                </a:solidFill>
                <a:latin typeface="Plus Jakarta Sans"/>
                <a:ea typeface="Plus Jakarta Sans"/>
                <a:cs typeface="Plus Jakarta Sans"/>
                <a:sym typeface="Plus Jakarta Sans"/>
              </a:rPr>
              <a:t> Custom Docker env layers</a:t>
            </a:r>
            <a:endParaRPr/>
          </a:p>
        </p:txBody>
      </p:sp>
      <p:sp>
        <p:nvSpPr>
          <p:cNvPr id="331" name="Google Shape;331;p19"/>
          <p:cNvSpPr txBox="1"/>
          <p:nvPr/>
        </p:nvSpPr>
        <p:spPr>
          <a:xfrm>
            <a:off x="8404175" y="2002035"/>
            <a:ext cx="3073300"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1050" u="none" cap="none" strike="noStrike">
                <a:solidFill>
                  <a:srgbClr val="334155"/>
                </a:solidFill>
                <a:latin typeface="Plus Jakarta Sans"/>
                <a:ea typeface="Plus Jakarta Sans"/>
                <a:cs typeface="Plus Jakarta Sans"/>
                <a:sym typeface="Plus Jakarta Sans"/>
              </a:rPr>
              <a:t>IDE:</a:t>
            </a:r>
            <a:r>
              <a:rPr b="0" i="0" lang="en-US" sz="1050" u="none" cap="none" strike="noStrike">
                <a:solidFill>
                  <a:srgbClr val="334155"/>
                </a:solidFill>
                <a:latin typeface="Plus Jakarta Sans"/>
                <a:ea typeface="Plus Jakarta Sans"/>
                <a:cs typeface="Plus Jakarta Sans"/>
                <a:sym typeface="Plus Jakarta Sans"/>
              </a:rPr>
              <a:t> Built-in workspace editor</a:t>
            </a:r>
            <a:endParaRPr/>
          </a:p>
        </p:txBody>
      </p:sp>
      <p:sp>
        <p:nvSpPr>
          <p:cNvPr id="332" name="Google Shape;332;p19"/>
          <p:cNvSpPr txBox="1"/>
          <p:nvPr/>
        </p:nvSpPr>
        <p:spPr>
          <a:xfrm>
            <a:off x="8404175" y="2264866"/>
            <a:ext cx="3073300"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1050" u="none" cap="none" strike="noStrike">
                <a:solidFill>
                  <a:srgbClr val="334155"/>
                </a:solidFill>
                <a:latin typeface="Plus Jakarta Sans"/>
                <a:ea typeface="Plus Jakarta Sans"/>
                <a:cs typeface="Plus Jakarta Sans"/>
                <a:sym typeface="Plus Jakarta Sans"/>
              </a:rPr>
              <a:t>Browser:</a:t>
            </a:r>
            <a:r>
              <a:rPr b="0" i="0" lang="en-US" sz="1050" u="none" cap="none" strike="noStrike">
                <a:solidFill>
                  <a:srgbClr val="334155"/>
                </a:solidFill>
                <a:latin typeface="Plus Jakarta Sans"/>
                <a:ea typeface="Plus Jakarta Sans"/>
                <a:cs typeface="Plus Jakarta Sans"/>
                <a:sym typeface="Plus Jakarta Sans"/>
              </a:rPr>
              <a:t> Web interface rendering</a:t>
            </a:r>
            <a:endParaRPr/>
          </a:p>
        </p:txBody>
      </p:sp>
      <p:pic>
        <p:nvPicPr>
          <p:cNvPr descr="image.png" id="333" name="Google Shape;333;p19"/>
          <p:cNvPicPr preferRelativeResize="0"/>
          <p:nvPr/>
        </p:nvPicPr>
        <p:blipFill rotWithShape="1">
          <a:blip r:embed="rId13">
            <a:alphaModFix/>
          </a:blip>
          <a:srcRect b="0" l="0" r="0" t="0"/>
          <a:stretch/>
        </p:blipFill>
        <p:spPr>
          <a:xfrm>
            <a:off x="714375" y="2965846"/>
            <a:ext cx="114300" cy="133350"/>
          </a:xfrm>
          <a:prstGeom prst="rect">
            <a:avLst/>
          </a:prstGeom>
          <a:noFill/>
          <a:ln>
            <a:noFill/>
          </a:ln>
        </p:spPr>
      </p:pic>
      <p:sp>
        <p:nvSpPr>
          <p:cNvPr id="334" name="Google Shape;334;p19"/>
          <p:cNvSpPr txBox="1"/>
          <p:nvPr/>
        </p:nvSpPr>
        <p:spPr>
          <a:xfrm>
            <a:off x="942975" y="3251596"/>
            <a:ext cx="3073300"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1050" u="none" cap="none" strike="noStrike">
                <a:solidFill>
                  <a:srgbClr val="334155"/>
                </a:solidFill>
                <a:latin typeface="Plus Jakarta Sans"/>
                <a:ea typeface="Plus Jakarta Sans"/>
                <a:cs typeface="Plus Jakarta Sans"/>
                <a:sym typeface="Plus Jakarta Sans"/>
              </a:rPr>
              <a:t>Automations:</a:t>
            </a:r>
            <a:r>
              <a:rPr b="0" i="0" lang="en-US" sz="1050" u="none" cap="none" strike="noStrike">
                <a:solidFill>
                  <a:srgbClr val="334155"/>
                </a:solidFill>
                <a:latin typeface="Plus Jakarta Sans"/>
                <a:ea typeface="Plus Jakarta Sans"/>
                <a:cs typeface="Plus Jakarta Sans"/>
                <a:sym typeface="Plus Jakarta Sans"/>
              </a:rPr>
              <a:t> Trigger-action models</a:t>
            </a:r>
            <a:endParaRPr/>
          </a:p>
        </p:txBody>
      </p:sp>
      <p:sp>
        <p:nvSpPr>
          <p:cNvPr id="335" name="Google Shape;335;p19"/>
          <p:cNvSpPr txBox="1"/>
          <p:nvPr/>
        </p:nvSpPr>
        <p:spPr>
          <a:xfrm>
            <a:off x="942975" y="3514427"/>
            <a:ext cx="3073300"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1050" u="none" cap="none" strike="noStrike">
                <a:solidFill>
                  <a:srgbClr val="334155"/>
                </a:solidFill>
                <a:latin typeface="Plus Jakarta Sans"/>
                <a:ea typeface="Plus Jakarta Sans"/>
                <a:cs typeface="Plus Jakarta Sans"/>
                <a:sym typeface="Plus Jakarta Sans"/>
              </a:rPr>
              <a:t>Schedules:</a:t>
            </a:r>
            <a:r>
              <a:rPr b="0" i="0" lang="en-US" sz="1050" u="none" cap="none" strike="noStrike">
                <a:solidFill>
                  <a:srgbClr val="334155"/>
                </a:solidFill>
                <a:latin typeface="Plus Jakarta Sans"/>
                <a:ea typeface="Plus Jakarta Sans"/>
                <a:cs typeface="Plus Jakarta Sans"/>
                <a:sym typeface="Plus Jakarta Sans"/>
              </a:rPr>
              <a:t> Regular cron sessions</a:t>
            </a:r>
            <a:endParaRPr/>
          </a:p>
        </p:txBody>
      </p:sp>
      <p:sp>
        <p:nvSpPr>
          <p:cNvPr id="336" name="Google Shape;336;p19"/>
          <p:cNvSpPr txBox="1"/>
          <p:nvPr/>
        </p:nvSpPr>
        <p:spPr>
          <a:xfrm>
            <a:off x="942975" y="3777257"/>
            <a:ext cx="3073300"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1050" u="none" cap="none" strike="noStrike">
                <a:solidFill>
                  <a:srgbClr val="334155"/>
                </a:solidFill>
                <a:latin typeface="Plus Jakarta Sans"/>
                <a:ea typeface="Plus Jakarta Sans"/>
                <a:cs typeface="Plus Jakarta Sans"/>
                <a:sym typeface="Plus Jakarta Sans"/>
              </a:rPr>
              <a:t>Auto-Triage:</a:t>
            </a:r>
            <a:r>
              <a:rPr b="0" i="0" lang="en-US" sz="1050" u="none" cap="none" strike="noStrike">
                <a:solidFill>
                  <a:srgbClr val="334155"/>
                </a:solidFill>
                <a:latin typeface="Plus Jakarta Sans"/>
                <a:ea typeface="Plus Jakarta Sans"/>
                <a:cs typeface="Plus Jakarta Sans"/>
                <a:sym typeface="Plus Jakarta Sans"/>
              </a:rPr>
              <a:t> Log anomaly sweeps</a:t>
            </a:r>
            <a:endParaRPr/>
          </a:p>
        </p:txBody>
      </p:sp>
      <p:sp>
        <p:nvSpPr>
          <p:cNvPr id="337" name="Google Shape;337;p19"/>
          <p:cNvSpPr txBox="1"/>
          <p:nvPr/>
        </p:nvSpPr>
        <p:spPr>
          <a:xfrm>
            <a:off x="942975" y="4040088"/>
            <a:ext cx="3073300"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1050" u="none" cap="none" strike="noStrike">
                <a:solidFill>
                  <a:srgbClr val="334155"/>
                </a:solidFill>
                <a:latin typeface="Plus Jakarta Sans"/>
                <a:ea typeface="Plus Jakarta Sans"/>
                <a:cs typeface="Plus Jakarta Sans"/>
                <a:sym typeface="Plus Jakarta Sans"/>
              </a:rPr>
              <a:t>Managed Devins:</a:t>
            </a:r>
            <a:r>
              <a:rPr b="0" i="0" lang="en-US" sz="1050" u="none" cap="none" strike="noStrike">
                <a:solidFill>
                  <a:srgbClr val="334155"/>
                </a:solidFill>
                <a:latin typeface="Plus Jakarta Sans"/>
                <a:ea typeface="Plus Jakarta Sans"/>
                <a:cs typeface="Plus Jakarta Sans"/>
                <a:sym typeface="Plus Jakarta Sans"/>
              </a:rPr>
              <a:t> Parallel sub-agents</a:t>
            </a:r>
            <a:endParaRPr/>
          </a:p>
        </p:txBody>
      </p:sp>
      <p:pic>
        <p:nvPicPr>
          <p:cNvPr descr="image.png" id="338" name="Google Shape;338;p19"/>
          <p:cNvPicPr preferRelativeResize="0"/>
          <p:nvPr/>
        </p:nvPicPr>
        <p:blipFill rotWithShape="1">
          <a:blip r:embed="rId14">
            <a:alphaModFix/>
          </a:blip>
          <a:srcRect b="0" l="0" r="0" t="0"/>
          <a:stretch/>
        </p:blipFill>
        <p:spPr>
          <a:xfrm>
            <a:off x="4444900" y="2965846"/>
            <a:ext cx="133350" cy="133350"/>
          </a:xfrm>
          <a:prstGeom prst="rect">
            <a:avLst/>
          </a:prstGeom>
          <a:noFill/>
          <a:ln>
            <a:noFill/>
          </a:ln>
        </p:spPr>
      </p:pic>
      <p:sp>
        <p:nvSpPr>
          <p:cNvPr id="339" name="Google Shape;339;p19"/>
          <p:cNvSpPr txBox="1"/>
          <p:nvPr/>
        </p:nvSpPr>
        <p:spPr>
          <a:xfrm>
            <a:off x="4673500" y="3251596"/>
            <a:ext cx="3073449"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1050" u="none" cap="none" strike="noStrike">
                <a:solidFill>
                  <a:srgbClr val="334155"/>
                </a:solidFill>
                <a:latin typeface="Plus Jakarta Sans"/>
                <a:ea typeface="Plus Jakarta Sans"/>
                <a:cs typeface="Plus Jakarta Sans"/>
                <a:sym typeface="Plus Jakarta Sans"/>
              </a:rPr>
              <a:t>RBAC Roles:</a:t>
            </a:r>
            <a:r>
              <a:rPr b="0" i="0" lang="en-US" sz="1050" u="none" cap="none" strike="noStrike">
                <a:solidFill>
                  <a:srgbClr val="334155"/>
                </a:solidFill>
                <a:latin typeface="Plus Jakarta Sans"/>
                <a:ea typeface="Plus Jakarta Sans"/>
                <a:cs typeface="Plus Jakarta Sans"/>
                <a:sym typeface="Plus Jakarta Sans"/>
              </a:rPr>
              <a:t> Action configurations</a:t>
            </a:r>
            <a:endParaRPr/>
          </a:p>
        </p:txBody>
      </p:sp>
      <p:sp>
        <p:nvSpPr>
          <p:cNvPr id="340" name="Google Shape;340;p19"/>
          <p:cNvSpPr txBox="1"/>
          <p:nvPr/>
        </p:nvSpPr>
        <p:spPr>
          <a:xfrm>
            <a:off x="4673500" y="3514427"/>
            <a:ext cx="3073449"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1050" u="none" cap="none" strike="noStrike">
                <a:solidFill>
                  <a:srgbClr val="334155"/>
                </a:solidFill>
                <a:latin typeface="Plus Jakarta Sans"/>
                <a:ea typeface="Plus Jakarta Sans"/>
                <a:cs typeface="Plus Jakarta Sans"/>
                <a:sym typeface="Plus Jakarta Sans"/>
              </a:rPr>
              <a:t>SSO Integrations:</a:t>
            </a:r>
            <a:r>
              <a:rPr b="0" i="0" lang="en-US" sz="1050" u="none" cap="none" strike="noStrike">
                <a:solidFill>
                  <a:srgbClr val="334155"/>
                </a:solidFill>
                <a:latin typeface="Plus Jakarta Sans"/>
                <a:ea typeface="Plus Jakarta Sans"/>
                <a:cs typeface="Plus Jakarta Sans"/>
                <a:sym typeface="Plus Jakarta Sans"/>
              </a:rPr>
              <a:t> Identity syncs</a:t>
            </a:r>
            <a:endParaRPr/>
          </a:p>
        </p:txBody>
      </p:sp>
      <p:sp>
        <p:nvSpPr>
          <p:cNvPr id="341" name="Google Shape;341;p19"/>
          <p:cNvSpPr txBox="1"/>
          <p:nvPr/>
        </p:nvSpPr>
        <p:spPr>
          <a:xfrm>
            <a:off x="4673500" y="3777257"/>
            <a:ext cx="3073449"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1050" u="none" cap="none" strike="noStrike">
                <a:solidFill>
                  <a:srgbClr val="334155"/>
                </a:solidFill>
                <a:latin typeface="Plus Jakarta Sans"/>
                <a:ea typeface="Plus Jakarta Sans"/>
                <a:cs typeface="Plus Jakarta Sans"/>
                <a:sym typeface="Plus Jakarta Sans"/>
              </a:rPr>
              <a:t>ACU Budgets:</a:t>
            </a:r>
            <a:r>
              <a:rPr b="0" i="0" lang="en-US" sz="1050" u="none" cap="none" strike="noStrike">
                <a:solidFill>
                  <a:srgbClr val="334155"/>
                </a:solidFill>
                <a:latin typeface="Plus Jakarta Sans"/>
                <a:ea typeface="Plus Jakarta Sans"/>
                <a:cs typeface="Plus Jakarta Sans"/>
                <a:sym typeface="Plus Jakarta Sans"/>
              </a:rPr>
              <a:t> Cost controls</a:t>
            </a:r>
            <a:endParaRPr/>
          </a:p>
        </p:txBody>
      </p:sp>
      <p:sp>
        <p:nvSpPr>
          <p:cNvPr id="342" name="Google Shape;342;p19"/>
          <p:cNvSpPr txBox="1"/>
          <p:nvPr/>
        </p:nvSpPr>
        <p:spPr>
          <a:xfrm>
            <a:off x="4673500" y="4040088"/>
            <a:ext cx="3073449"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1050" u="none" cap="none" strike="noStrike">
                <a:solidFill>
                  <a:srgbClr val="334155"/>
                </a:solidFill>
                <a:latin typeface="Plus Jakarta Sans"/>
                <a:ea typeface="Plus Jakarta Sans"/>
                <a:cs typeface="Plus Jakarta Sans"/>
                <a:sym typeface="Plus Jakarta Sans"/>
              </a:rPr>
              <a:t>IP Lists:</a:t>
            </a:r>
            <a:r>
              <a:rPr b="0" i="0" lang="en-US" sz="1050" u="none" cap="none" strike="noStrike">
                <a:solidFill>
                  <a:srgbClr val="334155"/>
                </a:solidFill>
                <a:latin typeface="Plus Jakarta Sans"/>
                <a:ea typeface="Plus Jakarta Sans"/>
                <a:cs typeface="Plus Jakarta Sans"/>
                <a:sym typeface="Plus Jakarta Sans"/>
              </a:rPr>
              <a:t> Virtual private networking</a:t>
            </a:r>
            <a:endParaRPr/>
          </a:p>
        </p:txBody>
      </p:sp>
      <p:pic>
        <p:nvPicPr>
          <p:cNvPr descr="image.png" id="343" name="Google Shape;343;p19"/>
          <p:cNvPicPr preferRelativeResize="0"/>
          <p:nvPr/>
        </p:nvPicPr>
        <p:blipFill rotWithShape="1">
          <a:blip r:embed="rId15">
            <a:alphaModFix/>
          </a:blip>
          <a:srcRect b="0" l="0" r="0" t="0"/>
          <a:stretch/>
        </p:blipFill>
        <p:spPr>
          <a:xfrm>
            <a:off x="8175575" y="2965846"/>
            <a:ext cx="104775" cy="133350"/>
          </a:xfrm>
          <a:prstGeom prst="rect">
            <a:avLst/>
          </a:prstGeom>
          <a:noFill/>
          <a:ln>
            <a:noFill/>
          </a:ln>
        </p:spPr>
      </p:pic>
      <p:sp>
        <p:nvSpPr>
          <p:cNvPr id="344" name="Google Shape;344;p19"/>
          <p:cNvSpPr txBox="1"/>
          <p:nvPr/>
        </p:nvSpPr>
        <p:spPr>
          <a:xfrm>
            <a:off x="8404175" y="3251596"/>
            <a:ext cx="3073300"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1050" u="none" cap="none" strike="noStrike">
                <a:solidFill>
                  <a:srgbClr val="334155"/>
                </a:solidFill>
                <a:latin typeface="Plus Jakarta Sans"/>
                <a:ea typeface="Plus Jakarta Sans"/>
                <a:cs typeface="Plus Jakarta Sans"/>
                <a:sym typeface="Plus Jakarta Sans"/>
              </a:rPr>
              <a:t>VCS Hooks:</a:t>
            </a:r>
            <a:r>
              <a:rPr b="0" i="0" lang="en-US" sz="1050" u="none" cap="none" strike="noStrike">
                <a:solidFill>
                  <a:srgbClr val="334155"/>
                </a:solidFill>
                <a:latin typeface="Plus Jakarta Sans"/>
                <a:ea typeface="Plus Jakarta Sans"/>
                <a:cs typeface="Plus Jakarta Sans"/>
                <a:sym typeface="Plus Jakarta Sans"/>
              </a:rPr>
              <a:t> GitHub, GitLab server links</a:t>
            </a:r>
            <a:endParaRPr/>
          </a:p>
        </p:txBody>
      </p:sp>
      <p:sp>
        <p:nvSpPr>
          <p:cNvPr id="345" name="Google Shape;345;p19"/>
          <p:cNvSpPr txBox="1"/>
          <p:nvPr/>
        </p:nvSpPr>
        <p:spPr>
          <a:xfrm>
            <a:off x="8404175" y="3514427"/>
            <a:ext cx="3073300"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1050" u="none" cap="none" strike="noStrike">
                <a:solidFill>
                  <a:srgbClr val="334155"/>
                </a:solidFill>
                <a:latin typeface="Plus Jakarta Sans"/>
                <a:ea typeface="Plus Jakarta Sans"/>
                <a:cs typeface="Plus Jakarta Sans"/>
                <a:sym typeface="Plus Jakarta Sans"/>
              </a:rPr>
              <a:t>PMS:</a:t>
            </a:r>
            <a:r>
              <a:rPr b="0" i="0" lang="en-US" sz="1050" u="none" cap="none" strike="noStrike">
                <a:solidFill>
                  <a:srgbClr val="334155"/>
                </a:solidFill>
                <a:latin typeface="Plus Jakarta Sans"/>
                <a:ea typeface="Plus Jakarta Sans"/>
                <a:cs typeface="Plus Jakarta Sans"/>
                <a:sym typeface="Plus Jakarta Sans"/>
              </a:rPr>
              <a:t> Jira &amp; Linear issue mounts</a:t>
            </a:r>
            <a:endParaRPr/>
          </a:p>
        </p:txBody>
      </p:sp>
      <p:sp>
        <p:nvSpPr>
          <p:cNvPr id="346" name="Google Shape;346;p19"/>
          <p:cNvSpPr txBox="1"/>
          <p:nvPr/>
        </p:nvSpPr>
        <p:spPr>
          <a:xfrm>
            <a:off x="8404175" y="3777257"/>
            <a:ext cx="3073300"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1050" u="none" cap="none" strike="noStrike">
                <a:solidFill>
                  <a:srgbClr val="334155"/>
                </a:solidFill>
                <a:latin typeface="Plus Jakarta Sans"/>
                <a:ea typeface="Plus Jakarta Sans"/>
                <a:cs typeface="Plus Jakarta Sans"/>
                <a:sym typeface="Plus Jakarta Sans"/>
              </a:rPr>
              <a:t>MCP Transports:</a:t>
            </a:r>
            <a:r>
              <a:rPr b="0" i="0" lang="en-US" sz="1050" u="none" cap="none" strike="noStrike">
                <a:solidFill>
                  <a:srgbClr val="334155"/>
                </a:solidFill>
                <a:latin typeface="Plus Jakarta Sans"/>
                <a:ea typeface="Plus Jakarta Sans"/>
                <a:cs typeface="Plus Jakarta Sans"/>
                <a:sym typeface="Plus Jakarta Sans"/>
              </a:rPr>
              <a:t> Standard protocol hubs</a:t>
            </a:r>
            <a:endParaRPr/>
          </a:p>
        </p:txBody>
      </p:sp>
      <p:sp>
        <p:nvSpPr>
          <p:cNvPr id="347" name="Google Shape;347;p19"/>
          <p:cNvSpPr txBox="1"/>
          <p:nvPr/>
        </p:nvSpPr>
        <p:spPr>
          <a:xfrm>
            <a:off x="8404175" y="4040088"/>
            <a:ext cx="3073300"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1050" u="none" cap="none" strike="noStrike">
                <a:solidFill>
                  <a:srgbClr val="334155"/>
                </a:solidFill>
                <a:latin typeface="Plus Jakarta Sans"/>
                <a:ea typeface="Plus Jakarta Sans"/>
                <a:cs typeface="Plus Jakarta Sans"/>
                <a:sym typeface="Plus Jakarta Sans"/>
              </a:rPr>
              <a:t>Devin API:</a:t>
            </a:r>
            <a:r>
              <a:rPr b="0" i="0" lang="en-US" sz="1050" u="none" cap="none" strike="noStrike">
                <a:solidFill>
                  <a:srgbClr val="334155"/>
                </a:solidFill>
                <a:latin typeface="Plus Jakarta Sans"/>
                <a:ea typeface="Plus Jakarta Sans"/>
                <a:cs typeface="Plus Jakarta Sans"/>
                <a:sym typeface="Plus Jakarta Sans"/>
              </a:rPr>
              <a:t> Programmatic triggers</a:t>
            </a:r>
            <a:endParaRPr/>
          </a:p>
        </p:txBody>
      </p:sp>
      <p:pic>
        <p:nvPicPr>
          <p:cNvPr descr="image.png" id="348" name="Google Shape;348;p19"/>
          <p:cNvPicPr preferRelativeResize="0"/>
          <p:nvPr/>
        </p:nvPicPr>
        <p:blipFill rotWithShape="1">
          <a:blip r:embed="rId16">
            <a:alphaModFix/>
          </a:blip>
          <a:srcRect b="0" l="0" r="0" t="0"/>
          <a:stretch/>
        </p:blipFill>
        <p:spPr>
          <a:xfrm>
            <a:off x="714375" y="1500187"/>
            <a:ext cx="85725" cy="142875"/>
          </a:xfrm>
          <a:prstGeom prst="rect">
            <a:avLst/>
          </a:prstGeom>
          <a:noFill/>
          <a:ln>
            <a:noFill/>
          </a:ln>
        </p:spPr>
      </p:pic>
      <p:pic>
        <p:nvPicPr>
          <p:cNvPr descr="image.png" id="349" name="Google Shape;349;p19"/>
          <p:cNvPicPr preferRelativeResize="0"/>
          <p:nvPr/>
        </p:nvPicPr>
        <p:blipFill rotWithShape="1">
          <a:blip r:embed="rId17">
            <a:alphaModFix/>
          </a:blip>
          <a:srcRect b="0" l="0" r="0" t="0"/>
          <a:stretch/>
        </p:blipFill>
        <p:spPr>
          <a:xfrm>
            <a:off x="714375" y="1763017"/>
            <a:ext cx="133350" cy="142875"/>
          </a:xfrm>
          <a:prstGeom prst="rect">
            <a:avLst/>
          </a:prstGeom>
          <a:noFill/>
          <a:ln>
            <a:noFill/>
          </a:ln>
        </p:spPr>
      </p:pic>
      <p:pic>
        <p:nvPicPr>
          <p:cNvPr descr="image.png" id="350" name="Google Shape;350;p19"/>
          <p:cNvPicPr preferRelativeResize="0"/>
          <p:nvPr/>
        </p:nvPicPr>
        <p:blipFill rotWithShape="1">
          <a:blip r:embed="rId18">
            <a:alphaModFix/>
          </a:blip>
          <a:srcRect b="0" l="0" r="0" t="0"/>
          <a:stretch/>
        </p:blipFill>
        <p:spPr>
          <a:xfrm>
            <a:off x="714375" y="2025848"/>
            <a:ext cx="152400" cy="142875"/>
          </a:xfrm>
          <a:prstGeom prst="rect">
            <a:avLst/>
          </a:prstGeom>
          <a:noFill/>
          <a:ln>
            <a:noFill/>
          </a:ln>
        </p:spPr>
      </p:pic>
      <p:pic>
        <p:nvPicPr>
          <p:cNvPr descr="image.png" id="351" name="Google Shape;351;p19"/>
          <p:cNvPicPr preferRelativeResize="0"/>
          <p:nvPr/>
        </p:nvPicPr>
        <p:blipFill rotWithShape="1">
          <a:blip r:embed="rId19">
            <a:alphaModFix/>
          </a:blip>
          <a:srcRect b="0" l="0" r="0" t="0"/>
          <a:stretch/>
        </p:blipFill>
        <p:spPr>
          <a:xfrm>
            <a:off x="714375" y="2288678"/>
            <a:ext cx="171450" cy="142875"/>
          </a:xfrm>
          <a:prstGeom prst="rect">
            <a:avLst/>
          </a:prstGeom>
          <a:noFill/>
          <a:ln>
            <a:noFill/>
          </a:ln>
        </p:spPr>
      </p:pic>
      <p:pic>
        <p:nvPicPr>
          <p:cNvPr descr="image.png" id="352" name="Google Shape;352;p19"/>
          <p:cNvPicPr preferRelativeResize="0"/>
          <p:nvPr/>
        </p:nvPicPr>
        <p:blipFill rotWithShape="1">
          <a:blip r:embed="rId20">
            <a:alphaModFix/>
          </a:blip>
          <a:srcRect b="0" l="0" r="0" t="0"/>
          <a:stretch/>
        </p:blipFill>
        <p:spPr>
          <a:xfrm>
            <a:off x="4444900" y="1500187"/>
            <a:ext cx="85725" cy="142875"/>
          </a:xfrm>
          <a:prstGeom prst="rect">
            <a:avLst/>
          </a:prstGeom>
          <a:noFill/>
          <a:ln>
            <a:noFill/>
          </a:ln>
        </p:spPr>
      </p:pic>
      <p:pic>
        <p:nvPicPr>
          <p:cNvPr descr="image.png" id="353" name="Google Shape;353;p19"/>
          <p:cNvPicPr preferRelativeResize="0"/>
          <p:nvPr/>
        </p:nvPicPr>
        <p:blipFill rotWithShape="1">
          <a:blip r:embed="rId20">
            <a:alphaModFix/>
          </a:blip>
          <a:srcRect b="0" l="0" r="0" t="0"/>
          <a:stretch/>
        </p:blipFill>
        <p:spPr>
          <a:xfrm>
            <a:off x="4444900" y="1763017"/>
            <a:ext cx="85725" cy="142875"/>
          </a:xfrm>
          <a:prstGeom prst="rect">
            <a:avLst/>
          </a:prstGeom>
          <a:noFill/>
          <a:ln>
            <a:noFill/>
          </a:ln>
        </p:spPr>
      </p:pic>
      <p:pic>
        <p:nvPicPr>
          <p:cNvPr descr="image.png" id="354" name="Google Shape;354;p19"/>
          <p:cNvPicPr preferRelativeResize="0"/>
          <p:nvPr/>
        </p:nvPicPr>
        <p:blipFill rotWithShape="1">
          <a:blip r:embed="rId20">
            <a:alphaModFix/>
          </a:blip>
          <a:srcRect b="0" l="0" r="0" t="0"/>
          <a:stretch/>
        </p:blipFill>
        <p:spPr>
          <a:xfrm>
            <a:off x="4444900" y="2025848"/>
            <a:ext cx="85725" cy="142875"/>
          </a:xfrm>
          <a:prstGeom prst="rect">
            <a:avLst/>
          </a:prstGeom>
          <a:noFill/>
          <a:ln>
            <a:noFill/>
          </a:ln>
        </p:spPr>
      </p:pic>
      <p:pic>
        <p:nvPicPr>
          <p:cNvPr descr="image.png" id="355" name="Google Shape;355;p19"/>
          <p:cNvPicPr preferRelativeResize="0"/>
          <p:nvPr/>
        </p:nvPicPr>
        <p:blipFill rotWithShape="1">
          <a:blip r:embed="rId20">
            <a:alphaModFix/>
          </a:blip>
          <a:srcRect b="0" l="0" r="0" t="0"/>
          <a:stretch/>
        </p:blipFill>
        <p:spPr>
          <a:xfrm>
            <a:off x="4444900" y="2288678"/>
            <a:ext cx="85725" cy="142875"/>
          </a:xfrm>
          <a:prstGeom prst="rect">
            <a:avLst/>
          </a:prstGeom>
          <a:noFill/>
          <a:ln>
            <a:noFill/>
          </a:ln>
        </p:spPr>
      </p:pic>
      <p:pic>
        <p:nvPicPr>
          <p:cNvPr descr="image.png" id="356" name="Google Shape;356;p19"/>
          <p:cNvPicPr preferRelativeResize="0"/>
          <p:nvPr/>
        </p:nvPicPr>
        <p:blipFill rotWithShape="1">
          <a:blip r:embed="rId21">
            <a:alphaModFix/>
          </a:blip>
          <a:srcRect b="0" l="0" r="0" t="0"/>
          <a:stretch/>
        </p:blipFill>
        <p:spPr>
          <a:xfrm>
            <a:off x="8175575" y="1500187"/>
            <a:ext cx="85725" cy="142875"/>
          </a:xfrm>
          <a:prstGeom prst="rect">
            <a:avLst/>
          </a:prstGeom>
          <a:noFill/>
          <a:ln>
            <a:noFill/>
          </a:ln>
        </p:spPr>
      </p:pic>
      <p:pic>
        <p:nvPicPr>
          <p:cNvPr descr="image.png" id="357" name="Google Shape;357;p19"/>
          <p:cNvPicPr preferRelativeResize="0"/>
          <p:nvPr/>
        </p:nvPicPr>
        <p:blipFill rotWithShape="1">
          <a:blip r:embed="rId21">
            <a:alphaModFix/>
          </a:blip>
          <a:srcRect b="0" l="0" r="0" t="0"/>
          <a:stretch/>
        </p:blipFill>
        <p:spPr>
          <a:xfrm>
            <a:off x="8175575" y="1763017"/>
            <a:ext cx="85725" cy="142875"/>
          </a:xfrm>
          <a:prstGeom prst="rect">
            <a:avLst/>
          </a:prstGeom>
          <a:noFill/>
          <a:ln>
            <a:noFill/>
          </a:ln>
        </p:spPr>
      </p:pic>
      <p:pic>
        <p:nvPicPr>
          <p:cNvPr descr="image.png" id="358" name="Google Shape;358;p19"/>
          <p:cNvPicPr preferRelativeResize="0"/>
          <p:nvPr/>
        </p:nvPicPr>
        <p:blipFill rotWithShape="1">
          <a:blip r:embed="rId21">
            <a:alphaModFix/>
          </a:blip>
          <a:srcRect b="0" l="0" r="0" t="0"/>
          <a:stretch/>
        </p:blipFill>
        <p:spPr>
          <a:xfrm>
            <a:off x="8175575" y="2025848"/>
            <a:ext cx="85725" cy="142875"/>
          </a:xfrm>
          <a:prstGeom prst="rect">
            <a:avLst/>
          </a:prstGeom>
          <a:noFill/>
          <a:ln>
            <a:noFill/>
          </a:ln>
        </p:spPr>
      </p:pic>
      <p:pic>
        <p:nvPicPr>
          <p:cNvPr descr="image.png" id="359" name="Google Shape;359;p19"/>
          <p:cNvPicPr preferRelativeResize="0"/>
          <p:nvPr/>
        </p:nvPicPr>
        <p:blipFill rotWithShape="1">
          <a:blip r:embed="rId21">
            <a:alphaModFix/>
          </a:blip>
          <a:srcRect b="0" l="0" r="0" t="0"/>
          <a:stretch/>
        </p:blipFill>
        <p:spPr>
          <a:xfrm>
            <a:off x="8175575" y="2288678"/>
            <a:ext cx="85725" cy="142875"/>
          </a:xfrm>
          <a:prstGeom prst="rect">
            <a:avLst/>
          </a:prstGeom>
          <a:noFill/>
          <a:ln>
            <a:noFill/>
          </a:ln>
        </p:spPr>
      </p:pic>
      <p:pic>
        <p:nvPicPr>
          <p:cNvPr descr="image.png" id="360" name="Google Shape;360;p19"/>
          <p:cNvPicPr preferRelativeResize="0"/>
          <p:nvPr/>
        </p:nvPicPr>
        <p:blipFill rotWithShape="1">
          <a:blip r:embed="rId22">
            <a:alphaModFix/>
          </a:blip>
          <a:srcRect b="0" l="0" r="0" t="0"/>
          <a:stretch/>
        </p:blipFill>
        <p:spPr>
          <a:xfrm>
            <a:off x="714375" y="3275409"/>
            <a:ext cx="85725" cy="142875"/>
          </a:xfrm>
          <a:prstGeom prst="rect">
            <a:avLst/>
          </a:prstGeom>
          <a:noFill/>
          <a:ln>
            <a:noFill/>
          </a:ln>
        </p:spPr>
      </p:pic>
      <p:pic>
        <p:nvPicPr>
          <p:cNvPr descr="image.png" id="361" name="Google Shape;361;p19"/>
          <p:cNvPicPr preferRelativeResize="0"/>
          <p:nvPr/>
        </p:nvPicPr>
        <p:blipFill rotWithShape="1">
          <a:blip r:embed="rId22">
            <a:alphaModFix/>
          </a:blip>
          <a:srcRect b="0" l="0" r="0" t="0"/>
          <a:stretch/>
        </p:blipFill>
        <p:spPr>
          <a:xfrm>
            <a:off x="714375" y="3538239"/>
            <a:ext cx="85725" cy="142875"/>
          </a:xfrm>
          <a:prstGeom prst="rect">
            <a:avLst/>
          </a:prstGeom>
          <a:noFill/>
          <a:ln>
            <a:noFill/>
          </a:ln>
        </p:spPr>
      </p:pic>
      <p:pic>
        <p:nvPicPr>
          <p:cNvPr descr="image.png" id="362" name="Google Shape;362;p19"/>
          <p:cNvPicPr preferRelativeResize="0"/>
          <p:nvPr/>
        </p:nvPicPr>
        <p:blipFill rotWithShape="1">
          <a:blip r:embed="rId22">
            <a:alphaModFix/>
          </a:blip>
          <a:srcRect b="0" l="0" r="0" t="0"/>
          <a:stretch/>
        </p:blipFill>
        <p:spPr>
          <a:xfrm>
            <a:off x="714375" y="4063900"/>
            <a:ext cx="85725" cy="142875"/>
          </a:xfrm>
          <a:prstGeom prst="rect">
            <a:avLst/>
          </a:prstGeom>
          <a:noFill/>
          <a:ln>
            <a:noFill/>
          </a:ln>
        </p:spPr>
      </p:pic>
      <p:pic>
        <p:nvPicPr>
          <p:cNvPr descr="image.png" id="363" name="Google Shape;363;p19"/>
          <p:cNvPicPr preferRelativeResize="0"/>
          <p:nvPr/>
        </p:nvPicPr>
        <p:blipFill rotWithShape="1">
          <a:blip r:embed="rId23">
            <a:alphaModFix/>
          </a:blip>
          <a:srcRect b="0" l="0" r="0" t="0"/>
          <a:stretch/>
        </p:blipFill>
        <p:spPr>
          <a:xfrm>
            <a:off x="4444900" y="3275409"/>
            <a:ext cx="85725" cy="142875"/>
          </a:xfrm>
          <a:prstGeom prst="rect">
            <a:avLst/>
          </a:prstGeom>
          <a:noFill/>
          <a:ln>
            <a:noFill/>
          </a:ln>
        </p:spPr>
      </p:pic>
      <p:pic>
        <p:nvPicPr>
          <p:cNvPr descr="image.png" id="364" name="Google Shape;364;p19"/>
          <p:cNvPicPr preferRelativeResize="0"/>
          <p:nvPr/>
        </p:nvPicPr>
        <p:blipFill rotWithShape="1">
          <a:blip r:embed="rId23">
            <a:alphaModFix/>
          </a:blip>
          <a:srcRect b="0" l="0" r="0" t="0"/>
          <a:stretch/>
        </p:blipFill>
        <p:spPr>
          <a:xfrm>
            <a:off x="4444900" y="3538239"/>
            <a:ext cx="85725" cy="142875"/>
          </a:xfrm>
          <a:prstGeom prst="rect">
            <a:avLst/>
          </a:prstGeom>
          <a:noFill/>
          <a:ln>
            <a:noFill/>
          </a:ln>
        </p:spPr>
      </p:pic>
      <p:pic>
        <p:nvPicPr>
          <p:cNvPr descr="image.png" id="365" name="Google Shape;365;p19"/>
          <p:cNvPicPr preferRelativeResize="0"/>
          <p:nvPr/>
        </p:nvPicPr>
        <p:blipFill rotWithShape="1">
          <a:blip r:embed="rId23">
            <a:alphaModFix/>
          </a:blip>
          <a:srcRect b="0" l="0" r="0" t="0"/>
          <a:stretch/>
        </p:blipFill>
        <p:spPr>
          <a:xfrm>
            <a:off x="4444900" y="3801070"/>
            <a:ext cx="85725" cy="142875"/>
          </a:xfrm>
          <a:prstGeom prst="rect">
            <a:avLst/>
          </a:prstGeom>
          <a:noFill/>
          <a:ln>
            <a:noFill/>
          </a:ln>
        </p:spPr>
      </p:pic>
      <p:pic>
        <p:nvPicPr>
          <p:cNvPr descr="image.png" id="366" name="Google Shape;366;p19"/>
          <p:cNvPicPr preferRelativeResize="0"/>
          <p:nvPr/>
        </p:nvPicPr>
        <p:blipFill rotWithShape="1">
          <a:blip r:embed="rId23">
            <a:alphaModFix/>
          </a:blip>
          <a:srcRect b="0" l="0" r="0" t="0"/>
          <a:stretch/>
        </p:blipFill>
        <p:spPr>
          <a:xfrm>
            <a:off x="4444900" y="4063900"/>
            <a:ext cx="85725" cy="142875"/>
          </a:xfrm>
          <a:prstGeom prst="rect">
            <a:avLst/>
          </a:prstGeom>
          <a:noFill/>
          <a:ln>
            <a:noFill/>
          </a:ln>
        </p:spPr>
      </p:pic>
      <p:pic>
        <p:nvPicPr>
          <p:cNvPr descr="image.png" id="367" name="Google Shape;367;p19"/>
          <p:cNvPicPr preferRelativeResize="0"/>
          <p:nvPr/>
        </p:nvPicPr>
        <p:blipFill rotWithShape="1">
          <a:blip r:embed="rId16">
            <a:alphaModFix/>
          </a:blip>
          <a:srcRect b="0" l="0" r="0" t="0"/>
          <a:stretch/>
        </p:blipFill>
        <p:spPr>
          <a:xfrm>
            <a:off x="8175575" y="3275409"/>
            <a:ext cx="85725" cy="142875"/>
          </a:xfrm>
          <a:prstGeom prst="rect">
            <a:avLst/>
          </a:prstGeom>
          <a:noFill/>
          <a:ln>
            <a:noFill/>
          </a:ln>
        </p:spPr>
      </p:pic>
      <p:pic>
        <p:nvPicPr>
          <p:cNvPr descr="image.png" id="368" name="Google Shape;368;p19"/>
          <p:cNvPicPr preferRelativeResize="0"/>
          <p:nvPr/>
        </p:nvPicPr>
        <p:blipFill rotWithShape="1">
          <a:blip r:embed="rId16">
            <a:alphaModFix/>
          </a:blip>
          <a:srcRect b="0" l="0" r="0" t="0"/>
          <a:stretch/>
        </p:blipFill>
        <p:spPr>
          <a:xfrm>
            <a:off x="8175575" y="3538239"/>
            <a:ext cx="85725" cy="142875"/>
          </a:xfrm>
          <a:prstGeom prst="rect">
            <a:avLst/>
          </a:prstGeom>
          <a:noFill/>
          <a:ln>
            <a:noFill/>
          </a:ln>
        </p:spPr>
      </p:pic>
      <p:pic>
        <p:nvPicPr>
          <p:cNvPr descr="image.png" id="369" name="Google Shape;369;p19"/>
          <p:cNvPicPr preferRelativeResize="0"/>
          <p:nvPr/>
        </p:nvPicPr>
        <p:blipFill rotWithShape="1">
          <a:blip r:embed="rId16">
            <a:alphaModFix/>
          </a:blip>
          <a:srcRect b="0" l="0" r="0" t="0"/>
          <a:stretch/>
        </p:blipFill>
        <p:spPr>
          <a:xfrm>
            <a:off x="8175575" y="3801070"/>
            <a:ext cx="85725" cy="142875"/>
          </a:xfrm>
          <a:prstGeom prst="rect">
            <a:avLst/>
          </a:prstGeom>
          <a:noFill/>
          <a:ln>
            <a:noFill/>
          </a:ln>
        </p:spPr>
      </p:pic>
      <p:pic>
        <p:nvPicPr>
          <p:cNvPr descr="image.png" id="370" name="Google Shape;370;p19"/>
          <p:cNvPicPr preferRelativeResize="0"/>
          <p:nvPr/>
        </p:nvPicPr>
        <p:blipFill rotWithShape="1">
          <a:blip r:embed="rId16">
            <a:alphaModFix/>
          </a:blip>
          <a:srcRect b="0" l="0" r="0" t="0"/>
          <a:stretch/>
        </p:blipFill>
        <p:spPr>
          <a:xfrm>
            <a:off x="8175575" y="4063900"/>
            <a:ext cx="85725" cy="142875"/>
          </a:xfrm>
          <a:prstGeom prst="rect">
            <a:avLst/>
          </a:prstGeom>
          <a:noFill/>
          <a:ln>
            <a:noFill/>
          </a:ln>
        </p:spPr>
      </p:pic>
      <p:sp>
        <p:nvSpPr>
          <p:cNvPr id="371" name="Google Shape;371;p19"/>
          <p:cNvSpPr txBox="1"/>
          <p:nvPr/>
        </p:nvSpPr>
        <p:spPr>
          <a:xfrm>
            <a:off x="571500" y="381000"/>
            <a:ext cx="11601450" cy="37147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2400" u="none" cap="none" strike="noStrike">
                <a:solidFill>
                  <a:srgbClr val="0F172A"/>
                </a:solidFill>
                <a:latin typeface="Plus Jakarta Sans ExtraBold"/>
                <a:ea typeface="Plus Jakarta Sans ExtraBold"/>
                <a:cs typeface="Plus Jakarta Sans ExtraBold"/>
                <a:sym typeface="Plus Jakarta Sans ExtraBold"/>
              </a:rPr>
              <a:t>Devin Core Feature Ecosystem</a:t>
            </a:r>
            <a:endParaRPr/>
          </a:p>
        </p:txBody>
      </p:sp>
      <p:sp>
        <p:nvSpPr>
          <p:cNvPr id="372" name="Google Shape;372;p19"/>
          <p:cNvSpPr/>
          <p:nvPr/>
        </p:nvSpPr>
        <p:spPr>
          <a:xfrm>
            <a:off x="571500" y="847725"/>
            <a:ext cx="11049000" cy="19050"/>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76" name="Shape 376"/>
        <p:cNvGrpSpPr/>
        <p:nvPr/>
      </p:nvGrpSpPr>
      <p:grpSpPr>
        <a:xfrm>
          <a:off x="0" y="0"/>
          <a:ext cx="0" cy="0"/>
          <a:chOff x="0" y="0"/>
          <a:chExt cx="0" cy="0"/>
        </a:xfrm>
      </p:grpSpPr>
      <p:pic>
        <p:nvPicPr>
          <p:cNvPr id="377" name="Google Shape;377;p20"/>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378" name="Google Shape;378;p20"/>
          <p:cNvPicPr preferRelativeResize="0"/>
          <p:nvPr/>
        </p:nvPicPr>
        <p:blipFill rotWithShape="1">
          <a:blip r:embed="rId4">
            <a:alphaModFix/>
          </a:blip>
          <a:srcRect b="0" l="0" r="0" t="0"/>
          <a:stretch/>
        </p:blipFill>
        <p:spPr>
          <a:xfrm>
            <a:off x="571500" y="457200"/>
            <a:ext cx="823168" cy="200025"/>
          </a:xfrm>
          <a:prstGeom prst="rect">
            <a:avLst/>
          </a:prstGeom>
          <a:noFill/>
          <a:ln>
            <a:noFill/>
          </a:ln>
        </p:spPr>
      </p:pic>
      <p:grpSp>
        <p:nvGrpSpPr>
          <p:cNvPr id="379" name="Google Shape;379;p20"/>
          <p:cNvGrpSpPr/>
          <p:nvPr/>
        </p:nvGrpSpPr>
        <p:grpSpPr>
          <a:xfrm>
            <a:off x="571500" y="1143000"/>
            <a:ext cx="5334000" cy="2286000"/>
            <a:chOff x="571500" y="1143000"/>
            <a:chExt cx="5334000" cy="2286000"/>
          </a:xfrm>
        </p:grpSpPr>
        <p:sp>
          <p:nvSpPr>
            <p:cNvPr id="380" name="Google Shape;380;p20"/>
            <p:cNvSpPr/>
            <p:nvPr/>
          </p:nvSpPr>
          <p:spPr>
            <a:xfrm>
              <a:off x="571500" y="1143000"/>
              <a:ext cx="5334000" cy="2286000"/>
            </a:xfrm>
            <a:prstGeom prst="roundRect">
              <a:avLst>
                <a:gd fmla="val 5000"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81" name="Google Shape;381;p20"/>
            <p:cNvSpPr/>
            <p:nvPr/>
          </p:nvSpPr>
          <p:spPr>
            <a:xfrm>
              <a:off x="571500" y="1143000"/>
              <a:ext cx="57300" cy="2286000"/>
            </a:xfrm>
            <a:prstGeom prst="roundRect">
              <a:avLst>
                <a:gd fmla="val 5000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82" name="Google Shape;382;p20"/>
            <p:cNvSpPr txBox="1"/>
            <p:nvPr/>
          </p:nvSpPr>
          <p:spPr>
            <a:xfrm>
              <a:off x="809625" y="1362710"/>
              <a:ext cx="2859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2000">
                  <a:solidFill>
                    <a:srgbClr val="2563EB"/>
                  </a:solidFill>
                  <a:latin typeface="Material Icons"/>
                  <a:ea typeface="Material Icons"/>
                  <a:cs typeface="Material Icons"/>
                  <a:sym typeface="Material Icons"/>
                </a:rPr>
                <a:t>construction</a:t>
              </a:r>
              <a:endParaRPr sz="2000">
                <a:solidFill>
                  <a:srgbClr val="2563EB"/>
                </a:solidFill>
                <a:latin typeface="Material Icons"/>
                <a:ea typeface="Material Icons"/>
                <a:cs typeface="Material Icons"/>
                <a:sym typeface="Material Icons"/>
              </a:endParaRPr>
            </a:p>
          </p:txBody>
        </p:sp>
        <p:sp>
          <p:nvSpPr>
            <p:cNvPr id="383" name="Google Shape;383;p20"/>
            <p:cNvSpPr txBox="1"/>
            <p:nvPr/>
          </p:nvSpPr>
          <p:spPr>
            <a:xfrm>
              <a:off x="1190625" y="1333500"/>
              <a:ext cx="3810000" cy="2859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US" sz="1300">
                  <a:solidFill>
                    <a:srgbClr val="2563EB"/>
                  </a:solidFill>
                  <a:latin typeface="Plus Jakarta Sans"/>
                  <a:ea typeface="Plus Jakarta Sans"/>
                  <a:cs typeface="Plus Jakarta Sans"/>
                  <a:sym typeface="Plus Jakarta Sans"/>
                </a:rPr>
                <a:t>1. Skills</a:t>
              </a:r>
              <a:endParaRPr b="1" sz="1300">
                <a:solidFill>
                  <a:srgbClr val="2563EB"/>
                </a:solidFill>
                <a:latin typeface="Plus Jakarta Sans"/>
                <a:ea typeface="Plus Jakarta Sans"/>
                <a:cs typeface="Plus Jakarta Sans"/>
                <a:sym typeface="Plus Jakarta Sans"/>
              </a:endParaRPr>
            </a:p>
          </p:txBody>
        </p:sp>
        <p:sp>
          <p:nvSpPr>
            <p:cNvPr id="384" name="Google Shape;384;p20"/>
            <p:cNvSpPr txBox="1"/>
            <p:nvPr/>
          </p:nvSpPr>
          <p:spPr>
            <a:xfrm>
              <a:off x="809625" y="1714500"/>
              <a:ext cx="4857900" cy="1619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950">
                  <a:solidFill>
                    <a:srgbClr val="1E293B"/>
                  </a:solidFill>
                  <a:latin typeface="Plus Jakarta Sans"/>
                  <a:ea typeface="Plus Jakarta Sans"/>
                  <a:cs typeface="Plus Jakarta Sans"/>
                  <a:sym typeface="Plus Jakarta Sans"/>
                </a:rPr>
                <a:t>What:</a:t>
              </a:r>
              <a:r>
                <a:rPr lang="en-US" sz="950">
                  <a:solidFill>
                    <a:srgbClr val="475569"/>
                  </a:solidFill>
                  <a:latin typeface="Plus Jakarta Sans"/>
                  <a:ea typeface="Plus Jakarta Sans"/>
                  <a:cs typeface="Plus Jakarta Sans"/>
                  <a:sym typeface="Plus Jakarta Sans"/>
                </a:rPr>
                <a:t> </a:t>
              </a:r>
              <a:r>
                <a:rPr lang="en-US" sz="850">
                  <a:solidFill>
                    <a:srgbClr val="475569"/>
                  </a:solidFill>
                  <a:latin typeface="Arial"/>
                  <a:ea typeface="Arial"/>
                  <a:cs typeface="Arial"/>
                  <a:sym typeface="Arial"/>
                </a:rPr>
                <a:t>SKILL.md</a:t>
              </a:r>
              <a:r>
                <a:rPr lang="en-US" sz="950">
                  <a:solidFill>
                    <a:srgbClr val="475569"/>
                  </a:solidFill>
                  <a:latin typeface="Plus Jakarta Sans"/>
                  <a:ea typeface="Plus Jakarta Sans"/>
                  <a:cs typeface="Plus Jakarta Sans"/>
                  <a:sym typeface="Plus Jakarta Sans"/>
                </a:rPr>
                <a:t> files committed to your repo that teach Devin reusable, step-by-step procedures. Devin auto-discovers them.</a:t>
              </a:r>
              <a:endParaRPr sz="950">
                <a:solidFill>
                  <a:srgbClr val="475569"/>
                </a:solidFill>
                <a:latin typeface="Plus Jakarta Sans"/>
                <a:ea typeface="Plus Jakarta Sans"/>
                <a:cs typeface="Plus Jakarta Sans"/>
                <a:sym typeface="Plus Jakarta Sans"/>
              </a:endParaRPr>
            </a:p>
            <a:p>
              <a:pPr indent="0" lvl="0" marL="0" rtl="0" algn="l">
                <a:spcBef>
                  <a:spcPts val="600"/>
                </a:spcBef>
                <a:spcAft>
                  <a:spcPts val="0"/>
                </a:spcAft>
                <a:buNone/>
              </a:pPr>
              <a:r>
                <a:rPr b="1" lang="en-US" sz="850">
                  <a:solidFill>
                    <a:srgbClr val="1E293B"/>
                  </a:solidFill>
                  <a:latin typeface="Plus Jakarta Sans"/>
                  <a:ea typeface="Plus Jakarta Sans"/>
                  <a:cs typeface="Plus Jakarta Sans"/>
                  <a:sym typeface="Plus Jakarta Sans"/>
                </a:rPr>
                <a:t>Example use:</a:t>
              </a:r>
              <a:r>
                <a:rPr lang="en-US" sz="850">
                  <a:solidFill>
                    <a:srgbClr val="475569"/>
                  </a:solidFill>
                  <a:latin typeface="Plus Jakarta Sans"/>
                  <a:ea typeface="Plus Jakarta Sans"/>
                  <a:cs typeface="Plus Jakarta Sans"/>
                  <a:sym typeface="Plus Jakarta Sans"/>
                </a:rPr>
                <a:t> A </a:t>
              </a:r>
              <a:r>
                <a:rPr lang="en-US" sz="800">
                  <a:solidFill>
                    <a:srgbClr val="475569"/>
                  </a:solidFill>
                  <a:latin typeface="Arial"/>
                  <a:ea typeface="Arial"/>
                  <a:cs typeface="Arial"/>
                  <a:sym typeface="Arial"/>
                </a:rPr>
                <a:t>test-before-pr</a:t>
              </a:r>
              <a:r>
                <a:rPr lang="en-US" sz="850">
                  <a:solidFill>
                    <a:srgbClr val="475569"/>
                  </a:solidFill>
                  <a:latin typeface="Plus Jakarta Sans"/>
                  <a:ea typeface="Plus Jakarta Sans"/>
                  <a:cs typeface="Plus Jakarta Sans"/>
                  <a:sym typeface="Plus Jakarta Sans"/>
                </a:rPr>
                <a:t> skill that tells Devin to run </a:t>
              </a:r>
              <a:r>
                <a:rPr lang="en-US" sz="800">
                  <a:solidFill>
                    <a:srgbClr val="475569"/>
                  </a:solidFill>
                  <a:latin typeface="Arial"/>
                  <a:ea typeface="Arial"/>
                  <a:cs typeface="Arial"/>
                  <a:sym typeface="Arial"/>
                </a:rPr>
                <a:t>npm install</a:t>
              </a:r>
              <a:r>
                <a:rPr lang="en-US" sz="850">
                  <a:solidFill>
                    <a:srgbClr val="475569"/>
                  </a:solidFill>
                  <a:latin typeface="Plus Jakarta Sans"/>
                  <a:ea typeface="Plus Jakarta Sans"/>
                  <a:cs typeface="Plus Jakarta Sans"/>
                  <a:sym typeface="Plus Jakarta Sans"/>
                </a:rPr>
                <a:t>, start the dev server, run </a:t>
              </a:r>
              <a:r>
                <a:rPr lang="en-US" sz="800">
                  <a:solidFill>
                    <a:srgbClr val="475569"/>
                  </a:solidFill>
                  <a:latin typeface="Arial"/>
                  <a:ea typeface="Arial"/>
                  <a:cs typeface="Arial"/>
                  <a:sym typeface="Arial"/>
                </a:rPr>
                <a:t>npm test</a:t>
              </a:r>
              <a:r>
                <a:rPr lang="en-US" sz="850">
                  <a:solidFill>
                    <a:srgbClr val="475569"/>
                  </a:solidFill>
                  <a:latin typeface="Plus Jakarta Sans"/>
                  <a:ea typeface="Plus Jakarta Sans"/>
                  <a:cs typeface="Plus Jakarta Sans"/>
                  <a:sym typeface="Plus Jakarta Sans"/>
                </a:rPr>
                <a:t>, and include screenshots before opening any PR. Invoke with </a:t>
              </a:r>
              <a:r>
                <a:rPr lang="en-US" sz="800">
                  <a:solidFill>
                    <a:srgbClr val="475569"/>
                  </a:solidFill>
                  <a:latin typeface="Arial"/>
                  <a:ea typeface="Arial"/>
                  <a:cs typeface="Arial"/>
                  <a:sym typeface="Arial"/>
                </a:rPr>
                <a:t>@skills:deploy staging</a:t>
              </a:r>
              <a:r>
                <a:rPr lang="en-US" sz="850">
                  <a:solidFill>
                    <a:srgbClr val="475569"/>
                  </a:solidFill>
                  <a:latin typeface="Plus Jakarta Sans"/>
                  <a:ea typeface="Plus Jakarta Sans"/>
                  <a:cs typeface="Plus Jakarta Sans"/>
                  <a:sym typeface="Plus Jakarta Sans"/>
                </a:rPr>
                <a:t>.</a:t>
              </a:r>
              <a:endParaRPr sz="850">
                <a:solidFill>
                  <a:srgbClr val="475569"/>
                </a:solidFill>
                <a:latin typeface="Plus Jakarta Sans"/>
                <a:ea typeface="Plus Jakarta Sans"/>
                <a:cs typeface="Plus Jakarta Sans"/>
                <a:sym typeface="Plus Jakarta Sans"/>
              </a:endParaRPr>
            </a:p>
            <a:p>
              <a:pPr indent="0" lvl="0" marL="0" rtl="0" algn="l">
                <a:spcBef>
                  <a:spcPts val="750"/>
                </a:spcBef>
                <a:spcAft>
                  <a:spcPts val="0"/>
                </a:spcAft>
                <a:buNone/>
              </a:pPr>
              <a:r>
                <a:rPr b="1" lang="en-US" sz="850">
                  <a:solidFill>
                    <a:srgbClr val="1E293B"/>
                  </a:solidFill>
                  <a:latin typeface="Plus Jakarta Sans"/>
                  <a:ea typeface="Plus Jakarta Sans"/>
                  <a:cs typeface="Plus Jakarta Sans"/>
                  <a:sym typeface="Plus Jakarta Sans"/>
                </a:rPr>
                <a:t>Best for: Repeatable workflows like testing, deploying, or investigating code — things that should be done the same way every time.</a:t>
              </a:r>
              <a:endParaRPr b="1" sz="850">
                <a:solidFill>
                  <a:srgbClr val="1E293B"/>
                </a:solidFill>
                <a:latin typeface="Plus Jakarta Sans"/>
                <a:ea typeface="Plus Jakarta Sans"/>
                <a:cs typeface="Plus Jakarta Sans"/>
                <a:sym typeface="Plus Jakarta Sans"/>
              </a:endParaRPr>
            </a:p>
          </p:txBody>
        </p:sp>
      </p:grpSp>
      <p:grpSp>
        <p:nvGrpSpPr>
          <p:cNvPr id="385" name="Google Shape;385;p20"/>
          <p:cNvGrpSpPr/>
          <p:nvPr/>
        </p:nvGrpSpPr>
        <p:grpSpPr>
          <a:xfrm>
            <a:off x="6286500" y="1143000"/>
            <a:ext cx="5334000" cy="2286000"/>
            <a:chOff x="6286500" y="1143000"/>
            <a:chExt cx="5334000" cy="2286000"/>
          </a:xfrm>
        </p:grpSpPr>
        <p:sp>
          <p:nvSpPr>
            <p:cNvPr id="386" name="Google Shape;386;p20"/>
            <p:cNvSpPr/>
            <p:nvPr/>
          </p:nvSpPr>
          <p:spPr>
            <a:xfrm>
              <a:off x="6286500" y="1143000"/>
              <a:ext cx="5334000" cy="2286000"/>
            </a:xfrm>
            <a:prstGeom prst="roundRect">
              <a:avLst>
                <a:gd fmla="val 5000"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87" name="Google Shape;387;p20"/>
            <p:cNvSpPr/>
            <p:nvPr/>
          </p:nvSpPr>
          <p:spPr>
            <a:xfrm>
              <a:off x="6286500" y="1143000"/>
              <a:ext cx="57300" cy="2286000"/>
            </a:xfrm>
            <a:prstGeom prst="roundRect">
              <a:avLst>
                <a:gd fmla="val 50000" name="adj"/>
              </a:avLst>
            </a:prstGeom>
            <a:solidFill>
              <a:srgbClr val="7C3AED"/>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88" name="Google Shape;388;p20"/>
            <p:cNvSpPr txBox="1"/>
            <p:nvPr/>
          </p:nvSpPr>
          <p:spPr>
            <a:xfrm>
              <a:off x="6524625" y="1362710"/>
              <a:ext cx="2859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2000">
                  <a:solidFill>
                    <a:srgbClr val="7C3AED"/>
                  </a:solidFill>
                  <a:latin typeface="Material Icons"/>
                  <a:ea typeface="Material Icons"/>
                  <a:cs typeface="Material Icons"/>
                  <a:sym typeface="Material Icons"/>
                </a:rPr>
                <a:t>gavel</a:t>
              </a:r>
              <a:endParaRPr sz="2000">
                <a:solidFill>
                  <a:srgbClr val="7C3AED"/>
                </a:solidFill>
                <a:latin typeface="Material Icons"/>
                <a:ea typeface="Material Icons"/>
                <a:cs typeface="Material Icons"/>
                <a:sym typeface="Material Icons"/>
              </a:endParaRPr>
            </a:p>
          </p:txBody>
        </p:sp>
        <p:sp>
          <p:nvSpPr>
            <p:cNvPr id="389" name="Google Shape;389;p20"/>
            <p:cNvSpPr txBox="1"/>
            <p:nvPr/>
          </p:nvSpPr>
          <p:spPr>
            <a:xfrm>
              <a:off x="6905625" y="1333500"/>
              <a:ext cx="3810000" cy="2859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US" sz="1300">
                  <a:solidFill>
                    <a:srgbClr val="7C3AED"/>
                  </a:solidFill>
                  <a:latin typeface="Plus Jakarta Sans"/>
                  <a:ea typeface="Plus Jakarta Sans"/>
                  <a:cs typeface="Plus Jakarta Sans"/>
                  <a:sym typeface="Plus Jakarta Sans"/>
                </a:rPr>
                <a:t>2. Rules (AGENTS.md)</a:t>
              </a:r>
              <a:endParaRPr b="1" sz="1300">
                <a:solidFill>
                  <a:srgbClr val="7C3AED"/>
                </a:solidFill>
                <a:latin typeface="Plus Jakarta Sans"/>
                <a:ea typeface="Plus Jakarta Sans"/>
                <a:cs typeface="Plus Jakarta Sans"/>
                <a:sym typeface="Plus Jakarta Sans"/>
              </a:endParaRPr>
            </a:p>
          </p:txBody>
        </p:sp>
        <p:sp>
          <p:nvSpPr>
            <p:cNvPr id="390" name="Google Shape;390;p20"/>
            <p:cNvSpPr txBox="1"/>
            <p:nvPr/>
          </p:nvSpPr>
          <p:spPr>
            <a:xfrm>
              <a:off x="6524625" y="1666875"/>
              <a:ext cx="4857900" cy="476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950">
                  <a:solidFill>
                    <a:srgbClr val="1E293B"/>
                  </a:solidFill>
                  <a:latin typeface="Plus Jakarta Sans"/>
                  <a:ea typeface="Plus Jakarta Sans"/>
                  <a:cs typeface="Plus Jakarta Sans"/>
                  <a:sym typeface="Plus Jakarta Sans"/>
                </a:rPr>
                <a:t>What:</a:t>
              </a:r>
              <a:r>
                <a:rPr lang="en-US" sz="950">
                  <a:solidFill>
                    <a:srgbClr val="475569"/>
                  </a:solidFill>
                  <a:latin typeface="Plus Jakarta Sans"/>
                  <a:ea typeface="Plus Jakarta Sans"/>
                  <a:cs typeface="Plus Jakarta Sans"/>
                  <a:sym typeface="Plus Jakarta Sans"/>
                </a:rPr>
                <a:t> Always-on instructions injected into every session. Place an </a:t>
              </a:r>
              <a:r>
                <a:rPr lang="en-US" sz="850">
                  <a:solidFill>
                    <a:srgbClr val="475569"/>
                  </a:solidFill>
                  <a:latin typeface="Arial"/>
                  <a:ea typeface="Arial"/>
                  <a:cs typeface="Arial"/>
                  <a:sym typeface="Arial"/>
                </a:rPr>
                <a:t>AGENTS.md</a:t>
              </a:r>
              <a:r>
                <a:rPr lang="en-US" sz="950">
                  <a:solidFill>
                    <a:srgbClr val="475569"/>
                  </a:solidFill>
                  <a:latin typeface="Plus Jakarta Sans"/>
                  <a:ea typeface="Plus Jakarta Sans"/>
                  <a:cs typeface="Plus Jakarta Sans"/>
                  <a:sym typeface="Plus Jakarta Sans"/>
                </a:rPr>
                <a:t> at your project root (or globally at </a:t>
              </a:r>
              <a:r>
                <a:rPr lang="en-US" sz="850">
                  <a:solidFill>
                    <a:srgbClr val="475569"/>
                  </a:solidFill>
                  <a:latin typeface="Arial"/>
                  <a:ea typeface="Arial"/>
                  <a:cs typeface="Arial"/>
                  <a:sym typeface="Arial"/>
                </a:rPr>
                <a:t>~/.config/devin/AGENTS.md</a:t>
              </a:r>
              <a:r>
                <a:rPr lang="en-US" sz="950">
                  <a:solidFill>
                    <a:srgbClr val="475569"/>
                  </a:solidFill>
                  <a:latin typeface="Plus Jakarta Sans"/>
                  <a:ea typeface="Plus Jakarta Sans"/>
                  <a:cs typeface="Plus Jakarta Sans"/>
                  <a:sym typeface="Plus Jakarta Sans"/>
                </a:rPr>
                <a:t>).</a:t>
              </a:r>
              <a:endParaRPr sz="950">
                <a:solidFill>
                  <a:srgbClr val="475569"/>
                </a:solidFill>
                <a:latin typeface="Plus Jakarta Sans"/>
                <a:ea typeface="Plus Jakarta Sans"/>
                <a:cs typeface="Plus Jakarta Sans"/>
                <a:sym typeface="Plus Jakarta Sans"/>
              </a:endParaRPr>
            </a:p>
          </p:txBody>
        </p:sp>
        <p:sp>
          <p:nvSpPr>
            <p:cNvPr id="391" name="Google Shape;391;p20"/>
            <p:cNvSpPr txBox="1"/>
            <p:nvPr/>
          </p:nvSpPr>
          <p:spPr>
            <a:xfrm>
              <a:off x="6524625" y="2762250"/>
              <a:ext cx="4857900" cy="57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850">
                  <a:solidFill>
                    <a:srgbClr val="1E293B"/>
                  </a:solidFill>
                  <a:latin typeface="Plus Jakarta Sans"/>
                  <a:ea typeface="Plus Jakarta Sans"/>
                  <a:cs typeface="Plus Jakarta Sans"/>
                  <a:sym typeface="Plus Jakarta Sans"/>
                </a:rPr>
                <a:t>Best for: Coding standards, guidelines, preferred libraries. Keep small — use Skills instead when possible.</a:t>
              </a:r>
              <a:endParaRPr b="1" sz="850">
                <a:solidFill>
                  <a:srgbClr val="1E293B"/>
                </a:solidFill>
                <a:latin typeface="Plus Jakarta Sans"/>
                <a:ea typeface="Plus Jakarta Sans"/>
                <a:cs typeface="Plus Jakarta Sans"/>
                <a:sym typeface="Plus Jakarta Sans"/>
              </a:endParaRPr>
            </a:p>
          </p:txBody>
        </p:sp>
      </p:grpSp>
      <p:pic>
        <p:nvPicPr>
          <p:cNvPr id="392" name="Google Shape;392;p20"/>
          <p:cNvPicPr preferRelativeResize="0"/>
          <p:nvPr/>
        </p:nvPicPr>
        <p:blipFill rotWithShape="1">
          <a:blip r:embed="rId5">
            <a:alphaModFix/>
          </a:blip>
          <a:srcRect b="990" l="0" r="0" t="990"/>
          <a:stretch/>
        </p:blipFill>
        <p:spPr>
          <a:xfrm>
            <a:off x="6524625" y="2114550"/>
            <a:ext cx="4857900" cy="552600"/>
          </a:xfrm>
          <a:prstGeom prst="rect">
            <a:avLst/>
          </a:prstGeom>
          <a:noFill/>
          <a:ln>
            <a:noFill/>
          </a:ln>
        </p:spPr>
      </p:pic>
      <p:grpSp>
        <p:nvGrpSpPr>
          <p:cNvPr id="393" name="Google Shape;393;p20"/>
          <p:cNvGrpSpPr/>
          <p:nvPr/>
        </p:nvGrpSpPr>
        <p:grpSpPr>
          <a:xfrm>
            <a:off x="571500" y="3619500"/>
            <a:ext cx="5334000" cy="2286000"/>
            <a:chOff x="571500" y="3619500"/>
            <a:chExt cx="5334000" cy="2286000"/>
          </a:xfrm>
        </p:grpSpPr>
        <p:sp>
          <p:nvSpPr>
            <p:cNvPr id="394" name="Google Shape;394;p20"/>
            <p:cNvSpPr/>
            <p:nvPr/>
          </p:nvSpPr>
          <p:spPr>
            <a:xfrm>
              <a:off x="571500" y="3619500"/>
              <a:ext cx="5334000" cy="2286000"/>
            </a:xfrm>
            <a:prstGeom prst="roundRect">
              <a:avLst>
                <a:gd fmla="val 5000"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95" name="Google Shape;395;p20"/>
            <p:cNvSpPr/>
            <p:nvPr/>
          </p:nvSpPr>
          <p:spPr>
            <a:xfrm>
              <a:off x="571500" y="3619500"/>
              <a:ext cx="57300" cy="2286000"/>
            </a:xfrm>
            <a:prstGeom prst="roundRect">
              <a:avLst>
                <a:gd fmla="val 50000" name="adj"/>
              </a:avLst>
            </a:prstGeom>
            <a:solidFill>
              <a:srgbClr val="0D948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96" name="Google Shape;396;p20"/>
            <p:cNvSpPr txBox="1"/>
            <p:nvPr/>
          </p:nvSpPr>
          <p:spPr>
            <a:xfrm>
              <a:off x="809625" y="3839210"/>
              <a:ext cx="2859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2000">
                  <a:solidFill>
                    <a:srgbClr val="0D9488"/>
                  </a:solidFill>
                  <a:latin typeface="Material Icons"/>
                  <a:ea typeface="Material Icons"/>
                  <a:cs typeface="Material Icons"/>
                  <a:sym typeface="Material Icons"/>
                </a:rPr>
                <a:t>psychology</a:t>
              </a:r>
              <a:endParaRPr sz="2000">
                <a:solidFill>
                  <a:srgbClr val="0D9488"/>
                </a:solidFill>
                <a:latin typeface="Material Icons"/>
                <a:ea typeface="Material Icons"/>
                <a:cs typeface="Material Icons"/>
                <a:sym typeface="Material Icons"/>
              </a:endParaRPr>
            </a:p>
          </p:txBody>
        </p:sp>
        <p:sp>
          <p:nvSpPr>
            <p:cNvPr id="397" name="Google Shape;397;p20"/>
            <p:cNvSpPr txBox="1"/>
            <p:nvPr/>
          </p:nvSpPr>
          <p:spPr>
            <a:xfrm>
              <a:off x="1190625" y="3810000"/>
              <a:ext cx="3810000" cy="2859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US" sz="1300">
                  <a:solidFill>
                    <a:srgbClr val="0D9488"/>
                  </a:solidFill>
                  <a:latin typeface="Plus Jakarta Sans"/>
                  <a:ea typeface="Plus Jakarta Sans"/>
                  <a:cs typeface="Plus Jakarta Sans"/>
                  <a:sym typeface="Plus Jakarta Sans"/>
                </a:rPr>
                <a:t>3. Knowledge</a:t>
              </a:r>
              <a:endParaRPr b="1" sz="1300">
                <a:solidFill>
                  <a:srgbClr val="0D9488"/>
                </a:solidFill>
                <a:latin typeface="Plus Jakarta Sans"/>
                <a:ea typeface="Plus Jakarta Sans"/>
                <a:cs typeface="Plus Jakarta Sans"/>
                <a:sym typeface="Plus Jakarta Sans"/>
              </a:endParaRPr>
            </a:p>
          </p:txBody>
        </p:sp>
        <p:sp>
          <p:nvSpPr>
            <p:cNvPr id="398" name="Google Shape;398;p20"/>
            <p:cNvSpPr txBox="1"/>
            <p:nvPr/>
          </p:nvSpPr>
          <p:spPr>
            <a:xfrm>
              <a:off x="809625" y="4191000"/>
              <a:ext cx="4857900" cy="1619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950">
                  <a:solidFill>
                    <a:srgbClr val="1E293B"/>
                  </a:solidFill>
                  <a:latin typeface="Plus Jakarta Sans"/>
                  <a:ea typeface="Plus Jakarta Sans"/>
                  <a:cs typeface="Plus Jakarta Sans"/>
                  <a:sym typeface="Plus Jakarta Sans"/>
                </a:rPr>
                <a:t>What:</a:t>
              </a:r>
              <a:r>
                <a:rPr lang="en-US" sz="950">
                  <a:solidFill>
                    <a:srgbClr val="475569"/>
                  </a:solidFill>
                  <a:latin typeface="Plus Jakarta Sans"/>
                  <a:ea typeface="Plus Jakarta Sans"/>
                  <a:cs typeface="Plus Jakarta Sans"/>
                  <a:sym typeface="Plus Jakarta Sans"/>
                </a:rPr>
                <a:t> Tips, facts, and context Devin automatically recalls when relevant across all sessions. Created in Settings &gt; Knowledge.</a:t>
              </a:r>
              <a:endParaRPr sz="950">
                <a:solidFill>
                  <a:srgbClr val="475569"/>
                </a:solidFill>
                <a:latin typeface="Plus Jakarta Sans"/>
                <a:ea typeface="Plus Jakarta Sans"/>
                <a:cs typeface="Plus Jakarta Sans"/>
                <a:sym typeface="Plus Jakarta Sans"/>
              </a:endParaRPr>
            </a:p>
            <a:p>
              <a:pPr indent="0" lvl="0" marL="0" rtl="0" algn="l">
                <a:spcBef>
                  <a:spcPts val="600"/>
                </a:spcBef>
                <a:spcAft>
                  <a:spcPts val="0"/>
                </a:spcAft>
                <a:buNone/>
              </a:pPr>
              <a:r>
                <a:rPr b="1" lang="en-US" sz="850">
                  <a:solidFill>
                    <a:srgbClr val="1E293B"/>
                  </a:solidFill>
                  <a:latin typeface="Plus Jakarta Sans"/>
                  <a:ea typeface="Plus Jakarta Sans"/>
                  <a:cs typeface="Plus Jakarta Sans"/>
                  <a:sym typeface="Plus Jakarta Sans"/>
                </a:rPr>
                <a:t>Example:</a:t>
              </a:r>
              <a:r>
                <a:rPr lang="en-US" sz="850">
                  <a:solidFill>
                    <a:srgbClr val="475569"/>
                  </a:solidFill>
                  <a:latin typeface="Plus Jakarta Sans"/>
                  <a:ea typeface="Plus Jakarta Sans"/>
                  <a:cs typeface="Plus Jakarta Sans"/>
                  <a:sym typeface="Plus Jakarta Sans"/>
                </a:rPr>
                <a:t> A knowledge item triggered by "deployment" containing your internal deployment checklist or a known bug fix. You can also pin it to a specific repo so it's always active there.</a:t>
              </a:r>
              <a:endParaRPr sz="850">
                <a:solidFill>
                  <a:srgbClr val="475569"/>
                </a:solidFill>
                <a:latin typeface="Plus Jakarta Sans"/>
                <a:ea typeface="Plus Jakarta Sans"/>
                <a:cs typeface="Plus Jakarta Sans"/>
                <a:sym typeface="Plus Jakarta Sans"/>
              </a:endParaRPr>
            </a:p>
            <a:p>
              <a:pPr indent="0" lvl="0" marL="0" rtl="0" algn="l">
                <a:spcBef>
                  <a:spcPts val="750"/>
                </a:spcBef>
                <a:spcAft>
                  <a:spcPts val="0"/>
                </a:spcAft>
                <a:buNone/>
              </a:pPr>
              <a:r>
                <a:rPr b="1" lang="en-US" sz="850">
                  <a:solidFill>
                    <a:srgbClr val="1E293B"/>
                  </a:solidFill>
                  <a:latin typeface="Plus Jakarta Sans"/>
                  <a:ea typeface="Plus Jakarta Sans"/>
                  <a:cs typeface="Plus Jakarta Sans"/>
                  <a:sym typeface="Plus Jakarta Sans"/>
                </a:rPr>
                <a:t>Best for: Common bugs + solutions, code conformance practices, proprietary internal tools. Split into small, focused items.</a:t>
              </a:r>
              <a:endParaRPr b="1" sz="850">
                <a:solidFill>
                  <a:srgbClr val="1E293B"/>
                </a:solidFill>
                <a:latin typeface="Plus Jakarta Sans"/>
                <a:ea typeface="Plus Jakarta Sans"/>
                <a:cs typeface="Plus Jakarta Sans"/>
                <a:sym typeface="Plus Jakarta Sans"/>
              </a:endParaRPr>
            </a:p>
          </p:txBody>
        </p:sp>
      </p:grpSp>
      <p:grpSp>
        <p:nvGrpSpPr>
          <p:cNvPr id="399" name="Google Shape;399;p20"/>
          <p:cNvGrpSpPr/>
          <p:nvPr/>
        </p:nvGrpSpPr>
        <p:grpSpPr>
          <a:xfrm>
            <a:off x="6286500" y="3619500"/>
            <a:ext cx="5334000" cy="2286000"/>
            <a:chOff x="6286500" y="3619500"/>
            <a:chExt cx="5334000" cy="2286000"/>
          </a:xfrm>
        </p:grpSpPr>
        <p:sp>
          <p:nvSpPr>
            <p:cNvPr id="400" name="Google Shape;400;p20"/>
            <p:cNvSpPr/>
            <p:nvPr/>
          </p:nvSpPr>
          <p:spPr>
            <a:xfrm>
              <a:off x="6286500" y="3619500"/>
              <a:ext cx="5334000" cy="2286000"/>
            </a:xfrm>
            <a:prstGeom prst="roundRect">
              <a:avLst>
                <a:gd fmla="val 5000"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01" name="Google Shape;401;p20"/>
            <p:cNvSpPr/>
            <p:nvPr/>
          </p:nvSpPr>
          <p:spPr>
            <a:xfrm>
              <a:off x="6286500" y="3619500"/>
              <a:ext cx="57300" cy="2286000"/>
            </a:xfrm>
            <a:prstGeom prst="roundRect">
              <a:avLst>
                <a:gd fmla="val 50000" name="adj"/>
              </a:avLst>
            </a:prstGeom>
            <a:solidFill>
              <a:srgbClr val="EA580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02" name="Google Shape;402;p20"/>
            <p:cNvSpPr txBox="1"/>
            <p:nvPr/>
          </p:nvSpPr>
          <p:spPr>
            <a:xfrm>
              <a:off x="6524625" y="3839210"/>
              <a:ext cx="2859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2000">
                  <a:solidFill>
                    <a:srgbClr val="EA580C"/>
                  </a:solidFill>
                  <a:latin typeface="Material Icons"/>
                  <a:ea typeface="Material Icons"/>
                  <a:cs typeface="Material Icons"/>
                  <a:sym typeface="Material Icons"/>
                </a:rPr>
                <a:t>menu_book</a:t>
              </a:r>
              <a:endParaRPr sz="2000">
                <a:solidFill>
                  <a:srgbClr val="EA580C"/>
                </a:solidFill>
                <a:latin typeface="Material Icons"/>
                <a:ea typeface="Material Icons"/>
                <a:cs typeface="Material Icons"/>
                <a:sym typeface="Material Icons"/>
              </a:endParaRPr>
            </a:p>
          </p:txBody>
        </p:sp>
        <p:sp>
          <p:nvSpPr>
            <p:cNvPr id="403" name="Google Shape;403;p20"/>
            <p:cNvSpPr txBox="1"/>
            <p:nvPr/>
          </p:nvSpPr>
          <p:spPr>
            <a:xfrm>
              <a:off x="6905625" y="3810000"/>
              <a:ext cx="3810000" cy="2859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US" sz="1300">
                  <a:solidFill>
                    <a:srgbClr val="EA580C"/>
                  </a:solidFill>
                  <a:latin typeface="Plus Jakarta Sans"/>
                  <a:ea typeface="Plus Jakarta Sans"/>
                  <a:cs typeface="Plus Jakarta Sans"/>
                  <a:sym typeface="Plus Jakarta Sans"/>
                </a:rPr>
                <a:t>4. Playbooks</a:t>
              </a:r>
              <a:endParaRPr b="1" sz="1300">
                <a:solidFill>
                  <a:srgbClr val="EA580C"/>
                </a:solidFill>
                <a:latin typeface="Plus Jakarta Sans"/>
                <a:ea typeface="Plus Jakarta Sans"/>
                <a:cs typeface="Plus Jakarta Sans"/>
                <a:sym typeface="Plus Jakarta Sans"/>
              </a:endParaRPr>
            </a:p>
          </p:txBody>
        </p:sp>
        <p:sp>
          <p:nvSpPr>
            <p:cNvPr id="404" name="Google Shape;404;p20"/>
            <p:cNvSpPr txBox="1"/>
            <p:nvPr/>
          </p:nvSpPr>
          <p:spPr>
            <a:xfrm>
              <a:off x="6524625" y="4191000"/>
              <a:ext cx="4857900" cy="1619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950">
                  <a:solidFill>
                    <a:srgbClr val="1E293B"/>
                  </a:solidFill>
                  <a:latin typeface="Plus Jakarta Sans"/>
                  <a:ea typeface="Plus Jakarta Sans"/>
                  <a:cs typeface="Plus Jakarta Sans"/>
                  <a:sym typeface="Plus Jakarta Sans"/>
                </a:rPr>
                <a:t>What:</a:t>
              </a:r>
              <a:r>
                <a:rPr lang="en-US" sz="950">
                  <a:solidFill>
                    <a:srgbClr val="475569"/>
                  </a:solidFill>
                  <a:latin typeface="Plus Jakarta Sans"/>
                  <a:ea typeface="Plus Jakarta Sans"/>
                  <a:cs typeface="Plus Jakarta Sans"/>
                  <a:sym typeface="Plus Jakarta Sans"/>
                </a:rPr>
                <a:t> Reusable prompt templates (like a custom system prompt) attached to sessions for repeated tasks.</a:t>
              </a:r>
              <a:endParaRPr sz="950">
                <a:solidFill>
                  <a:srgbClr val="475569"/>
                </a:solidFill>
                <a:latin typeface="Plus Jakarta Sans"/>
                <a:ea typeface="Plus Jakarta Sans"/>
                <a:cs typeface="Plus Jakarta Sans"/>
                <a:sym typeface="Plus Jakarta Sans"/>
              </a:endParaRPr>
            </a:p>
            <a:p>
              <a:pPr indent="0" lvl="0" marL="0" rtl="0" algn="l">
                <a:spcBef>
                  <a:spcPts val="600"/>
                </a:spcBef>
                <a:spcAft>
                  <a:spcPts val="0"/>
                </a:spcAft>
                <a:buNone/>
              </a:pPr>
              <a:r>
                <a:rPr b="1" lang="en-US" sz="850">
                  <a:solidFill>
                    <a:srgbClr val="1E293B"/>
                  </a:solidFill>
                  <a:latin typeface="Plus Jakarta Sans"/>
                  <a:ea typeface="Plus Jakarta Sans"/>
                  <a:cs typeface="Plus Jakarta Sans"/>
                  <a:sym typeface="Plus Jakarta Sans"/>
                </a:rPr>
                <a:t>Example:</a:t>
              </a:r>
              <a:r>
                <a:rPr lang="en-US" sz="850">
                  <a:solidFill>
                    <a:srgbClr val="475569"/>
                  </a:solidFill>
                  <a:latin typeface="Plus Jakarta Sans"/>
                  <a:ea typeface="Plus Jakarta Sans"/>
                  <a:cs typeface="Plus Jakarta Sans"/>
                  <a:sym typeface="Plus Jakarta Sans"/>
                </a:rPr>
                <a:t> A playbook for "Integrate Stripe into a new module" with sections: </a:t>
              </a:r>
              <a:r>
                <a:rPr b="0" lang="en-US" sz="850">
                  <a:solidFill>
                    <a:srgbClr val="EA580C"/>
                  </a:solidFill>
                  <a:latin typeface="Plus Jakarta Sans SemiBold"/>
                  <a:ea typeface="Plus Jakarta Sans SemiBold"/>
                  <a:cs typeface="Plus Jakarta Sans SemiBold"/>
                  <a:sym typeface="Plus Jakarta Sans SemiBold"/>
                </a:rPr>
                <a:t>Procedure</a:t>
              </a:r>
              <a:r>
                <a:rPr lang="en-US" sz="850">
                  <a:solidFill>
                    <a:srgbClr val="475569"/>
                  </a:solidFill>
                  <a:latin typeface="Plus Jakarta Sans"/>
                  <a:ea typeface="Plus Jakarta Sans"/>
                  <a:cs typeface="Plus Jakarta Sans"/>
                  <a:sym typeface="Plus Jakarta Sans"/>
                </a:rPr>
                <a:t> (step-by-step), </a:t>
              </a:r>
              <a:r>
                <a:rPr b="0" lang="en-US" sz="850">
                  <a:solidFill>
                    <a:srgbClr val="EA580C"/>
                  </a:solidFill>
                  <a:latin typeface="Plus Jakarta Sans SemiBold"/>
                  <a:ea typeface="Plus Jakarta Sans SemiBold"/>
                  <a:cs typeface="Plus Jakarta Sans SemiBold"/>
                  <a:sym typeface="Plus Jakarta Sans SemiBold"/>
                </a:rPr>
                <a:t>Specifications</a:t>
              </a:r>
              <a:r>
                <a:rPr lang="en-US" sz="850">
                  <a:solidFill>
                    <a:srgbClr val="475569"/>
                  </a:solidFill>
                  <a:latin typeface="Plus Jakarta Sans"/>
                  <a:ea typeface="Plus Jakarta Sans"/>
                  <a:cs typeface="Plus Jakarta Sans"/>
                  <a:sym typeface="Plus Jakarta Sans"/>
                </a:rPr>
                <a:t>, </a:t>
              </a:r>
              <a:r>
                <a:rPr b="0" lang="en-US" sz="850">
                  <a:solidFill>
                    <a:srgbClr val="EA580C"/>
                  </a:solidFill>
                  <a:latin typeface="Plus Jakarta Sans SemiBold"/>
                  <a:ea typeface="Plus Jakarta Sans SemiBold"/>
                  <a:cs typeface="Plus Jakarta Sans SemiBold"/>
                  <a:sym typeface="Plus Jakarta Sans SemiBold"/>
                </a:rPr>
                <a:t>Advice</a:t>
              </a:r>
              <a:r>
                <a:rPr lang="en-US" sz="850">
                  <a:solidFill>
                    <a:srgbClr val="475569"/>
                  </a:solidFill>
                  <a:latin typeface="Plus Jakarta Sans"/>
                  <a:ea typeface="Plus Jakarta Sans"/>
                  <a:cs typeface="Plus Jakarta Sans"/>
                  <a:sym typeface="Plus Jakarta Sans"/>
                </a:rPr>
                <a:t>, </a:t>
              </a:r>
              <a:r>
                <a:rPr b="0" lang="en-US" sz="850">
                  <a:solidFill>
                    <a:srgbClr val="EA580C"/>
                  </a:solidFill>
                  <a:latin typeface="Plus Jakarta Sans SemiBold"/>
                  <a:ea typeface="Plus Jakarta Sans SemiBold"/>
                  <a:cs typeface="Plus Jakarta Sans SemiBold"/>
                  <a:sym typeface="Plus Jakarta Sans SemiBold"/>
                </a:rPr>
                <a:t>Forbidden Actions</a:t>
              </a:r>
              <a:r>
                <a:rPr lang="en-US" sz="850">
                  <a:solidFill>
                    <a:srgbClr val="475569"/>
                  </a:solidFill>
                  <a:latin typeface="Plus Jakarta Sans"/>
                  <a:ea typeface="Plus Jakarta Sans"/>
                  <a:cs typeface="Plus Jakarta Sans"/>
                  <a:sym typeface="Plus Jakarta Sans"/>
                </a:rPr>
                <a:t>, and </a:t>
              </a:r>
              <a:r>
                <a:rPr b="0" lang="en-US" sz="850">
                  <a:solidFill>
                    <a:srgbClr val="EA580C"/>
                  </a:solidFill>
                  <a:latin typeface="Plus Jakarta Sans SemiBold"/>
                  <a:ea typeface="Plus Jakarta Sans SemiBold"/>
                  <a:cs typeface="Plus Jakarta Sans SemiBold"/>
                  <a:sym typeface="Plus Jakarta Sans SemiBold"/>
                </a:rPr>
                <a:t>Required from User</a:t>
              </a:r>
              <a:r>
                <a:rPr lang="en-US" sz="850">
                  <a:solidFill>
                    <a:srgbClr val="475569"/>
                  </a:solidFill>
                  <a:latin typeface="Plus Jakarta Sans"/>
                  <a:ea typeface="Plus Jakarta Sans"/>
                  <a:cs typeface="Plus Jakarta Sans"/>
                  <a:sym typeface="Plus Jakarta Sans"/>
                </a:rPr>
                <a:t>.</a:t>
              </a:r>
              <a:endParaRPr sz="850">
                <a:solidFill>
                  <a:srgbClr val="475569"/>
                </a:solidFill>
                <a:latin typeface="Plus Jakarta Sans"/>
                <a:ea typeface="Plus Jakarta Sans"/>
                <a:cs typeface="Plus Jakarta Sans"/>
                <a:sym typeface="Plus Jakarta Sans"/>
              </a:endParaRPr>
            </a:p>
            <a:p>
              <a:pPr indent="0" lvl="0" marL="0" rtl="0" algn="l">
                <a:spcBef>
                  <a:spcPts val="750"/>
                </a:spcBef>
                <a:spcAft>
                  <a:spcPts val="0"/>
                </a:spcAft>
                <a:buNone/>
              </a:pPr>
              <a:r>
                <a:rPr b="1" lang="en-US" sz="850">
                  <a:solidFill>
                    <a:srgbClr val="1E293B"/>
                  </a:solidFill>
                  <a:latin typeface="Plus Jakarta Sans"/>
                  <a:ea typeface="Plus Jakarta Sans"/>
                  <a:cs typeface="Plus Jakarta Sans"/>
                  <a:sym typeface="Plus Jakarta Sans"/>
                </a:rPr>
                <a:t>Best for: Multi-step tasks your team runs repeatedly. Assign a macro like </a:t>
              </a:r>
              <a:r>
                <a:rPr b="1" lang="en-US" sz="800">
                  <a:solidFill>
                    <a:srgbClr val="1E293B"/>
                  </a:solidFill>
                  <a:latin typeface="Arial"/>
                  <a:ea typeface="Arial"/>
                  <a:cs typeface="Arial"/>
                  <a:sym typeface="Arial"/>
                </a:rPr>
                <a:t>!stripe-integration</a:t>
              </a:r>
              <a:r>
                <a:rPr b="1" lang="en-US" sz="850">
                  <a:solidFill>
                    <a:srgbClr val="1E293B"/>
                  </a:solidFill>
                  <a:latin typeface="Plus Jakarta Sans"/>
                  <a:ea typeface="Plus Jakarta Sans"/>
                  <a:cs typeface="Plus Jakarta Sans"/>
                  <a:sym typeface="Plus Jakarta Sans"/>
                </a:rPr>
                <a:t> to attach it quickly.</a:t>
              </a:r>
              <a:endParaRPr b="1" sz="850">
                <a:solidFill>
                  <a:srgbClr val="1E293B"/>
                </a:solidFill>
                <a:latin typeface="Plus Jakarta Sans"/>
                <a:ea typeface="Plus Jakarta Sans"/>
                <a:cs typeface="Plus Jakarta Sans"/>
                <a:sym typeface="Plus Jakarta Sans"/>
              </a:endParaRPr>
            </a:p>
          </p:txBody>
        </p:sp>
      </p:grpSp>
      <p:sp>
        <p:nvSpPr>
          <p:cNvPr id="405" name="Google Shape;405;p20"/>
          <p:cNvSpPr txBox="1"/>
          <p:nvPr/>
        </p:nvSpPr>
        <p:spPr>
          <a:xfrm>
            <a:off x="571500" y="381000"/>
            <a:ext cx="11601600" cy="3693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2400" u="none" cap="none" strike="noStrike">
                <a:solidFill>
                  <a:srgbClr val="0F172A"/>
                </a:solidFill>
                <a:latin typeface="Plus Jakarta Sans ExtraBold"/>
                <a:ea typeface="Plus Jakarta Sans ExtraBold"/>
                <a:cs typeface="Plus Jakarta Sans ExtraBold"/>
                <a:sym typeface="Plus Jakarta Sans ExtraBold"/>
              </a:rPr>
              <a:t>Core Tooling Blueprint (Part 1)</a:t>
            </a:r>
            <a:endParaRPr/>
          </a:p>
        </p:txBody>
      </p:sp>
      <p:sp>
        <p:nvSpPr>
          <p:cNvPr id="406" name="Google Shape;406;p20"/>
          <p:cNvSpPr/>
          <p:nvPr/>
        </p:nvSpPr>
        <p:spPr>
          <a:xfrm>
            <a:off x="571500" y="847725"/>
            <a:ext cx="11049000" cy="19200"/>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10" name="Shape 410"/>
        <p:cNvGrpSpPr/>
        <p:nvPr/>
      </p:nvGrpSpPr>
      <p:grpSpPr>
        <a:xfrm>
          <a:off x="0" y="0"/>
          <a:ext cx="0" cy="0"/>
          <a:chOff x="0" y="0"/>
          <a:chExt cx="0" cy="0"/>
        </a:xfrm>
      </p:grpSpPr>
      <p:pic>
        <p:nvPicPr>
          <p:cNvPr descr="image.png" id="411" name="Google Shape;411;p21"/>
          <p:cNvPicPr preferRelativeResize="0"/>
          <p:nvPr/>
        </p:nvPicPr>
        <p:blipFill rotWithShape="1">
          <a:blip r:embed="rId3">
            <a:alphaModFix/>
          </a:blip>
          <a:srcRect b="0" l="0" r="0" t="0"/>
          <a:stretch/>
        </p:blipFill>
        <p:spPr>
          <a:xfrm>
            <a:off x="0" y="0"/>
            <a:ext cx="12192000" cy="6858000"/>
          </a:xfrm>
          <a:prstGeom prst="rect">
            <a:avLst/>
          </a:prstGeom>
          <a:noFill/>
          <a:ln>
            <a:noFill/>
          </a:ln>
        </p:spPr>
      </p:pic>
      <p:grpSp>
        <p:nvGrpSpPr>
          <p:cNvPr id="412" name="Google Shape;412;p21"/>
          <p:cNvGrpSpPr/>
          <p:nvPr/>
        </p:nvGrpSpPr>
        <p:grpSpPr>
          <a:xfrm>
            <a:off x="571500" y="1238250"/>
            <a:ext cx="3429000" cy="4857900"/>
            <a:chOff x="0" y="0"/>
            <a:chExt cx="3429000" cy="4857900"/>
          </a:xfrm>
        </p:grpSpPr>
        <p:sp>
          <p:nvSpPr>
            <p:cNvPr id="413" name="Google Shape;413;p21"/>
            <p:cNvSpPr/>
            <p:nvPr/>
          </p:nvSpPr>
          <p:spPr>
            <a:xfrm>
              <a:off x="0" y="0"/>
              <a:ext cx="3429000" cy="4857900"/>
            </a:xfrm>
            <a:prstGeom prst="roundRect">
              <a:avLst>
                <a:gd fmla="val 3333"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14" name="Google Shape;414;p21"/>
            <p:cNvSpPr/>
            <p:nvPr/>
          </p:nvSpPr>
          <p:spPr>
            <a:xfrm>
              <a:off x="0" y="0"/>
              <a:ext cx="57300" cy="4857900"/>
            </a:xfrm>
            <a:prstGeom prst="roundRect">
              <a:avLst>
                <a:gd fmla="val 5000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15" name="Google Shape;415;p21"/>
            <p:cNvSpPr txBox="1"/>
            <p:nvPr/>
          </p:nvSpPr>
          <p:spPr>
            <a:xfrm>
              <a:off x="228600" y="228600"/>
              <a:ext cx="2971800" cy="438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1800">
                  <a:solidFill>
                    <a:srgbClr val="2563EB"/>
                  </a:solidFill>
                  <a:latin typeface="Material Icons"/>
                  <a:ea typeface="Material Icons"/>
                  <a:cs typeface="Material Icons"/>
                  <a:sym typeface="Material Icons"/>
                </a:rPr>
                <a:t>forum</a:t>
              </a:r>
              <a:r>
                <a:rPr b="0" lang="en-US" sz="1600">
                  <a:solidFill>
                    <a:srgbClr val="2563EB"/>
                  </a:solidFill>
                  <a:latin typeface="Plus Jakarta Sans ExtraBold"/>
                  <a:ea typeface="Plus Jakarta Sans ExtraBold"/>
                  <a:cs typeface="Plus Jakarta Sans ExtraBold"/>
                  <a:sym typeface="Plus Jakarta Sans ExtraBold"/>
                </a:rPr>
                <a:t>5. Ask Devin</a:t>
              </a:r>
              <a:endParaRPr>
                <a:latin typeface="Plus Jakarta Sans"/>
                <a:ea typeface="Plus Jakarta Sans"/>
                <a:cs typeface="Plus Jakarta Sans"/>
                <a:sym typeface="Plus Jakarta Sans"/>
              </a:endParaRPr>
            </a:p>
            <a:p>
              <a:pPr indent="0" lvl="0" marL="0" rtl="0" algn="l">
                <a:spcBef>
                  <a:spcPts val="1200"/>
                </a:spcBef>
                <a:spcAft>
                  <a:spcPts val="0"/>
                </a:spcAft>
                <a:buNone/>
              </a:pPr>
              <a:r>
                <a:rPr b="1" lang="en-US" sz="1000">
                  <a:solidFill>
                    <a:srgbClr val="475569"/>
                  </a:solidFill>
                  <a:latin typeface="Plus Jakarta Sans"/>
                  <a:ea typeface="Plus Jakarta Sans"/>
                  <a:cs typeface="Plus Jakarta Sans"/>
                  <a:sym typeface="Plus Jakarta Sans"/>
                </a:rPr>
                <a:t>What: </a:t>
              </a:r>
              <a:r>
                <a:rPr b="0" lang="en-US" sz="1000">
                  <a:solidFill>
                    <a:srgbClr val="64748B"/>
                  </a:solidFill>
                  <a:latin typeface="Plus Jakarta Sans"/>
                  <a:ea typeface="Plus Jakarta Sans"/>
                  <a:cs typeface="Plus Jakarta Sans"/>
                  <a:sym typeface="Plus Jakarta Sans"/>
                </a:rPr>
                <a:t>An AI assistant that searches your indexed codebase to answer questions and plan tasks before starting a session.</a:t>
              </a:r>
              <a:endParaRPr b="1" sz="1000">
                <a:solidFill>
                  <a:srgbClr val="475569"/>
                </a:solidFill>
                <a:latin typeface="Plus Jakarta Sans"/>
                <a:ea typeface="Plus Jakarta Sans"/>
                <a:cs typeface="Plus Jakarta Sans"/>
                <a:sym typeface="Plus Jakarta Sans"/>
              </a:endParaRPr>
            </a:p>
            <a:p>
              <a:pPr indent="0" lvl="0" marL="0" rtl="0" algn="l">
                <a:spcBef>
                  <a:spcPts val="1050"/>
                </a:spcBef>
                <a:spcAft>
                  <a:spcPts val="0"/>
                </a:spcAft>
                <a:buNone/>
              </a:pPr>
              <a:r>
                <a:rPr b="1" lang="en-US" sz="950">
                  <a:solidFill>
                    <a:srgbClr val="1E293B"/>
                  </a:solidFill>
                  <a:highlight>
                    <a:srgbClr val="F8FAFC"/>
                  </a:highlight>
                  <a:latin typeface="Plus Jakarta Sans"/>
                  <a:ea typeface="Plus Jakarta Sans"/>
                  <a:cs typeface="Plus Jakarta Sans"/>
                  <a:sym typeface="Plus Jakarta Sans"/>
                </a:rPr>
                <a:t>Workflow:</a:t>
              </a:r>
              <a:endParaRPr b="1" sz="950">
                <a:solidFill>
                  <a:srgbClr val="1E293B"/>
                </a:solidFill>
                <a:highlight>
                  <a:srgbClr val="F8FAFC"/>
                </a:highlight>
                <a:latin typeface="Plus Jakarta Sans"/>
                <a:ea typeface="Plus Jakarta Sans"/>
                <a:cs typeface="Plus Jakarta Sans"/>
                <a:sym typeface="Plus Jakarta Sans"/>
              </a:endParaRPr>
            </a:p>
            <a:p>
              <a:pPr indent="-285750" lvl="0" marL="457200" rtl="0" algn="l">
                <a:spcBef>
                  <a:spcPts val="600"/>
                </a:spcBef>
                <a:spcAft>
                  <a:spcPts val="0"/>
                </a:spcAft>
                <a:buClr>
                  <a:srgbClr val="475569"/>
                </a:buClr>
                <a:buSzPts val="900"/>
                <a:buFont typeface="Plus Jakarta Sans"/>
                <a:buAutoNum type="arabicPeriod"/>
              </a:pPr>
              <a:r>
                <a:rPr b="0" lang="en-US" sz="900">
                  <a:solidFill>
                    <a:srgbClr val="475569"/>
                  </a:solidFill>
                  <a:highlight>
                    <a:srgbClr val="F8FAFC"/>
                  </a:highlight>
                  <a:latin typeface="Plus Jakarta Sans Medium"/>
                  <a:ea typeface="Plus Jakarta Sans Medium"/>
                  <a:cs typeface="Plus Jakarta Sans Medium"/>
                  <a:sym typeface="Plus Jakarta Sans Medium"/>
                </a:rPr>
                <a:t>Index your repo</a:t>
              </a:r>
              <a:endParaRPr b="0" sz="900">
                <a:solidFill>
                  <a:srgbClr val="475569"/>
                </a:solidFill>
                <a:highlight>
                  <a:srgbClr val="F8FAFC"/>
                </a:highlight>
                <a:latin typeface="Plus Jakarta Sans Medium"/>
                <a:ea typeface="Plus Jakarta Sans Medium"/>
                <a:cs typeface="Plus Jakarta Sans Medium"/>
                <a:sym typeface="Plus Jakarta Sans Medium"/>
              </a:endParaRPr>
            </a:p>
            <a:p>
              <a:pPr indent="-285750" lvl="0" marL="457200" rtl="0" algn="l">
                <a:spcBef>
                  <a:spcPts val="450"/>
                </a:spcBef>
                <a:spcAft>
                  <a:spcPts val="0"/>
                </a:spcAft>
                <a:buClr>
                  <a:srgbClr val="475569"/>
                </a:buClr>
                <a:buSzPts val="900"/>
                <a:buFont typeface="Plus Jakarta Sans"/>
                <a:buAutoNum type="arabicPeriod"/>
              </a:pPr>
              <a:r>
                <a:rPr b="0" lang="en-US" sz="900">
                  <a:solidFill>
                    <a:srgbClr val="475569"/>
                  </a:solidFill>
                  <a:highlight>
                    <a:srgbClr val="F8FAFC"/>
                  </a:highlight>
                  <a:latin typeface="Plus Jakarta Sans Medium"/>
                  <a:ea typeface="Plus Jakarta Sans Medium"/>
                  <a:cs typeface="Plus Jakarta Sans Medium"/>
                  <a:sym typeface="Plus Jakarta Sans Medium"/>
                </a:rPr>
                <a:t>Ask architecture questions</a:t>
              </a:r>
              <a:endParaRPr b="0" sz="900">
                <a:solidFill>
                  <a:srgbClr val="475569"/>
                </a:solidFill>
                <a:highlight>
                  <a:srgbClr val="F8FAFC"/>
                </a:highlight>
                <a:latin typeface="Plus Jakarta Sans Medium"/>
                <a:ea typeface="Plus Jakarta Sans Medium"/>
                <a:cs typeface="Plus Jakarta Sans Medium"/>
                <a:sym typeface="Plus Jakarta Sans Medium"/>
              </a:endParaRPr>
            </a:p>
            <a:p>
              <a:pPr indent="-285750" lvl="0" marL="457200" rtl="0" algn="l">
                <a:spcBef>
                  <a:spcPts val="450"/>
                </a:spcBef>
                <a:spcAft>
                  <a:spcPts val="0"/>
                </a:spcAft>
                <a:buClr>
                  <a:srgbClr val="475569"/>
                </a:buClr>
                <a:buSzPts val="900"/>
                <a:buFont typeface="Plus Jakarta Sans"/>
                <a:buAutoNum type="arabicPeriod"/>
              </a:pPr>
              <a:r>
                <a:rPr b="0" lang="en-US" sz="900">
                  <a:solidFill>
                    <a:srgbClr val="475569"/>
                  </a:solidFill>
                  <a:highlight>
                    <a:srgbClr val="F8FAFC"/>
                  </a:highlight>
                  <a:latin typeface="Plus Jakarta Sans Medium"/>
                  <a:ea typeface="Plus Jakarta Sans Medium"/>
                  <a:cs typeface="Plus Jakarta Sans Medium"/>
                  <a:sym typeface="Plus Jakarta Sans Medium"/>
                </a:rPr>
                <a:t>Switch to </a:t>
              </a:r>
              <a:r>
                <a:rPr b="1" lang="en-US" sz="900">
                  <a:solidFill>
                    <a:srgbClr val="2563EB"/>
                  </a:solidFill>
                  <a:highlight>
                    <a:srgbClr val="F8FAFC"/>
                  </a:highlight>
                  <a:latin typeface="Plus Jakarta Sans"/>
                  <a:ea typeface="Plus Jakarta Sans"/>
                  <a:cs typeface="Plus Jakarta Sans"/>
                  <a:sym typeface="Plus Jakarta Sans"/>
                </a:rPr>
                <a:t>Plan mode</a:t>
              </a:r>
              <a:endParaRPr b="0" sz="900">
                <a:solidFill>
                  <a:srgbClr val="475569"/>
                </a:solidFill>
                <a:highlight>
                  <a:srgbClr val="F8FAFC"/>
                </a:highlight>
                <a:latin typeface="Plus Jakarta Sans Medium"/>
                <a:ea typeface="Plus Jakarta Sans Medium"/>
                <a:cs typeface="Plus Jakarta Sans Medium"/>
                <a:sym typeface="Plus Jakarta Sans Medium"/>
              </a:endParaRPr>
            </a:p>
            <a:p>
              <a:pPr indent="-285750" lvl="0" marL="457200" rtl="0" algn="l">
                <a:spcBef>
                  <a:spcPts val="450"/>
                </a:spcBef>
                <a:spcAft>
                  <a:spcPts val="0"/>
                </a:spcAft>
                <a:buClr>
                  <a:srgbClr val="475569"/>
                </a:buClr>
                <a:buSzPts val="900"/>
                <a:buFont typeface="Plus Jakarta Sans"/>
                <a:buAutoNum type="arabicPeriod"/>
              </a:pPr>
              <a:r>
                <a:rPr b="0" lang="en-US" sz="900">
                  <a:solidFill>
                    <a:srgbClr val="475569"/>
                  </a:solidFill>
                  <a:highlight>
                    <a:srgbClr val="F8FAFC"/>
                  </a:highlight>
                  <a:latin typeface="Plus Jakarta Sans Medium"/>
                  <a:ea typeface="Plus Jakarta Sans Medium"/>
                  <a:cs typeface="Plus Jakarta Sans Medium"/>
                  <a:sym typeface="Plus Jakarta Sans Medium"/>
                </a:rPr>
                <a:t>Launch a session directly</a:t>
              </a:r>
              <a:endParaRPr b="0" sz="900">
                <a:solidFill>
                  <a:srgbClr val="475569"/>
                </a:solidFill>
                <a:highlight>
                  <a:srgbClr val="F8FAFC"/>
                </a:highlight>
                <a:latin typeface="Plus Jakarta Sans Medium"/>
                <a:ea typeface="Plus Jakarta Sans Medium"/>
                <a:cs typeface="Plus Jakarta Sans Medium"/>
                <a:sym typeface="Plus Jakarta Sans Medium"/>
              </a:endParaRPr>
            </a:p>
            <a:p>
              <a:pPr indent="0" lvl="0" marL="0" rtl="0" algn="l">
                <a:spcBef>
                  <a:spcPts val="1200"/>
                </a:spcBef>
                <a:spcAft>
                  <a:spcPts val="0"/>
                </a:spcAft>
                <a:buNone/>
              </a:pPr>
              <a:r>
                <a:rPr b="1" lang="en-US" sz="950">
                  <a:solidFill>
                    <a:srgbClr val="1E293B"/>
                  </a:solidFill>
                  <a:latin typeface="Plus Jakarta Sans"/>
                  <a:ea typeface="Plus Jakarta Sans"/>
                  <a:cs typeface="Plus Jakarta Sans"/>
                  <a:sym typeface="Plus Jakarta Sans"/>
                </a:rPr>
                <a:t>Best for:</a:t>
              </a:r>
              <a:endParaRPr b="1" sz="950">
                <a:solidFill>
                  <a:srgbClr val="1E293B"/>
                </a:solidFill>
                <a:latin typeface="Plus Jakarta Sans"/>
                <a:ea typeface="Plus Jakarta Sans"/>
                <a:cs typeface="Plus Jakarta Sans"/>
                <a:sym typeface="Plus Jakarta Sans"/>
              </a:endParaRPr>
            </a:p>
            <a:p>
              <a:pPr indent="0" lvl="0" marL="0" rtl="0" algn="l">
                <a:spcBef>
                  <a:spcPts val="300"/>
                </a:spcBef>
                <a:spcAft>
                  <a:spcPts val="0"/>
                </a:spcAft>
                <a:buNone/>
              </a:pPr>
              <a:r>
                <a:rPr b="0" lang="en-US" sz="950">
                  <a:solidFill>
                    <a:srgbClr val="475569"/>
                  </a:solidFill>
                  <a:latin typeface="Plus Jakarta Sans"/>
                  <a:ea typeface="Plus Jakarta Sans"/>
                  <a:cs typeface="Plus Jakarta Sans"/>
                  <a:sym typeface="Plus Jakarta Sans"/>
                </a:rPr>
                <a:t>Onboarding, planning features, and exploring unfamiliar codebases.</a:t>
              </a:r>
              <a:endParaRPr b="0" sz="950">
                <a:solidFill>
                  <a:srgbClr val="475569"/>
                </a:solidFill>
                <a:latin typeface="Plus Jakarta Sans"/>
                <a:ea typeface="Plus Jakarta Sans"/>
                <a:cs typeface="Plus Jakarta Sans"/>
                <a:sym typeface="Plus Jakarta Sans"/>
              </a:endParaRPr>
            </a:p>
          </p:txBody>
        </p:sp>
      </p:grpSp>
      <p:grpSp>
        <p:nvGrpSpPr>
          <p:cNvPr id="416" name="Google Shape;416;p21"/>
          <p:cNvGrpSpPr/>
          <p:nvPr/>
        </p:nvGrpSpPr>
        <p:grpSpPr>
          <a:xfrm>
            <a:off x="4381500" y="1238250"/>
            <a:ext cx="3429000" cy="4857900"/>
            <a:chOff x="0" y="0"/>
            <a:chExt cx="3429000" cy="4857900"/>
          </a:xfrm>
        </p:grpSpPr>
        <p:sp>
          <p:nvSpPr>
            <p:cNvPr id="417" name="Google Shape;417;p21"/>
            <p:cNvSpPr/>
            <p:nvPr/>
          </p:nvSpPr>
          <p:spPr>
            <a:xfrm>
              <a:off x="0" y="0"/>
              <a:ext cx="3429000" cy="4857900"/>
            </a:xfrm>
            <a:prstGeom prst="roundRect">
              <a:avLst>
                <a:gd fmla="val 3333"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18" name="Google Shape;418;p21"/>
            <p:cNvSpPr/>
            <p:nvPr/>
          </p:nvSpPr>
          <p:spPr>
            <a:xfrm>
              <a:off x="0" y="0"/>
              <a:ext cx="57300" cy="4857900"/>
            </a:xfrm>
            <a:prstGeom prst="roundRect">
              <a:avLst>
                <a:gd fmla="val 50000" name="adj"/>
              </a:avLst>
            </a:prstGeom>
            <a:solidFill>
              <a:srgbClr val="16A34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19" name="Google Shape;419;p21"/>
            <p:cNvSpPr txBox="1"/>
            <p:nvPr/>
          </p:nvSpPr>
          <p:spPr>
            <a:xfrm>
              <a:off x="228600" y="228600"/>
              <a:ext cx="2971800" cy="438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1800">
                  <a:solidFill>
                    <a:srgbClr val="16A34A"/>
                  </a:solidFill>
                  <a:latin typeface="Material Icons"/>
                  <a:ea typeface="Material Icons"/>
                  <a:cs typeface="Material Icons"/>
                  <a:sym typeface="Material Icons"/>
                </a:rPr>
                <a:t>import_contacts</a:t>
              </a:r>
              <a:r>
                <a:rPr b="0" lang="en-US" sz="1600">
                  <a:solidFill>
                    <a:srgbClr val="16A34A"/>
                  </a:solidFill>
                  <a:latin typeface="Plus Jakarta Sans ExtraBold"/>
                  <a:ea typeface="Plus Jakarta Sans ExtraBold"/>
                  <a:cs typeface="Plus Jakarta Sans ExtraBold"/>
                  <a:sym typeface="Plus Jakarta Sans ExtraBold"/>
                </a:rPr>
                <a:t>6. DeepWiki</a:t>
              </a:r>
              <a:endParaRPr>
                <a:latin typeface="Plus Jakarta Sans"/>
                <a:ea typeface="Plus Jakarta Sans"/>
                <a:cs typeface="Plus Jakarta Sans"/>
                <a:sym typeface="Plus Jakarta Sans"/>
              </a:endParaRPr>
            </a:p>
            <a:p>
              <a:pPr indent="0" lvl="0" marL="0" rtl="0" algn="l">
                <a:spcBef>
                  <a:spcPts val="1200"/>
                </a:spcBef>
                <a:spcAft>
                  <a:spcPts val="0"/>
                </a:spcAft>
                <a:buNone/>
              </a:pPr>
              <a:r>
                <a:rPr b="1" lang="en-US" sz="1000">
                  <a:solidFill>
                    <a:srgbClr val="475569"/>
                  </a:solidFill>
                  <a:latin typeface="Plus Jakarta Sans"/>
                  <a:ea typeface="Plus Jakarta Sans"/>
                  <a:cs typeface="Plus Jakarta Sans"/>
                  <a:sym typeface="Plus Jakarta Sans"/>
                </a:rPr>
                <a:t>What: </a:t>
              </a:r>
              <a:r>
                <a:rPr b="0" lang="en-US" sz="1000">
                  <a:solidFill>
                    <a:srgbClr val="64748B"/>
                  </a:solidFill>
                  <a:latin typeface="Plus Jakarta Sans"/>
                  <a:ea typeface="Plus Jakarta Sans"/>
                  <a:cs typeface="Plus Jakarta Sans"/>
                  <a:sym typeface="Plus Jakarta Sans"/>
                </a:rPr>
                <a:t>Auto-generated wiki with architecture diagrams, source links, and summaries for your repos. Powers Ask Devin's answers.</a:t>
              </a:r>
              <a:endParaRPr b="1" sz="1000">
                <a:solidFill>
                  <a:srgbClr val="475569"/>
                </a:solidFill>
                <a:latin typeface="Plus Jakarta Sans"/>
                <a:ea typeface="Plus Jakarta Sans"/>
                <a:cs typeface="Plus Jakarta Sans"/>
                <a:sym typeface="Plus Jakarta Sans"/>
              </a:endParaRPr>
            </a:p>
            <a:p>
              <a:pPr indent="0" lvl="0" marL="0" rtl="0" algn="l">
                <a:spcBef>
                  <a:spcPts val="1050"/>
                </a:spcBef>
                <a:spcAft>
                  <a:spcPts val="0"/>
                </a:spcAft>
                <a:buNone/>
              </a:pPr>
              <a:r>
                <a:rPr lang="en-US" sz="850">
                  <a:solidFill>
                    <a:srgbClr val="94A3B8"/>
                  </a:solidFill>
                  <a:highlight>
                    <a:srgbClr val="0F172A"/>
                  </a:highlight>
                  <a:latin typeface="Arial"/>
                  <a:ea typeface="Arial"/>
                  <a:cs typeface="Arial"/>
                  <a:sym typeface="Arial"/>
                </a:rPr>
                <a:t>{</a:t>
              </a:r>
              <a:endParaRPr sz="850">
                <a:solidFill>
                  <a:srgbClr val="94A3B8"/>
                </a:solidFill>
                <a:highlight>
                  <a:srgbClr val="0F172A"/>
                </a:highlight>
                <a:latin typeface="Arial"/>
                <a:ea typeface="Arial"/>
                <a:cs typeface="Arial"/>
                <a:sym typeface="Arial"/>
              </a:endParaRPr>
            </a:p>
            <a:p>
              <a:pPr indent="0" lvl="0" marL="0" rtl="0" algn="l">
                <a:spcBef>
                  <a:spcPts val="0"/>
                </a:spcBef>
                <a:spcAft>
                  <a:spcPts val="0"/>
                </a:spcAft>
                <a:buNone/>
              </a:pPr>
              <a:r>
                <a:rPr lang="en-US" sz="850">
                  <a:solidFill>
                    <a:srgbClr val="F472B6"/>
                  </a:solidFill>
                  <a:highlight>
                    <a:srgbClr val="0F172A"/>
                  </a:highlight>
                  <a:latin typeface="Arial"/>
                  <a:ea typeface="Arial"/>
                  <a:cs typeface="Arial"/>
                  <a:sym typeface="Arial"/>
                </a:rPr>
                <a:t>"repo_notes"</a:t>
              </a:r>
              <a:r>
                <a:rPr lang="en-US" sz="850">
                  <a:solidFill>
                    <a:srgbClr val="38BDF8"/>
                  </a:solidFill>
                  <a:highlight>
                    <a:srgbClr val="0F172A"/>
                  </a:highlight>
                  <a:latin typeface="Arial"/>
                  <a:ea typeface="Arial"/>
                  <a:cs typeface="Arial"/>
                  <a:sym typeface="Arial"/>
                </a:rPr>
                <a:t>: [{</a:t>
              </a:r>
              <a:r>
                <a:rPr lang="en-US" sz="850">
                  <a:solidFill>
                    <a:srgbClr val="F472B6"/>
                  </a:solidFill>
                  <a:highlight>
                    <a:srgbClr val="0F172A"/>
                  </a:highlight>
                  <a:latin typeface="Arial"/>
                  <a:ea typeface="Arial"/>
                  <a:cs typeface="Arial"/>
                  <a:sym typeface="Arial"/>
                </a:rPr>
                <a:t>"content"</a:t>
              </a:r>
              <a:r>
                <a:rPr lang="en-US" sz="850">
                  <a:solidFill>
                    <a:srgbClr val="38BDF8"/>
                  </a:solidFill>
                  <a:highlight>
                    <a:srgbClr val="0F172A"/>
                  </a:highlight>
                  <a:latin typeface="Arial"/>
                  <a:ea typeface="Arial"/>
                  <a:cs typeface="Arial"/>
                  <a:sym typeface="Arial"/>
                </a:rPr>
                <a:t>: </a:t>
              </a:r>
              <a:r>
                <a:rPr lang="en-US" sz="850">
                  <a:solidFill>
                    <a:srgbClr val="34D399"/>
                  </a:solidFill>
                  <a:highlight>
                    <a:srgbClr val="0F172A"/>
                  </a:highlight>
                  <a:latin typeface="Arial"/>
                  <a:ea typeface="Arial"/>
                  <a:cs typeface="Arial"/>
                  <a:sym typeface="Arial"/>
                </a:rPr>
                <a:t>"Prioritize cui/"</a:t>
              </a:r>
              <a:r>
                <a:rPr lang="en-US" sz="850">
                  <a:solidFill>
                    <a:srgbClr val="38BDF8"/>
                  </a:solidFill>
                  <a:highlight>
                    <a:srgbClr val="0F172A"/>
                  </a:highlight>
                  <a:latin typeface="Arial"/>
                  <a:ea typeface="Arial"/>
                  <a:cs typeface="Arial"/>
                  <a:sym typeface="Arial"/>
                </a:rPr>
                <a:t>}],</a:t>
              </a:r>
              <a:endParaRPr sz="850">
                <a:solidFill>
                  <a:srgbClr val="38BDF8"/>
                </a:solidFill>
                <a:highlight>
                  <a:srgbClr val="0F172A"/>
                </a:highlight>
                <a:latin typeface="Arial"/>
                <a:ea typeface="Arial"/>
                <a:cs typeface="Arial"/>
                <a:sym typeface="Arial"/>
              </a:endParaRPr>
            </a:p>
            <a:p>
              <a:pPr indent="0" lvl="0" marL="0" rtl="0" algn="l">
                <a:spcBef>
                  <a:spcPts val="0"/>
                </a:spcBef>
                <a:spcAft>
                  <a:spcPts val="0"/>
                </a:spcAft>
                <a:buNone/>
              </a:pPr>
              <a:r>
                <a:rPr lang="en-US" sz="850">
                  <a:solidFill>
                    <a:srgbClr val="F472B6"/>
                  </a:solidFill>
                  <a:highlight>
                    <a:srgbClr val="0F172A"/>
                  </a:highlight>
                  <a:latin typeface="Arial"/>
                  <a:ea typeface="Arial"/>
                  <a:cs typeface="Arial"/>
                  <a:sym typeface="Arial"/>
                </a:rPr>
                <a:t>"pages"</a:t>
              </a:r>
              <a:r>
                <a:rPr lang="en-US" sz="850">
                  <a:solidFill>
                    <a:srgbClr val="38BDF8"/>
                  </a:solidFill>
                  <a:highlight>
                    <a:srgbClr val="0F172A"/>
                  </a:highlight>
                  <a:latin typeface="Arial"/>
                  <a:ea typeface="Arial"/>
                  <a:cs typeface="Arial"/>
                  <a:sym typeface="Arial"/>
                </a:rPr>
                <a:t>: [{</a:t>
              </a:r>
              <a:r>
                <a:rPr lang="en-US" sz="850">
                  <a:solidFill>
                    <a:srgbClr val="F472B6"/>
                  </a:solidFill>
                  <a:highlight>
                    <a:srgbClr val="0F172A"/>
                  </a:highlight>
                  <a:latin typeface="Arial"/>
                  <a:ea typeface="Arial"/>
                  <a:cs typeface="Arial"/>
                  <a:sym typeface="Arial"/>
                </a:rPr>
                <a:t>"title"</a:t>
              </a:r>
              <a:r>
                <a:rPr lang="en-US" sz="850">
                  <a:solidFill>
                    <a:srgbClr val="38BDF8"/>
                  </a:solidFill>
                  <a:highlight>
                    <a:srgbClr val="0F172A"/>
                  </a:highlight>
                  <a:latin typeface="Arial"/>
                  <a:ea typeface="Arial"/>
                  <a:cs typeface="Arial"/>
                  <a:sym typeface="Arial"/>
                </a:rPr>
                <a:t>: </a:t>
              </a:r>
              <a:r>
                <a:rPr lang="en-US" sz="850">
                  <a:solidFill>
                    <a:srgbClr val="34D399"/>
                  </a:solidFill>
                  <a:highlight>
                    <a:srgbClr val="0F172A"/>
                  </a:highlight>
                  <a:latin typeface="Arial"/>
                  <a:ea typeface="Arial"/>
                  <a:cs typeface="Arial"/>
                  <a:sym typeface="Arial"/>
                </a:rPr>
                <a:t>"Auth"</a:t>
              </a:r>
              <a:r>
                <a:rPr lang="en-US" sz="850">
                  <a:solidFill>
                    <a:srgbClr val="38BDF8"/>
                  </a:solidFill>
                  <a:highlight>
                    <a:srgbClr val="0F172A"/>
                  </a:highlight>
                  <a:latin typeface="Arial"/>
                  <a:ea typeface="Arial"/>
                  <a:cs typeface="Arial"/>
                  <a:sym typeface="Arial"/>
                </a:rPr>
                <a:t>}]</a:t>
              </a:r>
              <a:endParaRPr sz="850">
                <a:solidFill>
                  <a:srgbClr val="38BDF8"/>
                </a:solidFill>
                <a:highlight>
                  <a:srgbClr val="0F172A"/>
                </a:highlight>
                <a:latin typeface="Arial"/>
                <a:ea typeface="Arial"/>
                <a:cs typeface="Arial"/>
                <a:sym typeface="Arial"/>
              </a:endParaRPr>
            </a:p>
            <a:p>
              <a:pPr indent="0" lvl="0" marL="0" rtl="0" algn="l">
                <a:spcBef>
                  <a:spcPts val="0"/>
                </a:spcBef>
                <a:spcAft>
                  <a:spcPts val="0"/>
                </a:spcAft>
                <a:buNone/>
              </a:pPr>
              <a:r>
                <a:rPr lang="en-US" sz="850">
                  <a:solidFill>
                    <a:srgbClr val="94A3B8"/>
                  </a:solidFill>
                  <a:highlight>
                    <a:srgbClr val="0F172A"/>
                  </a:highlight>
                  <a:latin typeface="Arial"/>
                  <a:ea typeface="Arial"/>
                  <a:cs typeface="Arial"/>
                  <a:sym typeface="Arial"/>
                </a:rPr>
                <a:t>}</a:t>
              </a:r>
              <a:endParaRPr sz="850">
                <a:solidFill>
                  <a:srgbClr val="94A3B8"/>
                </a:solidFill>
                <a:highlight>
                  <a:srgbClr val="0F172A"/>
                </a:highlight>
                <a:latin typeface="Arial"/>
                <a:ea typeface="Arial"/>
                <a:cs typeface="Arial"/>
                <a:sym typeface="Arial"/>
              </a:endParaRPr>
            </a:p>
            <a:p>
              <a:pPr indent="0" lvl="0" marL="0" rtl="0" algn="l">
                <a:spcBef>
                  <a:spcPts val="1200"/>
                </a:spcBef>
                <a:spcAft>
                  <a:spcPts val="0"/>
                </a:spcAft>
                <a:buNone/>
              </a:pPr>
              <a:r>
                <a:rPr b="1" lang="en-US" sz="950">
                  <a:solidFill>
                    <a:srgbClr val="1E293B"/>
                  </a:solidFill>
                  <a:latin typeface="Plus Jakarta Sans"/>
                  <a:ea typeface="Plus Jakarta Sans"/>
                  <a:cs typeface="Plus Jakarta Sans"/>
                  <a:sym typeface="Plus Jakarta Sans"/>
                </a:rPr>
                <a:t>Best for:</a:t>
              </a:r>
              <a:endParaRPr b="1" sz="950">
                <a:solidFill>
                  <a:srgbClr val="1E293B"/>
                </a:solidFill>
                <a:latin typeface="Plus Jakarta Sans"/>
                <a:ea typeface="Plus Jakarta Sans"/>
                <a:cs typeface="Plus Jakarta Sans"/>
                <a:sym typeface="Plus Jakarta Sans"/>
              </a:endParaRPr>
            </a:p>
            <a:p>
              <a:pPr indent="0" lvl="0" marL="0" rtl="0" algn="l">
                <a:spcBef>
                  <a:spcPts val="300"/>
                </a:spcBef>
                <a:spcAft>
                  <a:spcPts val="0"/>
                </a:spcAft>
                <a:buNone/>
              </a:pPr>
              <a:r>
                <a:rPr b="0" lang="en-US" sz="950">
                  <a:solidFill>
                    <a:srgbClr val="475569"/>
                  </a:solidFill>
                  <a:latin typeface="Plus Jakarta Sans"/>
                  <a:ea typeface="Plus Jakarta Sans"/>
                  <a:cs typeface="Plus Jakarta Sans"/>
                  <a:sym typeface="Plus Jakarta Sans"/>
                </a:rPr>
                <a:t>Large or unfamiliar codebases. Available free for public repos at deepwiki.com.</a:t>
              </a:r>
              <a:endParaRPr b="0" sz="950">
                <a:solidFill>
                  <a:srgbClr val="475569"/>
                </a:solidFill>
                <a:latin typeface="Plus Jakarta Sans"/>
                <a:ea typeface="Plus Jakarta Sans"/>
                <a:cs typeface="Plus Jakarta Sans"/>
                <a:sym typeface="Plus Jakarta Sans"/>
              </a:endParaRPr>
            </a:p>
          </p:txBody>
        </p:sp>
      </p:grpSp>
      <p:grpSp>
        <p:nvGrpSpPr>
          <p:cNvPr id="420" name="Google Shape;420;p21"/>
          <p:cNvGrpSpPr/>
          <p:nvPr/>
        </p:nvGrpSpPr>
        <p:grpSpPr>
          <a:xfrm>
            <a:off x="8191500" y="1238250"/>
            <a:ext cx="3429000" cy="4857900"/>
            <a:chOff x="0" y="0"/>
            <a:chExt cx="3429000" cy="4857900"/>
          </a:xfrm>
        </p:grpSpPr>
        <p:sp>
          <p:nvSpPr>
            <p:cNvPr id="421" name="Google Shape;421;p21"/>
            <p:cNvSpPr/>
            <p:nvPr/>
          </p:nvSpPr>
          <p:spPr>
            <a:xfrm>
              <a:off x="0" y="0"/>
              <a:ext cx="3429000" cy="4857900"/>
            </a:xfrm>
            <a:prstGeom prst="roundRect">
              <a:avLst>
                <a:gd fmla="val 3333"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22" name="Google Shape;422;p21"/>
            <p:cNvSpPr/>
            <p:nvPr/>
          </p:nvSpPr>
          <p:spPr>
            <a:xfrm>
              <a:off x="0" y="0"/>
              <a:ext cx="57300" cy="4857900"/>
            </a:xfrm>
            <a:prstGeom prst="roundRect">
              <a:avLst>
                <a:gd fmla="val 50000" name="adj"/>
              </a:avLst>
            </a:prstGeom>
            <a:solidFill>
              <a:srgbClr val="E11D4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23" name="Google Shape;423;p21"/>
            <p:cNvSpPr txBox="1"/>
            <p:nvPr/>
          </p:nvSpPr>
          <p:spPr>
            <a:xfrm>
              <a:off x="228600" y="228600"/>
              <a:ext cx="2971800" cy="438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1800">
                  <a:solidFill>
                    <a:srgbClr val="E11D48"/>
                  </a:solidFill>
                  <a:latin typeface="Material Icons"/>
                  <a:ea typeface="Material Icons"/>
                  <a:cs typeface="Material Icons"/>
                  <a:sym typeface="Material Icons"/>
                </a:rPr>
                <a:t>terminal</a:t>
              </a:r>
              <a:r>
                <a:rPr b="0" lang="en-US" sz="1600">
                  <a:solidFill>
                    <a:srgbClr val="E11D48"/>
                  </a:solidFill>
                  <a:latin typeface="Plus Jakarta Sans ExtraBold"/>
                  <a:ea typeface="Plus Jakarta Sans ExtraBold"/>
                  <a:cs typeface="Plus Jakarta Sans ExtraBold"/>
                  <a:sym typeface="Plus Jakarta Sans ExtraBold"/>
                </a:rPr>
                <a:t>7. Sessions</a:t>
              </a:r>
              <a:endParaRPr>
                <a:latin typeface="Plus Jakarta Sans"/>
                <a:ea typeface="Plus Jakarta Sans"/>
                <a:cs typeface="Plus Jakarta Sans"/>
                <a:sym typeface="Plus Jakarta Sans"/>
              </a:endParaRPr>
            </a:p>
            <a:p>
              <a:pPr indent="0" lvl="0" marL="0" rtl="0" algn="l">
                <a:spcBef>
                  <a:spcPts val="1200"/>
                </a:spcBef>
                <a:spcAft>
                  <a:spcPts val="0"/>
                </a:spcAft>
                <a:buNone/>
              </a:pPr>
              <a:r>
                <a:rPr b="1" lang="en-US" sz="1000">
                  <a:solidFill>
                    <a:srgbClr val="475569"/>
                  </a:solidFill>
                  <a:latin typeface="Plus Jakarta Sans"/>
                  <a:ea typeface="Plus Jakarta Sans"/>
                  <a:cs typeface="Plus Jakarta Sans"/>
                  <a:sym typeface="Plus Jakarta Sans"/>
                </a:rPr>
                <a:t>What: </a:t>
              </a:r>
              <a:r>
                <a:rPr b="0" lang="en-US" sz="1000">
                  <a:solidFill>
                    <a:srgbClr val="64748B"/>
                  </a:solidFill>
                  <a:latin typeface="Plus Jakarta Sans"/>
                  <a:ea typeface="Plus Jakarta Sans"/>
                  <a:cs typeface="Plus Jakarta Sans"/>
                  <a:sym typeface="Plus Jakarta Sans"/>
                </a:rPr>
                <a:t>Individual Devin work units where it autonomously codes, tests, and opens PRs. Each session should be isolated and atomic.</a:t>
              </a:r>
              <a:endParaRPr b="1" sz="1000">
                <a:solidFill>
                  <a:srgbClr val="475569"/>
                </a:solidFill>
                <a:latin typeface="Plus Jakarta Sans"/>
                <a:ea typeface="Plus Jakarta Sans"/>
                <a:cs typeface="Plus Jakarta Sans"/>
                <a:sym typeface="Plus Jakarta Sans"/>
              </a:endParaRPr>
            </a:p>
            <a:p>
              <a:pPr indent="0" lvl="0" marL="0" rtl="0" algn="l">
                <a:spcBef>
                  <a:spcPts val="1050"/>
                </a:spcBef>
                <a:spcAft>
                  <a:spcPts val="0"/>
                </a:spcAft>
                <a:buNone/>
              </a:pPr>
              <a:r>
                <a:rPr b="1" lang="en-US" sz="950">
                  <a:solidFill>
                    <a:srgbClr val="9F1239"/>
                  </a:solidFill>
                  <a:highlight>
                    <a:srgbClr val="FFF1F2"/>
                  </a:highlight>
                  <a:latin typeface="Plus Jakarta Sans"/>
                  <a:ea typeface="Plus Jakarta Sans"/>
                  <a:cs typeface="Plus Jakarta Sans"/>
                  <a:sym typeface="Plus Jakarta Sans"/>
                </a:rPr>
                <a:t>Best Practices:</a:t>
              </a:r>
              <a:endParaRPr b="1" sz="950">
                <a:solidFill>
                  <a:srgbClr val="9F1239"/>
                </a:solidFill>
                <a:highlight>
                  <a:srgbClr val="FFF1F2"/>
                </a:highlight>
                <a:latin typeface="Plus Jakarta Sans"/>
                <a:ea typeface="Plus Jakarta Sans"/>
                <a:cs typeface="Plus Jakarta Sans"/>
                <a:sym typeface="Plus Jakarta Sans"/>
              </a:endParaRPr>
            </a:p>
            <a:p>
              <a:pPr indent="-285750" lvl="0" marL="457200" rtl="0" algn="l">
                <a:spcBef>
                  <a:spcPts val="600"/>
                </a:spcBef>
                <a:spcAft>
                  <a:spcPts val="0"/>
                </a:spcAft>
                <a:buClr>
                  <a:srgbClr val="9F1239"/>
                </a:buClr>
                <a:buSzPts val="900"/>
                <a:buFont typeface="Plus Jakarta Sans"/>
                <a:buChar char="●"/>
              </a:pPr>
              <a:r>
                <a:rPr b="0" lang="en-US" sz="900">
                  <a:solidFill>
                    <a:srgbClr val="9F1239"/>
                  </a:solidFill>
                  <a:highlight>
                    <a:srgbClr val="FFF1F2"/>
                  </a:highlight>
                  <a:latin typeface="Plus Jakarta Sans Medium"/>
                  <a:ea typeface="Plus Jakarta Sans Medium"/>
                  <a:cs typeface="Plus Jakarta Sans Medium"/>
                  <a:sym typeface="Plus Jakarta Sans Medium"/>
                </a:rPr>
                <a:t>Keep sessions under </a:t>
              </a:r>
              <a:r>
                <a:rPr b="0" lang="en-US" sz="900">
                  <a:solidFill>
                    <a:srgbClr val="9F1239"/>
                  </a:solidFill>
                  <a:highlight>
                    <a:srgbClr val="FFF1F2"/>
                  </a:highlight>
                  <a:latin typeface="Plus Jakarta Sans ExtraBold"/>
                  <a:ea typeface="Plus Jakarta Sans ExtraBold"/>
                  <a:cs typeface="Plus Jakarta Sans ExtraBold"/>
                  <a:sym typeface="Plus Jakarta Sans ExtraBold"/>
                </a:rPr>
                <a:t>90 minutes</a:t>
              </a:r>
              <a:endParaRPr b="0" sz="900">
                <a:solidFill>
                  <a:srgbClr val="9F1239"/>
                </a:solidFill>
                <a:highlight>
                  <a:srgbClr val="FFF1F2"/>
                </a:highlight>
                <a:latin typeface="Plus Jakarta Sans Medium"/>
                <a:ea typeface="Plus Jakarta Sans Medium"/>
                <a:cs typeface="Plus Jakarta Sans Medium"/>
                <a:sym typeface="Plus Jakarta Sans Medium"/>
              </a:endParaRPr>
            </a:p>
            <a:p>
              <a:pPr indent="-285750" lvl="0" marL="457200" rtl="0" algn="l">
                <a:spcBef>
                  <a:spcPts val="450"/>
                </a:spcBef>
                <a:spcAft>
                  <a:spcPts val="0"/>
                </a:spcAft>
                <a:buClr>
                  <a:srgbClr val="9F1239"/>
                </a:buClr>
                <a:buSzPts val="900"/>
                <a:buFont typeface="Plus Jakarta Sans"/>
                <a:buChar char="●"/>
              </a:pPr>
              <a:r>
                <a:rPr b="0" lang="en-US" sz="900">
                  <a:solidFill>
                    <a:srgbClr val="9F1239"/>
                  </a:solidFill>
                  <a:highlight>
                    <a:srgbClr val="FFF1F2"/>
                  </a:highlight>
                  <a:latin typeface="Plus Jakarta Sans Medium"/>
                  <a:ea typeface="Plus Jakarta Sans Medium"/>
                  <a:cs typeface="Plus Jakarta Sans Medium"/>
                  <a:sym typeface="Plus Jakarta Sans Medium"/>
                </a:rPr>
                <a:t>Provide clear verification checks</a:t>
              </a:r>
              <a:endParaRPr b="0" sz="900">
                <a:solidFill>
                  <a:srgbClr val="9F1239"/>
                </a:solidFill>
                <a:highlight>
                  <a:srgbClr val="FFF1F2"/>
                </a:highlight>
                <a:latin typeface="Plus Jakarta Sans Medium"/>
                <a:ea typeface="Plus Jakarta Sans Medium"/>
                <a:cs typeface="Plus Jakarta Sans Medium"/>
                <a:sym typeface="Plus Jakarta Sans Medium"/>
              </a:endParaRPr>
            </a:p>
            <a:p>
              <a:pPr indent="-285750" lvl="0" marL="457200" rtl="0" algn="l">
                <a:spcBef>
                  <a:spcPts val="450"/>
                </a:spcBef>
                <a:spcAft>
                  <a:spcPts val="0"/>
                </a:spcAft>
                <a:buClr>
                  <a:srgbClr val="9F1239"/>
                </a:buClr>
                <a:buSzPts val="900"/>
                <a:buFont typeface="Plus Jakarta Sans"/>
                <a:buChar char="●"/>
              </a:pPr>
              <a:r>
                <a:rPr b="0" lang="en-US" sz="900">
                  <a:solidFill>
                    <a:srgbClr val="9F1239"/>
                  </a:solidFill>
                  <a:highlight>
                    <a:srgbClr val="FFF1F2"/>
                  </a:highlight>
                  <a:latin typeface="Plus Jakarta Sans Medium"/>
                  <a:ea typeface="Plus Jakarta Sans Medium"/>
                  <a:cs typeface="Plus Jakarta Sans Medium"/>
                  <a:sym typeface="Plus Jakarta Sans Medium"/>
                </a:rPr>
                <a:t>Run multiple sessions in parallel</a:t>
              </a:r>
              <a:endParaRPr b="0" sz="900">
                <a:solidFill>
                  <a:srgbClr val="9F1239"/>
                </a:solidFill>
                <a:highlight>
                  <a:srgbClr val="FFF1F2"/>
                </a:highlight>
                <a:latin typeface="Plus Jakarta Sans Medium"/>
                <a:ea typeface="Plus Jakarta Sans Medium"/>
                <a:cs typeface="Plus Jakarta Sans Medium"/>
                <a:sym typeface="Plus Jakarta Sans Medium"/>
              </a:endParaRPr>
            </a:p>
            <a:p>
              <a:pPr indent="-285750" lvl="0" marL="457200" rtl="0" algn="l">
                <a:spcBef>
                  <a:spcPts val="450"/>
                </a:spcBef>
                <a:spcAft>
                  <a:spcPts val="0"/>
                </a:spcAft>
                <a:buClr>
                  <a:srgbClr val="9F1239"/>
                </a:buClr>
                <a:buSzPts val="900"/>
                <a:buFont typeface="Plus Jakarta Sans"/>
                <a:buChar char="●"/>
              </a:pPr>
              <a:r>
                <a:rPr b="0" lang="en-US" sz="900">
                  <a:solidFill>
                    <a:srgbClr val="9F1239"/>
                  </a:solidFill>
                  <a:highlight>
                    <a:srgbClr val="FFF1F2"/>
                  </a:highlight>
                  <a:latin typeface="Plus Jakarta Sans Medium"/>
                  <a:ea typeface="Plus Jakarta Sans Medium"/>
                  <a:cs typeface="Plus Jakarta Sans Medium"/>
                  <a:sym typeface="Plus Jakarta Sans Medium"/>
                </a:rPr>
                <a:t>Start from Ask Devin for context</a:t>
              </a:r>
              <a:endParaRPr b="0" sz="900">
                <a:solidFill>
                  <a:srgbClr val="9F1239"/>
                </a:solidFill>
                <a:highlight>
                  <a:srgbClr val="FFF1F2"/>
                </a:highlight>
                <a:latin typeface="Plus Jakarta Sans Medium"/>
                <a:ea typeface="Plus Jakarta Sans Medium"/>
                <a:cs typeface="Plus Jakarta Sans Medium"/>
                <a:sym typeface="Plus Jakarta Sans Medium"/>
              </a:endParaRPr>
            </a:p>
            <a:p>
              <a:pPr indent="0" lvl="0" marL="0" rtl="0" algn="l">
                <a:spcBef>
                  <a:spcPts val="1200"/>
                </a:spcBef>
                <a:spcAft>
                  <a:spcPts val="0"/>
                </a:spcAft>
                <a:buNone/>
              </a:pPr>
              <a:r>
                <a:rPr b="1" lang="en-US" sz="950">
                  <a:solidFill>
                    <a:srgbClr val="1E293B"/>
                  </a:solidFill>
                  <a:latin typeface="Plus Jakarta Sans"/>
                  <a:ea typeface="Plus Jakarta Sans"/>
                  <a:cs typeface="Plus Jakarta Sans"/>
                  <a:sym typeface="Plus Jakarta Sans"/>
                </a:rPr>
                <a:t>Best for:</a:t>
              </a:r>
              <a:endParaRPr b="1" sz="950">
                <a:solidFill>
                  <a:srgbClr val="1E293B"/>
                </a:solidFill>
                <a:latin typeface="Plus Jakarta Sans"/>
                <a:ea typeface="Plus Jakarta Sans"/>
                <a:cs typeface="Plus Jakarta Sans"/>
                <a:sym typeface="Plus Jakarta Sans"/>
              </a:endParaRPr>
            </a:p>
            <a:p>
              <a:pPr indent="0" lvl="0" marL="0" rtl="0" algn="l">
                <a:spcBef>
                  <a:spcPts val="300"/>
                </a:spcBef>
                <a:spcAft>
                  <a:spcPts val="0"/>
                </a:spcAft>
                <a:buNone/>
              </a:pPr>
              <a:r>
                <a:rPr b="0" lang="en-US" sz="950">
                  <a:solidFill>
                    <a:srgbClr val="475569"/>
                  </a:solidFill>
                  <a:latin typeface="Plus Jakarta Sans"/>
                  <a:ea typeface="Plus Jakarta Sans"/>
                  <a:cs typeface="Plus Jakarta Sans"/>
                  <a:sym typeface="Plus Jakarta Sans"/>
                </a:rPr>
                <a:t>Isolated slices of implementation and focused software development tasks.</a:t>
              </a:r>
              <a:endParaRPr b="0" sz="950">
                <a:solidFill>
                  <a:srgbClr val="475569"/>
                </a:solidFill>
                <a:latin typeface="Plus Jakarta Sans"/>
                <a:ea typeface="Plus Jakarta Sans"/>
                <a:cs typeface="Plus Jakarta Sans"/>
                <a:sym typeface="Plus Jakarta Sans"/>
              </a:endParaRPr>
            </a:p>
          </p:txBody>
        </p:sp>
      </p:grpSp>
      <p:pic>
        <p:nvPicPr>
          <p:cNvPr descr="image.png" id="424" name="Google Shape;424;p21"/>
          <p:cNvPicPr preferRelativeResize="0"/>
          <p:nvPr/>
        </p:nvPicPr>
        <p:blipFill rotWithShape="1">
          <a:blip r:embed="rId4">
            <a:alphaModFix/>
          </a:blip>
          <a:srcRect b="0" l="0" r="0" t="0"/>
          <a:stretch/>
        </p:blipFill>
        <p:spPr>
          <a:xfrm>
            <a:off x="571500" y="457200"/>
            <a:ext cx="823168" cy="200025"/>
          </a:xfrm>
          <a:prstGeom prst="rect">
            <a:avLst/>
          </a:prstGeom>
          <a:noFill/>
          <a:ln>
            <a:noFill/>
          </a:ln>
        </p:spPr>
      </p:pic>
      <p:sp>
        <p:nvSpPr>
          <p:cNvPr id="425" name="Google Shape;425;p21"/>
          <p:cNvSpPr txBox="1"/>
          <p:nvPr/>
        </p:nvSpPr>
        <p:spPr>
          <a:xfrm>
            <a:off x="571500" y="381000"/>
            <a:ext cx="11601600" cy="3693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2400" u="none" cap="none" strike="noStrike">
                <a:solidFill>
                  <a:srgbClr val="0F172A"/>
                </a:solidFill>
                <a:latin typeface="Plus Jakarta Sans ExtraBold"/>
                <a:ea typeface="Plus Jakarta Sans ExtraBold"/>
                <a:cs typeface="Plus Jakarta Sans ExtraBold"/>
                <a:sym typeface="Plus Jakarta Sans ExtraBold"/>
              </a:rPr>
              <a:t>Core Tooling Blueprint (Part 2)</a:t>
            </a:r>
            <a:endParaRPr/>
          </a:p>
        </p:txBody>
      </p:sp>
      <p:sp>
        <p:nvSpPr>
          <p:cNvPr id="426" name="Google Shape;426;p21"/>
          <p:cNvSpPr/>
          <p:nvPr/>
        </p:nvSpPr>
        <p:spPr>
          <a:xfrm>
            <a:off x="571500" y="847725"/>
            <a:ext cx="11049000" cy="19200"/>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30" name="Shape 430"/>
        <p:cNvGrpSpPr/>
        <p:nvPr/>
      </p:nvGrpSpPr>
      <p:grpSpPr>
        <a:xfrm>
          <a:off x="0" y="0"/>
          <a:ext cx="0" cy="0"/>
          <a:chOff x="0" y="0"/>
          <a:chExt cx="0" cy="0"/>
        </a:xfrm>
      </p:grpSpPr>
      <p:sp>
        <p:nvSpPr>
          <p:cNvPr id="431" name="Google Shape;431;p22"/>
          <p:cNvSpPr/>
          <p:nvPr/>
        </p:nvSpPr>
        <p:spPr>
          <a:xfrm>
            <a:off x="571500" y="3524250"/>
            <a:ext cx="11049000" cy="2476500"/>
          </a:xfrm>
          <a:prstGeom prst="roundRect">
            <a:avLst>
              <a:gd fmla="val 6153" name="adj"/>
            </a:avLst>
          </a:prstGeom>
          <a:solidFill>
            <a:srgbClr val="F8FAFC"/>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432" name="Google Shape;432;p22"/>
          <p:cNvPicPr preferRelativeResize="0"/>
          <p:nvPr/>
        </p:nvPicPr>
        <p:blipFill rotWithShape="1">
          <a:blip r:embed="rId4">
            <a:alphaModFix/>
          </a:blip>
          <a:srcRect b="15079" l="0" r="0" t="15079"/>
          <a:stretch/>
        </p:blipFill>
        <p:spPr>
          <a:xfrm>
            <a:off x="1795463" y="2181225"/>
            <a:ext cx="8601000" cy="19200"/>
          </a:xfrm>
          <a:prstGeom prst="rect">
            <a:avLst/>
          </a:prstGeom>
          <a:noFill/>
          <a:ln>
            <a:noFill/>
          </a:ln>
        </p:spPr>
      </p:pic>
      <p:pic>
        <p:nvPicPr>
          <p:cNvPr descr="image.png" id="433" name="Google Shape;433;p22"/>
          <p:cNvPicPr preferRelativeResize="0"/>
          <p:nvPr/>
        </p:nvPicPr>
        <p:blipFill rotWithShape="1">
          <a:blip r:embed="rId5">
            <a:alphaModFix/>
          </a:blip>
          <a:srcRect b="0" l="0" r="0" t="0"/>
          <a:stretch/>
        </p:blipFill>
        <p:spPr>
          <a:xfrm>
            <a:off x="571500" y="457200"/>
            <a:ext cx="823168" cy="200025"/>
          </a:xfrm>
          <a:prstGeom prst="rect">
            <a:avLst/>
          </a:prstGeom>
          <a:noFill/>
          <a:ln>
            <a:noFill/>
          </a:ln>
        </p:spPr>
      </p:pic>
      <p:sp>
        <p:nvSpPr>
          <p:cNvPr id="434" name="Google Shape;434;p22"/>
          <p:cNvSpPr txBox="1"/>
          <p:nvPr/>
        </p:nvSpPr>
        <p:spPr>
          <a:xfrm>
            <a:off x="952500" y="3762375"/>
            <a:ext cx="10287000" cy="6696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ctr">
              <a:spcBef>
                <a:spcPts val="0"/>
              </a:spcBef>
              <a:spcAft>
                <a:spcPts val="0"/>
              </a:spcAft>
              <a:buNone/>
            </a:pPr>
            <a:r>
              <a:rPr b="0" i="1" lang="en-US" sz="1450">
                <a:solidFill>
                  <a:srgbClr val="1E293B"/>
                </a:solidFill>
                <a:latin typeface="Plus Jakarta Sans SemiBold"/>
                <a:ea typeface="Plus Jakarta Sans SemiBold"/>
                <a:cs typeface="Plus Jakarta Sans SemiBold"/>
                <a:sym typeface="Plus Jakarta Sans SemiBold"/>
              </a:rPr>
              <a:t>"DeepWiki indexes your repo → Ask Devin explores + plans → Session executes with a Playbook attached → Skills guide repeatable steps → Knowledge provides always-relevant context → Rules enforce project standards throughout."</a:t>
            </a:r>
            <a:endParaRPr b="0" i="1" sz="1450">
              <a:solidFill>
                <a:srgbClr val="1E293B"/>
              </a:solidFill>
              <a:latin typeface="Plus Jakarta Sans SemiBold"/>
              <a:ea typeface="Plus Jakarta Sans SemiBold"/>
              <a:cs typeface="Plus Jakarta Sans SemiBold"/>
              <a:sym typeface="Plus Jakarta Sans SemiBold"/>
            </a:endParaRPr>
          </a:p>
        </p:txBody>
      </p:sp>
      <p:pic>
        <p:nvPicPr>
          <p:cNvPr id="435" name="Google Shape;435;p22"/>
          <p:cNvPicPr preferRelativeResize="0"/>
          <p:nvPr/>
        </p:nvPicPr>
        <p:blipFill rotWithShape="1">
          <a:blip r:embed="rId6">
            <a:alphaModFix/>
          </a:blip>
          <a:srcRect b="0" l="0" r="0" t="0"/>
          <a:stretch/>
        </p:blipFill>
        <p:spPr>
          <a:xfrm>
            <a:off x="1414463" y="1809750"/>
            <a:ext cx="762000" cy="762000"/>
          </a:xfrm>
          <a:prstGeom prst="rect">
            <a:avLst/>
          </a:prstGeom>
          <a:noFill/>
          <a:ln>
            <a:noFill/>
          </a:ln>
        </p:spPr>
      </p:pic>
      <p:sp>
        <p:nvSpPr>
          <p:cNvPr id="436" name="Google Shape;436;p22"/>
          <p:cNvSpPr txBox="1"/>
          <p:nvPr/>
        </p:nvSpPr>
        <p:spPr>
          <a:xfrm>
            <a:off x="1095375" y="2714625"/>
            <a:ext cx="1400100" cy="1770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ctr">
              <a:spcBef>
                <a:spcPts val="0"/>
              </a:spcBef>
              <a:spcAft>
                <a:spcPts val="0"/>
              </a:spcAft>
              <a:buNone/>
            </a:pPr>
            <a:r>
              <a:rPr b="1" lang="en-US" sz="1150">
                <a:solidFill>
                  <a:srgbClr val="0F172A"/>
                </a:solidFill>
                <a:latin typeface="Plus Jakarta Sans"/>
                <a:ea typeface="Plus Jakarta Sans"/>
                <a:cs typeface="Plus Jakarta Sans"/>
                <a:sym typeface="Plus Jakarta Sans"/>
              </a:rPr>
              <a:t>1. DeepWiki</a:t>
            </a:r>
            <a:endParaRPr b="1" sz="1150">
              <a:solidFill>
                <a:srgbClr val="0F172A"/>
              </a:solidFill>
              <a:latin typeface="Plus Jakarta Sans"/>
              <a:ea typeface="Plus Jakarta Sans"/>
              <a:cs typeface="Plus Jakarta Sans"/>
              <a:sym typeface="Plus Jakarta Sans"/>
            </a:endParaRPr>
          </a:p>
        </p:txBody>
      </p:sp>
      <p:sp>
        <p:nvSpPr>
          <p:cNvPr id="437" name="Google Shape;437;p22"/>
          <p:cNvSpPr txBox="1"/>
          <p:nvPr/>
        </p:nvSpPr>
        <p:spPr>
          <a:xfrm>
            <a:off x="1095375" y="2943225"/>
            <a:ext cx="1400100" cy="1461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ctr">
              <a:spcBef>
                <a:spcPts val="0"/>
              </a:spcBef>
              <a:spcAft>
                <a:spcPts val="0"/>
              </a:spcAft>
              <a:buNone/>
            </a:pPr>
            <a:r>
              <a:rPr b="0" lang="en-US" sz="950">
                <a:solidFill>
                  <a:srgbClr val="64748B"/>
                </a:solidFill>
                <a:latin typeface="Plus Jakarta Sans Medium"/>
                <a:ea typeface="Plus Jakarta Sans Medium"/>
                <a:cs typeface="Plus Jakarta Sans Medium"/>
                <a:sym typeface="Plus Jakarta Sans Medium"/>
              </a:rPr>
              <a:t>Indexes Repo</a:t>
            </a:r>
            <a:endParaRPr b="0" sz="950">
              <a:solidFill>
                <a:srgbClr val="64748B"/>
              </a:solidFill>
              <a:latin typeface="Plus Jakarta Sans Medium"/>
              <a:ea typeface="Plus Jakarta Sans Medium"/>
              <a:cs typeface="Plus Jakarta Sans Medium"/>
              <a:sym typeface="Plus Jakarta Sans Medium"/>
            </a:endParaRPr>
          </a:p>
        </p:txBody>
      </p:sp>
      <p:pic>
        <p:nvPicPr>
          <p:cNvPr id="438" name="Google Shape;438;p22"/>
          <p:cNvPicPr preferRelativeResize="0"/>
          <p:nvPr/>
        </p:nvPicPr>
        <p:blipFill rotWithShape="1">
          <a:blip r:embed="rId7">
            <a:alphaModFix/>
          </a:blip>
          <a:srcRect b="0" l="0" r="0" t="0"/>
          <a:stretch/>
        </p:blipFill>
        <p:spPr>
          <a:xfrm>
            <a:off x="3134678" y="1809750"/>
            <a:ext cx="762000" cy="762000"/>
          </a:xfrm>
          <a:prstGeom prst="rect">
            <a:avLst/>
          </a:prstGeom>
          <a:noFill/>
          <a:ln>
            <a:noFill/>
          </a:ln>
        </p:spPr>
      </p:pic>
      <p:sp>
        <p:nvSpPr>
          <p:cNvPr id="439" name="Google Shape;439;p22"/>
          <p:cNvSpPr txBox="1"/>
          <p:nvPr/>
        </p:nvSpPr>
        <p:spPr>
          <a:xfrm>
            <a:off x="2815590" y="2714625"/>
            <a:ext cx="1400100" cy="1770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ctr">
              <a:spcBef>
                <a:spcPts val="0"/>
              </a:spcBef>
              <a:spcAft>
                <a:spcPts val="0"/>
              </a:spcAft>
              <a:buNone/>
            </a:pPr>
            <a:r>
              <a:rPr b="1" lang="en-US" sz="1150">
                <a:solidFill>
                  <a:srgbClr val="0F172A"/>
                </a:solidFill>
                <a:latin typeface="Plus Jakarta Sans"/>
                <a:ea typeface="Plus Jakarta Sans"/>
                <a:cs typeface="Plus Jakarta Sans"/>
                <a:sym typeface="Plus Jakarta Sans"/>
              </a:rPr>
              <a:t>2. Ask Devin</a:t>
            </a:r>
            <a:endParaRPr b="1" sz="1150">
              <a:solidFill>
                <a:srgbClr val="0F172A"/>
              </a:solidFill>
              <a:latin typeface="Plus Jakarta Sans"/>
              <a:ea typeface="Plus Jakarta Sans"/>
              <a:cs typeface="Plus Jakarta Sans"/>
              <a:sym typeface="Plus Jakarta Sans"/>
            </a:endParaRPr>
          </a:p>
        </p:txBody>
      </p:sp>
      <p:sp>
        <p:nvSpPr>
          <p:cNvPr id="440" name="Google Shape;440;p22"/>
          <p:cNvSpPr txBox="1"/>
          <p:nvPr/>
        </p:nvSpPr>
        <p:spPr>
          <a:xfrm>
            <a:off x="2815590" y="2943225"/>
            <a:ext cx="1400100" cy="1461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ctr">
              <a:spcBef>
                <a:spcPts val="0"/>
              </a:spcBef>
              <a:spcAft>
                <a:spcPts val="0"/>
              </a:spcAft>
              <a:buNone/>
            </a:pPr>
            <a:r>
              <a:rPr b="0" lang="en-US" sz="950">
                <a:solidFill>
                  <a:srgbClr val="64748B"/>
                </a:solidFill>
                <a:latin typeface="Plus Jakarta Sans Medium"/>
                <a:ea typeface="Plus Jakarta Sans Medium"/>
                <a:cs typeface="Plus Jakarta Sans Medium"/>
                <a:sym typeface="Plus Jakarta Sans Medium"/>
              </a:rPr>
              <a:t>Explores &amp; Plans</a:t>
            </a:r>
            <a:endParaRPr b="0" sz="950">
              <a:solidFill>
                <a:srgbClr val="64748B"/>
              </a:solidFill>
              <a:latin typeface="Plus Jakarta Sans Medium"/>
              <a:ea typeface="Plus Jakarta Sans Medium"/>
              <a:cs typeface="Plus Jakarta Sans Medium"/>
              <a:sym typeface="Plus Jakarta Sans Medium"/>
            </a:endParaRPr>
          </a:p>
        </p:txBody>
      </p:sp>
      <p:pic>
        <p:nvPicPr>
          <p:cNvPr id="441" name="Google Shape;441;p22"/>
          <p:cNvPicPr preferRelativeResize="0"/>
          <p:nvPr/>
        </p:nvPicPr>
        <p:blipFill rotWithShape="1">
          <a:blip r:embed="rId8">
            <a:alphaModFix/>
          </a:blip>
          <a:srcRect b="0" l="0" r="0" t="0"/>
          <a:stretch/>
        </p:blipFill>
        <p:spPr>
          <a:xfrm>
            <a:off x="4854893" y="1809750"/>
            <a:ext cx="762000" cy="762000"/>
          </a:xfrm>
          <a:prstGeom prst="rect">
            <a:avLst/>
          </a:prstGeom>
          <a:noFill/>
          <a:ln>
            <a:noFill/>
          </a:ln>
        </p:spPr>
      </p:pic>
      <p:sp>
        <p:nvSpPr>
          <p:cNvPr id="442" name="Google Shape;442;p22"/>
          <p:cNvSpPr txBox="1"/>
          <p:nvPr/>
        </p:nvSpPr>
        <p:spPr>
          <a:xfrm>
            <a:off x="4535805" y="2714625"/>
            <a:ext cx="1400100" cy="1770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ctr">
              <a:spcBef>
                <a:spcPts val="0"/>
              </a:spcBef>
              <a:spcAft>
                <a:spcPts val="0"/>
              </a:spcAft>
              <a:buNone/>
            </a:pPr>
            <a:r>
              <a:rPr b="1" lang="en-US" sz="1150">
                <a:solidFill>
                  <a:srgbClr val="0F172A"/>
                </a:solidFill>
                <a:latin typeface="Plus Jakarta Sans"/>
                <a:ea typeface="Plus Jakarta Sans"/>
                <a:cs typeface="Plus Jakarta Sans"/>
                <a:sym typeface="Plus Jakarta Sans"/>
              </a:rPr>
              <a:t>3. Session</a:t>
            </a:r>
            <a:endParaRPr b="1" sz="1150">
              <a:solidFill>
                <a:srgbClr val="0F172A"/>
              </a:solidFill>
              <a:latin typeface="Plus Jakarta Sans"/>
              <a:ea typeface="Plus Jakarta Sans"/>
              <a:cs typeface="Plus Jakarta Sans"/>
              <a:sym typeface="Plus Jakarta Sans"/>
            </a:endParaRPr>
          </a:p>
        </p:txBody>
      </p:sp>
      <p:sp>
        <p:nvSpPr>
          <p:cNvPr id="443" name="Google Shape;443;p22"/>
          <p:cNvSpPr txBox="1"/>
          <p:nvPr/>
        </p:nvSpPr>
        <p:spPr>
          <a:xfrm>
            <a:off x="4535805" y="2943225"/>
            <a:ext cx="1400100" cy="1461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ctr">
              <a:spcBef>
                <a:spcPts val="0"/>
              </a:spcBef>
              <a:spcAft>
                <a:spcPts val="0"/>
              </a:spcAft>
              <a:buNone/>
            </a:pPr>
            <a:r>
              <a:rPr b="0" lang="en-US" sz="950">
                <a:solidFill>
                  <a:srgbClr val="64748B"/>
                </a:solidFill>
                <a:latin typeface="Plus Jakarta Sans Medium"/>
                <a:ea typeface="Plus Jakarta Sans Medium"/>
                <a:cs typeface="Plus Jakarta Sans Medium"/>
                <a:sym typeface="Plus Jakarta Sans Medium"/>
              </a:rPr>
              <a:t>Executes Task</a:t>
            </a:r>
            <a:endParaRPr b="0" sz="950">
              <a:solidFill>
                <a:srgbClr val="64748B"/>
              </a:solidFill>
              <a:latin typeface="Plus Jakarta Sans Medium"/>
              <a:ea typeface="Plus Jakarta Sans Medium"/>
              <a:cs typeface="Plus Jakarta Sans Medium"/>
              <a:sym typeface="Plus Jakarta Sans Medium"/>
            </a:endParaRPr>
          </a:p>
        </p:txBody>
      </p:sp>
      <p:pic>
        <p:nvPicPr>
          <p:cNvPr id="444" name="Google Shape;444;p22"/>
          <p:cNvPicPr preferRelativeResize="0"/>
          <p:nvPr/>
        </p:nvPicPr>
        <p:blipFill rotWithShape="1">
          <a:blip r:embed="rId9">
            <a:alphaModFix/>
          </a:blip>
          <a:srcRect b="0" l="0" r="0" t="0"/>
          <a:stretch/>
        </p:blipFill>
        <p:spPr>
          <a:xfrm>
            <a:off x="6575108" y="1809750"/>
            <a:ext cx="762000" cy="762000"/>
          </a:xfrm>
          <a:prstGeom prst="rect">
            <a:avLst/>
          </a:prstGeom>
          <a:noFill/>
          <a:ln>
            <a:noFill/>
          </a:ln>
        </p:spPr>
      </p:pic>
      <p:sp>
        <p:nvSpPr>
          <p:cNvPr id="445" name="Google Shape;445;p22"/>
          <p:cNvSpPr txBox="1"/>
          <p:nvPr/>
        </p:nvSpPr>
        <p:spPr>
          <a:xfrm>
            <a:off x="6256020" y="2714625"/>
            <a:ext cx="1400100" cy="1770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ctr">
              <a:spcBef>
                <a:spcPts val="0"/>
              </a:spcBef>
              <a:spcAft>
                <a:spcPts val="0"/>
              </a:spcAft>
              <a:buNone/>
            </a:pPr>
            <a:r>
              <a:rPr b="1" lang="en-US" sz="1150">
                <a:solidFill>
                  <a:srgbClr val="0F172A"/>
                </a:solidFill>
                <a:latin typeface="Plus Jakarta Sans"/>
                <a:ea typeface="Plus Jakarta Sans"/>
                <a:cs typeface="Plus Jakarta Sans"/>
                <a:sym typeface="Plus Jakarta Sans"/>
              </a:rPr>
              <a:t>4. Playbook</a:t>
            </a:r>
            <a:endParaRPr b="1" sz="1150">
              <a:solidFill>
                <a:srgbClr val="0F172A"/>
              </a:solidFill>
              <a:latin typeface="Plus Jakarta Sans"/>
              <a:ea typeface="Plus Jakarta Sans"/>
              <a:cs typeface="Plus Jakarta Sans"/>
              <a:sym typeface="Plus Jakarta Sans"/>
            </a:endParaRPr>
          </a:p>
        </p:txBody>
      </p:sp>
      <p:sp>
        <p:nvSpPr>
          <p:cNvPr id="446" name="Google Shape;446;p22"/>
          <p:cNvSpPr txBox="1"/>
          <p:nvPr/>
        </p:nvSpPr>
        <p:spPr>
          <a:xfrm>
            <a:off x="6256020" y="2943225"/>
            <a:ext cx="1400100" cy="1461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ctr">
              <a:spcBef>
                <a:spcPts val="0"/>
              </a:spcBef>
              <a:spcAft>
                <a:spcPts val="0"/>
              </a:spcAft>
              <a:buNone/>
            </a:pPr>
            <a:r>
              <a:rPr b="0" lang="en-US" sz="950">
                <a:solidFill>
                  <a:srgbClr val="64748B"/>
                </a:solidFill>
                <a:latin typeface="Plus Jakarta Sans Medium"/>
                <a:ea typeface="Plus Jakarta Sans Medium"/>
                <a:cs typeface="Plus Jakarta Sans Medium"/>
                <a:sym typeface="Plus Jakarta Sans Medium"/>
              </a:rPr>
              <a:t>Sets Blueprint</a:t>
            </a:r>
            <a:endParaRPr b="0" sz="950">
              <a:solidFill>
                <a:srgbClr val="64748B"/>
              </a:solidFill>
              <a:latin typeface="Plus Jakarta Sans Medium"/>
              <a:ea typeface="Plus Jakarta Sans Medium"/>
              <a:cs typeface="Plus Jakarta Sans Medium"/>
              <a:sym typeface="Plus Jakarta Sans Medium"/>
            </a:endParaRPr>
          </a:p>
        </p:txBody>
      </p:sp>
      <p:pic>
        <p:nvPicPr>
          <p:cNvPr id="447" name="Google Shape;447;p22"/>
          <p:cNvPicPr preferRelativeResize="0"/>
          <p:nvPr/>
        </p:nvPicPr>
        <p:blipFill rotWithShape="1">
          <a:blip r:embed="rId10">
            <a:alphaModFix/>
          </a:blip>
          <a:srcRect b="0" l="0" r="0" t="0"/>
          <a:stretch/>
        </p:blipFill>
        <p:spPr>
          <a:xfrm>
            <a:off x="8295323" y="1809750"/>
            <a:ext cx="762000" cy="762000"/>
          </a:xfrm>
          <a:prstGeom prst="rect">
            <a:avLst/>
          </a:prstGeom>
          <a:noFill/>
          <a:ln>
            <a:noFill/>
          </a:ln>
        </p:spPr>
      </p:pic>
      <p:sp>
        <p:nvSpPr>
          <p:cNvPr id="448" name="Google Shape;448;p22"/>
          <p:cNvSpPr txBox="1"/>
          <p:nvPr/>
        </p:nvSpPr>
        <p:spPr>
          <a:xfrm>
            <a:off x="7976235" y="2714625"/>
            <a:ext cx="1400100" cy="1770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ctr">
              <a:spcBef>
                <a:spcPts val="0"/>
              </a:spcBef>
              <a:spcAft>
                <a:spcPts val="0"/>
              </a:spcAft>
              <a:buNone/>
            </a:pPr>
            <a:r>
              <a:rPr b="1" lang="en-US" sz="1150">
                <a:solidFill>
                  <a:srgbClr val="0F172A"/>
                </a:solidFill>
                <a:latin typeface="Plus Jakarta Sans"/>
                <a:ea typeface="Plus Jakarta Sans"/>
                <a:cs typeface="Plus Jakarta Sans"/>
                <a:sym typeface="Plus Jakarta Sans"/>
              </a:rPr>
              <a:t>5. Skills</a:t>
            </a:r>
            <a:endParaRPr b="1" sz="1150">
              <a:solidFill>
                <a:srgbClr val="0F172A"/>
              </a:solidFill>
              <a:latin typeface="Plus Jakarta Sans"/>
              <a:ea typeface="Plus Jakarta Sans"/>
              <a:cs typeface="Plus Jakarta Sans"/>
              <a:sym typeface="Plus Jakarta Sans"/>
            </a:endParaRPr>
          </a:p>
        </p:txBody>
      </p:sp>
      <p:sp>
        <p:nvSpPr>
          <p:cNvPr id="449" name="Google Shape;449;p22"/>
          <p:cNvSpPr txBox="1"/>
          <p:nvPr/>
        </p:nvSpPr>
        <p:spPr>
          <a:xfrm>
            <a:off x="7976235" y="2943225"/>
            <a:ext cx="1400100" cy="1461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ctr">
              <a:spcBef>
                <a:spcPts val="0"/>
              </a:spcBef>
              <a:spcAft>
                <a:spcPts val="0"/>
              </a:spcAft>
              <a:buNone/>
            </a:pPr>
            <a:r>
              <a:rPr b="0" lang="en-US" sz="950">
                <a:solidFill>
                  <a:srgbClr val="64748B"/>
                </a:solidFill>
                <a:latin typeface="Plus Jakarta Sans Medium"/>
                <a:ea typeface="Plus Jakarta Sans Medium"/>
                <a:cs typeface="Plus Jakarta Sans Medium"/>
                <a:sym typeface="Plus Jakarta Sans Medium"/>
              </a:rPr>
              <a:t>Guides Flow</a:t>
            </a:r>
            <a:endParaRPr b="0" sz="950">
              <a:solidFill>
                <a:srgbClr val="64748B"/>
              </a:solidFill>
              <a:latin typeface="Plus Jakarta Sans Medium"/>
              <a:ea typeface="Plus Jakarta Sans Medium"/>
              <a:cs typeface="Plus Jakarta Sans Medium"/>
              <a:sym typeface="Plus Jakarta Sans Medium"/>
            </a:endParaRPr>
          </a:p>
        </p:txBody>
      </p:sp>
      <p:pic>
        <p:nvPicPr>
          <p:cNvPr id="450" name="Google Shape;450;p22"/>
          <p:cNvPicPr preferRelativeResize="0"/>
          <p:nvPr/>
        </p:nvPicPr>
        <p:blipFill rotWithShape="1">
          <a:blip r:embed="rId11">
            <a:alphaModFix/>
          </a:blip>
          <a:srcRect b="0" l="0" r="0" t="0"/>
          <a:stretch/>
        </p:blipFill>
        <p:spPr>
          <a:xfrm>
            <a:off x="10015538" y="1809750"/>
            <a:ext cx="762000" cy="762000"/>
          </a:xfrm>
          <a:prstGeom prst="rect">
            <a:avLst/>
          </a:prstGeom>
          <a:noFill/>
          <a:ln>
            <a:noFill/>
          </a:ln>
        </p:spPr>
      </p:pic>
      <p:sp>
        <p:nvSpPr>
          <p:cNvPr id="451" name="Google Shape;451;p22"/>
          <p:cNvSpPr txBox="1"/>
          <p:nvPr/>
        </p:nvSpPr>
        <p:spPr>
          <a:xfrm>
            <a:off x="9696450" y="2714625"/>
            <a:ext cx="1400100" cy="1770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ctr">
              <a:spcBef>
                <a:spcPts val="0"/>
              </a:spcBef>
              <a:spcAft>
                <a:spcPts val="0"/>
              </a:spcAft>
              <a:buNone/>
            </a:pPr>
            <a:r>
              <a:rPr b="1" lang="en-US" sz="1150">
                <a:solidFill>
                  <a:srgbClr val="0F172A"/>
                </a:solidFill>
                <a:latin typeface="Plus Jakarta Sans"/>
                <a:ea typeface="Plus Jakarta Sans"/>
                <a:cs typeface="Plus Jakarta Sans"/>
                <a:sym typeface="Plus Jakarta Sans"/>
              </a:rPr>
              <a:t>6. Rules</a:t>
            </a:r>
            <a:endParaRPr b="1" sz="1150">
              <a:solidFill>
                <a:srgbClr val="0F172A"/>
              </a:solidFill>
              <a:latin typeface="Plus Jakarta Sans"/>
              <a:ea typeface="Plus Jakarta Sans"/>
              <a:cs typeface="Plus Jakarta Sans"/>
              <a:sym typeface="Plus Jakarta Sans"/>
            </a:endParaRPr>
          </a:p>
        </p:txBody>
      </p:sp>
      <p:sp>
        <p:nvSpPr>
          <p:cNvPr id="452" name="Google Shape;452;p22"/>
          <p:cNvSpPr txBox="1"/>
          <p:nvPr/>
        </p:nvSpPr>
        <p:spPr>
          <a:xfrm>
            <a:off x="9696450" y="2943225"/>
            <a:ext cx="1400100" cy="1461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ctr">
              <a:spcBef>
                <a:spcPts val="0"/>
              </a:spcBef>
              <a:spcAft>
                <a:spcPts val="0"/>
              </a:spcAft>
              <a:buNone/>
            </a:pPr>
            <a:r>
              <a:rPr b="0" lang="en-US" sz="950">
                <a:solidFill>
                  <a:srgbClr val="64748B"/>
                </a:solidFill>
                <a:latin typeface="Plus Jakarta Sans Medium"/>
                <a:ea typeface="Plus Jakarta Sans Medium"/>
                <a:cs typeface="Plus Jakarta Sans Medium"/>
                <a:sym typeface="Plus Jakarta Sans Medium"/>
              </a:rPr>
              <a:t>Enforces Standard</a:t>
            </a:r>
            <a:endParaRPr b="0" sz="950">
              <a:solidFill>
                <a:srgbClr val="64748B"/>
              </a:solidFill>
              <a:latin typeface="Plus Jakarta Sans Medium"/>
              <a:ea typeface="Plus Jakarta Sans Medium"/>
              <a:cs typeface="Plus Jakarta Sans Medium"/>
              <a:sym typeface="Plus Jakarta Sans Medium"/>
            </a:endParaRPr>
          </a:p>
        </p:txBody>
      </p:sp>
      <p:pic>
        <p:nvPicPr>
          <p:cNvPr id="453" name="Google Shape;453;p22"/>
          <p:cNvPicPr preferRelativeResize="0"/>
          <p:nvPr/>
        </p:nvPicPr>
        <p:blipFill rotWithShape="1">
          <a:blip r:embed="rId12">
            <a:alphaModFix/>
          </a:blip>
          <a:srcRect b="10248" l="0" r="0" t="10248"/>
          <a:stretch/>
        </p:blipFill>
        <p:spPr>
          <a:xfrm>
            <a:off x="2352675" y="4714875"/>
            <a:ext cx="1005900" cy="295200"/>
          </a:xfrm>
          <a:prstGeom prst="rect">
            <a:avLst/>
          </a:prstGeom>
          <a:noFill/>
          <a:ln>
            <a:noFill/>
          </a:ln>
        </p:spPr>
      </p:pic>
      <p:pic>
        <p:nvPicPr>
          <p:cNvPr id="454" name="Google Shape;454;p22"/>
          <p:cNvPicPr preferRelativeResize="0"/>
          <p:nvPr/>
        </p:nvPicPr>
        <p:blipFill rotWithShape="1">
          <a:blip r:embed="rId13">
            <a:alphaModFix/>
          </a:blip>
          <a:srcRect b="8506" l="0" r="0" t="8506"/>
          <a:stretch/>
        </p:blipFill>
        <p:spPr>
          <a:xfrm>
            <a:off x="3543300" y="4714875"/>
            <a:ext cx="1260300" cy="295200"/>
          </a:xfrm>
          <a:prstGeom prst="rect">
            <a:avLst/>
          </a:prstGeom>
          <a:noFill/>
          <a:ln>
            <a:noFill/>
          </a:ln>
        </p:spPr>
      </p:pic>
      <p:pic>
        <p:nvPicPr>
          <p:cNvPr id="455" name="Google Shape;455;p22"/>
          <p:cNvPicPr preferRelativeResize="0"/>
          <p:nvPr/>
        </p:nvPicPr>
        <p:blipFill rotWithShape="1">
          <a:blip r:embed="rId14">
            <a:alphaModFix/>
          </a:blip>
          <a:srcRect b="5932" l="0" r="0" t="5932"/>
          <a:stretch/>
        </p:blipFill>
        <p:spPr>
          <a:xfrm>
            <a:off x="4991100" y="4714875"/>
            <a:ext cx="2024100" cy="295200"/>
          </a:xfrm>
          <a:prstGeom prst="rect">
            <a:avLst/>
          </a:prstGeom>
          <a:noFill/>
          <a:ln>
            <a:noFill/>
          </a:ln>
        </p:spPr>
      </p:pic>
      <p:pic>
        <p:nvPicPr>
          <p:cNvPr id="456" name="Google Shape;456;p22"/>
          <p:cNvPicPr preferRelativeResize="0"/>
          <p:nvPr/>
        </p:nvPicPr>
        <p:blipFill rotWithShape="1">
          <a:blip r:embed="rId15">
            <a:alphaModFix/>
          </a:blip>
          <a:srcRect b="8506" l="0" r="0" t="8506"/>
          <a:stretch/>
        </p:blipFill>
        <p:spPr>
          <a:xfrm>
            <a:off x="7200900" y="4714875"/>
            <a:ext cx="1260300" cy="295200"/>
          </a:xfrm>
          <a:prstGeom prst="rect">
            <a:avLst/>
          </a:prstGeom>
          <a:noFill/>
          <a:ln>
            <a:noFill/>
          </a:ln>
        </p:spPr>
      </p:pic>
      <p:pic>
        <p:nvPicPr>
          <p:cNvPr id="457" name="Google Shape;457;p22"/>
          <p:cNvPicPr preferRelativeResize="0"/>
          <p:nvPr/>
        </p:nvPicPr>
        <p:blipFill rotWithShape="1">
          <a:blip r:embed="rId16">
            <a:alphaModFix/>
          </a:blip>
          <a:srcRect b="9177" l="0" r="0" t="9177"/>
          <a:stretch/>
        </p:blipFill>
        <p:spPr>
          <a:xfrm>
            <a:off x="8648700" y="4714875"/>
            <a:ext cx="1175400" cy="295200"/>
          </a:xfrm>
          <a:prstGeom prst="rect">
            <a:avLst/>
          </a:prstGeom>
          <a:noFill/>
          <a:ln>
            <a:noFill/>
          </a:ln>
        </p:spPr>
      </p:pic>
      <p:pic>
        <p:nvPicPr>
          <p:cNvPr id="458" name="Google Shape;458;p22"/>
          <p:cNvPicPr preferRelativeResize="0"/>
          <p:nvPr/>
        </p:nvPicPr>
        <p:blipFill rotWithShape="1">
          <a:blip r:embed="rId17">
            <a:alphaModFix/>
          </a:blip>
          <a:srcRect b="0" l="80" r="80" t="0"/>
          <a:stretch/>
        </p:blipFill>
        <p:spPr>
          <a:xfrm>
            <a:off x="1643063" y="2052638"/>
            <a:ext cx="304800" cy="276300"/>
          </a:xfrm>
          <a:prstGeom prst="rect">
            <a:avLst/>
          </a:prstGeom>
          <a:noFill/>
          <a:ln>
            <a:noFill/>
          </a:ln>
        </p:spPr>
      </p:pic>
      <p:pic>
        <p:nvPicPr>
          <p:cNvPr id="459" name="Google Shape;459;p22"/>
          <p:cNvPicPr preferRelativeResize="0"/>
          <p:nvPr/>
        </p:nvPicPr>
        <p:blipFill rotWithShape="1">
          <a:blip r:embed="rId18">
            <a:alphaModFix/>
          </a:blip>
          <a:srcRect b="0" l="6325" r="6316" t="0"/>
          <a:stretch/>
        </p:blipFill>
        <p:spPr>
          <a:xfrm>
            <a:off x="3363278" y="2052638"/>
            <a:ext cx="304800" cy="276300"/>
          </a:xfrm>
          <a:prstGeom prst="rect">
            <a:avLst/>
          </a:prstGeom>
          <a:noFill/>
          <a:ln>
            <a:noFill/>
          </a:ln>
        </p:spPr>
      </p:pic>
      <p:pic>
        <p:nvPicPr>
          <p:cNvPr id="460" name="Google Shape;460;p22"/>
          <p:cNvPicPr preferRelativeResize="0"/>
          <p:nvPr/>
        </p:nvPicPr>
        <p:blipFill rotWithShape="1">
          <a:blip r:embed="rId19">
            <a:alphaModFix/>
          </a:blip>
          <a:srcRect b="0" l="6325" r="6316" t="0"/>
          <a:stretch/>
        </p:blipFill>
        <p:spPr>
          <a:xfrm>
            <a:off x="5083493" y="2052638"/>
            <a:ext cx="304800" cy="276300"/>
          </a:xfrm>
          <a:prstGeom prst="rect">
            <a:avLst/>
          </a:prstGeom>
          <a:noFill/>
          <a:ln>
            <a:noFill/>
          </a:ln>
        </p:spPr>
      </p:pic>
      <p:pic>
        <p:nvPicPr>
          <p:cNvPr id="461" name="Google Shape;461;p22"/>
          <p:cNvPicPr preferRelativeResize="0"/>
          <p:nvPr/>
        </p:nvPicPr>
        <p:blipFill rotWithShape="1">
          <a:blip r:embed="rId20">
            <a:alphaModFix/>
          </a:blip>
          <a:srcRect b="14223" l="0" r="0" t="14231"/>
          <a:stretch/>
        </p:blipFill>
        <p:spPr>
          <a:xfrm>
            <a:off x="6803708" y="2052638"/>
            <a:ext cx="304800" cy="276300"/>
          </a:xfrm>
          <a:prstGeom prst="rect">
            <a:avLst/>
          </a:prstGeom>
          <a:noFill/>
          <a:ln>
            <a:noFill/>
          </a:ln>
        </p:spPr>
      </p:pic>
      <p:pic>
        <p:nvPicPr>
          <p:cNvPr id="462" name="Google Shape;462;p22"/>
          <p:cNvPicPr preferRelativeResize="0"/>
          <p:nvPr/>
        </p:nvPicPr>
        <p:blipFill rotWithShape="1">
          <a:blip r:embed="rId21">
            <a:alphaModFix/>
          </a:blip>
          <a:srcRect b="4686" l="0" r="0" t="4686"/>
          <a:stretch/>
        </p:blipFill>
        <p:spPr>
          <a:xfrm>
            <a:off x="8523923" y="2052638"/>
            <a:ext cx="304800" cy="276300"/>
          </a:xfrm>
          <a:prstGeom prst="rect">
            <a:avLst/>
          </a:prstGeom>
          <a:noFill/>
          <a:ln>
            <a:noFill/>
          </a:ln>
        </p:spPr>
      </p:pic>
      <p:pic>
        <p:nvPicPr>
          <p:cNvPr id="463" name="Google Shape;463;p22"/>
          <p:cNvPicPr preferRelativeResize="0"/>
          <p:nvPr/>
        </p:nvPicPr>
        <p:blipFill rotWithShape="1">
          <a:blip r:embed="rId22">
            <a:alphaModFix/>
          </a:blip>
          <a:srcRect b="0" l="6325" r="6316" t="0"/>
          <a:stretch/>
        </p:blipFill>
        <p:spPr>
          <a:xfrm>
            <a:off x="10244138" y="2052638"/>
            <a:ext cx="304800" cy="276300"/>
          </a:xfrm>
          <a:prstGeom prst="rect">
            <a:avLst/>
          </a:prstGeom>
          <a:noFill/>
          <a:ln>
            <a:noFill/>
          </a:ln>
        </p:spPr>
      </p:pic>
      <p:pic>
        <p:nvPicPr>
          <p:cNvPr id="464" name="Google Shape;464;p22"/>
          <p:cNvPicPr preferRelativeResize="0"/>
          <p:nvPr/>
        </p:nvPicPr>
        <p:blipFill rotWithShape="1">
          <a:blip r:embed="rId23">
            <a:alphaModFix/>
          </a:blip>
          <a:srcRect b="651" l="0" r="0" t="661"/>
          <a:stretch/>
        </p:blipFill>
        <p:spPr>
          <a:xfrm>
            <a:off x="2466975" y="4791075"/>
            <a:ext cx="180900" cy="142800"/>
          </a:xfrm>
          <a:prstGeom prst="rect">
            <a:avLst/>
          </a:prstGeom>
          <a:noFill/>
          <a:ln>
            <a:noFill/>
          </a:ln>
        </p:spPr>
      </p:pic>
      <p:pic>
        <p:nvPicPr>
          <p:cNvPr id="465" name="Google Shape;465;p22"/>
          <p:cNvPicPr preferRelativeResize="0"/>
          <p:nvPr/>
        </p:nvPicPr>
        <p:blipFill rotWithShape="1">
          <a:blip r:embed="rId24">
            <a:alphaModFix/>
          </a:blip>
          <a:srcRect b="651" l="0" r="0" t="661"/>
          <a:stretch/>
        </p:blipFill>
        <p:spPr>
          <a:xfrm>
            <a:off x="3657600" y="4791075"/>
            <a:ext cx="180900" cy="142800"/>
          </a:xfrm>
          <a:prstGeom prst="rect">
            <a:avLst/>
          </a:prstGeom>
          <a:noFill/>
          <a:ln>
            <a:noFill/>
          </a:ln>
        </p:spPr>
      </p:pic>
      <p:pic>
        <p:nvPicPr>
          <p:cNvPr id="466" name="Google Shape;466;p22"/>
          <p:cNvPicPr preferRelativeResize="0"/>
          <p:nvPr/>
        </p:nvPicPr>
        <p:blipFill rotWithShape="1">
          <a:blip r:embed="rId25">
            <a:alphaModFix/>
          </a:blip>
          <a:srcRect b="651" l="0" r="0" t="661"/>
          <a:stretch/>
        </p:blipFill>
        <p:spPr>
          <a:xfrm>
            <a:off x="5105400" y="4791075"/>
            <a:ext cx="180900" cy="142800"/>
          </a:xfrm>
          <a:prstGeom prst="rect">
            <a:avLst/>
          </a:prstGeom>
          <a:noFill/>
          <a:ln>
            <a:noFill/>
          </a:ln>
        </p:spPr>
      </p:pic>
      <p:pic>
        <p:nvPicPr>
          <p:cNvPr id="467" name="Google Shape;467;p22"/>
          <p:cNvPicPr preferRelativeResize="0"/>
          <p:nvPr/>
        </p:nvPicPr>
        <p:blipFill rotWithShape="1">
          <a:blip r:embed="rId26">
            <a:alphaModFix/>
          </a:blip>
          <a:srcRect b="651" l="0" r="0" t="661"/>
          <a:stretch/>
        </p:blipFill>
        <p:spPr>
          <a:xfrm>
            <a:off x="7315200" y="4791075"/>
            <a:ext cx="180900" cy="142800"/>
          </a:xfrm>
          <a:prstGeom prst="rect">
            <a:avLst/>
          </a:prstGeom>
          <a:noFill/>
          <a:ln>
            <a:noFill/>
          </a:ln>
        </p:spPr>
      </p:pic>
      <p:pic>
        <p:nvPicPr>
          <p:cNvPr id="468" name="Google Shape;468;p22"/>
          <p:cNvPicPr preferRelativeResize="0"/>
          <p:nvPr/>
        </p:nvPicPr>
        <p:blipFill rotWithShape="1">
          <a:blip r:embed="rId27">
            <a:alphaModFix/>
          </a:blip>
          <a:srcRect b="651" l="0" r="0" t="661"/>
          <a:stretch/>
        </p:blipFill>
        <p:spPr>
          <a:xfrm>
            <a:off x="8763000" y="4791075"/>
            <a:ext cx="180900" cy="142800"/>
          </a:xfrm>
          <a:prstGeom prst="rect">
            <a:avLst/>
          </a:prstGeom>
          <a:noFill/>
          <a:ln>
            <a:noFill/>
          </a:ln>
        </p:spPr>
      </p:pic>
      <p:sp>
        <p:nvSpPr>
          <p:cNvPr id="469" name="Google Shape;469;p22"/>
          <p:cNvSpPr txBox="1"/>
          <p:nvPr/>
        </p:nvSpPr>
        <p:spPr>
          <a:xfrm>
            <a:off x="571500" y="381000"/>
            <a:ext cx="11601600" cy="3693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2400" u="none" cap="none" strike="noStrike">
                <a:solidFill>
                  <a:srgbClr val="0F172A"/>
                </a:solidFill>
                <a:latin typeface="Plus Jakarta Sans ExtraBold"/>
                <a:ea typeface="Plus Jakarta Sans ExtraBold"/>
                <a:cs typeface="Plus Jakarta Sans ExtraBold"/>
                <a:sym typeface="Plus Jakarta Sans ExtraBold"/>
              </a:rPr>
              <a:t>How They Work Together</a:t>
            </a:r>
            <a:endParaRPr/>
          </a:p>
        </p:txBody>
      </p:sp>
      <p:sp>
        <p:nvSpPr>
          <p:cNvPr id="470" name="Google Shape;470;p22"/>
          <p:cNvSpPr/>
          <p:nvPr/>
        </p:nvSpPr>
        <p:spPr>
          <a:xfrm>
            <a:off x="571500" y="847725"/>
            <a:ext cx="11049000" cy="19200"/>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74" name="Shape 474"/>
        <p:cNvGrpSpPr/>
        <p:nvPr/>
      </p:nvGrpSpPr>
      <p:grpSpPr>
        <a:xfrm>
          <a:off x="0" y="0"/>
          <a:ext cx="0" cy="0"/>
          <a:chOff x="0" y="0"/>
          <a:chExt cx="0" cy="0"/>
        </a:xfrm>
      </p:grpSpPr>
      <p:pic>
        <p:nvPicPr>
          <p:cNvPr descr="image.png" id="475" name="Google Shape;475;p23"/>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476" name="Google Shape;476;p23"/>
          <p:cNvPicPr preferRelativeResize="0"/>
          <p:nvPr/>
        </p:nvPicPr>
        <p:blipFill rotWithShape="1">
          <a:blip r:embed="rId4">
            <a:alphaModFix/>
          </a:blip>
          <a:srcRect b="0" l="0" r="0" t="0"/>
          <a:stretch/>
        </p:blipFill>
        <p:spPr>
          <a:xfrm>
            <a:off x="571500" y="457200"/>
            <a:ext cx="823168" cy="200025"/>
          </a:xfrm>
          <a:prstGeom prst="rect">
            <a:avLst/>
          </a:prstGeom>
          <a:noFill/>
          <a:ln>
            <a:noFill/>
          </a:ln>
        </p:spPr>
      </p:pic>
      <p:grpSp>
        <p:nvGrpSpPr>
          <p:cNvPr id="477" name="Google Shape;477;p23"/>
          <p:cNvGrpSpPr/>
          <p:nvPr/>
        </p:nvGrpSpPr>
        <p:grpSpPr>
          <a:xfrm>
            <a:off x="571500" y="1238250"/>
            <a:ext cx="3429000" cy="4857900"/>
            <a:chOff x="0" y="0"/>
            <a:chExt cx="3429000" cy="4857900"/>
          </a:xfrm>
        </p:grpSpPr>
        <p:sp>
          <p:nvSpPr>
            <p:cNvPr id="478" name="Google Shape;478;p23"/>
            <p:cNvSpPr/>
            <p:nvPr/>
          </p:nvSpPr>
          <p:spPr>
            <a:xfrm>
              <a:off x="0" y="0"/>
              <a:ext cx="3429000" cy="4857900"/>
            </a:xfrm>
            <a:prstGeom prst="roundRect">
              <a:avLst>
                <a:gd fmla="val 3333"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79" name="Google Shape;479;p23"/>
            <p:cNvSpPr/>
            <p:nvPr/>
          </p:nvSpPr>
          <p:spPr>
            <a:xfrm>
              <a:off x="0" y="0"/>
              <a:ext cx="57300" cy="4857900"/>
            </a:xfrm>
            <a:prstGeom prst="roundRect">
              <a:avLst>
                <a:gd fmla="val 5000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80" name="Google Shape;480;p23"/>
            <p:cNvSpPr txBox="1"/>
            <p:nvPr/>
          </p:nvSpPr>
          <p:spPr>
            <a:xfrm>
              <a:off x="228600" y="228600"/>
              <a:ext cx="2971800" cy="438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1400">
                  <a:solidFill>
                    <a:srgbClr val="2563EB"/>
                  </a:solidFill>
                  <a:latin typeface="Plus Jakarta Sans ExtraBold"/>
                  <a:ea typeface="Plus Jakarta Sans ExtraBold"/>
                  <a:cs typeface="Plus Jakarta Sans ExtraBold"/>
                  <a:sym typeface="Plus Jakarta Sans ExtraBold"/>
                </a:rPr>
                <a:t>Overview &amp; Use Case</a:t>
              </a:r>
              <a:endParaRPr b="0" sz="1400">
                <a:solidFill>
                  <a:srgbClr val="2563EB"/>
                </a:solidFill>
                <a:latin typeface="Plus Jakarta Sans ExtraBold"/>
                <a:ea typeface="Plus Jakarta Sans ExtraBold"/>
                <a:cs typeface="Plus Jakarta Sans ExtraBold"/>
                <a:sym typeface="Plus Jakarta Sans ExtraBold"/>
              </a:endParaRPr>
            </a:p>
            <a:p>
              <a:pPr indent="0" lvl="0" marL="0" rtl="0" algn="l">
                <a:spcBef>
                  <a:spcPts val="1050"/>
                </a:spcBef>
                <a:spcAft>
                  <a:spcPts val="0"/>
                </a:spcAft>
                <a:buNone/>
              </a:pPr>
              <a:r>
                <a:rPr b="1" lang="en-US" sz="850">
                  <a:solidFill>
                    <a:srgbClr val="475569"/>
                  </a:solidFill>
                  <a:latin typeface="Plus Jakarta Sans"/>
                  <a:ea typeface="Plus Jakarta Sans"/>
                  <a:cs typeface="Plus Jakarta Sans"/>
                  <a:sym typeface="Plus Jakarta Sans"/>
                </a:rPr>
                <a:t>PURPOSE</a:t>
              </a:r>
              <a:endParaRPr b="1" sz="850">
                <a:solidFill>
                  <a:srgbClr val="475569"/>
                </a:solidFill>
                <a:latin typeface="Plus Jakarta Sans"/>
                <a:ea typeface="Plus Jakarta Sans"/>
                <a:cs typeface="Plus Jakarta Sans"/>
                <a:sym typeface="Plus Jakarta Sans"/>
              </a:endParaRPr>
            </a:p>
            <a:p>
              <a:pPr indent="0" lvl="0" marL="0" rtl="0" algn="l">
                <a:spcBef>
                  <a:spcPts val="300"/>
                </a:spcBef>
                <a:spcAft>
                  <a:spcPts val="0"/>
                </a:spcAft>
                <a:buNone/>
              </a:pPr>
              <a:r>
                <a:rPr b="0" lang="en-US" sz="950">
                  <a:solidFill>
                    <a:srgbClr val="334155"/>
                  </a:solidFill>
                  <a:latin typeface="Plus Jakarta Sans"/>
                  <a:ea typeface="Plus Jakarta Sans"/>
                  <a:cs typeface="Plus Jakarta Sans"/>
                  <a:sym typeface="Plus Jakarta Sans"/>
                </a:rPr>
                <a:t>Provide a fast, codebase-grounded Q&amp;A and task planning interface before committing to a full agent session.</a:t>
              </a:r>
              <a:endParaRPr b="0" sz="950">
                <a:solidFill>
                  <a:srgbClr val="334155"/>
                </a:solidFill>
                <a:latin typeface="Plus Jakarta Sans"/>
                <a:ea typeface="Plus Jakarta Sans"/>
                <a:cs typeface="Plus Jakarta Sans"/>
                <a:sym typeface="Plus Jakarta Sans"/>
              </a:endParaRPr>
            </a:p>
            <a:p>
              <a:pPr indent="0" lvl="0" marL="0" rtl="0" algn="l">
                <a:spcBef>
                  <a:spcPts val="1050"/>
                </a:spcBef>
                <a:spcAft>
                  <a:spcPts val="0"/>
                </a:spcAft>
                <a:buNone/>
              </a:pPr>
              <a:r>
                <a:rPr b="1" lang="en-US" sz="850">
                  <a:solidFill>
                    <a:srgbClr val="475569"/>
                  </a:solidFill>
                  <a:latin typeface="Plus Jakarta Sans"/>
                  <a:ea typeface="Plus Jakarta Sans"/>
                  <a:cs typeface="Plus Jakarta Sans"/>
                  <a:sym typeface="Plus Jakarta Sans"/>
                </a:rPr>
                <a:t>WHY IT EXISTS</a:t>
              </a:r>
              <a:endParaRPr b="1" sz="850">
                <a:solidFill>
                  <a:srgbClr val="475569"/>
                </a:solidFill>
                <a:latin typeface="Plus Jakarta Sans"/>
                <a:ea typeface="Plus Jakarta Sans"/>
                <a:cs typeface="Plus Jakarta Sans"/>
                <a:sym typeface="Plus Jakarta Sans"/>
              </a:endParaRPr>
            </a:p>
            <a:p>
              <a:pPr indent="0" lvl="0" marL="0" rtl="0" algn="l">
                <a:spcBef>
                  <a:spcPts val="300"/>
                </a:spcBef>
                <a:spcAft>
                  <a:spcPts val="0"/>
                </a:spcAft>
                <a:buNone/>
              </a:pPr>
              <a:r>
                <a:rPr b="0" lang="en-US" sz="950">
                  <a:solidFill>
                    <a:srgbClr val="334155"/>
                  </a:solidFill>
                  <a:latin typeface="Plus Jakarta Sans"/>
                  <a:ea typeface="Plus Jakarta Sans"/>
                  <a:cs typeface="Plus Jakarta Sans"/>
                  <a:sym typeface="Plus Jakarta Sans"/>
                </a:rPr>
                <a:t>Engineers waste time exploring unfamiliar codebases. Ask Devin indexes repositories and answers questions with precise code citations.</a:t>
              </a:r>
              <a:endParaRPr b="0" sz="950">
                <a:solidFill>
                  <a:srgbClr val="334155"/>
                </a:solidFill>
                <a:latin typeface="Plus Jakarta Sans"/>
                <a:ea typeface="Plus Jakarta Sans"/>
                <a:cs typeface="Plus Jakarta Sans"/>
                <a:sym typeface="Plus Jakarta Sans"/>
              </a:endParaRPr>
            </a:p>
            <a:p>
              <a:pPr indent="0" lvl="0" marL="0" rtl="0" algn="l">
                <a:spcBef>
                  <a:spcPts val="1050"/>
                </a:spcBef>
                <a:spcAft>
                  <a:spcPts val="0"/>
                </a:spcAft>
                <a:buNone/>
              </a:pPr>
              <a:r>
                <a:rPr b="1" lang="en-US" sz="850">
                  <a:solidFill>
                    <a:srgbClr val="475569"/>
                  </a:solidFill>
                  <a:latin typeface="Plus Jakarta Sans"/>
                  <a:ea typeface="Plus Jakarta Sans"/>
                  <a:cs typeface="Plus Jakarta Sans"/>
                  <a:sym typeface="Plus Jakarta Sans"/>
                </a:rPr>
                <a:t>ENTERPRISE USE CASE</a:t>
              </a:r>
              <a:endParaRPr b="1" sz="850">
                <a:solidFill>
                  <a:srgbClr val="475569"/>
                </a:solidFill>
                <a:latin typeface="Plus Jakarta Sans"/>
                <a:ea typeface="Plus Jakarta Sans"/>
                <a:cs typeface="Plus Jakarta Sans"/>
                <a:sym typeface="Plus Jakarta Sans"/>
              </a:endParaRPr>
            </a:p>
            <a:p>
              <a:pPr indent="0" lvl="0" marL="0" rtl="0" algn="l">
                <a:spcBef>
                  <a:spcPts val="300"/>
                </a:spcBef>
                <a:spcAft>
                  <a:spcPts val="0"/>
                </a:spcAft>
                <a:buNone/>
              </a:pPr>
              <a:r>
                <a:rPr b="0" lang="en-US" sz="950">
                  <a:solidFill>
                    <a:srgbClr val="334155"/>
                  </a:solidFill>
                  <a:latin typeface="Plus Jakarta Sans"/>
                  <a:ea typeface="Plus Jakarta Sans"/>
                  <a:cs typeface="Plus Jakarta Sans"/>
                  <a:sym typeface="Plus Jakarta Sans"/>
                </a:rPr>
                <a:t>A new engineer joins a team with a 500k-line codebase. Instead of spending days reading code, they use Ask Devin to understand the authentication flow, data model, and service boundaries in hours.</a:t>
              </a:r>
              <a:endParaRPr b="0" sz="950">
                <a:solidFill>
                  <a:srgbClr val="334155"/>
                </a:solidFill>
                <a:latin typeface="Plus Jakarta Sans"/>
                <a:ea typeface="Plus Jakarta Sans"/>
                <a:cs typeface="Plus Jakarta Sans"/>
                <a:sym typeface="Plus Jakarta Sans"/>
              </a:endParaRPr>
            </a:p>
          </p:txBody>
        </p:sp>
      </p:grpSp>
      <p:grpSp>
        <p:nvGrpSpPr>
          <p:cNvPr id="481" name="Google Shape;481;p23"/>
          <p:cNvGrpSpPr/>
          <p:nvPr/>
        </p:nvGrpSpPr>
        <p:grpSpPr>
          <a:xfrm>
            <a:off x="4381500" y="1238250"/>
            <a:ext cx="3429000" cy="4857900"/>
            <a:chOff x="0" y="0"/>
            <a:chExt cx="3429000" cy="4857900"/>
          </a:xfrm>
        </p:grpSpPr>
        <p:sp>
          <p:nvSpPr>
            <p:cNvPr id="482" name="Google Shape;482;p23"/>
            <p:cNvSpPr/>
            <p:nvPr/>
          </p:nvSpPr>
          <p:spPr>
            <a:xfrm>
              <a:off x="0" y="0"/>
              <a:ext cx="3429000" cy="4857900"/>
            </a:xfrm>
            <a:prstGeom prst="roundRect">
              <a:avLst>
                <a:gd fmla="val 3333"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83" name="Google Shape;483;p23"/>
            <p:cNvSpPr/>
            <p:nvPr/>
          </p:nvSpPr>
          <p:spPr>
            <a:xfrm>
              <a:off x="0" y="0"/>
              <a:ext cx="57300" cy="4857900"/>
            </a:xfrm>
            <a:prstGeom prst="roundRect">
              <a:avLst>
                <a:gd fmla="val 50000" name="adj"/>
              </a:avLst>
            </a:prstGeom>
            <a:solidFill>
              <a:srgbClr val="7C3AED"/>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84" name="Google Shape;484;p23"/>
            <p:cNvSpPr txBox="1"/>
            <p:nvPr/>
          </p:nvSpPr>
          <p:spPr>
            <a:xfrm>
              <a:off x="228600" y="228600"/>
              <a:ext cx="2971800" cy="438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1400">
                  <a:solidFill>
                    <a:srgbClr val="7C3AED"/>
                  </a:solidFill>
                  <a:latin typeface="Plus Jakarta Sans ExtraBold"/>
                  <a:ea typeface="Plus Jakarta Sans ExtraBold"/>
                  <a:cs typeface="Plus Jakarta Sans ExtraBold"/>
                  <a:sym typeface="Plus Jakarta Sans ExtraBold"/>
                </a:rPr>
                <a:t>How It Works: Modes</a:t>
              </a:r>
              <a:endParaRPr b="0" sz="1400">
                <a:solidFill>
                  <a:srgbClr val="7C3AED"/>
                </a:solidFill>
                <a:latin typeface="Plus Jakarta Sans ExtraBold"/>
                <a:ea typeface="Plus Jakarta Sans ExtraBold"/>
                <a:cs typeface="Plus Jakarta Sans ExtraBold"/>
                <a:sym typeface="Plus Jakarta Sans ExtraBold"/>
              </a:endParaRPr>
            </a:p>
            <a:p>
              <a:pPr indent="0" lvl="0" marL="0" rtl="0" algn="l">
                <a:spcBef>
                  <a:spcPts val="1050"/>
                </a:spcBef>
                <a:spcAft>
                  <a:spcPts val="0"/>
                </a:spcAft>
                <a:buNone/>
              </a:pPr>
              <a:r>
                <a:rPr b="0" lang="en-US" sz="950">
                  <a:solidFill>
                    <a:srgbClr val="475569"/>
                  </a:solidFill>
                  <a:highlight>
                    <a:srgbClr val="F8FAFC"/>
                  </a:highlight>
                  <a:latin typeface="Plus Jakarta Sans"/>
                  <a:ea typeface="Plus Jakarta Sans"/>
                  <a:cs typeface="Plus Jakarta Sans"/>
                  <a:sym typeface="Plus Jakarta Sans"/>
                </a:rPr>
                <a:t>Repositories are automatically indexed after connection. Ask Devin uses advanced code search to produce answers grounded in actual code, not general knowledge.</a:t>
              </a:r>
              <a:endParaRPr b="0" sz="950">
                <a:solidFill>
                  <a:srgbClr val="475569"/>
                </a:solidFill>
                <a:highlight>
                  <a:srgbClr val="F8FAFC"/>
                </a:highlight>
                <a:latin typeface="Plus Jakarta Sans"/>
                <a:ea typeface="Plus Jakarta Sans"/>
                <a:cs typeface="Plus Jakarta Sans"/>
                <a:sym typeface="Plus Jakarta Sans"/>
              </a:endParaRPr>
            </a:p>
            <a:p>
              <a:pPr indent="0" lvl="0" marL="0" rtl="0" algn="l">
                <a:spcBef>
                  <a:spcPts val="1200"/>
                </a:spcBef>
                <a:spcAft>
                  <a:spcPts val="0"/>
                </a:spcAft>
                <a:buNone/>
              </a:pPr>
              <a:r>
                <a:rPr b="1" lang="en-US" sz="1100">
                  <a:solidFill>
                    <a:srgbClr val="1E293B"/>
                  </a:solidFill>
                  <a:latin typeface="Plus Jakarta Sans"/>
                  <a:ea typeface="Plus Jakarta Sans"/>
                  <a:cs typeface="Plus Jakarta Sans"/>
                  <a:sym typeface="Plus Jakarta Sans"/>
                </a:rPr>
                <a:t>Ask Mode</a:t>
              </a:r>
              <a:endParaRPr b="1" sz="1100">
                <a:solidFill>
                  <a:srgbClr val="1E293B"/>
                </a:solidFill>
                <a:latin typeface="Plus Jakarta Sans"/>
                <a:ea typeface="Plus Jakarta Sans"/>
                <a:cs typeface="Plus Jakarta Sans"/>
                <a:sym typeface="Plus Jakarta Sans"/>
              </a:endParaRPr>
            </a:p>
            <a:p>
              <a:pPr indent="0" lvl="0" marL="0" rtl="0" algn="l">
                <a:spcBef>
                  <a:spcPts val="300"/>
                </a:spcBef>
                <a:spcAft>
                  <a:spcPts val="0"/>
                </a:spcAft>
                <a:buNone/>
              </a:pPr>
              <a:r>
                <a:rPr b="0" lang="en-US" sz="950">
                  <a:solidFill>
                    <a:srgbClr val="64748B"/>
                  </a:solidFill>
                  <a:latin typeface="Plus Jakarta Sans"/>
                  <a:ea typeface="Plus Jakarta Sans"/>
                  <a:cs typeface="Plus Jakarta Sans"/>
                  <a:sym typeface="Plus Jakarta Sans"/>
                </a:rPr>
                <a:t>Answer questions about architecture, dependencies, and functions.</a:t>
              </a:r>
              <a:endParaRPr b="0" sz="950">
                <a:solidFill>
                  <a:srgbClr val="64748B"/>
                </a:solidFill>
                <a:latin typeface="Plus Jakarta Sans"/>
                <a:ea typeface="Plus Jakarta Sans"/>
                <a:cs typeface="Plus Jakarta Sans"/>
                <a:sym typeface="Plus Jakarta Sans"/>
              </a:endParaRPr>
            </a:p>
            <a:p>
              <a:pPr indent="0" lvl="0" marL="0" rtl="0" algn="l">
                <a:spcBef>
                  <a:spcPts val="1200"/>
                </a:spcBef>
                <a:spcAft>
                  <a:spcPts val="0"/>
                </a:spcAft>
                <a:buNone/>
              </a:pPr>
              <a:r>
                <a:rPr b="1" lang="en-US" sz="1100">
                  <a:solidFill>
                    <a:srgbClr val="1E293B"/>
                  </a:solidFill>
                  <a:latin typeface="Plus Jakarta Sans"/>
                  <a:ea typeface="Plus Jakarta Sans"/>
                  <a:cs typeface="Plus Jakarta Sans"/>
                  <a:sym typeface="Plus Jakarta Sans"/>
                </a:rPr>
                <a:t>Plan Mode</a:t>
              </a:r>
              <a:endParaRPr b="1" sz="1100">
                <a:solidFill>
                  <a:srgbClr val="1E293B"/>
                </a:solidFill>
                <a:latin typeface="Plus Jakarta Sans"/>
                <a:ea typeface="Plus Jakarta Sans"/>
                <a:cs typeface="Plus Jakarta Sans"/>
                <a:sym typeface="Plus Jakarta Sans"/>
              </a:endParaRPr>
            </a:p>
            <a:p>
              <a:pPr indent="0" lvl="0" marL="0" rtl="0" algn="l">
                <a:spcBef>
                  <a:spcPts val="300"/>
                </a:spcBef>
                <a:spcAft>
                  <a:spcPts val="0"/>
                </a:spcAft>
                <a:buNone/>
              </a:pPr>
              <a:r>
                <a:rPr b="0" lang="en-US" sz="950">
                  <a:solidFill>
                    <a:srgbClr val="64748B"/>
                  </a:solidFill>
                  <a:latin typeface="Plus Jakarta Sans"/>
                  <a:ea typeface="Plus Jakarta Sans"/>
                  <a:cs typeface="Plus Jakarta Sans"/>
                  <a:sym typeface="Plus Jakarta Sans"/>
                </a:rPr>
                <a:t>Scope a task, break it down, and generate a context-rich prompt ready for an agent session.</a:t>
              </a:r>
              <a:endParaRPr b="0" sz="950">
                <a:solidFill>
                  <a:srgbClr val="64748B"/>
                </a:solidFill>
                <a:latin typeface="Plus Jakarta Sans"/>
                <a:ea typeface="Plus Jakarta Sans"/>
                <a:cs typeface="Plus Jakarta Sans"/>
                <a:sym typeface="Plus Jakarta Sans"/>
              </a:endParaRPr>
            </a:p>
          </p:txBody>
        </p:sp>
      </p:grpSp>
      <p:grpSp>
        <p:nvGrpSpPr>
          <p:cNvPr id="485" name="Google Shape;485;p23"/>
          <p:cNvGrpSpPr/>
          <p:nvPr/>
        </p:nvGrpSpPr>
        <p:grpSpPr>
          <a:xfrm>
            <a:off x="8191500" y="1238250"/>
            <a:ext cx="3429000" cy="4857900"/>
            <a:chOff x="0" y="0"/>
            <a:chExt cx="3429000" cy="4857900"/>
          </a:xfrm>
        </p:grpSpPr>
        <p:sp>
          <p:nvSpPr>
            <p:cNvPr id="486" name="Google Shape;486;p23"/>
            <p:cNvSpPr/>
            <p:nvPr/>
          </p:nvSpPr>
          <p:spPr>
            <a:xfrm>
              <a:off x="0" y="0"/>
              <a:ext cx="3429000" cy="4857900"/>
            </a:xfrm>
            <a:prstGeom prst="roundRect">
              <a:avLst>
                <a:gd fmla="val 3333"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87" name="Google Shape;487;p23"/>
            <p:cNvSpPr/>
            <p:nvPr/>
          </p:nvSpPr>
          <p:spPr>
            <a:xfrm>
              <a:off x="0" y="0"/>
              <a:ext cx="57300" cy="4857900"/>
            </a:xfrm>
            <a:prstGeom prst="roundRect">
              <a:avLst>
                <a:gd fmla="val 50000" name="adj"/>
              </a:avLst>
            </a:prstGeom>
            <a:solidFill>
              <a:srgbClr val="0D948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88" name="Google Shape;488;p23"/>
            <p:cNvSpPr txBox="1"/>
            <p:nvPr/>
          </p:nvSpPr>
          <p:spPr>
            <a:xfrm>
              <a:off x="228600" y="228600"/>
              <a:ext cx="2971800" cy="43815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lang="en-US" sz="1400">
                  <a:solidFill>
                    <a:srgbClr val="0D9488"/>
                  </a:solidFill>
                  <a:latin typeface="Plus Jakarta Sans ExtraBold"/>
                  <a:ea typeface="Plus Jakarta Sans ExtraBold"/>
                  <a:cs typeface="Plus Jakarta Sans ExtraBold"/>
                  <a:sym typeface="Plus Jakarta Sans ExtraBold"/>
                </a:rPr>
                <a:t>Benefits &amp; Practices</a:t>
              </a:r>
              <a:endParaRPr b="0" sz="1400">
                <a:solidFill>
                  <a:srgbClr val="0D9488"/>
                </a:solidFill>
                <a:latin typeface="Plus Jakarta Sans ExtraBold"/>
                <a:ea typeface="Plus Jakarta Sans ExtraBold"/>
                <a:cs typeface="Plus Jakarta Sans ExtraBold"/>
                <a:sym typeface="Plus Jakarta Sans ExtraBold"/>
              </a:endParaRPr>
            </a:p>
            <a:p>
              <a:pPr indent="0" lvl="0" marL="0" rtl="0" algn="l">
                <a:spcBef>
                  <a:spcPts val="1050"/>
                </a:spcBef>
                <a:spcAft>
                  <a:spcPts val="0"/>
                </a:spcAft>
                <a:buNone/>
              </a:pPr>
              <a:r>
                <a:rPr b="1" lang="en-US" sz="850">
                  <a:solidFill>
                    <a:srgbClr val="0D9488"/>
                  </a:solidFill>
                  <a:latin typeface="Plus Jakarta Sans"/>
                  <a:ea typeface="Plus Jakarta Sans"/>
                  <a:cs typeface="Plus Jakarta Sans"/>
                  <a:sym typeface="Plus Jakarta Sans"/>
                </a:rPr>
                <a:t>ADVANTAGES</a:t>
              </a:r>
              <a:endParaRPr b="0" sz="850">
                <a:solidFill>
                  <a:srgbClr val="0D9488"/>
                </a:solidFill>
                <a:latin typeface="Plus Jakarta Sans ExtraBold"/>
                <a:ea typeface="Plus Jakarta Sans ExtraBold"/>
                <a:cs typeface="Plus Jakarta Sans ExtraBold"/>
                <a:sym typeface="Plus Jakarta Sans ExtraBold"/>
              </a:endParaRPr>
            </a:p>
            <a:p>
              <a:pPr indent="-317500" lvl="0" marL="457200" rtl="0" algn="l">
                <a:spcBef>
                  <a:spcPts val="300"/>
                </a:spcBef>
                <a:spcAft>
                  <a:spcPts val="0"/>
                </a:spcAft>
                <a:buClr>
                  <a:srgbClr val="0D9488"/>
                </a:buClr>
                <a:buSzPts val="1400"/>
                <a:buFont typeface="Plus Jakarta Sans"/>
                <a:buChar char="●"/>
              </a:pPr>
              <a:r>
                <a:rPr b="0" lang="en-US" sz="950">
                  <a:solidFill>
                    <a:srgbClr val="334155"/>
                  </a:solidFill>
                  <a:latin typeface="Plus Jakarta Sans"/>
                  <a:ea typeface="Plus Jakarta Sans"/>
                  <a:cs typeface="Plus Jakarta Sans"/>
                  <a:sym typeface="Plus Jakarta Sans"/>
                </a:rPr>
                <a:t>Answers are cited — claims link to specific files &amp; lines</a:t>
              </a:r>
              <a:endParaRPr b="0" sz="1400">
                <a:solidFill>
                  <a:srgbClr val="0D9488"/>
                </a:solidFill>
                <a:latin typeface="Plus Jakarta Sans ExtraBold"/>
                <a:ea typeface="Plus Jakarta Sans ExtraBold"/>
                <a:cs typeface="Plus Jakarta Sans ExtraBold"/>
                <a:sym typeface="Plus Jakarta Sans ExtraBold"/>
              </a:endParaRPr>
            </a:p>
            <a:p>
              <a:pPr indent="-317500" lvl="0" marL="457200" rtl="0" algn="l">
                <a:spcBef>
                  <a:spcPts val="300"/>
                </a:spcBef>
                <a:spcAft>
                  <a:spcPts val="0"/>
                </a:spcAft>
                <a:buClr>
                  <a:srgbClr val="0D9488"/>
                </a:buClr>
                <a:buSzPts val="1400"/>
                <a:buFont typeface="Plus Jakarta Sans"/>
                <a:buChar char="●"/>
              </a:pPr>
              <a:r>
                <a:rPr b="0" lang="en-US" sz="950">
                  <a:solidFill>
                    <a:srgbClr val="334155"/>
                  </a:solidFill>
                  <a:latin typeface="Plus Jakarta Sans"/>
                  <a:ea typeface="Plus Jakarta Sans"/>
                  <a:cs typeface="Plus Jakarta Sans"/>
                  <a:sym typeface="Plus Jakarta Sans"/>
                </a:rPr>
                <a:t>Session status is visible directly in conversation</a:t>
              </a:r>
              <a:endParaRPr b="0" sz="1400">
                <a:solidFill>
                  <a:srgbClr val="0D9488"/>
                </a:solidFill>
                <a:latin typeface="Plus Jakarta Sans ExtraBold"/>
                <a:ea typeface="Plus Jakarta Sans ExtraBold"/>
                <a:cs typeface="Plus Jakarta Sans ExtraBold"/>
                <a:sym typeface="Plus Jakarta Sans ExtraBold"/>
              </a:endParaRPr>
            </a:p>
            <a:p>
              <a:pPr indent="-317500" lvl="0" marL="457200" rtl="0" algn="l">
                <a:spcBef>
                  <a:spcPts val="300"/>
                </a:spcBef>
                <a:spcAft>
                  <a:spcPts val="0"/>
                </a:spcAft>
                <a:buClr>
                  <a:srgbClr val="0D9488"/>
                </a:buClr>
                <a:buSzPts val="1400"/>
                <a:buFont typeface="Plus Jakarta Sans"/>
                <a:buChar char="●"/>
              </a:pPr>
              <a:r>
                <a:rPr b="0" lang="en-US" sz="950">
                  <a:solidFill>
                    <a:srgbClr val="334155"/>
                  </a:solidFill>
                  <a:latin typeface="Plus Jakarta Sans"/>
                  <a:ea typeface="Plus Jakarta Sans"/>
                  <a:cs typeface="Plus Jakarta Sans"/>
                  <a:sym typeface="Plus Jakarta Sans"/>
                </a:rPr>
                <a:t>Pre-loads context to improve session quality</a:t>
              </a:r>
              <a:endParaRPr b="0" sz="1400">
                <a:solidFill>
                  <a:srgbClr val="0D9488"/>
                </a:solidFill>
                <a:latin typeface="Plus Jakarta Sans ExtraBold"/>
                <a:ea typeface="Plus Jakarta Sans ExtraBold"/>
                <a:cs typeface="Plus Jakarta Sans ExtraBold"/>
                <a:sym typeface="Plus Jakarta Sans ExtraBold"/>
              </a:endParaRPr>
            </a:p>
            <a:p>
              <a:pPr indent="0" lvl="0" marL="0" rtl="0" algn="l">
                <a:spcBef>
                  <a:spcPts val="1050"/>
                </a:spcBef>
                <a:spcAft>
                  <a:spcPts val="0"/>
                </a:spcAft>
                <a:buNone/>
              </a:pPr>
              <a:r>
                <a:rPr b="1" lang="en-US" sz="850">
                  <a:solidFill>
                    <a:srgbClr val="EF4444"/>
                  </a:solidFill>
                  <a:latin typeface="Plus Jakarta Sans"/>
                  <a:ea typeface="Plus Jakarta Sans"/>
                  <a:cs typeface="Plus Jakarta Sans"/>
                  <a:sym typeface="Plus Jakarta Sans"/>
                </a:rPr>
                <a:t>LIMITATIONS</a:t>
              </a:r>
              <a:endParaRPr b="0" sz="850">
                <a:solidFill>
                  <a:srgbClr val="0D9488"/>
                </a:solidFill>
                <a:latin typeface="Plus Jakarta Sans ExtraBold"/>
                <a:ea typeface="Plus Jakarta Sans ExtraBold"/>
                <a:cs typeface="Plus Jakarta Sans ExtraBold"/>
                <a:sym typeface="Plus Jakarta Sans ExtraBold"/>
              </a:endParaRPr>
            </a:p>
            <a:p>
              <a:pPr indent="0" lvl="0" marL="0" rtl="0" algn="l">
                <a:spcBef>
                  <a:spcPts val="300"/>
                </a:spcBef>
                <a:spcAft>
                  <a:spcPts val="0"/>
                </a:spcAft>
                <a:buNone/>
              </a:pPr>
              <a:r>
                <a:rPr b="0" lang="en-US" sz="950">
                  <a:solidFill>
                    <a:srgbClr val="334155"/>
                  </a:solidFill>
                  <a:latin typeface="Plus Jakarta Sans"/>
                  <a:ea typeface="Plus Jakarta Sans"/>
                  <a:cs typeface="Plus Jakarta Sans"/>
                  <a:sym typeface="Plus Jakarta Sans"/>
                </a:rPr>
                <a:t>Ask Devin is a read-only interface — it does not execute code or make changes.</a:t>
              </a:r>
              <a:endParaRPr b="0" sz="950">
                <a:solidFill>
                  <a:srgbClr val="0D9488"/>
                </a:solidFill>
                <a:latin typeface="Plus Jakarta Sans ExtraBold"/>
                <a:ea typeface="Plus Jakarta Sans ExtraBold"/>
                <a:cs typeface="Plus Jakarta Sans ExtraBold"/>
                <a:sym typeface="Plus Jakarta Sans ExtraBold"/>
              </a:endParaRPr>
            </a:p>
            <a:p>
              <a:pPr indent="0" lvl="0" marL="0" rtl="0" algn="l">
                <a:spcBef>
                  <a:spcPts val="1050"/>
                </a:spcBef>
                <a:spcAft>
                  <a:spcPts val="0"/>
                </a:spcAft>
                <a:buNone/>
              </a:pPr>
              <a:r>
                <a:rPr b="1" lang="en-US" sz="850">
                  <a:solidFill>
                    <a:srgbClr val="475569"/>
                  </a:solidFill>
                  <a:latin typeface="Plus Jakarta Sans"/>
                  <a:ea typeface="Plus Jakarta Sans"/>
                  <a:cs typeface="Plus Jakarta Sans"/>
                  <a:sym typeface="Plus Jakarta Sans"/>
                </a:rPr>
                <a:t>BEST PRACTICES</a:t>
              </a:r>
              <a:endParaRPr b="0" sz="850">
                <a:solidFill>
                  <a:srgbClr val="0D9488"/>
                </a:solidFill>
                <a:latin typeface="Plus Jakarta Sans ExtraBold"/>
                <a:ea typeface="Plus Jakarta Sans ExtraBold"/>
                <a:cs typeface="Plus Jakarta Sans ExtraBold"/>
                <a:sym typeface="Plus Jakarta Sans ExtraBold"/>
              </a:endParaRPr>
            </a:p>
            <a:p>
              <a:pPr indent="0" lvl="0" marL="0" rtl="0" algn="l">
                <a:spcBef>
                  <a:spcPts val="600"/>
                </a:spcBef>
                <a:spcAft>
                  <a:spcPts val="0"/>
                </a:spcAft>
                <a:buNone/>
              </a:pPr>
              <a:r>
                <a:rPr b="0" lang="en-US" sz="1100">
                  <a:solidFill>
                    <a:srgbClr val="0D9488"/>
                  </a:solidFill>
                  <a:latin typeface="Material Icons"/>
                  <a:ea typeface="Material Icons"/>
                  <a:cs typeface="Material Icons"/>
                  <a:sym typeface="Material Icons"/>
                </a:rPr>
                <a:t>architecture</a:t>
              </a:r>
              <a:r>
                <a:rPr b="0" lang="en-US" sz="950">
                  <a:solidFill>
                    <a:srgbClr val="334155"/>
                  </a:solidFill>
                  <a:latin typeface="Plus Jakarta Sans"/>
                  <a:ea typeface="Plus Jakarta Sans"/>
                  <a:cs typeface="Plus Jakarta Sans"/>
                  <a:sym typeface="Plus Jakarta Sans"/>
                </a:rPr>
                <a:t>Always use Ask Devin to plan before complex tasks</a:t>
              </a:r>
              <a:endParaRPr b="0" sz="950">
                <a:solidFill>
                  <a:srgbClr val="0D9488"/>
                </a:solidFill>
                <a:latin typeface="Plus Jakarta Sans ExtraBold"/>
                <a:ea typeface="Plus Jakarta Sans ExtraBold"/>
                <a:cs typeface="Plus Jakarta Sans ExtraBold"/>
                <a:sym typeface="Plus Jakarta Sans ExtraBold"/>
              </a:endParaRPr>
            </a:p>
            <a:p>
              <a:pPr indent="0" lvl="0" marL="0" rtl="0" algn="l">
                <a:spcBef>
                  <a:spcPts val="600"/>
                </a:spcBef>
                <a:spcAft>
                  <a:spcPts val="0"/>
                </a:spcAft>
                <a:buNone/>
              </a:pPr>
              <a:r>
                <a:rPr b="0" lang="en-US" sz="1100">
                  <a:solidFill>
                    <a:srgbClr val="0D9488"/>
                  </a:solidFill>
                  <a:latin typeface="Material Icons"/>
                  <a:ea typeface="Material Icons"/>
                  <a:cs typeface="Material Icons"/>
                  <a:sym typeface="Material Icons"/>
                </a:rPr>
                <a:t>terminal</a:t>
              </a:r>
              <a:r>
                <a:rPr b="0" lang="en-US" sz="950">
                  <a:solidFill>
                    <a:srgbClr val="334155"/>
                  </a:solidFill>
                  <a:latin typeface="Plus Jakarta Sans"/>
                  <a:ea typeface="Plus Jakarta Sans"/>
                  <a:cs typeface="Plus Jakarta Sans"/>
                  <a:sym typeface="Plus Jakarta Sans"/>
                </a:rPr>
                <a:t>Use Plan mode to generate session prompts</a:t>
              </a:r>
              <a:endParaRPr b="0" sz="950">
                <a:solidFill>
                  <a:srgbClr val="0D9488"/>
                </a:solidFill>
                <a:latin typeface="Plus Jakarta Sans ExtraBold"/>
                <a:ea typeface="Plus Jakarta Sans ExtraBold"/>
                <a:cs typeface="Plus Jakarta Sans ExtraBold"/>
                <a:sym typeface="Plus Jakarta Sans ExtraBold"/>
              </a:endParaRPr>
            </a:p>
            <a:p>
              <a:pPr indent="0" lvl="0" marL="0" rtl="0" algn="l">
                <a:spcBef>
                  <a:spcPts val="600"/>
                </a:spcBef>
                <a:spcAft>
                  <a:spcPts val="300"/>
                </a:spcAft>
                <a:buNone/>
              </a:pPr>
              <a:r>
                <a:rPr b="0" lang="en-US" sz="1100">
                  <a:solidFill>
                    <a:srgbClr val="0D9488"/>
                  </a:solidFill>
                  <a:latin typeface="Material Icons"/>
                  <a:ea typeface="Material Icons"/>
                  <a:cs typeface="Material Icons"/>
                  <a:sym typeface="Material Icons"/>
                </a:rPr>
                <a:t>folder_open</a:t>
              </a:r>
              <a:r>
                <a:rPr b="0" lang="en-US" sz="950">
                  <a:solidFill>
                    <a:srgbClr val="334155"/>
                  </a:solidFill>
                  <a:latin typeface="Plus Jakarta Sans"/>
                  <a:ea typeface="Plus Jakarta Sans"/>
                  <a:cs typeface="Plus Jakarta Sans"/>
                  <a:sym typeface="Plus Jakarta Sans"/>
                </a:rPr>
                <a:t>Index all repositories before onboarding</a:t>
              </a:r>
              <a:endParaRPr b="0" sz="950">
                <a:solidFill>
                  <a:srgbClr val="0D9488"/>
                </a:solidFill>
                <a:latin typeface="Plus Jakarta Sans ExtraBold"/>
                <a:ea typeface="Plus Jakarta Sans ExtraBold"/>
                <a:cs typeface="Plus Jakarta Sans ExtraBold"/>
                <a:sym typeface="Plus Jakarta Sans ExtraBold"/>
              </a:endParaRPr>
            </a:p>
          </p:txBody>
        </p:sp>
      </p:grpSp>
      <p:sp>
        <p:nvSpPr>
          <p:cNvPr id="489" name="Google Shape;489;p23"/>
          <p:cNvSpPr txBox="1"/>
          <p:nvPr/>
        </p:nvSpPr>
        <p:spPr>
          <a:xfrm>
            <a:off x="571500" y="381000"/>
            <a:ext cx="11601600" cy="3693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2400" u="none" cap="none" strike="noStrike">
                <a:solidFill>
                  <a:srgbClr val="0F172A"/>
                </a:solidFill>
                <a:latin typeface="Plus Jakarta Sans ExtraBold"/>
                <a:ea typeface="Plus Jakarta Sans ExtraBold"/>
                <a:cs typeface="Plus Jakarta Sans ExtraBold"/>
                <a:sym typeface="Plus Jakarta Sans ExtraBold"/>
              </a:rPr>
              <a:t>Feature Spotlight: Ask Devin</a:t>
            </a:r>
            <a:endParaRPr/>
          </a:p>
        </p:txBody>
      </p:sp>
      <p:sp>
        <p:nvSpPr>
          <p:cNvPr id="490" name="Google Shape;490;p23"/>
          <p:cNvSpPr/>
          <p:nvPr/>
        </p:nvSpPr>
        <p:spPr>
          <a:xfrm>
            <a:off x="571500" y="847725"/>
            <a:ext cx="11049000" cy="19200"/>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94" name="Shape 494"/>
        <p:cNvGrpSpPr/>
        <p:nvPr/>
      </p:nvGrpSpPr>
      <p:grpSpPr>
        <a:xfrm>
          <a:off x="0" y="0"/>
          <a:ext cx="0" cy="0"/>
          <a:chOff x="0" y="0"/>
          <a:chExt cx="0" cy="0"/>
        </a:xfrm>
      </p:grpSpPr>
      <p:pic>
        <p:nvPicPr>
          <p:cNvPr descr="image.png" id="495" name="Google Shape;495;p24"/>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496" name="Google Shape;496;p24"/>
          <p:cNvPicPr preferRelativeResize="0"/>
          <p:nvPr/>
        </p:nvPicPr>
        <p:blipFill rotWithShape="1">
          <a:blip r:embed="rId4">
            <a:alphaModFix/>
          </a:blip>
          <a:srcRect b="0" l="0" r="0" t="0"/>
          <a:stretch/>
        </p:blipFill>
        <p:spPr>
          <a:xfrm>
            <a:off x="7005637" y="1544389"/>
            <a:ext cx="4614862" cy="4175670"/>
          </a:xfrm>
          <a:prstGeom prst="rect">
            <a:avLst/>
          </a:prstGeom>
          <a:noFill/>
          <a:ln>
            <a:noFill/>
          </a:ln>
        </p:spPr>
      </p:pic>
      <p:pic>
        <p:nvPicPr>
          <p:cNvPr descr="image.png" id="497" name="Google Shape;497;p24"/>
          <p:cNvPicPr preferRelativeResize="0"/>
          <p:nvPr/>
        </p:nvPicPr>
        <p:blipFill rotWithShape="1">
          <a:blip r:embed="rId5">
            <a:alphaModFix/>
          </a:blip>
          <a:srcRect b="0" l="0" r="0" t="0"/>
          <a:stretch/>
        </p:blipFill>
        <p:spPr>
          <a:xfrm>
            <a:off x="571500" y="457200"/>
            <a:ext cx="823168" cy="200025"/>
          </a:xfrm>
          <a:prstGeom prst="rect">
            <a:avLst/>
          </a:prstGeom>
          <a:noFill/>
          <a:ln>
            <a:noFill/>
          </a:ln>
        </p:spPr>
      </p:pic>
      <p:sp>
        <p:nvSpPr>
          <p:cNvPr id="498" name="Google Shape;498;p24"/>
          <p:cNvSpPr txBox="1"/>
          <p:nvPr/>
        </p:nvSpPr>
        <p:spPr>
          <a:xfrm>
            <a:off x="571500" y="1544389"/>
            <a:ext cx="6195900" cy="126900"/>
          </a:xfrm>
          <a:prstGeom prst="rect">
            <a:avLst/>
          </a:prstGeom>
          <a:noFill/>
          <a:ln>
            <a:noFill/>
          </a:ln>
        </p:spPr>
        <p:txBody>
          <a:bodyPr anchorCtr="0" anchor="t" bIns="0" lIns="0" spcFirstLastPara="1" rIns="0" wrap="square" tIns="0">
            <a:spAutoFit/>
          </a:bodyPr>
          <a:lstStyle/>
          <a:p>
            <a:pPr indent="0" lvl="0" marL="0" marR="0" rtl="0" algn="l">
              <a:lnSpc>
                <a:spcPct val="144969"/>
              </a:lnSpc>
              <a:spcBef>
                <a:spcPts val="0"/>
              </a:spcBef>
              <a:spcAft>
                <a:spcPts val="0"/>
              </a:spcAft>
              <a:buNone/>
            </a:pPr>
            <a:r>
              <a:rPr b="1" i="0" lang="en-US" sz="825" u="none" cap="none" strike="noStrike">
                <a:solidFill>
                  <a:srgbClr val="2563EB"/>
                </a:solidFill>
                <a:latin typeface="Plus Jakarta Sans"/>
                <a:ea typeface="Plus Jakarta Sans"/>
                <a:cs typeface="Plus Jakarta Sans"/>
                <a:sym typeface="Plus Jakarta Sans"/>
              </a:rPr>
              <a:t>PURPOSE:</a:t>
            </a:r>
            <a:endParaRPr/>
          </a:p>
        </p:txBody>
      </p:sp>
      <p:sp>
        <p:nvSpPr>
          <p:cNvPr id="499" name="Google Shape;499;p24"/>
          <p:cNvSpPr txBox="1"/>
          <p:nvPr/>
        </p:nvSpPr>
        <p:spPr>
          <a:xfrm>
            <a:off x="571500" y="1715244"/>
            <a:ext cx="6195900" cy="161700"/>
          </a:xfrm>
          <a:prstGeom prst="rect">
            <a:avLst/>
          </a:prstGeom>
          <a:noFill/>
          <a:ln>
            <a:noFill/>
          </a:ln>
        </p:spPr>
        <p:txBody>
          <a:bodyPr anchorCtr="0" anchor="t" bIns="0" lIns="0" spcFirstLastPara="1" rIns="0" wrap="square" tIns="0">
            <a:spAutoFit/>
          </a:bodyPr>
          <a:lstStyle/>
          <a:p>
            <a:pPr indent="0" lvl="0" marL="0" marR="0" rtl="0" algn="l">
              <a:lnSpc>
                <a:spcPct val="144952"/>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The core execution unit — an isolated, autonomous agent run inside a Linux VM.</a:t>
            </a:r>
            <a:endParaRPr/>
          </a:p>
        </p:txBody>
      </p:sp>
      <p:sp>
        <p:nvSpPr>
          <p:cNvPr id="500" name="Google Shape;500;p24"/>
          <p:cNvSpPr txBox="1"/>
          <p:nvPr/>
        </p:nvSpPr>
        <p:spPr>
          <a:xfrm>
            <a:off x="571500" y="1984771"/>
            <a:ext cx="6195900" cy="126900"/>
          </a:xfrm>
          <a:prstGeom prst="rect">
            <a:avLst/>
          </a:prstGeom>
          <a:noFill/>
          <a:ln>
            <a:noFill/>
          </a:ln>
        </p:spPr>
        <p:txBody>
          <a:bodyPr anchorCtr="0" anchor="t" bIns="0" lIns="0" spcFirstLastPara="1" rIns="0" wrap="square" tIns="0">
            <a:spAutoFit/>
          </a:bodyPr>
          <a:lstStyle/>
          <a:p>
            <a:pPr indent="0" lvl="0" marL="0" marR="0" rtl="0" algn="l">
              <a:lnSpc>
                <a:spcPct val="144969"/>
              </a:lnSpc>
              <a:spcBef>
                <a:spcPts val="0"/>
              </a:spcBef>
              <a:spcAft>
                <a:spcPts val="0"/>
              </a:spcAft>
              <a:buNone/>
            </a:pPr>
            <a:r>
              <a:rPr b="1" i="0" lang="en-US" sz="825" u="none" cap="none" strike="noStrike">
                <a:solidFill>
                  <a:srgbClr val="2563EB"/>
                </a:solidFill>
                <a:latin typeface="Plus Jakarta Sans"/>
                <a:ea typeface="Plus Jakarta Sans"/>
                <a:cs typeface="Plus Jakarta Sans"/>
                <a:sym typeface="Plus Jakarta Sans"/>
              </a:rPr>
              <a:t>WHY IT EXISTS:</a:t>
            </a:r>
            <a:endParaRPr/>
          </a:p>
        </p:txBody>
      </p:sp>
      <p:sp>
        <p:nvSpPr>
          <p:cNvPr id="501" name="Google Shape;501;p24"/>
          <p:cNvSpPr txBox="1"/>
          <p:nvPr/>
        </p:nvSpPr>
        <p:spPr>
          <a:xfrm>
            <a:off x="571500" y="2155626"/>
            <a:ext cx="6195900" cy="396000"/>
          </a:xfrm>
          <a:prstGeom prst="rect">
            <a:avLst/>
          </a:prstGeom>
          <a:noFill/>
          <a:ln>
            <a:noFill/>
          </a:ln>
        </p:spPr>
        <p:txBody>
          <a:bodyPr anchorCtr="0" anchor="t" bIns="0" lIns="0" spcFirstLastPara="1" rIns="0" wrap="square" tIns="0">
            <a:spAutoFit/>
          </a:bodyPr>
          <a:lstStyle/>
          <a:p>
            <a:pPr indent="0" lvl="0" marL="0" marR="0" rtl="0" algn="l">
              <a:lnSpc>
                <a:spcPct val="144952"/>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Every task Devin executes happens inside a session. Sessions provide isolation, reproducibility, and a clean audit trail.</a:t>
            </a:r>
            <a:endParaRPr/>
          </a:p>
        </p:txBody>
      </p:sp>
      <p:sp>
        <p:nvSpPr>
          <p:cNvPr id="502" name="Google Shape;502;p24"/>
          <p:cNvSpPr txBox="1"/>
          <p:nvPr/>
        </p:nvSpPr>
        <p:spPr>
          <a:xfrm>
            <a:off x="571500" y="2618482"/>
            <a:ext cx="6195900" cy="126900"/>
          </a:xfrm>
          <a:prstGeom prst="rect">
            <a:avLst/>
          </a:prstGeom>
          <a:noFill/>
          <a:ln>
            <a:noFill/>
          </a:ln>
        </p:spPr>
        <p:txBody>
          <a:bodyPr anchorCtr="0" anchor="t" bIns="0" lIns="0" spcFirstLastPara="1" rIns="0" wrap="square" tIns="0">
            <a:spAutoFit/>
          </a:bodyPr>
          <a:lstStyle/>
          <a:p>
            <a:pPr indent="0" lvl="0" marL="0" marR="0" rtl="0" algn="l">
              <a:lnSpc>
                <a:spcPct val="144969"/>
              </a:lnSpc>
              <a:spcBef>
                <a:spcPts val="0"/>
              </a:spcBef>
              <a:spcAft>
                <a:spcPts val="0"/>
              </a:spcAft>
              <a:buNone/>
            </a:pPr>
            <a:r>
              <a:rPr b="1" i="0" lang="en-US" sz="825" u="none" cap="none" strike="noStrike">
                <a:solidFill>
                  <a:srgbClr val="2563EB"/>
                </a:solidFill>
                <a:latin typeface="Plus Jakarta Sans"/>
                <a:ea typeface="Plus Jakarta Sans"/>
                <a:cs typeface="Plus Jakarta Sans"/>
                <a:sym typeface="Plus Jakarta Sans"/>
              </a:rPr>
              <a:t>INTERNAL CONCEPT:</a:t>
            </a:r>
            <a:endParaRPr/>
          </a:p>
        </p:txBody>
      </p:sp>
      <p:sp>
        <p:nvSpPr>
          <p:cNvPr id="503" name="Google Shape;503;p24"/>
          <p:cNvSpPr txBox="1"/>
          <p:nvPr/>
        </p:nvSpPr>
        <p:spPr>
          <a:xfrm>
            <a:off x="571500" y="3840658"/>
            <a:ext cx="6195900" cy="126900"/>
          </a:xfrm>
          <a:prstGeom prst="rect">
            <a:avLst/>
          </a:prstGeom>
          <a:noFill/>
          <a:ln>
            <a:noFill/>
          </a:ln>
        </p:spPr>
        <p:txBody>
          <a:bodyPr anchorCtr="0" anchor="t" bIns="0" lIns="0" spcFirstLastPara="1" rIns="0" wrap="square" tIns="0">
            <a:spAutoFit/>
          </a:bodyPr>
          <a:lstStyle/>
          <a:p>
            <a:pPr indent="0" lvl="0" marL="0" marR="0" rtl="0" algn="l">
              <a:lnSpc>
                <a:spcPct val="144969"/>
              </a:lnSpc>
              <a:spcBef>
                <a:spcPts val="0"/>
              </a:spcBef>
              <a:spcAft>
                <a:spcPts val="0"/>
              </a:spcAft>
              <a:buNone/>
            </a:pPr>
            <a:r>
              <a:rPr b="1" i="0" lang="en-US" sz="825" u="none" cap="none" strike="noStrike">
                <a:solidFill>
                  <a:srgbClr val="2563EB"/>
                </a:solidFill>
                <a:latin typeface="Plus Jakarta Sans"/>
                <a:ea typeface="Plus Jakarta Sans"/>
                <a:cs typeface="Plus Jakarta Sans"/>
                <a:sym typeface="Plus Jakarta Sans"/>
              </a:rPr>
              <a:t>ENTERPRISE USE CASE:</a:t>
            </a:r>
            <a:endParaRPr/>
          </a:p>
        </p:txBody>
      </p:sp>
      <p:sp>
        <p:nvSpPr>
          <p:cNvPr id="504" name="Google Shape;504;p24"/>
          <p:cNvSpPr txBox="1"/>
          <p:nvPr/>
        </p:nvSpPr>
        <p:spPr>
          <a:xfrm>
            <a:off x="571500" y="4011513"/>
            <a:ext cx="6195900" cy="396000"/>
          </a:xfrm>
          <a:prstGeom prst="rect">
            <a:avLst/>
          </a:prstGeom>
          <a:noFill/>
          <a:ln>
            <a:noFill/>
          </a:ln>
        </p:spPr>
        <p:txBody>
          <a:bodyPr anchorCtr="0" anchor="t" bIns="0" lIns="0" spcFirstLastPara="1" rIns="0" wrap="square" tIns="0">
            <a:spAutoFit/>
          </a:bodyPr>
          <a:lstStyle/>
          <a:p>
            <a:pPr indent="0" lvl="0" marL="0" marR="0" rtl="0" algn="l">
              <a:lnSpc>
                <a:spcPct val="144952"/>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A CI check fails on a PR. An Automation triggers a Devin session automatically. Devin boots, reads the failure, fixes the code, runs tests, and pushes a fix — without human intervention.</a:t>
            </a:r>
            <a:endParaRPr/>
          </a:p>
        </p:txBody>
      </p:sp>
      <p:sp>
        <p:nvSpPr>
          <p:cNvPr id="505" name="Google Shape;505;p24"/>
          <p:cNvSpPr txBox="1"/>
          <p:nvPr/>
        </p:nvSpPr>
        <p:spPr>
          <a:xfrm>
            <a:off x="571500" y="5011340"/>
            <a:ext cx="6195900" cy="126900"/>
          </a:xfrm>
          <a:prstGeom prst="rect">
            <a:avLst/>
          </a:prstGeom>
          <a:noFill/>
          <a:ln>
            <a:noFill/>
          </a:ln>
        </p:spPr>
        <p:txBody>
          <a:bodyPr anchorCtr="0" anchor="t" bIns="0" lIns="0" spcFirstLastPara="1" rIns="0" wrap="square" tIns="0">
            <a:spAutoFit/>
          </a:bodyPr>
          <a:lstStyle/>
          <a:p>
            <a:pPr indent="0" lvl="0" marL="0" marR="0" rtl="0" algn="l">
              <a:lnSpc>
                <a:spcPct val="144969"/>
              </a:lnSpc>
              <a:spcBef>
                <a:spcPts val="0"/>
              </a:spcBef>
              <a:spcAft>
                <a:spcPts val="0"/>
              </a:spcAft>
              <a:buNone/>
            </a:pPr>
            <a:r>
              <a:rPr b="1" i="0" lang="en-US" sz="825" u="none" cap="none" strike="noStrike">
                <a:solidFill>
                  <a:srgbClr val="0D9488"/>
                </a:solidFill>
                <a:latin typeface="Plus Jakarta Sans"/>
                <a:ea typeface="Plus Jakarta Sans"/>
                <a:cs typeface="Plus Jakarta Sans"/>
                <a:sym typeface="Plus Jakarta Sans"/>
              </a:rPr>
              <a:t>BEST PRACTICES:</a:t>
            </a:r>
            <a:endParaRPr/>
          </a:p>
        </p:txBody>
      </p:sp>
      <p:sp>
        <p:nvSpPr>
          <p:cNvPr id="506" name="Google Shape;506;p24"/>
          <p:cNvSpPr txBox="1"/>
          <p:nvPr/>
        </p:nvSpPr>
        <p:spPr>
          <a:xfrm>
            <a:off x="7158037" y="1696789"/>
            <a:ext cx="4310100" cy="138600"/>
          </a:xfrm>
          <a:prstGeom prst="rect">
            <a:avLst/>
          </a:prstGeom>
          <a:noFill/>
          <a:ln>
            <a:noFill/>
          </a:ln>
        </p:spPr>
        <p:txBody>
          <a:bodyPr anchorCtr="0" anchor="t" bIns="0" lIns="114300" spcFirstLastPara="1" rIns="0" wrap="square" tIns="0">
            <a:spAutoFit/>
          </a:bodyPr>
          <a:lstStyle/>
          <a:p>
            <a:pPr indent="0" lvl="0" marL="0" marR="0" rtl="0" algn="ctr">
              <a:lnSpc>
                <a:spcPct val="145000"/>
              </a:lnSpc>
              <a:spcBef>
                <a:spcPts val="0"/>
              </a:spcBef>
              <a:spcAft>
                <a:spcPts val="0"/>
              </a:spcAft>
              <a:buNone/>
            </a:pPr>
            <a:r>
              <a:rPr b="1" i="0" lang="en-US" sz="900" u="none" cap="none" strike="noStrike">
                <a:solidFill>
                  <a:srgbClr val="0F172A"/>
                </a:solidFill>
                <a:latin typeface="Plus Jakarta Sans"/>
                <a:ea typeface="Plus Jakarta Sans"/>
                <a:cs typeface="Plus Jakarta Sans"/>
                <a:sym typeface="Plus Jakarta Sans"/>
              </a:rPr>
              <a:t>VISUAL SESSION LIFECYCLE</a:t>
            </a:r>
            <a:endParaRPr/>
          </a:p>
        </p:txBody>
      </p:sp>
      <p:sp>
        <p:nvSpPr>
          <p:cNvPr id="507" name="Google Shape;507;p24"/>
          <p:cNvSpPr txBox="1"/>
          <p:nvPr/>
        </p:nvSpPr>
        <p:spPr>
          <a:xfrm>
            <a:off x="800100" y="2789336"/>
            <a:ext cx="5967300" cy="1617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Every session boots from a </a:t>
            </a:r>
            <a:r>
              <a:rPr b="1" i="0" lang="en-US" sz="1050" u="none" cap="none" strike="noStrike">
                <a:solidFill>
                  <a:srgbClr val="334155"/>
                </a:solidFill>
                <a:latin typeface="Plus Jakarta Sans"/>
                <a:ea typeface="Plus Jakarta Sans"/>
                <a:cs typeface="Plus Jakarta Sans"/>
                <a:sym typeface="Plus Jakarta Sans"/>
              </a:rPr>
              <a:t>snapshot</a:t>
            </a:r>
            <a:r>
              <a:rPr b="0" i="0" lang="en-US" sz="1050" u="none" cap="none" strike="noStrike">
                <a:solidFill>
                  <a:srgbClr val="334155"/>
                </a:solidFill>
                <a:latin typeface="Plus Jakarta Sans"/>
                <a:ea typeface="Plus Jakarta Sans"/>
                <a:cs typeface="Plus Jakarta Sans"/>
                <a:sym typeface="Plus Jakarta Sans"/>
              </a:rPr>
              <a:t> — a frozen, bootable image of the environment</a:t>
            </a:r>
            <a:endParaRPr/>
          </a:p>
        </p:txBody>
      </p:sp>
      <p:sp>
        <p:nvSpPr>
          <p:cNvPr id="508" name="Google Shape;508;p24"/>
          <p:cNvSpPr txBox="1"/>
          <p:nvPr/>
        </p:nvSpPr>
        <p:spPr>
          <a:xfrm>
            <a:off x="800100" y="3052167"/>
            <a:ext cx="5967300" cy="1617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The snapshot contains cloned repos, installed dependencies, configured tools, and secrets</a:t>
            </a:r>
            <a:endParaRPr/>
          </a:p>
        </p:txBody>
      </p:sp>
      <p:sp>
        <p:nvSpPr>
          <p:cNvPr id="509" name="Google Shape;509;p24"/>
          <p:cNvSpPr txBox="1"/>
          <p:nvPr/>
        </p:nvSpPr>
        <p:spPr>
          <a:xfrm>
            <a:off x="800100" y="3314997"/>
            <a:ext cx="5967300" cy="1617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Session changes do not persist back to the snapshot — every session starts clean</a:t>
            </a:r>
            <a:endParaRPr/>
          </a:p>
        </p:txBody>
      </p:sp>
      <p:sp>
        <p:nvSpPr>
          <p:cNvPr id="510" name="Google Shape;510;p24"/>
          <p:cNvSpPr txBox="1"/>
          <p:nvPr/>
        </p:nvSpPr>
        <p:spPr>
          <a:xfrm>
            <a:off x="800100" y="3577828"/>
            <a:ext cx="5967300" cy="1617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Sessions have a full timeline of events, accessible for analysis</a:t>
            </a:r>
            <a:endParaRPr/>
          </a:p>
        </p:txBody>
      </p:sp>
      <p:sp>
        <p:nvSpPr>
          <p:cNvPr id="511" name="Google Shape;511;p24"/>
          <p:cNvSpPr txBox="1"/>
          <p:nvPr/>
        </p:nvSpPr>
        <p:spPr>
          <a:xfrm>
            <a:off x="800100" y="5182195"/>
            <a:ext cx="5967300" cy="1617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Keep tasks scoped to under 90 minutes of equivalent manual engineering work</a:t>
            </a:r>
            <a:endParaRPr/>
          </a:p>
        </p:txBody>
      </p:sp>
      <p:sp>
        <p:nvSpPr>
          <p:cNvPr id="512" name="Google Shape;512;p24"/>
          <p:cNvSpPr txBox="1"/>
          <p:nvPr/>
        </p:nvSpPr>
        <p:spPr>
          <a:xfrm>
            <a:off x="800100" y="5445025"/>
            <a:ext cx="5967300" cy="3879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Ensure the snapshot is correctly configured — this is the single highest-leverage setup investment</a:t>
            </a:r>
            <a:endParaRPr/>
          </a:p>
        </p:txBody>
      </p:sp>
      <p:sp>
        <p:nvSpPr>
          <p:cNvPr id="513" name="Google Shape;513;p24"/>
          <p:cNvSpPr txBox="1"/>
          <p:nvPr/>
        </p:nvSpPr>
        <p:spPr>
          <a:xfrm>
            <a:off x="800100" y="5707856"/>
            <a:ext cx="5967300" cy="1617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Use session insights to analyze why sessions succeed or fail</a:t>
            </a:r>
            <a:endParaRPr/>
          </a:p>
        </p:txBody>
      </p:sp>
      <p:pic>
        <p:nvPicPr>
          <p:cNvPr descr="image.png" id="514" name="Google Shape;514;p24"/>
          <p:cNvPicPr preferRelativeResize="0"/>
          <p:nvPr/>
        </p:nvPicPr>
        <p:blipFill rotWithShape="1">
          <a:blip r:embed="rId6">
            <a:alphaModFix/>
          </a:blip>
          <a:srcRect b="0" l="0" r="0" t="0"/>
          <a:stretch/>
        </p:blipFill>
        <p:spPr>
          <a:xfrm>
            <a:off x="8428136" y="1715839"/>
            <a:ext cx="114300" cy="114300"/>
          </a:xfrm>
          <a:prstGeom prst="rect">
            <a:avLst/>
          </a:prstGeom>
          <a:noFill/>
          <a:ln>
            <a:noFill/>
          </a:ln>
        </p:spPr>
      </p:pic>
      <p:sp>
        <p:nvSpPr>
          <p:cNvPr id="515" name="Google Shape;515;p24"/>
          <p:cNvSpPr/>
          <p:nvPr/>
        </p:nvSpPr>
        <p:spPr>
          <a:xfrm>
            <a:off x="7291387" y="2071985"/>
            <a:ext cx="14400" cy="338130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16" name="Google Shape;516;p24"/>
          <p:cNvSpPr txBox="1"/>
          <p:nvPr/>
        </p:nvSpPr>
        <p:spPr>
          <a:xfrm>
            <a:off x="571500" y="4474368"/>
            <a:ext cx="3050400" cy="115500"/>
          </a:xfrm>
          <a:prstGeom prst="rect">
            <a:avLst/>
          </a:prstGeom>
          <a:noFill/>
          <a:ln>
            <a:noFill/>
          </a:ln>
        </p:spPr>
        <p:txBody>
          <a:bodyPr anchorCtr="0" anchor="t" bIns="0" lIns="0" spcFirstLastPara="1" rIns="0" wrap="square" tIns="0">
            <a:spAutoFit/>
          </a:bodyPr>
          <a:lstStyle/>
          <a:p>
            <a:pPr indent="0" lvl="0" marL="0" marR="0" rtl="0" algn="l">
              <a:lnSpc>
                <a:spcPct val="144933"/>
              </a:lnSpc>
              <a:spcBef>
                <a:spcPts val="0"/>
              </a:spcBef>
              <a:spcAft>
                <a:spcPts val="0"/>
              </a:spcAft>
              <a:buNone/>
            </a:pPr>
            <a:r>
              <a:rPr b="1" i="0" lang="en-US" sz="750" u="none" cap="none" strike="noStrike">
                <a:solidFill>
                  <a:srgbClr val="0D9488"/>
                </a:solidFill>
                <a:latin typeface="Plus Jakarta Sans"/>
                <a:ea typeface="Plus Jakarta Sans"/>
                <a:cs typeface="Plus Jakarta Sans"/>
                <a:sym typeface="Plus Jakarta Sans"/>
              </a:rPr>
              <a:t>ADVANTAGES:</a:t>
            </a:r>
            <a:endParaRPr/>
          </a:p>
        </p:txBody>
      </p:sp>
      <p:sp>
        <p:nvSpPr>
          <p:cNvPr id="517" name="Google Shape;517;p24"/>
          <p:cNvSpPr txBox="1"/>
          <p:nvPr/>
        </p:nvSpPr>
        <p:spPr>
          <a:xfrm>
            <a:off x="571500" y="4631531"/>
            <a:ext cx="3050400" cy="311100"/>
          </a:xfrm>
          <a:prstGeom prst="rect">
            <a:avLst/>
          </a:prstGeom>
          <a:noFill/>
          <a:ln>
            <a:noFill/>
          </a:ln>
        </p:spPr>
        <p:txBody>
          <a:bodyPr anchorCtr="0" anchor="t" bIns="0" lIns="0" spcFirstLastPara="1" rIns="0" wrap="square" tIns="0">
            <a:spAutoFit/>
          </a:bodyPr>
          <a:lstStyle/>
          <a:p>
            <a:pPr indent="0" lvl="0" marL="0" marR="0" rtl="0" algn="l">
              <a:lnSpc>
                <a:spcPct val="144969"/>
              </a:lnSpc>
              <a:spcBef>
                <a:spcPts val="0"/>
              </a:spcBef>
              <a:spcAft>
                <a:spcPts val="0"/>
              </a:spcAft>
              <a:buNone/>
            </a:pPr>
            <a:r>
              <a:rPr b="0" i="0" lang="en-US" sz="825" u="none" cap="none" strike="noStrike">
                <a:solidFill>
                  <a:srgbClr val="334155"/>
                </a:solidFill>
                <a:latin typeface="Plus Jakarta Sans"/>
                <a:ea typeface="Plus Jakarta Sans"/>
                <a:cs typeface="Plus Jakarta Sans"/>
                <a:sym typeface="Plus Jakarta Sans"/>
              </a:rPr>
              <a:t>Full isolation, reproducible state, complete audit trail, parallel execution</a:t>
            </a:r>
            <a:endParaRPr/>
          </a:p>
        </p:txBody>
      </p:sp>
      <p:sp>
        <p:nvSpPr>
          <p:cNvPr id="518" name="Google Shape;518;p24"/>
          <p:cNvSpPr txBox="1"/>
          <p:nvPr/>
        </p:nvSpPr>
        <p:spPr>
          <a:xfrm>
            <a:off x="3717131" y="4474368"/>
            <a:ext cx="3050400" cy="115500"/>
          </a:xfrm>
          <a:prstGeom prst="rect">
            <a:avLst/>
          </a:prstGeom>
          <a:noFill/>
          <a:ln>
            <a:noFill/>
          </a:ln>
        </p:spPr>
        <p:txBody>
          <a:bodyPr anchorCtr="0" anchor="t" bIns="0" lIns="0" spcFirstLastPara="1" rIns="0" wrap="square" tIns="0">
            <a:spAutoFit/>
          </a:bodyPr>
          <a:lstStyle/>
          <a:p>
            <a:pPr indent="0" lvl="0" marL="0" marR="0" rtl="0" algn="l">
              <a:lnSpc>
                <a:spcPct val="144933"/>
              </a:lnSpc>
              <a:spcBef>
                <a:spcPts val="0"/>
              </a:spcBef>
              <a:spcAft>
                <a:spcPts val="0"/>
              </a:spcAft>
              <a:buNone/>
            </a:pPr>
            <a:r>
              <a:rPr b="1" i="0" lang="en-US" sz="750" u="none" cap="none" strike="noStrike">
                <a:solidFill>
                  <a:srgbClr val="EF4444"/>
                </a:solidFill>
                <a:latin typeface="Plus Jakarta Sans"/>
                <a:ea typeface="Plus Jakarta Sans"/>
                <a:cs typeface="Plus Jakarta Sans"/>
                <a:sym typeface="Plus Jakarta Sans"/>
              </a:rPr>
              <a:t>LIMITATIONS:</a:t>
            </a:r>
            <a:endParaRPr/>
          </a:p>
        </p:txBody>
      </p:sp>
      <p:sp>
        <p:nvSpPr>
          <p:cNvPr id="519" name="Google Shape;519;p24"/>
          <p:cNvSpPr txBox="1"/>
          <p:nvPr/>
        </p:nvSpPr>
        <p:spPr>
          <a:xfrm>
            <a:off x="3717131" y="4631531"/>
            <a:ext cx="3050400" cy="311100"/>
          </a:xfrm>
          <a:prstGeom prst="rect">
            <a:avLst/>
          </a:prstGeom>
          <a:noFill/>
          <a:ln>
            <a:noFill/>
          </a:ln>
        </p:spPr>
        <p:txBody>
          <a:bodyPr anchorCtr="0" anchor="t" bIns="0" lIns="0" spcFirstLastPara="1" rIns="0" wrap="square" tIns="0">
            <a:spAutoFit/>
          </a:bodyPr>
          <a:lstStyle/>
          <a:p>
            <a:pPr indent="0" lvl="0" marL="0" marR="0" rtl="0" algn="l">
              <a:lnSpc>
                <a:spcPct val="144969"/>
              </a:lnSpc>
              <a:spcBef>
                <a:spcPts val="0"/>
              </a:spcBef>
              <a:spcAft>
                <a:spcPts val="0"/>
              </a:spcAft>
              <a:buNone/>
            </a:pPr>
            <a:r>
              <a:rPr b="0" i="0" lang="en-US" sz="825" u="none" cap="none" strike="noStrike">
                <a:solidFill>
                  <a:srgbClr val="334155"/>
                </a:solidFill>
                <a:latin typeface="Plus Jakarta Sans"/>
                <a:ea typeface="Plus Jakarta Sans"/>
                <a:cs typeface="Plus Jakarta Sans"/>
                <a:sym typeface="Plus Jakarta Sans"/>
              </a:rPr>
              <a:t>Sessions do not share state with each other; coordination requires the Managed Devins pattern</a:t>
            </a:r>
            <a:endParaRPr/>
          </a:p>
        </p:txBody>
      </p:sp>
      <p:pic>
        <p:nvPicPr>
          <p:cNvPr descr="image.png" id="520" name="Google Shape;520;p24"/>
          <p:cNvPicPr preferRelativeResize="0"/>
          <p:nvPr/>
        </p:nvPicPr>
        <p:blipFill rotWithShape="1">
          <a:blip r:embed="rId7">
            <a:alphaModFix/>
          </a:blip>
          <a:srcRect b="0" l="0" r="0" t="0"/>
          <a:stretch/>
        </p:blipFill>
        <p:spPr>
          <a:xfrm>
            <a:off x="7158037" y="1957685"/>
            <a:ext cx="266700" cy="266700"/>
          </a:xfrm>
          <a:prstGeom prst="rect">
            <a:avLst/>
          </a:prstGeom>
          <a:noFill/>
          <a:ln>
            <a:noFill/>
          </a:ln>
        </p:spPr>
      </p:pic>
      <p:pic>
        <p:nvPicPr>
          <p:cNvPr descr="image.png" id="521" name="Google Shape;521;p24"/>
          <p:cNvPicPr preferRelativeResize="0"/>
          <p:nvPr/>
        </p:nvPicPr>
        <p:blipFill rotWithShape="1">
          <a:blip r:embed="rId8">
            <a:alphaModFix/>
          </a:blip>
          <a:srcRect b="0" l="0" r="0" t="0"/>
          <a:stretch/>
        </p:blipFill>
        <p:spPr>
          <a:xfrm>
            <a:off x="7158037" y="2324397"/>
            <a:ext cx="266700" cy="266700"/>
          </a:xfrm>
          <a:prstGeom prst="rect">
            <a:avLst/>
          </a:prstGeom>
          <a:noFill/>
          <a:ln>
            <a:noFill/>
          </a:ln>
        </p:spPr>
      </p:pic>
      <p:pic>
        <p:nvPicPr>
          <p:cNvPr descr="image.png" id="522" name="Google Shape;522;p24"/>
          <p:cNvPicPr preferRelativeResize="0"/>
          <p:nvPr/>
        </p:nvPicPr>
        <p:blipFill rotWithShape="1">
          <a:blip r:embed="rId9">
            <a:alphaModFix/>
          </a:blip>
          <a:srcRect b="0" l="0" r="0" t="0"/>
          <a:stretch/>
        </p:blipFill>
        <p:spPr>
          <a:xfrm>
            <a:off x="7158037" y="2691110"/>
            <a:ext cx="266700" cy="266700"/>
          </a:xfrm>
          <a:prstGeom prst="rect">
            <a:avLst/>
          </a:prstGeom>
          <a:noFill/>
          <a:ln>
            <a:noFill/>
          </a:ln>
        </p:spPr>
      </p:pic>
      <p:pic>
        <p:nvPicPr>
          <p:cNvPr descr="image.png" id="523" name="Google Shape;523;p24"/>
          <p:cNvPicPr preferRelativeResize="0"/>
          <p:nvPr/>
        </p:nvPicPr>
        <p:blipFill rotWithShape="1">
          <a:blip r:embed="rId10">
            <a:alphaModFix/>
          </a:blip>
          <a:srcRect b="0" l="0" r="0" t="0"/>
          <a:stretch/>
        </p:blipFill>
        <p:spPr>
          <a:xfrm>
            <a:off x="7158037" y="3057822"/>
            <a:ext cx="266700" cy="266700"/>
          </a:xfrm>
          <a:prstGeom prst="rect">
            <a:avLst/>
          </a:prstGeom>
          <a:noFill/>
          <a:ln>
            <a:noFill/>
          </a:ln>
        </p:spPr>
      </p:pic>
      <p:pic>
        <p:nvPicPr>
          <p:cNvPr descr="image.png" id="524" name="Google Shape;524;p24"/>
          <p:cNvPicPr preferRelativeResize="0"/>
          <p:nvPr/>
        </p:nvPicPr>
        <p:blipFill rotWithShape="1">
          <a:blip r:embed="rId11">
            <a:alphaModFix/>
          </a:blip>
          <a:srcRect b="0" l="0" r="0" t="0"/>
          <a:stretch/>
        </p:blipFill>
        <p:spPr>
          <a:xfrm>
            <a:off x="7158037" y="3424535"/>
            <a:ext cx="266700" cy="266700"/>
          </a:xfrm>
          <a:prstGeom prst="rect">
            <a:avLst/>
          </a:prstGeom>
          <a:noFill/>
          <a:ln>
            <a:noFill/>
          </a:ln>
        </p:spPr>
      </p:pic>
      <p:pic>
        <p:nvPicPr>
          <p:cNvPr descr="image.png" id="525" name="Google Shape;525;p24"/>
          <p:cNvPicPr preferRelativeResize="0"/>
          <p:nvPr/>
        </p:nvPicPr>
        <p:blipFill rotWithShape="1">
          <a:blip r:embed="rId12">
            <a:alphaModFix/>
          </a:blip>
          <a:srcRect b="0" l="0" r="0" t="0"/>
          <a:stretch/>
        </p:blipFill>
        <p:spPr>
          <a:xfrm>
            <a:off x="7158037" y="3791247"/>
            <a:ext cx="266700" cy="266700"/>
          </a:xfrm>
          <a:prstGeom prst="rect">
            <a:avLst/>
          </a:prstGeom>
          <a:noFill/>
          <a:ln>
            <a:noFill/>
          </a:ln>
        </p:spPr>
      </p:pic>
      <p:pic>
        <p:nvPicPr>
          <p:cNvPr descr="image.png" id="526" name="Google Shape;526;p24"/>
          <p:cNvPicPr preferRelativeResize="0"/>
          <p:nvPr/>
        </p:nvPicPr>
        <p:blipFill rotWithShape="1">
          <a:blip r:embed="rId13">
            <a:alphaModFix/>
          </a:blip>
          <a:srcRect b="0" l="0" r="0" t="0"/>
          <a:stretch/>
        </p:blipFill>
        <p:spPr>
          <a:xfrm>
            <a:off x="7158037" y="4157960"/>
            <a:ext cx="266700" cy="266700"/>
          </a:xfrm>
          <a:prstGeom prst="rect">
            <a:avLst/>
          </a:prstGeom>
          <a:noFill/>
          <a:ln>
            <a:noFill/>
          </a:ln>
        </p:spPr>
      </p:pic>
      <p:pic>
        <p:nvPicPr>
          <p:cNvPr descr="image.png" id="527" name="Google Shape;527;p24"/>
          <p:cNvPicPr preferRelativeResize="0"/>
          <p:nvPr/>
        </p:nvPicPr>
        <p:blipFill rotWithShape="1">
          <a:blip r:embed="rId14">
            <a:alphaModFix/>
          </a:blip>
          <a:srcRect b="0" l="0" r="0" t="0"/>
          <a:stretch/>
        </p:blipFill>
        <p:spPr>
          <a:xfrm>
            <a:off x="7158037" y="4524672"/>
            <a:ext cx="266700" cy="266700"/>
          </a:xfrm>
          <a:prstGeom prst="rect">
            <a:avLst/>
          </a:prstGeom>
          <a:noFill/>
          <a:ln>
            <a:noFill/>
          </a:ln>
        </p:spPr>
      </p:pic>
      <p:pic>
        <p:nvPicPr>
          <p:cNvPr descr="image.png" id="528" name="Google Shape;528;p24"/>
          <p:cNvPicPr preferRelativeResize="0"/>
          <p:nvPr/>
        </p:nvPicPr>
        <p:blipFill rotWithShape="1">
          <a:blip r:embed="rId15">
            <a:alphaModFix/>
          </a:blip>
          <a:srcRect b="0" l="0" r="0" t="0"/>
          <a:stretch/>
        </p:blipFill>
        <p:spPr>
          <a:xfrm>
            <a:off x="7158037" y="4891385"/>
            <a:ext cx="266700" cy="266700"/>
          </a:xfrm>
          <a:prstGeom prst="rect">
            <a:avLst/>
          </a:prstGeom>
          <a:noFill/>
          <a:ln>
            <a:noFill/>
          </a:ln>
        </p:spPr>
      </p:pic>
      <p:pic>
        <p:nvPicPr>
          <p:cNvPr descr="image.png" id="529" name="Google Shape;529;p24"/>
          <p:cNvPicPr preferRelativeResize="0"/>
          <p:nvPr/>
        </p:nvPicPr>
        <p:blipFill rotWithShape="1">
          <a:blip r:embed="rId16">
            <a:alphaModFix/>
          </a:blip>
          <a:srcRect b="0" l="0" r="0" t="0"/>
          <a:stretch/>
        </p:blipFill>
        <p:spPr>
          <a:xfrm>
            <a:off x="7158037" y="5258097"/>
            <a:ext cx="266700" cy="266700"/>
          </a:xfrm>
          <a:prstGeom prst="rect">
            <a:avLst/>
          </a:prstGeom>
          <a:noFill/>
          <a:ln>
            <a:noFill/>
          </a:ln>
        </p:spPr>
      </p:pic>
      <p:pic>
        <p:nvPicPr>
          <p:cNvPr descr="image.png" id="530" name="Google Shape;530;p24"/>
          <p:cNvPicPr preferRelativeResize="0"/>
          <p:nvPr/>
        </p:nvPicPr>
        <p:blipFill rotWithShape="1">
          <a:blip r:embed="rId17">
            <a:alphaModFix/>
          </a:blip>
          <a:srcRect b="0" l="0" r="0" t="0"/>
          <a:stretch/>
        </p:blipFill>
        <p:spPr>
          <a:xfrm>
            <a:off x="571500" y="2817911"/>
            <a:ext cx="57150" cy="95250"/>
          </a:xfrm>
          <a:prstGeom prst="rect">
            <a:avLst/>
          </a:prstGeom>
          <a:noFill/>
          <a:ln>
            <a:noFill/>
          </a:ln>
        </p:spPr>
      </p:pic>
      <p:pic>
        <p:nvPicPr>
          <p:cNvPr descr="image.png" id="531" name="Google Shape;531;p24"/>
          <p:cNvPicPr preferRelativeResize="0"/>
          <p:nvPr/>
        </p:nvPicPr>
        <p:blipFill rotWithShape="1">
          <a:blip r:embed="rId17">
            <a:alphaModFix/>
          </a:blip>
          <a:srcRect b="0" l="0" r="0" t="0"/>
          <a:stretch/>
        </p:blipFill>
        <p:spPr>
          <a:xfrm>
            <a:off x="571500" y="3080742"/>
            <a:ext cx="57150" cy="95250"/>
          </a:xfrm>
          <a:prstGeom prst="rect">
            <a:avLst/>
          </a:prstGeom>
          <a:noFill/>
          <a:ln>
            <a:noFill/>
          </a:ln>
        </p:spPr>
      </p:pic>
      <p:pic>
        <p:nvPicPr>
          <p:cNvPr descr="image.png" id="532" name="Google Shape;532;p24"/>
          <p:cNvPicPr preferRelativeResize="0"/>
          <p:nvPr/>
        </p:nvPicPr>
        <p:blipFill rotWithShape="1">
          <a:blip r:embed="rId17">
            <a:alphaModFix/>
          </a:blip>
          <a:srcRect b="0" l="0" r="0" t="0"/>
          <a:stretch/>
        </p:blipFill>
        <p:spPr>
          <a:xfrm>
            <a:off x="571500" y="3343572"/>
            <a:ext cx="57150" cy="95250"/>
          </a:xfrm>
          <a:prstGeom prst="rect">
            <a:avLst/>
          </a:prstGeom>
          <a:noFill/>
          <a:ln>
            <a:noFill/>
          </a:ln>
        </p:spPr>
      </p:pic>
      <p:pic>
        <p:nvPicPr>
          <p:cNvPr descr="image.png" id="533" name="Google Shape;533;p24"/>
          <p:cNvPicPr preferRelativeResize="0"/>
          <p:nvPr/>
        </p:nvPicPr>
        <p:blipFill rotWithShape="1">
          <a:blip r:embed="rId17">
            <a:alphaModFix/>
          </a:blip>
          <a:srcRect b="0" l="0" r="0" t="0"/>
          <a:stretch/>
        </p:blipFill>
        <p:spPr>
          <a:xfrm>
            <a:off x="571500" y="3606403"/>
            <a:ext cx="57150" cy="95250"/>
          </a:xfrm>
          <a:prstGeom prst="rect">
            <a:avLst/>
          </a:prstGeom>
          <a:noFill/>
          <a:ln>
            <a:noFill/>
          </a:ln>
        </p:spPr>
      </p:pic>
      <p:pic>
        <p:nvPicPr>
          <p:cNvPr descr="image.png" id="534" name="Google Shape;534;p24"/>
          <p:cNvPicPr preferRelativeResize="0"/>
          <p:nvPr/>
        </p:nvPicPr>
        <p:blipFill rotWithShape="1">
          <a:blip r:embed="rId18">
            <a:alphaModFix/>
          </a:blip>
          <a:srcRect b="0" l="0" r="0" t="0"/>
          <a:stretch/>
        </p:blipFill>
        <p:spPr>
          <a:xfrm>
            <a:off x="571500" y="5206007"/>
            <a:ext cx="133350" cy="142875"/>
          </a:xfrm>
          <a:prstGeom prst="rect">
            <a:avLst/>
          </a:prstGeom>
          <a:noFill/>
          <a:ln>
            <a:noFill/>
          </a:ln>
        </p:spPr>
      </p:pic>
      <p:pic>
        <p:nvPicPr>
          <p:cNvPr descr="image.png" id="535" name="Google Shape;535;p24"/>
          <p:cNvPicPr preferRelativeResize="0"/>
          <p:nvPr/>
        </p:nvPicPr>
        <p:blipFill rotWithShape="1">
          <a:blip r:embed="rId19">
            <a:alphaModFix/>
          </a:blip>
          <a:srcRect b="0" l="0" r="0" t="0"/>
          <a:stretch/>
        </p:blipFill>
        <p:spPr>
          <a:xfrm>
            <a:off x="571500" y="5468838"/>
            <a:ext cx="133350" cy="142875"/>
          </a:xfrm>
          <a:prstGeom prst="rect">
            <a:avLst/>
          </a:prstGeom>
          <a:noFill/>
          <a:ln>
            <a:noFill/>
          </a:ln>
        </p:spPr>
      </p:pic>
      <p:pic>
        <p:nvPicPr>
          <p:cNvPr descr="image.png" id="536" name="Google Shape;536;p24"/>
          <p:cNvPicPr preferRelativeResize="0"/>
          <p:nvPr/>
        </p:nvPicPr>
        <p:blipFill rotWithShape="1">
          <a:blip r:embed="rId20">
            <a:alphaModFix/>
          </a:blip>
          <a:srcRect b="0" l="0" r="0" t="0"/>
          <a:stretch/>
        </p:blipFill>
        <p:spPr>
          <a:xfrm>
            <a:off x="571500" y="5731668"/>
            <a:ext cx="133350" cy="142875"/>
          </a:xfrm>
          <a:prstGeom prst="rect">
            <a:avLst/>
          </a:prstGeom>
          <a:noFill/>
          <a:ln>
            <a:noFill/>
          </a:ln>
        </p:spPr>
      </p:pic>
      <p:pic>
        <p:nvPicPr>
          <p:cNvPr descr="image.png" id="537" name="Google Shape;537;p24"/>
          <p:cNvPicPr preferRelativeResize="0"/>
          <p:nvPr/>
        </p:nvPicPr>
        <p:blipFill rotWithShape="1">
          <a:blip r:embed="rId21">
            <a:alphaModFix/>
          </a:blip>
          <a:srcRect b="0" l="0" r="0" t="0"/>
          <a:stretch/>
        </p:blipFill>
        <p:spPr>
          <a:xfrm>
            <a:off x="7243762" y="2038647"/>
            <a:ext cx="95250" cy="104775"/>
          </a:xfrm>
          <a:prstGeom prst="rect">
            <a:avLst/>
          </a:prstGeom>
          <a:noFill/>
          <a:ln>
            <a:noFill/>
          </a:ln>
        </p:spPr>
      </p:pic>
      <p:pic>
        <p:nvPicPr>
          <p:cNvPr descr="image.png" id="538" name="Google Shape;538;p24"/>
          <p:cNvPicPr preferRelativeResize="0"/>
          <p:nvPr/>
        </p:nvPicPr>
        <p:blipFill rotWithShape="1">
          <a:blip r:embed="rId22">
            <a:alphaModFix/>
          </a:blip>
          <a:srcRect b="0" l="0" r="0" t="0"/>
          <a:stretch/>
        </p:blipFill>
        <p:spPr>
          <a:xfrm>
            <a:off x="7239000" y="2405360"/>
            <a:ext cx="104775" cy="104775"/>
          </a:xfrm>
          <a:prstGeom prst="rect">
            <a:avLst/>
          </a:prstGeom>
          <a:noFill/>
          <a:ln>
            <a:noFill/>
          </a:ln>
        </p:spPr>
      </p:pic>
      <p:pic>
        <p:nvPicPr>
          <p:cNvPr descr="image.png" id="539" name="Google Shape;539;p24"/>
          <p:cNvPicPr preferRelativeResize="0"/>
          <p:nvPr/>
        </p:nvPicPr>
        <p:blipFill rotWithShape="1">
          <a:blip r:embed="rId23">
            <a:alphaModFix/>
          </a:blip>
          <a:srcRect b="0" l="0" r="0" t="0"/>
          <a:stretch/>
        </p:blipFill>
        <p:spPr>
          <a:xfrm>
            <a:off x="7239000" y="2772072"/>
            <a:ext cx="104775" cy="104775"/>
          </a:xfrm>
          <a:prstGeom prst="rect">
            <a:avLst/>
          </a:prstGeom>
          <a:noFill/>
          <a:ln>
            <a:noFill/>
          </a:ln>
        </p:spPr>
      </p:pic>
      <p:pic>
        <p:nvPicPr>
          <p:cNvPr descr="image.png" id="540" name="Google Shape;540;p24"/>
          <p:cNvPicPr preferRelativeResize="0"/>
          <p:nvPr/>
        </p:nvPicPr>
        <p:blipFill rotWithShape="1">
          <a:blip r:embed="rId24">
            <a:alphaModFix/>
          </a:blip>
          <a:srcRect b="0" l="0" r="0" t="0"/>
          <a:stretch/>
        </p:blipFill>
        <p:spPr>
          <a:xfrm>
            <a:off x="7239000" y="3138785"/>
            <a:ext cx="104775" cy="104775"/>
          </a:xfrm>
          <a:prstGeom prst="rect">
            <a:avLst/>
          </a:prstGeom>
          <a:noFill/>
          <a:ln>
            <a:noFill/>
          </a:ln>
        </p:spPr>
      </p:pic>
      <p:pic>
        <p:nvPicPr>
          <p:cNvPr descr="image.png" id="541" name="Google Shape;541;p24"/>
          <p:cNvPicPr preferRelativeResize="0"/>
          <p:nvPr/>
        </p:nvPicPr>
        <p:blipFill rotWithShape="1">
          <a:blip r:embed="rId25">
            <a:alphaModFix/>
          </a:blip>
          <a:srcRect b="0" l="0" r="0" t="0"/>
          <a:stretch/>
        </p:blipFill>
        <p:spPr>
          <a:xfrm>
            <a:off x="7253287" y="3505497"/>
            <a:ext cx="76200" cy="104775"/>
          </a:xfrm>
          <a:prstGeom prst="rect">
            <a:avLst/>
          </a:prstGeom>
          <a:noFill/>
          <a:ln>
            <a:noFill/>
          </a:ln>
        </p:spPr>
      </p:pic>
      <p:pic>
        <p:nvPicPr>
          <p:cNvPr descr="image.png" id="542" name="Google Shape;542;p24"/>
          <p:cNvPicPr preferRelativeResize="0"/>
          <p:nvPr/>
        </p:nvPicPr>
        <p:blipFill rotWithShape="1">
          <a:blip r:embed="rId26">
            <a:alphaModFix/>
          </a:blip>
          <a:srcRect b="0" l="0" r="0" t="0"/>
          <a:stretch/>
        </p:blipFill>
        <p:spPr>
          <a:xfrm>
            <a:off x="7234237" y="3872210"/>
            <a:ext cx="114300" cy="104775"/>
          </a:xfrm>
          <a:prstGeom prst="rect">
            <a:avLst/>
          </a:prstGeom>
          <a:noFill/>
          <a:ln>
            <a:noFill/>
          </a:ln>
        </p:spPr>
      </p:pic>
      <p:pic>
        <p:nvPicPr>
          <p:cNvPr descr="image.png" id="543" name="Google Shape;543;p24"/>
          <p:cNvPicPr preferRelativeResize="0"/>
          <p:nvPr/>
        </p:nvPicPr>
        <p:blipFill rotWithShape="1">
          <a:blip r:embed="rId27">
            <a:alphaModFix/>
          </a:blip>
          <a:srcRect b="0" l="0" r="0" t="0"/>
          <a:stretch/>
        </p:blipFill>
        <p:spPr>
          <a:xfrm>
            <a:off x="7234237" y="4238922"/>
            <a:ext cx="114300" cy="104775"/>
          </a:xfrm>
          <a:prstGeom prst="rect">
            <a:avLst/>
          </a:prstGeom>
          <a:noFill/>
          <a:ln>
            <a:noFill/>
          </a:ln>
        </p:spPr>
      </p:pic>
      <p:pic>
        <p:nvPicPr>
          <p:cNvPr descr="image.png" id="544" name="Google Shape;544;p24"/>
          <p:cNvPicPr preferRelativeResize="0"/>
          <p:nvPr/>
        </p:nvPicPr>
        <p:blipFill rotWithShape="1">
          <a:blip r:embed="rId28">
            <a:alphaModFix/>
          </a:blip>
          <a:srcRect b="0" l="0" r="0" t="0"/>
          <a:stretch/>
        </p:blipFill>
        <p:spPr>
          <a:xfrm>
            <a:off x="7243762" y="4605635"/>
            <a:ext cx="95250" cy="104775"/>
          </a:xfrm>
          <a:prstGeom prst="rect">
            <a:avLst/>
          </a:prstGeom>
          <a:noFill/>
          <a:ln>
            <a:noFill/>
          </a:ln>
        </p:spPr>
      </p:pic>
      <p:pic>
        <p:nvPicPr>
          <p:cNvPr descr="image.png" id="545" name="Google Shape;545;p24"/>
          <p:cNvPicPr preferRelativeResize="0"/>
          <p:nvPr/>
        </p:nvPicPr>
        <p:blipFill rotWithShape="1">
          <a:blip r:embed="rId29">
            <a:alphaModFix/>
          </a:blip>
          <a:srcRect b="0" l="0" r="0" t="0"/>
          <a:stretch/>
        </p:blipFill>
        <p:spPr>
          <a:xfrm>
            <a:off x="7239000" y="4972347"/>
            <a:ext cx="104775" cy="104775"/>
          </a:xfrm>
          <a:prstGeom prst="rect">
            <a:avLst/>
          </a:prstGeom>
          <a:noFill/>
          <a:ln>
            <a:noFill/>
          </a:ln>
        </p:spPr>
      </p:pic>
      <p:pic>
        <p:nvPicPr>
          <p:cNvPr descr="image.png" id="546" name="Google Shape;546;p24"/>
          <p:cNvPicPr preferRelativeResize="0"/>
          <p:nvPr/>
        </p:nvPicPr>
        <p:blipFill rotWithShape="1">
          <a:blip r:embed="rId30">
            <a:alphaModFix/>
          </a:blip>
          <a:srcRect b="0" l="0" r="0" t="0"/>
          <a:stretch/>
        </p:blipFill>
        <p:spPr>
          <a:xfrm>
            <a:off x="7253287" y="5339060"/>
            <a:ext cx="76200" cy="104775"/>
          </a:xfrm>
          <a:prstGeom prst="rect">
            <a:avLst/>
          </a:prstGeom>
          <a:noFill/>
          <a:ln>
            <a:noFill/>
          </a:ln>
        </p:spPr>
      </p:pic>
      <p:sp>
        <p:nvSpPr>
          <p:cNvPr id="547" name="Google Shape;547;p24"/>
          <p:cNvSpPr txBox="1"/>
          <p:nvPr/>
        </p:nvSpPr>
        <p:spPr>
          <a:xfrm>
            <a:off x="571500" y="381000"/>
            <a:ext cx="11601600" cy="3693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2400" u="none" cap="none" strike="noStrike">
                <a:solidFill>
                  <a:srgbClr val="0F172A"/>
                </a:solidFill>
                <a:latin typeface="Plus Jakarta Sans ExtraBold"/>
                <a:ea typeface="Plus Jakarta Sans ExtraBold"/>
                <a:cs typeface="Plus Jakarta Sans ExtraBold"/>
                <a:sym typeface="Plus Jakarta Sans ExtraBold"/>
              </a:rPr>
              <a:t>Feature Spotlight: Sessions</a:t>
            </a:r>
            <a:endParaRPr/>
          </a:p>
        </p:txBody>
      </p:sp>
      <p:sp>
        <p:nvSpPr>
          <p:cNvPr id="548" name="Google Shape;548;p24"/>
          <p:cNvSpPr/>
          <p:nvPr/>
        </p:nvSpPr>
        <p:spPr>
          <a:xfrm>
            <a:off x="571500" y="847725"/>
            <a:ext cx="11049000" cy="19200"/>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49" name="Google Shape;549;p24"/>
          <p:cNvSpPr txBox="1"/>
          <p:nvPr/>
        </p:nvSpPr>
        <p:spPr>
          <a:xfrm>
            <a:off x="7519988" y="1995783"/>
            <a:ext cx="3619500" cy="1128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en-US" sz="733">
                <a:solidFill>
                  <a:srgbClr val="0F172A"/>
                </a:solidFill>
                <a:latin typeface="Plus Jakarta Sans"/>
                <a:ea typeface="Plus Jakarta Sans"/>
                <a:cs typeface="Plus Jakarta Sans"/>
                <a:sym typeface="Plus Jakarta Sans"/>
              </a:rPr>
              <a:t>Trigger</a:t>
            </a:r>
            <a:endParaRPr b="1" sz="733">
              <a:solidFill>
                <a:srgbClr val="0F172A"/>
              </a:solidFill>
              <a:latin typeface="Plus Jakarta Sans"/>
              <a:ea typeface="Plus Jakarta Sans"/>
              <a:cs typeface="Plus Jakarta Sans"/>
              <a:sym typeface="Plus Jakarta Sans"/>
            </a:endParaRPr>
          </a:p>
        </p:txBody>
      </p:sp>
      <p:sp>
        <p:nvSpPr>
          <p:cNvPr id="550" name="Google Shape;550;p24"/>
          <p:cNvSpPr txBox="1"/>
          <p:nvPr/>
        </p:nvSpPr>
        <p:spPr>
          <a:xfrm>
            <a:off x="7519988" y="2129133"/>
            <a:ext cx="3619500" cy="1155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US" sz="750">
                <a:solidFill>
                  <a:srgbClr val="475569"/>
                </a:solidFill>
                <a:latin typeface="Plus Jakarta Sans"/>
                <a:ea typeface="Plus Jakarta Sans"/>
                <a:cs typeface="Plus Jakarta Sans"/>
                <a:sym typeface="Plus Jakarta Sans"/>
              </a:rPr>
              <a:t>Manual / Automation / API</a:t>
            </a:r>
            <a:endParaRPr b="0" sz="750">
              <a:solidFill>
                <a:srgbClr val="475569"/>
              </a:solidFill>
              <a:latin typeface="Plus Jakarta Sans"/>
              <a:ea typeface="Plus Jakarta Sans"/>
              <a:cs typeface="Plus Jakarta Sans"/>
              <a:sym typeface="Plus Jakarta Sans"/>
            </a:endParaRPr>
          </a:p>
        </p:txBody>
      </p:sp>
      <p:sp>
        <p:nvSpPr>
          <p:cNvPr id="551" name="Google Shape;551;p24"/>
          <p:cNvSpPr txBox="1"/>
          <p:nvPr/>
        </p:nvSpPr>
        <p:spPr>
          <a:xfrm>
            <a:off x="7519988" y="2362495"/>
            <a:ext cx="3619500" cy="1128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en-US" sz="733">
                <a:solidFill>
                  <a:srgbClr val="0F172A"/>
                </a:solidFill>
                <a:latin typeface="Plus Jakarta Sans"/>
                <a:ea typeface="Plus Jakarta Sans"/>
                <a:cs typeface="Plus Jakarta Sans"/>
                <a:sym typeface="Plus Jakarta Sans"/>
              </a:rPr>
              <a:t>Boot Snapshot</a:t>
            </a:r>
            <a:endParaRPr b="1" sz="733">
              <a:solidFill>
                <a:srgbClr val="0F172A"/>
              </a:solidFill>
              <a:latin typeface="Plus Jakarta Sans"/>
              <a:ea typeface="Plus Jakarta Sans"/>
              <a:cs typeface="Plus Jakarta Sans"/>
              <a:sym typeface="Plus Jakarta Sans"/>
            </a:endParaRPr>
          </a:p>
        </p:txBody>
      </p:sp>
      <p:sp>
        <p:nvSpPr>
          <p:cNvPr id="552" name="Google Shape;552;p24"/>
          <p:cNvSpPr txBox="1"/>
          <p:nvPr/>
        </p:nvSpPr>
        <p:spPr>
          <a:xfrm>
            <a:off x="7519988" y="2495845"/>
            <a:ext cx="3619500" cy="1155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US" sz="750">
                <a:solidFill>
                  <a:srgbClr val="475569"/>
                </a:solidFill>
                <a:latin typeface="Plus Jakarta Sans"/>
                <a:ea typeface="Plus Jakarta Sans"/>
                <a:cs typeface="Plus Jakarta Sans"/>
                <a:sym typeface="Plus Jakarta Sans"/>
              </a:rPr>
              <a:t>Starts a clean VM container layer</a:t>
            </a:r>
            <a:endParaRPr b="0" sz="750">
              <a:solidFill>
                <a:srgbClr val="475569"/>
              </a:solidFill>
              <a:latin typeface="Plus Jakarta Sans"/>
              <a:ea typeface="Plus Jakarta Sans"/>
              <a:cs typeface="Plus Jakarta Sans"/>
              <a:sym typeface="Plus Jakarta Sans"/>
            </a:endParaRPr>
          </a:p>
        </p:txBody>
      </p:sp>
      <p:sp>
        <p:nvSpPr>
          <p:cNvPr id="553" name="Google Shape;553;p24"/>
          <p:cNvSpPr txBox="1"/>
          <p:nvPr/>
        </p:nvSpPr>
        <p:spPr>
          <a:xfrm>
            <a:off x="7519988" y="2729208"/>
            <a:ext cx="3619500" cy="1128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en-US" sz="733">
                <a:solidFill>
                  <a:srgbClr val="0F172A"/>
                </a:solidFill>
                <a:latin typeface="Plus Jakarta Sans"/>
                <a:ea typeface="Plus Jakarta Sans"/>
                <a:cs typeface="Plus Jakarta Sans"/>
                <a:sym typeface="Plus Jakarta Sans"/>
              </a:rPr>
              <a:t>Load Knowledge</a:t>
            </a:r>
            <a:endParaRPr b="1" sz="733">
              <a:solidFill>
                <a:srgbClr val="0F172A"/>
              </a:solidFill>
              <a:latin typeface="Plus Jakarta Sans"/>
              <a:ea typeface="Plus Jakarta Sans"/>
              <a:cs typeface="Plus Jakarta Sans"/>
              <a:sym typeface="Plus Jakarta Sans"/>
            </a:endParaRPr>
          </a:p>
        </p:txBody>
      </p:sp>
      <p:sp>
        <p:nvSpPr>
          <p:cNvPr id="554" name="Google Shape;554;p24"/>
          <p:cNvSpPr txBox="1"/>
          <p:nvPr/>
        </p:nvSpPr>
        <p:spPr>
          <a:xfrm>
            <a:off x="7519988" y="2862558"/>
            <a:ext cx="3619500" cy="1155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US" sz="750">
                <a:solidFill>
                  <a:srgbClr val="475569"/>
                </a:solidFill>
                <a:latin typeface="Plus Jakarta Sans"/>
                <a:ea typeface="Plus Jakarta Sans"/>
                <a:cs typeface="Plus Jakarta Sans"/>
                <a:sym typeface="Plus Jakarta Sans"/>
              </a:rPr>
              <a:t>Triggered context auto-retrieved</a:t>
            </a:r>
            <a:endParaRPr b="0" sz="750">
              <a:solidFill>
                <a:srgbClr val="475569"/>
              </a:solidFill>
              <a:latin typeface="Plus Jakarta Sans"/>
              <a:ea typeface="Plus Jakarta Sans"/>
              <a:cs typeface="Plus Jakarta Sans"/>
              <a:sym typeface="Plus Jakarta Sans"/>
            </a:endParaRPr>
          </a:p>
        </p:txBody>
      </p:sp>
      <p:sp>
        <p:nvSpPr>
          <p:cNvPr id="555" name="Google Shape;555;p24"/>
          <p:cNvSpPr txBox="1"/>
          <p:nvPr/>
        </p:nvSpPr>
        <p:spPr>
          <a:xfrm>
            <a:off x="7519988" y="3095920"/>
            <a:ext cx="3619500" cy="1128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en-US" sz="733">
                <a:solidFill>
                  <a:srgbClr val="0F172A"/>
                </a:solidFill>
                <a:latin typeface="Plus Jakarta Sans"/>
                <a:ea typeface="Plus Jakarta Sans"/>
                <a:cs typeface="Plus Jakarta Sans"/>
                <a:sym typeface="Plus Jakarta Sans"/>
              </a:rPr>
              <a:t>Load Skills</a:t>
            </a:r>
            <a:endParaRPr b="1" sz="733">
              <a:solidFill>
                <a:srgbClr val="0F172A"/>
              </a:solidFill>
              <a:latin typeface="Plus Jakarta Sans"/>
              <a:ea typeface="Plus Jakarta Sans"/>
              <a:cs typeface="Plus Jakarta Sans"/>
              <a:sym typeface="Plus Jakarta Sans"/>
            </a:endParaRPr>
          </a:p>
        </p:txBody>
      </p:sp>
      <p:sp>
        <p:nvSpPr>
          <p:cNvPr id="556" name="Google Shape;556;p24"/>
          <p:cNvSpPr txBox="1"/>
          <p:nvPr/>
        </p:nvSpPr>
        <p:spPr>
          <a:xfrm>
            <a:off x="7519988" y="3229270"/>
            <a:ext cx="3619500" cy="1155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US" sz="750">
                <a:solidFill>
                  <a:srgbClr val="475569"/>
                </a:solidFill>
                <a:latin typeface="Plus Jakarta Sans"/>
                <a:ea typeface="Plus Jakarta Sans"/>
                <a:cs typeface="Plus Jakarta Sans"/>
                <a:sym typeface="Plus Jakarta Sans"/>
              </a:rPr>
              <a:t>Discovers `.agents/skills` structures</a:t>
            </a:r>
            <a:endParaRPr b="0" sz="750">
              <a:solidFill>
                <a:srgbClr val="475569"/>
              </a:solidFill>
              <a:latin typeface="Plus Jakarta Sans"/>
              <a:ea typeface="Plus Jakarta Sans"/>
              <a:cs typeface="Plus Jakarta Sans"/>
              <a:sym typeface="Plus Jakarta Sans"/>
            </a:endParaRPr>
          </a:p>
        </p:txBody>
      </p:sp>
      <p:sp>
        <p:nvSpPr>
          <p:cNvPr id="557" name="Google Shape;557;p24"/>
          <p:cNvSpPr txBox="1"/>
          <p:nvPr/>
        </p:nvSpPr>
        <p:spPr>
          <a:xfrm>
            <a:off x="7519988" y="3462633"/>
            <a:ext cx="3619500" cy="1128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en-US" sz="733">
                <a:solidFill>
                  <a:srgbClr val="0F172A"/>
                </a:solidFill>
                <a:latin typeface="Plus Jakarta Sans"/>
                <a:ea typeface="Plus Jakarta Sans"/>
                <a:cs typeface="Plus Jakarta Sans"/>
                <a:sym typeface="Plus Jakarta Sans"/>
              </a:rPr>
              <a:t>Apply Playbook</a:t>
            </a:r>
            <a:endParaRPr b="1" sz="733">
              <a:solidFill>
                <a:srgbClr val="0F172A"/>
              </a:solidFill>
              <a:latin typeface="Plus Jakarta Sans"/>
              <a:ea typeface="Plus Jakarta Sans"/>
              <a:cs typeface="Plus Jakarta Sans"/>
              <a:sym typeface="Plus Jakarta Sans"/>
            </a:endParaRPr>
          </a:p>
        </p:txBody>
      </p:sp>
      <p:sp>
        <p:nvSpPr>
          <p:cNvPr id="558" name="Google Shape;558;p24"/>
          <p:cNvSpPr txBox="1"/>
          <p:nvPr/>
        </p:nvSpPr>
        <p:spPr>
          <a:xfrm>
            <a:off x="7519988" y="3595983"/>
            <a:ext cx="3619500" cy="1155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US" sz="750">
                <a:solidFill>
                  <a:srgbClr val="475569"/>
                </a:solidFill>
                <a:latin typeface="Plus Jakarta Sans"/>
                <a:ea typeface="Plus Jakarta Sans"/>
                <a:cs typeface="Plus Jakarta Sans"/>
                <a:sym typeface="Plus Jakarta Sans"/>
              </a:rPr>
              <a:t>Enforces systematic procedural templates</a:t>
            </a:r>
            <a:endParaRPr b="0" sz="750">
              <a:solidFill>
                <a:srgbClr val="475569"/>
              </a:solidFill>
              <a:latin typeface="Plus Jakarta Sans"/>
              <a:ea typeface="Plus Jakarta Sans"/>
              <a:cs typeface="Plus Jakarta Sans"/>
              <a:sym typeface="Plus Jakarta Sans"/>
            </a:endParaRPr>
          </a:p>
        </p:txBody>
      </p:sp>
      <p:sp>
        <p:nvSpPr>
          <p:cNvPr id="559" name="Google Shape;559;p24"/>
          <p:cNvSpPr txBox="1"/>
          <p:nvPr/>
        </p:nvSpPr>
        <p:spPr>
          <a:xfrm>
            <a:off x="7519988" y="3829345"/>
            <a:ext cx="3619500" cy="1128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en-US" sz="733">
                <a:solidFill>
                  <a:srgbClr val="0F172A"/>
                </a:solidFill>
                <a:latin typeface="Plus Jakarta Sans"/>
                <a:ea typeface="Plus Jakarta Sans"/>
                <a:cs typeface="Plus Jakarta Sans"/>
                <a:sym typeface="Plus Jakarta Sans"/>
              </a:rPr>
              <a:t>Plan Task</a:t>
            </a:r>
            <a:endParaRPr b="1" sz="733">
              <a:solidFill>
                <a:srgbClr val="0F172A"/>
              </a:solidFill>
              <a:latin typeface="Plus Jakarta Sans"/>
              <a:ea typeface="Plus Jakarta Sans"/>
              <a:cs typeface="Plus Jakarta Sans"/>
              <a:sym typeface="Plus Jakarta Sans"/>
            </a:endParaRPr>
          </a:p>
        </p:txBody>
      </p:sp>
      <p:sp>
        <p:nvSpPr>
          <p:cNvPr id="560" name="Google Shape;560;p24"/>
          <p:cNvSpPr txBox="1"/>
          <p:nvPr/>
        </p:nvSpPr>
        <p:spPr>
          <a:xfrm>
            <a:off x="7519988" y="3962695"/>
            <a:ext cx="3619500" cy="1155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US" sz="750">
                <a:solidFill>
                  <a:srgbClr val="475569"/>
                </a:solidFill>
                <a:latin typeface="Plus Jakarta Sans"/>
                <a:ea typeface="Plus Jakarta Sans"/>
                <a:cs typeface="Plus Jakarta Sans"/>
                <a:sym typeface="Plus Jakarta Sans"/>
              </a:rPr>
              <a:t>Scoping dependencies &amp; paths</a:t>
            </a:r>
            <a:endParaRPr b="0" sz="750">
              <a:solidFill>
                <a:srgbClr val="475569"/>
              </a:solidFill>
              <a:latin typeface="Plus Jakarta Sans"/>
              <a:ea typeface="Plus Jakarta Sans"/>
              <a:cs typeface="Plus Jakarta Sans"/>
              <a:sym typeface="Plus Jakarta Sans"/>
            </a:endParaRPr>
          </a:p>
        </p:txBody>
      </p:sp>
      <p:sp>
        <p:nvSpPr>
          <p:cNvPr id="561" name="Google Shape;561;p24"/>
          <p:cNvSpPr txBox="1"/>
          <p:nvPr/>
        </p:nvSpPr>
        <p:spPr>
          <a:xfrm>
            <a:off x="7519988" y="4196058"/>
            <a:ext cx="3619500" cy="1128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en-US" sz="733">
                <a:solidFill>
                  <a:srgbClr val="0F172A"/>
                </a:solidFill>
                <a:latin typeface="Plus Jakarta Sans"/>
                <a:ea typeface="Plus Jakarta Sans"/>
                <a:cs typeface="Plus Jakarta Sans"/>
                <a:sym typeface="Plus Jakarta Sans"/>
              </a:rPr>
              <a:t>Execute</a:t>
            </a:r>
            <a:endParaRPr b="1" sz="733">
              <a:solidFill>
                <a:srgbClr val="0F172A"/>
              </a:solidFill>
              <a:latin typeface="Plus Jakarta Sans"/>
              <a:ea typeface="Plus Jakarta Sans"/>
              <a:cs typeface="Plus Jakarta Sans"/>
              <a:sym typeface="Plus Jakarta Sans"/>
            </a:endParaRPr>
          </a:p>
        </p:txBody>
      </p:sp>
      <p:sp>
        <p:nvSpPr>
          <p:cNvPr id="562" name="Google Shape;562;p24"/>
          <p:cNvSpPr txBox="1"/>
          <p:nvPr/>
        </p:nvSpPr>
        <p:spPr>
          <a:xfrm>
            <a:off x="7519988" y="4329408"/>
            <a:ext cx="3619500" cy="1155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US" sz="750">
                <a:solidFill>
                  <a:srgbClr val="475569"/>
                </a:solidFill>
                <a:latin typeface="Plus Jakarta Sans"/>
                <a:ea typeface="Plus Jakarta Sans"/>
                <a:cs typeface="Plus Jakarta Sans"/>
                <a:sym typeface="Plus Jakarta Sans"/>
              </a:rPr>
              <a:t>Writes code, runs terminal, browses web</a:t>
            </a:r>
            <a:endParaRPr b="0" sz="750">
              <a:solidFill>
                <a:srgbClr val="475569"/>
              </a:solidFill>
              <a:latin typeface="Plus Jakarta Sans"/>
              <a:ea typeface="Plus Jakarta Sans"/>
              <a:cs typeface="Plus Jakarta Sans"/>
              <a:sym typeface="Plus Jakarta Sans"/>
            </a:endParaRPr>
          </a:p>
        </p:txBody>
      </p:sp>
      <p:sp>
        <p:nvSpPr>
          <p:cNvPr id="563" name="Google Shape;563;p24"/>
          <p:cNvSpPr txBox="1"/>
          <p:nvPr/>
        </p:nvSpPr>
        <p:spPr>
          <a:xfrm>
            <a:off x="7519988" y="4562770"/>
            <a:ext cx="3619500" cy="1128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en-US" sz="733">
                <a:solidFill>
                  <a:srgbClr val="0F172A"/>
                </a:solidFill>
                <a:latin typeface="Plus Jakarta Sans"/>
                <a:ea typeface="Plus Jakarta Sans"/>
                <a:cs typeface="Plus Jakarta Sans"/>
                <a:sym typeface="Plus Jakarta Sans"/>
              </a:rPr>
              <a:t>Verify</a:t>
            </a:r>
            <a:endParaRPr b="1" sz="733">
              <a:solidFill>
                <a:srgbClr val="0F172A"/>
              </a:solidFill>
              <a:latin typeface="Plus Jakarta Sans"/>
              <a:ea typeface="Plus Jakarta Sans"/>
              <a:cs typeface="Plus Jakarta Sans"/>
              <a:sym typeface="Plus Jakarta Sans"/>
            </a:endParaRPr>
          </a:p>
        </p:txBody>
      </p:sp>
      <p:sp>
        <p:nvSpPr>
          <p:cNvPr id="564" name="Google Shape;564;p24"/>
          <p:cNvSpPr txBox="1"/>
          <p:nvPr/>
        </p:nvSpPr>
        <p:spPr>
          <a:xfrm>
            <a:off x="7519988" y="4696120"/>
            <a:ext cx="3619500" cy="1155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US" sz="750">
                <a:solidFill>
                  <a:srgbClr val="475569"/>
                </a:solidFill>
                <a:latin typeface="Plus Jakarta Sans"/>
                <a:ea typeface="Plus Jakarta Sans"/>
                <a:cs typeface="Plus Jakarta Sans"/>
                <a:sym typeface="Plus Jakarta Sans"/>
              </a:rPr>
              <a:t>Executes lints &amp; validation checks</a:t>
            </a:r>
            <a:endParaRPr b="0" sz="750">
              <a:solidFill>
                <a:srgbClr val="475569"/>
              </a:solidFill>
              <a:latin typeface="Plus Jakarta Sans"/>
              <a:ea typeface="Plus Jakarta Sans"/>
              <a:cs typeface="Plus Jakarta Sans"/>
              <a:sym typeface="Plus Jakarta Sans"/>
            </a:endParaRPr>
          </a:p>
        </p:txBody>
      </p:sp>
      <p:sp>
        <p:nvSpPr>
          <p:cNvPr id="565" name="Google Shape;565;p24"/>
          <p:cNvSpPr txBox="1"/>
          <p:nvPr/>
        </p:nvSpPr>
        <p:spPr>
          <a:xfrm>
            <a:off x="7519988" y="4929483"/>
            <a:ext cx="3619500" cy="1128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en-US" sz="733">
                <a:solidFill>
                  <a:srgbClr val="0D9488"/>
                </a:solidFill>
                <a:latin typeface="Plus Jakarta Sans"/>
                <a:ea typeface="Plus Jakarta Sans"/>
                <a:cs typeface="Plus Jakarta Sans"/>
                <a:sym typeface="Plus Jakarta Sans"/>
              </a:rPr>
              <a:t>Create PR</a:t>
            </a:r>
            <a:endParaRPr b="1" sz="733">
              <a:solidFill>
                <a:srgbClr val="0D9488"/>
              </a:solidFill>
              <a:latin typeface="Plus Jakarta Sans"/>
              <a:ea typeface="Plus Jakarta Sans"/>
              <a:cs typeface="Plus Jakarta Sans"/>
              <a:sym typeface="Plus Jakarta Sans"/>
            </a:endParaRPr>
          </a:p>
        </p:txBody>
      </p:sp>
      <p:sp>
        <p:nvSpPr>
          <p:cNvPr id="566" name="Google Shape;566;p24"/>
          <p:cNvSpPr txBox="1"/>
          <p:nvPr/>
        </p:nvSpPr>
        <p:spPr>
          <a:xfrm>
            <a:off x="7519988" y="5062833"/>
            <a:ext cx="3619500" cy="1155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US" sz="750">
                <a:solidFill>
                  <a:srgbClr val="475569"/>
                </a:solidFill>
                <a:latin typeface="Plus Jakarta Sans"/>
                <a:ea typeface="Plus Jakarta Sans"/>
                <a:cs typeface="Plus Jakarta Sans"/>
                <a:sym typeface="Plus Jakarta Sans"/>
              </a:rPr>
              <a:t>Delivers pull requests to code platforms</a:t>
            </a:r>
            <a:endParaRPr b="0" sz="750">
              <a:solidFill>
                <a:srgbClr val="475569"/>
              </a:solidFill>
              <a:latin typeface="Plus Jakarta Sans"/>
              <a:ea typeface="Plus Jakarta Sans"/>
              <a:cs typeface="Plus Jakarta Sans"/>
              <a:sym typeface="Plus Jakarta Sans"/>
            </a:endParaRPr>
          </a:p>
        </p:txBody>
      </p:sp>
      <p:sp>
        <p:nvSpPr>
          <p:cNvPr id="567" name="Google Shape;567;p24"/>
          <p:cNvSpPr txBox="1"/>
          <p:nvPr/>
        </p:nvSpPr>
        <p:spPr>
          <a:xfrm>
            <a:off x="7519988" y="5296195"/>
            <a:ext cx="3619500" cy="1128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en-US" sz="733">
                <a:solidFill>
                  <a:srgbClr val="0D9488"/>
                </a:solidFill>
                <a:latin typeface="Plus Jakarta Sans"/>
                <a:ea typeface="Plus Jakarta Sans"/>
                <a:cs typeface="Plus Jakarta Sans"/>
                <a:sym typeface="Plus Jakarta Sans"/>
              </a:rPr>
              <a:t>Sleep / Complete</a:t>
            </a:r>
            <a:endParaRPr b="1" sz="733">
              <a:solidFill>
                <a:srgbClr val="0D9488"/>
              </a:solidFill>
              <a:latin typeface="Plus Jakarta Sans"/>
              <a:ea typeface="Plus Jakarta Sans"/>
              <a:cs typeface="Plus Jakarta Sans"/>
              <a:sym typeface="Plus Jakarta Sans"/>
            </a:endParaRPr>
          </a:p>
        </p:txBody>
      </p:sp>
      <p:sp>
        <p:nvSpPr>
          <p:cNvPr id="568" name="Google Shape;568;p24"/>
          <p:cNvSpPr txBox="1"/>
          <p:nvPr/>
        </p:nvSpPr>
        <p:spPr>
          <a:xfrm>
            <a:off x="7519988" y="5429545"/>
            <a:ext cx="3619500" cy="1155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US" sz="750">
                <a:solidFill>
                  <a:srgbClr val="475569"/>
                </a:solidFill>
                <a:latin typeface="Plus Jakarta Sans"/>
                <a:ea typeface="Plus Jakarta Sans"/>
                <a:cs typeface="Plus Jakarta Sans"/>
                <a:sym typeface="Plus Jakarta Sans"/>
              </a:rPr>
              <a:t>Enters archive / standby lifecycle</a:t>
            </a:r>
            <a:endParaRPr b="0" sz="750">
              <a:solidFill>
                <a:srgbClr val="475569"/>
              </a:solidFill>
              <a:latin typeface="Plus Jakarta Sans"/>
              <a:ea typeface="Plus Jakarta Sans"/>
              <a:cs typeface="Plus Jakarta Sans"/>
              <a:sym typeface="Plus Jakarta San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72" name="Shape 572"/>
        <p:cNvGrpSpPr/>
        <p:nvPr/>
      </p:nvGrpSpPr>
      <p:grpSpPr>
        <a:xfrm>
          <a:off x="0" y="0"/>
          <a:ext cx="0" cy="0"/>
          <a:chOff x="0" y="0"/>
          <a:chExt cx="0" cy="0"/>
        </a:xfrm>
      </p:grpSpPr>
      <p:pic>
        <p:nvPicPr>
          <p:cNvPr descr="image.png" id="573" name="Google Shape;573;p25"/>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574" name="Google Shape;574;p25"/>
          <p:cNvPicPr preferRelativeResize="0"/>
          <p:nvPr/>
        </p:nvPicPr>
        <p:blipFill rotWithShape="1">
          <a:blip r:embed="rId4">
            <a:alphaModFix/>
          </a:blip>
          <a:srcRect b="0" l="0" r="0" t="0"/>
          <a:stretch/>
        </p:blipFill>
        <p:spPr>
          <a:xfrm>
            <a:off x="7005637" y="1294060"/>
            <a:ext cx="4567237" cy="495448"/>
          </a:xfrm>
          <a:prstGeom prst="rect">
            <a:avLst/>
          </a:prstGeom>
          <a:noFill/>
          <a:ln>
            <a:noFill/>
          </a:ln>
        </p:spPr>
      </p:pic>
      <p:pic>
        <p:nvPicPr>
          <p:cNvPr descr="image.png" id="575" name="Google Shape;575;p25"/>
          <p:cNvPicPr preferRelativeResize="0"/>
          <p:nvPr/>
        </p:nvPicPr>
        <p:blipFill rotWithShape="1">
          <a:blip r:embed="rId5">
            <a:alphaModFix/>
          </a:blip>
          <a:srcRect b="0" l="0" r="0" t="0"/>
          <a:stretch/>
        </p:blipFill>
        <p:spPr>
          <a:xfrm>
            <a:off x="7005637" y="1846659"/>
            <a:ext cx="4567237" cy="495448"/>
          </a:xfrm>
          <a:prstGeom prst="rect">
            <a:avLst/>
          </a:prstGeom>
          <a:noFill/>
          <a:ln>
            <a:noFill/>
          </a:ln>
        </p:spPr>
      </p:pic>
      <p:pic>
        <p:nvPicPr>
          <p:cNvPr descr="image.png" id="576" name="Google Shape;576;p25"/>
          <p:cNvPicPr preferRelativeResize="0"/>
          <p:nvPr/>
        </p:nvPicPr>
        <p:blipFill rotWithShape="1">
          <a:blip r:embed="rId6">
            <a:alphaModFix/>
          </a:blip>
          <a:srcRect b="0" l="0" r="0" t="0"/>
          <a:stretch/>
        </p:blipFill>
        <p:spPr>
          <a:xfrm>
            <a:off x="7005637" y="2399258"/>
            <a:ext cx="4567237" cy="495448"/>
          </a:xfrm>
          <a:prstGeom prst="rect">
            <a:avLst/>
          </a:prstGeom>
          <a:noFill/>
          <a:ln>
            <a:noFill/>
          </a:ln>
        </p:spPr>
      </p:pic>
      <p:pic>
        <p:nvPicPr>
          <p:cNvPr descr="image.png" id="577" name="Google Shape;577;p25"/>
          <p:cNvPicPr preferRelativeResize="0"/>
          <p:nvPr/>
        </p:nvPicPr>
        <p:blipFill rotWithShape="1">
          <a:blip r:embed="rId7">
            <a:alphaModFix/>
          </a:blip>
          <a:srcRect b="0" l="0" r="0" t="0"/>
          <a:stretch/>
        </p:blipFill>
        <p:spPr>
          <a:xfrm>
            <a:off x="7005637" y="2951857"/>
            <a:ext cx="4567237" cy="495448"/>
          </a:xfrm>
          <a:prstGeom prst="rect">
            <a:avLst/>
          </a:prstGeom>
          <a:noFill/>
          <a:ln>
            <a:noFill/>
          </a:ln>
        </p:spPr>
      </p:pic>
      <p:pic>
        <p:nvPicPr>
          <p:cNvPr descr="image.png" id="578" name="Google Shape;578;p25"/>
          <p:cNvPicPr preferRelativeResize="0"/>
          <p:nvPr/>
        </p:nvPicPr>
        <p:blipFill rotWithShape="1">
          <a:blip r:embed="rId8">
            <a:alphaModFix/>
          </a:blip>
          <a:srcRect b="0" l="0" r="0" t="0"/>
          <a:stretch/>
        </p:blipFill>
        <p:spPr>
          <a:xfrm>
            <a:off x="571500" y="457200"/>
            <a:ext cx="823168" cy="200025"/>
          </a:xfrm>
          <a:prstGeom prst="rect">
            <a:avLst/>
          </a:prstGeom>
          <a:noFill/>
          <a:ln>
            <a:noFill/>
          </a:ln>
        </p:spPr>
      </p:pic>
      <p:sp>
        <p:nvSpPr>
          <p:cNvPr id="579" name="Google Shape;579;p25"/>
          <p:cNvSpPr txBox="1"/>
          <p:nvPr/>
        </p:nvSpPr>
        <p:spPr>
          <a:xfrm>
            <a:off x="571500" y="1052214"/>
            <a:ext cx="6195900" cy="126900"/>
          </a:xfrm>
          <a:prstGeom prst="rect">
            <a:avLst/>
          </a:prstGeom>
          <a:noFill/>
          <a:ln>
            <a:noFill/>
          </a:ln>
        </p:spPr>
        <p:txBody>
          <a:bodyPr anchorCtr="0" anchor="t" bIns="0" lIns="0" spcFirstLastPara="1" rIns="0" wrap="square" tIns="0">
            <a:spAutoFit/>
          </a:bodyPr>
          <a:lstStyle/>
          <a:p>
            <a:pPr indent="0" lvl="0" marL="0" marR="0" rtl="0" algn="l">
              <a:lnSpc>
                <a:spcPct val="144969"/>
              </a:lnSpc>
              <a:spcBef>
                <a:spcPts val="0"/>
              </a:spcBef>
              <a:spcAft>
                <a:spcPts val="0"/>
              </a:spcAft>
              <a:buNone/>
            </a:pPr>
            <a:r>
              <a:rPr b="1" i="0" lang="en-US" sz="825" u="none" cap="none" strike="noStrike">
                <a:solidFill>
                  <a:srgbClr val="2563EB"/>
                </a:solidFill>
                <a:latin typeface="Plus Jakarta Sans"/>
                <a:ea typeface="Plus Jakarta Sans"/>
                <a:cs typeface="Plus Jakarta Sans"/>
                <a:sym typeface="Plus Jakarta Sans"/>
              </a:rPr>
              <a:t>PURPOSE:</a:t>
            </a:r>
            <a:endParaRPr/>
          </a:p>
        </p:txBody>
      </p:sp>
      <p:sp>
        <p:nvSpPr>
          <p:cNvPr id="580" name="Google Shape;580;p25"/>
          <p:cNvSpPr txBox="1"/>
          <p:nvPr/>
        </p:nvSpPr>
        <p:spPr>
          <a:xfrm>
            <a:off x="571500" y="1223069"/>
            <a:ext cx="6195900" cy="161700"/>
          </a:xfrm>
          <a:prstGeom prst="rect">
            <a:avLst/>
          </a:prstGeom>
          <a:noFill/>
          <a:ln>
            <a:noFill/>
          </a:ln>
        </p:spPr>
        <p:txBody>
          <a:bodyPr anchorCtr="0" anchor="t" bIns="0" lIns="0" spcFirstLastPara="1" rIns="0" wrap="square" tIns="0">
            <a:spAutoFit/>
          </a:bodyPr>
          <a:lstStyle/>
          <a:p>
            <a:pPr indent="0" lvl="0" marL="0" marR="0" rtl="0" algn="l">
              <a:lnSpc>
                <a:spcPct val="144952"/>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Provide persistent, organization-wide context that Devin automatically retrieves during sessions.</a:t>
            </a:r>
            <a:endParaRPr/>
          </a:p>
        </p:txBody>
      </p:sp>
      <p:sp>
        <p:nvSpPr>
          <p:cNvPr id="581" name="Google Shape;581;p25"/>
          <p:cNvSpPr txBox="1"/>
          <p:nvPr/>
        </p:nvSpPr>
        <p:spPr>
          <a:xfrm>
            <a:off x="571500" y="1492597"/>
            <a:ext cx="6195900" cy="126900"/>
          </a:xfrm>
          <a:prstGeom prst="rect">
            <a:avLst/>
          </a:prstGeom>
          <a:noFill/>
          <a:ln>
            <a:noFill/>
          </a:ln>
        </p:spPr>
        <p:txBody>
          <a:bodyPr anchorCtr="0" anchor="t" bIns="0" lIns="0" spcFirstLastPara="1" rIns="0" wrap="square" tIns="0">
            <a:spAutoFit/>
          </a:bodyPr>
          <a:lstStyle/>
          <a:p>
            <a:pPr indent="0" lvl="0" marL="0" marR="0" rtl="0" algn="l">
              <a:lnSpc>
                <a:spcPct val="144969"/>
              </a:lnSpc>
              <a:spcBef>
                <a:spcPts val="0"/>
              </a:spcBef>
              <a:spcAft>
                <a:spcPts val="0"/>
              </a:spcAft>
              <a:buNone/>
            </a:pPr>
            <a:r>
              <a:rPr b="1" i="0" lang="en-US" sz="825" u="none" cap="none" strike="noStrike">
                <a:solidFill>
                  <a:srgbClr val="2563EB"/>
                </a:solidFill>
                <a:latin typeface="Plus Jakarta Sans"/>
                <a:ea typeface="Plus Jakarta Sans"/>
                <a:cs typeface="Plus Jakarta Sans"/>
                <a:sym typeface="Plus Jakarta Sans"/>
              </a:rPr>
              <a:t>WHY IT EXISTS:</a:t>
            </a:r>
            <a:endParaRPr/>
          </a:p>
        </p:txBody>
      </p:sp>
      <p:sp>
        <p:nvSpPr>
          <p:cNvPr id="582" name="Google Shape;582;p25"/>
          <p:cNvSpPr txBox="1"/>
          <p:nvPr/>
        </p:nvSpPr>
        <p:spPr>
          <a:xfrm>
            <a:off x="571500" y="1663451"/>
            <a:ext cx="6195900" cy="630300"/>
          </a:xfrm>
          <a:prstGeom prst="rect">
            <a:avLst/>
          </a:prstGeom>
          <a:noFill/>
          <a:ln>
            <a:noFill/>
          </a:ln>
        </p:spPr>
        <p:txBody>
          <a:bodyPr anchorCtr="0" anchor="t" bIns="0" lIns="0" spcFirstLastPara="1" rIns="0" wrap="square" tIns="0">
            <a:spAutoFit/>
          </a:bodyPr>
          <a:lstStyle/>
          <a:p>
            <a:pPr indent="0" lvl="0" marL="0" marR="0" rtl="0" algn="l">
              <a:lnSpc>
                <a:spcPct val="144952"/>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Just like onboarding a new engineer, Devin needs institutional context — coding standards, deployment workflows, proprietary tool usage, PR conventions. Knowledge is the mechanism for transferring this context once and having it available in every future session.</a:t>
            </a:r>
            <a:endParaRPr/>
          </a:p>
        </p:txBody>
      </p:sp>
      <p:sp>
        <p:nvSpPr>
          <p:cNvPr id="583" name="Google Shape;583;p25"/>
          <p:cNvSpPr txBox="1"/>
          <p:nvPr/>
        </p:nvSpPr>
        <p:spPr>
          <a:xfrm>
            <a:off x="571500" y="2319635"/>
            <a:ext cx="6195900" cy="126900"/>
          </a:xfrm>
          <a:prstGeom prst="rect">
            <a:avLst/>
          </a:prstGeom>
          <a:noFill/>
          <a:ln>
            <a:noFill/>
          </a:ln>
        </p:spPr>
        <p:txBody>
          <a:bodyPr anchorCtr="0" anchor="t" bIns="0" lIns="0" spcFirstLastPara="1" rIns="0" wrap="square" tIns="0">
            <a:spAutoFit/>
          </a:bodyPr>
          <a:lstStyle/>
          <a:p>
            <a:pPr indent="0" lvl="0" marL="0" marR="0" rtl="0" algn="l">
              <a:lnSpc>
                <a:spcPct val="144969"/>
              </a:lnSpc>
              <a:spcBef>
                <a:spcPts val="0"/>
              </a:spcBef>
              <a:spcAft>
                <a:spcPts val="0"/>
              </a:spcAft>
              <a:buNone/>
            </a:pPr>
            <a:r>
              <a:rPr b="1" i="0" lang="en-US" sz="825" u="none" cap="none" strike="noStrike">
                <a:solidFill>
                  <a:srgbClr val="2563EB"/>
                </a:solidFill>
                <a:latin typeface="Plus Jakarta Sans"/>
                <a:ea typeface="Plus Jakarta Sans"/>
                <a:cs typeface="Plus Jakarta Sans"/>
                <a:sym typeface="Plus Jakarta Sans"/>
              </a:rPr>
              <a:t>INTERNAL CONCEPT:</a:t>
            </a:r>
            <a:endParaRPr/>
          </a:p>
        </p:txBody>
      </p:sp>
      <p:sp>
        <p:nvSpPr>
          <p:cNvPr id="584" name="Google Shape;584;p25"/>
          <p:cNvSpPr txBox="1"/>
          <p:nvPr/>
        </p:nvSpPr>
        <p:spPr>
          <a:xfrm>
            <a:off x="571500" y="4781550"/>
            <a:ext cx="6195900" cy="1269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en-US" sz="825">
                <a:solidFill>
                  <a:srgbClr val="2563EB"/>
                </a:solidFill>
                <a:latin typeface="Plus Jakarta Sans"/>
                <a:ea typeface="Plus Jakarta Sans"/>
                <a:cs typeface="Plus Jakarta Sans"/>
                <a:sym typeface="Plus Jakarta Sans"/>
              </a:rPr>
              <a:t>ENTERPRISE USE CASE:</a:t>
            </a:r>
            <a:endParaRPr b="1" sz="825">
              <a:solidFill>
                <a:srgbClr val="2563EB"/>
              </a:solidFill>
              <a:latin typeface="Plus Jakarta Sans"/>
              <a:ea typeface="Plus Jakarta Sans"/>
              <a:cs typeface="Plus Jakarta Sans"/>
              <a:sym typeface="Plus Jakarta Sans"/>
            </a:endParaRPr>
          </a:p>
        </p:txBody>
      </p:sp>
      <p:sp>
        <p:nvSpPr>
          <p:cNvPr id="585" name="Google Shape;585;p25"/>
          <p:cNvSpPr txBox="1"/>
          <p:nvPr/>
        </p:nvSpPr>
        <p:spPr>
          <a:xfrm>
            <a:off x="571500" y="4933950"/>
            <a:ext cx="6195900" cy="4848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US" sz="1050">
                <a:solidFill>
                  <a:srgbClr val="334155"/>
                </a:solidFill>
                <a:latin typeface="Plus Jakarta Sans"/>
                <a:ea typeface="Plus Jakarta Sans"/>
                <a:cs typeface="Plus Jakarta Sans"/>
                <a:sym typeface="Plus Jakarta Sans"/>
              </a:rPr>
              <a:t>An enterprise has a company-wide coding standard for error handling. An Enterprise Knowledge item captures this. Every Devin session across all teams automatically applies it without engineers needing to repeat it in every prompt.</a:t>
            </a:r>
            <a:endParaRPr b="0" sz="1050">
              <a:solidFill>
                <a:srgbClr val="334155"/>
              </a:solidFill>
              <a:latin typeface="Plus Jakarta Sans"/>
              <a:ea typeface="Plus Jakarta Sans"/>
              <a:cs typeface="Plus Jakarta Sans"/>
              <a:sym typeface="Plus Jakarta Sans"/>
            </a:endParaRPr>
          </a:p>
        </p:txBody>
      </p:sp>
      <p:sp>
        <p:nvSpPr>
          <p:cNvPr id="586" name="Google Shape;586;p25"/>
          <p:cNvSpPr txBox="1"/>
          <p:nvPr/>
        </p:nvSpPr>
        <p:spPr>
          <a:xfrm>
            <a:off x="571500" y="5505450"/>
            <a:ext cx="6195900" cy="1155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en-US" sz="750">
                <a:solidFill>
                  <a:srgbClr val="0D9488"/>
                </a:solidFill>
                <a:latin typeface="Plus Jakarta Sans"/>
                <a:ea typeface="Plus Jakarta Sans"/>
                <a:cs typeface="Plus Jakarta Sans"/>
                <a:sym typeface="Plus Jakarta Sans"/>
              </a:rPr>
              <a:t>ADVANTAGES:</a:t>
            </a:r>
            <a:endParaRPr b="1" sz="750">
              <a:solidFill>
                <a:srgbClr val="0D9488"/>
              </a:solidFill>
              <a:latin typeface="Plus Jakarta Sans"/>
              <a:ea typeface="Plus Jakarta Sans"/>
              <a:cs typeface="Plus Jakarta Sans"/>
              <a:sym typeface="Plus Jakarta Sans"/>
            </a:endParaRPr>
          </a:p>
        </p:txBody>
      </p:sp>
      <p:sp>
        <p:nvSpPr>
          <p:cNvPr id="587" name="Google Shape;587;p25"/>
          <p:cNvSpPr txBox="1"/>
          <p:nvPr/>
        </p:nvSpPr>
        <p:spPr>
          <a:xfrm>
            <a:off x="571500" y="5657850"/>
            <a:ext cx="6195900" cy="1494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US" sz="971">
                <a:solidFill>
                  <a:srgbClr val="334155"/>
                </a:solidFill>
                <a:latin typeface="Plus Jakarta Sans"/>
                <a:ea typeface="Plus Jakarta Sans"/>
                <a:cs typeface="Plus Jakarta Sans"/>
                <a:sym typeface="Plus Jakarta Sans"/>
              </a:rPr>
              <a:t>Accumulates over time; shared across the organization; reduces prompt repetition; auto-suggested</a:t>
            </a:r>
            <a:endParaRPr b="0" sz="971">
              <a:solidFill>
                <a:srgbClr val="334155"/>
              </a:solidFill>
              <a:latin typeface="Plus Jakarta Sans"/>
              <a:ea typeface="Plus Jakarta Sans"/>
              <a:cs typeface="Plus Jakarta Sans"/>
              <a:sym typeface="Plus Jakarta Sans"/>
            </a:endParaRPr>
          </a:p>
        </p:txBody>
      </p:sp>
      <p:sp>
        <p:nvSpPr>
          <p:cNvPr id="588" name="Google Shape;588;p25"/>
          <p:cNvSpPr txBox="1"/>
          <p:nvPr/>
        </p:nvSpPr>
        <p:spPr>
          <a:xfrm>
            <a:off x="571500" y="5943600"/>
            <a:ext cx="6195900" cy="1155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en-US" sz="750">
                <a:solidFill>
                  <a:srgbClr val="EF4444"/>
                </a:solidFill>
                <a:latin typeface="Plus Jakarta Sans"/>
                <a:ea typeface="Plus Jakarta Sans"/>
                <a:cs typeface="Plus Jakarta Sans"/>
                <a:sym typeface="Plus Jakarta Sans"/>
              </a:rPr>
              <a:t>LIMITATIONS:</a:t>
            </a:r>
            <a:endParaRPr b="1" sz="750">
              <a:solidFill>
                <a:srgbClr val="EF4444"/>
              </a:solidFill>
              <a:latin typeface="Plus Jakarta Sans"/>
              <a:ea typeface="Plus Jakarta Sans"/>
              <a:cs typeface="Plus Jakarta Sans"/>
              <a:sym typeface="Plus Jakarta Sans"/>
            </a:endParaRPr>
          </a:p>
        </p:txBody>
      </p:sp>
      <p:sp>
        <p:nvSpPr>
          <p:cNvPr id="589" name="Google Shape;589;p25"/>
          <p:cNvSpPr txBox="1"/>
          <p:nvPr/>
        </p:nvSpPr>
        <p:spPr>
          <a:xfrm>
            <a:off x="571500" y="6096000"/>
            <a:ext cx="6195900" cy="3231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US" sz="1050">
                <a:solidFill>
                  <a:srgbClr val="334155"/>
                </a:solidFill>
                <a:latin typeface="Plus Jakarta Sans"/>
                <a:ea typeface="Plus Jakarta Sans"/>
                <a:cs typeface="Plus Jakarta Sans"/>
                <a:sym typeface="Plus Jakarta Sans"/>
              </a:rPr>
              <a:t>Knowledge is retrieved based on relevance — overly broad triggers may cause irrelevant retrieval; overly narrow triggers may cause missed retrieval</a:t>
            </a:r>
            <a:endParaRPr b="0" sz="1050">
              <a:solidFill>
                <a:srgbClr val="334155"/>
              </a:solidFill>
              <a:latin typeface="Plus Jakarta Sans"/>
              <a:ea typeface="Plus Jakarta Sans"/>
              <a:cs typeface="Plus Jakarta Sans"/>
              <a:sym typeface="Plus Jakarta Sans"/>
            </a:endParaRPr>
          </a:p>
        </p:txBody>
      </p:sp>
      <p:sp>
        <p:nvSpPr>
          <p:cNvPr id="590" name="Google Shape;590;p25"/>
          <p:cNvSpPr txBox="1"/>
          <p:nvPr/>
        </p:nvSpPr>
        <p:spPr>
          <a:xfrm>
            <a:off x="7005637" y="1052214"/>
            <a:ext cx="4567200" cy="138600"/>
          </a:xfrm>
          <a:prstGeom prst="rect">
            <a:avLst/>
          </a:prstGeom>
          <a:noFill/>
          <a:ln>
            <a:noFill/>
          </a:ln>
        </p:spPr>
        <p:txBody>
          <a:bodyPr anchorCtr="0" anchor="t" bIns="0" lIns="133350" spcFirstLastPara="1" rIns="0" wrap="square" tIns="0">
            <a:spAutoFit/>
          </a:bodyPr>
          <a:lstStyle/>
          <a:p>
            <a:pPr indent="0" lvl="0" marL="0" marR="0" rtl="0" algn="ctr">
              <a:lnSpc>
                <a:spcPct val="145000"/>
              </a:lnSpc>
              <a:spcBef>
                <a:spcPts val="0"/>
              </a:spcBef>
              <a:spcAft>
                <a:spcPts val="0"/>
              </a:spcAft>
              <a:buNone/>
            </a:pPr>
            <a:r>
              <a:rPr b="1" i="0" lang="en-US" sz="900" u="none" cap="none" strike="noStrike">
                <a:solidFill>
                  <a:srgbClr val="0F172A"/>
                </a:solidFill>
                <a:latin typeface="Plus Jakarta Sans"/>
                <a:ea typeface="Plus Jakarta Sans"/>
                <a:cs typeface="Plus Jakarta Sans"/>
                <a:sym typeface="Plus Jakarta Sans"/>
              </a:rPr>
              <a:t>SCOPE HIERARCHY MAP</a:t>
            </a:r>
            <a:endParaRPr/>
          </a:p>
        </p:txBody>
      </p:sp>
      <p:sp>
        <p:nvSpPr>
          <p:cNvPr id="591" name="Google Shape;591;p25"/>
          <p:cNvSpPr txBox="1"/>
          <p:nvPr/>
        </p:nvSpPr>
        <p:spPr>
          <a:xfrm>
            <a:off x="7005637" y="3561605"/>
            <a:ext cx="4567200" cy="126900"/>
          </a:xfrm>
          <a:prstGeom prst="rect">
            <a:avLst/>
          </a:prstGeom>
          <a:noFill/>
          <a:ln>
            <a:noFill/>
          </a:ln>
        </p:spPr>
        <p:txBody>
          <a:bodyPr anchorCtr="0" anchor="t" bIns="0" lIns="0" spcFirstLastPara="1" rIns="0" wrap="square" tIns="0">
            <a:spAutoFit/>
          </a:bodyPr>
          <a:lstStyle/>
          <a:p>
            <a:pPr indent="0" lvl="0" marL="0" marR="0" rtl="0" algn="l">
              <a:lnSpc>
                <a:spcPct val="144969"/>
              </a:lnSpc>
              <a:spcBef>
                <a:spcPts val="0"/>
              </a:spcBef>
              <a:spcAft>
                <a:spcPts val="0"/>
              </a:spcAft>
              <a:buNone/>
            </a:pPr>
            <a:r>
              <a:rPr b="1" i="0" lang="en-US" sz="825" u="none" cap="none" strike="noStrike">
                <a:solidFill>
                  <a:srgbClr val="0D9488"/>
                </a:solidFill>
                <a:latin typeface="Plus Jakarta Sans"/>
                <a:ea typeface="Plus Jakarta Sans"/>
                <a:cs typeface="Plus Jakarta Sans"/>
                <a:sym typeface="Plus Jakarta Sans"/>
              </a:rPr>
              <a:t>BEST PRACTICES:</a:t>
            </a:r>
            <a:endParaRPr/>
          </a:p>
        </p:txBody>
      </p:sp>
      <p:sp>
        <p:nvSpPr>
          <p:cNvPr id="592" name="Google Shape;592;p25"/>
          <p:cNvSpPr txBox="1"/>
          <p:nvPr/>
        </p:nvSpPr>
        <p:spPr>
          <a:xfrm>
            <a:off x="800100" y="2486025"/>
            <a:ext cx="5967300" cy="3231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US" sz="1050">
                <a:solidFill>
                  <a:srgbClr val="334155"/>
                </a:solidFill>
                <a:latin typeface="Plus Jakarta Sans"/>
                <a:ea typeface="Plus Jakarta Sans"/>
                <a:cs typeface="Plus Jakarta Sans"/>
                <a:sym typeface="Plus Jakarta Sans"/>
              </a:rPr>
              <a:t>Knowledge items have a </a:t>
            </a:r>
            <a:r>
              <a:rPr b="1" lang="en-US" sz="1050">
                <a:solidFill>
                  <a:srgbClr val="334155"/>
                </a:solidFill>
                <a:latin typeface="Plus Jakarta Sans"/>
                <a:ea typeface="Plus Jakarta Sans"/>
                <a:cs typeface="Plus Jakarta Sans"/>
                <a:sym typeface="Plus Jakarta Sans"/>
              </a:rPr>
              <a:t>trigger description</a:t>
            </a:r>
            <a:r>
              <a:rPr b="0" lang="en-US" sz="1050">
                <a:solidFill>
                  <a:srgbClr val="334155"/>
                </a:solidFill>
                <a:latin typeface="Plus Jakarta Sans"/>
                <a:ea typeface="Plus Jakarta Sans"/>
                <a:cs typeface="Plus Jakarta Sans"/>
                <a:sym typeface="Plus Jakarta Sans"/>
              </a:rPr>
              <a:t> — a phrase or sentence that tells Devin when to retrieve the item</a:t>
            </a:r>
            <a:endParaRPr b="0" sz="1050">
              <a:solidFill>
                <a:srgbClr val="334155"/>
              </a:solidFill>
              <a:latin typeface="Plus Jakarta Sans"/>
              <a:ea typeface="Plus Jakarta Sans"/>
              <a:cs typeface="Plus Jakarta Sans"/>
              <a:sym typeface="Plus Jakarta Sans"/>
            </a:endParaRPr>
          </a:p>
        </p:txBody>
      </p:sp>
      <p:sp>
        <p:nvSpPr>
          <p:cNvPr id="593" name="Google Shape;593;p25"/>
          <p:cNvSpPr txBox="1"/>
          <p:nvPr/>
        </p:nvSpPr>
        <p:spPr>
          <a:xfrm>
            <a:off x="800100" y="2905125"/>
            <a:ext cx="5967300" cy="3231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US" sz="1050">
                <a:solidFill>
                  <a:srgbClr val="334155"/>
                </a:solidFill>
                <a:latin typeface="Plus Jakarta Sans"/>
                <a:ea typeface="Plus Jakarta Sans"/>
                <a:cs typeface="Plus Jakarta Sans"/>
                <a:sym typeface="Plus Jakarta Sans"/>
              </a:rPr>
              <a:t>Devin retrieves Knowledge </a:t>
            </a:r>
            <a:r>
              <a:rPr b="1" lang="en-US" sz="1050">
                <a:solidFill>
                  <a:srgbClr val="334155"/>
                </a:solidFill>
                <a:latin typeface="Plus Jakarta Sans"/>
                <a:ea typeface="Plus Jakarta Sans"/>
                <a:cs typeface="Plus Jakarta Sans"/>
                <a:sym typeface="Plus Jakarta Sans"/>
              </a:rPr>
              <a:t>automatically</a:t>
            </a:r>
            <a:r>
              <a:rPr b="0" lang="en-US" sz="1050">
                <a:solidFill>
                  <a:srgbClr val="334155"/>
                </a:solidFill>
                <a:latin typeface="Plus Jakarta Sans"/>
                <a:ea typeface="Plus Jakarta Sans"/>
                <a:cs typeface="Plus Jakarta Sans"/>
                <a:sym typeface="Plus Jakarta Sans"/>
              </a:rPr>
              <a:t> when its current work is related to the trigger — not all at once, not all at the beginning</a:t>
            </a:r>
            <a:endParaRPr b="0" sz="1050">
              <a:solidFill>
                <a:srgbClr val="334155"/>
              </a:solidFill>
              <a:latin typeface="Plus Jakarta Sans"/>
              <a:ea typeface="Plus Jakarta Sans"/>
              <a:cs typeface="Plus Jakarta Sans"/>
              <a:sym typeface="Plus Jakarta Sans"/>
            </a:endParaRPr>
          </a:p>
        </p:txBody>
      </p:sp>
      <p:sp>
        <p:nvSpPr>
          <p:cNvPr id="594" name="Google Shape;594;p25"/>
          <p:cNvSpPr txBox="1"/>
          <p:nvPr/>
        </p:nvSpPr>
        <p:spPr>
          <a:xfrm>
            <a:off x="800100" y="3324225"/>
            <a:ext cx="5967300" cy="1617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US" sz="1050">
                <a:solidFill>
                  <a:srgbClr val="334155"/>
                </a:solidFill>
                <a:latin typeface="Plus Jakarta Sans"/>
                <a:ea typeface="Plus Jakarta Sans"/>
                <a:cs typeface="Plus Jakarta Sans"/>
                <a:sym typeface="Plus Jakarta Sans"/>
              </a:rPr>
              <a:t>Knowledge can be </a:t>
            </a:r>
            <a:r>
              <a:rPr b="1" lang="en-US" sz="1050">
                <a:solidFill>
                  <a:srgbClr val="334155"/>
                </a:solidFill>
                <a:latin typeface="Plus Jakarta Sans"/>
                <a:ea typeface="Plus Jakarta Sans"/>
                <a:cs typeface="Plus Jakarta Sans"/>
                <a:sym typeface="Plus Jakarta Sans"/>
              </a:rPr>
              <a:t>pinned to a specific repo</a:t>
            </a:r>
            <a:r>
              <a:rPr b="0" lang="en-US" sz="1050">
                <a:solidFill>
                  <a:srgbClr val="334155"/>
                </a:solidFill>
                <a:latin typeface="Plus Jakarta Sans"/>
                <a:ea typeface="Plus Jakarta Sans"/>
                <a:cs typeface="Plus Jakarta Sans"/>
                <a:sym typeface="Plus Jakarta Sans"/>
              </a:rPr>
              <a:t>, </a:t>
            </a:r>
            <a:r>
              <a:rPr b="1" lang="en-US" sz="1050">
                <a:solidFill>
                  <a:srgbClr val="334155"/>
                </a:solidFill>
                <a:latin typeface="Plus Jakarta Sans"/>
                <a:ea typeface="Plus Jakarta Sans"/>
                <a:cs typeface="Plus Jakarta Sans"/>
                <a:sym typeface="Plus Jakarta Sans"/>
              </a:rPr>
              <a:t>all repos</a:t>
            </a:r>
            <a:r>
              <a:rPr b="0" lang="en-US" sz="1050">
                <a:solidFill>
                  <a:srgbClr val="334155"/>
                </a:solidFill>
                <a:latin typeface="Plus Jakarta Sans"/>
                <a:ea typeface="Plus Jakarta Sans"/>
                <a:cs typeface="Plus Jakarta Sans"/>
                <a:sym typeface="Plus Jakarta Sans"/>
              </a:rPr>
              <a:t>, or </a:t>
            </a:r>
            <a:r>
              <a:rPr b="1" lang="en-US" sz="1050">
                <a:solidFill>
                  <a:srgbClr val="334155"/>
                </a:solidFill>
                <a:latin typeface="Plus Jakarta Sans"/>
                <a:ea typeface="Plus Jakarta Sans"/>
                <a:cs typeface="Plus Jakarta Sans"/>
                <a:sym typeface="Plus Jakarta Sans"/>
              </a:rPr>
              <a:t>no repo</a:t>
            </a:r>
            <a:r>
              <a:rPr b="0" lang="en-US" sz="1050">
                <a:solidFill>
                  <a:srgbClr val="334155"/>
                </a:solidFill>
                <a:latin typeface="Plus Jakarta Sans"/>
                <a:ea typeface="Plus Jakarta Sans"/>
                <a:cs typeface="Plus Jakarta Sans"/>
                <a:sym typeface="Plus Jakarta Sans"/>
              </a:rPr>
              <a:t> (trigger-only)</a:t>
            </a:r>
            <a:endParaRPr b="0" sz="1050">
              <a:solidFill>
                <a:srgbClr val="334155"/>
              </a:solidFill>
              <a:latin typeface="Plus Jakarta Sans"/>
              <a:ea typeface="Plus Jakarta Sans"/>
              <a:cs typeface="Plus Jakarta Sans"/>
              <a:sym typeface="Plus Jakarta Sans"/>
            </a:endParaRPr>
          </a:p>
        </p:txBody>
      </p:sp>
      <p:sp>
        <p:nvSpPr>
          <p:cNvPr id="595" name="Google Shape;595;p25"/>
          <p:cNvSpPr txBox="1"/>
          <p:nvPr/>
        </p:nvSpPr>
        <p:spPr>
          <a:xfrm>
            <a:off x="800100" y="3552825"/>
            <a:ext cx="5967300" cy="1494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US" sz="971">
                <a:solidFill>
                  <a:srgbClr val="334155"/>
                </a:solidFill>
                <a:latin typeface="Plus Jakarta Sans"/>
                <a:ea typeface="Plus Jakarta Sans"/>
                <a:cs typeface="Plus Jakarta Sans"/>
                <a:sym typeface="Plus Jakarta Sans"/>
              </a:rPr>
              <a:t>Knowledge is organized in </a:t>
            </a:r>
            <a:r>
              <a:rPr b="1" lang="en-US" sz="971">
                <a:solidFill>
                  <a:srgbClr val="334155"/>
                </a:solidFill>
                <a:latin typeface="Plus Jakarta Sans"/>
                <a:ea typeface="Plus Jakarta Sans"/>
                <a:cs typeface="Plus Jakarta Sans"/>
                <a:sym typeface="Plus Jakarta Sans"/>
              </a:rPr>
              <a:t>folders</a:t>
            </a:r>
            <a:r>
              <a:rPr b="0" lang="en-US" sz="971">
                <a:solidFill>
                  <a:srgbClr val="334155"/>
                </a:solidFill>
                <a:latin typeface="Plus Jakarta Sans"/>
                <a:ea typeface="Plus Jakarta Sans"/>
                <a:cs typeface="Plus Jakarta Sans"/>
                <a:sym typeface="Plus Jakarta Sans"/>
              </a:rPr>
              <a:t> with nested hierarchy, bulk enable/disable, and auto-organize</a:t>
            </a:r>
            <a:endParaRPr b="0" sz="971">
              <a:solidFill>
                <a:srgbClr val="334155"/>
              </a:solidFill>
              <a:latin typeface="Plus Jakarta Sans"/>
              <a:ea typeface="Plus Jakarta Sans"/>
              <a:cs typeface="Plus Jakarta Sans"/>
              <a:sym typeface="Plus Jakarta Sans"/>
            </a:endParaRPr>
          </a:p>
        </p:txBody>
      </p:sp>
      <p:sp>
        <p:nvSpPr>
          <p:cNvPr id="596" name="Google Shape;596;p25"/>
          <p:cNvSpPr txBox="1"/>
          <p:nvPr/>
        </p:nvSpPr>
        <p:spPr>
          <a:xfrm>
            <a:off x="800100" y="3924300"/>
            <a:ext cx="5967300" cy="1617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US" sz="1050">
                <a:solidFill>
                  <a:srgbClr val="334155"/>
                </a:solidFill>
                <a:latin typeface="Plus Jakarta Sans"/>
                <a:ea typeface="Plus Jakarta Sans"/>
                <a:cs typeface="Plus Jakarta Sans"/>
                <a:sym typeface="Plus Jakarta Sans"/>
              </a:rPr>
              <a:t>Devin </a:t>
            </a:r>
            <a:r>
              <a:rPr b="1" lang="en-US" sz="1050">
                <a:solidFill>
                  <a:srgbClr val="334155"/>
                </a:solidFill>
                <a:latin typeface="Plus Jakarta Sans"/>
                <a:ea typeface="Plus Jakarta Sans"/>
                <a:cs typeface="Plus Jakarta Sans"/>
                <a:sym typeface="Plus Jakarta Sans"/>
              </a:rPr>
              <a:t>suggests new Knowledge</a:t>
            </a:r>
            <a:r>
              <a:rPr b="0" lang="en-US" sz="1050">
                <a:solidFill>
                  <a:srgbClr val="334155"/>
                </a:solidFill>
                <a:latin typeface="Plus Jakarta Sans"/>
                <a:ea typeface="Plus Jakarta Sans"/>
                <a:cs typeface="Plus Jakarta Sans"/>
                <a:sym typeface="Plus Jakarta Sans"/>
              </a:rPr>
              <a:t> based on session feedback — engineers review and approve</a:t>
            </a:r>
            <a:endParaRPr b="0" sz="1050">
              <a:solidFill>
                <a:srgbClr val="334155"/>
              </a:solidFill>
              <a:latin typeface="Plus Jakarta Sans"/>
              <a:ea typeface="Plus Jakarta Sans"/>
              <a:cs typeface="Plus Jakarta Sans"/>
              <a:sym typeface="Plus Jakarta Sans"/>
            </a:endParaRPr>
          </a:p>
        </p:txBody>
      </p:sp>
      <p:sp>
        <p:nvSpPr>
          <p:cNvPr id="597" name="Google Shape;597;p25"/>
          <p:cNvSpPr txBox="1"/>
          <p:nvPr/>
        </p:nvSpPr>
        <p:spPr>
          <a:xfrm>
            <a:off x="800100" y="4295775"/>
            <a:ext cx="5967300" cy="3231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US" sz="1050">
                <a:solidFill>
                  <a:srgbClr val="334155"/>
                </a:solidFill>
                <a:latin typeface="Plus Jakarta Sans"/>
                <a:ea typeface="Plus Jakarta Sans"/>
                <a:cs typeface="Plus Jakarta Sans"/>
                <a:sym typeface="Plus Jakarta Sans"/>
              </a:rPr>
              <a:t>Enterprise Knowledge applies </a:t>
            </a:r>
            <a:r>
              <a:rPr b="1" lang="en-US" sz="1050">
                <a:solidFill>
                  <a:srgbClr val="334155"/>
                </a:solidFill>
                <a:latin typeface="Plus Jakarta Sans"/>
                <a:ea typeface="Plus Jakarta Sans"/>
                <a:cs typeface="Plus Jakarta Sans"/>
                <a:sym typeface="Plus Jakarta Sans"/>
              </a:rPr>
              <a:t>across all organizations</a:t>
            </a:r>
            <a:r>
              <a:rPr b="0" lang="en-US" sz="1050">
                <a:solidFill>
                  <a:srgbClr val="334155"/>
                </a:solidFill>
                <a:latin typeface="Plus Jakarta Sans"/>
                <a:ea typeface="Plus Jakarta Sans"/>
                <a:cs typeface="Plus Jakarta Sans"/>
                <a:sym typeface="Plus Jakarta Sans"/>
              </a:rPr>
              <a:t> in an enterprise; Organization Knowledge applies within one org</a:t>
            </a:r>
            <a:endParaRPr b="0" sz="1050">
              <a:solidFill>
                <a:srgbClr val="334155"/>
              </a:solidFill>
              <a:latin typeface="Plus Jakarta Sans"/>
              <a:ea typeface="Plus Jakarta Sans"/>
              <a:cs typeface="Plus Jakarta Sans"/>
              <a:sym typeface="Plus Jakarta Sans"/>
            </a:endParaRPr>
          </a:p>
        </p:txBody>
      </p:sp>
      <p:pic>
        <p:nvPicPr>
          <p:cNvPr descr="image.png" id="598" name="Google Shape;598;p25"/>
          <p:cNvPicPr preferRelativeResize="0"/>
          <p:nvPr/>
        </p:nvPicPr>
        <p:blipFill rotWithShape="1">
          <a:blip r:embed="rId9">
            <a:alphaModFix/>
          </a:blip>
          <a:srcRect b="0" l="0" r="0" t="0"/>
          <a:stretch/>
        </p:blipFill>
        <p:spPr>
          <a:xfrm>
            <a:off x="8509099" y="1071264"/>
            <a:ext cx="133350" cy="114300"/>
          </a:xfrm>
          <a:prstGeom prst="rect">
            <a:avLst/>
          </a:prstGeom>
          <a:noFill/>
          <a:ln>
            <a:noFill/>
          </a:ln>
        </p:spPr>
      </p:pic>
      <p:sp>
        <p:nvSpPr>
          <p:cNvPr id="599" name="Google Shape;599;p25"/>
          <p:cNvSpPr txBox="1"/>
          <p:nvPr/>
        </p:nvSpPr>
        <p:spPr>
          <a:xfrm>
            <a:off x="7234237" y="3751510"/>
            <a:ext cx="4338600" cy="3879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Create specific, targeted Knowledge items — one workflow or action per item</a:t>
            </a:r>
            <a:endParaRPr/>
          </a:p>
        </p:txBody>
      </p:sp>
      <p:sp>
        <p:nvSpPr>
          <p:cNvPr id="600" name="Google Shape;600;p25"/>
          <p:cNvSpPr txBox="1"/>
          <p:nvPr/>
        </p:nvSpPr>
        <p:spPr>
          <a:xfrm>
            <a:off x="7234237" y="4200971"/>
            <a:ext cx="4338600" cy="1617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Make trigger descriptions highly relevant to the content</a:t>
            </a:r>
            <a:endParaRPr/>
          </a:p>
        </p:txBody>
      </p:sp>
      <p:sp>
        <p:nvSpPr>
          <p:cNvPr id="601" name="Google Shape;601;p25"/>
          <p:cNvSpPr txBox="1"/>
          <p:nvPr/>
        </p:nvSpPr>
        <p:spPr>
          <a:xfrm>
            <a:off x="7234237" y="4463801"/>
            <a:ext cx="4338600" cy="1617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Use folders to organize by team, project, or workflow</a:t>
            </a:r>
            <a:endParaRPr/>
          </a:p>
        </p:txBody>
      </p:sp>
      <p:sp>
        <p:nvSpPr>
          <p:cNvPr id="602" name="Google Shape;602;p25"/>
          <p:cNvSpPr txBox="1"/>
          <p:nvPr/>
        </p:nvSpPr>
        <p:spPr>
          <a:xfrm>
            <a:off x="7234237" y="4726632"/>
            <a:ext cx="4338600" cy="3879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Regularly review and update Knowledge — stale Knowledge degrades quality</a:t>
            </a:r>
            <a:endParaRPr/>
          </a:p>
        </p:txBody>
      </p:sp>
      <p:sp>
        <p:nvSpPr>
          <p:cNvPr id="603" name="Google Shape;603;p25"/>
          <p:cNvSpPr txBox="1"/>
          <p:nvPr/>
        </p:nvSpPr>
        <p:spPr>
          <a:xfrm>
            <a:off x="7234237" y="5176093"/>
            <a:ext cx="4338600" cy="3879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Promote high-value Organization Knowledge to Enterprise Knowledge</a:t>
            </a:r>
            <a:endParaRPr/>
          </a:p>
        </p:txBody>
      </p:sp>
      <p:sp>
        <p:nvSpPr>
          <p:cNvPr id="604" name="Google Shape;604;p25"/>
          <p:cNvSpPr txBox="1"/>
          <p:nvPr/>
        </p:nvSpPr>
        <p:spPr>
          <a:xfrm>
            <a:off x="7234237" y="5438923"/>
            <a:ext cx="4338600" cy="1617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Use macros (`!deploy-checklist`) for frequently referenced items</a:t>
            </a:r>
            <a:endParaRPr/>
          </a:p>
        </p:txBody>
      </p:sp>
      <p:sp>
        <p:nvSpPr>
          <p:cNvPr id="605" name="Google Shape;605;p25"/>
          <p:cNvSpPr txBox="1"/>
          <p:nvPr/>
        </p:nvSpPr>
        <p:spPr>
          <a:xfrm>
            <a:off x="8736062" y="1408360"/>
            <a:ext cx="1106100" cy="298200"/>
          </a:xfrm>
          <a:prstGeom prst="rect">
            <a:avLst/>
          </a:prstGeom>
          <a:noFill/>
          <a:ln>
            <a:noFill/>
          </a:ln>
        </p:spPr>
        <p:txBody>
          <a:bodyPr anchorCtr="0" anchor="t" bIns="0" lIns="0" spcFirstLastPara="1" rIns="0" wrap="square" tIns="0">
            <a:spAutoFit/>
          </a:bodyPr>
          <a:lstStyle/>
          <a:p>
            <a:pPr indent="0" lvl="0" marL="0" marR="0" rtl="0" algn="ctr">
              <a:lnSpc>
                <a:spcPct val="134909"/>
              </a:lnSpc>
              <a:spcBef>
                <a:spcPts val="0"/>
              </a:spcBef>
              <a:spcAft>
                <a:spcPts val="0"/>
              </a:spcAft>
              <a:buNone/>
            </a:pPr>
            <a:r>
              <a:rPr b="1" i="0" lang="en-US" sz="825" u="none" cap="none" strike="noStrike">
                <a:solidFill>
                  <a:srgbClr val="2563EB"/>
                </a:solidFill>
                <a:latin typeface="Plus Jakarta Sans"/>
                <a:ea typeface="Plus Jakarta Sans"/>
                <a:cs typeface="Plus Jakarta Sans"/>
                <a:sym typeface="Plus Jakarta Sans"/>
              </a:rPr>
              <a:t>Enterprise Knowledge</a:t>
            </a:r>
            <a:endParaRPr/>
          </a:p>
        </p:txBody>
      </p:sp>
      <p:sp>
        <p:nvSpPr>
          <p:cNvPr id="606" name="Google Shape;606;p25"/>
          <p:cNvSpPr txBox="1"/>
          <p:nvPr/>
        </p:nvSpPr>
        <p:spPr>
          <a:xfrm>
            <a:off x="7110412" y="1546621"/>
            <a:ext cx="4357800" cy="115500"/>
          </a:xfrm>
          <a:prstGeom prst="rect">
            <a:avLst/>
          </a:prstGeom>
          <a:noFill/>
          <a:ln>
            <a:noFill/>
          </a:ln>
        </p:spPr>
        <p:txBody>
          <a:bodyPr anchorCtr="0" anchor="t" bIns="0" lIns="0" spcFirstLastPara="1" rIns="0" wrap="square" tIns="0">
            <a:spAutoFit/>
          </a:bodyPr>
          <a:lstStyle/>
          <a:p>
            <a:pPr indent="0" lvl="0" marL="0" marR="0" rtl="0" algn="ctr">
              <a:lnSpc>
                <a:spcPct val="144933"/>
              </a:lnSpc>
              <a:spcBef>
                <a:spcPts val="0"/>
              </a:spcBef>
              <a:spcAft>
                <a:spcPts val="0"/>
              </a:spcAft>
              <a:buNone/>
            </a:pPr>
            <a:r>
              <a:rPr b="0" i="0" lang="en-US" sz="750" u="none" cap="none" strike="noStrike">
                <a:solidFill>
                  <a:srgbClr val="475569"/>
                </a:solidFill>
                <a:latin typeface="Plus Jakarta Sans"/>
                <a:ea typeface="Plus Jakarta Sans"/>
                <a:cs typeface="Plus Jakarta Sans"/>
                <a:sym typeface="Plus Jakarta Sans"/>
              </a:rPr>
              <a:t>All organizations, all repositories</a:t>
            </a:r>
            <a:endParaRPr/>
          </a:p>
        </p:txBody>
      </p:sp>
      <p:sp>
        <p:nvSpPr>
          <p:cNvPr id="607" name="Google Shape;607;p25"/>
          <p:cNvSpPr txBox="1"/>
          <p:nvPr/>
        </p:nvSpPr>
        <p:spPr>
          <a:xfrm>
            <a:off x="8675042" y="1960959"/>
            <a:ext cx="1228200" cy="298200"/>
          </a:xfrm>
          <a:prstGeom prst="rect">
            <a:avLst/>
          </a:prstGeom>
          <a:noFill/>
          <a:ln>
            <a:noFill/>
          </a:ln>
        </p:spPr>
        <p:txBody>
          <a:bodyPr anchorCtr="0" anchor="t" bIns="0" lIns="0" spcFirstLastPara="1" rIns="0" wrap="square" tIns="0">
            <a:spAutoFit/>
          </a:bodyPr>
          <a:lstStyle/>
          <a:p>
            <a:pPr indent="0" lvl="0" marL="0" marR="0" rtl="0" algn="ctr">
              <a:lnSpc>
                <a:spcPct val="134909"/>
              </a:lnSpc>
              <a:spcBef>
                <a:spcPts val="0"/>
              </a:spcBef>
              <a:spcAft>
                <a:spcPts val="0"/>
              </a:spcAft>
              <a:buNone/>
            </a:pPr>
            <a:r>
              <a:rPr b="1" i="0" lang="en-US" sz="825" u="none" cap="none" strike="noStrike">
                <a:solidFill>
                  <a:srgbClr val="7C3AED"/>
                </a:solidFill>
                <a:latin typeface="Plus Jakarta Sans"/>
                <a:ea typeface="Plus Jakarta Sans"/>
                <a:cs typeface="Plus Jakarta Sans"/>
                <a:sym typeface="Plus Jakarta Sans"/>
              </a:rPr>
              <a:t>Organization Knowledge</a:t>
            </a:r>
            <a:endParaRPr/>
          </a:p>
        </p:txBody>
      </p:sp>
      <p:sp>
        <p:nvSpPr>
          <p:cNvPr id="608" name="Google Shape;608;p25"/>
          <p:cNvSpPr txBox="1"/>
          <p:nvPr/>
        </p:nvSpPr>
        <p:spPr>
          <a:xfrm>
            <a:off x="7110412" y="2099220"/>
            <a:ext cx="4357800" cy="115500"/>
          </a:xfrm>
          <a:prstGeom prst="rect">
            <a:avLst/>
          </a:prstGeom>
          <a:noFill/>
          <a:ln>
            <a:noFill/>
          </a:ln>
        </p:spPr>
        <p:txBody>
          <a:bodyPr anchorCtr="0" anchor="t" bIns="0" lIns="0" spcFirstLastPara="1" rIns="0" wrap="square" tIns="0">
            <a:spAutoFit/>
          </a:bodyPr>
          <a:lstStyle/>
          <a:p>
            <a:pPr indent="0" lvl="0" marL="0" marR="0" rtl="0" algn="ctr">
              <a:lnSpc>
                <a:spcPct val="144933"/>
              </a:lnSpc>
              <a:spcBef>
                <a:spcPts val="0"/>
              </a:spcBef>
              <a:spcAft>
                <a:spcPts val="0"/>
              </a:spcAft>
              <a:buNone/>
            </a:pPr>
            <a:r>
              <a:rPr b="0" i="0" lang="en-US" sz="750" u="none" cap="none" strike="noStrike">
                <a:solidFill>
                  <a:srgbClr val="475569"/>
                </a:solidFill>
                <a:latin typeface="Plus Jakarta Sans"/>
                <a:ea typeface="Plus Jakarta Sans"/>
                <a:cs typeface="Plus Jakarta Sans"/>
                <a:sym typeface="Plus Jakarta Sans"/>
              </a:rPr>
              <a:t>One organization, all repositories</a:t>
            </a:r>
            <a:endParaRPr/>
          </a:p>
        </p:txBody>
      </p:sp>
      <p:sp>
        <p:nvSpPr>
          <p:cNvPr id="609" name="Google Shape;609;p25"/>
          <p:cNvSpPr txBox="1"/>
          <p:nvPr/>
        </p:nvSpPr>
        <p:spPr>
          <a:xfrm>
            <a:off x="8675042" y="2513558"/>
            <a:ext cx="1228200" cy="298200"/>
          </a:xfrm>
          <a:prstGeom prst="rect">
            <a:avLst/>
          </a:prstGeom>
          <a:noFill/>
          <a:ln>
            <a:noFill/>
          </a:ln>
        </p:spPr>
        <p:txBody>
          <a:bodyPr anchorCtr="0" anchor="t" bIns="0" lIns="0" spcFirstLastPara="1" rIns="0" wrap="square" tIns="0">
            <a:spAutoFit/>
          </a:bodyPr>
          <a:lstStyle/>
          <a:p>
            <a:pPr indent="0" lvl="0" marL="0" marR="0" rtl="0" algn="ctr">
              <a:lnSpc>
                <a:spcPct val="134909"/>
              </a:lnSpc>
              <a:spcBef>
                <a:spcPts val="0"/>
              </a:spcBef>
              <a:spcAft>
                <a:spcPts val="0"/>
              </a:spcAft>
              <a:buNone/>
            </a:pPr>
            <a:r>
              <a:rPr b="1" i="0" lang="en-US" sz="825" u="none" cap="none" strike="noStrike">
                <a:solidFill>
                  <a:srgbClr val="0D9488"/>
                </a:solidFill>
                <a:latin typeface="Plus Jakarta Sans"/>
                <a:ea typeface="Plus Jakarta Sans"/>
                <a:cs typeface="Plus Jakarta Sans"/>
                <a:sym typeface="Plus Jakarta Sans"/>
              </a:rPr>
              <a:t>Repo-pinned Knowledge</a:t>
            </a:r>
            <a:endParaRPr/>
          </a:p>
        </p:txBody>
      </p:sp>
      <p:sp>
        <p:nvSpPr>
          <p:cNvPr id="610" name="Google Shape;610;p25"/>
          <p:cNvSpPr txBox="1"/>
          <p:nvPr/>
        </p:nvSpPr>
        <p:spPr>
          <a:xfrm>
            <a:off x="7110412" y="2651819"/>
            <a:ext cx="4357800" cy="115500"/>
          </a:xfrm>
          <a:prstGeom prst="rect">
            <a:avLst/>
          </a:prstGeom>
          <a:noFill/>
          <a:ln>
            <a:noFill/>
          </a:ln>
        </p:spPr>
        <p:txBody>
          <a:bodyPr anchorCtr="0" anchor="t" bIns="0" lIns="0" spcFirstLastPara="1" rIns="0" wrap="square" tIns="0">
            <a:spAutoFit/>
          </a:bodyPr>
          <a:lstStyle/>
          <a:p>
            <a:pPr indent="0" lvl="0" marL="0" marR="0" rtl="0" algn="ctr">
              <a:lnSpc>
                <a:spcPct val="144933"/>
              </a:lnSpc>
              <a:spcBef>
                <a:spcPts val="0"/>
              </a:spcBef>
              <a:spcAft>
                <a:spcPts val="0"/>
              </a:spcAft>
              <a:buNone/>
            </a:pPr>
            <a:r>
              <a:rPr b="0" i="0" lang="en-US" sz="750" u="none" cap="none" strike="noStrike">
                <a:solidFill>
                  <a:srgbClr val="475569"/>
                </a:solidFill>
                <a:latin typeface="Plus Jakarta Sans"/>
                <a:ea typeface="Plus Jakarta Sans"/>
                <a:cs typeface="Plus Jakarta Sans"/>
                <a:sym typeface="Plus Jakarta Sans"/>
              </a:rPr>
              <a:t>One specific repository</a:t>
            </a:r>
            <a:endParaRPr/>
          </a:p>
        </p:txBody>
      </p:sp>
      <p:sp>
        <p:nvSpPr>
          <p:cNvPr id="611" name="Google Shape;611;p25"/>
          <p:cNvSpPr txBox="1"/>
          <p:nvPr/>
        </p:nvSpPr>
        <p:spPr>
          <a:xfrm>
            <a:off x="8692455" y="3066157"/>
            <a:ext cx="1193400" cy="298200"/>
          </a:xfrm>
          <a:prstGeom prst="rect">
            <a:avLst/>
          </a:prstGeom>
          <a:noFill/>
          <a:ln>
            <a:noFill/>
          </a:ln>
        </p:spPr>
        <p:txBody>
          <a:bodyPr anchorCtr="0" anchor="t" bIns="0" lIns="0" spcFirstLastPara="1" rIns="0" wrap="square" tIns="0">
            <a:spAutoFit/>
          </a:bodyPr>
          <a:lstStyle/>
          <a:p>
            <a:pPr indent="0" lvl="0" marL="0" marR="0" rtl="0" algn="ctr">
              <a:lnSpc>
                <a:spcPct val="134909"/>
              </a:lnSpc>
              <a:spcBef>
                <a:spcPts val="0"/>
              </a:spcBef>
              <a:spcAft>
                <a:spcPts val="0"/>
              </a:spcAft>
              <a:buNone/>
            </a:pPr>
            <a:r>
              <a:rPr b="1" i="0" lang="en-US" sz="825" u="none" cap="none" strike="noStrike">
                <a:solidFill>
                  <a:srgbClr val="475569"/>
                </a:solidFill>
                <a:latin typeface="Plus Jakarta Sans"/>
                <a:ea typeface="Plus Jakarta Sans"/>
                <a:cs typeface="Plus Jakarta Sans"/>
                <a:sym typeface="Plus Jakarta Sans"/>
              </a:rPr>
              <a:t>Trigger-only Knowledge</a:t>
            </a:r>
            <a:endParaRPr/>
          </a:p>
        </p:txBody>
      </p:sp>
      <p:sp>
        <p:nvSpPr>
          <p:cNvPr id="612" name="Google Shape;612;p25"/>
          <p:cNvSpPr txBox="1"/>
          <p:nvPr/>
        </p:nvSpPr>
        <p:spPr>
          <a:xfrm>
            <a:off x="7110412" y="3204418"/>
            <a:ext cx="4357800" cy="115500"/>
          </a:xfrm>
          <a:prstGeom prst="rect">
            <a:avLst/>
          </a:prstGeom>
          <a:noFill/>
          <a:ln>
            <a:noFill/>
          </a:ln>
        </p:spPr>
        <p:txBody>
          <a:bodyPr anchorCtr="0" anchor="t" bIns="0" lIns="0" spcFirstLastPara="1" rIns="0" wrap="square" tIns="0">
            <a:spAutoFit/>
          </a:bodyPr>
          <a:lstStyle/>
          <a:p>
            <a:pPr indent="0" lvl="0" marL="0" marR="0" rtl="0" algn="ctr">
              <a:lnSpc>
                <a:spcPct val="144933"/>
              </a:lnSpc>
              <a:spcBef>
                <a:spcPts val="0"/>
              </a:spcBef>
              <a:spcAft>
                <a:spcPts val="0"/>
              </a:spcAft>
              <a:buNone/>
            </a:pPr>
            <a:r>
              <a:rPr b="0" i="0" lang="en-US" sz="750" u="none" cap="none" strike="noStrike">
                <a:solidFill>
                  <a:srgbClr val="475569"/>
                </a:solidFill>
                <a:latin typeface="Plus Jakarta Sans"/>
                <a:ea typeface="Plus Jakarta Sans"/>
                <a:cs typeface="Plus Jakarta Sans"/>
                <a:sym typeface="Plus Jakarta Sans"/>
              </a:rPr>
              <a:t>Retrieved when contextually relevant</a:t>
            </a:r>
            <a:endParaRPr/>
          </a:p>
        </p:txBody>
      </p:sp>
      <p:pic>
        <p:nvPicPr>
          <p:cNvPr id="613" name="Google Shape;613;p25"/>
          <p:cNvPicPr preferRelativeResize="0"/>
          <p:nvPr/>
        </p:nvPicPr>
        <p:blipFill rotWithShape="1">
          <a:blip r:embed="rId10">
            <a:alphaModFix/>
          </a:blip>
          <a:srcRect b="0" l="0" r="0" t="0"/>
          <a:stretch/>
        </p:blipFill>
        <p:spPr>
          <a:xfrm>
            <a:off x="571500" y="2514600"/>
            <a:ext cx="57300" cy="95400"/>
          </a:xfrm>
          <a:prstGeom prst="rect">
            <a:avLst/>
          </a:prstGeom>
          <a:noFill/>
          <a:ln>
            <a:noFill/>
          </a:ln>
        </p:spPr>
      </p:pic>
      <p:pic>
        <p:nvPicPr>
          <p:cNvPr id="614" name="Google Shape;614;p25"/>
          <p:cNvPicPr preferRelativeResize="0"/>
          <p:nvPr/>
        </p:nvPicPr>
        <p:blipFill rotWithShape="1">
          <a:blip r:embed="rId10">
            <a:alphaModFix/>
          </a:blip>
          <a:srcRect b="0" l="0" r="0" t="0"/>
          <a:stretch/>
        </p:blipFill>
        <p:spPr>
          <a:xfrm>
            <a:off x="571500" y="2933700"/>
            <a:ext cx="57300" cy="95400"/>
          </a:xfrm>
          <a:prstGeom prst="rect">
            <a:avLst/>
          </a:prstGeom>
          <a:noFill/>
          <a:ln>
            <a:noFill/>
          </a:ln>
        </p:spPr>
      </p:pic>
      <p:pic>
        <p:nvPicPr>
          <p:cNvPr id="615" name="Google Shape;615;p25"/>
          <p:cNvPicPr preferRelativeResize="0"/>
          <p:nvPr/>
        </p:nvPicPr>
        <p:blipFill rotWithShape="1">
          <a:blip r:embed="rId10">
            <a:alphaModFix/>
          </a:blip>
          <a:srcRect b="0" l="0" r="0" t="0"/>
          <a:stretch/>
        </p:blipFill>
        <p:spPr>
          <a:xfrm>
            <a:off x="571500" y="3352800"/>
            <a:ext cx="57300" cy="95400"/>
          </a:xfrm>
          <a:prstGeom prst="rect">
            <a:avLst/>
          </a:prstGeom>
          <a:noFill/>
          <a:ln>
            <a:noFill/>
          </a:ln>
        </p:spPr>
      </p:pic>
      <p:pic>
        <p:nvPicPr>
          <p:cNvPr id="616" name="Google Shape;616;p25"/>
          <p:cNvPicPr preferRelativeResize="0"/>
          <p:nvPr/>
        </p:nvPicPr>
        <p:blipFill rotWithShape="1">
          <a:blip r:embed="rId10">
            <a:alphaModFix/>
          </a:blip>
          <a:srcRect b="0" l="0" r="0" t="0"/>
          <a:stretch/>
        </p:blipFill>
        <p:spPr>
          <a:xfrm>
            <a:off x="571500" y="3581400"/>
            <a:ext cx="57300" cy="95400"/>
          </a:xfrm>
          <a:prstGeom prst="rect">
            <a:avLst/>
          </a:prstGeom>
          <a:noFill/>
          <a:ln>
            <a:noFill/>
          </a:ln>
        </p:spPr>
      </p:pic>
      <p:pic>
        <p:nvPicPr>
          <p:cNvPr id="617" name="Google Shape;617;p25"/>
          <p:cNvPicPr preferRelativeResize="0"/>
          <p:nvPr/>
        </p:nvPicPr>
        <p:blipFill rotWithShape="1">
          <a:blip r:embed="rId10">
            <a:alphaModFix/>
          </a:blip>
          <a:srcRect b="0" l="0" r="0" t="0"/>
          <a:stretch/>
        </p:blipFill>
        <p:spPr>
          <a:xfrm>
            <a:off x="571500" y="3952875"/>
            <a:ext cx="57300" cy="95400"/>
          </a:xfrm>
          <a:prstGeom prst="rect">
            <a:avLst/>
          </a:prstGeom>
          <a:noFill/>
          <a:ln>
            <a:noFill/>
          </a:ln>
        </p:spPr>
      </p:pic>
      <p:pic>
        <p:nvPicPr>
          <p:cNvPr id="618" name="Google Shape;618;p25"/>
          <p:cNvPicPr preferRelativeResize="0"/>
          <p:nvPr/>
        </p:nvPicPr>
        <p:blipFill rotWithShape="1">
          <a:blip r:embed="rId10">
            <a:alphaModFix/>
          </a:blip>
          <a:srcRect b="0" l="0" r="0" t="0"/>
          <a:stretch/>
        </p:blipFill>
        <p:spPr>
          <a:xfrm>
            <a:off x="571500" y="4324350"/>
            <a:ext cx="57300" cy="95400"/>
          </a:xfrm>
          <a:prstGeom prst="rect">
            <a:avLst/>
          </a:prstGeom>
          <a:noFill/>
          <a:ln>
            <a:noFill/>
          </a:ln>
        </p:spPr>
      </p:pic>
      <p:pic>
        <p:nvPicPr>
          <p:cNvPr descr="image.png" id="619" name="Google Shape;619;p25"/>
          <p:cNvPicPr preferRelativeResize="0"/>
          <p:nvPr/>
        </p:nvPicPr>
        <p:blipFill rotWithShape="1">
          <a:blip r:embed="rId11">
            <a:alphaModFix/>
          </a:blip>
          <a:srcRect b="0" l="0" r="0" t="0"/>
          <a:stretch/>
        </p:blipFill>
        <p:spPr>
          <a:xfrm>
            <a:off x="7005637" y="3775323"/>
            <a:ext cx="133350" cy="142875"/>
          </a:xfrm>
          <a:prstGeom prst="rect">
            <a:avLst/>
          </a:prstGeom>
          <a:noFill/>
          <a:ln>
            <a:noFill/>
          </a:ln>
        </p:spPr>
      </p:pic>
      <p:pic>
        <p:nvPicPr>
          <p:cNvPr descr="image.png" id="620" name="Google Shape;620;p25"/>
          <p:cNvPicPr preferRelativeResize="0"/>
          <p:nvPr/>
        </p:nvPicPr>
        <p:blipFill rotWithShape="1">
          <a:blip r:embed="rId12">
            <a:alphaModFix/>
          </a:blip>
          <a:srcRect b="0" l="0" r="0" t="0"/>
          <a:stretch/>
        </p:blipFill>
        <p:spPr>
          <a:xfrm>
            <a:off x="7005637" y="4224783"/>
            <a:ext cx="114300" cy="142875"/>
          </a:xfrm>
          <a:prstGeom prst="rect">
            <a:avLst/>
          </a:prstGeom>
          <a:noFill/>
          <a:ln>
            <a:noFill/>
          </a:ln>
        </p:spPr>
      </p:pic>
      <p:pic>
        <p:nvPicPr>
          <p:cNvPr descr="image.png" id="621" name="Google Shape;621;p25"/>
          <p:cNvPicPr preferRelativeResize="0"/>
          <p:nvPr/>
        </p:nvPicPr>
        <p:blipFill rotWithShape="1">
          <a:blip r:embed="rId13">
            <a:alphaModFix/>
          </a:blip>
          <a:srcRect b="0" l="0" r="0" t="0"/>
          <a:stretch/>
        </p:blipFill>
        <p:spPr>
          <a:xfrm>
            <a:off x="7005637" y="4487614"/>
            <a:ext cx="152400" cy="142875"/>
          </a:xfrm>
          <a:prstGeom prst="rect">
            <a:avLst/>
          </a:prstGeom>
          <a:noFill/>
          <a:ln>
            <a:noFill/>
          </a:ln>
        </p:spPr>
      </p:pic>
      <p:pic>
        <p:nvPicPr>
          <p:cNvPr descr="image.png" id="622" name="Google Shape;622;p25"/>
          <p:cNvPicPr preferRelativeResize="0"/>
          <p:nvPr/>
        </p:nvPicPr>
        <p:blipFill rotWithShape="1">
          <a:blip r:embed="rId14">
            <a:alphaModFix/>
          </a:blip>
          <a:srcRect b="0" l="0" r="0" t="0"/>
          <a:stretch/>
        </p:blipFill>
        <p:spPr>
          <a:xfrm>
            <a:off x="7005637" y="4750444"/>
            <a:ext cx="133350" cy="142875"/>
          </a:xfrm>
          <a:prstGeom prst="rect">
            <a:avLst/>
          </a:prstGeom>
          <a:noFill/>
          <a:ln>
            <a:noFill/>
          </a:ln>
        </p:spPr>
      </p:pic>
      <p:pic>
        <p:nvPicPr>
          <p:cNvPr descr="image.png" id="623" name="Google Shape;623;p25"/>
          <p:cNvPicPr preferRelativeResize="0"/>
          <p:nvPr/>
        </p:nvPicPr>
        <p:blipFill rotWithShape="1">
          <a:blip r:embed="rId15">
            <a:alphaModFix/>
          </a:blip>
          <a:srcRect b="0" l="0" r="0" t="0"/>
          <a:stretch/>
        </p:blipFill>
        <p:spPr>
          <a:xfrm>
            <a:off x="7005637" y="5199905"/>
            <a:ext cx="133350" cy="142875"/>
          </a:xfrm>
          <a:prstGeom prst="rect">
            <a:avLst/>
          </a:prstGeom>
          <a:noFill/>
          <a:ln>
            <a:noFill/>
          </a:ln>
        </p:spPr>
      </p:pic>
      <p:pic>
        <p:nvPicPr>
          <p:cNvPr descr="image.png" id="624" name="Google Shape;624;p25"/>
          <p:cNvPicPr preferRelativeResize="0"/>
          <p:nvPr/>
        </p:nvPicPr>
        <p:blipFill rotWithShape="1">
          <a:blip r:embed="rId16">
            <a:alphaModFix/>
          </a:blip>
          <a:srcRect b="0" l="0" r="0" t="0"/>
          <a:stretch/>
        </p:blipFill>
        <p:spPr>
          <a:xfrm>
            <a:off x="7005637" y="5462736"/>
            <a:ext cx="171450" cy="142875"/>
          </a:xfrm>
          <a:prstGeom prst="rect">
            <a:avLst/>
          </a:prstGeom>
          <a:noFill/>
          <a:ln>
            <a:noFill/>
          </a:ln>
        </p:spPr>
      </p:pic>
      <p:sp>
        <p:nvSpPr>
          <p:cNvPr id="625" name="Google Shape;625;p25"/>
          <p:cNvSpPr txBox="1"/>
          <p:nvPr/>
        </p:nvSpPr>
        <p:spPr>
          <a:xfrm>
            <a:off x="571500" y="381000"/>
            <a:ext cx="11601600" cy="3693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2400" u="none" cap="none" strike="noStrike">
                <a:solidFill>
                  <a:srgbClr val="0F172A"/>
                </a:solidFill>
                <a:latin typeface="Plus Jakarta Sans ExtraBold"/>
                <a:ea typeface="Plus Jakarta Sans ExtraBold"/>
                <a:cs typeface="Plus Jakarta Sans ExtraBold"/>
                <a:sym typeface="Plus Jakarta Sans ExtraBold"/>
              </a:rPr>
              <a:t>Feature Spotlight: Knowledge</a:t>
            </a:r>
            <a:endParaRPr/>
          </a:p>
        </p:txBody>
      </p:sp>
      <p:sp>
        <p:nvSpPr>
          <p:cNvPr id="626" name="Google Shape;626;p25"/>
          <p:cNvSpPr/>
          <p:nvPr/>
        </p:nvSpPr>
        <p:spPr>
          <a:xfrm>
            <a:off x="571500" y="847725"/>
            <a:ext cx="11049000" cy="19200"/>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30" name="Shape 630"/>
        <p:cNvGrpSpPr/>
        <p:nvPr/>
      </p:nvGrpSpPr>
      <p:grpSpPr>
        <a:xfrm>
          <a:off x="0" y="0"/>
          <a:ext cx="0" cy="0"/>
          <a:chOff x="0" y="0"/>
          <a:chExt cx="0" cy="0"/>
        </a:xfrm>
      </p:grpSpPr>
      <p:pic>
        <p:nvPicPr>
          <p:cNvPr descr="image.png" id="631" name="Google Shape;631;p26"/>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632" name="Google Shape;632;p26"/>
          <p:cNvPicPr preferRelativeResize="0"/>
          <p:nvPr/>
        </p:nvPicPr>
        <p:blipFill rotWithShape="1">
          <a:blip r:embed="rId4">
            <a:alphaModFix/>
          </a:blip>
          <a:srcRect b="0" l="0" r="0" t="0"/>
          <a:stretch/>
        </p:blipFill>
        <p:spPr>
          <a:xfrm>
            <a:off x="7005637" y="1570136"/>
            <a:ext cx="4567237" cy="2217539"/>
          </a:xfrm>
          <a:prstGeom prst="rect">
            <a:avLst/>
          </a:prstGeom>
          <a:noFill/>
          <a:ln>
            <a:noFill/>
          </a:ln>
        </p:spPr>
      </p:pic>
      <p:pic>
        <p:nvPicPr>
          <p:cNvPr descr="image.png" id="633" name="Google Shape;633;p26"/>
          <p:cNvPicPr preferRelativeResize="0"/>
          <p:nvPr/>
        </p:nvPicPr>
        <p:blipFill rotWithShape="1">
          <a:blip r:embed="rId5">
            <a:alphaModFix/>
          </a:blip>
          <a:srcRect b="0" l="0" r="0" t="0"/>
          <a:stretch/>
        </p:blipFill>
        <p:spPr>
          <a:xfrm>
            <a:off x="571500" y="457200"/>
            <a:ext cx="823168" cy="200025"/>
          </a:xfrm>
          <a:prstGeom prst="rect">
            <a:avLst/>
          </a:prstGeom>
          <a:noFill/>
          <a:ln>
            <a:noFill/>
          </a:ln>
        </p:spPr>
      </p:pic>
      <p:sp>
        <p:nvSpPr>
          <p:cNvPr id="634" name="Google Shape;634;p26"/>
          <p:cNvSpPr txBox="1"/>
          <p:nvPr/>
        </p:nvSpPr>
        <p:spPr>
          <a:xfrm>
            <a:off x="571500" y="1047750"/>
            <a:ext cx="6195900" cy="1155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en-US" sz="750">
                <a:solidFill>
                  <a:srgbClr val="2563EB"/>
                </a:solidFill>
                <a:latin typeface="Plus Jakarta Sans"/>
                <a:ea typeface="Plus Jakarta Sans"/>
                <a:cs typeface="Plus Jakarta Sans"/>
                <a:sym typeface="Plus Jakarta Sans"/>
              </a:rPr>
              <a:t>PURPOSE:</a:t>
            </a:r>
            <a:endParaRPr b="1" sz="750">
              <a:solidFill>
                <a:srgbClr val="2563EB"/>
              </a:solidFill>
              <a:latin typeface="Plus Jakarta Sans"/>
              <a:ea typeface="Plus Jakarta Sans"/>
              <a:cs typeface="Plus Jakarta Sans"/>
              <a:sym typeface="Plus Jakarta Sans"/>
            </a:endParaRPr>
          </a:p>
        </p:txBody>
      </p:sp>
      <p:sp>
        <p:nvSpPr>
          <p:cNvPr id="635" name="Google Shape;635;p26"/>
          <p:cNvSpPr txBox="1"/>
          <p:nvPr/>
        </p:nvSpPr>
        <p:spPr>
          <a:xfrm>
            <a:off x="571500" y="1219200"/>
            <a:ext cx="6195900" cy="1617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US" sz="1050">
                <a:solidFill>
                  <a:srgbClr val="334155"/>
                </a:solidFill>
                <a:latin typeface="Plus Jakarta Sans"/>
                <a:ea typeface="Plus Jakarta Sans"/>
                <a:cs typeface="Plus Jakarta Sans"/>
                <a:sym typeface="Plus Jakarta Sans"/>
              </a:rPr>
              <a:t>Teach Devin reusable, step-by-step procedures that it follows consistently every time.</a:t>
            </a:r>
            <a:endParaRPr b="0" sz="1050">
              <a:solidFill>
                <a:srgbClr val="334155"/>
              </a:solidFill>
              <a:latin typeface="Plus Jakarta Sans"/>
              <a:ea typeface="Plus Jakarta Sans"/>
              <a:cs typeface="Plus Jakarta Sans"/>
              <a:sym typeface="Plus Jakarta Sans"/>
            </a:endParaRPr>
          </a:p>
        </p:txBody>
      </p:sp>
      <p:sp>
        <p:nvSpPr>
          <p:cNvPr id="636" name="Google Shape;636;p26"/>
          <p:cNvSpPr txBox="1"/>
          <p:nvPr/>
        </p:nvSpPr>
        <p:spPr>
          <a:xfrm>
            <a:off x="571500" y="1466850"/>
            <a:ext cx="6195900" cy="1155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en-US" sz="750">
                <a:solidFill>
                  <a:srgbClr val="2563EB"/>
                </a:solidFill>
                <a:latin typeface="Plus Jakarta Sans"/>
                <a:ea typeface="Plus Jakarta Sans"/>
                <a:cs typeface="Plus Jakarta Sans"/>
                <a:sym typeface="Plus Jakarta Sans"/>
              </a:rPr>
              <a:t>WHY IT EXISTS:</a:t>
            </a:r>
            <a:endParaRPr b="1" sz="750">
              <a:solidFill>
                <a:srgbClr val="2563EB"/>
              </a:solidFill>
              <a:latin typeface="Plus Jakarta Sans"/>
              <a:ea typeface="Plus Jakarta Sans"/>
              <a:cs typeface="Plus Jakarta Sans"/>
              <a:sym typeface="Plus Jakarta Sans"/>
            </a:endParaRPr>
          </a:p>
        </p:txBody>
      </p:sp>
      <p:sp>
        <p:nvSpPr>
          <p:cNvPr id="637" name="Google Shape;637;p26"/>
          <p:cNvSpPr txBox="1"/>
          <p:nvPr/>
        </p:nvSpPr>
        <p:spPr>
          <a:xfrm>
            <a:off x="571500" y="1628775"/>
            <a:ext cx="6195900" cy="4848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US" sz="1050">
                <a:solidFill>
                  <a:srgbClr val="334155"/>
                </a:solidFill>
                <a:latin typeface="Plus Jakarta Sans"/>
                <a:ea typeface="Plus Jakarta Sans"/>
                <a:cs typeface="Plus Jakarta Sans"/>
                <a:sym typeface="Plus Jakarta Sans"/>
              </a:rPr>
              <a:t>Without Skills, Devin must figure out workflows from scratch every session. Skills encode procedures once — how to test, how to deploy, how to investigate — and Devin follows them reliably.</a:t>
            </a:r>
            <a:endParaRPr b="0" sz="1050">
              <a:solidFill>
                <a:srgbClr val="334155"/>
              </a:solidFill>
              <a:latin typeface="Plus Jakarta Sans"/>
              <a:ea typeface="Plus Jakarta Sans"/>
              <a:cs typeface="Plus Jakarta Sans"/>
              <a:sym typeface="Plus Jakarta Sans"/>
            </a:endParaRPr>
          </a:p>
        </p:txBody>
      </p:sp>
      <p:sp>
        <p:nvSpPr>
          <p:cNvPr id="638" name="Google Shape;638;p26"/>
          <p:cNvSpPr txBox="1"/>
          <p:nvPr/>
        </p:nvSpPr>
        <p:spPr>
          <a:xfrm>
            <a:off x="571500" y="2247900"/>
            <a:ext cx="6195900" cy="1155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en-US" sz="750">
                <a:solidFill>
                  <a:srgbClr val="2563EB"/>
                </a:solidFill>
                <a:latin typeface="Plus Jakarta Sans"/>
                <a:ea typeface="Plus Jakarta Sans"/>
                <a:cs typeface="Plus Jakarta Sans"/>
                <a:sym typeface="Plus Jakarta Sans"/>
              </a:rPr>
              <a:t>INTERNAL CONCEPT:</a:t>
            </a:r>
            <a:endParaRPr b="1" sz="750">
              <a:solidFill>
                <a:srgbClr val="2563EB"/>
              </a:solidFill>
              <a:latin typeface="Plus Jakarta Sans"/>
              <a:ea typeface="Plus Jakarta Sans"/>
              <a:cs typeface="Plus Jakarta Sans"/>
              <a:sym typeface="Plus Jakarta Sans"/>
            </a:endParaRPr>
          </a:p>
        </p:txBody>
      </p:sp>
      <p:sp>
        <p:nvSpPr>
          <p:cNvPr id="639" name="Google Shape;639;p26"/>
          <p:cNvSpPr txBox="1"/>
          <p:nvPr/>
        </p:nvSpPr>
        <p:spPr>
          <a:xfrm>
            <a:off x="571500" y="4810125"/>
            <a:ext cx="6195900" cy="1155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en-US" sz="750">
                <a:solidFill>
                  <a:srgbClr val="2563EB"/>
                </a:solidFill>
                <a:latin typeface="Plus Jakarta Sans"/>
                <a:ea typeface="Plus Jakarta Sans"/>
                <a:cs typeface="Plus Jakarta Sans"/>
                <a:sym typeface="Plus Jakarta Sans"/>
              </a:rPr>
              <a:t>ENTERPRISE USE CASE:</a:t>
            </a:r>
            <a:endParaRPr b="1" sz="750">
              <a:solidFill>
                <a:srgbClr val="2563EB"/>
              </a:solidFill>
              <a:latin typeface="Plus Jakarta Sans"/>
              <a:ea typeface="Plus Jakarta Sans"/>
              <a:cs typeface="Plus Jakarta Sans"/>
              <a:sym typeface="Plus Jakarta Sans"/>
            </a:endParaRPr>
          </a:p>
        </p:txBody>
      </p:sp>
      <p:sp>
        <p:nvSpPr>
          <p:cNvPr id="640" name="Google Shape;640;p26"/>
          <p:cNvSpPr txBox="1"/>
          <p:nvPr/>
        </p:nvSpPr>
        <p:spPr>
          <a:xfrm>
            <a:off x="571500" y="4972050"/>
            <a:ext cx="6195900" cy="4848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US" sz="1050">
                <a:solidFill>
                  <a:srgbClr val="334155"/>
                </a:solidFill>
                <a:latin typeface="Plus Jakarta Sans"/>
                <a:ea typeface="Plus Jakarta Sans"/>
                <a:cs typeface="Plus Jakarta Sans"/>
                <a:sym typeface="Plus Jakarta Sans"/>
              </a:rPr>
              <a:t>Every repository has a `test-before-pr` skill. Before Devin opens any PR touching frontend code, it automatically runs the dev server, checks affected pages, runs lint and tests, and includes screenshots in the PR description — consistently, every time.</a:t>
            </a:r>
            <a:endParaRPr b="0" sz="1050">
              <a:solidFill>
                <a:srgbClr val="334155"/>
              </a:solidFill>
              <a:latin typeface="Plus Jakarta Sans"/>
              <a:ea typeface="Plus Jakarta Sans"/>
              <a:cs typeface="Plus Jakarta Sans"/>
              <a:sym typeface="Plus Jakarta Sans"/>
            </a:endParaRPr>
          </a:p>
        </p:txBody>
      </p:sp>
      <p:sp>
        <p:nvSpPr>
          <p:cNvPr id="641" name="Google Shape;641;p26"/>
          <p:cNvSpPr txBox="1"/>
          <p:nvPr/>
        </p:nvSpPr>
        <p:spPr>
          <a:xfrm>
            <a:off x="7005637" y="1361182"/>
            <a:ext cx="4567200" cy="126900"/>
          </a:xfrm>
          <a:prstGeom prst="rect">
            <a:avLst/>
          </a:prstGeom>
          <a:noFill/>
          <a:ln>
            <a:noFill/>
          </a:ln>
        </p:spPr>
        <p:txBody>
          <a:bodyPr anchorCtr="0" anchor="t" bIns="0" lIns="133350" spcFirstLastPara="1" rIns="0" wrap="square" tIns="0">
            <a:spAutoFit/>
          </a:bodyPr>
          <a:lstStyle/>
          <a:p>
            <a:pPr indent="0" lvl="0" marL="0" marR="0" rtl="0" algn="ctr">
              <a:lnSpc>
                <a:spcPct val="144969"/>
              </a:lnSpc>
              <a:spcBef>
                <a:spcPts val="0"/>
              </a:spcBef>
              <a:spcAft>
                <a:spcPts val="0"/>
              </a:spcAft>
              <a:buNone/>
            </a:pPr>
            <a:r>
              <a:rPr b="1" i="0" lang="en-US" sz="825" u="none" cap="none" strike="noStrike">
                <a:solidFill>
                  <a:srgbClr val="0F172A"/>
                </a:solidFill>
                <a:latin typeface="Plus Jakarta Sans"/>
                <a:ea typeface="Plus Jakarta Sans"/>
                <a:cs typeface="Plus Jakarta Sans"/>
                <a:sym typeface="Plus Jakarta Sans"/>
              </a:rPr>
              <a:t>SKILLS VS. PLAYBOOKS</a:t>
            </a:r>
            <a:endParaRPr/>
          </a:p>
        </p:txBody>
      </p:sp>
      <p:sp>
        <p:nvSpPr>
          <p:cNvPr id="642" name="Google Shape;642;p26"/>
          <p:cNvSpPr txBox="1"/>
          <p:nvPr/>
        </p:nvSpPr>
        <p:spPr>
          <a:xfrm>
            <a:off x="7005637" y="4385518"/>
            <a:ext cx="4567200" cy="115500"/>
          </a:xfrm>
          <a:prstGeom prst="rect">
            <a:avLst/>
          </a:prstGeom>
          <a:noFill/>
          <a:ln>
            <a:noFill/>
          </a:ln>
        </p:spPr>
        <p:txBody>
          <a:bodyPr anchorCtr="0" anchor="t" bIns="0" lIns="0" spcFirstLastPara="1" rIns="0" wrap="square" tIns="0">
            <a:spAutoFit/>
          </a:bodyPr>
          <a:lstStyle/>
          <a:p>
            <a:pPr indent="0" lvl="0" marL="0" marR="0" rtl="0" algn="l">
              <a:lnSpc>
                <a:spcPct val="144933"/>
              </a:lnSpc>
              <a:spcBef>
                <a:spcPts val="0"/>
              </a:spcBef>
              <a:spcAft>
                <a:spcPts val="0"/>
              </a:spcAft>
              <a:buNone/>
            </a:pPr>
            <a:r>
              <a:rPr b="1" i="0" lang="en-US" sz="750" u="none" cap="none" strike="noStrike">
                <a:solidFill>
                  <a:srgbClr val="0D9488"/>
                </a:solidFill>
                <a:latin typeface="Plus Jakarta Sans"/>
                <a:ea typeface="Plus Jakarta Sans"/>
                <a:cs typeface="Plus Jakarta Sans"/>
                <a:sym typeface="Plus Jakarta Sans"/>
              </a:rPr>
              <a:t>BEST PRACTICES:</a:t>
            </a:r>
            <a:endParaRPr/>
          </a:p>
        </p:txBody>
      </p:sp>
      <p:sp>
        <p:nvSpPr>
          <p:cNvPr id="643" name="Google Shape;643;p26"/>
          <p:cNvSpPr txBox="1"/>
          <p:nvPr/>
        </p:nvSpPr>
        <p:spPr>
          <a:xfrm>
            <a:off x="800100" y="2438400"/>
            <a:ext cx="5967300" cy="1617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US" sz="1050">
                <a:solidFill>
                  <a:srgbClr val="334155"/>
                </a:solidFill>
                <a:latin typeface="Plus Jakarta Sans"/>
                <a:ea typeface="Plus Jakarta Sans"/>
                <a:cs typeface="Plus Jakarta Sans"/>
                <a:sym typeface="Plus Jakarta Sans"/>
              </a:rPr>
              <a:t>Skills are `SKILL.md` files committed to repositories at `.agents/skills/SKILL.md`</a:t>
            </a:r>
            <a:endParaRPr b="0" sz="1050">
              <a:solidFill>
                <a:srgbClr val="334155"/>
              </a:solidFill>
              <a:latin typeface="Plus Jakarta Sans"/>
              <a:ea typeface="Plus Jakarta Sans"/>
              <a:cs typeface="Plus Jakarta Sans"/>
              <a:sym typeface="Plus Jakarta Sans"/>
            </a:endParaRPr>
          </a:p>
        </p:txBody>
      </p:sp>
      <p:sp>
        <p:nvSpPr>
          <p:cNvPr id="644" name="Google Shape;644;p26"/>
          <p:cNvSpPr txBox="1"/>
          <p:nvPr/>
        </p:nvSpPr>
        <p:spPr>
          <a:xfrm>
            <a:off x="800100" y="2667000"/>
            <a:ext cx="5967300" cy="1494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US" sz="971">
                <a:solidFill>
                  <a:srgbClr val="334155"/>
                </a:solidFill>
                <a:latin typeface="Plus Jakarta Sans"/>
                <a:ea typeface="Plus Jakarta Sans"/>
                <a:cs typeface="Plus Jakarta Sans"/>
                <a:sym typeface="Plus Jakarta Sans"/>
              </a:rPr>
              <a:t>They follow the open </a:t>
            </a:r>
            <a:r>
              <a:rPr b="1" lang="en-US" sz="971">
                <a:solidFill>
                  <a:srgbClr val="334155"/>
                </a:solidFill>
                <a:latin typeface="Plus Jakarta Sans"/>
                <a:ea typeface="Plus Jakarta Sans"/>
                <a:cs typeface="Plus Jakarta Sans"/>
                <a:sym typeface="Plus Jakarta Sans"/>
              </a:rPr>
              <a:t>Agent Skills standard</a:t>
            </a:r>
            <a:r>
              <a:rPr b="0" lang="en-US" sz="971">
                <a:solidFill>
                  <a:srgbClr val="334155"/>
                </a:solidFill>
                <a:latin typeface="Plus Jakarta Sans"/>
                <a:ea typeface="Plus Jakarta Sans"/>
                <a:cs typeface="Plus Jakarta Sans"/>
                <a:sym typeface="Plus Jakarta Sans"/>
              </a:rPr>
              <a:t> (agentskills.io), making them portable across AI tools</a:t>
            </a:r>
            <a:endParaRPr b="0" sz="971">
              <a:solidFill>
                <a:srgbClr val="334155"/>
              </a:solidFill>
              <a:latin typeface="Plus Jakarta Sans"/>
              <a:ea typeface="Plus Jakarta Sans"/>
              <a:cs typeface="Plus Jakarta Sans"/>
              <a:sym typeface="Plus Jakarta Sans"/>
            </a:endParaRPr>
          </a:p>
        </p:txBody>
      </p:sp>
      <p:sp>
        <p:nvSpPr>
          <p:cNvPr id="645" name="Google Shape;645;p26"/>
          <p:cNvSpPr txBox="1"/>
          <p:nvPr/>
        </p:nvSpPr>
        <p:spPr>
          <a:xfrm>
            <a:off x="800100" y="2905125"/>
            <a:ext cx="5967300" cy="3231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US" sz="1050">
                <a:solidFill>
                  <a:srgbClr val="334155"/>
                </a:solidFill>
                <a:latin typeface="Plus Jakarta Sans"/>
                <a:ea typeface="Plus Jakarta Sans"/>
                <a:cs typeface="Plus Jakarta Sans"/>
                <a:sym typeface="Plus Jakarta Sans"/>
              </a:rPr>
              <a:t>Devin discovers Skills from two sources: </a:t>
            </a:r>
            <a:r>
              <a:rPr b="1" lang="en-US" sz="1050">
                <a:solidFill>
                  <a:srgbClr val="334155"/>
                </a:solidFill>
                <a:latin typeface="Plus Jakarta Sans"/>
                <a:ea typeface="Plus Jakarta Sans"/>
                <a:cs typeface="Plus Jakarta Sans"/>
                <a:sym typeface="Plus Jakarta Sans"/>
              </a:rPr>
              <a:t>indexed repos</a:t>
            </a:r>
            <a:r>
              <a:rPr b="0" lang="en-US" sz="1050">
                <a:solidFill>
                  <a:srgbClr val="334155"/>
                </a:solidFill>
                <a:latin typeface="Plus Jakarta Sans"/>
                <a:ea typeface="Plus Jakarta Sans"/>
                <a:cs typeface="Plus Jakarta Sans"/>
                <a:sym typeface="Plus Jakarta Sans"/>
              </a:rPr>
              <a:t> (available before cloning) and </a:t>
            </a:r>
            <a:r>
              <a:rPr b="1" lang="en-US" sz="1050">
                <a:solidFill>
                  <a:srgbClr val="334155"/>
                </a:solidFill>
                <a:latin typeface="Plus Jakarta Sans"/>
                <a:ea typeface="Plus Jakarta Sans"/>
                <a:cs typeface="Plus Jakarta Sans"/>
                <a:sym typeface="Plus Jakarta Sans"/>
              </a:rPr>
              <a:t>cloned repos</a:t>
            </a:r>
            <a:r>
              <a:rPr b="0" lang="en-US" sz="1050">
                <a:solidFill>
                  <a:srgbClr val="334155"/>
                </a:solidFill>
                <a:latin typeface="Plus Jakarta Sans"/>
                <a:ea typeface="Plus Jakarta Sans"/>
                <a:cs typeface="Plus Jakarta Sans"/>
                <a:sym typeface="Plus Jakarta Sans"/>
              </a:rPr>
              <a:t> (disk-scanned, always latest)</a:t>
            </a:r>
            <a:endParaRPr b="0" sz="1050">
              <a:solidFill>
                <a:srgbClr val="334155"/>
              </a:solidFill>
              <a:latin typeface="Plus Jakarta Sans"/>
              <a:ea typeface="Plus Jakarta Sans"/>
              <a:cs typeface="Plus Jakarta Sans"/>
              <a:sym typeface="Plus Jakarta Sans"/>
            </a:endParaRPr>
          </a:p>
        </p:txBody>
      </p:sp>
      <p:sp>
        <p:nvSpPr>
          <p:cNvPr id="646" name="Google Shape;646;p26"/>
          <p:cNvSpPr txBox="1"/>
          <p:nvPr/>
        </p:nvSpPr>
        <p:spPr>
          <a:xfrm>
            <a:off x="800100" y="3286125"/>
            <a:ext cx="5967300" cy="3231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US" sz="1050">
                <a:solidFill>
                  <a:srgbClr val="334155"/>
                </a:solidFill>
                <a:latin typeface="Plus Jakarta Sans"/>
                <a:ea typeface="Plus Jakarta Sans"/>
                <a:cs typeface="Plus Jakarta Sans"/>
                <a:sym typeface="Plus Jakarta Sans"/>
              </a:rPr>
              <a:t>When a Skill is invoked, its body is injected into Devin's context as a system-level instruction — Devin actively follows the steps</a:t>
            </a:r>
            <a:endParaRPr b="0" sz="1050">
              <a:solidFill>
                <a:srgbClr val="334155"/>
              </a:solidFill>
              <a:latin typeface="Plus Jakarta Sans"/>
              <a:ea typeface="Plus Jakarta Sans"/>
              <a:cs typeface="Plus Jakarta Sans"/>
              <a:sym typeface="Plus Jakarta Sans"/>
            </a:endParaRPr>
          </a:p>
        </p:txBody>
      </p:sp>
      <p:sp>
        <p:nvSpPr>
          <p:cNvPr id="647" name="Google Shape;647;p26"/>
          <p:cNvSpPr txBox="1"/>
          <p:nvPr/>
        </p:nvSpPr>
        <p:spPr>
          <a:xfrm>
            <a:off x="800100" y="3667125"/>
            <a:ext cx="5967300" cy="1617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US" sz="1050">
                <a:solidFill>
                  <a:srgbClr val="334155"/>
                </a:solidFill>
                <a:latin typeface="Plus Jakarta Sans"/>
                <a:ea typeface="Plus Jakarta Sans"/>
                <a:cs typeface="Plus Jakarta Sans"/>
                <a:sym typeface="Plus Jakarta Sans"/>
              </a:rPr>
              <a:t>Skills support </a:t>
            </a:r>
            <a:r>
              <a:rPr b="1" lang="en-US" sz="1050">
                <a:solidFill>
                  <a:srgbClr val="334155"/>
                </a:solidFill>
                <a:latin typeface="Plus Jakarta Sans"/>
                <a:ea typeface="Plus Jakarta Sans"/>
                <a:cs typeface="Plus Jakarta Sans"/>
                <a:sym typeface="Plus Jakarta Sans"/>
              </a:rPr>
              <a:t>dynamic content injection</a:t>
            </a:r>
            <a:r>
              <a:rPr b="0" lang="en-US" sz="1050">
                <a:solidFill>
                  <a:srgbClr val="334155"/>
                </a:solidFill>
                <a:latin typeface="Plus Jakarta Sans"/>
                <a:ea typeface="Plus Jakarta Sans"/>
                <a:cs typeface="Plus Jakarta Sans"/>
                <a:sym typeface="Plus Jakarta Sans"/>
              </a:rPr>
              <a:t> (live git info, branch names, environment data)</a:t>
            </a:r>
            <a:endParaRPr b="0" sz="1050">
              <a:solidFill>
                <a:srgbClr val="334155"/>
              </a:solidFill>
              <a:latin typeface="Plus Jakarta Sans"/>
              <a:ea typeface="Plus Jakarta Sans"/>
              <a:cs typeface="Plus Jakarta Sans"/>
              <a:sym typeface="Plus Jakarta Sans"/>
            </a:endParaRPr>
          </a:p>
        </p:txBody>
      </p:sp>
      <p:sp>
        <p:nvSpPr>
          <p:cNvPr id="648" name="Google Shape;648;p26"/>
          <p:cNvSpPr txBox="1"/>
          <p:nvPr/>
        </p:nvSpPr>
        <p:spPr>
          <a:xfrm>
            <a:off x="800100" y="3905250"/>
            <a:ext cx="5967300" cy="1617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US" sz="1050">
                <a:solidFill>
                  <a:srgbClr val="334155"/>
                </a:solidFill>
                <a:latin typeface="Plus Jakarta Sans"/>
                <a:ea typeface="Plus Jakarta Sans"/>
                <a:cs typeface="Plus Jakarta Sans"/>
                <a:sym typeface="Plus Jakarta Sans"/>
              </a:rPr>
              <a:t>Skills support </a:t>
            </a:r>
            <a:r>
              <a:rPr b="1" lang="en-US" sz="1050">
                <a:solidFill>
                  <a:srgbClr val="334155"/>
                </a:solidFill>
                <a:latin typeface="Plus Jakarta Sans"/>
                <a:ea typeface="Plus Jakarta Sans"/>
                <a:cs typeface="Plus Jakarta Sans"/>
                <a:sym typeface="Plus Jakarta Sans"/>
              </a:rPr>
              <a:t>argument passing</a:t>
            </a:r>
            <a:r>
              <a:rPr b="0" lang="en-US" sz="1050">
                <a:solidFill>
                  <a:srgbClr val="334155"/>
                </a:solidFill>
                <a:latin typeface="Plus Jakarta Sans"/>
                <a:ea typeface="Plus Jakarta Sans"/>
                <a:cs typeface="Plus Jakarta Sans"/>
                <a:sym typeface="Plus Jakarta Sans"/>
              </a:rPr>
              <a:t> (`@skills:deploy staging`)</a:t>
            </a:r>
            <a:endParaRPr b="0" sz="1050">
              <a:solidFill>
                <a:srgbClr val="334155"/>
              </a:solidFill>
              <a:latin typeface="Plus Jakarta Sans"/>
              <a:ea typeface="Plus Jakarta Sans"/>
              <a:cs typeface="Plus Jakarta Sans"/>
              <a:sym typeface="Plus Jakarta Sans"/>
            </a:endParaRPr>
          </a:p>
        </p:txBody>
      </p:sp>
      <p:sp>
        <p:nvSpPr>
          <p:cNvPr id="649" name="Google Shape;649;p26"/>
          <p:cNvSpPr txBox="1"/>
          <p:nvPr/>
        </p:nvSpPr>
        <p:spPr>
          <a:xfrm>
            <a:off x="800100" y="4143375"/>
            <a:ext cx="5967300" cy="1617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US" sz="1050">
                <a:solidFill>
                  <a:srgbClr val="334155"/>
                </a:solidFill>
                <a:latin typeface="Plus Jakarta Sans"/>
                <a:ea typeface="Plus Jakarta Sans"/>
                <a:cs typeface="Plus Jakarta Sans"/>
                <a:sym typeface="Plus Jakarta Sans"/>
              </a:rPr>
              <a:t>The `triggers` field controls whether Devin auto-invokes or waits for explicit invocation</a:t>
            </a:r>
            <a:endParaRPr b="0" sz="1050">
              <a:solidFill>
                <a:srgbClr val="334155"/>
              </a:solidFill>
              <a:latin typeface="Plus Jakarta Sans"/>
              <a:ea typeface="Plus Jakarta Sans"/>
              <a:cs typeface="Plus Jakarta Sans"/>
              <a:sym typeface="Plus Jakarta Sans"/>
            </a:endParaRPr>
          </a:p>
        </p:txBody>
      </p:sp>
      <p:sp>
        <p:nvSpPr>
          <p:cNvPr id="650" name="Google Shape;650;p26"/>
          <p:cNvSpPr txBox="1"/>
          <p:nvPr/>
        </p:nvSpPr>
        <p:spPr>
          <a:xfrm>
            <a:off x="800100" y="4381500"/>
            <a:ext cx="5967300" cy="3231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US" sz="1050">
                <a:solidFill>
                  <a:srgbClr val="334155"/>
                </a:solidFill>
                <a:latin typeface="Plus Jakarta Sans"/>
                <a:ea typeface="Plus Jakarta Sans"/>
                <a:cs typeface="Plus Jakarta Sans"/>
                <a:sym typeface="Plus Jakarta Sans"/>
              </a:rPr>
              <a:t>The `allowed-tools` field restricts which tools Devin can use during the skill (e.g., read-only investigation)</a:t>
            </a:r>
            <a:endParaRPr b="0" sz="1050">
              <a:solidFill>
                <a:srgbClr val="334155"/>
              </a:solidFill>
              <a:latin typeface="Plus Jakarta Sans"/>
              <a:ea typeface="Plus Jakarta Sans"/>
              <a:cs typeface="Plus Jakarta Sans"/>
              <a:sym typeface="Plus Jakarta Sans"/>
            </a:endParaRPr>
          </a:p>
        </p:txBody>
      </p:sp>
      <p:pic>
        <p:nvPicPr>
          <p:cNvPr descr="image.png" id="651" name="Google Shape;651;p26"/>
          <p:cNvPicPr preferRelativeResize="0"/>
          <p:nvPr/>
        </p:nvPicPr>
        <p:blipFill rotWithShape="1">
          <a:blip r:embed="rId6">
            <a:alphaModFix/>
          </a:blip>
          <a:srcRect b="0" l="0" r="0" t="0"/>
          <a:stretch/>
        </p:blipFill>
        <p:spPr>
          <a:xfrm>
            <a:off x="8581132" y="1380232"/>
            <a:ext cx="133350" cy="104775"/>
          </a:xfrm>
          <a:prstGeom prst="rect">
            <a:avLst/>
          </a:prstGeom>
          <a:noFill/>
          <a:ln>
            <a:noFill/>
          </a:ln>
        </p:spPr>
      </p:pic>
      <p:graphicFrame>
        <p:nvGraphicFramePr>
          <p:cNvPr id="652" name="Google Shape;652;p26"/>
          <p:cNvGraphicFramePr/>
          <p:nvPr/>
        </p:nvGraphicFramePr>
        <p:xfrm>
          <a:off x="7015162" y="1579661"/>
          <a:ext cx="3000000" cy="3000000"/>
        </p:xfrm>
        <a:graphic>
          <a:graphicData uri="http://schemas.openxmlformats.org/drawingml/2006/table">
            <a:tbl>
              <a:tblPr bandRow="1" firstRow="1">
                <a:noFill/>
                <a:tableStyleId>{6AF95251-05E6-4B1C-8FEE-4ABA8F11838E}</a:tableStyleId>
              </a:tblPr>
              <a:tblGrid>
                <a:gridCol w="838350"/>
                <a:gridCol w="1920925"/>
                <a:gridCol w="1788925"/>
              </a:tblGrid>
              <a:tr h="439700">
                <a:tc>
                  <a:txBody>
                    <a:bodyPr/>
                    <a:lstStyle/>
                    <a:p>
                      <a:pPr indent="0" lvl="0" marL="0" marR="0" rtl="0" algn="l">
                        <a:spcBef>
                          <a:spcPts val="0"/>
                        </a:spcBef>
                        <a:spcAft>
                          <a:spcPts val="0"/>
                        </a:spcAft>
                        <a:buNone/>
                      </a:pPr>
                      <a:r>
                        <a:rPr b="1" i="0" lang="en-US" sz="750" u="none" cap="none" strike="noStrike">
                          <a:solidFill>
                            <a:srgbClr val="0F172A"/>
                          </a:solidFill>
                          <a:latin typeface="JetBrains Mono"/>
                          <a:ea typeface="JetBrains Mono"/>
                          <a:cs typeface="JetBrains Mono"/>
                          <a:sym typeface="JetBrains Mono"/>
                        </a:rPr>
                        <a:t>Criteria</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1" i="0" lang="en-US" sz="750" u="none" cap="none" strike="noStrike">
                          <a:solidFill>
                            <a:srgbClr val="0F172A"/>
                          </a:solidFill>
                          <a:latin typeface="JetBrains Mono"/>
                          <a:ea typeface="JetBrains Mono"/>
                          <a:cs typeface="JetBrains Mono"/>
                          <a:sym typeface="JetBrains Mono"/>
                        </a:rPr>
                        <a:t>Skills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1" i="0" lang="en-US" sz="750" u="none" cap="none" strike="noStrike">
                          <a:solidFill>
                            <a:srgbClr val="0F172A"/>
                          </a:solidFill>
                          <a:latin typeface="JetBrains Mono"/>
                          <a:ea typeface="JetBrains Mono"/>
                          <a:cs typeface="JetBrains Mono"/>
                          <a:sym typeface="JetBrains Mono"/>
                        </a:rPr>
                        <a:t>Playbooks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r>
              <a:tr h="439700">
                <a:tc>
                  <a:txBody>
                    <a:bodyPr/>
                    <a:lstStyle/>
                    <a:p>
                      <a:pPr indent="0" lvl="0" marL="0" marR="0" rtl="0" algn="l">
                        <a:spcBef>
                          <a:spcPts val="0"/>
                        </a:spcBef>
                        <a:spcAft>
                          <a:spcPts val="0"/>
                        </a:spcAft>
                        <a:buNone/>
                      </a:pPr>
                      <a:r>
                        <a:rPr b="1" i="0" lang="en-US" sz="900" u="none" cap="none" strike="noStrike">
                          <a:solidFill>
                            <a:srgbClr val="334155"/>
                          </a:solidFill>
                          <a:latin typeface="Plus Jakarta Sans"/>
                          <a:ea typeface="Plus Jakarta Sans"/>
                          <a:cs typeface="Plus Jakarta Sans"/>
                          <a:sym typeface="Plus Jakarta Sans"/>
                        </a:rPr>
                        <a:t>Location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In repo as `SKILL.md` (vcs-tracked)</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In Devin web app UI</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439700">
                <a:tc>
                  <a:txBody>
                    <a:bodyPr/>
                    <a:lstStyle/>
                    <a:p>
                      <a:pPr indent="0" lvl="0" marL="0" marR="0" rtl="0" algn="l">
                        <a:spcBef>
                          <a:spcPts val="0"/>
                        </a:spcBef>
                        <a:spcAft>
                          <a:spcPts val="0"/>
                        </a:spcAft>
                        <a:buNone/>
                      </a:pPr>
                      <a:r>
                        <a:rPr b="1" i="0" lang="en-US" sz="900" u="none" cap="none" strike="noStrike">
                          <a:solidFill>
                            <a:srgbClr val="334155"/>
                          </a:solidFill>
                          <a:latin typeface="Plus Jakarta Sans"/>
                          <a:ea typeface="Plus Jakarta Sans"/>
                          <a:cs typeface="Plus Jakarta Sans"/>
                          <a:sym typeface="Plus Jakarta Sans"/>
                        </a:rPr>
                        <a:t>Trigger</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Auto-discovered or `@skills:name`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Manually attached to session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439700">
                <a:tc>
                  <a:txBody>
                    <a:bodyPr/>
                    <a:lstStyle/>
                    <a:p>
                      <a:pPr indent="0" lvl="0" marL="0" marR="0" rtl="0" algn="l">
                        <a:spcBef>
                          <a:spcPts val="0"/>
                        </a:spcBef>
                        <a:spcAft>
                          <a:spcPts val="0"/>
                        </a:spcAft>
                        <a:buNone/>
                      </a:pPr>
                      <a:r>
                        <a:rPr b="1" i="0" lang="en-US" sz="900" u="none" cap="none" strike="noStrike">
                          <a:solidFill>
                            <a:srgbClr val="334155"/>
                          </a:solidFill>
                          <a:latin typeface="Plus Jakarta Sans"/>
                          <a:ea typeface="Plus Jakarta Sans"/>
                          <a:cs typeface="Plus Jakarta Sans"/>
                          <a:sym typeface="Plus Jakarta Sans"/>
                        </a:rPr>
                        <a:t>Scope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Repo-scoped</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Org-wide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439700">
                <a:tc>
                  <a:txBody>
                    <a:bodyPr/>
                    <a:lstStyle/>
                    <a:p>
                      <a:pPr indent="0" lvl="0" marL="0" marR="0" rtl="0" algn="l">
                        <a:spcBef>
                          <a:spcPts val="0"/>
                        </a:spcBef>
                        <a:spcAft>
                          <a:spcPts val="0"/>
                        </a:spcAft>
                        <a:buNone/>
                      </a:pPr>
                      <a:r>
                        <a:rPr b="1" i="0" lang="en-US" sz="900" u="none" cap="none" strike="noStrike">
                          <a:solidFill>
                            <a:srgbClr val="334155"/>
                          </a:solidFill>
                          <a:latin typeface="Plus Jakarta Sans"/>
                          <a:ea typeface="Plus Jakarta Sans"/>
                          <a:cs typeface="Plus Jakarta Sans"/>
                          <a:sym typeface="Plus Jakarta Sans"/>
                        </a:rPr>
                        <a:t>Best For</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Testing, deployments, workflows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Task prompts, onboarding guides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653" name="Google Shape;653;p26"/>
          <p:cNvSpPr txBox="1"/>
          <p:nvPr/>
        </p:nvSpPr>
        <p:spPr>
          <a:xfrm>
            <a:off x="7234237" y="4542680"/>
            <a:ext cx="4338600" cy="3879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Commit Skills to repos for all repeatable workflows: testing, deployment, investigation</a:t>
            </a:r>
            <a:endParaRPr/>
          </a:p>
        </p:txBody>
      </p:sp>
      <p:sp>
        <p:nvSpPr>
          <p:cNvPr id="654" name="Google Shape;654;p26"/>
          <p:cNvSpPr txBox="1"/>
          <p:nvPr/>
        </p:nvSpPr>
        <p:spPr>
          <a:xfrm>
            <a:off x="7234237" y="4992141"/>
            <a:ext cx="4338600" cy="3879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Use `triggers: ["user"]` for sensitive Skills (e.g., production deployment) to prevent auto-invocation</a:t>
            </a:r>
            <a:endParaRPr/>
          </a:p>
        </p:txBody>
      </p:sp>
      <p:sp>
        <p:nvSpPr>
          <p:cNvPr id="655" name="Google Shape;655;p26"/>
          <p:cNvSpPr txBox="1"/>
          <p:nvPr/>
        </p:nvSpPr>
        <p:spPr>
          <a:xfrm>
            <a:off x="7234237" y="5441602"/>
            <a:ext cx="4338600" cy="3879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Use `allowed-tools` to restrict Skills to read-only for investigation tasks</a:t>
            </a:r>
            <a:endParaRPr/>
          </a:p>
        </p:txBody>
      </p:sp>
      <p:sp>
        <p:nvSpPr>
          <p:cNvPr id="656" name="Google Shape;656;p26"/>
          <p:cNvSpPr txBox="1"/>
          <p:nvPr/>
        </p:nvSpPr>
        <p:spPr>
          <a:xfrm>
            <a:off x="7234237" y="5704433"/>
            <a:ext cx="4338600" cy="3879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Let Devin suggest Skills — after it learns how to test or run your app, accept the suggestion</a:t>
            </a:r>
            <a:endParaRPr/>
          </a:p>
        </p:txBody>
      </p:sp>
      <p:sp>
        <p:nvSpPr>
          <p:cNvPr id="657" name="Google Shape;657;p26"/>
          <p:cNvSpPr/>
          <p:nvPr/>
        </p:nvSpPr>
        <p:spPr>
          <a:xfrm>
            <a:off x="7015162" y="1893986"/>
            <a:ext cx="838200" cy="960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58" name="Google Shape;658;p26"/>
          <p:cNvSpPr/>
          <p:nvPr/>
        </p:nvSpPr>
        <p:spPr>
          <a:xfrm>
            <a:off x="7853511" y="1893986"/>
            <a:ext cx="1920900" cy="960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59" name="Google Shape;659;p26"/>
          <p:cNvSpPr/>
          <p:nvPr/>
        </p:nvSpPr>
        <p:spPr>
          <a:xfrm>
            <a:off x="9774435" y="1893986"/>
            <a:ext cx="1788900" cy="960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60" name="Google Shape;660;p26"/>
          <p:cNvSpPr txBox="1"/>
          <p:nvPr/>
        </p:nvSpPr>
        <p:spPr>
          <a:xfrm>
            <a:off x="7005637" y="3882925"/>
            <a:ext cx="2245500" cy="109500"/>
          </a:xfrm>
          <a:prstGeom prst="rect">
            <a:avLst/>
          </a:prstGeom>
          <a:noFill/>
          <a:ln>
            <a:noFill/>
          </a:ln>
        </p:spPr>
        <p:txBody>
          <a:bodyPr anchorCtr="0" anchor="t" bIns="0" lIns="0" spcFirstLastPara="1" rIns="0" wrap="square" tIns="0">
            <a:spAutoFit/>
          </a:bodyPr>
          <a:lstStyle/>
          <a:p>
            <a:pPr indent="0" lvl="0" marL="0" marR="0" rtl="0" algn="l">
              <a:lnSpc>
                <a:spcPct val="145084"/>
              </a:lnSpc>
              <a:spcBef>
                <a:spcPts val="0"/>
              </a:spcBef>
              <a:spcAft>
                <a:spcPts val="0"/>
              </a:spcAft>
              <a:buNone/>
            </a:pPr>
            <a:r>
              <a:rPr b="1" i="0" lang="en-US" sz="712" u="none" cap="none" strike="noStrike">
                <a:solidFill>
                  <a:srgbClr val="0D9488"/>
                </a:solidFill>
                <a:latin typeface="Plus Jakarta Sans"/>
                <a:ea typeface="Plus Jakarta Sans"/>
                <a:cs typeface="Plus Jakarta Sans"/>
                <a:sym typeface="Plus Jakarta Sans"/>
              </a:rPr>
              <a:t>ADVANTAGES:</a:t>
            </a:r>
            <a:endParaRPr/>
          </a:p>
        </p:txBody>
      </p:sp>
      <p:sp>
        <p:nvSpPr>
          <p:cNvPr id="661" name="Google Shape;661;p26"/>
          <p:cNvSpPr txBox="1"/>
          <p:nvPr/>
        </p:nvSpPr>
        <p:spPr>
          <a:xfrm>
            <a:off x="7005637" y="4033093"/>
            <a:ext cx="2245500" cy="282900"/>
          </a:xfrm>
          <a:prstGeom prst="rect">
            <a:avLst/>
          </a:prstGeom>
          <a:noFill/>
          <a:ln>
            <a:noFill/>
          </a:ln>
        </p:spPr>
        <p:txBody>
          <a:bodyPr anchorCtr="0" anchor="t" bIns="0" lIns="0" spcFirstLastPara="1" rIns="0" wrap="square" tIns="0">
            <a:spAutoFit/>
          </a:bodyPr>
          <a:lstStyle/>
          <a:p>
            <a:pPr indent="0" lvl="0" marL="0" marR="0" rtl="0" algn="l">
              <a:lnSpc>
                <a:spcPct val="144933"/>
              </a:lnSpc>
              <a:spcBef>
                <a:spcPts val="0"/>
              </a:spcBef>
              <a:spcAft>
                <a:spcPts val="0"/>
              </a:spcAft>
              <a:buNone/>
            </a:pPr>
            <a:r>
              <a:rPr b="0" i="0" lang="en-US" sz="750" u="none" cap="none" strike="noStrike">
                <a:solidFill>
                  <a:srgbClr val="334155"/>
                </a:solidFill>
                <a:latin typeface="Plus Jakarta Sans"/>
                <a:ea typeface="Plus Jakarta Sans"/>
                <a:cs typeface="Plus Jakarta Sans"/>
                <a:sym typeface="Plus Jakarta Sans"/>
              </a:rPr>
              <a:t>Version-controlled; portable; auto-suggested; dynamic contexts</a:t>
            </a:r>
            <a:endParaRPr/>
          </a:p>
        </p:txBody>
      </p:sp>
      <p:sp>
        <p:nvSpPr>
          <p:cNvPr id="662" name="Google Shape;662;p26"/>
          <p:cNvSpPr txBox="1"/>
          <p:nvPr/>
        </p:nvSpPr>
        <p:spPr>
          <a:xfrm>
            <a:off x="9327356" y="3882925"/>
            <a:ext cx="2245500" cy="109500"/>
          </a:xfrm>
          <a:prstGeom prst="rect">
            <a:avLst/>
          </a:prstGeom>
          <a:noFill/>
          <a:ln>
            <a:noFill/>
          </a:ln>
        </p:spPr>
        <p:txBody>
          <a:bodyPr anchorCtr="0" anchor="t" bIns="0" lIns="0" spcFirstLastPara="1" rIns="0" wrap="square" tIns="0">
            <a:spAutoFit/>
          </a:bodyPr>
          <a:lstStyle/>
          <a:p>
            <a:pPr indent="0" lvl="0" marL="0" marR="0" rtl="0" algn="l">
              <a:lnSpc>
                <a:spcPct val="145084"/>
              </a:lnSpc>
              <a:spcBef>
                <a:spcPts val="0"/>
              </a:spcBef>
              <a:spcAft>
                <a:spcPts val="0"/>
              </a:spcAft>
              <a:buNone/>
            </a:pPr>
            <a:r>
              <a:rPr b="1" i="0" lang="en-US" sz="712" u="none" cap="none" strike="noStrike">
                <a:solidFill>
                  <a:srgbClr val="EF4444"/>
                </a:solidFill>
                <a:latin typeface="Plus Jakarta Sans"/>
                <a:ea typeface="Plus Jakarta Sans"/>
                <a:cs typeface="Plus Jakarta Sans"/>
                <a:sym typeface="Plus Jakarta Sans"/>
              </a:rPr>
              <a:t>LIMITATIONS:</a:t>
            </a:r>
            <a:endParaRPr/>
          </a:p>
        </p:txBody>
      </p:sp>
      <p:sp>
        <p:nvSpPr>
          <p:cNvPr id="663" name="Google Shape;663;p26"/>
          <p:cNvSpPr txBox="1"/>
          <p:nvPr/>
        </p:nvSpPr>
        <p:spPr>
          <a:xfrm>
            <a:off x="9327356" y="4033093"/>
            <a:ext cx="2245500" cy="282900"/>
          </a:xfrm>
          <a:prstGeom prst="rect">
            <a:avLst/>
          </a:prstGeom>
          <a:noFill/>
          <a:ln>
            <a:noFill/>
          </a:ln>
        </p:spPr>
        <p:txBody>
          <a:bodyPr anchorCtr="0" anchor="t" bIns="0" lIns="0" spcFirstLastPara="1" rIns="0" wrap="square" tIns="0">
            <a:spAutoFit/>
          </a:bodyPr>
          <a:lstStyle/>
          <a:p>
            <a:pPr indent="0" lvl="0" marL="0" marR="0" rtl="0" algn="l">
              <a:lnSpc>
                <a:spcPct val="144933"/>
              </a:lnSpc>
              <a:spcBef>
                <a:spcPts val="0"/>
              </a:spcBef>
              <a:spcAft>
                <a:spcPts val="0"/>
              </a:spcAft>
              <a:buNone/>
            </a:pPr>
            <a:r>
              <a:rPr b="0" i="0" lang="en-US" sz="750" u="none" cap="none" strike="noStrike">
                <a:solidFill>
                  <a:srgbClr val="334155"/>
                </a:solidFill>
                <a:latin typeface="Plus Jakarta Sans"/>
                <a:ea typeface="Plus Jakarta Sans"/>
                <a:cs typeface="Plus Jakarta Sans"/>
                <a:sym typeface="Plus Jakarta Sans"/>
              </a:rPr>
              <a:t>One Skill active at a time; skills repo required for org-wide workaround</a:t>
            </a:r>
            <a:endParaRPr/>
          </a:p>
        </p:txBody>
      </p:sp>
      <p:pic>
        <p:nvPicPr>
          <p:cNvPr id="664" name="Google Shape;664;p26"/>
          <p:cNvPicPr preferRelativeResize="0"/>
          <p:nvPr/>
        </p:nvPicPr>
        <p:blipFill rotWithShape="1">
          <a:blip r:embed="rId7">
            <a:alphaModFix/>
          </a:blip>
          <a:srcRect b="0" l="0" r="0" t="0"/>
          <a:stretch/>
        </p:blipFill>
        <p:spPr>
          <a:xfrm>
            <a:off x="571500" y="2466975"/>
            <a:ext cx="57300" cy="85800"/>
          </a:xfrm>
          <a:prstGeom prst="rect">
            <a:avLst/>
          </a:prstGeom>
          <a:noFill/>
          <a:ln>
            <a:noFill/>
          </a:ln>
        </p:spPr>
      </p:pic>
      <p:pic>
        <p:nvPicPr>
          <p:cNvPr id="665" name="Google Shape;665;p26"/>
          <p:cNvPicPr preferRelativeResize="0"/>
          <p:nvPr/>
        </p:nvPicPr>
        <p:blipFill rotWithShape="1">
          <a:blip r:embed="rId7">
            <a:alphaModFix/>
          </a:blip>
          <a:srcRect b="0" l="0" r="0" t="0"/>
          <a:stretch/>
        </p:blipFill>
        <p:spPr>
          <a:xfrm>
            <a:off x="571500" y="2695575"/>
            <a:ext cx="57300" cy="85800"/>
          </a:xfrm>
          <a:prstGeom prst="rect">
            <a:avLst/>
          </a:prstGeom>
          <a:noFill/>
          <a:ln>
            <a:noFill/>
          </a:ln>
        </p:spPr>
      </p:pic>
      <p:pic>
        <p:nvPicPr>
          <p:cNvPr id="666" name="Google Shape;666;p26"/>
          <p:cNvPicPr preferRelativeResize="0"/>
          <p:nvPr/>
        </p:nvPicPr>
        <p:blipFill rotWithShape="1">
          <a:blip r:embed="rId7">
            <a:alphaModFix/>
          </a:blip>
          <a:srcRect b="0" l="0" r="0" t="0"/>
          <a:stretch/>
        </p:blipFill>
        <p:spPr>
          <a:xfrm>
            <a:off x="571500" y="2933700"/>
            <a:ext cx="57300" cy="85800"/>
          </a:xfrm>
          <a:prstGeom prst="rect">
            <a:avLst/>
          </a:prstGeom>
          <a:noFill/>
          <a:ln>
            <a:noFill/>
          </a:ln>
        </p:spPr>
      </p:pic>
      <p:pic>
        <p:nvPicPr>
          <p:cNvPr id="667" name="Google Shape;667;p26"/>
          <p:cNvPicPr preferRelativeResize="0"/>
          <p:nvPr/>
        </p:nvPicPr>
        <p:blipFill rotWithShape="1">
          <a:blip r:embed="rId7">
            <a:alphaModFix/>
          </a:blip>
          <a:srcRect b="0" l="0" r="0" t="0"/>
          <a:stretch/>
        </p:blipFill>
        <p:spPr>
          <a:xfrm>
            <a:off x="571500" y="3314700"/>
            <a:ext cx="57300" cy="85800"/>
          </a:xfrm>
          <a:prstGeom prst="rect">
            <a:avLst/>
          </a:prstGeom>
          <a:noFill/>
          <a:ln>
            <a:noFill/>
          </a:ln>
        </p:spPr>
      </p:pic>
      <p:pic>
        <p:nvPicPr>
          <p:cNvPr id="668" name="Google Shape;668;p26"/>
          <p:cNvPicPr preferRelativeResize="0"/>
          <p:nvPr/>
        </p:nvPicPr>
        <p:blipFill rotWithShape="1">
          <a:blip r:embed="rId7">
            <a:alphaModFix/>
          </a:blip>
          <a:srcRect b="0" l="0" r="0" t="0"/>
          <a:stretch/>
        </p:blipFill>
        <p:spPr>
          <a:xfrm>
            <a:off x="571500" y="3695700"/>
            <a:ext cx="57300" cy="85800"/>
          </a:xfrm>
          <a:prstGeom prst="rect">
            <a:avLst/>
          </a:prstGeom>
          <a:noFill/>
          <a:ln>
            <a:noFill/>
          </a:ln>
        </p:spPr>
      </p:pic>
      <p:pic>
        <p:nvPicPr>
          <p:cNvPr id="669" name="Google Shape;669;p26"/>
          <p:cNvPicPr preferRelativeResize="0"/>
          <p:nvPr/>
        </p:nvPicPr>
        <p:blipFill rotWithShape="1">
          <a:blip r:embed="rId7">
            <a:alphaModFix/>
          </a:blip>
          <a:srcRect b="0" l="0" r="0" t="0"/>
          <a:stretch/>
        </p:blipFill>
        <p:spPr>
          <a:xfrm>
            <a:off x="571500" y="3933825"/>
            <a:ext cx="57300" cy="85800"/>
          </a:xfrm>
          <a:prstGeom prst="rect">
            <a:avLst/>
          </a:prstGeom>
          <a:noFill/>
          <a:ln>
            <a:noFill/>
          </a:ln>
        </p:spPr>
      </p:pic>
      <p:pic>
        <p:nvPicPr>
          <p:cNvPr id="670" name="Google Shape;670;p26"/>
          <p:cNvPicPr preferRelativeResize="0"/>
          <p:nvPr/>
        </p:nvPicPr>
        <p:blipFill rotWithShape="1">
          <a:blip r:embed="rId7">
            <a:alphaModFix/>
          </a:blip>
          <a:srcRect b="0" l="0" r="0" t="0"/>
          <a:stretch/>
        </p:blipFill>
        <p:spPr>
          <a:xfrm>
            <a:off x="571500" y="4171950"/>
            <a:ext cx="57300" cy="85800"/>
          </a:xfrm>
          <a:prstGeom prst="rect">
            <a:avLst/>
          </a:prstGeom>
          <a:noFill/>
          <a:ln>
            <a:noFill/>
          </a:ln>
        </p:spPr>
      </p:pic>
      <p:pic>
        <p:nvPicPr>
          <p:cNvPr id="671" name="Google Shape;671;p26"/>
          <p:cNvPicPr preferRelativeResize="0"/>
          <p:nvPr/>
        </p:nvPicPr>
        <p:blipFill rotWithShape="1">
          <a:blip r:embed="rId7">
            <a:alphaModFix/>
          </a:blip>
          <a:srcRect b="0" l="0" r="0" t="0"/>
          <a:stretch/>
        </p:blipFill>
        <p:spPr>
          <a:xfrm>
            <a:off x="571500" y="4410075"/>
            <a:ext cx="57300" cy="85800"/>
          </a:xfrm>
          <a:prstGeom prst="rect">
            <a:avLst/>
          </a:prstGeom>
          <a:noFill/>
          <a:ln>
            <a:noFill/>
          </a:ln>
        </p:spPr>
      </p:pic>
      <p:sp>
        <p:nvSpPr>
          <p:cNvPr id="672" name="Google Shape;672;p26"/>
          <p:cNvSpPr/>
          <p:nvPr/>
        </p:nvSpPr>
        <p:spPr>
          <a:xfrm>
            <a:off x="7015162" y="2402383"/>
            <a:ext cx="838200" cy="960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73" name="Google Shape;673;p26"/>
          <p:cNvSpPr/>
          <p:nvPr/>
        </p:nvSpPr>
        <p:spPr>
          <a:xfrm>
            <a:off x="7853511" y="2402383"/>
            <a:ext cx="1920900" cy="960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74" name="Google Shape;674;p26"/>
          <p:cNvSpPr/>
          <p:nvPr/>
        </p:nvSpPr>
        <p:spPr>
          <a:xfrm>
            <a:off x="9774435" y="2402383"/>
            <a:ext cx="1788900" cy="960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75" name="Google Shape;675;p26"/>
          <p:cNvSpPr/>
          <p:nvPr/>
        </p:nvSpPr>
        <p:spPr>
          <a:xfrm>
            <a:off x="7015162" y="2910780"/>
            <a:ext cx="838200" cy="960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76" name="Google Shape;676;p26"/>
          <p:cNvSpPr/>
          <p:nvPr/>
        </p:nvSpPr>
        <p:spPr>
          <a:xfrm>
            <a:off x="7853511" y="2910780"/>
            <a:ext cx="1920900" cy="960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77" name="Google Shape;677;p26"/>
          <p:cNvSpPr/>
          <p:nvPr/>
        </p:nvSpPr>
        <p:spPr>
          <a:xfrm>
            <a:off x="9774435" y="2910780"/>
            <a:ext cx="1788900" cy="960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78" name="Google Shape;678;p26"/>
          <p:cNvSpPr/>
          <p:nvPr/>
        </p:nvSpPr>
        <p:spPr>
          <a:xfrm>
            <a:off x="7015162" y="3264991"/>
            <a:ext cx="838200" cy="960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79" name="Google Shape;679;p26"/>
          <p:cNvSpPr/>
          <p:nvPr/>
        </p:nvSpPr>
        <p:spPr>
          <a:xfrm>
            <a:off x="7853511" y="3264991"/>
            <a:ext cx="1920900" cy="960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80" name="Google Shape;680;p26"/>
          <p:cNvSpPr/>
          <p:nvPr/>
        </p:nvSpPr>
        <p:spPr>
          <a:xfrm>
            <a:off x="9774435" y="3264991"/>
            <a:ext cx="1788900" cy="960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681" name="Google Shape;681;p26"/>
          <p:cNvPicPr preferRelativeResize="0"/>
          <p:nvPr/>
        </p:nvPicPr>
        <p:blipFill rotWithShape="1">
          <a:blip r:embed="rId8">
            <a:alphaModFix/>
          </a:blip>
          <a:srcRect b="0" l="0" r="0" t="0"/>
          <a:stretch/>
        </p:blipFill>
        <p:spPr>
          <a:xfrm>
            <a:off x="7005637" y="4566493"/>
            <a:ext cx="171450" cy="142875"/>
          </a:xfrm>
          <a:prstGeom prst="rect">
            <a:avLst/>
          </a:prstGeom>
          <a:noFill/>
          <a:ln>
            <a:noFill/>
          </a:ln>
        </p:spPr>
      </p:pic>
      <p:pic>
        <p:nvPicPr>
          <p:cNvPr descr="image.png" id="682" name="Google Shape;682;p26"/>
          <p:cNvPicPr preferRelativeResize="0"/>
          <p:nvPr/>
        </p:nvPicPr>
        <p:blipFill rotWithShape="1">
          <a:blip r:embed="rId9">
            <a:alphaModFix/>
          </a:blip>
          <a:srcRect b="0" l="0" r="0" t="0"/>
          <a:stretch/>
        </p:blipFill>
        <p:spPr>
          <a:xfrm>
            <a:off x="7005637" y="5015954"/>
            <a:ext cx="171450" cy="142875"/>
          </a:xfrm>
          <a:prstGeom prst="rect">
            <a:avLst/>
          </a:prstGeom>
          <a:noFill/>
          <a:ln>
            <a:noFill/>
          </a:ln>
        </p:spPr>
      </p:pic>
      <p:pic>
        <p:nvPicPr>
          <p:cNvPr descr="image.png" id="683" name="Google Shape;683;p26"/>
          <p:cNvPicPr preferRelativeResize="0"/>
          <p:nvPr/>
        </p:nvPicPr>
        <p:blipFill rotWithShape="1">
          <a:blip r:embed="rId10">
            <a:alphaModFix/>
          </a:blip>
          <a:srcRect b="0" l="0" r="0" t="0"/>
          <a:stretch/>
        </p:blipFill>
        <p:spPr>
          <a:xfrm>
            <a:off x="7005637" y="5465415"/>
            <a:ext cx="171450" cy="142875"/>
          </a:xfrm>
          <a:prstGeom prst="rect">
            <a:avLst/>
          </a:prstGeom>
          <a:noFill/>
          <a:ln>
            <a:noFill/>
          </a:ln>
        </p:spPr>
      </p:pic>
      <p:pic>
        <p:nvPicPr>
          <p:cNvPr descr="image.png" id="684" name="Google Shape;684;p26"/>
          <p:cNvPicPr preferRelativeResize="0"/>
          <p:nvPr/>
        </p:nvPicPr>
        <p:blipFill rotWithShape="1">
          <a:blip r:embed="rId11">
            <a:alphaModFix/>
          </a:blip>
          <a:srcRect b="0" l="0" r="0" t="0"/>
          <a:stretch/>
        </p:blipFill>
        <p:spPr>
          <a:xfrm>
            <a:off x="7005637" y="5728245"/>
            <a:ext cx="152400" cy="142875"/>
          </a:xfrm>
          <a:prstGeom prst="rect">
            <a:avLst/>
          </a:prstGeom>
          <a:noFill/>
          <a:ln>
            <a:noFill/>
          </a:ln>
        </p:spPr>
      </p:pic>
      <p:sp>
        <p:nvSpPr>
          <p:cNvPr id="685" name="Google Shape;685;p26"/>
          <p:cNvSpPr txBox="1"/>
          <p:nvPr/>
        </p:nvSpPr>
        <p:spPr>
          <a:xfrm>
            <a:off x="571500" y="381000"/>
            <a:ext cx="11601600" cy="3693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2400" u="none" cap="none" strike="noStrike">
                <a:solidFill>
                  <a:srgbClr val="0F172A"/>
                </a:solidFill>
                <a:latin typeface="Plus Jakarta Sans ExtraBold"/>
                <a:ea typeface="Plus Jakarta Sans ExtraBold"/>
                <a:cs typeface="Plus Jakarta Sans ExtraBold"/>
                <a:sym typeface="Plus Jakarta Sans ExtraBold"/>
              </a:rPr>
              <a:t>Feature Spotlight: Agent Skills</a:t>
            </a:r>
            <a:endParaRPr/>
          </a:p>
        </p:txBody>
      </p:sp>
      <p:sp>
        <p:nvSpPr>
          <p:cNvPr id="686" name="Google Shape;686;p26"/>
          <p:cNvSpPr/>
          <p:nvPr/>
        </p:nvSpPr>
        <p:spPr>
          <a:xfrm>
            <a:off x="571500" y="847725"/>
            <a:ext cx="11049000" cy="19200"/>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90" name="Shape 690"/>
        <p:cNvGrpSpPr/>
        <p:nvPr/>
      </p:nvGrpSpPr>
      <p:grpSpPr>
        <a:xfrm>
          <a:off x="0" y="0"/>
          <a:ext cx="0" cy="0"/>
          <a:chOff x="0" y="0"/>
          <a:chExt cx="0" cy="0"/>
        </a:xfrm>
      </p:grpSpPr>
      <p:pic>
        <p:nvPicPr>
          <p:cNvPr descr="image.png" id="691" name="Google Shape;691;p27"/>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692" name="Google Shape;692;p27"/>
          <p:cNvPicPr preferRelativeResize="0"/>
          <p:nvPr/>
        </p:nvPicPr>
        <p:blipFill rotWithShape="1">
          <a:blip r:embed="rId4">
            <a:alphaModFix/>
          </a:blip>
          <a:srcRect b="0" l="0" r="0" t="0"/>
          <a:stretch/>
        </p:blipFill>
        <p:spPr>
          <a:xfrm>
            <a:off x="7005637" y="1299120"/>
            <a:ext cx="4567237" cy="3086100"/>
          </a:xfrm>
          <a:prstGeom prst="rect">
            <a:avLst/>
          </a:prstGeom>
          <a:noFill/>
          <a:ln>
            <a:noFill/>
          </a:ln>
        </p:spPr>
      </p:pic>
      <p:pic>
        <p:nvPicPr>
          <p:cNvPr descr="image.png" id="693" name="Google Shape;693;p27"/>
          <p:cNvPicPr preferRelativeResize="0"/>
          <p:nvPr/>
        </p:nvPicPr>
        <p:blipFill rotWithShape="1">
          <a:blip r:embed="rId5">
            <a:alphaModFix/>
          </a:blip>
          <a:srcRect b="0" l="0" r="0" t="0"/>
          <a:stretch/>
        </p:blipFill>
        <p:spPr>
          <a:xfrm>
            <a:off x="571500" y="457200"/>
            <a:ext cx="823168" cy="200025"/>
          </a:xfrm>
          <a:prstGeom prst="rect">
            <a:avLst/>
          </a:prstGeom>
          <a:noFill/>
          <a:ln>
            <a:noFill/>
          </a:ln>
        </p:spPr>
      </p:pic>
      <p:sp>
        <p:nvSpPr>
          <p:cNvPr id="694" name="Google Shape;694;p27"/>
          <p:cNvSpPr txBox="1"/>
          <p:nvPr/>
        </p:nvSpPr>
        <p:spPr>
          <a:xfrm>
            <a:off x="571500" y="1038225"/>
            <a:ext cx="6196012" cy="151804"/>
          </a:xfrm>
          <a:prstGeom prst="rect">
            <a:avLst/>
          </a:prstGeom>
          <a:noFill/>
          <a:ln>
            <a:noFill/>
          </a:ln>
        </p:spPr>
        <p:txBody>
          <a:bodyPr anchorCtr="0" anchor="t" bIns="0" lIns="0" spcFirstLastPara="1" rIns="0" wrap="square" tIns="0">
            <a:spAutoFit/>
          </a:bodyPr>
          <a:lstStyle/>
          <a:p>
            <a:pPr indent="0" lvl="0" marL="0" marR="0" rtl="0" algn="l">
              <a:lnSpc>
                <a:spcPct val="144969"/>
              </a:lnSpc>
              <a:spcBef>
                <a:spcPts val="0"/>
              </a:spcBef>
              <a:spcAft>
                <a:spcPts val="0"/>
              </a:spcAft>
              <a:buNone/>
            </a:pPr>
            <a:r>
              <a:rPr b="1" i="0" lang="en-US" sz="825" u="none" cap="none" strike="noStrike">
                <a:solidFill>
                  <a:srgbClr val="2563EB"/>
                </a:solidFill>
                <a:latin typeface="Plus Jakarta Sans"/>
                <a:ea typeface="Plus Jakarta Sans"/>
                <a:cs typeface="Plus Jakarta Sans"/>
                <a:sym typeface="Plus Jakarta Sans"/>
              </a:rPr>
              <a:t>PURPOSE:</a:t>
            </a:r>
            <a:endParaRPr/>
          </a:p>
        </p:txBody>
      </p:sp>
      <p:sp>
        <p:nvSpPr>
          <p:cNvPr id="695" name="Google Shape;695;p27"/>
          <p:cNvSpPr txBox="1"/>
          <p:nvPr/>
        </p:nvSpPr>
        <p:spPr>
          <a:xfrm>
            <a:off x="571500" y="1209079"/>
            <a:ext cx="6196012" cy="193327"/>
          </a:xfrm>
          <a:prstGeom prst="rect">
            <a:avLst/>
          </a:prstGeom>
          <a:noFill/>
          <a:ln>
            <a:noFill/>
          </a:ln>
        </p:spPr>
        <p:txBody>
          <a:bodyPr anchorCtr="0" anchor="t" bIns="0" lIns="0" spcFirstLastPara="1" rIns="0" wrap="square" tIns="0">
            <a:spAutoFit/>
          </a:bodyPr>
          <a:lstStyle/>
          <a:p>
            <a:pPr indent="0" lvl="0" marL="0" marR="0" rtl="0" algn="l">
              <a:lnSpc>
                <a:spcPct val="144952"/>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Provide reusable, org-wide prompt templates for repeated task patterns.</a:t>
            </a:r>
            <a:endParaRPr/>
          </a:p>
        </p:txBody>
      </p:sp>
      <p:sp>
        <p:nvSpPr>
          <p:cNvPr id="696" name="Google Shape;696;p27"/>
          <p:cNvSpPr txBox="1"/>
          <p:nvPr/>
        </p:nvSpPr>
        <p:spPr>
          <a:xfrm>
            <a:off x="571500" y="1478607"/>
            <a:ext cx="6196012" cy="151804"/>
          </a:xfrm>
          <a:prstGeom prst="rect">
            <a:avLst/>
          </a:prstGeom>
          <a:noFill/>
          <a:ln>
            <a:noFill/>
          </a:ln>
        </p:spPr>
        <p:txBody>
          <a:bodyPr anchorCtr="0" anchor="t" bIns="0" lIns="0" spcFirstLastPara="1" rIns="0" wrap="square" tIns="0">
            <a:spAutoFit/>
          </a:bodyPr>
          <a:lstStyle/>
          <a:p>
            <a:pPr indent="0" lvl="0" marL="0" marR="0" rtl="0" algn="l">
              <a:lnSpc>
                <a:spcPct val="144969"/>
              </a:lnSpc>
              <a:spcBef>
                <a:spcPts val="0"/>
              </a:spcBef>
              <a:spcAft>
                <a:spcPts val="0"/>
              </a:spcAft>
              <a:buNone/>
            </a:pPr>
            <a:r>
              <a:rPr b="1" i="0" lang="en-US" sz="825" u="none" cap="none" strike="noStrike">
                <a:solidFill>
                  <a:srgbClr val="2563EB"/>
                </a:solidFill>
                <a:latin typeface="Plus Jakarta Sans"/>
                <a:ea typeface="Plus Jakarta Sans"/>
                <a:cs typeface="Plus Jakarta Sans"/>
                <a:sym typeface="Plus Jakarta Sans"/>
              </a:rPr>
              <a:t>WHY IT EXISTS:</a:t>
            </a:r>
            <a:endParaRPr/>
          </a:p>
        </p:txBody>
      </p:sp>
      <p:sp>
        <p:nvSpPr>
          <p:cNvPr id="697" name="Google Shape;697;p27"/>
          <p:cNvSpPr txBox="1"/>
          <p:nvPr/>
        </p:nvSpPr>
        <p:spPr>
          <a:xfrm>
            <a:off x="571500" y="1649462"/>
            <a:ext cx="6196012" cy="386655"/>
          </a:xfrm>
          <a:prstGeom prst="rect">
            <a:avLst/>
          </a:prstGeom>
          <a:noFill/>
          <a:ln>
            <a:noFill/>
          </a:ln>
        </p:spPr>
        <p:txBody>
          <a:bodyPr anchorCtr="0" anchor="t" bIns="0" lIns="0" spcFirstLastPara="1" rIns="0" wrap="square" tIns="0">
            <a:spAutoFit/>
          </a:bodyPr>
          <a:lstStyle/>
          <a:p>
            <a:pPr indent="0" lvl="0" marL="0" marR="0" rtl="0" algn="l">
              <a:lnSpc>
                <a:spcPct val="144952"/>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When the same type of task is run repeatedly across different repos or teams, Playbooks standardize the approach, encode best practices, and enable anyone to replicate a successful workflow.</a:t>
            </a:r>
            <a:endParaRPr/>
          </a:p>
        </p:txBody>
      </p:sp>
      <p:sp>
        <p:nvSpPr>
          <p:cNvPr id="698" name="Google Shape;698;p27"/>
          <p:cNvSpPr txBox="1"/>
          <p:nvPr/>
        </p:nvSpPr>
        <p:spPr>
          <a:xfrm>
            <a:off x="571500" y="2112317"/>
            <a:ext cx="6196012" cy="151804"/>
          </a:xfrm>
          <a:prstGeom prst="rect">
            <a:avLst/>
          </a:prstGeom>
          <a:noFill/>
          <a:ln>
            <a:noFill/>
          </a:ln>
        </p:spPr>
        <p:txBody>
          <a:bodyPr anchorCtr="0" anchor="t" bIns="0" lIns="0" spcFirstLastPara="1" rIns="0" wrap="square" tIns="0">
            <a:spAutoFit/>
          </a:bodyPr>
          <a:lstStyle/>
          <a:p>
            <a:pPr indent="0" lvl="0" marL="0" marR="0" rtl="0" algn="l">
              <a:lnSpc>
                <a:spcPct val="144969"/>
              </a:lnSpc>
              <a:spcBef>
                <a:spcPts val="0"/>
              </a:spcBef>
              <a:spcAft>
                <a:spcPts val="0"/>
              </a:spcAft>
              <a:buNone/>
            </a:pPr>
            <a:r>
              <a:rPr b="1" i="0" lang="en-US" sz="825" u="none" cap="none" strike="noStrike">
                <a:solidFill>
                  <a:srgbClr val="2563EB"/>
                </a:solidFill>
                <a:latin typeface="Plus Jakarta Sans"/>
                <a:ea typeface="Plus Jakarta Sans"/>
                <a:cs typeface="Plus Jakarta Sans"/>
                <a:sym typeface="Plus Jakarta Sans"/>
              </a:rPr>
              <a:t>INTERNAL CONCEPT:</a:t>
            </a:r>
            <a:endParaRPr/>
          </a:p>
        </p:txBody>
      </p:sp>
      <p:sp>
        <p:nvSpPr>
          <p:cNvPr id="699" name="Google Shape;699;p27"/>
          <p:cNvSpPr txBox="1"/>
          <p:nvPr/>
        </p:nvSpPr>
        <p:spPr>
          <a:xfrm>
            <a:off x="571500" y="4233416"/>
            <a:ext cx="6196012" cy="151804"/>
          </a:xfrm>
          <a:prstGeom prst="rect">
            <a:avLst/>
          </a:prstGeom>
          <a:noFill/>
          <a:ln>
            <a:noFill/>
          </a:ln>
        </p:spPr>
        <p:txBody>
          <a:bodyPr anchorCtr="0" anchor="t" bIns="0" lIns="0" spcFirstLastPara="1" rIns="0" wrap="square" tIns="0">
            <a:spAutoFit/>
          </a:bodyPr>
          <a:lstStyle/>
          <a:p>
            <a:pPr indent="0" lvl="0" marL="0" marR="0" rtl="0" algn="l">
              <a:lnSpc>
                <a:spcPct val="144969"/>
              </a:lnSpc>
              <a:spcBef>
                <a:spcPts val="0"/>
              </a:spcBef>
              <a:spcAft>
                <a:spcPts val="0"/>
              </a:spcAft>
              <a:buNone/>
            </a:pPr>
            <a:r>
              <a:rPr b="1" i="0" lang="en-US" sz="825" u="none" cap="none" strike="noStrike">
                <a:solidFill>
                  <a:srgbClr val="2563EB"/>
                </a:solidFill>
                <a:latin typeface="Plus Jakarta Sans"/>
                <a:ea typeface="Plus Jakarta Sans"/>
                <a:cs typeface="Plus Jakarta Sans"/>
                <a:sym typeface="Plus Jakarta Sans"/>
              </a:rPr>
              <a:t>ENTERPRISE USE CASE:</a:t>
            </a:r>
            <a:endParaRPr/>
          </a:p>
        </p:txBody>
      </p:sp>
      <p:sp>
        <p:nvSpPr>
          <p:cNvPr id="700" name="Google Shape;700;p27"/>
          <p:cNvSpPr txBox="1"/>
          <p:nvPr/>
        </p:nvSpPr>
        <p:spPr>
          <a:xfrm>
            <a:off x="571500" y="4404270"/>
            <a:ext cx="6196012" cy="579983"/>
          </a:xfrm>
          <a:prstGeom prst="rect">
            <a:avLst/>
          </a:prstGeom>
          <a:noFill/>
          <a:ln>
            <a:noFill/>
          </a:ln>
        </p:spPr>
        <p:txBody>
          <a:bodyPr anchorCtr="0" anchor="t" bIns="0" lIns="0" spcFirstLastPara="1" rIns="0" wrap="square" tIns="0">
            <a:spAutoFit/>
          </a:bodyPr>
          <a:lstStyle/>
          <a:p>
            <a:pPr indent="0" lvl="0" marL="0" marR="0" rtl="0" algn="l">
              <a:lnSpc>
                <a:spcPct val="144952"/>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A team has successfully migrated 10 services from REST to GraphQL. They create a Playbook from those sessions. Now any engineer — or an Automation — can attach the Playbook to a new session and Devin follows the proven procedure for the next 40 services.</a:t>
            </a:r>
            <a:endParaRPr/>
          </a:p>
        </p:txBody>
      </p:sp>
      <p:sp>
        <p:nvSpPr>
          <p:cNvPr id="701" name="Google Shape;701;p27"/>
          <p:cNvSpPr txBox="1"/>
          <p:nvPr/>
        </p:nvSpPr>
        <p:spPr>
          <a:xfrm>
            <a:off x="571500" y="5597425"/>
            <a:ext cx="6196012" cy="151804"/>
          </a:xfrm>
          <a:prstGeom prst="rect">
            <a:avLst/>
          </a:prstGeom>
          <a:noFill/>
          <a:ln>
            <a:noFill/>
          </a:ln>
        </p:spPr>
        <p:txBody>
          <a:bodyPr anchorCtr="0" anchor="t" bIns="0" lIns="0" spcFirstLastPara="1" rIns="0" wrap="square" tIns="0">
            <a:spAutoFit/>
          </a:bodyPr>
          <a:lstStyle/>
          <a:p>
            <a:pPr indent="0" lvl="0" marL="0" marR="0" rtl="0" algn="l">
              <a:lnSpc>
                <a:spcPct val="144969"/>
              </a:lnSpc>
              <a:spcBef>
                <a:spcPts val="0"/>
              </a:spcBef>
              <a:spcAft>
                <a:spcPts val="0"/>
              </a:spcAft>
              <a:buNone/>
            </a:pPr>
            <a:r>
              <a:rPr b="1" i="0" lang="en-US" sz="825" u="none" cap="none" strike="noStrike">
                <a:solidFill>
                  <a:srgbClr val="0D9488"/>
                </a:solidFill>
                <a:latin typeface="Plus Jakarta Sans"/>
                <a:ea typeface="Plus Jakarta Sans"/>
                <a:cs typeface="Plus Jakarta Sans"/>
                <a:sym typeface="Plus Jakarta Sans"/>
              </a:rPr>
              <a:t>BEST PRACTICES:</a:t>
            </a:r>
            <a:endParaRPr/>
          </a:p>
        </p:txBody>
      </p:sp>
      <p:sp>
        <p:nvSpPr>
          <p:cNvPr id="702" name="Google Shape;702;p27"/>
          <p:cNvSpPr txBox="1"/>
          <p:nvPr/>
        </p:nvSpPr>
        <p:spPr>
          <a:xfrm>
            <a:off x="7005637" y="1038225"/>
            <a:ext cx="4567237" cy="165645"/>
          </a:xfrm>
          <a:prstGeom prst="rect">
            <a:avLst/>
          </a:prstGeom>
          <a:noFill/>
          <a:ln>
            <a:noFill/>
          </a:ln>
        </p:spPr>
        <p:txBody>
          <a:bodyPr anchorCtr="0" anchor="t" bIns="0" lIns="85725" spcFirstLastPara="1" rIns="0" wrap="square" tIns="0">
            <a:spAutoFit/>
          </a:bodyPr>
          <a:lstStyle/>
          <a:p>
            <a:pPr indent="0" lvl="0" marL="0" marR="0" rtl="0" algn="ctr">
              <a:lnSpc>
                <a:spcPct val="145000"/>
              </a:lnSpc>
              <a:spcBef>
                <a:spcPts val="0"/>
              </a:spcBef>
              <a:spcAft>
                <a:spcPts val="0"/>
              </a:spcAft>
              <a:buNone/>
            </a:pPr>
            <a:r>
              <a:rPr b="1" i="0" lang="en-US" sz="900" u="none" cap="none" strike="noStrike">
                <a:solidFill>
                  <a:srgbClr val="0F172A"/>
                </a:solidFill>
                <a:latin typeface="Plus Jakarta Sans"/>
                <a:ea typeface="Plus Jakarta Sans"/>
                <a:cs typeface="Plus Jakarta Sans"/>
                <a:sym typeface="Plus Jakarta Sans"/>
              </a:rPr>
              <a:t>PLAYBOOK STRUCTURE TEMPLATE</a:t>
            </a:r>
            <a:endParaRPr/>
          </a:p>
        </p:txBody>
      </p:sp>
      <p:sp>
        <p:nvSpPr>
          <p:cNvPr id="703" name="Google Shape;703;p27"/>
          <p:cNvSpPr txBox="1"/>
          <p:nvPr/>
        </p:nvSpPr>
        <p:spPr>
          <a:xfrm>
            <a:off x="800100" y="2283172"/>
            <a:ext cx="5967412" cy="37326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A Playbook is a structured document with sections: </a:t>
            </a:r>
            <a:r>
              <a:rPr b="1" i="0" lang="en-US" sz="1050" u="none" cap="none" strike="noStrike">
                <a:solidFill>
                  <a:srgbClr val="334155"/>
                </a:solidFill>
                <a:latin typeface="Plus Jakarta Sans"/>
                <a:ea typeface="Plus Jakarta Sans"/>
                <a:cs typeface="Plus Jakarta Sans"/>
                <a:sym typeface="Plus Jakarta Sans"/>
              </a:rPr>
              <a:t>Procedure</a:t>
            </a:r>
            <a:r>
              <a:rPr b="0" i="0" lang="en-US" sz="1050" u="none" cap="none" strike="noStrike">
                <a:solidFill>
                  <a:srgbClr val="334155"/>
                </a:solidFill>
                <a:latin typeface="Plus Jakarta Sans"/>
                <a:ea typeface="Plus Jakarta Sans"/>
                <a:cs typeface="Plus Jakarta Sans"/>
                <a:sym typeface="Plus Jakarta Sans"/>
              </a:rPr>
              <a:t>, </a:t>
            </a:r>
            <a:r>
              <a:rPr b="1" i="0" lang="en-US" sz="1050" u="none" cap="none" strike="noStrike">
                <a:solidFill>
                  <a:srgbClr val="334155"/>
                </a:solidFill>
                <a:latin typeface="Plus Jakarta Sans"/>
                <a:ea typeface="Plus Jakarta Sans"/>
                <a:cs typeface="Plus Jakarta Sans"/>
                <a:sym typeface="Plus Jakarta Sans"/>
              </a:rPr>
              <a:t>Specifications</a:t>
            </a:r>
            <a:r>
              <a:rPr b="0" i="0" lang="en-US" sz="1050" u="none" cap="none" strike="noStrike">
                <a:solidFill>
                  <a:srgbClr val="334155"/>
                </a:solidFill>
                <a:latin typeface="Plus Jakarta Sans"/>
                <a:ea typeface="Plus Jakarta Sans"/>
                <a:cs typeface="Plus Jakarta Sans"/>
                <a:sym typeface="Plus Jakarta Sans"/>
              </a:rPr>
              <a:t>, </a:t>
            </a:r>
            <a:r>
              <a:rPr b="1" i="0" lang="en-US" sz="1050" u="none" cap="none" strike="noStrike">
                <a:solidFill>
                  <a:srgbClr val="334155"/>
                </a:solidFill>
                <a:latin typeface="Plus Jakarta Sans"/>
                <a:ea typeface="Plus Jakarta Sans"/>
                <a:cs typeface="Plus Jakarta Sans"/>
                <a:sym typeface="Plus Jakarta Sans"/>
              </a:rPr>
              <a:t>Advice</a:t>
            </a:r>
            <a:r>
              <a:rPr b="0" i="0" lang="en-US" sz="1050" u="none" cap="none" strike="noStrike">
                <a:solidFill>
                  <a:srgbClr val="334155"/>
                </a:solidFill>
                <a:latin typeface="Plus Jakarta Sans"/>
                <a:ea typeface="Plus Jakarta Sans"/>
                <a:cs typeface="Plus Jakarta Sans"/>
                <a:sym typeface="Plus Jakarta Sans"/>
              </a:rPr>
              <a:t>, </a:t>
            </a:r>
            <a:r>
              <a:rPr b="1" i="0" lang="en-US" sz="1050" u="none" cap="none" strike="noStrike">
                <a:solidFill>
                  <a:srgbClr val="334155"/>
                </a:solidFill>
                <a:latin typeface="Plus Jakarta Sans"/>
                <a:ea typeface="Plus Jakarta Sans"/>
                <a:cs typeface="Plus Jakarta Sans"/>
                <a:sym typeface="Plus Jakarta Sans"/>
              </a:rPr>
              <a:t>Forbidden Actions</a:t>
            </a:r>
            <a:r>
              <a:rPr b="0" i="0" lang="en-US" sz="1050" u="none" cap="none" strike="noStrike">
                <a:solidFill>
                  <a:srgbClr val="334155"/>
                </a:solidFill>
                <a:latin typeface="Plus Jakarta Sans"/>
                <a:ea typeface="Plus Jakarta Sans"/>
                <a:cs typeface="Plus Jakarta Sans"/>
                <a:sym typeface="Plus Jakarta Sans"/>
              </a:rPr>
              <a:t>, </a:t>
            </a:r>
            <a:r>
              <a:rPr b="1" i="0" lang="en-US" sz="1050" u="none" cap="none" strike="noStrike">
                <a:solidFill>
                  <a:srgbClr val="334155"/>
                </a:solidFill>
                <a:latin typeface="Plus Jakarta Sans"/>
                <a:ea typeface="Plus Jakarta Sans"/>
                <a:cs typeface="Plus Jakarta Sans"/>
                <a:sym typeface="Plus Jakarta Sans"/>
              </a:rPr>
              <a:t>Required from User</a:t>
            </a:r>
            <a:endParaRPr/>
          </a:p>
        </p:txBody>
      </p:sp>
      <p:sp>
        <p:nvSpPr>
          <p:cNvPr id="704" name="Google Shape;704;p27"/>
          <p:cNvSpPr txBox="1"/>
          <p:nvPr/>
        </p:nvSpPr>
        <p:spPr>
          <a:xfrm>
            <a:off x="800100" y="2732633"/>
            <a:ext cx="5967412"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Playbooks are attached to a session at start time (via UI, macro, or `.devin.md` file)</a:t>
            </a:r>
            <a:endParaRPr/>
          </a:p>
        </p:txBody>
      </p:sp>
      <p:sp>
        <p:nvSpPr>
          <p:cNvPr id="705" name="Google Shape;705;p27"/>
          <p:cNvSpPr txBox="1"/>
          <p:nvPr/>
        </p:nvSpPr>
        <p:spPr>
          <a:xfrm>
            <a:off x="800100" y="2995463"/>
            <a:ext cx="5967412"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Playbooks have </a:t>
            </a:r>
            <a:r>
              <a:rPr b="1" i="0" lang="en-US" sz="1050" u="none" cap="none" strike="noStrike">
                <a:solidFill>
                  <a:srgbClr val="334155"/>
                </a:solidFill>
                <a:latin typeface="Plus Jakarta Sans"/>
                <a:ea typeface="Plus Jakarta Sans"/>
                <a:cs typeface="Plus Jakarta Sans"/>
                <a:sym typeface="Plus Jakarta Sans"/>
              </a:rPr>
              <a:t>version history</a:t>
            </a:r>
            <a:r>
              <a:rPr b="0" i="0" lang="en-US" sz="1050" u="none" cap="none" strike="noStrike">
                <a:solidFill>
                  <a:srgbClr val="334155"/>
                </a:solidFill>
                <a:latin typeface="Plus Jakarta Sans"/>
                <a:ea typeface="Plus Jakarta Sans"/>
                <a:cs typeface="Plus Jakarta Sans"/>
                <a:sym typeface="Plus Jakarta Sans"/>
              </a:rPr>
              <a:t> — every edit creates a new version; rollback is supported</a:t>
            </a:r>
            <a:endParaRPr/>
          </a:p>
        </p:txBody>
      </p:sp>
      <p:sp>
        <p:nvSpPr>
          <p:cNvPr id="706" name="Google Shape;706;p27"/>
          <p:cNvSpPr txBox="1"/>
          <p:nvPr/>
        </p:nvSpPr>
        <p:spPr>
          <a:xfrm>
            <a:off x="800100" y="3258294"/>
            <a:ext cx="5967412"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Enterprise Playbooks are shared across all organizations in an enterprise</a:t>
            </a:r>
            <a:endParaRPr/>
          </a:p>
        </p:txBody>
      </p:sp>
      <p:sp>
        <p:nvSpPr>
          <p:cNvPr id="707" name="Google Shape;707;p27"/>
          <p:cNvSpPr txBox="1"/>
          <p:nvPr/>
        </p:nvSpPr>
        <p:spPr>
          <a:xfrm>
            <a:off x="800100" y="3521124"/>
            <a:ext cx="5967412" cy="37326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Playbooks can be created from successful sessions — Devin analyzes the session and produces a structured Playbook</a:t>
            </a:r>
            <a:endParaRPr/>
          </a:p>
        </p:txBody>
      </p:sp>
      <p:sp>
        <p:nvSpPr>
          <p:cNvPr id="708" name="Google Shape;708;p27"/>
          <p:cNvSpPr txBox="1"/>
          <p:nvPr/>
        </p:nvSpPr>
        <p:spPr>
          <a:xfrm>
            <a:off x="800100" y="3970585"/>
            <a:ext cx="5967412"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Macros (`!data-tutorial`) allow quick attachment via prompt input</a:t>
            </a:r>
            <a:endParaRPr/>
          </a:p>
        </p:txBody>
      </p:sp>
      <p:sp>
        <p:nvSpPr>
          <p:cNvPr id="709" name="Google Shape;709;p27"/>
          <p:cNvSpPr txBox="1"/>
          <p:nvPr/>
        </p:nvSpPr>
        <p:spPr>
          <a:xfrm>
            <a:off x="800100" y="5768280"/>
            <a:ext cx="5967412"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Write Procedures with one step per line, using imperative verbs</a:t>
            </a:r>
            <a:endParaRPr/>
          </a:p>
        </p:txBody>
      </p:sp>
      <p:sp>
        <p:nvSpPr>
          <p:cNvPr id="710" name="Google Shape;710;p27"/>
          <p:cNvSpPr txBox="1"/>
          <p:nvPr/>
        </p:nvSpPr>
        <p:spPr>
          <a:xfrm>
            <a:off x="800100" y="6031110"/>
            <a:ext cx="5967412"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Make steps Mutually Exclusive and Collectively Exhaustive (MECE)</a:t>
            </a:r>
            <a:endParaRPr/>
          </a:p>
        </p:txBody>
      </p:sp>
      <p:sp>
        <p:nvSpPr>
          <p:cNvPr id="711" name="Google Shape;711;p27"/>
          <p:cNvSpPr txBox="1"/>
          <p:nvPr/>
        </p:nvSpPr>
        <p:spPr>
          <a:xfrm>
            <a:off x="800100" y="6293941"/>
            <a:ext cx="5967412"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Include before/after examples in Advice sections</a:t>
            </a:r>
            <a:endParaRPr/>
          </a:p>
        </p:txBody>
      </p:sp>
      <p:sp>
        <p:nvSpPr>
          <p:cNvPr id="712" name="Google Shape;712;p27"/>
          <p:cNvSpPr txBox="1"/>
          <p:nvPr/>
        </p:nvSpPr>
        <p:spPr>
          <a:xfrm>
            <a:off x="800100" y="6556771"/>
            <a:ext cx="5967412"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Run 2+ Devins in parallel with the same Playbook to quickly identify errors</a:t>
            </a:r>
            <a:endParaRPr/>
          </a:p>
        </p:txBody>
      </p:sp>
      <p:sp>
        <p:nvSpPr>
          <p:cNvPr id="713" name="Google Shape;713;p27"/>
          <p:cNvSpPr txBox="1"/>
          <p:nvPr/>
        </p:nvSpPr>
        <p:spPr>
          <a:xfrm>
            <a:off x="800100" y="6819602"/>
            <a:ext cx="5967412" cy="38397"/>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Iterate: if Devin needs help mid-session, add the fix to the Playbook for next time</a:t>
            </a:r>
            <a:endParaRPr/>
          </a:p>
        </p:txBody>
      </p:sp>
      <p:sp>
        <p:nvSpPr>
          <p:cNvPr id="714" name="Google Shape;714;p27"/>
          <p:cNvSpPr txBox="1"/>
          <p:nvPr/>
        </p:nvSpPr>
        <p:spPr>
          <a:xfrm>
            <a:off x="800100" y="7082432"/>
            <a:ext cx="5967412" cy="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Enforce Enterprise Playbooks for company-wide standards</a:t>
            </a:r>
            <a:endParaRPr/>
          </a:p>
        </p:txBody>
      </p:sp>
      <p:pic>
        <p:nvPicPr>
          <p:cNvPr descr="image.png" id="715" name="Google Shape;715;p27"/>
          <p:cNvPicPr preferRelativeResize="0"/>
          <p:nvPr/>
        </p:nvPicPr>
        <p:blipFill rotWithShape="1">
          <a:blip r:embed="rId6">
            <a:alphaModFix/>
          </a:blip>
          <a:srcRect b="0" l="0" r="0" t="0"/>
          <a:stretch/>
        </p:blipFill>
        <p:spPr>
          <a:xfrm>
            <a:off x="8223944" y="1057275"/>
            <a:ext cx="85725" cy="114300"/>
          </a:xfrm>
          <a:prstGeom prst="rect">
            <a:avLst/>
          </a:prstGeom>
          <a:noFill/>
          <a:ln>
            <a:noFill/>
          </a:ln>
        </p:spPr>
      </p:pic>
      <p:sp>
        <p:nvSpPr>
          <p:cNvPr id="716" name="Google Shape;716;p27"/>
          <p:cNvSpPr txBox="1"/>
          <p:nvPr/>
        </p:nvSpPr>
        <p:spPr>
          <a:xfrm>
            <a:off x="7167562" y="1470570"/>
            <a:ext cx="914548" cy="104775"/>
          </a:xfrm>
          <a:prstGeom prst="rect">
            <a:avLst/>
          </a:prstGeom>
          <a:noFill/>
          <a:ln>
            <a:noFill/>
          </a:ln>
        </p:spPr>
        <p:txBody>
          <a:bodyPr anchorCtr="0" anchor="t" bIns="0" lIns="0" spcFirstLastPara="1" rIns="0" wrap="square" tIns="0">
            <a:spAutoFit/>
          </a:bodyPr>
          <a:lstStyle/>
          <a:p>
            <a:pPr indent="0" lvl="0" marL="0" marR="0" rtl="0" algn="l">
              <a:lnSpc>
                <a:spcPct val="144933"/>
              </a:lnSpc>
              <a:spcBef>
                <a:spcPts val="0"/>
              </a:spcBef>
              <a:spcAft>
                <a:spcPts val="0"/>
              </a:spcAft>
              <a:buNone/>
            </a:pPr>
            <a:r>
              <a:rPr b="1" i="0" lang="en-US" sz="750" u="none" cap="none" strike="noStrike">
                <a:solidFill>
                  <a:srgbClr val="E2E8F0"/>
                </a:solidFill>
                <a:latin typeface="JetBrains Mono"/>
                <a:ea typeface="JetBrains Mono"/>
                <a:cs typeface="JetBrains Mono"/>
                <a:sym typeface="JetBrains Mono"/>
              </a:rPr>
              <a:t>Playbook: [Name]</a:t>
            </a:r>
            <a:endParaRPr/>
          </a:p>
        </p:txBody>
      </p:sp>
      <p:sp>
        <p:nvSpPr>
          <p:cNvPr id="717" name="Google Shape;717;p27"/>
          <p:cNvSpPr txBox="1"/>
          <p:nvPr/>
        </p:nvSpPr>
        <p:spPr>
          <a:xfrm>
            <a:off x="7167562" y="1746795"/>
            <a:ext cx="628798" cy="104775"/>
          </a:xfrm>
          <a:prstGeom prst="rect">
            <a:avLst/>
          </a:prstGeom>
          <a:noFill/>
          <a:ln>
            <a:noFill/>
          </a:ln>
        </p:spPr>
        <p:txBody>
          <a:bodyPr anchorCtr="0" anchor="t" bIns="0" lIns="0" spcFirstLastPara="1" rIns="0" wrap="square" tIns="0">
            <a:spAutoFit/>
          </a:bodyPr>
          <a:lstStyle/>
          <a:p>
            <a:pPr indent="0" lvl="0" marL="0" marR="0" rtl="0" algn="l">
              <a:lnSpc>
                <a:spcPct val="144933"/>
              </a:lnSpc>
              <a:spcBef>
                <a:spcPts val="0"/>
              </a:spcBef>
              <a:spcAft>
                <a:spcPts val="0"/>
              </a:spcAft>
              <a:buNone/>
            </a:pPr>
            <a:r>
              <a:rPr b="0" i="0" lang="en-US" sz="750" u="none" cap="none" strike="noStrike">
                <a:solidFill>
                  <a:srgbClr val="38BDF8"/>
                </a:solidFill>
                <a:latin typeface="JetBrains Mono"/>
                <a:ea typeface="JetBrains Mono"/>
                <a:cs typeface="JetBrains Mono"/>
                <a:sym typeface="JetBrains Mono"/>
              </a:rPr>
              <a:t>## Overview</a:t>
            </a:r>
            <a:endParaRPr/>
          </a:p>
        </p:txBody>
      </p:sp>
      <p:sp>
        <p:nvSpPr>
          <p:cNvPr id="718" name="Google Shape;718;p27"/>
          <p:cNvSpPr txBox="1"/>
          <p:nvPr/>
        </p:nvSpPr>
        <p:spPr>
          <a:xfrm>
            <a:off x="7167562" y="2161133"/>
            <a:ext cx="1486197" cy="104775"/>
          </a:xfrm>
          <a:prstGeom prst="rect">
            <a:avLst/>
          </a:prstGeom>
          <a:noFill/>
          <a:ln>
            <a:noFill/>
          </a:ln>
        </p:spPr>
        <p:txBody>
          <a:bodyPr anchorCtr="0" anchor="t" bIns="0" lIns="0" spcFirstLastPara="1" rIns="0" wrap="square" tIns="0">
            <a:spAutoFit/>
          </a:bodyPr>
          <a:lstStyle/>
          <a:p>
            <a:pPr indent="0" lvl="0" marL="0" marR="0" rtl="0" algn="l">
              <a:lnSpc>
                <a:spcPct val="144933"/>
              </a:lnSpc>
              <a:spcBef>
                <a:spcPts val="0"/>
              </a:spcBef>
              <a:spcAft>
                <a:spcPts val="0"/>
              </a:spcAft>
              <a:buNone/>
            </a:pPr>
            <a:r>
              <a:rPr b="0" i="0" lang="en-US" sz="750" u="none" cap="none" strike="noStrike">
                <a:solidFill>
                  <a:srgbClr val="38BDF8"/>
                </a:solidFill>
                <a:latin typeface="JetBrains Mono"/>
                <a:ea typeface="JetBrains Mono"/>
                <a:cs typeface="JetBrains Mono"/>
                <a:sym typeface="JetBrains Mono"/>
              </a:rPr>
              <a:t>## What's Needed From User</a:t>
            </a:r>
            <a:endParaRPr/>
          </a:p>
        </p:txBody>
      </p:sp>
      <p:sp>
        <p:nvSpPr>
          <p:cNvPr id="719" name="Google Shape;719;p27"/>
          <p:cNvSpPr txBox="1"/>
          <p:nvPr/>
        </p:nvSpPr>
        <p:spPr>
          <a:xfrm>
            <a:off x="7167562" y="2575470"/>
            <a:ext cx="685948" cy="104775"/>
          </a:xfrm>
          <a:prstGeom prst="rect">
            <a:avLst/>
          </a:prstGeom>
          <a:noFill/>
          <a:ln>
            <a:noFill/>
          </a:ln>
        </p:spPr>
        <p:txBody>
          <a:bodyPr anchorCtr="0" anchor="t" bIns="0" lIns="0" spcFirstLastPara="1" rIns="0" wrap="square" tIns="0">
            <a:spAutoFit/>
          </a:bodyPr>
          <a:lstStyle/>
          <a:p>
            <a:pPr indent="0" lvl="0" marL="0" marR="0" rtl="0" algn="l">
              <a:lnSpc>
                <a:spcPct val="144933"/>
              </a:lnSpc>
              <a:spcBef>
                <a:spcPts val="0"/>
              </a:spcBef>
              <a:spcAft>
                <a:spcPts val="0"/>
              </a:spcAft>
              <a:buNone/>
            </a:pPr>
            <a:r>
              <a:rPr b="0" i="0" lang="en-US" sz="750" u="none" cap="none" strike="noStrike">
                <a:solidFill>
                  <a:srgbClr val="38BDF8"/>
                </a:solidFill>
                <a:latin typeface="JetBrains Mono"/>
                <a:ea typeface="JetBrains Mono"/>
                <a:cs typeface="JetBrains Mono"/>
                <a:sym typeface="JetBrains Mono"/>
              </a:rPr>
              <a:t>## Procedure</a:t>
            </a:r>
            <a:endParaRPr/>
          </a:p>
        </p:txBody>
      </p:sp>
      <p:sp>
        <p:nvSpPr>
          <p:cNvPr id="720" name="Google Shape;720;p27"/>
          <p:cNvSpPr txBox="1"/>
          <p:nvPr/>
        </p:nvSpPr>
        <p:spPr>
          <a:xfrm>
            <a:off x="7167562" y="3127920"/>
            <a:ext cx="971847" cy="104775"/>
          </a:xfrm>
          <a:prstGeom prst="rect">
            <a:avLst/>
          </a:prstGeom>
          <a:noFill/>
          <a:ln>
            <a:noFill/>
          </a:ln>
        </p:spPr>
        <p:txBody>
          <a:bodyPr anchorCtr="0" anchor="t" bIns="0" lIns="0" spcFirstLastPara="1" rIns="0" wrap="square" tIns="0">
            <a:spAutoFit/>
          </a:bodyPr>
          <a:lstStyle/>
          <a:p>
            <a:pPr indent="0" lvl="0" marL="0" marR="0" rtl="0" algn="l">
              <a:lnSpc>
                <a:spcPct val="144933"/>
              </a:lnSpc>
              <a:spcBef>
                <a:spcPts val="0"/>
              </a:spcBef>
              <a:spcAft>
                <a:spcPts val="0"/>
              </a:spcAft>
              <a:buNone/>
            </a:pPr>
            <a:r>
              <a:rPr b="0" i="0" lang="en-US" sz="750" u="none" cap="none" strike="noStrike">
                <a:solidFill>
                  <a:srgbClr val="38BDF8"/>
                </a:solidFill>
                <a:latin typeface="JetBrains Mono"/>
                <a:ea typeface="JetBrains Mono"/>
                <a:cs typeface="JetBrains Mono"/>
                <a:sym typeface="JetBrains Mono"/>
              </a:rPr>
              <a:t>## Specifications</a:t>
            </a:r>
            <a:endParaRPr/>
          </a:p>
        </p:txBody>
      </p:sp>
      <p:sp>
        <p:nvSpPr>
          <p:cNvPr id="721" name="Google Shape;721;p27"/>
          <p:cNvSpPr txBox="1"/>
          <p:nvPr/>
        </p:nvSpPr>
        <p:spPr>
          <a:xfrm>
            <a:off x="7167562" y="3542258"/>
            <a:ext cx="1257597" cy="104775"/>
          </a:xfrm>
          <a:prstGeom prst="rect">
            <a:avLst/>
          </a:prstGeom>
          <a:noFill/>
          <a:ln>
            <a:noFill/>
          </a:ln>
        </p:spPr>
        <p:txBody>
          <a:bodyPr anchorCtr="0" anchor="t" bIns="0" lIns="0" spcFirstLastPara="1" rIns="0" wrap="square" tIns="0">
            <a:spAutoFit/>
          </a:bodyPr>
          <a:lstStyle/>
          <a:p>
            <a:pPr indent="0" lvl="0" marL="0" marR="0" rtl="0" algn="l">
              <a:lnSpc>
                <a:spcPct val="144933"/>
              </a:lnSpc>
              <a:spcBef>
                <a:spcPts val="0"/>
              </a:spcBef>
              <a:spcAft>
                <a:spcPts val="0"/>
              </a:spcAft>
              <a:buNone/>
            </a:pPr>
            <a:r>
              <a:rPr b="0" i="0" lang="en-US" sz="750" u="none" cap="none" strike="noStrike">
                <a:solidFill>
                  <a:srgbClr val="38BDF8"/>
                </a:solidFill>
                <a:latin typeface="JetBrains Mono"/>
                <a:ea typeface="JetBrains Mono"/>
                <a:cs typeface="JetBrains Mono"/>
                <a:sym typeface="JetBrains Mono"/>
              </a:rPr>
              <a:t>## Advice and Pointers</a:t>
            </a:r>
            <a:endParaRPr/>
          </a:p>
        </p:txBody>
      </p:sp>
      <p:sp>
        <p:nvSpPr>
          <p:cNvPr id="722" name="Google Shape;722;p27"/>
          <p:cNvSpPr txBox="1"/>
          <p:nvPr/>
        </p:nvSpPr>
        <p:spPr>
          <a:xfrm>
            <a:off x="7167562" y="3956595"/>
            <a:ext cx="1143297" cy="104775"/>
          </a:xfrm>
          <a:prstGeom prst="rect">
            <a:avLst/>
          </a:prstGeom>
          <a:noFill/>
          <a:ln>
            <a:noFill/>
          </a:ln>
        </p:spPr>
        <p:txBody>
          <a:bodyPr anchorCtr="0" anchor="t" bIns="0" lIns="0" spcFirstLastPara="1" rIns="0" wrap="square" tIns="0">
            <a:spAutoFit/>
          </a:bodyPr>
          <a:lstStyle/>
          <a:p>
            <a:pPr indent="0" lvl="0" marL="0" marR="0" rtl="0" algn="l">
              <a:lnSpc>
                <a:spcPct val="144933"/>
              </a:lnSpc>
              <a:spcBef>
                <a:spcPts val="0"/>
              </a:spcBef>
              <a:spcAft>
                <a:spcPts val="0"/>
              </a:spcAft>
              <a:buNone/>
            </a:pPr>
            <a:r>
              <a:rPr b="0" i="0" lang="en-US" sz="750" u="none" cap="none" strike="noStrike">
                <a:solidFill>
                  <a:srgbClr val="F472B6"/>
                </a:solidFill>
                <a:latin typeface="JetBrains Mono"/>
                <a:ea typeface="JetBrains Mono"/>
                <a:cs typeface="JetBrains Mono"/>
                <a:sym typeface="JetBrains Mono"/>
              </a:rPr>
              <a:t>## Forbidden Actions</a:t>
            </a:r>
            <a:endParaRPr/>
          </a:p>
        </p:txBody>
      </p:sp>
      <p:sp>
        <p:nvSpPr>
          <p:cNvPr id="723" name="Google Shape;723;p27"/>
          <p:cNvSpPr txBox="1"/>
          <p:nvPr/>
        </p:nvSpPr>
        <p:spPr>
          <a:xfrm>
            <a:off x="571500" y="5060453"/>
            <a:ext cx="3050381" cy="138112"/>
          </a:xfrm>
          <a:prstGeom prst="rect">
            <a:avLst/>
          </a:prstGeom>
          <a:noFill/>
          <a:ln>
            <a:noFill/>
          </a:ln>
        </p:spPr>
        <p:txBody>
          <a:bodyPr anchorCtr="0" anchor="t" bIns="0" lIns="0" spcFirstLastPara="1" rIns="0" wrap="square" tIns="0">
            <a:spAutoFit/>
          </a:bodyPr>
          <a:lstStyle/>
          <a:p>
            <a:pPr indent="0" lvl="0" marL="0" marR="0" rtl="0" algn="l">
              <a:lnSpc>
                <a:spcPct val="144933"/>
              </a:lnSpc>
              <a:spcBef>
                <a:spcPts val="0"/>
              </a:spcBef>
              <a:spcAft>
                <a:spcPts val="0"/>
              </a:spcAft>
              <a:buNone/>
            </a:pPr>
            <a:r>
              <a:rPr b="1" i="0" lang="en-US" sz="750" u="none" cap="none" strike="noStrike">
                <a:solidFill>
                  <a:srgbClr val="0D9488"/>
                </a:solidFill>
                <a:latin typeface="Plus Jakarta Sans"/>
                <a:ea typeface="Plus Jakarta Sans"/>
                <a:cs typeface="Plus Jakarta Sans"/>
                <a:sym typeface="Plus Jakarta Sans"/>
              </a:rPr>
              <a:t>ADVANTAGES:</a:t>
            </a:r>
            <a:endParaRPr/>
          </a:p>
        </p:txBody>
      </p:sp>
      <p:sp>
        <p:nvSpPr>
          <p:cNvPr id="724" name="Google Shape;724;p27"/>
          <p:cNvSpPr txBox="1"/>
          <p:nvPr/>
        </p:nvSpPr>
        <p:spPr>
          <a:xfrm>
            <a:off x="571500" y="5217616"/>
            <a:ext cx="3050381" cy="303609"/>
          </a:xfrm>
          <a:prstGeom prst="rect">
            <a:avLst/>
          </a:prstGeom>
          <a:noFill/>
          <a:ln>
            <a:noFill/>
          </a:ln>
        </p:spPr>
        <p:txBody>
          <a:bodyPr anchorCtr="0" anchor="t" bIns="0" lIns="0" spcFirstLastPara="1" rIns="0" wrap="square" tIns="0">
            <a:spAutoFit/>
          </a:bodyPr>
          <a:lstStyle/>
          <a:p>
            <a:pPr indent="0" lvl="0" marL="0" marR="0" rtl="0" algn="l">
              <a:lnSpc>
                <a:spcPct val="144969"/>
              </a:lnSpc>
              <a:spcBef>
                <a:spcPts val="0"/>
              </a:spcBef>
              <a:spcAft>
                <a:spcPts val="0"/>
              </a:spcAft>
              <a:buNone/>
            </a:pPr>
            <a:r>
              <a:rPr b="0" i="0" lang="en-US" sz="825" u="none" cap="none" strike="noStrike">
                <a:solidFill>
                  <a:srgbClr val="334155"/>
                </a:solidFill>
                <a:latin typeface="Plus Jakarta Sans"/>
                <a:ea typeface="Plus Jakarta Sans"/>
                <a:cs typeface="Plus Jakarta Sans"/>
                <a:sym typeface="Plus Jakarta Sans"/>
              </a:rPr>
              <a:t>Org-wide sharing; version history; session conversion; Community Gallery</a:t>
            </a:r>
            <a:endParaRPr/>
          </a:p>
        </p:txBody>
      </p:sp>
      <p:sp>
        <p:nvSpPr>
          <p:cNvPr id="725" name="Google Shape;725;p27"/>
          <p:cNvSpPr txBox="1"/>
          <p:nvPr/>
        </p:nvSpPr>
        <p:spPr>
          <a:xfrm>
            <a:off x="3717131" y="5060453"/>
            <a:ext cx="3050381" cy="138112"/>
          </a:xfrm>
          <a:prstGeom prst="rect">
            <a:avLst/>
          </a:prstGeom>
          <a:noFill/>
          <a:ln>
            <a:noFill/>
          </a:ln>
        </p:spPr>
        <p:txBody>
          <a:bodyPr anchorCtr="0" anchor="t" bIns="0" lIns="0" spcFirstLastPara="1" rIns="0" wrap="square" tIns="0">
            <a:spAutoFit/>
          </a:bodyPr>
          <a:lstStyle/>
          <a:p>
            <a:pPr indent="0" lvl="0" marL="0" marR="0" rtl="0" algn="l">
              <a:lnSpc>
                <a:spcPct val="144933"/>
              </a:lnSpc>
              <a:spcBef>
                <a:spcPts val="0"/>
              </a:spcBef>
              <a:spcAft>
                <a:spcPts val="0"/>
              </a:spcAft>
              <a:buNone/>
            </a:pPr>
            <a:r>
              <a:rPr b="1" i="0" lang="en-US" sz="750" u="none" cap="none" strike="noStrike">
                <a:solidFill>
                  <a:srgbClr val="EF4444"/>
                </a:solidFill>
                <a:latin typeface="Plus Jakarta Sans"/>
                <a:ea typeface="Plus Jakarta Sans"/>
                <a:cs typeface="Plus Jakarta Sans"/>
                <a:sym typeface="Plus Jakarta Sans"/>
              </a:rPr>
              <a:t>LIMITATIONS:</a:t>
            </a:r>
            <a:endParaRPr/>
          </a:p>
        </p:txBody>
      </p:sp>
      <p:sp>
        <p:nvSpPr>
          <p:cNvPr id="726" name="Google Shape;726;p27"/>
          <p:cNvSpPr txBox="1"/>
          <p:nvPr/>
        </p:nvSpPr>
        <p:spPr>
          <a:xfrm>
            <a:off x="3717131" y="5217616"/>
            <a:ext cx="3050381" cy="303609"/>
          </a:xfrm>
          <a:prstGeom prst="rect">
            <a:avLst/>
          </a:prstGeom>
          <a:noFill/>
          <a:ln>
            <a:noFill/>
          </a:ln>
        </p:spPr>
        <p:txBody>
          <a:bodyPr anchorCtr="0" anchor="t" bIns="0" lIns="0" spcFirstLastPara="1" rIns="0" wrap="square" tIns="0">
            <a:spAutoFit/>
          </a:bodyPr>
          <a:lstStyle/>
          <a:p>
            <a:pPr indent="0" lvl="0" marL="0" marR="0" rtl="0" algn="l">
              <a:lnSpc>
                <a:spcPct val="144969"/>
              </a:lnSpc>
              <a:spcBef>
                <a:spcPts val="0"/>
              </a:spcBef>
              <a:spcAft>
                <a:spcPts val="0"/>
              </a:spcAft>
              <a:buNone/>
            </a:pPr>
            <a:r>
              <a:rPr b="0" i="0" lang="en-US" sz="825" u="none" cap="none" strike="noStrike">
                <a:solidFill>
                  <a:srgbClr val="334155"/>
                </a:solidFill>
                <a:latin typeface="Plus Jakarta Sans"/>
                <a:ea typeface="Plus Jakarta Sans"/>
                <a:cs typeface="Plus Jakarta Sans"/>
                <a:sym typeface="Plus Jakarta Sans"/>
              </a:rPr>
              <a:t>Requires prompt engineering skill; iterative trial and error necessary</a:t>
            </a:r>
            <a:endParaRPr/>
          </a:p>
        </p:txBody>
      </p:sp>
      <p:pic>
        <p:nvPicPr>
          <p:cNvPr descr="image.png" id="727" name="Google Shape;727;p27"/>
          <p:cNvPicPr preferRelativeResize="0"/>
          <p:nvPr/>
        </p:nvPicPr>
        <p:blipFill rotWithShape="1">
          <a:blip r:embed="rId7">
            <a:alphaModFix/>
          </a:blip>
          <a:srcRect b="0" l="0" r="0" t="0"/>
          <a:stretch/>
        </p:blipFill>
        <p:spPr>
          <a:xfrm>
            <a:off x="571500" y="2311747"/>
            <a:ext cx="57150" cy="95250"/>
          </a:xfrm>
          <a:prstGeom prst="rect">
            <a:avLst/>
          </a:prstGeom>
          <a:noFill/>
          <a:ln>
            <a:noFill/>
          </a:ln>
        </p:spPr>
      </p:pic>
      <p:pic>
        <p:nvPicPr>
          <p:cNvPr descr="image.png" id="728" name="Google Shape;728;p27"/>
          <p:cNvPicPr preferRelativeResize="0"/>
          <p:nvPr/>
        </p:nvPicPr>
        <p:blipFill rotWithShape="1">
          <a:blip r:embed="rId7">
            <a:alphaModFix/>
          </a:blip>
          <a:srcRect b="0" l="0" r="0" t="0"/>
          <a:stretch/>
        </p:blipFill>
        <p:spPr>
          <a:xfrm>
            <a:off x="571500" y="2761208"/>
            <a:ext cx="57150" cy="95250"/>
          </a:xfrm>
          <a:prstGeom prst="rect">
            <a:avLst/>
          </a:prstGeom>
          <a:noFill/>
          <a:ln>
            <a:noFill/>
          </a:ln>
        </p:spPr>
      </p:pic>
      <p:pic>
        <p:nvPicPr>
          <p:cNvPr descr="image.png" id="729" name="Google Shape;729;p27"/>
          <p:cNvPicPr preferRelativeResize="0"/>
          <p:nvPr/>
        </p:nvPicPr>
        <p:blipFill rotWithShape="1">
          <a:blip r:embed="rId7">
            <a:alphaModFix/>
          </a:blip>
          <a:srcRect b="0" l="0" r="0" t="0"/>
          <a:stretch/>
        </p:blipFill>
        <p:spPr>
          <a:xfrm>
            <a:off x="571500" y="3024038"/>
            <a:ext cx="57150" cy="95250"/>
          </a:xfrm>
          <a:prstGeom prst="rect">
            <a:avLst/>
          </a:prstGeom>
          <a:noFill/>
          <a:ln>
            <a:noFill/>
          </a:ln>
        </p:spPr>
      </p:pic>
      <p:pic>
        <p:nvPicPr>
          <p:cNvPr descr="image.png" id="730" name="Google Shape;730;p27"/>
          <p:cNvPicPr preferRelativeResize="0"/>
          <p:nvPr/>
        </p:nvPicPr>
        <p:blipFill rotWithShape="1">
          <a:blip r:embed="rId7">
            <a:alphaModFix/>
          </a:blip>
          <a:srcRect b="0" l="0" r="0" t="0"/>
          <a:stretch/>
        </p:blipFill>
        <p:spPr>
          <a:xfrm>
            <a:off x="571500" y="3286869"/>
            <a:ext cx="57150" cy="95250"/>
          </a:xfrm>
          <a:prstGeom prst="rect">
            <a:avLst/>
          </a:prstGeom>
          <a:noFill/>
          <a:ln>
            <a:noFill/>
          </a:ln>
        </p:spPr>
      </p:pic>
      <p:pic>
        <p:nvPicPr>
          <p:cNvPr descr="image.png" id="731" name="Google Shape;731;p27"/>
          <p:cNvPicPr preferRelativeResize="0"/>
          <p:nvPr/>
        </p:nvPicPr>
        <p:blipFill rotWithShape="1">
          <a:blip r:embed="rId7">
            <a:alphaModFix/>
          </a:blip>
          <a:srcRect b="0" l="0" r="0" t="0"/>
          <a:stretch/>
        </p:blipFill>
        <p:spPr>
          <a:xfrm>
            <a:off x="571500" y="3549699"/>
            <a:ext cx="57150" cy="95250"/>
          </a:xfrm>
          <a:prstGeom prst="rect">
            <a:avLst/>
          </a:prstGeom>
          <a:noFill/>
          <a:ln>
            <a:noFill/>
          </a:ln>
        </p:spPr>
      </p:pic>
      <p:pic>
        <p:nvPicPr>
          <p:cNvPr descr="image.png" id="732" name="Google Shape;732;p27"/>
          <p:cNvPicPr preferRelativeResize="0"/>
          <p:nvPr/>
        </p:nvPicPr>
        <p:blipFill rotWithShape="1">
          <a:blip r:embed="rId7">
            <a:alphaModFix/>
          </a:blip>
          <a:srcRect b="0" l="0" r="0" t="0"/>
          <a:stretch/>
        </p:blipFill>
        <p:spPr>
          <a:xfrm>
            <a:off x="571500" y="3999160"/>
            <a:ext cx="57150" cy="95250"/>
          </a:xfrm>
          <a:prstGeom prst="rect">
            <a:avLst/>
          </a:prstGeom>
          <a:noFill/>
          <a:ln>
            <a:noFill/>
          </a:ln>
        </p:spPr>
      </p:pic>
      <p:pic>
        <p:nvPicPr>
          <p:cNvPr descr="image.png" id="733" name="Google Shape;733;p27"/>
          <p:cNvPicPr preferRelativeResize="0"/>
          <p:nvPr/>
        </p:nvPicPr>
        <p:blipFill rotWithShape="1">
          <a:blip r:embed="rId8">
            <a:alphaModFix/>
          </a:blip>
          <a:srcRect b="0" l="0" r="0" t="0"/>
          <a:stretch/>
        </p:blipFill>
        <p:spPr>
          <a:xfrm>
            <a:off x="571500" y="5792092"/>
            <a:ext cx="133350" cy="142875"/>
          </a:xfrm>
          <a:prstGeom prst="rect">
            <a:avLst/>
          </a:prstGeom>
          <a:noFill/>
          <a:ln>
            <a:noFill/>
          </a:ln>
        </p:spPr>
      </p:pic>
      <p:pic>
        <p:nvPicPr>
          <p:cNvPr descr="image.png" id="734" name="Google Shape;734;p27"/>
          <p:cNvPicPr preferRelativeResize="0"/>
          <p:nvPr/>
        </p:nvPicPr>
        <p:blipFill rotWithShape="1">
          <a:blip r:embed="rId9">
            <a:alphaModFix/>
          </a:blip>
          <a:srcRect b="0" l="0" r="0" t="0"/>
          <a:stretch/>
        </p:blipFill>
        <p:spPr>
          <a:xfrm>
            <a:off x="571500" y="6054923"/>
            <a:ext cx="133350" cy="142875"/>
          </a:xfrm>
          <a:prstGeom prst="rect">
            <a:avLst/>
          </a:prstGeom>
          <a:noFill/>
          <a:ln>
            <a:noFill/>
          </a:ln>
        </p:spPr>
      </p:pic>
      <p:pic>
        <p:nvPicPr>
          <p:cNvPr descr="image.png" id="735" name="Google Shape;735;p27"/>
          <p:cNvPicPr preferRelativeResize="0"/>
          <p:nvPr/>
        </p:nvPicPr>
        <p:blipFill rotWithShape="1">
          <a:blip r:embed="rId10">
            <a:alphaModFix/>
          </a:blip>
          <a:srcRect b="0" l="0" r="0" t="0"/>
          <a:stretch/>
        </p:blipFill>
        <p:spPr>
          <a:xfrm>
            <a:off x="571500" y="6317753"/>
            <a:ext cx="171450" cy="142875"/>
          </a:xfrm>
          <a:prstGeom prst="rect">
            <a:avLst/>
          </a:prstGeom>
          <a:noFill/>
          <a:ln>
            <a:noFill/>
          </a:ln>
        </p:spPr>
      </p:pic>
      <p:pic>
        <p:nvPicPr>
          <p:cNvPr descr="image.png" id="736" name="Google Shape;736;p27"/>
          <p:cNvPicPr preferRelativeResize="0"/>
          <p:nvPr/>
        </p:nvPicPr>
        <p:blipFill rotWithShape="1">
          <a:blip r:embed="rId11">
            <a:alphaModFix/>
          </a:blip>
          <a:srcRect b="0" l="0" r="0" t="0"/>
          <a:stretch/>
        </p:blipFill>
        <p:spPr>
          <a:xfrm>
            <a:off x="571500" y="6580584"/>
            <a:ext cx="171450" cy="142875"/>
          </a:xfrm>
          <a:prstGeom prst="rect">
            <a:avLst/>
          </a:prstGeom>
          <a:noFill/>
          <a:ln>
            <a:noFill/>
          </a:ln>
        </p:spPr>
      </p:pic>
      <p:pic>
        <p:nvPicPr>
          <p:cNvPr descr="image.png" id="737" name="Google Shape;737;p27"/>
          <p:cNvPicPr preferRelativeResize="0"/>
          <p:nvPr/>
        </p:nvPicPr>
        <p:blipFill rotWithShape="1">
          <a:blip r:embed="rId12">
            <a:alphaModFix/>
          </a:blip>
          <a:srcRect b="0" l="0" r="0" t="0"/>
          <a:stretch/>
        </p:blipFill>
        <p:spPr>
          <a:xfrm>
            <a:off x="571500" y="6843414"/>
            <a:ext cx="133350" cy="142875"/>
          </a:xfrm>
          <a:prstGeom prst="rect">
            <a:avLst/>
          </a:prstGeom>
          <a:noFill/>
          <a:ln>
            <a:noFill/>
          </a:ln>
        </p:spPr>
      </p:pic>
      <p:pic>
        <p:nvPicPr>
          <p:cNvPr descr="image.png" id="738" name="Google Shape;738;p27"/>
          <p:cNvPicPr preferRelativeResize="0"/>
          <p:nvPr/>
        </p:nvPicPr>
        <p:blipFill rotWithShape="1">
          <a:blip r:embed="rId13">
            <a:alphaModFix/>
          </a:blip>
          <a:srcRect b="0" l="0" r="0" t="0"/>
          <a:stretch/>
        </p:blipFill>
        <p:spPr>
          <a:xfrm>
            <a:off x="571500" y="7106245"/>
            <a:ext cx="133350" cy="142875"/>
          </a:xfrm>
          <a:prstGeom prst="rect">
            <a:avLst/>
          </a:prstGeom>
          <a:noFill/>
          <a:ln>
            <a:noFill/>
          </a:ln>
        </p:spPr>
      </p:pic>
      <p:sp>
        <p:nvSpPr>
          <p:cNvPr id="739" name="Google Shape;739;p27"/>
          <p:cNvSpPr txBox="1"/>
          <p:nvPr/>
        </p:nvSpPr>
        <p:spPr>
          <a:xfrm>
            <a:off x="571500" y="381000"/>
            <a:ext cx="11601450" cy="37147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2400" u="none" cap="none" strike="noStrike">
                <a:solidFill>
                  <a:srgbClr val="0F172A"/>
                </a:solidFill>
                <a:latin typeface="Plus Jakarta Sans ExtraBold"/>
                <a:ea typeface="Plus Jakarta Sans ExtraBold"/>
                <a:cs typeface="Plus Jakarta Sans ExtraBold"/>
                <a:sym typeface="Plus Jakarta Sans ExtraBold"/>
              </a:rPr>
              <a:t>Feature Spotlight: Playbooks</a:t>
            </a:r>
            <a:endParaRPr/>
          </a:p>
        </p:txBody>
      </p:sp>
      <p:sp>
        <p:nvSpPr>
          <p:cNvPr id="740" name="Google Shape;740;p27"/>
          <p:cNvSpPr/>
          <p:nvPr/>
        </p:nvSpPr>
        <p:spPr>
          <a:xfrm>
            <a:off x="571500" y="847725"/>
            <a:ext cx="11049000" cy="19050"/>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44" name="Shape 744"/>
        <p:cNvGrpSpPr/>
        <p:nvPr/>
      </p:nvGrpSpPr>
      <p:grpSpPr>
        <a:xfrm>
          <a:off x="0" y="0"/>
          <a:ext cx="0" cy="0"/>
          <a:chOff x="0" y="0"/>
          <a:chExt cx="0" cy="0"/>
        </a:xfrm>
      </p:grpSpPr>
      <p:pic>
        <p:nvPicPr>
          <p:cNvPr descr="image.png" id="745" name="Google Shape;745;p28"/>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746" name="Google Shape;746;p28"/>
          <p:cNvPicPr preferRelativeResize="0"/>
          <p:nvPr/>
        </p:nvPicPr>
        <p:blipFill rotWithShape="1">
          <a:blip r:embed="rId4">
            <a:alphaModFix/>
          </a:blip>
          <a:srcRect b="0" l="0" r="0" t="0"/>
          <a:stretch/>
        </p:blipFill>
        <p:spPr>
          <a:xfrm>
            <a:off x="7005637" y="1777900"/>
            <a:ext cx="4567237" cy="2109192"/>
          </a:xfrm>
          <a:prstGeom prst="rect">
            <a:avLst/>
          </a:prstGeom>
          <a:noFill/>
          <a:ln>
            <a:noFill/>
          </a:ln>
        </p:spPr>
      </p:pic>
      <p:pic>
        <p:nvPicPr>
          <p:cNvPr descr="image.png" id="747" name="Google Shape;747;p28"/>
          <p:cNvPicPr preferRelativeResize="0"/>
          <p:nvPr/>
        </p:nvPicPr>
        <p:blipFill rotWithShape="1">
          <a:blip r:embed="rId5">
            <a:alphaModFix/>
          </a:blip>
          <a:srcRect b="0" l="0" r="0" t="0"/>
          <a:stretch/>
        </p:blipFill>
        <p:spPr>
          <a:xfrm>
            <a:off x="7005637" y="4172247"/>
            <a:ext cx="4567237" cy="1754981"/>
          </a:xfrm>
          <a:prstGeom prst="rect">
            <a:avLst/>
          </a:prstGeom>
          <a:noFill/>
          <a:ln>
            <a:noFill/>
          </a:ln>
        </p:spPr>
      </p:pic>
      <p:pic>
        <p:nvPicPr>
          <p:cNvPr descr="image.png" id="748" name="Google Shape;748;p28"/>
          <p:cNvPicPr preferRelativeResize="0"/>
          <p:nvPr/>
        </p:nvPicPr>
        <p:blipFill rotWithShape="1">
          <a:blip r:embed="rId6">
            <a:alphaModFix/>
          </a:blip>
          <a:srcRect b="0" l="0" r="0" t="0"/>
          <a:stretch/>
        </p:blipFill>
        <p:spPr>
          <a:xfrm>
            <a:off x="571500" y="457200"/>
            <a:ext cx="823168" cy="200025"/>
          </a:xfrm>
          <a:prstGeom prst="rect">
            <a:avLst/>
          </a:prstGeom>
          <a:noFill/>
          <a:ln>
            <a:noFill/>
          </a:ln>
        </p:spPr>
      </p:pic>
      <p:sp>
        <p:nvSpPr>
          <p:cNvPr id="749" name="Google Shape;749;p28"/>
          <p:cNvSpPr txBox="1"/>
          <p:nvPr/>
        </p:nvSpPr>
        <p:spPr>
          <a:xfrm>
            <a:off x="571500" y="1587996"/>
            <a:ext cx="6196012" cy="138112"/>
          </a:xfrm>
          <a:prstGeom prst="rect">
            <a:avLst/>
          </a:prstGeom>
          <a:noFill/>
          <a:ln>
            <a:noFill/>
          </a:ln>
        </p:spPr>
        <p:txBody>
          <a:bodyPr anchorCtr="0" anchor="t" bIns="0" lIns="0" spcFirstLastPara="1" rIns="0" wrap="square" tIns="0">
            <a:spAutoFit/>
          </a:bodyPr>
          <a:lstStyle/>
          <a:p>
            <a:pPr indent="0" lvl="0" marL="0" marR="0" rtl="0" algn="l">
              <a:lnSpc>
                <a:spcPct val="144933"/>
              </a:lnSpc>
              <a:spcBef>
                <a:spcPts val="0"/>
              </a:spcBef>
              <a:spcAft>
                <a:spcPts val="0"/>
              </a:spcAft>
              <a:buNone/>
            </a:pPr>
            <a:r>
              <a:rPr b="1" i="0" lang="en-US" sz="750" u="none" cap="none" strike="noStrike">
                <a:solidFill>
                  <a:srgbClr val="2563EB"/>
                </a:solidFill>
                <a:latin typeface="Plus Jakarta Sans"/>
                <a:ea typeface="Plus Jakarta Sans"/>
                <a:cs typeface="Plus Jakarta Sans"/>
                <a:sym typeface="Plus Jakarta Sans"/>
              </a:rPr>
              <a:t>PURPOSE:</a:t>
            </a:r>
            <a:endParaRPr/>
          </a:p>
        </p:txBody>
      </p:sp>
      <p:sp>
        <p:nvSpPr>
          <p:cNvPr id="750" name="Google Shape;750;p28"/>
          <p:cNvSpPr txBox="1"/>
          <p:nvPr/>
        </p:nvSpPr>
        <p:spPr>
          <a:xfrm>
            <a:off x="571500" y="1745158"/>
            <a:ext cx="6196012" cy="193327"/>
          </a:xfrm>
          <a:prstGeom prst="rect">
            <a:avLst/>
          </a:prstGeom>
          <a:noFill/>
          <a:ln>
            <a:noFill/>
          </a:ln>
        </p:spPr>
        <p:txBody>
          <a:bodyPr anchorCtr="0" anchor="t" bIns="0" lIns="0" spcFirstLastPara="1" rIns="0" wrap="square" tIns="0">
            <a:spAutoFit/>
          </a:bodyPr>
          <a:lstStyle/>
          <a:p>
            <a:pPr indent="0" lvl="0" marL="0" marR="0" rtl="0" algn="l">
              <a:lnSpc>
                <a:spcPct val="144952"/>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Wire external events to Devin sessions automatically — no human trigger required.</a:t>
            </a:r>
            <a:endParaRPr/>
          </a:p>
        </p:txBody>
      </p:sp>
      <p:sp>
        <p:nvSpPr>
          <p:cNvPr id="751" name="Google Shape;751;p28"/>
          <p:cNvSpPr txBox="1"/>
          <p:nvPr/>
        </p:nvSpPr>
        <p:spPr>
          <a:xfrm>
            <a:off x="571500" y="1995636"/>
            <a:ext cx="6196012" cy="138112"/>
          </a:xfrm>
          <a:prstGeom prst="rect">
            <a:avLst/>
          </a:prstGeom>
          <a:noFill/>
          <a:ln>
            <a:noFill/>
          </a:ln>
        </p:spPr>
        <p:txBody>
          <a:bodyPr anchorCtr="0" anchor="t" bIns="0" lIns="0" spcFirstLastPara="1" rIns="0" wrap="square" tIns="0">
            <a:spAutoFit/>
          </a:bodyPr>
          <a:lstStyle/>
          <a:p>
            <a:pPr indent="0" lvl="0" marL="0" marR="0" rtl="0" algn="l">
              <a:lnSpc>
                <a:spcPct val="144933"/>
              </a:lnSpc>
              <a:spcBef>
                <a:spcPts val="0"/>
              </a:spcBef>
              <a:spcAft>
                <a:spcPts val="0"/>
              </a:spcAft>
              <a:buNone/>
            </a:pPr>
            <a:r>
              <a:rPr b="1" i="0" lang="en-US" sz="750" u="none" cap="none" strike="noStrike">
                <a:solidFill>
                  <a:srgbClr val="2563EB"/>
                </a:solidFill>
                <a:latin typeface="Plus Jakarta Sans"/>
                <a:ea typeface="Plus Jakarta Sans"/>
                <a:cs typeface="Plus Jakarta Sans"/>
                <a:sym typeface="Plus Jakarta Sans"/>
              </a:rPr>
              <a:t>WHY IT EXISTS:</a:t>
            </a:r>
            <a:endParaRPr/>
          </a:p>
        </p:txBody>
      </p:sp>
      <p:sp>
        <p:nvSpPr>
          <p:cNvPr id="752" name="Google Shape;752;p28"/>
          <p:cNvSpPr txBox="1"/>
          <p:nvPr/>
        </p:nvSpPr>
        <p:spPr>
          <a:xfrm>
            <a:off x="571500" y="2152798"/>
            <a:ext cx="6196012" cy="386655"/>
          </a:xfrm>
          <a:prstGeom prst="rect">
            <a:avLst/>
          </a:prstGeom>
          <a:noFill/>
          <a:ln>
            <a:noFill/>
          </a:ln>
        </p:spPr>
        <p:txBody>
          <a:bodyPr anchorCtr="0" anchor="t" bIns="0" lIns="0" spcFirstLastPara="1" rIns="0" wrap="square" tIns="0">
            <a:spAutoFit/>
          </a:bodyPr>
          <a:lstStyle/>
          <a:p>
            <a:pPr indent="0" lvl="0" marL="0" marR="0" rtl="0" algn="l">
              <a:lnSpc>
                <a:spcPct val="144952"/>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The highest-value use of Devin is when it operates without requiring an engineer to manually start it. Automations enable event-driven, always-on engineering workflows.</a:t>
            </a:r>
            <a:endParaRPr/>
          </a:p>
        </p:txBody>
      </p:sp>
      <p:sp>
        <p:nvSpPr>
          <p:cNvPr id="753" name="Google Shape;753;p28"/>
          <p:cNvSpPr txBox="1"/>
          <p:nvPr/>
        </p:nvSpPr>
        <p:spPr>
          <a:xfrm>
            <a:off x="571500" y="2596604"/>
            <a:ext cx="6196012" cy="138112"/>
          </a:xfrm>
          <a:prstGeom prst="rect">
            <a:avLst/>
          </a:prstGeom>
          <a:noFill/>
          <a:ln>
            <a:noFill/>
          </a:ln>
        </p:spPr>
        <p:txBody>
          <a:bodyPr anchorCtr="0" anchor="t" bIns="0" lIns="0" spcFirstLastPara="1" rIns="0" wrap="square" tIns="0">
            <a:spAutoFit/>
          </a:bodyPr>
          <a:lstStyle/>
          <a:p>
            <a:pPr indent="0" lvl="0" marL="0" marR="0" rtl="0" algn="l">
              <a:lnSpc>
                <a:spcPct val="144933"/>
              </a:lnSpc>
              <a:spcBef>
                <a:spcPts val="0"/>
              </a:spcBef>
              <a:spcAft>
                <a:spcPts val="0"/>
              </a:spcAft>
              <a:buNone/>
            </a:pPr>
            <a:r>
              <a:rPr b="1" i="0" lang="en-US" sz="750" u="none" cap="none" strike="noStrike">
                <a:solidFill>
                  <a:srgbClr val="2563EB"/>
                </a:solidFill>
                <a:latin typeface="Plus Jakarta Sans"/>
                <a:ea typeface="Plus Jakarta Sans"/>
                <a:cs typeface="Plus Jakarta Sans"/>
                <a:sym typeface="Plus Jakarta Sans"/>
              </a:rPr>
              <a:t>INTERNAL CONCEPT:</a:t>
            </a:r>
            <a:endParaRPr/>
          </a:p>
        </p:txBody>
      </p:sp>
      <p:sp>
        <p:nvSpPr>
          <p:cNvPr id="754" name="Google Shape;754;p28"/>
          <p:cNvSpPr txBox="1"/>
          <p:nvPr/>
        </p:nvSpPr>
        <p:spPr>
          <a:xfrm>
            <a:off x="571500" y="2753766"/>
            <a:ext cx="6196012" cy="773310"/>
          </a:xfrm>
          <a:prstGeom prst="rect">
            <a:avLst/>
          </a:prstGeom>
          <a:noFill/>
          <a:ln>
            <a:noFill/>
          </a:ln>
        </p:spPr>
        <p:txBody>
          <a:bodyPr anchorCtr="0" anchor="t" bIns="0" lIns="0" spcFirstLastPara="1" rIns="0" wrap="square" tIns="0">
            <a:spAutoFit/>
          </a:bodyPr>
          <a:lstStyle/>
          <a:p>
            <a:pPr indent="0" lvl="0" marL="0" marR="0" rtl="0" algn="l">
              <a:lnSpc>
                <a:spcPct val="84555"/>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An Automation has three parts:</a:t>
            </a:r>
            <a:br>
              <a:rPr b="0" i="0" lang="en-US" sz="1800" u="none" cap="none" strike="noStrike">
                <a:solidFill>
                  <a:schemeClr val="dk1"/>
                </a:solidFill>
                <a:latin typeface="Calibri"/>
                <a:ea typeface="Calibri"/>
                <a:cs typeface="Calibri"/>
                <a:sym typeface="Calibri"/>
              </a:rPr>
            </a:br>
            <a:r>
              <a:rPr b="0" i="0" lang="en-US" sz="1050" u="none" cap="none" strike="noStrike">
                <a:solidFill>
                  <a:srgbClr val="334155"/>
                </a:solidFill>
                <a:latin typeface="Plus Jakarta Sans"/>
                <a:ea typeface="Plus Jakarta Sans"/>
                <a:cs typeface="Plus Jakarta Sans"/>
                <a:sym typeface="Plus Jakarta Sans"/>
              </a:rPr>
              <a:t> - </a:t>
            </a:r>
            <a:r>
              <a:rPr b="1" i="0" lang="en-US" sz="1050" u="none" cap="none" strike="noStrike">
                <a:solidFill>
                  <a:srgbClr val="334155"/>
                </a:solidFill>
                <a:latin typeface="Plus Jakarta Sans"/>
                <a:ea typeface="Plus Jakarta Sans"/>
                <a:cs typeface="Plus Jakarta Sans"/>
                <a:sym typeface="Plus Jakarta Sans"/>
              </a:rPr>
              <a:t>Trigger</a:t>
            </a:r>
            <a:r>
              <a:rPr b="0" i="0" lang="en-US" sz="1050" u="none" cap="none" strike="noStrike">
                <a:solidFill>
                  <a:srgbClr val="334155"/>
                </a:solidFill>
                <a:latin typeface="Plus Jakarta Sans"/>
                <a:ea typeface="Plus Jakarta Sans"/>
                <a:cs typeface="Plus Jakarta Sans"/>
                <a:sym typeface="Plus Jakarta Sans"/>
              </a:rPr>
              <a:t> — The event that fires it (Slack message, GitHub CI failure, Linear label, schedule, webhook)</a:t>
            </a:r>
            <a:br>
              <a:rPr b="0" i="0" lang="en-US" sz="1800" u="none" cap="none" strike="noStrike">
                <a:solidFill>
                  <a:schemeClr val="dk1"/>
                </a:solidFill>
                <a:latin typeface="Calibri"/>
                <a:ea typeface="Calibri"/>
                <a:cs typeface="Calibri"/>
                <a:sym typeface="Calibri"/>
              </a:rPr>
            </a:br>
            <a:r>
              <a:rPr b="0" i="0" lang="en-US" sz="1050" u="none" cap="none" strike="noStrike">
                <a:solidFill>
                  <a:srgbClr val="334155"/>
                </a:solidFill>
                <a:latin typeface="Plus Jakarta Sans"/>
                <a:ea typeface="Plus Jakarta Sans"/>
                <a:cs typeface="Plus Jakarta Sans"/>
                <a:sym typeface="Plus Jakarta Sans"/>
              </a:rPr>
              <a:t> - </a:t>
            </a:r>
            <a:r>
              <a:rPr b="1" i="0" lang="en-US" sz="1050" u="none" cap="none" strike="noStrike">
                <a:solidFill>
                  <a:srgbClr val="334155"/>
                </a:solidFill>
                <a:latin typeface="Plus Jakarta Sans"/>
                <a:ea typeface="Plus Jakarta Sans"/>
                <a:cs typeface="Plus Jakarta Sans"/>
                <a:sym typeface="Plus Jakarta Sans"/>
              </a:rPr>
              <a:t>Conditions</a:t>
            </a:r>
            <a:r>
              <a:rPr b="0" i="0" lang="en-US" sz="1050" u="none" cap="none" strike="noStrike">
                <a:solidFill>
                  <a:srgbClr val="334155"/>
                </a:solidFill>
                <a:latin typeface="Plus Jakarta Sans"/>
                <a:ea typeface="Plus Jakarta Sans"/>
                <a:cs typeface="Plus Jakarta Sans"/>
                <a:sym typeface="Plus Jakarta Sans"/>
              </a:rPr>
              <a:t> — Optional filters (only fire for `bug` label, only for a specific repo)</a:t>
            </a:r>
            <a:br>
              <a:rPr b="0" i="0" lang="en-US" sz="1800" u="none" cap="none" strike="noStrike">
                <a:solidFill>
                  <a:schemeClr val="dk1"/>
                </a:solidFill>
                <a:latin typeface="Calibri"/>
                <a:ea typeface="Calibri"/>
                <a:cs typeface="Calibri"/>
                <a:sym typeface="Calibri"/>
              </a:rPr>
            </a:br>
            <a:r>
              <a:rPr b="0" i="0" lang="en-US" sz="1050" u="none" cap="none" strike="noStrike">
                <a:solidFill>
                  <a:srgbClr val="334155"/>
                </a:solidFill>
                <a:latin typeface="Plus Jakarta Sans"/>
                <a:ea typeface="Plus Jakarta Sans"/>
                <a:cs typeface="Plus Jakarta Sans"/>
                <a:sym typeface="Plus Jakarta Sans"/>
              </a:rPr>
              <a:t> - </a:t>
            </a:r>
            <a:r>
              <a:rPr b="1" i="0" lang="en-US" sz="1050" u="none" cap="none" strike="noStrike">
                <a:solidFill>
                  <a:srgbClr val="334155"/>
                </a:solidFill>
                <a:latin typeface="Plus Jakarta Sans"/>
                <a:ea typeface="Plus Jakarta Sans"/>
                <a:cs typeface="Plus Jakarta Sans"/>
                <a:sym typeface="Plus Jakarta Sans"/>
              </a:rPr>
              <a:t>Action</a:t>
            </a:r>
            <a:r>
              <a:rPr b="0" i="0" lang="en-US" sz="1050" u="none" cap="none" strike="noStrike">
                <a:solidFill>
                  <a:srgbClr val="334155"/>
                </a:solidFill>
                <a:latin typeface="Plus Jakarta Sans"/>
                <a:ea typeface="Plus Jakarta Sans"/>
                <a:cs typeface="Plus Jakarta Sans"/>
                <a:sym typeface="Plus Jakarta Sans"/>
              </a:rPr>
              <a:t> — What Devin does (start session, message session, triage monitor, email notification)</a:t>
            </a:r>
            <a:endParaRPr/>
          </a:p>
        </p:txBody>
      </p:sp>
      <p:sp>
        <p:nvSpPr>
          <p:cNvPr id="755" name="Google Shape;755;p28"/>
          <p:cNvSpPr txBox="1"/>
          <p:nvPr/>
        </p:nvSpPr>
        <p:spPr>
          <a:xfrm>
            <a:off x="571500" y="3584227"/>
            <a:ext cx="6196012" cy="138112"/>
          </a:xfrm>
          <a:prstGeom prst="rect">
            <a:avLst/>
          </a:prstGeom>
          <a:noFill/>
          <a:ln>
            <a:noFill/>
          </a:ln>
        </p:spPr>
        <p:txBody>
          <a:bodyPr anchorCtr="0" anchor="t" bIns="0" lIns="0" spcFirstLastPara="1" rIns="0" wrap="square" tIns="0">
            <a:spAutoFit/>
          </a:bodyPr>
          <a:lstStyle/>
          <a:p>
            <a:pPr indent="0" lvl="0" marL="0" marR="0" rtl="0" algn="l">
              <a:lnSpc>
                <a:spcPct val="144933"/>
              </a:lnSpc>
              <a:spcBef>
                <a:spcPts val="0"/>
              </a:spcBef>
              <a:spcAft>
                <a:spcPts val="0"/>
              </a:spcAft>
              <a:buNone/>
            </a:pPr>
            <a:r>
              <a:rPr b="1" i="0" lang="en-US" sz="750" u="none" cap="none" strike="noStrike">
                <a:solidFill>
                  <a:srgbClr val="2563EB"/>
                </a:solidFill>
                <a:latin typeface="Plus Jakarta Sans"/>
                <a:ea typeface="Plus Jakarta Sans"/>
                <a:cs typeface="Plus Jakarta Sans"/>
                <a:sym typeface="Plus Jakarta Sans"/>
              </a:rPr>
              <a:t>ENTERPRISE USE CASE:</a:t>
            </a:r>
            <a:endParaRPr/>
          </a:p>
        </p:txBody>
      </p:sp>
      <p:sp>
        <p:nvSpPr>
          <p:cNvPr id="756" name="Google Shape;756;p28"/>
          <p:cNvSpPr txBox="1"/>
          <p:nvPr/>
        </p:nvSpPr>
        <p:spPr>
          <a:xfrm>
            <a:off x="571500" y="3741390"/>
            <a:ext cx="6196012" cy="386655"/>
          </a:xfrm>
          <a:prstGeom prst="rect">
            <a:avLst/>
          </a:prstGeom>
          <a:noFill/>
          <a:ln>
            <a:noFill/>
          </a:ln>
        </p:spPr>
        <p:txBody>
          <a:bodyPr anchorCtr="0" anchor="t" bIns="0" lIns="0" spcFirstLastPara="1" rIns="0" wrap="square" tIns="0">
            <a:spAutoFit/>
          </a:bodyPr>
          <a:lstStyle/>
          <a:p>
            <a:pPr indent="0" lvl="0" marL="0" marR="0" rtl="0" algn="l">
              <a:lnSpc>
                <a:spcPct val="144952"/>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A GitHub CI check fails. An Automation fires. Devin boots, reads the failure log, fixes the code, runs tests, and pushes a fix to the same branch — all without any engineer being paged.</a:t>
            </a:r>
            <a:endParaRPr/>
          </a:p>
        </p:txBody>
      </p:sp>
      <p:sp>
        <p:nvSpPr>
          <p:cNvPr id="757" name="Google Shape;757;p28"/>
          <p:cNvSpPr txBox="1"/>
          <p:nvPr/>
        </p:nvSpPr>
        <p:spPr>
          <a:xfrm>
            <a:off x="571500" y="4530625"/>
            <a:ext cx="6196012" cy="138112"/>
          </a:xfrm>
          <a:prstGeom prst="rect">
            <a:avLst/>
          </a:prstGeom>
          <a:noFill/>
          <a:ln>
            <a:noFill/>
          </a:ln>
        </p:spPr>
        <p:txBody>
          <a:bodyPr anchorCtr="0" anchor="t" bIns="0" lIns="0" spcFirstLastPara="1" rIns="0" wrap="square" tIns="0">
            <a:spAutoFit/>
          </a:bodyPr>
          <a:lstStyle/>
          <a:p>
            <a:pPr indent="0" lvl="0" marL="0" marR="0" rtl="0" algn="l">
              <a:lnSpc>
                <a:spcPct val="144933"/>
              </a:lnSpc>
              <a:spcBef>
                <a:spcPts val="0"/>
              </a:spcBef>
              <a:spcAft>
                <a:spcPts val="0"/>
              </a:spcAft>
              <a:buNone/>
            </a:pPr>
            <a:r>
              <a:rPr b="1" i="0" lang="en-US" sz="750" u="none" cap="none" strike="noStrike">
                <a:solidFill>
                  <a:srgbClr val="0D9488"/>
                </a:solidFill>
                <a:latin typeface="Plus Jakarta Sans"/>
                <a:ea typeface="Plus Jakarta Sans"/>
                <a:cs typeface="Plus Jakarta Sans"/>
                <a:sym typeface="Plus Jakarta Sans"/>
              </a:rPr>
              <a:t>BEST PRACTICES:</a:t>
            </a:r>
            <a:endParaRPr/>
          </a:p>
        </p:txBody>
      </p:sp>
      <p:sp>
        <p:nvSpPr>
          <p:cNvPr id="758" name="Google Shape;758;p28"/>
          <p:cNvSpPr txBox="1"/>
          <p:nvPr/>
        </p:nvSpPr>
        <p:spPr>
          <a:xfrm>
            <a:off x="7005637" y="1587996"/>
            <a:ext cx="4567237" cy="151804"/>
          </a:xfrm>
          <a:prstGeom prst="rect">
            <a:avLst/>
          </a:prstGeom>
          <a:noFill/>
          <a:ln>
            <a:noFill/>
          </a:ln>
        </p:spPr>
        <p:txBody>
          <a:bodyPr anchorCtr="0" anchor="t" bIns="0" lIns="95250" spcFirstLastPara="1" rIns="0" wrap="square" tIns="0">
            <a:spAutoFit/>
          </a:bodyPr>
          <a:lstStyle/>
          <a:p>
            <a:pPr indent="0" lvl="0" marL="0" marR="0" rtl="0" algn="ctr">
              <a:lnSpc>
                <a:spcPct val="144969"/>
              </a:lnSpc>
              <a:spcBef>
                <a:spcPts val="0"/>
              </a:spcBef>
              <a:spcAft>
                <a:spcPts val="0"/>
              </a:spcAft>
              <a:buNone/>
            </a:pPr>
            <a:r>
              <a:rPr b="1" i="0" lang="en-US" sz="825" u="none" cap="none" strike="noStrike">
                <a:solidFill>
                  <a:srgbClr val="0F172A"/>
                </a:solidFill>
                <a:latin typeface="Plus Jakarta Sans"/>
                <a:ea typeface="Plus Jakarta Sans"/>
                <a:cs typeface="Plus Jakarta Sans"/>
                <a:sym typeface="Plus Jakarta Sans"/>
              </a:rPr>
              <a:t>TRIGGER SOURCES</a:t>
            </a:r>
            <a:endParaRPr/>
          </a:p>
        </p:txBody>
      </p:sp>
      <p:sp>
        <p:nvSpPr>
          <p:cNvPr id="759" name="Google Shape;759;p28"/>
          <p:cNvSpPr txBox="1"/>
          <p:nvPr/>
        </p:nvSpPr>
        <p:spPr>
          <a:xfrm>
            <a:off x="7005637" y="3982342"/>
            <a:ext cx="4567237" cy="151804"/>
          </a:xfrm>
          <a:prstGeom prst="rect">
            <a:avLst/>
          </a:prstGeom>
          <a:noFill/>
          <a:ln>
            <a:noFill/>
          </a:ln>
        </p:spPr>
        <p:txBody>
          <a:bodyPr anchorCtr="0" anchor="t" bIns="0" lIns="133350" spcFirstLastPara="1" rIns="0" wrap="square" tIns="0">
            <a:spAutoFit/>
          </a:bodyPr>
          <a:lstStyle/>
          <a:p>
            <a:pPr indent="0" lvl="0" marL="0" marR="0" rtl="0" algn="ctr">
              <a:lnSpc>
                <a:spcPct val="144969"/>
              </a:lnSpc>
              <a:spcBef>
                <a:spcPts val="0"/>
              </a:spcBef>
              <a:spcAft>
                <a:spcPts val="0"/>
              </a:spcAft>
              <a:buNone/>
            </a:pPr>
            <a:r>
              <a:rPr b="1" i="0" lang="en-US" sz="825" u="none" cap="none" strike="noStrike">
                <a:solidFill>
                  <a:srgbClr val="0F172A"/>
                </a:solidFill>
                <a:latin typeface="Plus Jakarta Sans"/>
                <a:ea typeface="Plus Jakarta Sans"/>
                <a:cs typeface="Plus Jakarta Sans"/>
                <a:sym typeface="Plus Jakarta Sans"/>
              </a:rPr>
              <a:t>ACTION TYPES</a:t>
            </a:r>
            <a:endParaRPr/>
          </a:p>
        </p:txBody>
      </p:sp>
      <p:sp>
        <p:nvSpPr>
          <p:cNvPr id="760" name="Google Shape;760;p28"/>
          <p:cNvSpPr txBox="1"/>
          <p:nvPr/>
        </p:nvSpPr>
        <p:spPr>
          <a:xfrm>
            <a:off x="800100" y="4687788"/>
            <a:ext cx="5967412"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Start with high-value, low-risk automations (CI fix, issue triage) before production workflows</a:t>
            </a:r>
            <a:endParaRPr/>
          </a:p>
        </p:txBody>
      </p:sp>
      <p:sp>
        <p:nvSpPr>
          <p:cNvPr id="761" name="Google Shape;761;p28"/>
          <p:cNvSpPr txBox="1"/>
          <p:nvPr/>
        </p:nvSpPr>
        <p:spPr>
          <a:xfrm>
            <a:off x="800100" y="4950618"/>
            <a:ext cx="5967412"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Use conditions to narrow triggers — avoid firing on every event</a:t>
            </a:r>
            <a:endParaRPr/>
          </a:p>
        </p:txBody>
      </p:sp>
      <p:sp>
        <p:nvSpPr>
          <p:cNvPr id="762" name="Google Shape;762;p28"/>
          <p:cNvSpPr txBox="1"/>
          <p:nvPr/>
        </p:nvSpPr>
        <p:spPr>
          <a:xfrm>
            <a:off x="800100" y="5213449"/>
            <a:ext cx="5967412"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Set ACU limits on automated sessions to control cost</a:t>
            </a:r>
            <a:endParaRPr/>
          </a:p>
        </p:txBody>
      </p:sp>
      <p:sp>
        <p:nvSpPr>
          <p:cNvPr id="763" name="Google Shape;763;p28"/>
          <p:cNvSpPr txBox="1"/>
          <p:nvPr/>
        </p:nvSpPr>
        <p:spPr>
          <a:xfrm>
            <a:off x="800100" y="5476279"/>
            <a:ext cx="5967412"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Use the Triage Devin action for high-volume Slack channels (e.g., `#customer-bugs`)</a:t>
            </a:r>
            <a:endParaRPr/>
          </a:p>
        </p:txBody>
      </p:sp>
      <p:pic>
        <p:nvPicPr>
          <p:cNvPr descr="image.png" id="764" name="Google Shape;764;p28"/>
          <p:cNvPicPr preferRelativeResize="0"/>
          <p:nvPr/>
        </p:nvPicPr>
        <p:blipFill rotWithShape="1">
          <a:blip r:embed="rId7">
            <a:alphaModFix/>
          </a:blip>
          <a:srcRect b="0" l="0" r="0" t="0"/>
          <a:stretch/>
        </p:blipFill>
        <p:spPr>
          <a:xfrm>
            <a:off x="8714779" y="1607046"/>
            <a:ext cx="95250" cy="104775"/>
          </a:xfrm>
          <a:prstGeom prst="rect">
            <a:avLst/>
          </a:prstGeom>
          <a:noFill/>
          <a:ln>
            <a:noFill/>
          </a:ln>
        </p:spPr>
      </p:pic>
      <p:graphicFrame>
        <p:nvGraphicFramePr>
          <p:cNvPr id="765" name="Google Shape;765;p28"/>
          <p:cNvGraphicFramePr/>
          <p:nvPr/>
        </p:nvGraphicFramePr>
        <p:xfrm>
          <a:off x="7015162" y="1787425"/>
          <a:ext cx="3000000" cy="3000000"/>
        </p:xfrm>
        <a:graphic>
          <a:graphicData uri="http://schemas.openxmlformats.org/drawingml/2006/table">
            <a:tbl>
              <a:tblPr bandRow="1" firstRow="1">
                <a:noFill/>
                <a:tableStyleId>{6AF95251-05E6-4B1C-8FEE-4ABA8F11838E}</a:tableStyleId>
              </a:tblPr>
              <a:tblGrid>
                <a:gridCol w="883600"/>
                <a:gridCol w="1882675"/>
                <a:gridCol w="1781925"/>
              </a:tblGrid>
              <a:tr h="348350">
                <a:tc>
                  <a:txBody>
                    <a:bodyPr/>
                    <a:lstStyle/>
                    <a:p>
                      <a:pPr indent="0" lvl="0" marL="0" marR="0" rtl="0" algn="l">
                        <a:spcBef>
                          <a:spcPts val="0"/>
                        </a:spcBef>
                        <a:spcAft>
                          <a:spcPts val="0"/>
                        </a:spcAft>
                        <a:buNone/>
                      </a:pPr>
                      <a:r>
                        <a:rPr b="1" i="0" lang="en-US" sz="750" u="none" cap="none" strike="noStrike">
                          <a:solidFill>
                            <a:srgbClr val="0F172A"/>
                          </a:solidFill>
                          <a:latin typeface="JetBrains Mono"/>
                          <a:ea typeface="JetBrains Mono"/>
                          <a:cs typeface="JetBrains Mono"/>
                          <a:sym typeface="JetBrains Mono"/>
                        </a:rPr>
                        <a:t>Source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1" i="0" lang="en-US" sz="750" u="none" cap="none" strike="noStrike">
                          <a:solidFill>
                            <a:srgbClr val="0F172A"/>
                          </a:solidFill>
                          <a:latin typeface="JetBrains Mono"/>
                          <a:ea typeface="JetBrains Mono"/>
                          <a:cs typeface="JetBrains Mono"/>
                          <a:sym typeface="JetBrains Mono"/>
                        </a:rPr>
                        <a:t>Event Type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1" i="0" lang="en-US" sz="750" u="none" cap="none" strike="noStrike">
                          <a:solidFill>
                            <a:srgbClr val="0F172A"/>
                          </a:solidFill>
                          <a:latin typeface="JetBrains Mono"/>
                          <a:ea typeface="JetBrains Mono"/>
                          <a:cs typeface="JetBrains Mono"/>
                          <a:sym typeface="JetBrains Mono"/>
                        </a:rPr>
                        <a:t>Example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r>
              <a:tr h="348350">
                <a:tc>
                  <a:txBody>
                    <a:bodyPr/>
                    <a:lstStyle/>
                    <a:p>
                      <a:pPr indent="0" lvl="0" marL="0" marR="0" rtl="0" algn="l">
                        <a:spcBef>
                          <a:spcPts val="0"/>
                        </a:spcBef>
                        <a:spcAft>
                          <a:spcPts val="0"/>
                        </a:spcAft>
                        <a:buNone/>
                      </a:pPr>
                      <a:r>
                        <a:rPr b="1" i="0" lang="en-US" sz="900" u="none" cap="none" strike="noStrike">
                          <a:solidFill>
                            <a:srgbClr val="334155"/>
                          </a:solidFill>
                          <a:latin typeface="Plus Jakarta Sans"/>
                          <a:ea typeface="Plus Jakarta Sans"/>
                          <a:cs typeface="Plus Jakarta Sans"/>
                          <a:sym typeface="Plus Jakarta Sans"/>
                        </a:rPr>
                        <a:t>Slack</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Message, Emoji Reaction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Triage bugs in `#incidents`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48350">
                <a:tc>
                  <a:txBody>
                    <a:bodyPr/>
                    <a:lstStyle/>
                    <a:p>
                      <a:pPr indent="0" lvl="0" marL="0" marR="0" rtl="0" algn="l">
                        <a:spcBef>
                          <a:spcPts val="0"/>
                        </a:spcBef>
                        <a:spcAft>
                          <a:spcPts val="0"/>
                        </a:spcAft>
                        <a:buNone/>
                      </a:pPr>
                      <a:r>
                        <a:rPr b="1" i="0" lang="en-US" sz="900" u="none" cap="none" strike="noStrike">
                          <a:solidFill>
                            <a:srgbClr val="334155"/>
                          </a:solidFill>
                          <a:latin typeface="Plus Jakarta Sans"/>
                          <a:ea typeface="Plus Jakarta Sans"/>
                          <a:cs typeface="Plus Jakarta Sans"/>
                          <a:sym typeface="Plus Jakarta Sans"/>
                        </a:rPr>
                        <a:t>GitHub</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Comment, PR, CI Fail</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Auto-fix failing checks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48350">
                <a:tc>
                  <a:txBody>
                    <a:bodyPr/>
                    <a:lstStyle/>
                    <a:p>
                      <a:pPr indent="0" lvl="0" marL="0" marR="0" rtl="0" algn="l">
                        <a:spcBef>
                          <a:spcPts val="0"/>
                        </a:spcBef>
                        <a:spcAft>
                          <a:spcPts val="0"/>
                        </a:spcAft>
                        <a:buNone/>
                      </a:pPr>
                      <a:r>
                        <a:rPr b="1" i="0" lang="en-US" sz="900" u="none" cap="none" strike="noStrike">
                          <a:solidFill>
                            <a:srgbClr val="334155"/>
                          </a:solidFill>
                          <a:latin typeface="Plus Jakarta Sans"/>
                          <a:ea typeface="Plus Jakarta Sans"/>
                          <a:cs typeface="Plus Jakarta Sans"/>
                          <a:sym typeface="Plus Jakarta Sans"/>
                        </a:rPr>
                        <a:t>Linear</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Issue Label / Status Change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Implement assigned task</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48350">
                <a:tc>
                  <a:txBody>
                    <a:bodyPr/>
                    <a:lstStyle/>
                    <a:p>
                      <a:pPr indent="0" lvl="0" marL="0" marR="0" rtl="0" algn="l">
                        <a:spcBef>
                          <a:spcPts val="0"/>
                        </a:spcBef>
                        <a:spcAft>
                          <a:spcPts val="0"/>
                        </a:spcAft>
                        <a:buNone/>
                      </a:pPr>
                      <a:r>
                        <a:rPr b="1" i="0" lang="en-US" sz="900" u="none" cap="none" strike="noStrike">
                          <a:solidFill>
                            <a:srgbClr val="334155"/>
                          </a:solidFill>
                          <a:latin typeface="Plus Jakarta Sans"/>
                          <a:ea typeface="Plus Jakarta Sans"/>
                          <a:cs typeface="Plus Jakarta Sans"/>
                          <a:sym typeface="Plus Jakarta Sans"/>
                        </a:rPr>
                        <a:t>Schedule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Cron or One-time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Daily dependency audit</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48350">
                <a:tc>
                  <a:txBody>
                    <a:bodyPr/>
                    <a:lstStyle/>
                    <a:p>
                      <a:pPr indent="0" lvl="0" marL="0" marR="0" rtl="0" algn="l">
                        <a:spcBef>
                          <a:spcPts val="0"/>
                        </a:spcBef>
                        <a:spcAft>
                          <a:spcPts val="0"/>
                        </a:spcAft>
                        <a:buNone/>
                      </a:pPr>
                      <a:r>
                        <a:rPr b="1" i="0" lang="en-US" sz="900" u="none" cap="none" strike="noStrike">
                          <a:solidFill>
                            <a:srgbClr val="334155"/>
                          </a:solidFill>
                          <a:latin typeface="Plus Jakarta Sans"/>
                          <a:ea typeface="Plus Jakarta Sans"/>
                          <a:cs typeface="Plus Jakarta Sans"/>
                          <a:sym typeface="Plus Jakarta Sans"/>
                        </a:rPr>
                        <a:t>Webhook</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Incoming HTTP POST</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Datadog/Sentry alerts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pic>
        <p:nvPicPr>
          <p:cNvPr descr="image.png" id="766" name="Google Shape;766;p28"/>
          <p:cNvPicPr preferRelativeResize="0"/>
          <p:nvPr/>
        </p:nvPicPr>
        <p:blipFill rotWithShape="1">
          <a:blip r:embed="rId8">
            <a:alphaModFix/>
          </a:blip>
          <a:srcRect b="0" l="0" r="0" t="0"/>
          <a:stretch/>
        </p:blipFill>
        <p:spPr>
          <a:xfrm>
            <a:off x="8822828" y="4001392"/>
            <a:ext cx="133350" cy="104775"/>
          </a:xfrm>
          <a:prstGeom prst="rect">
            <a:avLst/>
          </a:prstGeom>
          <a:noFill/>
          <a:ln>
            <a:noFill/>
          </a:ln>
        </p:spPr>
      </p:pic>
      <p:graphicFrame>
        <p:nvGraphicFramePr>
          <p:cNvPr id="767" name="Google Shape;767;p28"/>
          <p:cNvGraphicFramePr/>
          <p:nvPr/>
        </p:nvGraphicFramePr>
        <p:xfrm>
          <a:off x="7015162" y="4181772"/>
          <a:ext cx="3000000" cy="3000000"/>
        </p:xfrm>
        <a:graphic>
          <a:graphicData uri="http://schemas.openxmlformats.org/drawingml/2006/table">
            <a:tbl>
              <a:tblPr bandRow="1" firstRow="1">
                <a:noFill/>
                <a:tableStyleId>{6AF95251-05E6-4B1C-8FEE-4ABA8F11838E}</a:tableStyleId>
              </a:tblPr>
              <a:tblGrid>
                <a:gridCol w="1585175"/>
                <a:gridCol w="2963025"/>
              </a:tblGrid>
              <a:tr h="347175">
                <a:tc>
                  <a:txBody>
                    <a:bodyPr/>
                    <a:lstStyle/>
                    <a:p>
                      <a:pPr indent="0" lvl="0" marL="0" marR="0" rtl="0" algn="l">
                        <a:spcBef>
                          <a:spcPts val="0"/>
                        </a:spcBef>
                        <a:spcAft>
                          <a:spcPts val="0"/>
                        </a:spcAft>
                        <a:buNone/>
                      </a:pPr>
                      <a:r>
                        <a:rPr b="1" i="0" lang="en-US" sz="750" u="none" cap="none" strike="noStrike">
                          <a:solidFill>
                            <a:srgbClr val="0F172A"/>
                          </a:solidFill>
                          <a:latin typeface="JetBrains Mono"/>
                          <a:ea typeface="JetBrains Mono"/>
                          <a:cs typeface="JetBrains Mono"/>
                          <a:sym typeface="JetBrains Mono"/>
                        </a:rPr>
                        <a:t>Action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1" i="0" lang="en-US" sz="750" u="none" cap="none" strike="noStrike">
                          <a:solidFill>
                            <a:srgbClr val="0F172A"/>
                          </a:solidFill>
                          <a:latin typeface="JetBrains Mono"/>
                          <a:ea typeface="JetBrains Mono"/>
                          <a:cs typeface="JetBrains Mono"/>
                          <a:sym typeface="JetBrains Mono"/>
                        </a:rPr>
                        <a:t>Description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r>
              <a:tr h="347175">
                <a:tc>
                  <a:txBody>
                    <a:bodyPr/>
                    <a:lstStyle/>
                    <a:p>
                      <a:pPr indent="0" lvl="0" marL="0" marR="0" rtl="0" algn="l">
                        <a:spcBef>
                          <a:spcPts val="0"/>
                        </a:spcBef>
                        <a:spcAft>
                          <a:spcPts val="0"/>
                        </a:spcAft>
                        <a:buNone/>
                      </a:pPr>
                      <a:r>
                        <a:rPr b="1" i="0" lang="en-US" sz="900" u="none" cap="none" strike="noStrike">
                          <a:solidFill>
                            <a:srgbClr val="334155"/>
                          </a:solidFill>
                          <a:latin typeface="Plus Jakarta Sans"/>
                          <a:ea typeface="Plus Jakarta Sans"/>
                          <a:cs typeface="Plus Jakarta Sans"/>
                          <a:sym typeface="Plus Jakarta Sans"/>
                        </a:rPr>
                        <a:t>Start session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Creates new session with event context</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47175">
                <a:tc>
                  <a:txBody>
                    <a:bodyPr/>
                    <a:lstStyle/>
                    <a:p>
                      <a:pPr indent="0" lvl="0" marL="0" marR="0" rtl="0" algn="l">
                        <a:spcBef>
                          <a:spcPts val="0"/>
                        </a:spcBef>
                        <a:spcAft>
                          <a:spcPts val="0"/>
                        </a:spcAft>
                        <a:buNone/>
                      </a:pPr>
                      <a:r>
                        <a:rPr b="1" i="0" lang="en-US" sz="900" u="none" cap="none" strike="noStrike">
                          <a:solidFill>
                            <a:srgbClr val="334155"/>
                          </a:solidFill>
                          <a:latin typeface="Plus Jakarta Sans"/>
                          <a:ea typeface="Plus Jakarta Sans"/>
                          <a:cs typeface="Plus Jakarta Sans"/>
                          <a:sym typeface="Plus Jakarta Sans"/>
                        </a:rPr>
                        <a:t>Message session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Sends input data to running sessions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47175">
                <a:tc>
                  <a:txBody>
                    <a:bodyPr/>
                    <a:lstStyle/>
                    <a:p>
                      <a:pPr indent="0" lvl="0" marL="0" marR="0" rtl="0" algn="l">
                        <a:spcBef>
                          <a:spcPts val="0"/>
                        </a:spcBef>
                        <a:spcAft>
                          <a:spcPts val="0"/>
                        </a:spcAft>
                        <a:buNone/>
                      </a:pPr>
                      <a:r>
                        <a:rPr b="1" i="0" lang="en-US" sz="900" u="none" cap="none" strike="noStrike">
                          <a:solidFill>
                            <a:srgbClr val="334155"/>
                          </a:solidFill>
                          <a:latin typeface="Plus Jakarta Sans"/>
                          <a:ea typeface="Plus Jakarta Sans"/>
                          <a:cs typeface="Plus Jakarta Sans"/>
                          <a:sym typeface="Plus Jakarta Sans"/>
                        </a:rPr>
                        <a:t>Triage Devin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Watches channel, spawns sub-sessions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47175">
                <a:tc>
                  <a:txBody>
                    <a:bodyPr/>
                    <a:lstStyle/>
                    <a:p>
                      <a:pPr indent="0" lvl="0" marL="0" marR="0" rtl="0" algn="l">
                        <a:spcBef>
                          <a:spcPts val="0"/>
                        </a:spcBef>
                        <a:spcAft>
                          <a:spcPts val="0"/>
                        </a:spcAft>
                        <a:buNone/>
                      </a:pPr>
                      <a:r>
                        <a:rPr b="1" i="0" lang="en-US" sz="900" u="none" cap="none" strike="noStrike">
                          <a:solidFill>
                            <a:srgbClr val="334155"/>
                          </a:solidFill>
                          <a:latin typeface="Plus Jakarta Sans"/>
                          <a:ea typeface="Plus Jakarta Sans"/>
                          <a:cs typeface="Plus Jakarta Sans"/>
                          <a:sym typeface="Plus Jakarta Sans"/>
                        </a:rPr>
                        <a:t>Email notify</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Sends run, success, or fail alerts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768" name="Google Shape;768;p28"/>
          <p:cNvSpPr txBox="1"/>
          <p:nvPr/>
        </p:nvSpPr>
        <p:spPr>
          <a:xfrm>
            <a:off x="571500" y="4185195"/>
            <a:ext cx="3059906" cy="131117"/>
          </a:xfrm>
          <a:prstGeom prst="rect">
            <a:avLst/>
          </a:prstGeom>
          <a:noFill/>
          <a:ln>
            <a:noFill/>
          </a:ln>
        </p:spPr>
        <p:txBody>
          <a:bodyPr anchorCtr="0" anchor="t" bIns="0" lIns="0" spcFirstLastPara="1" rIns="0" wrap="square" tIns="0">
            <a:spAutoFit/>
          </a:bodyPr>
          <a:lstStyle/>
          <a:p>
            <a:pPr indent="0" lvl="0" marL="0" marR="0" rtl="0" algn="l">
              <a:lnSpc>
                <a:spcPct val="145084"/>
              </a:lnSpc>
              <a:spcBef>
                <a:spcPts val="0"/>
              </a:spcBef>
              <a:spcAft>
                <a:spcPts val="0"/>
              </a:spcAft>
              <a:buNone/>
            </a:pPr>
            <a:r>
              <a:rPr b="1" i="0" lang="en-US" sz="712" u="none" cap="none" strike="noStrike">
                <a:solidFill>
                  <a:srgbClr val="0D9488"/>
                </a:solidFill>
                <a:latin typeface="Plus Jakarta Sans"/>
                <a:ea typeface="Plus Jakarta Sans"/>
                <a:cs typeface="Plus Jakarta Sans"/>
                <a:sym typeface="Plus Jakarta Sans"/>
              </a:rPr>
              <a:t>ADVANTAGES:</a:t>
            </a:r>
            <a:endParaRPr/>
          </a:p>
        </p:txBody>
      </p:sp>
      <p:sp>
        <p:nvSpPr>
          <p:cNvPr id="769" name="Google Shape;769;p28"/>
          <p:cNvSpPr txBox="1"/>
          <p:nvPr/>
        </p:nvSpPr>
        <p:spPr>
          <a:xfrm>
            <a:off x="571500" y="4335363"/>
            <a:ext cx="3059906" cy="138112"/>
          </a:xfrm>
          <a:prstGeom prst="rect">
            <a:avLst/>
          </a:prstGeom>
          <a:noFill/>
          <a:ln>
            <a:noFill/>
          </a:ln>
        </p:spPr>
        <p:txBody>
          <a:bodyPr anchorCtr="0" anchor="t" bIns="0" lIns="0" spcFirstLastPara="1" rIns="0" wrap="square" tIns="0">
            <a:spAutoFit/>
          </a:bodyPr>
          <a:lstStyle/>
          <a:p>
            <a:pPr indent="0" lvl="0" marL="0" marR="0" rtl="0" algn="l">
              <a:lnSpc>
                <a:spcPct val="144933"/>
              </a:lnSpc>
              <a:spcBef>
                <a:spcPts val="0"/>
              </a:spcBef>
              <a:spcAft>
                <a:spcPts val="0"/>
              </a:spcAft>
              <a:buNone/>
            </a:pPr>
            <a:r>
              <a:rPr b="0" i="0" lang="en-US" sz="750" u="none" cap="none" strike="noStrike">
                <a:solidFill>
                  <a:srgbClr val="334155"/>
                </a:solidFill>
                <a:latin typeface="Plus Jakarta Sans"/>
                <a:ea typeface="Plus Jakarta Sans"/>
                <a:cs typeface="Plus Jakarta Sans"/>
                <a:sym typeface="Plus Jakarta Sans"/>
              </a:rPr>
              <a:t>Fully event-driven; multi-triggers; natural prompts; templates</a:t>
            </a:r>
            <a:endParaRPr/>
          </a:p>
        </p:txBody>
      </p:sp>
      <p:sp>
        <p:nvSpPr>
          <p:cNvPr id="770" name="Google Shape;770;p28"/>
          <p:cNvSpPr txBox="1"/>
          <p:nvPr/>
        </p:nvSpPr>
        <p:spPr>
          <a:xfrm>
            <a:off x="3707606" y="4185195"/>
            <a:ext cx="3059906" cy="131117"/>
          </a:xfrm>
          <a:prstGeom prst="rect">
            <a:avLst/>
          </a:prstGeom>
          <a:noFill/>
          <a:ln>
            <a:noFill/>
          </a:ln>
        </p:spPr>
        <p:txBody>
          <a:bodyPr anchorCtr="0" anchor="t" bIns="0" lIns="0" spcFirstLastPara="1" rIns="0" wrap="square" tIns="0">
            <a:spAutoFit/>
          </a:bodyPr>
          <a:lstStyle/>
          <a:p>
            <a:pPr indent="0" lvl="0" marL="0" marR="0" rtl="0" algn="l">
              <a:lnSpc>
                <a:spcPct val="145084"/>
              </a:lnSpc>
              <a:spcBef>
                <a:spcPts val="0"/>
              </a:spcBef>
              <a:spcAft>
                <a:spcPts val="0"/>
              </a:spcAft>
              <a:buNone/>
            </a:pPr>
            <a:r>
              <a:rPr b="1" i="0" lang="en-US" sz="712" u="none" cap="none" strike="noStrike">
                <a:solidFill>
                  <a:srgbClr val="EF4444"/>
                </a:solidFill>
                <a:latin typeface="Plus Jakarta Sans"/>
                <a:ea typeface="Plus Jakarta Sans"/>
                <a:cs typeface="Plus Jakarta Sans"/>
                <a:sym typeface="Plus Jakarta Sans"/>
              </a:rPr>
              <a:t>LIMITATIONS:</a:t>
            </a:r>
            <a:endParaRPr/>
          </a:p>
        </p:txBody>
      </p:sp>
      <p:sp>
        <p:nvSpPr>
          <p:cNvPr id="771" name="Google Shape;771;p28"/>
          <p:cNvSpPr txBox="1"/>
          <p:nvPr/>
        </p:nvSpPr>
        <p:spPr>
          <a:xfrm>
            <a:off x="3707606" y="4335363"/>
            <a:ext cx="3059906" cy="138112"/>
          </a:xfrm>
          <a:prstGeom prst="rect">
            <a:avLst/>
          </a:prstGeom>
          <a:noFill/>
          <a:ln>
            <a:noFill/>
          </a:ln>
        </p:spPr>
        <p:txBody>
          <a:bodyPr anchorCtr="0" anchor="t" bIns="0" lIns="0" spcFirstLastPara="1" rIns="0" wrap="square" tIns="0">
            <a:spAutoFit/>
          </a:bodyPr>
          <a:lstStyle/>
          <a:p>
            <a:pPr indent="0" lvl="0" marL="0" marR="0" rtl="0" algn="l">
              <a:lnSpc>
                <a:spcPct val="144933"/>
              </a:lnSpc>
              <a:spcBef>
                <a:spcPts val="0"/>
              </a:spcBef>
              <a:spcAft>
                <a:spcPts val="0"/>
              </a:spcAft>
              <a:buNone/>
            </a:pPr>
            <a:r>
              <a:rPr b="0" i="0" lang="en-US" sz="750" u="none" cap="none" strike="noStrike">
                <a:solidFill>
                  <a:srgbClr val="334155"/>
                </a:solidFill>
                <a:latin typeface="Plus Jakarta Sans"/>
                <a:ea typeface="Plus Jakarta Sans"/>
                <a:cs typeface="Plus Jakarta Sans"/>
                <a:sym typeface="Plus Jakarta Sans"/>
              </a:rPr>
              <a:t>VCS private repos restriction; Slack channel joins required</a:t>
            </a:r>
            <a:endParaRPr/>
          </a:p>
        </p:txBody>
      </p:sp>
      <p:sp>
        <p:nvSpPr>
          <p:cNvPr id="772" name="Google Shape;772;p28"/>
          <p:cNvSpPr/>
          <p:nvPr/>
        </p:nvSpPr>
        <p:spPr>
          <a:xfrm>
            <a:off x="7015162" y="2101750"/>
            <a:ext cx="883592"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73" name="Google Shape;773;p28"/>
          <p:cNvSpPr/>
          <p:nvPr/>
        </p:nvSpPr>
        <p:spPr>
          <a:xfrm>
            <a:off x="7898755" y="2101750"/>
            <a:ext cx="1882675"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74" name="Google Shape;774;p28"/>
          <p:cNvSpPr/>
          <p:nvPr/>
        </p:nvSpPr>
        <p:spPr>
          <a:xfrm>
            <a:off x="9781430" y="2101750"/>
            <a:ext cx="1781919"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75" name="Google Shape;775;p28"/>
          <p:cNvSpPr/>
          <p:nvPr/>
        </p:nvSpPr>
        <p:spPr>
          <a:xfrm>
            <a:off x="7015162" y="4496097"/>
            <a:ext cx="1585168"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76" name="Google Shape;776;p28"/>
          <p:cNvSpPr/>
          <p:nvPr/>
        </p:nvSpPr>
        <p:spPr>
          <a:xfrm>
            <a:off x="8600330" y="4496097"/>
            <a:ext cx="2963019"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777" name="Google Shape;777;p28"/>
          <p:cNvPicPr preferRelativeResize="0"/>
          <p:nvPr/>
        </p:nvPicPr>
        <p:blipFill rotWithShape="1">
          <a:blip r:embed="rId9">
            <a:alphaModFix/>
          </a:blip>
          <a:srcRect b="0" l="0" r="0" t="0"/>
          <a:stretch/>
        </p:blipFill>
        <p:spPr>
          <a:xfrm>
            <a:off x="571500" y="4711600"/>
            <a:ext cx="133350" cy="142875"/>
          </a:xfrm>
          <a:prstGeom prst="rect">
            <a:avLst/>
          </a:prstGeom>
          <a:noFill/>
          <a:ln>
            <a:noFill/>
          </a:ln>
        </p:spPr>
      </p:pic>
      <p:pic>
        <p:nvPicPr>
          <p:cNvPr descr="image.png" id="778" name="Google Shape;778;p28"/>
          <p:cNvPicPr preferRelativeResize="0"/>
          <p:nvPr/>
        </p:nvPicPr>
        <p:blipFill rotWithShape="1">
          <a:blip r:embed="rId10">
            <a:alphaModFix/>
          </a:blip>
          <a:srcRect b="0" l="0" r="0" t="0"/>
          <a:stretch/>
        </p:blipFill>
        <p:spPr>
          <a:xfrm>
            <a:off x="571500" y="4974431"/>
            <a:ext cx="133350" cy="142875"/>
          </a:xfrm>
          <a:prstGeom prst="rect">
            <a:avLst/>
          </a:prstGeom>
          <a:noFill/>
          <a:ln>
            <a:noFill/>
          </a:ln>
        </p:spPr>
      </p:pic>
      <p:pic>
        <p:nvPicPr>
          <p:cNvPr descr="image.png" id="779" name="Google Shape;779;p28"/>
          <p:cNvPicPr preferRelativeResize="0"/>
          <p:nvPr/>
        </p:nvPicPr>
        <p:blipFill rotWithShape="1">
          <a:blip r:embed="rId11">
            <a:alphaModFix/>
          </a:blip>
          <a:srcRect b="0" l="0" r="0" t="0"/>
          <a:stretch/>
        </p:blipFill>
        <p:spPr>
          <a:xfrm>
            <a:off x="571500" y="5237261"/>
            <a:ext cx="133350" cy="142875"/>
          </a:xfrm>
          <a:prstGeom prst="rect">
            <a:avLst/>
          </a:prstGeom>
          <a:noFill/>
          <a:ln>
            <a:noFill/>
          </a:ln>
        </p:spPr>
      </p:pic>
      <p:pic>
        <p:nvPicPr>
          <p:cNvPr descr="image.png" id="780" name="Google Shape;780;p28"/>
          <p:cNvPicPr preferRelativeResize="0"/>
          <p:nvPr/>
        </p:nvPicPr>
        <p:blipFill rotWithShape="1">
          <a:blip r:embed="rId12">
            <a:alphaModFix/>
          </a:blip>
          <a:srcRect b="0" l="0" r="0" t="0"/>
          <a:stretch/>
        </p:blipFill>
        <p:spPr>
          <a:xfrm>
            <a:off x="571500" y="5500092"/>
            <a:ext cx="171450" cy="142875"/>
          </a:xfrm>
          <a:prstGeom prst="rect">
            <a:avLst/>
          </a:prstGeom>
          <a:noFill/>
          <a:ln>
            <a:noFill/>
          </a:ln>
        </p:spPr>
      </p:pic>
      <p:sp>
        <p:nvSpPr>
          <p:cNvPr id="781" name="Google Shape;781;p28"/>
          <p:cNvSpPr/>
          <p:nvPr/>
        </p:nvSpPr>
        <p:spPr>
          <a:xfrm>
            <a:off x="7015162" y="2455961"/>
            <a:ext cx="883592"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82" name="Google Shape;782;p28"/>
          <p:cNvSpPr/>
          <p:nvPr/>
        </p:nvSpPr>
        <p:spPr>
          <a:xfrm>
            <a:off x="7898755" y="2455961"/>
            <a:ext cx="1882675"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83" name="Google Shape;783;p28"/>
          <p:cNvSpPr/>
          <p:nvPr/>
        </p:nvSpPr>
        <p:spPr>
          <a:xfrm>
            <a:off x="9781430" y="2455961"/>
            <a:ext cx="1781919"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84" name="Google Shape;784;p28"/>
          <p:cNvSpPr/>
          <p:nvPr/>
        </p:nvSpPr>
        <p:spPr>
          <a:xfrm>
            <a:off x="7015162" y="2810172"/>
            <a:ext cx="883592"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85" name="Google Shape;785;p28"/>
          <p:cNvSpPr/>
          <p:nvPr/>
        </p:nvSpPr>
        <p:spPr>
          <a:xfrm>
            <a:off x="7898755" y="2810172"/>
            <a:ext cx="1882675"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86" name="Google Shape;786;p28"/>
          <p:cNvSpPr/>
          <p:nvPr/>
        </p:nvSpPr>
        <p:spPr>
          <a:xfrm>
            <a:off x="9781430" y="2810172"/>
            <a:ext cx="1781919"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87" name="Google Shape;787;p28"/>
          <p:cNvSpPr/>
          <p:nvPr/>
        </p:nvSpPr>
        <p:spPr>
          <a:xfrm>
            <a:off x="7015162" y="3164383"/>
            <a:ext cx="883592"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88" name="Google Shape;788;p28"/>
          <p:cNvSpPr/>
          <p:nvPr/>
        </p:nvSpPr>
        <p:spPr>
          <a:xfrm>
            <a:off x="7898755" y="3164383"/>
            <a:ext cx="1882675"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89" name="Google Shape;789;p28"/>
          <p:cNvSpPr/>
          <p:nvPr/>
        </p:nvSpPr>
        <p:spPr>
          <a:xfrm>
            <a:off x="9781430" y="3164383"/>
            <a:ext cx="1781919"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90" name="Google Shape;790;p28"/>
          <p:cNvSpPr/>
          <p:nvPr/>
        </p:nvSpPr>
        <p:spPr>
          <a:xfrm>
            <a:off x="7015162" y="3518594"/>
            <a:ext cx="883592"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91" name="Google Shape;791;p28"/>
          <p:cNvSpPr/>
          <p:nvPr/>
        </p:nvSpPr>
        <p:spPr>
          <a:xfrm>
            <a:off x="7898755" y="3518594"/>
            <a:ext cx="1882675"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92" name="Google Shape;792;p28"/>
          <p:cNvSpPr/>
          <p:nvPr/>
        </p:nvSpPr>
        <p:spPr>
          <a:xfrm>
            <a:off x="9781430" y="3518594"/>
            <a:ext cx="1781919"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93" name="Google Shape;793;p28"/>
          <p:cNvSpPr/>
          <p:nvPr/>
        </p:nvSpPr>
        <p:spPr>
          <a:xfrm>
            <a:off x="7015162" y="4850308"/>
            <a:ext cx="1585168"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94" name="Google Shape;794;p28"/>
          <p:cNvSpPr/>
          <p:nvPr/>
        </p:nvSpPr>
        <p:spPr>
          <a:xfrm>
            <a:off x="8600330" y="4850308"/>
            <a:ext cx="2963019"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95" name="Google Shape;795;p28"/>
          <p:cNvSpPr/>
          <p:nvPr/>
        </p:nvSpPr>
        <p:spPr>
          <a:xfrm>
            <a:off x="7015162" y="5204519"/>
            <a:ext cx="1585168"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96" name="Google Shape;796;p28"/>
          <p:cNvSpPr/>
          <p:nvPr/>
        </p:nvSpPr>
        <p:spPr>
          <a:xfrm>
            <a:off x="8600330" y="5204519"/>
            <a:ext cx="2963019"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97" name="Google Shape;797;p28"/>
          <p:cNvSpPr/>
          <p:nvPr/>
        </p:nvSpPr>
        <p:spPr>
          <a:xfrm>
            <a:off x="7015162" y="5558730"/>
            <a:ext cx="1585168"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98" name="Google Shape;798;p28"/>
          <p:cNvSpPr/>
          <p:nvPr/>
        </p:nvSpPr>
        <p:spPr>
          <a:xfrm>
            <a:off x="8600330" y="5558730"/>
            <a:ext cx="2963019"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99" name="Google Shape;799;p28"/>
          <p:cNvSpPr txBox="1"/>
          <p:nvPr/>
        </p:nvSpPr>
        <p:spPr>
          <a:xfrm>
            <a:off x="571500" y="381000"/>
            <a:ext cx="11601450" cy="37147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2400" u="none" cap="none" strike="noStrike">
                <a:solidFill>
                  <a:srgbClr val="0F172A"/>
                </a:solidFill>
                <a:latin typeface="Plus Jakarta Sans ExtraBold"/>
                <a:ea typeface="Plus Jakarta Sans ExtraBold"/>
                <a:cs typeface="Plus Jakarta Sans ExtraBold"/>
                <a:sym typeface="Plus Jakarta Sans ExtraBold"/>
              </a:rPr>
              <a:t>Feature Spotlight: Automations</a:t>
            </a:r>
            <a:endParaRPr/>
          </a:p>
        </p:txBody>
      </p:sp>
      <p:sp>
        <p:nvSpPr>
          <p:cNvPr id="800" name="Google Shape;800;p28"/>
          <p:cNvSpPr/>
          <p:nvPr/>
        </p:nvSpPr>
        <p:spPr>
          <a:xfrm>
            <a:off x="571500" y="847725"/>
            <a:ext cx="11049000" cy="19050"/>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04" name="Shape 804"/>
        <p:cNvGrpSpPr/>
        <p:nvPr/>
      </p:nvGrpSpPr>
      <p:grpSpPr>
        <a:xfrm>
          <a:off x="0" y="0"/>
          <a:ext cx="0" cy="0"/>
          <a:chOff x="0" y="0"/>
          <a:chExt cx="0" cy="0"/>
        </a:xfrm>
      </p:grpSpPr>
      <p:pic>
        <p:nvPicPr>
          <p:cNvPr descr="image.png" id="805" name="Google Shape;805;p29"/>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806" name="Google Shape;806;p29"/>
          <p:cNvPicPr preferRelativeResize="0"/>
          <p:nvPr/>
        </p:nvPicPr>
        <p:blipFill rotWithShape="1">
          <a:blip r:embed="rId4">
            <a:alphaModFix/>
          </a:blip>
          <a:srcRect b="0" l="0" r="0" t="0"/>
          <a:stretch/>
        </p:blipFill>
        <p:spPr>
          <a:xfrm>
            <a:off x="7005637" y="1827162"/>
            <a:ext cx="4567237" cy="268337"/>
          </a:xfrm>
          <a:prstGeom prst="rect">
            <a:avLst/>
          </a:prstGeom>
          <a:noFill/>
          <a:ln>
            <a:noFill/>
          </a:ln>
        </p:spPr>
      </p:pic>
      <p:pic>
        <p:nvPicPr>
          <p:cNvPr descr="image.png" id="807" name="Google Shape;807;p29"/>
          <p:cNvPicPr preferRelativeResize="0"/>
          <p:nvPr/>
        </p:nvPicPr>
        <p:blipFill rotWithShape="1">
          <a:blip r:embed="rId5">
            <a:alphaModFix/>
          </a:blip>
          <a:srcRect b="0" l="0" r="0" t="0"/>
          <a:stretch/>
        </p:blipFill>
        <p:spPr>
          <a:xfrm>
            <a:off x="7005637" y="2143125"/>
            <a:ext cx="4567237" cy="268337"/>
          </a:xfrm>
          <a:prstGeom prst="rect">
            <a:avLst/>
          </a:prstGeom>
          <a:noFill/>
          <a:ln>
            <a:noFill/>
          </a:ln>
        </p:spPr>
      </p:pic>
      <p:pic>
        <p:nvPicPr>
          <p:cNvPr descr="image.png" id="808" name="Google Shape;808;p29"/>
          <p:cNvPicPr preferRelativeResize="0"/>
          <p:nvPr/>
        </p:nvPicPr>
        <p:blipFill rotWithShape="1">
          <a:blip r:embed="rId6">
            <a:alphaModFix/>
          </a:blip>
          <a:srcRect b="0" l="0" r="0" t="0"/>
          <a:stretch/>
        </p:blipFill>
        <p:spPr>
          <a:xfrm>
            <a:off x="7005637" y="2459087"/>
            <a:ext cx="4567237" cy="268337"/>
          </a:xfrm>
          <a:prstGeom prst="rect">
            <a:avLst/>
          </a:prstGeom>
          <a:noFill/>
          <a:ln>
            <a:noFill/>
          </a:ln>
        </p:spPr>
      </p:pic>
      <p:pic>
        <p:nvPicPr>
          <p:cNvPr descr="image.png" id="809" name="Google Shape;809;p29"/>
          <p:cNvPicPr preferRelativeResize="0"/>
          <p:nvPr/>
        </p:nvPicPr>
        <p:blipFill rotWithShape="1">
          <a:blip r:embed="rId7">
            <a:alphaModFix/>
          </a:blip>
          <a:srcRect b="0" l="0" r="0" t="0"/>
          <a:stretch/>
        </p:blipFill>
        <p:spPr>
          <a:xfrm>
            <a:off x="7005637" y="2775049"/>
            <a:ext cx="4567237" cy="268337"/>
          </a:xfrm>
          <a:prstGeom prst="rect">
            <a:avLst/>
          </a:prstGeom>
          <a:noFill/>
          <a:ln>
            <a:noFill/>
          </a:ln>
        </p:spPr>
      </p:pic>
      <p:pic>
        <p:nvPicPr>
          <p:cNvPr descr="image.png" id="810" name="Google Shape;810;p29"/>
          <p:cNvPicPr preferRelativeResize="0"/>
          <p:nvPr/>
        </p:nvPicPr>
        <p:blipFill rotWithShape="1">
          <a:blip r:embed="rId8">
            <a:alphaModFix/>
          </a:blip>
          <a:srcRect b="0" l="0" r="0" t="0"/>
          <a:stretch/>
        </p:blipFill>
        <p:spPr>
          <a:xfrm>
            <a:off x="7005637" y="3091011"/>
            <a:ext cx="4567237" cy="268337"/>
          </a:xfrm>
          <a:prstGeom prst="rect">
            <a:avLst/>
          </a:prstGeom>
          <a:noFill/>
          <a:ln>
            <a:noFill/>
          </a:ln>
        </p:spPr>
      </p:pic>
      <p:pic>
        <p:nvPicPr>
          <p:cNvPr descr="image.png" id="811" name="Google Shape;811;p29"/>
          <p:cNvPicPr preferRelativeResize="0"/>
          <p:nvPr/>
        </p:nvPicPr>
        <p:blipFill rotWithShape="1">
          <a:blip r:embed="rId8">
            <a:alphaModFix/>
          </a:blip>
          <a:srcRect b="0" l="0" r="0" t="0"/>
          <a:stretch/>
        </p:blipFill>
        <p:spPr>
          <a:xfrm>
            <a:off x="7005637" y="3406973"/>
            <a:ext cx="4567237" cy="268337"/>
          </a:xfrm>
          <a:prstGeom prst="rect">
            <a:avLst/>
          </a:prstGeom>
          <a:noFill/>
          <a:ln>
            <a:noFill/>
          </a:ln>
        </p:spPr>
      </p:pic>
      <p:pic>
        <p:nvPicPr>
          <p:cNvPr descr="image.png" id="812" name="Google Shape;812;p29"/>
          <p:cNvPicPr preferRelativeResize="0"/>
          <p:nvPr/>
        </p:nvPicPr>
        <p:blipFill rotWithShape="1">
          <a:blip r:embed="rId9">
            <a:alphaModFix/>
          </a:blip>
          <a:srcRect b="0" l="0" r="0" t="0"/>
          <a:stretch/>
        </p:blipFill>
        <p:spPr>
          <a:xfrm>
            <a:off x="571500" y="457200"/>
            <a:ext cx="823168" cy="200025"/>
          </a:xfrm>
          <a:prstGeom prst="rect">
            <a:avLst/>
          </a:prstGeom>
          <a:noFill/>
          <a:ln>
            <a:noFill/>
          </a:ln>
        </p:spPr>
      </p:pic>
      <p:sp>
        <p:nvSpPr>
          <p:cNvPr id="813" name="Google Shape;813;p29"/>
          <p:cNvSpPr txBox="1"/>
          <p:nvPr/>
        </p:nvSpPr>
        <p:spPr>
          <a:xfrm>
            <a:off x="571500" y="1618208"/>
            <a:ext cx="6195900" cy="115500"/>
          </a:xfrm>
          <a:prstGeom prst="rect">
            <a:avLst/>
          </a:prstGeom>
          <a:noFill/>
          <a:ln>
            <a:noFill/>
          </a:ln>
        </p:spPr>
        <p:txBody>
          <a:bodyPr anchorCtr="0" anchor="t" bIns="0" lIns="0" spcFirstLastPara="1" rIns="0" wrap="square" tIns="0">
            <a:spAutoFit/>
          </a:bodyPr>
          <a:lstStyle/>
          <a:p>
            <a:pPr indent="0" lvl="0" marL="0" marR="0" rtl="0" algn="l">
              <a:lnSpc>
                <a:spcPct val="144933"/>
              </a:lnSpc>
              <a:spcBef>
                <a:spcPts val="0"/>
              </a:spcBef>
              <a:spcAft>
                <a:spcPts val="0"/>
              </a:spcAft>
              <a:buNone/>
            </a:pPr>
            <a:r>
              <a:rPr b="1" i="0" lang="en-US" sz="750" u="none" cap="none" strike="noStrike">
                <a:solidFill>
                  <a:srgbClr val="2563EB"/>
                </a:solidFill>
                <a:latin typeface="Plus Jakarta Sans"/>
                <a:ea typeface="Plus Jakarta Sans"/>
                <a:cs typeface="Plus Jakarta Sans"/>
                <a:sym typeface="Plus Jakarta Sans"/>
              </a:rPr>
              <a:t>PURPOSE:</a:t>
            </a:r>
            <a:endParaRPr/>
          </a:p>
        </p:txBody>
      </p:sp>
      <p:sp>
        <p:nvSpPr>
          <p:cNvPr id="814" name="Google Shape;814;p29"/>
          <p:cNvSpPr txBox="1"/>
          <p:nvPr/>
        </p:nvSpPr>
        <p:spPr>
          <a:xfrm>
            <a:off x="571500" y="1775370"/>
            <a:ext cx="6195900" cy="161700"/>
          </a:xfrm>
          <a:prstGeom prst="rect">
            <a:avLst/>
          </a:prstGeom>
          <a:noFill/>
          <a:ln>
            <a:noFill/>
          </a:ln>
        </p:spPr>
        <p:txBody>
          <a:bodyPr anchorCtr="0" anchor="t" bIns="0" lIns="0" spcFirstLastPara="1" rIns="0" wrap="square" tIns="0">
            <a:spAutoFit/>
          </a:bodyPr>
          <a:lstStyle/>
          <a:p>
            <a:pPr indent="0" lvl="0" marL="0" marR="0" rtl="0" algn="l">
              <a:lnSpc>
                <a:spcPct val="144952"/>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Provide Devin with a pre-configured, reproducible workspace for every session.</a:t>
            </a:r>
            <a:endParaRPr/>
          </a:p>
        </p:txBody>
      </p:sp>
      <p:sp>
        <p:nvSpPr>
          <p:cNvPr id="815" name="Google Shape;815;p29"/>
          <p:cNvSpPr txBox="1"/>
          <p:nvPr/>
        </p:nvSpPr>
        <p:spPr>
          <a:xfrm>
            <a:off x="571500" y="2025848"/>
            <a:ext cx="6195900" cy="115500"/>
          </a:xfrm>
          <a:prstGeom prst="rect">
            <a:avLst/>
          </a:prstGeom>
          <a:noFill/>
          <a:ln>
            <a:noFill/>
          </a:ln>
        </p:spPr>
        <p:txBody>
          <a:bodyPr anchorCtr="0" anchor="t" bIns="0" lIns="0" spcFirstLastPara="1" rIns="0" wrap="square" tIns="0">
            <a:spAutoFit/>
          </a:bodyPr>
          <a:lstStyle/>
          <a:p>
            <a:pPr indent="0" lvl="0" marL="0" marR="0" rtl="0" algn="l">
              <a:lnSpc>
                <a:spcPct val="144933"/>
              </a:lnSpc>
              <a:spcBef>
                <a:spcPts val="0"/>
              </a:spcBef>
              <a:spcAft>
                <a:spcPts val="0"/>
              </a:spcAft>
              <a:buNone/>
            </a:pPr>
            <a:r>
              <a:rPr b="1" i="0" lang="en-US" sz="750" u="none" cap="none" strike="noStrike">
                <a:solidFill>
                  <a:srgbClr val="2563EB"/>
                </a:solidFill>
                <a:latin typeface="Plus Jakarta Sans"/>
                <a:ea typeface="Plus Jakarta Sans"/>
                <a:cs typeface="Plus Jakarta Sans"/>
                <a:sym typeface="Plus Jakarta Sans"/>
              </a:rPr>
              <a:t>WHY IT EXISTS:</a:t>
            </a:r>
            <a:endParaRPr/>
          </a:p>
        </p:txBody>
      </p:sp>
      <p:sp>
        <p:nvSpPr>
          <p:cNvPr id="816" name="Google Shape;816;p29"/>
          <p:cNvSpPr txBox="1"/>
          <p:nvPr/>
        </p:nvSpPr>
        <p:spPr>
          <a:xfrm>
            <a:off x="571500" y="2183010"/>
            <a:ext cx="6195900" cy="864300"/>
          </a:xfrm>
          <a:prstGeom prst="rect">
            <a:avLst/>
          </a:prstGeom>
          <a:noFill/>
          <a:ln>
            <a:noFill/>
          </a:ln>
        </p:spPr>
        <p:txBody>
          <a:bodyPr anchorCtr="0" anchor="t" bIns="0" lIns="0" spcFirstLastPara="1" rIns="0" wrap="square" tIns="0">
            <a:spAutoFit/>
          </a:bodyPr>
          <a:lstStyle/>
          <a:p>
            <a:pPr indent="0" lvl="0" marL="0" marR="0" rtl="0" algn="l">
              <a:lnSpc>
                <a:spcPct val="144952"/>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Without a properly configured environment, Devin cannot build, test, or verify its work. The environment is the equivalent of a developer's laptop — it must be set up correctly before productive work can begin. This is documented as </a:t>
            </a:r>
            <a:r>
              <a:rPr b="1" i="0" lang="en-US" sz="1050" u="none" cap="none" strike="noStrike">
                <a:solidFill>
                  <a:srgbClr val="334155"/>
                </a:solidFill>
                <a:latin typeface="Plus Jakarta Sans"/>
                <a:ea typeface="Plus Jakarta Sans"/>
                <a:cs typeface="Plus Jakarta Sans"/>
                <a:sym typeface="Plus Jakarta Sans"/>
              </a:rPr>
              <a:t>"the single highest-leverage thing you can do to improve Devin's effectiveness."</a:t>
            </a:r>
            <a:endParaRPr/>
          </a:p>
        </p:txBody>
      </p:sp>
      <p:sp>
        <p:nvSpPr>
          <p:cNvPr id="817" name="Google Shape;817;p29"/>
          <p:cNvSpPr txBox="1"/>
          <p:nvPr/>
        </p:nvSpPr>
        <p:spPr>
          <a:xfrm>
            <a:off x="571500" y="3013471"/>
            <a:ext cx="6195900" cy="115500"/>
          </a:xfrm>
          <a:prstGeom prst="rect">
            <a:avLst/>
          </a:prstGeom>
          <a:noFill/>
          <a:ln>
            <a:noFill/>
          </a:ln>
        </p:spPr>
        <p:txBody>
          <a:bodyPr anchorCtr="0" anchor="t" bIns="0" lIns="0" spcFirstLastPara="1" rIns="0" wrap="square" tIns="0">
            <a:spAutoFit/>
          </a:bodyPr>
          <a:lstStyle/>
          <a:p>
            <a:pPr indent="0" lvl="0" marL="0" marR="0" rtl="0" algn="l">
              <a:lnSpc>
                <a:spcPct val="144933"/>
              </a:lnSpc>
              <a:spcBef>
                <a:spcPts val="0"/>
              </a:spcBef>
              <a:spcAft>
                <a:spcPts val="0"/>
              </a:spcAft>
              <a:buNone/>
            </a:pPr>
            <a:r>
              <a:rPr b="1" i="0" lang="en-US" sz="750" u="none" cap="none" strike="noStrike">
                <a:solidFill>
                  <a:srgbClr val="2563EB"/>
                </a:solidFill>
                <a:latin typeface="Plus Jakarta Sans"/>
                <a:ea typeface="Plus Jakarta Sans"/>
                <a:cs typeface="Plus Jakarta Sans"/>
                <a:sym typeface="Plus Jakarta Sans"/>
              </a:rPr>
              <a:t>INTERNAL CONCEPT:</a:t>
            </a:r>
            <a:endParaRPr/>
          </a:p>
        </p:txBody>
      </p:sp>
      <p:sp>
        <p:nvSpPr>
          <p:cNvPr id="818" name="Google Shape;818;p29"/>
          <p:cNvSpPr txBox="1"/>
          <p:nvPr/>
        </p:nvSpPr>
        <p:spPr>
          <a:xfrm>
            <a:off x="571500" y="4671417"/>
            <a:ext cx="6195900" cy="115500"/>
          </a:xfrm>
          <a:prstGeom prst="rect">
            <a:avLst/>
          </a:prstGeom>
          <a:noFill/>
          <a:ln>
            <a:noFill/>
          </a:ln>
        </p:spPr>
        <p:txBody>
          <a:bodyPr anchorCtr="0" anchor="t" bIns="0" lIns="0" spcFirstLastPara="1" rIns="0" wrap="square" tIns="0">
            <a:spAutoFit/>
          </a:bodyPr>
          <a:lstStyle/>
          <a:p>
            <a:pPr indent="0" lvl="0" marL="0" marR="0" rtl="0" algn="l">
              <a:lnSpc>
                <a:spcPct val="144933"/>
              </a:lnSpc>
              <a:spcBef>
                <a:spcPts val="0"/>
              </a:spcBef>
              <a:spcAft>
                <a:spcPts val="0"/>
              </a:spcAft>
              <a:buNone/>
            </a:pPr>
            <a:r>
              <a:rPr b="1" i="0" lang="en-US" sz="750" u="none" cap="none" strike="noStrike">
                <a:solidFill>
                  <a:srgbClr val="2563EB"/>
                </a:solidFill>
                <a:latin typeface="Plus Jakarta Sans"/>
                <a:ea typeface="Plus Jakarta Sans"/>
                <a:cs typeface="Plus Jakarta Sans"/>
                <a:sym typeface="Plus Jakarta Sans"/>
              </a:rPr>
              <a:t>ENTERPRISE USE CASE:</a:t>
            </a:r>
            <a:endParaRPr/>
          </a:p>
        </p:txBody>
      </p:sp>
      <p:sp>
        <p:nvSpPr>
          <p:cNvPr id="819" name="Google Shape;819;p29"/>
          <p:cNvSpPr txBox="1"/>
          <p:nvPr/>
        </p:nvSpPr>
        <p:spPr>
          <a:xfrm>
            <a:off x="571500" y="4828579"/>
            <a:ext cx="6195900" cy="630300"/>
          </a:xfrm>
          <a:prstGeom prst="rect">
            <a:avLst/>
          </a:prstGeom>
          <a:noFill/>
          <a:ln>
            <a:noFill/>
          </a:ln>
        </p:spPr>
        <p:txBody>
          <a:bodyPr anchorCtr="0" anchor="t" bIns="0" lIns="0" spcFirstLastPara="1" rIns="0" wrap="square" tIns="0">
            <a:spAutoFit/>
          </a:bodyPr>
          <a:lstStyle/>
          <a:p>
            <a:pPr indent="0" lvl="0" marL="0" marR="0" rtl="0" algn="l">
              <a:lnSpc>
                <a:spcPct val="144952"/>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An enterprise standardizes Python 3.12, Node 20, and internal security scanning tools in the Enterprise Blueprint. Every team's environment inherits this baseline. Teams add their own registry configuration at the Org level. Individual repos add project-specific setup at the Repo level.</a:t>
            </a:r>
            <a:endParaRPr/>
          </a:p>
        </p:txBody>
      </p:sp>
      <p:sp>
        <p:nvSpPr>
          <p:cNvPr id="820" name="Google Shape;820;p29"/>
          <p:cNvSpPr txBox="1"/>
          <p:nvPr/>
        </p:nvSpPr>
        <p:spPr>
          <a:xfrm>
            <a:off x="7005637" y="1618208"/>
            <a:ext cx="4567200" cy="126900"/>
          </a:xfrm>
          <a:prstGeom prst="rect">
            <a:avLst/>
          </a:prstGeom>
          <a:noFill/>
          <a:ln>
            <a:noFill/>
          </a:ln>
        </p:spPr>
        <p:txBody>
          <a:bodyPr anchorCtr="0" anchor="t" bIns="0" lIns="133350" spcFirstLastPara="1" rIns="0" wrap="square" tIns="0">
            <a:spAutoFit/>
          </a:bodyPr>
          <a:lstStyle/>
          <a:p>
            <a:pPr indent="0" lvl="0" marL="0" marR="0" rtl="0" algn="ctr">
              <a:lnSpc>
                <a:spcPct val="144969"/>
              </a:lnSpc>
              <a:spcBef>
                <a:spcPts val="0"/>
              </a:spcBef>
              <a:spcAft>
                <a:spcPts val="0"/>
              </a:spcAft>
              <a:buNone/>
            </a:pPr>
            <a:r>
              <a:rPr b="1" i="0" lang="en-US" sz="825" u="none" cap="none" strike="noStrike">
                <a:solidFill>
                  <a:srgbClr val="0F172A"/>
                </a:solidFill>
                <a:latin typeface="Plus Jakarta Sans"/>
                <a:ea typeface="Plus Jakarta Sans"/>
                <a:cs typeface="Plus Jakarta Sans"/>
                <a:sym typeface="Plus Jakarta Sans"/>
              </a:rPr>
              <a:t>SETUP STEPS (CLASSIC WIZARD)</a:t>
            </a:r>
            <a:endParaRPr/>
          </a:p>
        </p:txBody>
      </p:sp>
      <p:sp>
        <p:nvSpPr>
          <p:cNvPr id="821" name="Google Shape;821;p29"/>
          <p:cNvSpPr txBox="1"/>
          <p:nvPr/>
        </p:nvSpPr>
        <p:spPr>
          <a:xfrm>
            <a:off x="7005637" y="3789610"/>
            <a:ext cx="4567200" cy="115500"/>
          </a:xfrm>
          <a:prstGeom prst="rect">
            <a:avLst/>
          </a:prstGeom>
          <a:noFill/>
          <a:ln>
            <a:noFill/>
          </a:ln>
        </p:spPr>
        <p:txBody>
          <a:bodyPr anchorCtr="0" anchor="t" bIns="0" lIns="0" spcFirstLastPara="1" rIns="0" wrap="square" tIns="0">
            <a:spAutoFit/>
          </a:bodyPr>
          <a:lstStyle/>
          <a:p>
            <a:pPr indent="0" lvl="0" marL="0" marR="0" rtl="0" algn="l">
              <a:lnSpc>
                <a:spcPct val="144933"/>
              </a:lnSpc>
              <a:spcBef>
                <a:spcPts val="0"/>
              </a:spcBef>
              <a:spcAft>
                <a:spcPts val="0"/>
              </a:spcAft>
              <a:buNone/>
            </a:pPr>
            <a:r>
              <a:rPr b="1" i="0" lang="en-US" sz="750" u="none" cap="none" strike="noStrike">
                <a:solidFill>
                  <a:srgbClr val="0D9488"/>
                </a:solidFill>
                <a:latin typeface="Plus Jakarta Sans"/>
                <a:ea typeface="Plus Jakarta Sans"/>
                <a:cs typeface="Plus Jakarta Sans"/>
                <a:sym typeface="Plus Jakarta Sans"/>
              </a:rPr>
              <a:t>BEST PRACTICES:</a:t>
            </a:r>
            <a:endParaRPr/>
          </a:p>
        </p:txBody>
      </p:sp>
      <p:sp>
        <p:nvSpPr>
          <p:cNvPr id="822" name="Google Shape;822;p29"/>
          <p:cNvSpPr txBox="1"/>
          <p:nvPr/>
        </p:nvSpPr>
        <p:spPr>
          <a:xfrm>
            <a:off x="800100" y="3170634"/>
            <a:ext cx="5967300" cy="1617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Devin operates inside a </a:t>
            </a:r>
            <a:r>
              <a:rPr b="1" i="0" lang="en-US" sz="1050" u="none" cap="none" strike="noStrike">
                <a:solidFill>
                  <a:srgbClr val="334155"/>
                </a:solidFill>
                <a:latin typeface="Plus Jakarta Sans"/>
                <a:ea typeface="Plus Jakarta Sans"/>
                <a:cs typeface="Plus Jakarta Sans"/>
                <a:sym typeface="Plus Jakarta Sans"/>
              </a:rPr>
              <a:t>Linux-based VM (Ubuntu 22.04 x86_64)</a:t>
            </a:r>
            <a:endParaRPr/>
          </a:p>
        </p:txBody>
      </p:sp>
      <p:sp>
        <p:nvSpPr>
          <p:cNvPr id="823" name="Google Shape;823;p29"/>
          <p:cNvSpPr txBox="1"/>
          <p:nvPr/>
        </p:nvSpPr>
        <p:spPr>
          <a:xfrm>
            <a:off x="800100" y="3433464"/>
            <a:ext cx="5967300" cy="1617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The environment is saved as a </a:t>
            </a:r>
            <a:r>
              <a:rPr b="1" i="0" lang="en-US" sz="1050" u="none" cap="none" strike="noStrike">
                <a:solidFill>
                  <a:srgbClr val="334155"/>
                </a:solidFill>
                <a:latin typeface="Plus Jakarta Sans"/>
                <a:ea typeface="Plus Jakarta Sans"/>
                <a:cs typeface="Plus Jakarta Sans"/>
                <a:sym typeface="Plus Jakarta Sans"/>
              </a:rPr>
              <a:t>snapshot</a:t>
            </a:r>
            <a:r>
              <a:rPr b="0" i="0" lang="en-US" sz="1050" u="none" cap="none" strike="noStrike">
                <a:solidFill>
                  <a:srgbClr val="334155"/>
                </a:solidFill>
                <a:latin typeface="Plus Jakarta Sans"/>
                <a:ea typeface="Plus Jakarta Sans"/>
                <a:cs typeface="Plus Jakarta Sans"/>
                <a:sym typeface="Plus Jakarta Sans"/>
              </a:rPr>
              <a:t> — a frozen, bootable image</a:t>
            </a:r>
            <a:endParaRPr/>
          </a:p>
        </p:txBody>
      </p:sp>
      <p:sp>
        <p:nvSpPr>
          <p:cNvPr id="824" name="Google Shape;824;p29"/>
          <p:cNvSpPr txBox="1"/>
          <p:nvPr/>
        </p:nvSpPr>
        <p:spPr>
          <a:xfrm>
            <a:off x="800100" y="3696295"/>
            <a:ext cx="5967300" cy="1617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Every session boots from the same snapshot; session changes do not persist back</a:t>
            </a:r>
            <a:endParaRPr/>
          </a:p>
        </p:txBody>
      </p:sp>
      <p:sp>
        <p:nvSpPr>
          <p:cNvPr id="825" name="Google Shape;825;p29"/>
          <p:cNvSpPr txBox="1"/>
          <p:nvPr/>
        </p:nvSpPr>
        <p:spPr>
          <a:xfrm>
            <a:off x="800100" y="3959125"/>
            <a:ext cx="5967300" cy="1617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Configuration is defined via </a:t>
            </a:r>
            <a:r>
              <a:rPr b="1" i="0" lang="en-US" sz="1050" u="none" cap="none" strike="noStrike">
                <a:solidFill>
                  <a:srgbClr val="334155"/>
                </a:solidFill>
                <a:latin typeface="Plus Jakarta Sans"/>
                <a:ea typeface="Plus Jakarta Sans"/>
                <a:cs typeface="Plus Jakarta Sans"/>
                <a:sym typeface="Plus Jakarta Sans"/>
              </a:rPr>
              <a:t>declarative blueprints</a:t>
            </a:r>
            <a:r>
              <a:rPr b="0" i="0" lang="en-US" sz="1050" u="none" cap="none" strike="noStrike">
                <a:solidFill>
                  <a:srgbClr val="334155"/>
                </a:solidFill>
                <a:latin typeface="Plus Jakarta Sans"/>
                <a:ea typeface="Plus Jakarta Sans"/>
                <a:cs typeface="Plus Jakarta Sans"/>
                <a:sym typeface="Plus Jakarta Sans"/>
              </a:rPr>
              <a:t> (YAML) or an interactive wizard</a:t>
            </a:r>
            <a:endParaRPr/>
          </a:p>
        </p:txBody>
      </p:sp>
      <p:sp>
        <p:nvSpPr>
          <p:cNvPr id="826" name="Google Shape;826;p29"/>
          <p:cNvSpPr txBox="1"/>
          <p:nvPr/>
        </p:nvSpPr>
        <p:spPr>
          <a:xfrm>
            <a:off x="800100" y="4221956"/>
            <a:ext cx="5967300" cy="3879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The </a:t>
            </a:r>
            <a:r>
              <a:rPr b="1" i="0" lang="en-US" sz="1050" u="none" cap="none" strike="noStrike">
                <a:solidFill>
                  <a:srgbClr val="334155"/>
                </a:solidFill>
                <a:latin typeface="Plus Jakarta Sans"/>
                <a:ea typeface="Plus Jakarta Sans"/>
                <a:cs typeface="Plus Jakarta Sans"/>
                <a:sym typeface="Plus Jakarta Sans"/>
              </a:rPr>
              <a:t>blueprint hierarchy</a:t>
            </a:r>
            <a:r>
              <a:rPr b="0" i="0" lang="en-US" sz="1050" u="none" cap="none" strike="noStrike">
                <a:solidFill>
                  <a:srgbClr val="334155"/>
                </a:solidFill>
                <a:latin typeface="Plus Jakarta Sans"/>
                <a:ea typeface="Plus Jakarta Sans"/>
                <a:cs typeface="Plus Jakarta Sans"/>
                <a:sym typeface="Plus Jakarta Sans"/>
              </a:rPr>
              <a:t> is three-tiered: Enterprise → Organization → Repository (additive, not replacing)</a:t>
            </a:r>
            <a:endParaRPr/>
          </a:p>
        </p:txBody>
      </p:sp>
      <p:pic>
        <p:nvPicPr>
          <p:cNvPr descr="image.png" id="827" name="Google Shape;827;p29"/>
          <p:cNvPicPr preferRelativeResize="0"/>
          <p:nvPr/>
        </p:nvPicPr>
        <p:blipFill rotWithShape="1">
          <a:blip r:embed="rId10">
            <a:alphaModFix/>
          </a:blip>
          <a:srcRect b="0" l="0" r="0" t="0"/>
          <a:stretch/>
        </p:blipFill>
        <p:spPr>
          <a:xfrm>
            <a:off x="8344495" y="1637258"/>
            <a:ext cx="133350" cy="104775"/>
          </a:xfrm>
          <a:prstGeom prst="rect">
            <a:avLst/>
          </a:prstGeom>
          <a:noFill/>
          <a:ln>
            <a:noFill/>
          </a:ln>
        </p:spPr>
      </p:pic>
      <p:sp>
        <p:nvSpPr>
          <p:cNvPr id="828" name="Google Shape;828;p29"/>
          <p:cNvSpPr txBox="1"/>
          <p:nvPr/>
        </p:nvSpPr>
        <p:spPr>
          <a:xfrm>
            <a:off x="7234238" y="3943350"/>
            <a:ext cx="4338600" cy="3231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i="0" lang="en-US" sz="1050">
                <a:solidFill>
                  <a:srgbClr val="334155"/>
                </a:solidFill>
                <a:latin typeface="Plus Jakarta Sans"/>
                <a:ea typeface="Plus Jakarta Sans"/>
                <a:cs typeface="Plus Jakarta Sans"/>
                <a:sym typeface="Plus Jakarta Sans"/>
              </a:rPr>
              <a:t>Invest in environment setup before anything else — it is the highest-leverage action</a:t>
            </a:r>
            <a:endParaRPr b="0" i="0" sz="1050">
              <a:solidFill>
                <a:srgbClr val="334155"/>
              </a:solidFill>
              <a:latin typeface="Plus Jakarta Sans"/>
              <a:ea typeface="Plus Jakarta Sans"/>
              <a:cs typeface="Plus Jakarta Sans"/>
              <a:sym typeface="Plus Jakarta Sans"/>
            </a:endParaRPr>
          </a:p>
        </p:txBody>
      </p:sp>
      <p:sp>
        <p:nvSpPr>
          <p:cNvPr id="829" name="Google Shape;829;p29"/>
          <p:cNvSpPr txBox="1"/>
          <p:nvPr/>
        </p:nvSpPr>
        <p:spPr>
          <a:xfrm>
            <a:off x="7234238" y="4381500"/>
            <a:ext cx="4338600" cy="1494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i="0" lang="en-US" sz="971">
                <a:solidFill>
                  <a:srgbClr val="334155"/>
                </a:solidFill>
                <a:latin typeface="Plus Jakarta Sans"/>
                <a:ea typeface="Plus Jakarta Sans"/>
                <a:cs typeface="Plus Jakarta Sans"/>
                <a:sym typeface="Plus Jakarta Sans"/>
              </a:rPr>
              <a:t>Use declarative blueprints (YAML) for version control and reproducibility</a:t>
            </a:r>
            <a:endParaRPr b="0" i="0" sz="971">
              <a:solidFill>
                <a:srgbClr val="334155"/>
              </a:solidFill>
              <a:latin typeface="Plus Jakarta Sans"/>
              <a:ea typeface="Plus Jakarta Sans"/>
              <a:cs typeface="Plus Jakarta Sans"/>
              <a:sym typeface="Plus Jakarta Sans"/>
            </a:endParaRPr>
          </a:p>
        </p:txBody>
      </p:sp>
      <p:sp>
        <p:nvSpPr>
          <p:cNvPr id="830" name="Google Shape;830;p29"/>
          <p:cNvSpPr txBox="1"/>
          <p:nvPr/>
        </p:nvSpPr>
        <p:spPr>
          <a:xfrm>
            <a:off x="7234238" y="4819650"/>
            <a:ext cx="4338600" cy="1494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i="0" lang="en-US" sz="971">
                <a:solidFill>
                  <a:srgbClr val="334155"/>
                </a:solidFill>
                <a:latin typeface="Plus Jakarta Sans"/>
                <a:ea typeface="Plus Jakarta Sans"/>
                <a:cs typeface="Plus Jakarta Sans"/>
                <a:sym typeface="Plus Jakarta Sans"/>
              </a:rPr>
              <a:t>Use the Enterprise Blueprint for company-wide toolchain standardization</a:t>
            </a:r>
            <a:endParaRPr b="0" i="0" sz="971">
              <a:solidFill>
                <a:srgbClr val="334155"/>
              </a:solidFill>
              <a:latin typeface="Plus Jakarta Sans"/>
              <a:ea typeface="Plus Jakarta Sans"/>
              <a:cs typeface="Plus Jakarta Sans"/>
              <a:sym typeface="Plus Jakarta Sans"/>
            </a:endParaRPr>
          </a:p>
        </p:txBody>
      </p:sp>
      <p:sp>
        <p:nvSpPr>
          <p:cNvPr id="831" name="Google Shape;831;p29"/>
          <p:cNvSpPr txBox="1"/>
          <p:nvPr/>
        </p:nvSpPr>
        <p:spPr>
          <a:xfrm>
            <a:off x="7234238" y="5257800"/>
            <a:ext cx="4338600" cy="1617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i="0" lang="en-US" sz="1050">
                <a:solidFill>
                  <a:srgbClr val="334155"/>
                </a:solidFill>
                <a:latin typeface="Plus Jakarta Sans"/>
                <a:ea typeface="Plus Jakarta Sans"/>
                <a:cs typeface="Plus Jakarta Sans"/>
                <a:sym typeface="Plus Jakarta Sans"/>
              </a:rPr>
              <a:t>Store secrets in the Secrets dashboard, not in blueprints</a:t>
            </a:r>
            <a:endParaRPr b="0" i="0" sz="1050">
              <a:solidFill>
                <a:srgbClr val="334155"/>
              </a:solidFill>
              <a:latin typeface="Plus Jakarta Sans"/>
              <a:ea typeface="Plus Jakarta Sans"/>
              <a:cs typeface="Plus Jakarta Sans"/>
              <a:sym typeface="Plus Jakarta Sans"/>
            </a:endParaRPr>
          </a:p>
        </p:txBody>
      </p:sp>
      <p:sp>
        <p:nvSpPr>
          <p:cNvPr id="832" name="Google Shape;832;p29"/>
          <p:cNvSpPr txBox="1"/>
          <p:nvPr/>
        </p:nvSpPr>
        <p:spPr>
          <a:xfrm>
            <a:off x="7234238" y="5619750"/>
            <a:ext cx="4338600" cy="1617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i="0" lang="en-US" sz="1050">
                <a:solidFill>
                  <a:srgbClr val="334155"/>
                </a:solidFill>
                <a:latin typeface="Plus Jakarta Sans"/>
                <a:ea typeface="Plus Jakarta Sans"/>
                <a:cs typeface="Plus Jakarta Sans"/>
                <a:sym typeface="Plus Jakarta Sans"/>
              </a:rPr>
              <a:t>Use `direnv` for per-repo environment variable management</a:t>
            </a:r>
            <a:endParaRPr b="0" i="0" sz="1050">
              <a:solidFill>
                <a:srgbClr val="334155"/>
              </a:solidFill>
              <a:latin typeface="Plus Jakarta Sans"/>
              <a:ea typeface="Plus Jakarta Sans"/>
              <a:cs typeface="Plus Jakarta Sans"/>
              <a:sym typeface="Plus Jakarta Sans"/>
            </a:endParaRPr>
          </a:p>
        </p:txBody>
      </p:sp>
      <p:sp>
        <p:nvSpPr>
          <p:cNvPr id="833" name="Google Shape;833;p29"/>
          <p:cNvSpPr txBox="1"/>
          <p:nvPr/>
        </p:nvSpPr>
        <p:spPr>
          <a:xfrm>
            <a:off x="7234238" y="5943600"/>
            <a:ext cx="4338600" cy="3231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i="0" lang="en-US" sz="1050">
                <a:solidFill>
                  <a:srgbClr val="334155"/>
                </a:solidFill>
                <a:latin typeface="Plus Jakarta Sans"/>
                <a:ea typeface="Plus Jakarta Sans"/>
                <a:cs typeface="Plus Jakarta Sans"/>
                <a:sym typeface="Plus Jakarta Sans"/>
              </a:rPr>
              <a:t>Maintain snapshot version history — roll back if a setup change breaks things</a:t>
            </a:r>
            <a:endParaRPr b="0" i="0" sz="1050">
              <a:solidFill>
                <a:srgbClr val="334155"/>
              </a:solidFill>
              <a:latin typeface="Plus Jakarta Sans"/>
              <a:ea typeface="Plus Jakarta Sans"/>
              <a:cs typeface="Plus Jakarta Sans"/>
              <a:sym typeface="Plus Jakarta Sans"/>
            </a:endParaRPr>
          </a:p>
        </p:txBody>
      </p:sp>
      <p:sp>
        <p:nvSpPr>
          <p:cNvPr id="834" name="Google Shape;834;p29"/>
          <p:cNvSpPr txBox="1"/>
          <p:nvPr/>
        </p:nvSpPr>
        <p:spPr>
          <a:xfrm>
            <a:off x="571500" y="5465712"/>
            <a:ext cx="3060000" cy="109500"/>
          </a:xfrm>
          <a:prstGeom prst="rect">
            <a:avLst/>
          </a:prstGeom>
          <a:noFill/>
          <a:ln>
            <a:noFill/>
          </a:ln>
        </p:spPr>
        <p:txBody>
          <a:bodyPr anchorCtr="0" anchor="t" bIns="0" lIns="0" spcFirstLastPara="1" rIns="0" wrap="square" tIns="0">
            <a:spAutoFit/>
          </a:bodyPr>
          <a:lstStyle/>
          <a:p>
            <a:pPr indent="0" lvl="0" marL="0" marR="0" rtl="0" algn="l">
              <a:lnSpc>
                <a:spcPct val="145084"/>
              </a:lnSpc>
              <a:spcBef>
                <a:spcPts val="0"/>
              </a:spcBef>
              <a:spcAft>
                <a:spcPts val="0"/>
              </a:spcAft>
              <a:buNone/>
            </a:pPr>
            <a:r>
              <a:rPr b="1" i="0" lang="en-US" sz="712" u="none" cap="none" strike="noStrike">
                <a:solidFill>
                  <a:srgbClr val="0D9488"/>
                </a:solidFill>
                <a:latin typeface="Plus Jakarta Sans"/>
                <a:ea typeface="Plus Jakarta Sans"/>
                <a:cs typeface="Plus Jakarta Sans"/>
                <a:sym typeface="Plus Jakarta Sans"/>
              </a:rPr>
              <a:t>ADVANTAGES:</a:t>
            </a:r>
            <a:endParaRPr/>
          </a:p>
        </p:txBody>
      </p:sp>
      <p:sp>
        <p:nvSpPr>
          <p:cNvPr id="835" name="Google Shape;835;p29"/>
          <p:cNvSpPr txBox="1"/>
          <p:nvPr/>
        </p:nvSpPr>
        <p:spPr>
          <a:xfrm>
            <a:off x="571500" y="5615880"/>
            <a:ext cx="3060000" cy="282900"/>
          </a:xfrm>
          <a:prstGeom prst="rect">
            <a:avLst/>
          </a:prstGeom>
          <a:noFill/>
          <a:ln>
            <a:noFill/>
          </a:ln>
        </p:spPr>
        <p:txBody>
          <a:bodyPr anchorCtr="0" anchor="t" bIns="0" lIns="0" spcFirstLastPara="1" rIns="0" wrap="square" tIns="0">
            <a:spAutoFit/>
          </a:bodyPr>
          <a:lstStyle/>
          <a:p>
            <a:pPr indent="0" lvl="0" marL="0" marR="0" rtl="0" algn="l">
              <a:lnSpc>
                <a:spcPct val="144933"/>
              </a:lnSpc>
              <a:spcBef>
                <a:spcPts val="0"/>
              </a:spcBef>
              <a:spcAft>
                <a:spcPts val="0"/>
              </a:spcAft>
              <a:buNone/>
            </a:pPr>
            <a:r>
              <a:rPr b="0" i="0" lang="en-US" sz="750" u="none" cap="none" strike="noStrike">
                <a:solidFill>
                  <a:srgbClr val="334155"/>
                </a:solidFill>
                <a:latin typeface="Plus Jakarta Sans"/>
                <a:ea typeface="Plus Jakarta Sans"/>
                <a:cs typeface="Plus Jakarta Sans"/>
                <a:sym typeface="Plus Jakarta Sans"/>
              </a:rPr>
              <a:t>Reproducible; YAML blueprints; custom enterprise hierarchy; snapshot version history rollbacks</a:t>
            </a:r>
            <a:endParaRPr/>
          </a:p>
        </p:txBody>
      </p:sp>
      <p:sp>
        <p:nvSpPr>
          <p:cNvPr id="836" name="Google Shape;836;p29"/>
          <p:cNvSpPr txBox="1"/>
          <p:nvPr/>
        </p:nvSpPr>
        <p:spPr>
          <a:xfrm>
            <a:off x="3707606" y="5465712"/>
            <a:ext cx="3060000" cy="109500"/>
          </a:xfrm>
          <a:prstGeom prst="rect">
            <a:avLst/>
          </a:prstGeom>
          <a:noFill/>
          <a:ln>
            <a:noFill/>
          </a:ln>
        </p:spPr>
        <p:txBody>
          <a:bodyPr anchorCtr="0" anchor="t" bIns="0" lIns="0" spcFirstLastPara="1" rIns="0" wrap="square" tIns="0">
            <a:spAutoFit/>
          </a:bodyPr>
          <a:lstStyle/>
          <a:p>
            <a:pPr indent="0" lvl="0" marL="0" marR="0" rtl="0" algn="l">
              <a:lnSpc>
                <a:spcPct val="145084"/>
              </a:lnSpc>
              <a:spcBef>
                <a:spcPts val="0"/>
              </a:spcBef>
              <a:spcAft>
                <a:spcPts val="0"/>
              </a:spcAft>
              <a:buNone/>
            </a:pPr>
            <a:r>
              <a:rPr b="1" i="0" lang="en-US" sz="712" u="none" cap="none" strike="noStrike">
                <a:solidFill>
                  <a:srgbClr val="EF4444"/>
                </a:solidFill>
                <a:latin typeface="Plus Jakarta Sans"/>
                <a:ea typeface="Plus Jakarta Sans"/>
                <a:cs typeface="Plus Jakarta Sans"/>
                <a:sym typeface="Plus Jakarta Sans"/>
              </a:rPr>
              <a:t>LIMITATIONS:</a:t>
            </a:r>
            <a:endParaRPr/>
          </a:p>
        </p:txBody>
      </p:sp>
      <p:sp>
        <p:nvSpPr>
          <p:cNvPr id="837" name="Google Shape;837;p29"/>
          <p:cNvSpPr txBox="1"/>
          <p:nvPr/>
        </p:nvSpPr>
        <p:spPr>
          <a:xfrm>
            <a:off x="3707606" y="5615880"/>
            <a:ext cx="3060000" cy="282900"/>
          </a:xfrm>
          <a:prstGeom prst="rect">
            <a:avLst/>
          </a:prstGeom>
          <a:noFill/>
          <a:ln>
            <a:noFill/>
          </a:ln>
        </p:spPr>
        <p:txBody>
          <a:bodyPr anchorCtr="0" anchor="t" bIns="0" lIns="0" spcFirstLastPara="1" rIns="0" wrap="square" tIns="0">
            <a:spAutoFit/>
          </a:bodyPr>
          <a:lstStyle/>
          <a:p>
            <a:pPr indent="0" lvl="0" marL="0" marR="0" rtl="0" algn="l">
              <a:lnSpc>
                <a:spcPct val="144933"/>
              </a:lnSpc>
              <a:spcBef>
                <a:spcPts val="0"/>
              </a:spcBef>
              <a:spcAft>
                <a:spcPts val="0"/>
              </a:spcAft>
              <a:buNone/>
            </a:pPr>
            <a:r>
              <a:rPr b="0" i="0" lang="en-US" sz="750" u="none" cap="none" strike="noStrike">
                <a:solidFill>
                  <a:srgbClr val="334155"/>
                </a:solidFill>
                <a:latin typeface="Plus Jakarta Sans"/>
                <a:ea typeface="Plus Jakarta Sans"/>
                <a:cs typeface="Plus Jakarta Sans"/>
                <a:sym typeface="Plus Jakarta Sans"/>
              </a:rPr>
              <a:t>One active snapshot per organization; environment change requires rebuild</a:t>
            </a:r>
            <a:endParaRPr/>
          </a:p>
        </p:txBody>
      </p:sp>
      <p:sp>
        <p:nvSpPr>
          <p:cNvPr id="838" name="Google Shape;838;p29"/>
          <p:cNvSpPr txBox="1"/>
          <p:nvPr/>
        </p:nvSpPr>
        <p:spPr>
          <a:xfrm>
            <a:off x="7129462" y="1896963"/>
            <a:ext cx="57300" cy="115500"/>
          </a:xfrm>
          <a:prstGeom prst="rect">
            <a:avLst/>
          </a:prstGeom>
          <a:noFill/>
          <a:ln>
            <a:noFill/>
          </a:ln>
        </p:spPr>
        <p:txBody>
          <a:bodyPr anchorCtr="0" anchor="t" bIns="0" lIns="0" spcFirstLastPara="1" rIns="0" wrap="square" tIns="0">
            <a:spAutoFit/>
          </a:bodyPr>
          <a:lstStyle/>
          <a:p>
            <a:pPr indent="0" lvl="0" marL="0" marR="0" rtl="0" algn="l">
              <a:lnSpc>
                <a:spcPct val="134933"/>
              </a:lnSpc>
              <a:spcBef>
                <a:spcPts val="0"/>
              </a:spcBef>
              <a:spcAft>
                <a:spcPts val="0"/>
              </a:spcAft>
              <a:buNone/>
            </a:pPr>
            <a:r>
              <a:rPr b="1" i="0" lang="en-US" sz="750" u="none" cap="none" strike="noStrike">
                <a:solidFill>
                  <a:srgbClr val="2563EB"/>
                </a:solidFill>
                <a:latin typeface="JetBrains Mono"/>
                <a:ea typeface="JetBrains Mono"/>
                <a:cs typeface="JetBrains Mono"/>
                <a:sym typeface="JetBrains Mono"/>
              </a:rPr>
              <a:t>1</a:t>
            </a:r>
            <a:endParaRPr/>
          </a:p>
        </p:txBody>
      </p:sp>
      <p:sp>
        <p:nvSpPr>
          <p:cNvPr id="839" name="Google Shape;839;p29"/>
          <p:cNvSpPr txBox="1"/>
          <p:nvPr/>
        </p:nvSpPr>
        <p:spPr>
          <a:xfrm>
            <a:off x="7262961" y="1893837"/>
            <a:ext cx="1122900" cy="284700"/>
          </a:xfrm>
          <a:prstGeom prst="rect">
            <a:avLst/>
          </a:prstGeom>
          <a:noFill/>
          <a:ln>
            <a:noFill/>
          </a:ln>
        </p:spPr>
        <p:txBody>
          <a:bodyPr anchorCtr="0" anchor="t" bIns="0" lIns="0" spcFirstLastPara="1" rIns="0" wrap="square" tIns="0">
            <a:spAutoFit/>
          </a:bodyPr>
          <a:lstStyle/>
          <a:p>
            <a:pPr indent="0" lvl="0" marL="0" marR="0" rtl="0" algn="l">
              <a:lnSpc>
                <a:spcPct val="135069"/>
              </a:lnSpc>
              <a:spcBef>
                <a:spcPts val="0"/>
              </a:spcBef>
              <a:spcAft>
                <a:spcPts val="0"/>
              </a:spcAft>
              <a:buNone/>
            </a:pPr>
            <a:r>
              <a:rPr b="0" i="0" lang="en-US" sz="787" u="none" cap="none" strike="noStrike">
                <a:solidFill>
                  <a:srgbClr val="0F172A"/>
                </a:solidFill>
                <a:latin typeface="Plus Jakarta Sans"/>
                <a:ea typeface="Plus Jakarta Sans"/>
                <a:cs typeface="Plus Jakarta Sans"/>
                <a:sym typeface="Plus Jakarta Sans"/>
              </a:rPr>
              <a:t>Git Pull (Session Startup)</a:t>
            </a:r>
            <a:endParaRPr/>
          </a:p>
        </p:txBody>
      </p:sp>
      <p:sp>
        <p:nvSpPr>
          <p:cNvPr id="840" name="Google Shape;840;p29"/>
          <p:cNvSpPr txBox="1"/>
          <p:nvPr/>
        </p:nvSpPr>
        <p:spPr>
          <a:xfrm>
            <a:off x="7129462" y="2212925"/>
            <a:ext cx="57300" cy="115500"/>
          </a:xfrm>
          <a:prstGeom prst="rect">
            <a:avLst/>
          </a:prstGeom>
          <a:noFill/>
          <a:ln>
            <a:noFill/>
          </a:ln>
        </p:spPr>
        <p:txBody>
          <a:bodyPr anchorCtr="0" anchor="t" bIns="0" lIns="0" spcFirstLastPara="1" rIns="0" wrap="square" tIns="0">
            <a:spAutoFit/>
          </a:bodyPr>
          <a:lstStyle/>
          <a:p>
            <a:pPr indent="0" lvl="0" marL="0" marR="0" rtl="0" algn="l">
              <a:lnSpc>
                <a:spcPct val="134933"/>
              </a:lnSpc>
              <a:spcBef>
                <a:spcPts val="0"/>
              </a:spcBef>
              <a:spcAft>
                <a:spcPts val="0"/>
              </a:spcAft>
              <a:buNone/>
            </a:pPr>
            <a:r>
              <a:rPr b="1" i="0" lang="en-US" sz="750" u="none" cap="none" strike="noStrike">
                <a:solidFill>
                  <a:srgbClr val="2563EB"/>
                </a:solidFill>
                <a:latin typeface="JetBrains Mono"/>
                <a:ea typeface="JetBrains Mono"/>
                <a:cs typeface="JetBrains Mono"/>
                <a:sym typeface="JetBrains Mono"/>
              </a:rPr>
              <a:t>2</a:t>
            </a:r>
            <a:endParaRPr/>
          </a:p>
        </p:txBody>
      </p:sp>
      <p:sp>
        <p:nvSpPr>
          <p:cNvPr id="841" name="Google Shape;841;p29"/>
          <p:cNvSpPr txBox="1"/>
          <p:nvPr/>
        </p:nvSpPr>
        <p:spPr>
          <a:xfrm>
            <a:off x="7262961" y="2209800"/>
            <a:ext cx="800400" cy="284700"/>
          </a:xfrm>
          <a:prstGeom prst="rect">
            <a:avLst/>
          </a:prstGeom>
          <a:noFill/>
          <a:ln>
            <a:noFill/>
          </a:ln>
        </p:spPr>
        <p:txBody>
          <a:bodyPr anchorCtr="0" anchor="t" bIns="0" lIns="0" spcFirstLastPara="1" rIns="0" wrap="square" tIns="0">
            <a:spAutoFit/>
          </a:bodyPr>
          <a:lstStyle/>
          <a:p>
            <a:pPr indent="0" lvl="0" marL="0" marR="0" rtl="0" algn="l">
              <a:lnSpc>
                <a:spcPct val="135069"/>
              </a:lnSpc>
              <a:spcBef>
                <a:spcPts val="0"/>
              </a:spcBef>
              <a:spcAft>
                <a:spcPts val="0"/>
              </a:spcAft>
              <a:buNone/>
            </a:pPr>
            <a:r>
              <a:rPr b="0" i="0" lang="en-US" sz="787" u="none" cap="none" strike="noStrike">
                <a:solidFill>
                  <a:srgbClr val="0F172A"/>
                </a:solidFill>
                <a:latin typeface="Plus Jakarta Sans"/>
                <a:ea typeface="Plus Jakarta Sans"/>
                <a:cs typeface="Plus Jakarta Sans"/>
                <a:sym typeface="Plus Jakarta Sans"/>
              </a:rPr>
              <a:t>Configure Secrets</a:t>
            </a:r>
            <a:endParaRPr/>
          </a:p>
        </p:txBody>
      </p:sp>
      <p:sp>
        <p:nvSpPr>
          <p:cNvPr id="842" name="Google Shape;842;p29"/>
          <p:cNvSpPr txBox="1"/>
          <p:nvPr/>
        </p:nvSpPr>
        <p:spPr>
          <a:xfrm>
            <a:off x="7129462" y="2528887"/>
            <a:ext cx="57300" cy="115500"/>
          </a:xfrm>
          <a:prstGeom prst="rect">
            <a:avLst/>
          </a:prstGeom>
          <a:noFill/>
          <a:ln>
            <a:noFill/>
          </a:ln>
        </p:spPr>
        <p:txBody>
          <a:bodyPr anchorCtr="0" anchor="t" bIns="0" lIns="0" spcFirstLastPara="1" rIns="0" wrap="square" tIns="0">
            <a:spAutoFit/>
          </a:bodyPr>
          <a:lstStyle/>
          <a:p>
            <a:pPr indent="0" lvl="0" marL="0" marR="0" rtl="0" algn="l">
              <a:lnSpc>
                <a:spcPct val="134933"/>
              </a:lnSpc>
              <a:spcBef>
                <a:spcPts val="0"/>
              </a:spcBef>
              <a:spcAft>
                <a:spcPts val="0"/>
              </a:spcAft>
              <a:buNone/>
            </a:pPr>
            <a:r>
              <a:rPr b="1" i="0" lang="en-US" sz="750" u="none" cap="none" strike="noStrike">
                <a:solidFill>
                  <a:srgbClr val="2563EB"/>
                </a:solidFill>
                <a:latin typeface="JetBrains Mono"/>
                <a:ea typeface="JetBrains Mono"/>
                <a:cs typeface="JetBrains Mono"/>
                <a:sym typeface="JetBrains Mono"/>
              </a:rPr>
              <a:t>3</a:t>
            </a:r>
            <a:endParaRPr/>
          </a:p>
        </p:txBody>
      </p:sp>
      <p:sp>
        <p:nvSpPr>
          <p:cNvPr id="843" name="Google Shape;843;p29"/>
          <p:cNvSpPr txBox="1"/>
          <p:nvPr/>
        </p:nvSpPr>
        <p:spPr>
          <a:xfrm>
            <a:off x="7262961" y="2525762"/>
            <a:ext cx="1868100" cy="284700"/>
          </a:xfrm>
          <a:prstGeom prst="rect">
            <a:avLst/>
          </a:prstGeom>
          <a:noFill/>
          <a:ln>
            <a:noFill/>
          </a:ln>
        </p:spPr>
        <p:txBody>
          <a:bodyPr anchorCtr="0" anchor="t" bIns="0" lIns="0" spcFirstLastPara="1" rIns="0" wrap="square" tIns="0">
            <a:spAutoFit/>
          </a:bodyPr>
          <a:lstStyle/>
          <a:p>
            <a:pPr indent="0" lvl="0" marL="0" marR="0" rtl="0" algn="l">
              <a:lnSpc>
                <a:spcPct val="135069"/>
              </a:lnSpc>
              <a:spcBef>
                <a:spcPts val="0"/>
              </a:spcBef>
              <a:spcAft>
                <a:spcPts val="0"/>
              </a:spcAft>
              <a:buNone/>
            </a:pPr>
            <a:r>
              <a:rPr b="0" i="0" lang="en-US" sz="787" u="none" cap="none" strike="noStrike">
                <a:solidFill>
                  <a:srgbClr val="0F172A"/>
                </a:solidFill>
                <a:latin typeface="Plus Jakarta Sans"/>
                <a:ea typeface="Plus Jakarta Sans"/>
                <a:cs typeface="Plus Jakarta Sans"/>
                <a:sym typeface="Plus Jakarta Sans"/>
              </a:rPr>
              <a:t>Install Dependencies (Once, during setup)</a:t>
            </a:r>
            <a:endParaRPr/>
          </a:p>
        </p:txBody>
      </p:sp>
      <p:sp>
        <p:nvSpPr>
          <p:cNvPr id="844" name="Google Shape;844;p29"/>
          <p:cNvSpPr txBox="1"/>
          <p:nvPr/>
        </p:nvSpPr>
        <p:spPr>
          <a:xfrm>
            <a:off x="7129462" y="2844849"/>
            <a:ext cx="57300" cy="115500"/>
          </a:xfrm>
          <a:prstGeom prst="rect">
            <a:avLst/>
          </a:prstGeom>
          <a:noFill/>
          <a:ln>
            <a:noFill/>
          </a:ln>
        </p:spPr>
        <p:txBody>
          <a:bodyPr anchorCtr="0" anchor="t" bIns="0" lIns="0" spcFirstLastPara="1" rIns="0" wrap="square" tIns="0">
            <a:spAutoFit/>
          </a:bodyPr>
          <a:lstStyle/>
          <a:p>
            <a:pPr indent="0" lvl="0" marL="0" marR="0" rtl="0" algn="l">
              <a:lnSpc>
                <a:spcPct val="134933"/>
              </a:lnSpc>
              <a:spcBef>
                <a:spcPts val="0"/>
              </a:spcBef>
              <a:spcAft>
                <a:spcPts val="0"/>
              </a:spcAft>
              <a:buNone/>
            </a:pPr>
            <a:r>
              <a:rPr b="1" i="0" lang="en-US" sz="750" u="none" cap="none" strike="noStrike">
                <a:solidFill>
                  <a:srgbClr val="2563EB"/>
                </a:solidFill>
                <a:latin typeface="JetBrains Mono"/>
                <a:ea typeface="JetBrains Mono"/>
                <a:cs typeface="JetBrains Mono"/>
                <a:sym typeface="JetBrains Mono"/>
              </a:rPr>
              <a:t>4</a:t>
            </a:r>
            <a:endParaRPr/>
          </a:p>
        </p:txBody>
      </p:sp>
      <p:sp>
        <p:nvSpPr>
          <p:cNvPr id="845" name="Google Shape;845;p29"/>
          <p:cNvSpPr txBox="1"/>
          <p:nvPr/>
        </p:nvSpPr>
        <p:spPr>
          <a:xfrm>
            <a:off x="7262961" y="2841724"/>
            <a:ext cx="2001300" cy="284700"/>
          </a:xfrm>
          <a:prstGeom prst="rect">
            <a:avLst/>
          </a:prstGeom>
          <a:noFill/>
          <a:ln>
            <a:noFill/>
          </a:ln>
        </p:spPr>
        <p:txBody>
          <a:bodyPr anchorCtr="0" anchor="t" bIns="0" lIns="0" spcFirstLastPara="1" rIns="0" wrap="square" tIns="0">
            <a:spAutoFit/>
          </a:bodyPr>
          <a:lstStyle/>
          <a:p>
            <a:pPr indent="0" lvl="0" marL="0" marR="0" rtl="0" algn="l">
              <a:lnSpc>
                <a:spcPct val="135069"/>
              </a:lnSpc>
              <a:spcBef>
                <a:spcPts val="0"/>
              </a:spcBef>
              <a:spcAft>
                <a:spcPts val="0"/>
              </a:spcAft>
              <a:buNone/>
            </a:pPr>
            <a:r>
              <a:rPr b="0" i="0" lang="en-US" sz="787" u="none" cap="none" strike="noStrike">
                <a:solidFill>
                  <a:srgbClr val="0F172A"/>
                </a:solidFill>
                <a:latin typeface="Plus Jakarta Sans"/>
                <a:ea typeface="Plus Jakarta Sans"/>
                <a:cs typeface="Plus Jakarta Sans"/>
                <a:sym typeface="Plus Jakarta Sans"/>
              </a:rPr>
              <a:t>Maintain Dependencies (Session startup run)</a:t>
            </a:r>
            <a:endParaRPr/>
          </a:p>
        </p:txBody>
      </p:sp>
      <p:sp>
        <p:nvSpPr>
          <p:cNvPr id="846" name="Google Shape;846;p29"/>
          <p:cNvSpPr txBox="1"/>
          <p:nvPr/>
        </p:nvSpPr>
        <p:spPr>
          <a:xfrm>
            <a:off x="7129462" y="3160811"/>
            <a:ext cx="57300" cy="115500"/>
          </a:xfrm>
          <a:prstGeom prst="rect">
            <a:avLst/>
          </a:prstGeom>
          <a:noFill/>
          <a:ln>
            <a:noFill/>
          </a:ln>
        </p:spPr>
        <p:txBody>
          <a:bodyPr anchorCtr="0" anchor="t" bIns="0" lIns="0" spcFirstLastPara="1" rIns="0" wrap="square" tIns="0">
            <a:spAutoFit/>
          </a:bodyPr>
          <a:lstStyle/>
          <a:p>
            <a:pPr indent="0" lvl="0" marL="0" marR="0" rtl="0" algn="l">
              <a:lnSpc>
                <a:spcPct val="134933"/>
              </a:lnSpc>
              <a:spcBef>
                <a:spcPts val="0"/>
              </a:spcBef>
              <a:spcAft>
                <a:spcPts val="0"/>
              </a:spcAft>
              <a:buNone/>
            </a:pPr>
            <a:r>
              <a:rPr b="1" i="0" lang="en-US" sz="750" u="none" cap="none" strike="noStrike">
                <a:solidFill>
                  <a:srgbClr val="2563EB"/>
                </a:solidFill>
                <a:latin typeface="JetBrains Mono"/>
                <a:ea typeface="JetBrains Mono"/>
                <a:cs typeface="JetBrains Mono"/>
                <a:sym typeface="JetBrains Mono"/>
              </a:rPr>
              <a:t>5</a:t>
            </a:r>
            <a:endParaRPr/>
          </a:p>
        </p:txBody>
      </p:sp>
      <p:sp>
        <p:nvSpPr>
          <p:cNvPr id="847" name="Google Shape;847;p29"/>
          <p:cNvSpPr txBox="1"/>
          <p:nvPr/>
        </p:nvSpPr>
        <p:spPr>
          <a:xfrm>
            <a:off x="7262961" y="3157686"/>
            <a:ext cx="1089600" cy="284700"/>
          </a:xfrm>
          <a:prstGeom prst="rect">
            <a:avLst/>
          </a:prstGeom>
          <a:noFill/>
          <a:ln>
            <a:noFill/>
          </a:ln>
        </p:spPr>
        <p:txBody>
          <a:bodyPr anchorCtr="0" anchor="t" bIns="0" lIns="0" spcFirstLastPara="1" rIns="0" wrap="square" tIns="0">
            <a:spAutoFit/>
          </a:bodyPr>
          <a:lstStyle/>
          <a:p>
            <a:pPr indent="0" lvl="0" marL="0" marR="0" rtl="0" algn="l">
              <a:lnSpc>
                <a:spcPct val="135069"/>
              </a:lnSpc>
              <a:spcBef>
                <a:spcPts val="0"/>
              </a:spcBef>
              <a:spcAft>
                <a:spcPts val="0"/>
              </a:spcAft>
              <a:buNone/>
            </a:pPr>
            <a:r>
              <a:rPr b="0" i="0" lang="en-US" sz="787" u="none" cap="none" strike="noStrike">
                <a:solidFill>
                  <a:srgbClr val="0F172A"/>
                </a:solidFill>
                <a:latin typeface="Plus Jakarta Sans"/>
                <a:ea typeface="Plus Jakarta Sans"/>
                <a:cs typeface="Plus Jakarta Sans"/>
                <a:sym typeface="Plus Jakarta Sans"/>
              </a:rPr>
              <a:t>Set up Lint &amp; Verify tests</a:t>
            </a:r>
            <a:endParaRPr/>
          </a:p>
        </p:txBody>
      </p:sp>
      <p:sp>
        <p:nvSpPr>
          <p:cNvPr id="848" name="Google Shape;848;p29"/>
          <p:cNvSpPr txBox="1"/>
          <p:nvPr/>
        </p:nvSpPr>
        <p:spPr>
          <a:xfrm>
            <a:off x="7129462" y="3476773"/>
            <a:ext cx="57300" cy="115500"/>
          </a:xfrm>
          <a:prstGeom prst="rect">
            <a:avLst/>
          </a:prstGeom>
          <a:noFill/>
          <a:ln>
            <a:noFill/>
          </a:ln>
        </p:spPr>
        <p:txBody>
          <a:bodyPr anchorCtr="0" anchor="t" bIns="0" lIns="0" spcFirstLastPara="1" rIns="0" wrap="square" tIns="0">
            <a:spAutoFit/>
          </a:bodyPr>
          <a:lstStyle/>
          <a:p>
            <a:pPr indent="0" lvl="0" marL="0" marR="0" rtl="0" algn="l">
              <a:lnSpc>
                <a:spcPct val="134933"/>
              </a:lnSpc>
              <a:spcBef>
                <a:spcPts val="0"/>
              </a:spcBef>
              <a:spcAft>
                <a:spcPts val="0"/>
              </a:spcAft>
              <a:buNone/>
            </a:pPr>
            <a:r>
              <a:rPr b="1" i="0" lang="en-US" sz="750" u="none" cap="none" strike="noStrike">
                <a:solidFill>
                  <a:srgbClr val="2563EB"/>
                </a:solidFill>
                <a:latin typeface="JetBrains Mono"/>
                <a:ea typeface="JetBrains Mono"/>
                <a:cs typeface="JetBrains Mono"/>
                <a:sym typeface="JetBrains Mono"/>
              </a:rPr>
              <a:t>6</a:t>
            </a:r>
            <a:endParaRPr/>
          </a:p>
        </p:txBody>
      </p:sp>
      <p:sp>
        <p:nvSpPr>
          <p:cNvPr id="849" name="Google Shape;849;p29"/>
          <p:cNvSpPr txBox="1"/>
          <p:nvPr/>
        </p:nvSpPr>
        <p:spPr>
          <a:xfrm>
            <a:off x="7262961" y="3473648"/>
            <a:ext cx="1284300" cy="284700"/>
          </a:xfrm>
          <a:prstGeom prst="rect">
            <a:avLst/>
          </a:prstGeom>
          <a:noFill/>
          <a:ln>
            <a:noFill/>
          </a:ln>
        </p:spPr>
        <p:txBody>
          <a:bodyPr anchorCtr="0" anchor="t" bIns="0" lIns="0" spcFirstLastPara="1" rIns="0" wrap="square" tIns="0">
            <a:spAutoFit/>
          </a:bodyPr>
          <a:lstStyle/>
          <a:p>
            <a:pPr indent="0" lvl="0" marL="0" marR="0" rtl="0" algn="l">
              <a:lnSpc>
                <a:spcPct val="135069"/>
              </a:lnSpc>
              <a:spcBef>
                <a:spcPts val="0"/>
              </a:spcBef>
              <a:spcAft>
                <a:spcPts val="0"/>
              </a:spcAft>
              <a:buNone/>
            </a:pPr>
            <a:r>
              <a:rPr b="0" i="0" lang="en-US" sz="787" u="none" cap="none" strike="noStrike">
                <a:solidFill>
                  <a:srgbClr val="0F172A"/>
                </a:solidFill>
                <a:latin typeface="Plus Jakarta Sans"/>
                <a:ea typeface="Plus Jakarta Sans"/>
                <a:cs typeface="Plus Jakarta Sans"/>
                <a:sym typeface="Plus Jakarta Sans"/>
              </a:rPr>
              <a:t>Run Local App &amp; Verify Ports</a:t>
            </a:r>
            <a:endParaRPr/>
          </a:p>
        </p:txBody>
      </p:sp>
      <p:pic>
        <p:nvPicPr>
          <p:cNvPr descr="image.png" id="850" name="Google Shape;850;p29"/>
          <p:cNvPicPr preferRelativeResize="0"/>
          <p:nvPr/>
        </p:nvPicPr>
        <p:blipFill rotWithShape="1">
          <a:blip r:embed="rId11">
            <a:alphaModFix/>
          </a:blip>
          <a:srcRect b="0" l="0" r="0" t="0"/>
          <a:stretch/>
        </p:blipFill>
        <p:spPr>
          <a:xfrm>
            <a:off x="571500" y="3199209"/>
            <a:ext cx="57150" cy="85725"/>
          </a:xfrm>
          <a:prstGeom prst="rect">
            <a:avLst/>
          </a:prstGeom>
          <a:noFill/>
          <a:ln>
            <a:noFill/>
          </a:ln>
        </p:spPr>
      </p:pic>
      <p:pic>
        <p:nvPicPr>
          <p:cNvPr descr="image.png" id="851" name="Google Shape;851;p29"/>
          <p:cNvPicPr preferRelativeResize="0"/>
          <p:nvPr/>
        </p:nvPicPr>
        <p:blipFill rotWithShape="1">
          <a:blip r:embed="rId11">
            <a:alphaModFix/>
          </a:blip>
          <a:srcRect b="0" l="0" r="0" t="0"/>
          <a:stretch/>
        </p:blipFill>
        <p:spPr>
          <a:xfrm>
            <a:off x="571500" y="3462039"/>
            <a:ext cx="57150" cy="85725"/>
          </a:xfrm>
          <a:prstGeom prst="rect">
            <a:avLst/>
          </a:prstGeom>
          <a:noFill/>
          <a:ln>
            <a:noFill/>
          </a:ln>
        </p:spPr>
      </p:pic>
      <p:pic>
        <p:nvPicPr>
          <p:cNvPr descr="image.png" id="852" name="Google Shape;852;p29"/>
          <p:cNvPicPr preferRelativeResize="0"/>
          <p:nvPr/>
        </p:nvPicPr>
        <p:blipFill rotWithShape="1">
          <a:blip r:embed="rId11">
            <a:alphaModFix/>
          </a:blip>
          <a:srcRect b="0" l="0" r="0" t="0"/>
          <a:stretch/>
        </p:blipFill>
        <p:spPr>
          <a:xfrm>
            <a:off x="571500" y="3724870"/>
            <a:ext cx="57150" cy="85725"/>
          </a:xfrm>
          <a:prstGeom prst="rect">
            <a:avLst/>
          </a:prstGeom>
          <a:noFill/>
          <a:ln>
            <a:noFill/>
          </a:ln>
        </p:spPr>
      </p:pic>
      <p:pic>
        <p:nvPicPr>
          <p:cNvPr descr="image.png" id="853" name="Google Shape;853;p29"/>
          <p:cNvPicPr preferRelativeResize="0"/>
          <p:nvPr/>
        </p:nvPicPr>
        <p:blipFill rotWithShape="1">
          <a:blip r:embed="rId11">
            <a:alphaModFix/>
          </a:blip>
          <a:srcRect b="0" l="0" r="0" t="0"/>
          <a:stretch/>
        </p:blipFill>
        <p:spPr>
          <a:xfrm>
            <a:off x="571500" y="3987700"/>
            <a:ext cx="57150" cy="85725"/>
          </a:xfrm>
          <a:prstGeom prst="rect">
            <a:avLst/>
          </a:prstGeom>
          <a:noFill/>
          <a:ln>
            <a:noFill/>
          </a:ln>
        </p:spPr>
      </p:pic>
      <p:pic>
        <p:nvPicPr>
          <p:cNvPr descr="image.png" id="854" name="Google Shape;854;p29"/>
          <p:cNvPicPr preferRelativeResize="0"/>
          <p:nvPr/>
        </p:nvPicPr>
        <p:blipFill rotWithShape="1">
          <a:blip r:embed="rId11">
            <a:alphaModFix/>
          </a:blip>
          <a:srcRect b="0" l="0" r="0" t="0"/>
          <a:stretch/>
        </p:blipFill>
        <p:spPr>
          <a:xfrm>
            <a:off x="571500" y="4250531"/>
            <a:ext cx="57150" cy="85725"/>
          </a:xfrm>
          <a:prstGeom prst="rect">
            <a:avLst/>
          </a:prstGeom>
          <a:noFill/>
          <a:ln>
            <a:noFill/>
          </a:ln>
        </p:spPr>
      </p:pic>
      <p:pic>
        <p:nvPicPr>
          <p:cNvPr descr="image.png" id="855" name="Google Shape;855;p29"/>
          <p:cNvPicPr preferRelativeResize="0"/>
          <p:nvPr/>
        </p:nvPicPr>
        <p:blipFill rotWithShape="1">
          <a:blip r:embed="rId12">
            <a:alphaModFix/>
          </a:blip>
          <a:srcRect b="0" l="0" r="0" t="0"/>
          <a:stretch/>
        </p:blipFill>
        <p:spPr>
          <a:xfrm>
            <a:off x="7005638" y="3962400"/>
            <a:ext cx="133500" cy="142800"/>
          </a:xfrm>
          <a:prstGeom prst="rect">
            <a:avLst/>
          </a:prstGeom>
          <a:noFill/>
          <a:ln>
            <a:noFill/>
          </a:ln>
        </p:spPr>
      </p:pic>
      <p:pic>
        <p:nvPicPr>
          <p:cNvPr descr="image.png" id="856" name="Google Shape;856;p29"/>
          <p:cNvPicPr preferRelativeResize="0"/>
          <p:nvPr/>
        </p:nvPicPr>
        <p:blipFill rotWithShape="1">
          <a:blip r:embed="rId13">
            <a:alphaModFix/>
          </a:blip>
          <a:srcRect b="0" l="0" r="0" t="0"/>
          <a:stretch/>
        </p:blipFill>
        <p:spPr>
          <a:xfrm>
            <a:off x="7005638" y="4400550"/>
            <a:ext cx="104700" cy="142800"/>
          </a:xfrm>
          <a:prstGeom prst="rect">
            <a:avLst/>
          </a:prstGeom>
          <a:noFill/>
          <a:ln>
            <a:noFill/>
          </a:ln>
        </p:spPr>
      </p:pic>
      <p:pic>
        <p:nvPicPr>
          <p:cNvPr descr="image.png" id="857" name="Google Shape;857;p29"/>
          <p:cNvPicPr preferRelativeResize="0"/>
          <p:nvPr/>
        </p:nvPicPr>
        <p:blipFill rotWithShape="1">
          <a:blip r:embed="rId14">
            <a:alphaModFix/>
          </a:blip>
          <a:srcRect b="0" l="0" r="0" t="0"/>
          <a:stretch/>
        </p:blipFill>
        <p:spPr>
          <a:xfrm>
            <a:off x="7005638" y="4838700"/>
            <a:ext cx="171600" cy="142800"/>
          </a:xfrm>
          <a:prstGeom prst="rect">
            <a:avLst/>
          </a:prstGeom>
          <a:noFill/>
          <a:ln>
            <a:noFill/>
          </a:ln>
        </p:spPr>
      </p:pic>
      <p:pic>
        <p:nvPicPr>
          <p:cNvPr descr="image.png" id="858" name="Google Shape;858;p29"/>
          <p:cNvPicPr preferRelativeResize="0"/>
          <p:nvPr/>
        </p:nvPicPr>
        <p:blipFill rotWithShape="1">
          <a:blip r:embed="rId15">
            <a:alphaModFix/>
          </a:blip>
          <a:srcRect b="0" l="0" r="0" t="0"/>
          <a:stretch/>
        </p:blipFill>
        <p:spPr>
          <a:xfrm>
            <a:off x="7005638" y="5276850"/>
            <a:ext cx="133500" cy="142800"/>
          </a:xfrm>
          <a:prstGeom prst="rect">
            <a:avLst/>
          </a:prstGeom>
          <a:noFill/>
          <a:ln>
            <a:noFill/>
          </a:ln>
        </p:spPr>
      </p:pic>
      <p:pic>
        <p:nvPicPr>
          <p:cNvPr descr="image.png" id="859" name="Google Shape;859;p29"/>
          <p:cNvPicPr preferRelativeResize="0"/>
          <p:nvPr/>
        </p:nvPicPr>
        <p:blipFill rotWithShape="1">
          <a:blip r:embed="rId16">
            <a:alphaModFix/>
          </a:blip>
          <a:srcRect b="0" l="0" r="0" t="0"/>
          <a:stretch/>
        </p:blipFill>
        <p:spPr>
          <a:xfrm>
            <a:off x="7005638" y="5638800"/>
            <a:ext cx="133500" cy="142800"/>
          </a:xfrm>
          <a:prstGeom prst="rect">
            <a:avLst/>
          </a:prstGeom>
          <a:noFill/>
          <a:ln>
            <a:noFill/>
          </a:ln>
        </p:spPr>
      </p:pic>
      <p:pic>
        <p:nvPicPr>
          <p:cNvPr descr="image.png" id="860" name="Google Shape;860;p29"/>
          <p:cNvPicPr preferRelativeResize="0"/>
          <p:nvPr/>
        </p:nvPicPr>
        <p:blipFill rotWithShape="1">
          <a:blip r:embed="rId17">
            <a:alphaModFix/>
          </a:blip>
          <a:srcRect b="0" l="0" r="0" t="0"/>
          <a:stretch/>
        </p:blipFill>
        <p:spPr>
          <a:xfrm>
            <a:off x="7005638" y="5962650"/>
            <a:ext cx="133500" cy="142800"/>
          </a:xfrm>
          <a:prstGeom prst="rect">
            <a:avLst/>
          </a:prstGeom>
          <a:noFill/>
          <a:ln>
            <a:noFill/>
          </a:ln>
        </p:spPr>
      </p:pic>
      <p:sp>
        <p:nvSpPr>
          <p:cNvPr id="861" name="Google Shape;861;p29"/>
          <p:cNvSpPr txBox="1"/>
          <p:nvPr/>
        </p:nvSpPr>
        <p:spPr>
          <a:xfrm>
            <a:off x="571500" y="381000"/>
            <a:ext cx="11601600" cy="3693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2400" u="none" cap="none" strike="noStrike">
                <a:solidFill>
                  <a:srgbClr val="0F172A"/>
                </a:solidFill>
                <a:latin typeface="Plus Jakarta Sans ExtraBold"/>
                <a:ea typeface="Plus Jakarta Sans ExtraBold"/>
                <a:cs typeface="Plus Jakarta Sans ExtraBold"/>
                <a:sym typeface="Plus Jakarta Sans ExtraBold"/>
              </a:rPr>
              <a:t>Environment &amp; Snapshots Setup</a:t>
            </a:r>
            <a:endParaRPr/>
          </a:p>
        </p:txBody>
      </p:sp>
      <p:sp>
        <p:nvSpPr>
          <p:cNvPr id="862" name="Google Shape;862;p29"/>
          <p:cNvSpPr/>
          <p:nvPr/>
        </p:nvSpPr>
        <p:spPr>
          <a:xfrm>
            <a:off x="571500" y="847725"/>
            <a:ext cx="11049000" cy="19200"/>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66" name="Shape 866"/>
        <p:cNvGrpSpPr/>
        <p:nvPr/>
      </p:nvGrpSpPr>
      <p:grpSpPr>
        <a:xfrm>
          <a:off x="0" y="0"/>
          <a:ext cx="0" cy="0"/>
          <a:chOff x="0" y="0"/>
          <a:chExt cx="0" cy="0"/>
        </a:xfrm>
      </p:grpSpPr>
      <p:pic>
        <p:nvPicPr>
          <p:cNvPr descr="image.png" id="867" name="Google Shape;867;p30"/>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868" name="Google Shape;868;p30"/>
          <p:cNvPicPr preferRelativeResize="0"/>
          <p:nvPr/>
        </p:nvPicPr>
        <p:blipFill rotWithShape="1">
          <a:blip r:embed="rId4">
            <a:alphaModFix/>
          </a:blip>
          <a:srcRect b="0" l="0" r="0" t="0"/>
          <a:stretch/>
        </p:blipFill>
        <p:spPr>
          <a:xfrm>
            <a:off x="571500" y="457200"/>
            <a:ext cx="823168" cy="200025"/>
          </a:xfrm>
          <a:prstGeom prst="rect">
            <a:avLst/>
          </a:prstGeom>
          <a:noFill/>
          <a:ln>
            <a:noFill/>
          </a:ln>
        </p:spPr>
      </p:pic>
      <p:sp>
        <p:nvSpPr>
          <p:cNvPr id="869" name="Google Shape;869;p30"/>
          <p:cNvSpPr txBox="1"/>
          <p:nvPr/>
        </p:nvSpPr>
        <p:spPr>
          <a:xfrm>
            <a:off x="571500" y="1748581"/>
            <a:ext cx="6196012" cy="151804"/>
          </a:xfrm>
          <a:prstGeom prst="rect">
            <a:avLst/>
          </a:prstGeom>
          <a:noFill/>
          <a:ln>
            <a:noFill/>
          </a:ln>
        </p:spPr>
        <p:txBody>
          <a:bodyPr anchorCtr="0" anchor="t" bIns="0" lIns="0" spcFirstLastPara="1" rIns="0" wrap="square" tIns="0">
            <a:spAutoFit/>
          </a:bodyPr>
          <a:lstStyle/>
          <a:p>
            <a:pPr indent="0" lvl="0" marL="0" marR="0" rtl="0" algn="l">
              <a:lnSpc>
                <a:spcPct val="144969"/>
              </a:lnSpc>
              <a:spcBef>
                <a:spcPts val="0"/>
              </a:spcBef>
              <a:spcAft>
                <a:spcPts val="0"/>
              </a:spcAft>
              <a:buNone/>
            </a:pPr>
            <a:r>
              <a:rPr b="1" i="0" lang="en-US" sz="825" u="none" cap="none" strike="noStrike">
                <a:solidFill>
                  <a:srgbClr val="2563EB"/>
                </a:solidFill>
                <a:latin typeface="Plus Jakarta Sans"/>
                <a:ea typeface="Plus Jakarta Sans"/>
                <a:cs typeface="Plus Jakarta Sans"/>
                <a:sym typeface="Plus Jakarta Sans"/>
              </a:rPr>
              <a:t>PURPOSE:</a:t>
            </a:r>
            <a:endParaRPr/>
          </a:p>
        </p:txBody>
      </p:sp>
      <p:sp>
        <p:nvSpPr>
          <p:cNvPr id="870" name="Google Shape;870;p30"/>
          <p:cNvSpPr txBox="1"/>
          <p:nvPr/>
        </p:nvSpPr>
        <p:spPr>
          <a:xfrm>
            <a:off x="571500" y="1919436"/>
            <a:ext cx="6196012" cy="193327"/>
          </a:xfrm>
          <a:prstGeom prst="rect">
            <a:avLst/>
          </a:prstGeom>
          <a:noFill/>
          <a:ln>
            <a:noFill/>
          </a:ln>
        </p:spPr>
        <p:txBody>
          <a:bodyPr anchorCtr="0" anchor="t" bIns="0" lIns="0" spcFirstLastPara="1" rIns="0" wrap="square" tIns="0">
            <a:spAutoFit/>
          </a:bodyPr>
          <a:lstStyle/>
          <a:p>
            <a:pPr indent="0" lvl="0" marL="0" marR="0" rtl="0" algn="l">
              <a:lnSpc>
                <a:spcPct val="144952"/>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A full-service, codebase-aware code review platform for PRs.</a:t>
            </a:r>
            <a:endParaRPr/>
          </a:p>
        </p:txBody>
      </p:sp>
      <p:sp>
        <p:nvSpPr>
          <p:cNvPr id="871" name="Google Shape;871;p30"/>
          <p:cNvSpPr txBox="1"/>
          <p:nvPr/>
        </p:nvSpPr>
        <p:spPr>
          <a:xfrm>
            <a:off x="571500" y="2188964"/>
            <a:ext cx="6196012" cy="151804"/>
          </a:xfrm>
          <a:prstGeom prst="rect">
            <a:avLst/>
          </a:prstGeom>
          <a:noFill/>
          <a:ln>
            <a:noFill/>
          </a:ln>
        </p:spPr>
        <p:txBody>
          <a:bodyPr anchorCtr="0" anchor="t" bIns="0" lIns="0" spcFirstLastPara="1" rIns="0" wrap="square" tIns="0">
            <a:spAutoFit/>
          </a:bodyPr>
          <a:lstStyle/>
          <a:p>
            <a:pPr indent="0" lvl="0" marL="0" marR="0" rtl="0" algn="l">
              <a:lnSpc>
                <a:spcPct val="144969"/>
              </a:lnSpc>
              <a:spcBef>
                <a:spcPts val="0"/>
              </a:spcBef>
              <a:spcAft>
                <a:spcPts val="0"/>
              </a:spcAft>
              <a:buNone/>
            </a:pPr>
            <a:r>
              <a:rPr b="1" i="0" lang="en-US" sz="825" u="none" cap="none" strike="noStrike">
                <a:solidFill>
                  <a:srgbClr val="2563EB"/>
                </a:solidFill>
                <a:latin typeface="Plus Jakarta Sans"/>
                <a:ea typeface="Plus Jakarta Sans"/>
                <a:cs typeface="Plus Jakarta Sans"/>
                <a:sym typeface="Plus Jakarta Sans"/>
              </a:rPr>
              <a:t>WHY IT EXISTS:</a:t>
            </a:r>
            <a:endParaRPr/>
          </a:p>
        </p:txBody>
      </p:sp>
      <p:sp>
        <p:nvSpPr>
          <p:cNvPr id="872" name="Google Shape;872;p30"/>
          <p:cNvSpPr txBox="1"/>
          <p:nvPr/>
        </p:nvSpPr>
        <p:spPr>
          <a:xfrm>
            <a:off x="571500" y="2359818"/>
            <a:ext cx="6196012" cy="386655"/>
          </a:xfrm>
          <a:prstGeom prst="rect">
            <a:avLst/>
          </a:prstGeom>
          <a:noFill/>
          <a:ln>
            <a:noFill/>
          </a:ln>
        </p:spPr>
        <p:txBody>
          <a:bodyPr anchorCtr="0" anchor="t" bIns="0" lIns="0" spcFirstLastPara="1" rIns="0" wrap="square" tIns="0">
            <a:spAutoFit/>
          </a:bodyPr>
          <a:lstStyle/>
          <a:p>
            <a:pPr indent="0" lvl="0" marL="0" marR="0" rtl="0" algn="l">
              <a:lnSpc>
                <a:spcPct val="144952"/>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As AI agents generate more code, the bottleneck shifts from writing to reviewing. Devin Review turns large, complex PRs into organized, analyzed, actionable reviews.</a:t>
            </a:r>
            <a:endParaRPr/>
          </a:p>
        </p:txBody>
      </p:sp>
      <p:sp>
        <p:nvSpPr>
          <p:cNvPr id="873" name="Google Shape;873;p30"/>
          <p:cNvSpPr txBox="1"/>
          <p:nvPr/>
        </p:nvSpPr>
        <p:spPr>
          <a:xfrm>
            <a:off x="571500" y="2822674"/>
            <a:ext cx="6196012" cy="151804"/>
          </a:xfrm>
          <a:prstGeom prst="rect">
            <a:avLst/>
          </a:prstGeom>
          <a:noFill/>
          <a:ln>
            <a:noFill/>
          </a:ln>
        </p:spPr>
        <p:txBody>
          <a:bodyPr anchorCtr="0" anchor="t" bIns="0" lIns="0" spcFirstLastPara="1" rIns="0" wrap="square" tIns="0">
            <a:spAutoFit/>
          </a:bodyPr>
          <a:lstStyle/>
          <a:p>
            <a:pPr indent="0" lvl="0" marL="0" marR="0" rtl="0" algn="l">
              <a:lnSpc>
                <a:spcPct val="144969"/>
              </a:lnSpc>
              <a:spcBef>
                <a:spcPts val="0"/>
              </a:spcBef>
              <a:spcAft>
                <a:spcPts val="0"/>
              </a:spcAft>
              <a:buNone/>
            </a:pPr>
            <a:r>
              <a:rPr b="1" i="0" lang="en-US" sz="825" u="none" cap="none" strike="noStrike">
                <a:solidFill>
                  <a:srgbClr val="2563EB"/>
                </a:solidFill>
                <a:latin typeface="Plus Jakarta Sans"/>
                <a:ea typeface="Plus Jakarta Sans"/>
                <a:cs typeface="Plus Jakarta Sans"/>
                <a:sym typeface="Plus Jakarta Sans"/>
              </a:rPr>
              <a:t>INTERNAL CONCEPT:</a:t>
            </a:r>
            <a:endParaRPr/>
          </a:p>
        </p:txBody>
      </p:sp>
      <p:sp>
        <p:nvSpPr>
          <p:cNvPr id="874" name="Google Shape;874;p30"/>
          <p:cNvSpPr txBox="1"/>
          <p:nvPr/>
        </p:nvSpPr>
        <p:spPr>
          <a:xfrm>
            <a:off x="7005637" y="1748581"/>
            <a:ext cx="4567237" cy="151804"/>
          </a:xfrm>
          <a:prstGeom prst="rect">
            <a:avLst/>
          </a:prstGeom>
          <a:noFill/>
          <a:ln>
            <a:noFill/>
          </a:ln>
        </p:spPr>
        <p:txBody>
          <a:bodyPr anchorCtr="0" anchor="t" bIns="0" lIns="0" spcFirstLastPara="1" rIns="0" wrap="square" tIns="0">
            <a:spAutoFit/>
          </a:bodyPr>
          <a:lstStyle/>
          <a:p>
            <a:pPr indent="0" lvl="0" marL="0" marR="0" rtl="0" algn="l">
              <a:lnSpc>
                <a:spcPct val="144969"/>
              </a:lnSpc>
              <a:spcBef>
                <a:spcPts val="0"/>
              </a:spcBef>
              <a:spcAft>
                <a:spcPts val="0"/>
              </a:spcAft>
              <a:buNone/>
            </a:pPr>
            <a:r>
              <a:rPr b="1" i="0" lang="en-US" sz="825" u="none" cap="none" strike="noStrike">
                <a:solidFill>
                  <a:srgbClr val="7C3AED"/>
                </a:solidFill>
                <a:latin typeface="Plus Jakarta Sans"/>
                <a:ea typeface="Plus Jakarta Sans"/>
                <a:cs typeface="Plus Jakarta Sans"/>
                <a:sym typeface="Plus Jakarta Sans"/>
              </a:rPr>
              <a:t>ENTERPRISE GOVERNANCE:</a:t>
            </a:r>
            <a:endParaRPr/>
          </a:p>
        </p:txBody>
      </p:sp>
      <p:sp>
        <p:nvSpPr>
          <p:cNvPr id="875" name="Google Shape;875;p30"/>
          <p:cNvSpPr txBox="1"/>
          <p:nvPr/>
        </p:nvSpPr>
        <p:spPr>
          <a:xfrm>
            <a:off x="7005637" y="3176438"/>
            <a:ext cx="4567237" cy="151804"/>
          </a:xfrm>
          <a:prstGeom prst="rect">
            <a:avLst/>
          </a:prstGeom>
          <a:noFill/>
          <a:ln>
            <a:noFill/>
          </a:ln>
        </p:spPr>
        <p:txBody>
          <a:bodyPr anchorCtr="0" anchor="t" bIns="0" lIns="0" spcFirstLastPara="1" rIns="0" wrap="square" tIns="0">
            <a:spAutoFit/>
          </a:bodyPr>
          <a:lstStyle/>
          <a:p>
            <a:pPr indent="0" lvl="0" marL="0" marR="0" rtl="0" algn="l">
              <a:lnSpc>
                <a:spcPct val="144969"/>
              </a:lnSpc>
              <a:spcBef>
                <a:spcPts val="0"/>
              </a:spcBef>
              <a:spcAft>
                <a:spcPts val="0"/>
              </a:spcAft>
              <a:buNone/>
            </a:pPr>
            <a:r>
              <a:rPr b="1" i="0" lang="en-US" sz="825" u="none" cap="none" strike="noStrike">
                <a:solidFill>
                  <a:srgbClr val="0D9488"/>
                </a:solidFill>
                <a:latin typeface="Plus Jakarta Sans"/>
                <a:ea typeface="Plus Jakarta Sans"/>
                <a:cs typeface="Plus Jakarta Sans"/>
                <a:sym typeface="Plus Jakarta Sans"/>
              </a:rPr>
              <a:t>BEST PRACTICES:</a:t>
            </a:r>
            <a:endParaRPr/>
          </a:p>
        </p:txBody>
      </p:sp>
      <p:sp>
        <p:nvSpPr>
          <p:cNvPr id="876" name="Google Shape;876;p30"/>
          <p:cNvSpPr txBox="1"/>
          <p:nvPr/>
        </p:nvSpPr>
        <p:spPr>
          <a:xfrm>
            <a:off x="800100" y="2993528"/>
            <a:ext cx="5967412" cy="37326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Devin Review is accessible at `app.devin.ai/review` or by replacing `github.com` with `devinreview.com` in any PR URL</a:t>
            </a:r>
            <a:endParaRPr/>
          </a:p>
        </p:txBody>
      </p:sp>
      <p:sp>
        <p:nvSpPr>
          <p:cNvPr id="877" name="Google Shape;877;p30"/>
          <p:cNvSpPr txBox="1"/>
          <p:nvPr/>
        </p:nvSpPr>
        <p:spPr>
          <a:xfrm>
            <a:off x="800100" y="3442989"/>
            <a:ext cx="5967412" cy="37326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It provides: smart diff organization, copy/move detection, bug catching, security scanning, codebase-aware chat, and PR workflow actions</a:t>
            </a:r>
            <a:endParaRPr/>
          </a:p>
        </p:txBody>
      </p:sp>
      <p:sp>
        <p:nvSpPr>
          <p:cNvPr id="878" name="Google Shape;878;p30"/>
          <p:cNvSpPr txBox="1"/>
          <p:nvPr/>
        </p:nvSpPr>
        <p:spPr>
          <a:xfrm>
            <a:off x="800100" y="3892450"/>
            <a:ext cx="5967412"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1050" u="none" cap="none" strike="noStrike">
                <a:solidFill>
                  <a:srgbClr val="334155"/>
                </a:solidFill>
                <a:latin typeface="Plus Jakarta Sans"/>
                <a:ea typeface="Plus Jakarta Sans"/>
                <a:cs typeface="Plus Jakarta Sans"/>
                <a:sym typeface="Plus Jakarta Sans"/>
              </a:rPr>
              <a:t>Bug Catcher</a:t>
            </a:r>
            <a:r>
              <a:rPr b="0" i="0" lang="en-US" sz="1050" u="none" cap="none" strike="noStrike">
                <a:solidFill>
                  <a:srgbClr val="334155"/>
                </a:solidFill>
                <a:latin typeface="Plus Jakarta Sans"/>
                <a:ea typeface="Plus Jakarta Sans"/>
                <a:cs typeface="Plus Jakarta Sans"/>
                <a:sym typeface="Plus Jakarta Sans"/>
              </a:rPr>
              <a:t> classifies findings as Bugs (actionable errors) or Flags (investigate/informational)</a:t>
            </a:r>
            <a:endParaRPr/>
          </a:p>
        </p:txBody>
      </p:sp>
      <p:sp>
        <p:nvSpPr>
          <p:cNvPr id="879" name="Google Shape;879;p30"/>
          <p:cNvSpPr txBox="1"/>
          <p:nvPr/>
        </p:nvSpPr>
        <p:spPr>
          <a:xfrm>
            <a:off x="800100" y="4155281"/>
            <a:ext cx="5967412" cy="37326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1050" u="none" cap="none" strike="noStrike">
                <a:solidFill>
                  <a:srgbClr val="334155"/>
                </a:solidFill>
                <a:latin typeface="Plus Jakarta Sans"/>
                <a:ea typeface="Plus Jakarta Sans"/>
                <a:cs typeface="Plus Jakarta Sans"/>
                <a:sym typeface="Plus Jakarta Sans"/>
              </a:rPr>
              <a:t>Security Scanner</a:t>
            </a:r>
            <a:r>
              <a:rPr b="0" i="0" lang="en-US" sz="1050" u="none" cap="none" strike="noStrike">
                <a:solidFill>
                  <a:srgbClr val="334155"/>
                </a:solidFill>
                <a:latin typeface="Plus Jakarta Sans"/>
                <a:ea typeface="Plus Jakarta Sans"/>
                <a:cs typeface="Plus Jakarta Sans"/>
                <a:sym typeface="Plus Jakarta Sans"/>
              </a:rPr>
              <a:t> checks for injection, auth flaws, secrets exposure, SSRF, insecure deserialization, weak cryptography, and more — with CWE classification</a:t>
            </a:r>
            <a:endParaRPr/>
          </a:p>
        </p:txBody>
      </p:sp>
      <p:sp>
        <p:nvSpPr>
          <p:cNvPr id="880" name="Google Shape;880;p30"/>
          <p:cNvSpPr txBox="1"/>
          <p:nvPr/>
        </p:nvSpPr>
        <p:spPr>
          <a:xfrm>
            <a:off x="800100" y="4604742"/>
            <a:ext cx="5967412" cy="37326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1050" u="none" cap="none" strike="noStrike">
                <a:solidFill>
                  <a:srgbClr val="334155"/>
                </a:solidFill>
                <a:latin typeface="Plus Jakarta Sans"/>
                <a:ea typeface="Plus Jakarta Sans"/>
                <a:cs typeface="Plus Jakarta Sans"/>
                <a:sym typeface="Plus Jakarta Sans"/>
              </a:rPr>
              <a:t>Auto-Review</a:t>
            </a:r>
            <a:r>
              <a:rPr b="0" i="0" lang="en-US" sz="1050" u="none" cap="none" strike="noStrike">
                <a:solidFill>
                  <a:srgbClr val="334155"/>
                </a:solidFill>
                <a:latin typeface="Plus Jakarta Sans"/>
                <a:ea typeface="Plus Jakarta Sans"/>
                <a:cs typeface="Plus Jakarta Sans"/>
                <a:sym typeface="Plus Jakarta Sans"/>
              </a:rPr>
              <a:t> can trigger automatically on PR open, new commits, draft-to-ready, or reviewer assignment</a:t>
            </a:r>
            <a:endParaRPr/>
          </a:p>
        </p:txBody>
      </p:sp>
      <p:sp>
        <p:nvSpPr>
          <p:cNvPr id="881" name="Google Shape;881;p30"/>
          <p:cNvSpPr txBox="1"/>
          <p:nvPr/>
        </p:nvSpPr>
        <p:spPr>
          <a:xfrm>
            <a:off x="800100" y="5054203"/>
            <a:ext cx="5967412" cy="37326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1050" u="none" cap="none" strike="noStrike">
                <a:solidFill>
                  <a:srgbClr val="334155"/>
                </a:solidFill>
                <a:latin typeface="Plus Jakarta Sans"/>
                <a:ea typeface="Plus Jakarta Sans"/>
                <a:cs typeface="Plus Jakarta Sans"/>
                <a:sym typeface="Plus Jakarta Sans"/>
              </a:rPr>
              <a:t>Code changes from chat</a:t>
            </a:r>
            <a:r>
              <a:rPr b="0" i="0" lang="en-US" sz="1050" u="none" cap="none" strike="noStrike">
                <a:solidFill>
                  <a:srgbClr val="334155"/>
                </a:solidFill>
                <a:latin typeface="Plus Jakarta Sans"/>
                <a:ea typeface="Plus Jakarta Sans"/>
                <a:cs typeface="Plus Jakarta Sans"/>
                <a:sym typeface="Plus Jakarta Sans"/>
              </a:rPr>
              <a:t> — ask the review agent to make edits; apply as a commit without leaving the page</a:t>
            </a:r>
            <a:endParaRPr/>
          </a:p>
        </p:txBody>
      </p:sp>
      <p:sp>
        <p:nvSpPr>
          <p:cNvPr id="882" name="Google Shape;882;p30"/>
          <p:cNvSpPr txBox="1"/>
          <p:nvPr/>
        </p:nvSpPr>
        <p:spPr>
          <a:xfrm>
            <a:off x="800100" y="5503664"/>
            <a:ext cx="5967412"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Supports GitHub (including Enterprise Server and Cloud) and GitLab (including Self-Managed)</a:t>
            </a:r>
            <a:endParaRPr/>
          </a:p>
        </p:txBody>
      </p:sp>
      <p:sp>
        <p:nvSpPr>
          <p:cNvPr id="883" name="Google Shape;883;p30"/>
          <p:cNvSpPr txBox="1"/>
          <p:nvPr/>
        </p:nvSpPr>
        <p:spPr>
          <a:xfrm>
            <a:off x="7234237" y="1938486"/>
            <a:ext cx="4338637" cy="37326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ACU consumption tracked separately from sessions (does not count against per-org session limits)</a:t>
            </a:r>
            <a:endParaRPr/>
          </a:p>
        </p:txBody>
      </p:sp>
      <p:sp>
        <p:nvSpPr>
          <p:cNvPr id="884" name="Google Shape;884;p30"/>
          <p:cNvSpPr txBox="1"/>
          <p:nvPr/>
        </p:nvSpPr>
        <p:spPr>
          <a:xfrm>
            <a:off x="7234237" y="2387947"/>
            <a:ext cx="4338637"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Per-PR auto-review spend limits configurable by admins</a:t>
            </a:r>
            <a:endParaRPr/>
          </a:p>
        </p:txBody>
      </p:sp>
      <p:sp>
        <p:nvSpPr>
          <p:cNvPr id="885" name="Google Shape;885;p30"/>
          <p:cNvSpPr txBox="1"/>
          <p:nvPr/>
        </p:nvSpPr>
        <p:spPr>
          <a:xfrm>
            <a:off x="7234237" y="2650777"/>
            <a:ext cx="4338637"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Per-user and per-repository breakdown in consumption dashboard</a:t>
            </a:r>
            <a:endParaRPr/>
          </a:p>
        </p:txBody>
      </p:sp>
      <p:sp>
        <p:nvSpPr>
          <p:cNvPr id="886" name="Google Shape;886;p30"/>
          <p:cNvSpPr txBox="1"/>
          <p:nvPr/>
        </p:nvSpPr>
        <p:spPr>
          <a:xfrm>
            <a:off x="7234237" y="2913608"/>
            <a:ext cx="4338637"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Custom Roles control access tiers (auto-review, on-PR-creation, manual)</a:t>
            </a:r>
            <a:endParaRPr/>
          </a:p>
        </p:txBody>
      </p:sp>
      <p:sp>
        <p:nvSpPr>
          <p:cNvPr id="887" name="Google Shape;887;p30"/>
          <p:cNvSpPr txBox="1"/>
          <p:nvPr/>
        </p:nvSpPr>
        <p:spPr>
          <a:xfrm>
            <a:off x="7234237" y="3366343"/>
            <a:ext cx="4338637"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Enable auto-review on all repositories where Devin generates PRs</a:t>
            </a:r>
            <a:endParaRPr/>
          </a:p>
        </p:txBody>
      </p:sp>
      <p:sp>
        <p:nvSpPr>
          <p:cNvPr id="888" name="Google Shape;888;p30"/>
          <p:cNvSpPr txBox="1"/>
          <p:nvPr/>
        </p:nvSpPr>
        <p:spPr>
          <a:xfrm>
            <a:off x="7234237" y="3629173"/>
            <a:ext cx="4338637" cy="37326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Configure `REVIEW.md` with security policies and threat models for the security scanner</a:t>
            </a:r>
            <a:endParaRPr/>
          </a:p>
        </p:txBody>
      </p:sp>
      <p:sp>
        <p:nvSpPr>
          <p:cNvPr id="889" name="Google Shape;889;p30"/>
          <p:cNvSpPr txBox="1"/>
          <p:nvPr/>
        </p:nvSpPr>
        <p:spPr>
          <a:xfrm>
            <a:off x="7234237" y="4078634"/>
            <a:ext cx="4338637"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Use the per-PR spend limit to control costs on high-churn PRs</a:t>
            </a:r>
            <a:endParaRPr/>
          </a:p>
        </p:txBody>
      </p:sp>
      <p:sp>
        <p:nvSpPr>
          <p:cNvPr id="890" name="Google Shape;890;p30"/>
          <p:cNvSpPr txBox="1"/>
          <p:nvPr/>
        </p:nvSpPr>
        <p:spPr>
          <a:xfrm>
            <a:off x="7234237" y="4341465"/>
            <a:ext cx="4338637" cy="37326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Use codebase-aware chat to ask questions about the PR in context of the full codebase</a:t>
            </a:r>
            <a:endParaRPr/>
          </a:p>
        </p:txBody>
      </p:sp>
      <p:pic>
        <p:nvPicPr>
          <p:cNvPr descr="image.png" id="891" name="Google Shape;891;p30"/>
          <p:cNvPicPr preferRelativeResize="0"/>
          <p:nvPr/>
        </p:nvPicPr>
        <p:blipFill rotWithShape="1">
          <a:blip r:embed="rId5">
            <a:alphaModFix/>
          </a:blip>
          <a:srcRect b="0" l="0" r="0" t="0"/>
          <a:stretch/>
        </p:blipFill>
        <p:spPr>
          <a:xfrm>
            <a:off x="571500" y="3022103"/>
            <a:ext cx="57150" cy="95250"/>
          </a:xfrm>
          <a:prstGeom prst="rect">
            <a:avLst/>
          </a:prstGeom>
          <a:noFill/>
          <a:ln>
            <a:noFill/>
          </a:ln>
        </p:spPr>
      </p:pic>
      <p:pic>
        <p:nvPicPr>
          <p:cNvPr descr="image.png" id="892" name="Google Shape;892;p30"/>
          <p:cNvPicPr preferRelativeResize="0"/>
          <p:nvPr/>
        </p:nvPicPr>
        <p:blipFill rotWithShape="1">
          <a:blip r:embed="rId5">
            <a:alphaModFix/>
          </a:blip>
          <a:srcRect b="0" l="0" r="0" t="0"/>
          <a:stretch/>
        </p:blipFill>
        <p:spPr>
          <a:xfrm>
            <a:off x="571500" y="3471564"/>
            <a:ext cx="57150" cy="95250"/>
          </a:xfrm>
          <a:prstGeom prst="rect">
            <a:avLst/>
          </a:prstGeom>
          <a:noFill/>
          <a:ln>
            <a:noFill/>
          </a:ln>
        </p:spPr>
      </p:pic>
      <p:pic>
        <p:nvPicPr>
          <p:cNvPr descr="image.png" id="893" name="Google Shape;893;p30"/>
          <p:cNvPicPr preferRelativeResize="0"/>
          <p:nvPr/>
        </p:nvPicPr>
        <p:blipFill rotWithShape="1">
          <a:blip r:embed="rId5">
            <a:alphaModFix/>
          </a:blip>
          <a:srcRect b="0" l="0" r="0" t="0"/>
          <a:stretch/>
        </p:blipFill>
        <p:spPr>
          <a:xfrm>
            <a:off x="571500" y="3921025"/>
            <a:ext cx="57150" cy="95250"/>
          </a:xfrm>
          <a:prstGeom prst="rect">
            <a:avLst/>
          </a:prstGeom>
          <a:noFill/>
          <a:ln>
            <a:noFill/>
          </a:ln>
        </p:spPr>
      </p:pic>
      <p:pic>
        <p:nvPicPr>
          <p:cNvPr descr="image.png" id="894" name="Google Shape;894;p30"/>
          <p:cNvPicPr preferRelativeResize="0"/>
          <p:nvPr/>
        </p:nvPicPr>
        <p:blipFill rotWithShape="1">
          <a:blip r:embed="rId5">
            <a:alphaModFix/>
          </a:blip>
          <a:srcRect b="0" l="0" r="0" t="0"/>
          <a:stretch/>
        </p:blipFill>
        <p:spPr>
          <a:xfrm>
            <a:off x="571500" y="4183856"/>
            <a:ext cx="57150" cy="95250"/>
          </a:xfrm>
          <a:prstGeom prst="rect">
            <a:avLst/>
          </a:prstGeom>
          <a:noFill/>
          <a:ln>
            <a:noFill/>
          </a:ln>
        </p:spPr>
      </p:pic>
      <p:pic>
        <p:nvPicPr>
          <p:cNvPr descr="image.png" id="895" name="Google Shape;895;p30"/>
          <p:cNvPicPr preferRelativeResize="0"/>
          <p:nvPr/>
        </p:nvPicPr>
        <p:blipFill rotWithShape="1">
          <a:blip r:embed="rId5">
            <a:alphaModFix/>
          </a:blip>
          <a:srcRect b="0" l="0" r="0" t="0"/>
          <a:stretch/>
        </p:blipFill>
        <p:spPr>
          <a:xfrm>
            <a:off x="571500" y="4633317"/>
            <a:ext cx="57150" cy="95250"/>
          </a:xfrm>
          <a:prstGeom prst="rect">
            <a:avLst/>
          </a:prstGeom>
          <a:noFill/>
          <a:ln>
            <a:noFill/>
          </a:ln>
        </p:spPr>
      </p:pic>
      <p:pic>
        <p:nvPicPr>
          <p:cNvPr descr="image.png" id="896" name="Google Shape;896;p30"/>
          <p:cNvPicPr preferRelativeResize="0"/>
          <p:nvPr/>
        </p:nvPicPr>
        <p:blipFill rotWithShape="1">
          <a:blip r:embed="rId5">
            <a:alphaModFix/>
          </a:blip>
          <a:srcRect b="0" l="0" r="0" t="0"/>
          <a:stretch/>
        </p:blipFill>
        <p:spPr>
          <a:xfrm>
            <a:off x="571500" y="5082778"/>
            <a:ext cx="57150" cy="95250"/>
          </a:xfrm>
          <a:prstGeom prst="rect">
            <a:avLst/>
          </a:prstGeom>
          <a:noFill/>
          <a:ln>
            <a:noFill/>
          </a:ln>
        </p:spPr>
      </p:pic>
      <p:pic>
        <p:nvPicPr>
          <p:cNvPr descr="image.png" id="897" name="Google Shape;897;p30"/>
          <p:cNvPicPr preferRelativeResize="0"/>
          <p:nvPr/>
        </p:nvPicPr>
        <p:blipFill rotWithShape="1">
          <a:blip r:embed="rId5">
            <a:alphaModFix/>
          </a:blip>
          <a:srcRect b="0" l="0" r="0" t="0"/>
          <a:stretch/>
        </p:blipFill>
        <p:spPr>
          <a:xfrm>
            <a:off x="571500" y="5532239"/>
            <a:ext cx="57150" cy="95250"/>
          </a:xfrm>
          <a:prstGeom prst="rect">
            <a:avLst/>
          </a:prstGeom>
          <a:noFill/>
          <a:ln>
            <a:noFill/>
          </a:ln>
        </p:spPr>
      </p:pic>
      <p:pic>
        <p:nvPicPr>
          <p:cNvPr descr="image.png" id="898" name="Google Shape;898;p30"/>
          <p:cNvPicPr preferRelativeResize="0"/>
          <p:nvPr/>
        </p:nvPicPr>
        <p:blipFill rotWithShape="1">
          <a:blip r:embed="rId6">
            <a:alphaModFix/>
          </a:blip>
          <a:srcRect b="0" l="0" r="0" t="0"/>
          <a:stretch/>
        </p:blipFill>
        <p:spPr>
          <a:xfrm>
            <a:off x="7005637" y="1967061"/>
            <a:ext cx="95250" cy="95250"/>
          </a:xfrm>
          <a:prstGeom prst="rect">
            <a:avLst/>
          </a:prstGeom>
          <a:noFill/>
          <a:ln>
            <a:noFill/>
          </a:ln>
        </p:spPr>
      </p:pic>
      <p:pic>
        <p:nvPicPr>
          <p:cNvPr descr="image.png" id="899" name="Google Shape;899;p30"/>
          <p:cNvPicPr preferRelativeResize="0"/>
          <p:nvPr/>
        </p:nvPicPr>
        <p:blipFill rotWithShape="1">
          <a:blip r:embed="rId6">
            <a:alphaModFix/>
          </a:blip>
          <a:srcRect b="0" l="0" r="0" t="0"/>
          <a:stretch/>
        </p:blipFill>
        <p:spPr>
          <a:xfrm>
            <a:off x="7005637" y="2416522"/>
            <a:ext cx="95250" cy="95250"/>
          </a:xfrm>
          <a:prstGeom prst="rect">
            <a:avLst/>
          </a:prstGeom>
          <a:noFill/>
          <a:ln>
            <a:noFill/>
          </a:ln>
        </p:spPr>
      </p:pic>
      <p:pic>
        <p:nvPicPr>
          <p:cNvPr descr="image.png" id="900" name="Google Shape;900;p30"/>
          <p:cNvPicPr preferRelativeResize="0"/>
          <p:nvPr/>
        </p:nvPicPr>
        <p:blipFill rotWithShape="1">
          <a:blip r:embed="rId6">
            <a:alphaModFix/>
          </a:blip>
          <a:srcRect b="0" l="0" r="0" t="0"/>
          <a:stretch/>
        </p:blipFill>
        <p:spPr>
          <a:xfrm>
            <a:off x="7005637" y="2679352"/>
            <a:ext cx="95250" cy="95250"/>
          </a:xfrm>
          <a:prstGeom prst="rect">
            <a:avLst/>
          </a:prstGeom>
          <a:noFill/>
          <a:ln>
            <a:noFill/>
          </a:ln>
        </p:spPr>
      </p:pic>
      <p:pic>
        <p:nvPicPr>
          <p:cNvPr descr="image.png" id="901" name="Google Shape;901;p30"/>
          <p:cNvPicPr preferRelativeResize="0"/>
          <p:nvPr/>
        </p:nvPicPr>
        <p:blipFill rotWithShape="1">
          <a:blip r:embed="rId6">
            <a:alphaModFix/>
          </a:blip>
          <a:srcRect b="0" l="0" r="0" t="0"/>
          <a:stretch/>
        </p:blipFill>
        <p:spPr>
          <a:xfrm>
            <a:off x="7005637" y="2942183"/>
            <a:ext cx="95250" cy="95250"/>
          </a:xfrm>
          <a:prstGeom prst="rect">
            <a:avLst/>
          </a:prstGeom>
          <a:noFill/>
          <a:ln>
            <a:noFill/>
          </a:ln>
        </p:spPr>
      </p:pic>
      <p:pic>
        <p:nvPicPr>
          <p:cNvPr descr="image.png" id="902" name="Google Shape;902;p30"/>
          <p:cNvPicPr preferRelativeResize="0"/>
          <p:nvPr/>
        </p:nvPicPr>
        <p:blipFill rotWithShape="1">
          <a:blip r:embed="rId7">
            <a:alphaModFix/>
          </a:blip>
          <a:srcRect b="0" l="0" r="0" t="0"/>
          <a:stretch/>
        </p:blipFill>
        <p:spPr>
          <a:xfrm>
            <a:off x="7005637" y="3390155"/>
            <a:ext cx="133350" cy="142875"/>
          </a:xfrm>
          <a:prstGeom prst="rect">
            <a:avLst/>
          </a:prstGeom>
          <a:noFill/>
          <a:ln>
            <a:noFill/>
          </a:ln>
        </p:spPr>
      </p:pic>
      <p:pic>
        <p:nvPicPr>
          <p:cNvPr descr="image.png" id="903" name="Google Shape;903;p30"/>
          <p:cNvPicPr preferRelativeResize="0"/>
          <p:nvPr/>
        </p:nvPicPr>
        <p:blipFill rotWithShape="1">
          <a:blip r:embed="rId8">
            <a:alphaModFix/>
          </a:blip>
          <a:srcRect b="0" l="0" r="0" t="0"/>
          <a:stretch/>
        </p:blipFill>
        <p:spPr>
          <a:xfrm>
            <a:off x="7005637" y="3652986"/>
            <a:ext cx="133350" cy="142875"/>
          </a:xfrm>
          <a:prstGeom prst="rect">
            <a:avLst/>
          </a:prstGeom>
          <a:noFill/>
          <a:ln>
            <a:noFill/>
          </a:ln>
        </p:spPr>
      </p:pic>
      <p:pic>
        <p:nvPicPr>
          <p:cNvPr descr="image.png" id="904" name="Google Shape;904;p30"/>
          <p:cNvPicPr preferRelativeResize="0"/>
          <p:nvPr/>
        </p:nvPicPr>
        <p:blipFill rotWithShape="1">
          <a:blip r:embed="rId9">
            <a:alphaModFix/>
          </a:blip>
          <a:srcRect b="0" l="0" r="0" t="0"/>
          <a:stretch/>
        </p:blipFill>
        <p:spPr>
          <a:xfrm>
            <a:off x="7005637" y="4102447"/>
            <a:ext cx="152400" cy="142875"/>
          </a:xfrm>
          <a:prstGeom prst="rect">
            <a:avLst/>
          </a:prstGeom>
          <a:noFill/>
          <a:ln>
            <a:noFill/>
          </a:ln>
        </p:spPr>
      </p:pic>
      <p:pic>
        <p:nvPicPr>
          <p:cNvPr descr="image.png" id="905" name="Google Shape;905;p30"/>
          <p:cNvPicPr preferRelativeResize="0"/>
          <p:nvPr/>
        </p:nvPicPr>
        <p:blipFill rotWithShape="1">
          <a:blip r:embed="rId10">
            <a:alphaModFix/>
          </a:blip>
          <a:srcRect b="0" l="0" r="0" t="0"/>
          <a:stretch/>
        </p:blipFill>
        <p:spPr>
          <a:xfrm>
            <a:off x="7005637" y="4365277"/>
            <a:ext cx="171450" cy="142875"/>
          </a:xfrm>
          <a:prstGeom prst="rect">
            <a:avLst/>
          </a:prstGeom>
          <a:noFill/>
          <a:ln>
            <a:noFill/>
          </a:ln>
        </p:spPr>
      </p:pic>
      <p:sp>
        <p:nvSpPr>
          <p:cNvPr id="906" name="Google Shape;906;p30"/>
          <p:cNvSpPr txBox="1"/>
          <p:nvPr/>
        </p:nvSpPr>
        <p:spPr>
          <a:xfrm>
            <a:off x="571500" y="381000"/>
            <a:ext cx="11601450" cy="37147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2400" u="none" cap="none" strike="noStrike">
                <a:solidFill>
                  <a:srgbClr val="0F172A"/>
                </a:solidFill>
                <a:latin typeface="Plus Jakarta Sans ExtraBold"/>
                <a:ea typeface="Plus Jakarta Sans ExtraBold"/>
                <a:cs typeface="Plus Jakarta Sans ExtraBold"/>
                <a:sym typeface="Plus Jakarta Sans ExtraBold"/>
              </a:rPr>
              <a:t>Feature Spotlight: Devin Review</a:t>
            </a:r>
            <a:endParaRPr/>
          </a:p>
        </p:txBody>
      </p:sp>
      <p:sp>
        <p:nvSpPr>
          <p:cNvPr id="907" name="Google Shape;907;p30"/>
          <p:cNvSpPr/>
          <p:nvPr/>
        </p:nvSpPr>
        <p:spPr>
          <a:xfrm>
            <a:off x="571500" y="847725"/>
            <a:ext cx="11049000" cy="19050"/>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11" name="Shape 911"/>
        <p:cNvGrpSpPr/>
        <p:nvPr/>
      </p:nvGrpSpPr>
      <p:grpSpPr>
        <a:xfrm>
          <a:off x="0" y="0"/>
          <a:ext cx="0" cy="0"/>
          <a:chOff x="0" y="0"/>
          <a:chExt cx="0" cy="0"/>
        </a:xfrm>
      </p:grpSpPr>
      <p:pic>
        <p:nvPicPr>
          <p:cNvPr descr="image.png" id="912" name="Google Shape;912;p31"/>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913" name="Google Shape;913;p31"/>
          <p:cNvPicPr preferRelativeResize="0"/>
          <p:nvPr/>
        </p:nvPicPr>
        <p:blipFill rotWithShape="1">
          <a:blip r:embed="rId4">
            <a:alphaModFix/>
          </a:blip>
          <a:srcRect b="0" l="0" r="0" t="0"/>
          <a:stretch/>
        </p:blipFill>
        <p:spPr>
          <a:xfrm>
            <a:off x="7005637" y="2116335"/>
            <a:ext cx="4567237" cy="1312812"/>
          </a:xfrm>
          <a:prstGeom prst="rect">
            <a:avLst/>
          </a:prstGeom>
          <a:noFill/>
          <a:ln>
            <a:noFill/>
          </a:ln>
        </p:spPr>
      </p:pic>
      <p:pic>
        <p:nvPicPr>
          <p:cNvPr descr="image.png" id="914" name="Google Shape;914;p31"/>
          <p:cNvPicPr preferRelativeResize="0"/>
          <p:nvPr/>
        </p:nvPicPr>
        <p:blipFill rotWithShape="1">
          <a:blip r:embed="rId5">
            <a:alphaModFix/>
          </a:blip>
          <a:srcRect b="0" l="0" r="0" t="0"/>
          <a:stretch/>
        </p:blipFill>
        <p:spPr>
          <a:xfrm>
            <a:off x="7129462" y="2240160"/>
            <a:ext cx="4319587" cy="457348"/>
          </a:xfrm>
          <a:prstGeom prst="rect">
            <a:avLst/>
          </a:prstGeom>
          <a:noFill/>
          <a:ln>
            <a:noFill/>
          </a:ln>
        </p:spPr>
      </p:pic>
      <p:pic>
        <p:nvPicPr>
          <p:cNvPr descr="image.png" id="915" name="Google Shape;915;p31"/>
          <p:cNvPicPr preferRelativeResize="0"/>
          <p:nvPr/>
        </p:nvPicPr>
        <p:blipFill rotWithShape="1">
          <a:blip r:embed="rId6">
            <a:alphaModFix/>
          </a:blip>
          <a:srcRect b="0" l="0" r="0" t="0"/>
          <a:stretch/>
        </p:blipFill>
        <p:spPr>
          <a:xfrm>
            <a:off x="7129462" y="2927895"/>
            <a:ext cx="1401812" cy="377428"/>
          </a:xfrm>
          <a:prstGeom prst="rect">
            <a:avLst/>
          </a:prstGeom>
          <a:noFill/>
          <a:ln>
            <a:noFill/>
          </a:ln>
        </p:spPr>
      </p:pic>
      <p:pic>
        <p:nvPicPr>
          <p:cNvPr descr="image.png" id="916" name="Google Shape;916;p31"/>
          <p:cNvPicPr preferRelativeResize="0"/>
          <p:nvPr/>
        </p:nvPicPr>
        <p:blipFill rotWithShape="1">
          <a:blip r:embed="rId7">
            <a:alphaModFix/>
          </a:blip>
          <a:srcRect b="0" l="0" r="0" t="0"/>
          <a:stretch/>
        </p:blipFill>
        <p:spPr>
          <a:xfrm>
            <a:off x="8588424" y="2927895"/>
            <a:ext cx="1401812" cy="377428"/>
          </a:xfrm>
          <a:prstGeom prst="rect">
            <a:avLst/>
          </a:prstGeom>
          <a:noFill/>
          <a:ln>
            <a:noFill/>
          </a:ln>
        </p:spPr>
      </p:pic>
      <p:pic>
        <p:nvPicPr>
          <p:cNvPr descr="image.png" id="917" name="Google Shape;917;p31"/>
          <p:cNvPicPr preferRelativeResize="0"/>
          <p:nvPr/>
        </p:nvPicPr>
        <p:blipFill rotWithShape="1">
          <a:blip r:embed="rId8">
            <a:alphaModFix/>
          </a:blip>
          <a:srcRect b="0" l="0" r="0" t="0"/>
          <a:stretch/>
        </p:blipFill>
        <p:spPr>
          <a:xfrm>
            <a:off x="10047386" y="2927895"/>
            <a:ext cx="1401812" cy="377428"/>
          </a:xfrm>
          <a:prstGeom prst="rect">
            <a:avLst/>
          </a:prstGeom>
          <a:noFill/>
          <a:ln>
            <a:noFill/>
          </a:ln>
        </p:spPr>
      </p:pic>
      <p:pic>
        <p:nvPicPr>
          <p:cNvPr descr="image.png" id="918" name="Google Shape;918;p31"/>
          <p:cNvPicPr preferRelativeResize="0"/>
          <p:nvPr/>
        </p:nvPicPr>
        <p:blipFill rotWithShape="1">
          <a:blip r:embed="rId9">
            <a:alphaModFix/>
          </a:blip>
          <a:srcRect b="0" l="0" r="0" t="0"/>
          <a:stretch/>
        </p:blipFill>
        <p:spPr>
          <a:xfrm>
            <a:off x="571500" y="457200"/>
            <a:ext cx="823168" cy="200025"/>
          </a:xfrm>
          <a:prstGeom prst="rect">
            <a:avLst/>
          </a:prstGeom>
          <a:noFill/>
          <a:ln>
            <a:noFill/>
          </a:ln>
        </p:spPr>
      </p:pic>
      <p:sp>
        <p:nvSpPr>
          <p:cNvPr id="919" name="Google Shape;919;p31"/>
          <p:cNvSpPr txBox="1"/>
          <p:nvPr/>
        </p:nvSpPr>
        <p:spPr>
          <a:xfrm>
            <a:off x="571500" y="1874490"/>
            <a:ext cx="6196012" cy="151804"/>
          </a:xfrm>
          <a:prstGeom prst="rect">
            <a:avLst/>
          </a:prstGeom>
          <a:noFill/>
          <a:ln>
            <a:noFill/>
          </a:ln>
        </p:spPr>
        <p:txBody>
          <a:bodyPr anchorCtr="0" anchor="t" bIns="0" lIns="0" spcFirstLastPara="1" rIns="0" wrap="square" tIns="0">
            <a:spAutoFit/>
          </a:bodyPr>
          <a:lstStyle/>
          <a:p>
            <a:pPr indent="0" lvl="0" marL="0" marR="0" rtl="0" algn="l">
              <a:lnSpc>
                <a:spcPct val="144969"/>
              </a:lnSpc>
              <a:spcBef>
                <a:spcPts val="0"/>
              </a:spcBef>
              <a:spcAft>
                <a:spcPts val="0"/>
              </a:spcAft>
              <a:buNone/>
            </a:pPr>
            <a:r>
              <a:rPr b="1" i="0" lang="en-US" sz="825" u="none" cap="none" strike="noStrike">
                <a:solidFill>
                  <a:srgbClr val="2563EB"/>
                </a:solidFill>
                <a:latin typeface="Plus Jakarta Sans"/>
                <a:ea typeface="Plus Jakarta Sans"/>
                <a:cs typeface="Plus Jakarta Sans"/>
                <a:sym typeface="Plus Jakarta Sans"/>
              </a:rPr>
              <a:t>PURPOSE:</a:t>
            </a:r>
            <a:endParaRPr/>
          </a:p>
        </p:txBody>
      </p:sp>
      <p:sp>
        <p:nvSpPr>
          <p:cNvPr id="920" name="Google Shape;920;p31"/>
          <p:cNvSpPr txBox="1"/>
          <p:nvPr/>
        </p:nvSpPr>
        <p:spPr>
          <a:xfrm>
            <a:off x="571500" y="2045344"/>
            <a:ext cx="6196012" cy="193327"/>
          </a:xfrm>
          <a:prstGeom prst="rect">
            <a:avLst/>
          </a:prstGeom>
          <a:noFill/>
          <a:ln>
            <a:noFill/>
          </a:ln>
        </p:spPr>
        <p:txBody>
          <a:bodyPr anchorCtr="0" anchor="t" bIns="0" lIns="0" spcFirstLastPara="1" rIns="0" wrap="square" tIns="0">
            <a:spAutoFit/>
          </a:bodyPr>
          <a:lstStyle/>
          <a:p>
            <a:pPr indent="0" lvl="0" marL="0" marR="0" rtl="0" algn="l">
              <a:lnSpc>
                <a:spcPct val="144952"/>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Enable Devin to orchestrate teams of parallel sub-agents for large-scale work.</a:t>
            </a:r>
            <a:endParaRPr/>
          </a:p>
        </p:txBody>
      </p:sp>
      <p:sp>
        <p:nvSpPr>
          <p:cNvPr id="921" name="Google Shape;921;p31"/>
          <p:cNvSpPr txBox="1"/>
          <p:nvPr/>
        </p:nvSpPr>
        <p:spPr>
          <a:xfrm>
            <a:off x="571500" y="2314872"/>
            <a:ext cx="6196012" cy="151804"/>
          </a:xfrm>
          <a:prstGeom prst="rect">
            <a:avLst/>
          </a:prstGeom>
          <a:noFill/>
          <a:ln>
            <a:noFill/>
          </a:ln>
        </p:spPr>
        <p:txBody>
          <a:bodyPr anchorCtr="0" anchor="t" bIns="0" lIns="0" spcFirstLastPara="1" rIns="0" wrap="square" tIns="0">
            <a:spAutoFit/>
          </a:bodyPr>
          <a:lstStyle/>
          <a:p>
            <a:pPr indent="0" lvl="0" marL="0" marR="0" rtl="0" algn="l">
              <a:lnSpc>
                <a:spcPct val="144969"/>
              </a:lnSpc>
              <a:spcBef>
                <a:spcPts val="0"/>
              </a:spcBef>
              <a:spcAft>
                <a:spcPts val="0"/>
              </a:spcAft>
              <a:buNone/>
            </a:pPr>
            <a:r>
              <a:rPr b="1" i="0" lang="en-US" sz="825" u="none" cap="none" strike="noStrike">
                <a:solidFill>
                  <a:srgbClr val="2563EB"/>
                </a:solidFill>
                <a:latin typeface="Plus Jakarta Sans"/>
                <a:ea typeface="Plus Jakarta Sans"/>
                <a:cs typeface="Plus Jakarta Sans"/>
                <a:sym typeface="Plus Jakarta Sans"/>
              </a:rPr>
              <a:t>WHY IT EXISTS:</a:t>
            </a:r>
            <a:endParaRPr/>
          </a:p>
        </p:txBody>
      </p:sp>
      <p:sp>
        <p:nvSpPr>
          <p:cNvPr id="922" name="Google Shape;922;p31"/>
          <p:cNvSpPr txBox="1"/>
          <p:nvPr/>
        </p:nvSpPr>
        <p:spPr>
          <a:xfrm>
            <a:off x="571500" y="2485727"/>
            <a:ext cx="6196012" cy="579983"/>
          </a:xfrm>
          <a:prstGeom prst="rect">
            <a:avLst/>
          </a:prstGeom>
          <a:noFill/>
          <a:ln>
            <a:noFill/>
          </a:ln>
        </p:spPr>
        <p:txBody>
          <a:bodyPr anchorCtr="0" anchor="t" bIns="0" lIns="0" spcFirstLastPara="1" rIns="0" wrap="square" tIns="0">
            <a:spAutoFit/>
          </a:bodyPr>
          <a:lstStyle/>
          <a:p>
            <a:pPr indent="0" lvl="0" marL="0" marR="0" rtl="0" algn="l">
              <a:lnSpc>
                <a:spcPct val="144952"/>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Many enterprise tasks — migrations, bulk test coverage, multi-repo refactors — are too large for a single session but are highly parallelizable. Managed Devins allow one coordinator session to spawn, monitor, and compile results from dozens of child sessions simultaneously.</a:t>
            </a:r>
            <a:endParaRPr/>
          </a:p>
        </p:txBody>
      </p:sp>
      <p:sp>
        <p:nvSpPr>
          <p:cNvPr id="923" name="Google Shape;923;p31"/>
          <p:cNvSpPr txBox="1"/>
          <p:nvPr/>
        </p:nvSpPr>
        <p:spPr>
          <a:xfrm>
            <a:off x="571500" y="3141910"/>
            <a:ext cx="6196012" cy="151804"/>
          </a:xfrm>
          <a:prstGeom prst="rect">
            <a:avLst/>
          </a:prstGeom>
          <a:noFill/>
          <a:ln>
            <a:noFill/>
          </a:ln>
        </p:spPr>
        <p:txBody>
          <a:bodyPr anchorCtr="0" anchor="t" bIns="0" lIns="0" spcFirstLastPara="1" rIns="0" wrap="square" tIns="0">
            <a:spAutoFit/>
          </a:bodyPr>
          <a:lstStyle/>
          <a:p>
            <a:pPr indent="0" lvl="0" marL="0" marR="0" rtl="0" algn="l">
              <a:lnSpc>
                <a:spcPct val="144969"/>
              </a:lnSpc>
              <a:spcBef>
                <a:spcPts val="0"/>
              </a:spcBef>
              <a:spcAft>
                <a:spcPts val="0"/>
              </a:spcAft>
              <a:buNone/>
            </a:pPr>
            <a:r>
              <a:rPr b="1" i="0" lang="en-US" sz="825" u="none" cap="none" strike="noStrike">
                <a:solidFill>
                  <a:srgbClr val="2563EB"/>
                </a:solidFill>
                <a:latin typeface="Plus Jakarta Sans"/>
                <a:ea typeface="Plus Jakarta Sans"/>
                <a:cs typeface="Plus Jakarta Sans"/>
                <a:sym typeface="Plus Jakarta Sans"/>
              </a:rPr>
              <a:t>INTERNAL CONCEPT:</a:t>
            </a:r>
            <a:endParaRPr/>
          </a:p>
        </p:txBody>
      </p:sp>
      <p:sp>
        <p:nvSpPr>
          <p:cNvPr id="924" name="Google Shape;924;p31"/>
          <p:cNvSpPr txBox="1"/>
          <p:nvPr/>
        </p:nvSpPr>
        <p:spPr>
          <a:xfrm>
            <a:off x="571500" y="4813548"/>
            <a:ext cx="6196012" cy="151804"/>
          </a:xfrm>
          <a:prstGeom prst="rect">
            <a:avLst/>
          </a:prstGeom>
          <a:noFill/>
          <a:ln>
            <a:noFill/>
          </a:ln>
        </p:spPr>
        <p:txBody>
          <a:bodyPr anchorCtr="0" anchor="t" bIns="0" lIns="0" spcFirstLastPara="1" rIns="0" wrap="square" tIns="0">
            <a:spAutoFit/>
          </a:bodyPr>
          <a:lstStyle/>
          <a:p>
            <a:pPr indent="0" lvl="0" marL="0" marR="0" rtl="0" algn="l">
              <a:lnSpc>
                <a:spcPct val="144969"/>
              </a:lnSpc>
              <a:spcBef>
                <a:spcPts val="0"/>
              </a:spcBef>
              <a:spcAft>
                <a:spcPts val="0"/>
              </a:spcAft>
              <a:buNone/>
            </a:pPr>
            <a:r>
              <a:rPr b="1" i="0" lang="en-US" sz="825" u="none" cap="none" strike="noStrike">
                <a:solidFill>
                  <a:srgbClr val="2563EB"/>
                </a:solidFill>
                <a:latin typeface="Plus Jakarta Sans"/>
                <a:ea typeface="Plus Jakarta Sans"/>
                <a:cs typeface="Plus Jakarta Sans"/>
                <a:sym typeface="Plus Jakarta Sans"/>
              </a:rPr>
              <a:t>ENTERPRISE USE CASE:</a:t>
            </a:r>
            <a:endParaRPr/>
          </a:p>
        </p:txBody>
      </p:sp>
      <p:sp>
        <p:nvSpPr>
          <p:cNvPr id="925" name="Google Shape;925;p31"/>
          <p:cNvSpPr txBox="1"/>
          <p:nvPr/>
        </p:nvSpPr>
        <p:spPr>
          <a:xfrm>
            <a:off x="571500" y="4984402"/>
            <a:ext cx="6196012" cy="579983"/>
          </a:xfrm>
          <a:prstGeom prst="rect">
            <a:avLst/>
          </a:prstGeom>
          <a:noFill/>
          <a:ln>
            <a:noFill/>
          </a:ln>
        </p:spPr>
        <p:txBody>
          <a:bodyPr anchorCtr="0" anchor="t" bIns="0" lIns="0" spcFirstLastPara="1" rIns="0" wrap="square" tIns="0">
            <a:spAutoFit/>
          </a:bodyPr>
          <a:lstStyle/>
          <a:p>
            <a:pPr indent="0" lvl="0" marL="0" marR="0" rtl="0" algn="l">
              <a:lnSpc>
                <a:spcPct val="144952"/>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A team needs to migrate 500 SonarQube issues across 20 repositories. The coordinator Devin groups issues by repository and complexity, spawns parallel sessions, and produces 500 PRs — work that would take a team of engineers weeks.</a:t>
            </a:r>
            <a:endParaRPr/>
          </a:p>
        </p:txBody>
      </p:sp>
      <p:sp>
        <p:nvSpPr>
          <p:cNvPr id="926" name="Google Shape;926;p31"/>
          <p:cNvSpPr txBox="1"/>
          <p:nvPr/>
        </p:nvSpPr>
        <p:spPr>
          <a:xfrm>
            <a:off x="7005637" y="1874490"/>
            <a:ext cx="4567237" cy="165645"/>
          </a:xfrm>
          <a:prstGeom prst="rect">
            <a:avLst/>
          </a:prstGeom>
          <a:noFill/>
          <a:ln>
            <a:noFill/>
          </a:ln>
        </p:spPr>
        <p:txBody>
          <a:bodyPr anchorCtr="0" anchor="t" bIns="0" lIns="142875" spcFirstLastPara="1" rIns="0" wrap="square" tIns="0">
            <a:spAutoFit/>
          </a:bodyPr>
          <a:lstStyle/>
          <a:p>
            <a:pPr indent="0" lvl="0" marL="0" marR="0" rtl="0" algn="ctr">
              <a:lnSpc>
                <a:spcPct val="145000"/>
              </a:lnSpc>
              <a:spcBef>
                <a:spcPts val="0"/>
              </a:spcBef>
              <a:spcAft>
                <a:spcPts val="0"/>
              </a:spcAft>
              <a:buNone/>
            </a:pPr>
            <a:r>
              <a:rPr b="1" i="0" lang="en-US" sz="900" u="none" cap="none" strike="noStrike">
                <a:solidFill>
                  <a:srgbClr val="0F172A"/>
                </a:solidFill>
                <a:latin typeface="Plus Jakarta Sans"/>
                <a:ea typeface="Plus Jakarta Sans"/>
                <a:cs typeface="Plus Jakarta Sans"/>
                <a:sym typeface="Plus Jakarta Sans"/>
              </a:rPr>
              <a:t>PARALLEL ORCHESTRATION MODEL</a:t>
            </a:r>
            <a:endParaRPr/>
          </a:p>
        </p:txBody>
      </p:sp>
      <p:sp>
        <p:nvSpPr>
          <p:cNvPr id="927" name="Google Shape;927;p31"/>
          <p:cNvSpPr txBox="1"/>
          <p:nvPr/>
        </p:nvSpPr>
        <p:spPr>
          <a:xfrm>
            <a:off x="7005637" y="3543448"/>
            <a:ext cx="4567237" cy="151804"/>
          </a:xfrm>
          <a:prstGeom prst="rect">
            <a:avLst/>
          </a:prstGeom>
          <a:noFill/>
          <a:ln>
            <a:noFill/>
          </a:ln>
        </p:spPr>
        <p:txBody>
          <a:bodyPr anchorCtr="0" anchor="t" bIns="0" lIns="0" spcFirstLastPara="1" rIns="0" wrap="square" tIns="0">
            <a:spAutoFit/>
          </a:bodyPr>
          <a:lstStyle/>
          <a:p>
            <a:pPr indent="0" lvl="0" marL="0" marR="0" rtl="0" algn="l">
              <a:lnSpc>
                <a:spcPct val="144969"/>
              </a:lnSpc>
              <a:spcBef>
                <a:spcPts val="0"/>
              </a:spcBef>
              <a:spcAft>
                <a:spcPts val="0"/>
              </a:spcAft>
              <a:buNone/>
            </a:pPr>
            <a:r>
              <a:rPr b="1" i="0" lang="en-US" sz="825" u="none" cap="none" strike="noStrike">
                <a:solidFill>
                  <a:srgbClr val="0D9488"/>
                </a:solidFill>
                <a:latin typeface="Plus Jakarta Sans"/>
                <a:ea typeface="Plus Jakarta Sans"/>
                <a:cs typeface="Plus Jakarta Sans"/>
                <a:sym typeface="Plus Jakarta Sans"/>
              </a:rPr>
              <a:t>BEST PRACTICES:</a:t>
            </a:r>
            <a:endParaRPr/>
          </a:p>
        </p:txBody>
      </p:sp>
      <p:sp>
        <p:nvSpPr>
          <p:cNvPr id="928" name="Google Shape;928;p31"/>
          <p:cNvSpPr txBox="1"/>
          <p:nvPr/>
        </p:nvSpPr>
        <p:spPr>
          <a:xfrm>
            <a:off x="800100" y="3312765"/>
            <a:ext cx="5967412"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A coordinator Devin session breaks down a large task into independent work packages</a:t>
            </a:r>
            <a:endParaRPr/>
          </a:p>
        </p:txBody>
      </p:sp>
      <p:sp>
        <p:nvSpPr>
          <p:cNvPr id="929" name="Google Shape;929;p31"/>
          <p:cNvSpPr txBox="1"/>
          <p:nvPr/>
        </p:nvSpPr>
        <p:spPr>
          <a:xfrm>
            <a:off x="800100" y="3575595"/>
            <a:ext cx="5967412"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It spawns </a:t>
            </a:r>
            <a:r>
              <a:rPr b="1" i="0" lang="en-US" sz="1050" u="none" cap="none" strike="noStrike">
                <a:solidFill>
                  <a:srgbClr val="334155"/>
                </a:solidFill>
                <a:latin typeface="Plus Jakarta Sans"/>
                <a:ea typeface="Plus Jakarta Sans"/>
                <a:cs typeface="Plus Jakarta Sans"/>
                <a:sym typeface="Plus Jakarta Sans"/>
              </a:rPr>
              <a:t>managed child sessions</a:t>
            </a:r>
            <a:r>
              <a:rPr b="0" i="0" lang="en-US" sz="1050" u="none" cap="none" strike="noStrike">
                <a:solidFill>
                  <a:srgbClr val="334155"/>
                </a:solidFill>
                <a:latin typeface="Plus Jakarta Sans"/>
                <a:ea typeface="Plus Jakarta Sans"/>
                <a:cs typeface="Plus Jakarta Sans"/>
                <a:sym typeface="Plus Jakarta Sans"/>
              </a:rPr>
              <a:t>, each running in its own isolated VM</a:t>
            </a:r>
            <a:endParaRPr/>
          </a:p>
        </p:txBody>
      </p:sp>
      <p:sp>
        <p:nvSpPr>
          <p:cNvPr id="930" name="Google Shape;930;p31"/>
          <p:cNvSpPr txBox="1"/>
          <p:nvPr/>
        </p:nvSpPr>
        <p:spPr>
          <a:xfrm>
            <a:off x="800100" y="3838426"/>
            <a:ext cx="5967412" cy="37326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The coordinator can: spin up sessions, message them, monitor ACU consumption, put them to sleep, terminate them, and schedule messages to itself</a:t>
            </a:r>
            <a:endParaRPr/>
          </a:p>
        </p:txBody>
      </p:sp>
      <p:sp>
        <p:nvSpPr>
          <p:cNvPr id="931" name="Google Shape;931;p31"/>
          <p:cNvSpPr txBox="1"/>
          <p:nvPr/>
        </p:nvSpPr>
        <p:spPr>
          <a:xfrm>
            <a:off x="800100" y="4287887"/>
            <a:ext cx="5967412"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Child sessions run in parallel — a 50-file migration can run 50 sessions simultaneously</a:t>
            </a:r>
            <a:endParaRPr/>
          </a:p>
        </p:txBody>
      </p:sp>
      <p:sp>
        <p:nvSpPr>
          <p:cNvPr id="932" name="Google Shape;932;p31"/>
          <p:cNvSpPr txBox="1"/>
          <p:nvPr/>
        </p:nvSpPr>
        <p:spPr>
          <a:xfrm>
            <a:off x="800100" y="4550717"/>
            <a:ext cx="5967412"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Results are compiled by the coordinator</a:t>
            </a:r>
            <a:endParaRPr/>
          </a:p>
        </p:txBody>
      </p:sp>
      <p:pic>
        <p:nvPicPr>
          <p:cNvPr descr="image.png" id="933" name="Google Shape;933;p31"/>
          <p:cNvPicPr preferRelativeResize="0"/>
          <p:nvPr/>
        </p:nvPicPr>
        <p:blipFill rotWithShape="1">
          <a:blip r:embed="rId10">
            <a:alphaModFix/>
          </a:blip>
          <a:srcRect b="0" l="0" r="0" t="0"/>
          <a:stretch/>
        </p:blipFill>
        <p:spPr>
          <a:xfrm>
            <a:off x="8170068" y="1893540"/>
            <a:ext cx="142875" cy="114300"/>
          </a:xfrm>
          <a:prstGeom prst="rect">
            <a:avLst/>
          </a:prstGeom>
          <a:noFill/>
          <a:ln>
            <a:noFill/>
          </a:ln>
        </p:spPr>
      </p:pic>
      <p:sp>
        <p:nvSpPr>
          <p:cNvPr id="934" name="Google Shape;934;p31"/>
          <p:cNvSpPr txBox="1"/>
          <p:nvPr/>
        </p:nvSpPr>
        <p:spPr>
          <a:xfrm>
            <a:off x="7234237" y="3733353"/>
            <a:ext cx="4338637" cy="37326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Use parallel execution for tasks that are isolated and backwards-compatible</a:t>
            </a:r>
            <a:endParaRPr/>
          </a:p>
        </p:txBody>
      </p:sp>
      <p:sp>
        <p:nvSpPr>
          <p:cNvPr id="935" name="Google Shape;935;p31"/>
          <p:cNvSpPr txBox="1"/>
          <p:nvPr/>
        </p:nvSpPr>
        <p:spPr>
          <a:xfrm>
            <a:off x="7234237" y="4182814"/>
            <a:ext cx="4338637"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Set ACU limits on child sessions to control cost</a:t>
            </a:r>
            <a:endParaRPr/>
          </a:p>
        </p:txBody>
      </p:sp>
      <p:sp>
        <p:nvSpPr>
          <p:cNvPr id="936" name="Google Shape;936;p31"/>
          <p:cNvSpPr txBox="1"/>
          <p:nvPr/>
        </p:nvSpPr>
        <p:spPr>
          <a:xfrm>
            <a:off x="7234237" y="4445644"/>
            <a:ext cx="4338637" cy="37326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Ensure each work package has a clear success/failure verification mechanism</a:t>
            </a:r>
            <a:endParaRPr/>
          </a:p>
        </p:txBody>
      </p:sp>
      <p:sp>
        <p:nvSpPr>
          <p:cNvPr id="937" name="Google Shape;937;p31"/>
          <p:cNvSpPr txBox="1"/>
          <p:nvPr/>
        </p:nvSpPr>
        <p:spPr>
          <a:xfrm>
            <a:off x="7234237" y="4895105"/>
            <a:ext cx="4338637" cy="37326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Review PRs from child sessions before merging — human review remains essential</a:t>
            </a:r>
            <a:endParaRPr/>
          </a:p>
        </p:txBody>
      </p:sp>
      <p:sp>
        <p:nvSpPr>
          <p:cNvPr id="938" name="Google Shape;938;p31"/>
          <p:cNvSpPr txBox="1"/>
          <p:nvPr/>
        </p:nvSpPr>
        <p:spPr>
          <a:xfrm>
            <a:off x="8657927" y="2335410"/>
            <a:ext cx="1262657" cy="114300"/>
          </a:xfrm>
          <a:prstGeom prst="rect">
            <a:avLst/>
          </a:prstGeom>
          <a:noFill/>
          <a:ln>
            <a:noFill/>
          </a:ln>
        </p:spPr>
        <p:txBody>
          <a:bodyPr anchorCtr="0" anchor="t" bIns="0" lIns="133350" spcFirstLastPara="1" rIns="0" wrap="square" tIns="0">
            <a:spAutoFit/>
          </a:bodyPr>
          <a:lstStyle/>
          <a:p>
            <a:pPr indent="0" lvl="0" marL="0" marR="0" rtl="0" algn="ctr">
              <a:lnSpc>
                <a:spcPct val="134909"/>
              </a:lnSpc>
              <a:spcBef>
                <a:spcPts val="0"/>
              </a:spcBef>
              <a:spcAft>
                <a:spcPts val="0"/>
              </a:spcAft>
              <a:buNone/>
            </a:pPr>
            <a:r>
              <a:rPr b="1" i="0" lang="en-US" sz="825" u="none" cap="none" strike="noStrike">
                <a:solidFill>
                  <a:srgbClr val="2563EB"/>
                </a:solidFill>
                <a:latin typeface="Plus Jakarta Sans"/>
                <a:ea typeface="Plus Jakarta Sans"/>
                <a:cs typeface="Plus Jakarta Sans"/>
                <a:sym typeface="Plus Jakarta Sans"/>
              </a:rPr>
              <a:t>Coordinator Devin VM</a:t>
            </a:r>
            <a:endParaRPr/>
          </a:p>
        </p:txBody>
      </p:sp>
      <p:sp>
        <p:nvSpPr>
          <p:cNvPr id="939" name="Google Shape;939;p31"/>
          <p:cNvSpPr txBox="1"/>
          <p:nvPr/>
        </p:nvSpPr>
        <p:spPr>
          <a:xfrm>
            <a:off x="7215187" y="2473672"/>
            <a:ext cx="4148137" cy="138112"/>
          </a:xfrm>
          <a:prstGeom prst="rect">
            <a:avLst/>
          </a:prstGeom>
          <a:noFill/>
          <a:ln>
            <a:noFill/>
          </a:ln>
        </p:spPr>
        <p:txBody>
          <a:bodyPr anchorCtr="0" anchor="t" bIns="0" lIns="0" spcFirstLastPara="1" rIns="0" wrap="square" tIns="0">
            <a:spAutoFit/>
          </a:bodyPr>
          <a:lstStyle/>
          <a:p>
            <a:pPr indent="0" lvl="0" marL="0" marR="0" rtl="0" algn="ctr">
              <a:lnSpc>
                <a:spcPct val="144933"/>
              </a:lnSpc>
              <a:spcBef>
                <a:spcPts val="0"/>
              </a:spcBef>
              <a:spcAft>
                <a:spcPts val="0"/>
              </a:spcAft>
              <a:buNone/>
            </a:pPr>
            <a:r>
              <a:rPr b="0" i="0" lang="en-US" sz="750" u="none" cap="none" strike="noStrike">
                <a:solidFill>
                  <a:srgbClr val="475569"/>
                </a:solidFill>
                <a:latin typeface="Plus Jakarta Sans"/>
                <a:ea typeface="Plus Jakarta Sans"/>
                <a:cs typeface="Plus Jakarta Sans"/>
                <a:sym typeface="Plus Jakarta Sans"/>
              </a:rPr>
              <a:t>Task Decomposition &amp; Analysis</a:t>
            </a:r>
            <a:endParaRPr/>
          </a:p>
        </p:txBody>
      </p:sp>
      <p:pic>
        <p:nvPicPr>
          <p:cNvPr descr="image.png" id="940" name="Google Shape;940;p31"/>
          <p:cNvPicPr preferRelativeResize="0"/>
          <p:nvPr/>
        </p:nvPicPr>
        <p:blipFill rotWithShape="1">
          <a:blip r:embed="rId11">
            <a:alphaModFix/>
          </a:blip>
          <a:srcRect b="0" l="0" r="0" t="0"/>
          <a:stretch/>
        </p:blipFill>
        <p:spPr>
          <a:xfrm>
            <a:off x="9232106" y="2754659"/>
            <a:ext cx="114300" cy="114300"/>
          </a:xfrm>
          <a:prstGeom prst="rect">
            <a:avLst/>
          </a:prstGeom>
          <a:noFill/>
          <a:ln>
            <a:noFill/>
          </a:ln>
        </p:spPr>
      </p:pic>
      <p:pic>
        <p:nvPicPr>
          <p:cNvPr descr="image.png" id="941" name="Google Shape;941;p31"/>
          <p:cNvPicPr preferRelativeResize="0"/>
          <p:nvPr/>
        </p:nvPicPr>
        <p:blipFill rotWithShape="1">
          <a:blip r:embed="rId12">
            <a:alphaModFix/>
          </a:blip>
          <a:srcRect b="0" l="0" r="0" t="0"/>
          <a:stretch/>
        </p:blipFill>
        <p:spPr>
          <a:xfrm>
            <a:off x="571500" y="3341340"/>
            <a:ext cx="57150" cy="95250"/>
          </a:xfrm>
          <a:prstGeom prst="rect">
            <a:avLst/>
          </a:prstGeom>
          <a:noFill/>
          <a:ln>
            <a:noFill/>
          </a:ln>
        </p:spPr>
      </p:pic>
      <p:pic>
        <p:nvPicPr>
          <p:cNvPr descr="image.png" id="942" name="Google Shape;942;p31"/>
          <p:cNvPicPr preferRelativeResize="0"/>
          <p:nvPr/>
        </p:nvPicPr>
        <p:blipFill rotWithShape="1">
          <a:blip r:embed="rId12">
            <a:alphaModFix/>
          </a:blip>
          <a:srcRect b="0" l="0" r="0" t="0"/>
          <a:stretch/>
        </p:blipFill>
        <p:spPr>
          <a:xfrm>
            <a:off x="571500" y="3604170"/>
            <a:ext cx="57150" cy="95250"/>
          </a:xfrm>
          <a:prstGeom prst="rect">
            <a:avLst/>
          </a:prstGeom>
          <a:noFill/>
          <a:ln>
            <a:noFill/>
          </a:ln>
        </p:spPr>
      </p:pic>
      <p:pic>
        <p:nvPicPr>
          <p:cNvPr descr="image.png" id="943" name="Google Shape;943;p31"/>
          <p:cNvPicPr preferRelativeResize="0"/>
          <p:nvPr/>
        </p:nvPicPr>
        <p:blipFill rotWithShape="1">
          <a:blip r:embed="rId12">
            <a:alphaModFix/>
          </a:blip>
          <a:srcRect b="0" l="0" r="0" t="0"/>
          <a:stretch/>
        </p:blipFill>
        <p:spPr>
          <a:xfrm>
            <a:off x="571500" y="3867001"/>
            <a:ext cx="57150" cy="95250"/>
          </a:xfrm>
          <a:prstGeom prst="rect">
            <a:avLst/>
          </a:prstGeom>
          <a:noFill/>
          <a:ln>
            <a:noFill/>
          </a:ln>
        </p:spPr>
      </p:pic>
      <p:pic>
        <p:nvPicPr>
          <p:cNvPr descr="image.png" id="944" name="Google Shape;944;p31"/>
          <p:cNvPicPr preferRelativeResize="0"/>
          <p:nvPr/>
        </p:nvPicPr>
        <p:blipFill rotWithShape="1">
          <a:blip r:embed="rId12">
            <a:alphaModFix/>
          </a:blip>
          <a:srcRect b="0" l="0" r="0" t="0"/>
          <a:stretch/>
        </p:blipFill>
        <p:spPr>
          <a:xfrm>
            <a:off x="571500" y="4316462"/>
            <a:ext cx="57150" cy="95250"/>
          </a:xfrm>
          <a:prstGeom prst="rect">
            <a:avLst/>
          </a:prstGeom>
          <a:noFill/>
          <a:ln>
            <a:noFill/>
          </a:ln>
        </p:spPr>
      </p:pic>
      <p:pic>
        <p:nvPicPr>
          <p:cNvPr descr="image.png" id="945" name="Google Shape;945;p31"/>
          <p:cNvPicPr preferRelativeResize="0"/>
          <p:nvPr/>
        </p:nvPicPr>
        <p:blipFill rotWithShape="1">
          <a:blip r:embed="rId12">
            <a:alphaModFix/>
          </a:blip>
          <a:srcRect b="0" l="0" r="0" t="0"/>
          <a:stretch/>
        </p:blipFill>
        <p:spPr>
          <a:xfrm>
            <a:off x="571500" y="4579292"/>
            <a:ext cx="57150" cy="95250"/>
          </a:xfrm>
          <a:prstGeom prst="rect">
            <a:avLst/>
          </a:prstGeom>
          <a:noFill/>
          <a:ln>
            <a:noFill/>
          </a:ln>
        </p:spPr>
      </p:pic>
      <p:pic>
        <p:nvPicPr>
          <p:cNvPr descr="image.png" id="946" name="Google Shape;946;p31"/>
          <p:cNvPicPr preferRelativeResize="0"/>
          <p:nvPr/>
        </p:nvPicPr>
        <p:blipFill rotWithShape="1">
          <a:blip r:embed="rId13">
            <a:alphaModFix/>
          </a:blip>
          <a:srcRect b="0" l="0" r="0" t="0"/>
          <a:stretch/>
        </p:blipFill>
        <p:spPr>
          <a:xfrm>
            <a:off x="8657927" y="2344935"/>
            <a:ext cx="133350" cy="104775"/>
          </a:xfrm>
          <a:prstGeom prst="rect">
            <a:avLst/>
          </a:prstGeom>
          <a:noFill/>
          <a:ln>
            <a:noFill/>
          </a:ln>
        </p:spPr>
      </p:pic>
      <p:sp>
        <p:nvSpPr>
          <p:cNvPr id="947" name="Google Shape;947;p31"/>
          <p:cNvSpPr txBox="1"/>
          <p:nvPr/>
        </p:nvSpPr>
        <p:spPr>
          <a:xfrm>
            <a:off x="7624167" y="2994570"/>
            <a:ext cx="412253" cy="104775"/>
          </a:xfrm>
          <a:prstGeom prst="rect">
            <a:avLst/>
          </a:prstGeom>
          <a:noFill/>
          <a:ln>
            <a:noFill/>
          </a:ln>
        </p:spPr>
        <p:txBody>
          <a:bodyPr anchorCtr="0" anchor="t" bIns="0" lIns="0" spcFirstLastPara="1" rIns="0" wrap="square" tIns="0">
            <a:spAutoFit/>
          </a:bodyPr>
          <a:lstStyle/>
          <a:p>
            <a:pPr indent="0" lvl="0" marL="0" marR="0" rtl="0" algn="ctr">
              <a:lnSpc>
                <a:spcPct val="134971"/>
              </a:lnSpc>
              <a:spcBef>
                <a:spcPts val="0"/>
              </a:spcBef>
              <a:spcAft>
                <a:spcPts val="0"/>
              </a:spcAft>
              <a:buNone/>
            </a:pPr>
            <a:r>
              <a:rPr b="1" i="0" lang="en-US" sz="712" u="none" cap="none" strike="noStrike">
                <a:solidFill>
                  <a:srgbClr val="7C3AED"/>
                </a:solidFill>
                <a:latin typeface="Plus Jakarta Sans"/>
                <a:ea typeface="Plus Jakarta Sans"/>
                <a:cs typeface="Plus Jakarta Sans"/>
                <a:sym typeface="Plus Jakarta Sans"/>
              </a:rPr>
              <a:t>Sub-VM 1</a:t>
            </a:r>
            <a:endParaRPr/>
          </a:p>
        </p:txBody>
      </p:sp>
      <p:sp>
        <p:nvSpPr>
          <p:cNvPr id="948" name="Google Shape;948;p31"/>
          <p:cNvSpPr txBox="1"/>
          <p:nvPr/>
        </p:nvSpPr>
        <p:spPr>
          <a:xfrm>
            <a:off x="7196137" y="3116609"/>
            <a:ext cx="1268462" cy="122039"/>
          </a:xfrm>
          <a:prstGeom prst="rect">
            <a:avLst/>
          </a:prstGeom>
          <a:noFill/>
          <a:ln>
            <a:noFill/>
          </a:ln>
        </p:spPr>
        <p:txBody>
          <a:bodyPr anchorCtr="0" anchor="t" bIns="0" lIns="0" spcFirstLastPara="1" rIns="0" wrap="square" tIns="0">
            <a:spAutoFit/>
          </a:bodyPr>
          <a:lstStyle/>
          <a:p>
            <a:pPr indent="0" lvl="0" marL="0" marR="0" rtl="0" algn="ctr">
              <a:lnSpc>
                <a:spcPct val="134971"/>
              </a:lnSpc>
              <a:spcBef>
                <a:spcPts val="0"/>
              </a:spcBef>
              <a:spcAft>
                <a:spcPts val="0"/>
              </a:spcAft>
              <a:buNone/>
            </a:pPr>
            <a:r>
              <a:rPr b="0" i="0" lang="en-US" sz="712" u="none" cap="none" strike="noStrike">
                <a:solidFill>
                  <a:srgbClr val="475569"/>
                </a:solidFill>
                <a:latin typeface="Plus Jakarta Sans"/>
                <a:ea typeface="Plus Jakarta Sans"/>
                <a:cs typeface="Plus Jakarta Sans"/>
                <a:sym typeface="Plus Jakarta Sans"/>
              </a:rPr>
              <a:t>File A Migration</a:t>
            </a:r>
            <a:endParaRPr/>
          </a:p>
        </p:txBody>
      </p:sp>
      <p:sp>
        <p:nvSpPr>
          <p:cNvPr id="949" name="Google Shape;949;p31"/>
          <p:cNvSpPr txBox="1"/>
          <p:nvPr/>
        </p:nvSpPr>
        <p:spPr>
          <a:xfrm>
            <a:off x="9083129" y="2994570"/>
            <a:ext cx="412253" cy="104775"/>
          </a:xfrm>
          <a:prstGeom prst="rect">
            <a:avLst/>
          </a:prstGeom>
          <a:noFill/>
          <a:ln>
            <a:noFill/>
          </a:ln>
        </p:spPr>
        <p:txBody>
          <a:bodyPr anchorCtr="0" anchor="t" bIns="0" lIns="0" spcFirstLastPara="1" rIns="0" wrap="square" tIns="0">
            <a:spAutoFit/>
          </a:bodyPr>
          <a:lstStyle/>
          <a:p>
            <a:pPr indent="0" lvl="0" marL="0" marR="0" rtl="0" algn="ctr">
              <a:lnSpc>
                <a:spcPct val="134971"/>
              </a:lnSpc>
              <a:spcBef>
                <a:spcPts val="0"/>
              </a:spcBef>
              <a:spcAft>
                <a:spcPts val="0"/>
              </a:spcAft>
              <a:buNone/>
            </a:pPr>
            <a:r>
              <a:rPr b="1" i="0" lang="en-US" sz="712" u="none" cap="none" strike="noStrike">
                <a:solidFill>
                  <a:srgbClr val="7C3AED"/>
                </a:solidFill>
                <a:latin typeface="Plus Jakarta Sans"/>
                <a:ea typeface="Plus Jakarta Sans"/>
                <a:cs typeface="Plus Jakarta Sans"/>
                <a:sym typeface="Plus Jakarta Sans"/>
              </a:rPr>
              <a:t>Sub-VM 2</a:t>
            </a:r>
            <a:endParaRPr/>
          </a:p>
        </p:txBody>
      </p:sp>
      <p:sp>
        <p:nvSpPr>
          <p:cNvPr id="950" name="Google Shape;950;p31"/>
          <p:cNvSpPr txBox="1"/>
          <p:nvPr/>
        </p:nvSpPr>
        <p:spPr>
          <a:xfrm>
            <a:off x="8655099" y="3116609"/>
            <a:ext cx="1268462" cy="122039"/>
          </a:xfrm>
          <a:prstGeom prst="rect">
            <a:avLst/>
          </a:prstGeom>
          <a:noFill/>
          <a:ln>
            <a:noFill/>
          </a:ln>
        </p:spPr>
        <p:txBody>
          <a:bodyPr anchorCtr="0" anchor="t" bIns="0" lIns="0" spcFirstLastPara="1" rIns="0" wrap="square" tIns="0">
            <a:spAutoFit/>
          </a:bodyPr>
          <a:lstStyle/>
          <a:p>
            <a:pPr indent="0" lvl="0" marL="0" marR="0" rtl="0" algn="ctr">
              <a:lnSpc>
                <a:spcPct val="134971"/>
              </a:lnSpc>
              <a:spcBef>
                <a:spcPts val="0"/>
              </a:spcBef>
              <a:spcAft>
                <a:spcPts val="0"/>
              </a:spcAft>
              <a:buNone/>
            </a:pPr>
            <a:r>
              <a:rPr b="0" i="0" lang="en-US" sz="712" u="none" cap="none" strike="noStrike">
                <a:solidFill>
                  <a:srgbClr val="475569"/>
                </a:solidFill>
                <a:latin typeface="Plus Jakarta Sans"/>
                <a:ea typeface="Plus Jakarta Sans"/>
                <a:cs typeface="Plus Jakarta Sans"/>
                <a:sym typeface="Plus Jakarta Sans"/>
              </a:rPr>
              <a:t>File B Migration</a:t>
            </a:r>
            <a:endParaRPr/>
          </a:p>
        </p:txBody>
      </p:sp>
      <p:sp>
        <p:nvSpPr>
          <p:cNvPr id="951" name="Google Shape;951;p31"/>
          <p:cNvSpPr txBox="1"/>
          <p:nvPr/>
        </p:nvSpPr>
        <p:spPr>
          <a:xfrm>
            <a:off x="10542091" y="2994570"/>
            <a:ext cx="412253" cy="104775"/>
          </a:xfrm>
          <a:prstGeom prst="rect">
            <a:avLst/>
          </a:prstGeom>
          <a:noFill/>
          <a:ln>
            <a:noFill/>
          </a:ln>
        </p:spPr>
        <p:txBody>
          <a:bodyPr anchorCtr="0" anchor="t" bIns="0" lIns="0" spcFirstLastPara="1" rIns="0" wrap="square" tIns="0">
            <a:spAutoFit/>
          </a:bodyPr>
          <a:lstStyle/>
          <a:p>
            <a:pPr indent="0" lvl="0" marL="0" marR="0" rtl="0" algn="ctr">
              <a:lnSpc>
                <a:spcPct val="134971"/>
              </a:lnSpc>
              <a:spcBef>
                <a:spcPts val="0"/>
              </a:spcBef>
              <a:spcAft>
                <a:spcPts val="0"/>
              </a:spcAft>
              <a:buNone/>
            </a:pPr>
            <a:r>
              <a:rPr b="1" i="0" lang="en-US" sz="712" u="none" cap="none" strike="noStrike">
                <a:solidFill>
                  <a:srgbClr val="7C3AED"/>
                </a:solidFill>
                <a:latin typeface="Plus Jakarta Sans"/>
                <a:ea typeface="Plus Jakarta Sans"/>
                <a:cs typeface="Plus Jakarta Sans"/>
                <a:sym typeface="Plus Jakarta Sans"/>
              </a:rPr>
              <a:t>Sub-VM 3</a:t>
            </a:r>
            <a:endParaRPr/>
          </a:p>
        </p:txBody>
      </p:sp>
      <p:sp>
        <p:nvSpPr>
          <p:cNvPr id="952" name="Google Shape;952;p31"/>
          <p:cNvSpPr txBox="1"/>
          <p:nvPr/>
        </p:nvSpPr>
        <p:spPr>
          <a:xfrm>
            <a:off x="10114061" y="3116609"/>
            <a:ext cx="1268462" cy="122039"/>
          </a:xfrm>
          <a:prstGeom prst="rect">
            <a:avLst/>
          </a:prstGeom>
          <a:noFill/>
          <a:ln>
            <a:noFill/>
          </a:ln>
        </p:spPr>
        <p:txBody>
          <a:bodyPr anchorCtr="0" anchor="t" bIns="0" lIns="0" spcFirstLastPara="1" rIns="0" wrap="square" tIns="0">
            <a:spAutoFit/>
          </a:bodyPr>
          <a:lstStyle/>
          <a:p>
            <a:pPr indent="0" lvl="0" marL="0" marR="0" rtl="0" algn="ctr">
              <a:lnSpc>
                <a:spcPct val="134971"/>
              </a:lnSpc>
              <a:spcBef>
                <a:spcPts val="0"/>
              </a:spcBef>
              <a:spcAft>
                <a:spcPts val="0"/>
              </a:spcAft>
              <a:buNone/>
            </a:pPr>
            <a:r>
              <a:rPr b="0" i="0" lang="en-US" sz="712" u="none" cap="none" strike="noStrike">
                <a:solidFill>
                  <a:srgbClr val="475569"/>
                </a:solidFill>
                <a:latin typeface="Plus Jakarta Sans"/>
                <a:ea typeface="Plus Jakarta Sans"/>
                <a:cs typeface="Plus Jakarta Sans"/>
                <a:sym typeface="Plus Jakarta Sans"/>
              </a:rPr>
              <a:t>File Z Migration</a:t>
            </a:r>
            <a:endParaRPr/>
          </a:p>
        </p:txBody>
      </p:sp>
      <p:pic>
        <p:nvPicPr>
          <p:cNvPr descr="image.png" id="953" name="Google Shape;953;p31"/>
          <p:cNvPicPr preferRelativeResize="0"/>
          <p:nvPr/>
        </p:nvPicPr>
        <p:blipFill rotWithShape="1">
          <a:blip r:embed="rId14">
            <a:alphaModFix/>
          </a:blip>
          <a:srcRect b="0" l="0" r="0" t="0"/>
          <a:stretch/>
        </p:blipFill>
        <p:spPr>
          <a:xfrm>
            <a:off x="7005637" y="3757166"/>
            <a:ext cx="171450" cy="142875"/>
          </a:xfrm>
          <a:prstGeom prst="rect">
            <a:avLst/>
          </a:prstGeom>
          <a:noFill/>
          <a:ln>
            <a:noFill/>
          </a:ln>
        </p:spPr>
      </p:pic>
      <p:pic>
        <p:nvPicPr>
          <p:cNvPr descr="image.png" id="954" name="Google Shape;954;p31"/>
          <p:cNvPicPr preferRelativeResize="0"/>
          <p:nvPr/>
        </p:nvPicPr>
        <p:blipFill rotWithShape="1">
          <a:blip r:embed="rId15">
            <a:alphaModFix/>
          </a:blip>
          <a:srcRect b="0" l="0" r="0" t="0"/>
          <a:stretch/>
        </p:blipFill>
        <p:spPr>
          <a:xfrm>
            <a:off x="7005637" y="4206626"/>
            <a:ext cx="76200" cy="142875"/>
          </a:xfrm>
          <a:prstGeom prst="rect">
            <a:avLst/>
          </a:prstGeom>
          <a:noFill/>
          <a:ln>
            <a:noFill/>
          </a:ln>
        </p:spPr>
      </p:pic>
      <p:pic>
        <p:nvPicPr>
          <p:cNvPr descr="image.png" id="955" name="Google Shape;955;p31"/>
          <p:cNvPicPr preferRelativeResize="0"/>
          <p:nvPr/>
        </p:nvPicPr>
        <p:blipFill rotWithShape="1">
          <a:blip r:embed="rId16">
            <a:alphaModFix/>
          </a:blip>
          <a:srcRect b="0" l="0" r="0" t="0"/>
          <a:stretch/>
        </p:blipFill>
        <p:spPr>
          <a:xfrm>
            <a:off x="7005637" y="4469457"/>
            <a:ext cx="114300" cy="142875"/>
          </a:xfrm>
          <a:prstGeom prst="rect">
            <a:avLst/>
          </a:prstGeom>
          <a:noFill/>
          <a:ln>
            <a:noFill/>
          </a:ln>
        </p:spPr>
      </p:pic>
      <p:pic>
        <p:nvPicPr>
          <p:cNvPr descr="image.png" id="956" name="Google Shape;956;p31"/>
          <p:cNvPicPr preferRelativeResize="0"/>
          <p:nvPr/>
        </p:nvPicPr>
        <p:blipFill rotWithShape="1">
          <a:blip r:embed="rId17">
            <a:alphaModFix/>
          </a:blip>
          <a:srcRect b="0" l="0" r="0" t="0"/>
          <a:stretch/>
        </p:blipFill>
        <p:spPr>
          <a:xfrm>
            <a:off x="7005637" y="4918918"/>
            <a:ext cx="171450" cy="142875"/>
          </a:xfrm>
          <a:prstGeom prst="rect">
            <a:avLst/>
          </a:prstGeom>
          <a:noFill/>
          <a:ln>
            <a:noFill/>
          </a:ln>
        </p:spPr>
      </p:pic>
      <p:sp>
        <p:nvSpPr>
          <p:cNvPr id="957" name="Google Shape;957;p31"/>
          <p:cNvSpPr txBox="1"/>
          <p:nvPr/>
        </p:nvSpPr>
        <p:spPr>
          <a:xfrm>
            <a:off x="571500" y="381000"/>
            <a:ext cx="11601450" cy="37147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2400" u="none" cap="none" strike="noStrike">
                <a:solidFill>
                  <a:srgbClr val="0F172A"/>
                </a:solidFill>
                <a:latin typeface="Plus Jakarta Sans ExtraBold"/>
                <a:ea typeface="Plus Jakarta Sans ExtraBold"/>
                <a:cs typeface="Plus Jakarta Sans ExtraBold"/>
                <a:sym typeface="Plus Jakarta Sans ExtraBold"/>
              </a:rPr>
              <a:t>Managed Parallel Orchestrator</a:t>
            </a:r>
            <a:endParaRPr/>
          </a:p>
        </p:txBody>
      </p:sp>
      <p:sp>
        <p:nvSpPr>
          <p:cNvPr id="958" name="Google Shape;958;p31"/>
          <p:cNvSpPr/>
          <p:nvPr/>
        </p:nvSpPr>
        <p:spPr>
          <a:xfrm>
            <a:off x="571500" y="847725"/>
            <a:ext cx="11049000" cy="19050"/>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62" name="Shape 962"/>
        <p:cNvGrpSpPr/>
        <p:nvPr/>
      </p:nvGrpSpPr>
      <p:grpSpPr>
        <a:xfrm>
          <a:off x="0" y="0"/>
          <a:ext cx="0" cy="0"/>
          <a:chOff x="0" y="0"/>
          <a:chExt cx="0" cy="0"/>
        </a:xfrm>
      </p:grpSpPr>
      <p:pic>
        <p:nvPicPr>
          <p:cNvPr descr="image.png" id="963" name="Google Shape;963;p32"/>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964" name="Google Shape;964;p32"/>
          <p:cNvPicPr preferRelativeResize="0"/>
          <p:nvPr/>
        </p:nvPicPr>
        <p:blipFill rotWithShape="1">
          <a:blip r:embed="rId4">
            <a:alphaModFix/>
          </a:blip>
          <a:srcRect b="0" l="0" r="0" t="0"/>
          <a:stretch/>
        </p:blipFill>
        <p:spPr>
          <a:xfrm>
            <a:off x="571500" y="3808958"/>
            <a:ext cx="11049000" cy="1314450"/>
          </a:xfrm>
          <a:prstGeom prst="rect">
            <a:avLst/>
          </a:prstGeom>
          <a:noFill/>
          <a:ln>
            <a:noFill/>
          </a:ln>
        </p:spPr>
      </p:pic>
      <p:pic>
        <p:nvPicPr>
          <p:cNvPr descr="image.png" id="965" name="Google Shape;965;p32"/>
          <p:cNvPicPr preferRelativeResize="0"/>
          <p:nvPr/>
        </p:nvPicPr>
        <p:blipFill rotWithShape="1">
          <a:blip r:embed="rId5">
            <a:alphaModFix/>
          </a:blip>
          <a:srcRect b="0" l="0" r="0" t="0"/>
          <a:stretch/>
        </p:blipFill>
        <p:spPr>
          <a:xfrm>
            <a:off x="571500" y="2391816"/>
            <a:ext cx="3587650" cy="1302841"/>
          </a:xfrm>
          <a:prstGeom prst="rect">
            <a:avLst/>
          </a:prstGeom>
          <a:noFill/>
          <a:ln>
            <a:noFill/>
          </a:ln>
        </p:spPr>
      </p:pic>
      <p:pic>
        <p:nvPicPr>
          <p:cNvPr descr="image.png" id="966" name="Google Shape;966;p32"/>
          <p:cNvPicPr preferRelativeResize="0"/>
          <p:nvPr/>
        </p:nvPicPr>
        <p:blipFill rotWithShape="1">
          <a:blip r:embed="rId6">
            <a:alphaModFix/>
          </a:blip>
          <a:srcRect b="0" l="0" r="0" t="0"/>
          <a:stretch/>
        </p:blipFill>
        <p:spPr>
          <a:xfrm>
            <a:off x="4302025" y="2391816"/>
            <a:ext cx="3946624" cy="1302841"/>
          </a:xfrm>
          <a:prstGeom prst="rect">
            <a:avLst/>
          </a:prstGeom>
          <a:noFill/>
          <a:ln>
            <a:noFill/>
          </a:ln>
        </p:spPr>
      </p:pic>
      <p:pic>
        <p:nvPicPr>
          <p:cNvPr descr="image.png" id="967" name="Google Shape;967;p32"/>
          <p:cNvPicPr preferRelativeResize="0"/>
          <p:nvPr/>
        </p:nvPicPr>
        <p:blipFill rotWithShape="1">
          <a:blip r:embed="rId7">
            <a:alphaModFix/>
          </a:blip>
          <a:srcRect b="0" l="0" r="0" t="0"/>
          <a:stretch/>
        </p:blipFill>
        <p:spPr>
          <a:xfrm>
            <a:off x="8391525" y="2391816"/>
            <a:ext cx="3228826" cy="1302841"/>
          </a:xfrm>
          <a:prstGeom prst="rect">
            <a:avLst/>
          </a:prstGeom>
          <a:noFill/>
          <a:ln>
            <a:noFill/>
          </a:ln>
        </p:spPr>
      </p:pic>
      <p:pic>
        <p:nvPicPr>
          <p:cNvPr descr="image.png" id="968" name="Google Shape;968;p32"/>
          <p:cNvPicPr preferRelativeResize="0"/>
          <p:nvPr/>
        </p:nvPicPr>
        <p:blipFill rotWithShape="1">
          <a:blip r:embed="rId8">
            <a:alphaModFix/>
          </a:blip>
          <a:srcRect b="0" l="0" r="0" t="0"/>
          <a:stretch/>
        </p:blipFill>
        <p:spPr>
          <a:xfrm>
            <a:off x="695325" y="2525166"/>
            <a:ext cx="1219497" cy="180975"/>
          </a:xfrm>
          <a:prstGeom prst="rect">
            <a:avLst/>
          </a:prstGeom>
          <a:noFill/>
          <a:ln>
            <a:noFill/>
          </a:ln>
        </p:spPr>
      </p:pic>
      <p:pic>
        <p:nvPicPr>
          <p:cNvPr descr="image.png" id="969" name="Google Shape;969;p32"/>
          <p:cNvPicPr preferRelativeResize="0"/>
          <p:nvPr/>
        </p:nvPicPr>
        <p:blipFill rotWithShape="1">
          <a:blip r:embed="rId9">
            <a:alphaModFix/>
          </a:blip>
          <a:srcRect b="0" l="0" r="0" t="0"/>
          <a:stretch/>
        </p:blipFill>
        <p:spPr>
          <a:xfrm>
            <a:off x="4425850" y="2525166"/>
            <a:ext cx="1505247" cy="180975"/>
          </a:xfrm>
          <a:prstGeom prst="rect">
            <a:avLst/>
          </a:prstGeom>
          <a:noFill/>
          <a:ln>
            <a:noFill/>
          </a:ln>
        </p:spPr>
      </p:pic>
      <p:pic>
        <p:nvPicPr>
          <p:cNvPr descr="image.png" id="970" name="Google Shape;970;p32"/>
          <p:cNvPicPr preferRelativeResize="0"/>
          <p:nvPr/>
        </p:nvPicPr>
        <p:blipFill rotWithShape="1">
          <a:blip r:embed="rId10">
            <a:alphaModFix/>
          </a:blip>
          <a:srcRect b="0" l="0" r="0" t="0"/>
          <a:stretch/>
        </p:blipFill>
        <p:spPr>
          <a:xfrm>
            <a:off x="8515350" y="2525166"/>
            <a:ext cx="1105048" cy="180975"/>
          </a:xfrm>
          <a:prstGeom prst="rect">
            <a:avLst/>
          </a:prstGeom>
          <a:noFill/>
          <a:ln>
            <a:noFill/>
          </a:ln>
        </p:spPr>
      </p:pic>
      <p:pic>
        <p:nvPicPr>
          <p:cNvPr descr="image.png" id="971" name="Google Shape;971;p32"/>
          <p:cNvPicPr preferRelativeResize="0"/>
          <p:nvPr/>
        </p:nvPicPr>
        <p:blipFill rotWithShape="1">
          <a:blip r:embed="rId11">
            <a:alphaModFix/>
          </a:blip>
          <a:srcRect b="0" l="0" r="0" t="0"/>
          <a:stretch/>
        </p:blipFill>
        <p:spPr>
          <a:xfrm>
            <a:off x="571500" y="457200"/>
            <a:ext cx="823168" cy="200025"/>
          </a:xfrm>
          <a:prstGeom prst="rect">
            <a:avLst/>
          </a:prstGeom>
          <a:noFill/>
          <a:ln>
            <a:noFill/>
          </a:ln>
        </p:spPr>
      </p:pic>
      <p:graphicFrame>
        <p:nvGraphicFramePr>
          <p:cNvPr id="972" name="Google Shape;972;p32"/>
          <p:cNvGraphicFramePr/>
          <p:nvPr/>
        </p:nvGraphicFramePr>
        <p:xfrm>
          <a:off x="581025" y="3818483"/>
          <a:ext cx="3000000" cy="3000000"/>
        </p:xfrm>
        <a:graphic>
          <a:graphicData uri="http://schemas.openxmlformats.org/drawingml/2006/table">
            <a:tbl>
              <a:tblPr bandRow="1" firstRow="1">
                <a:noFill/>
                <a:tableStyleId>{6AF95251-05E6-4B1C-8FEE-4ABA8F11838E}</a:tableStyleId>
              </a:tblPr>
              <a:tblGrid>
                <a:gridCol w="1916025"/>
                <a:gridCol w="1196575"/>
                <a:gridCol w="1368925"/>
                <a:gridCol w="1481125"/>
                <a:gridCol w="5067300"/>
              </a:tblGrid>
              <a:tr h="323850">
                <a:tc>
                  <a:txBody>
                    <a:bodyPr/>
                    <a:lstStyle/>
                    <a:p>
                      <a:pPr indent="0" lvl="0" marL="0" marR="0" rtl="0" algn="l">
                        <a:spcBef>
                          <a:spcPts val="0"/>
                        </a:spcBef>
                        <a:spcAft>
                          <a:spcPts val="0"/>
                        </a:spcAft>
                        <a:buNone/>
                      </a:pPr>
                      <a:r>
                        <a:rPr b="1" i="0" lang="en-US" sz="750" u="none" cap="none" strike="noStrike">
                          <a:solidFill>
                            <a:srgbClr val="0F172A"/>
                          </a:solidFill>
                          <a:latin typeface="JetBrains Mono"/>
                          <a:ea typeface="JetBrains Mono"/>
                          <a:cs typeface="JetBrains Mono"/>
                          <a:sym typeface="JetBrains Mono"/>
                        </a:rPr>
                        <a:t>Feature Name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1" i="0" lang="en-US" sz="750" u="none" cap="none" strike="noStrike">
                          <a:solidFill>
                            <a:srgbClr val="0F172A"/>
                          </a:solidFill>
                          <a:latin typeface="JetBrains Mono"/>
                          <a:ea typeface="JetBrains Mono"/>
                          <a:cs typeface="JetBrains Mono"/>
                          <a:sym typeface="JetBrains Mono"/>
                        </a:rPr>
                        <a:t>Layer Type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1" i="0" lang="en-US" sz="750" u="none" cap="none" strike="noStrike">
                          <a:solidFill>
                            <a:srgbClr val="0F172A"/>
                          </a:solidFill>
                          <a:latin typeface="JetBrains Mono"/>
                          <a:ea typeface="JetBrains Mono"/>
                          <a:cs typeface="JetBrains Mono"/>
                          <a:sym typeface="JetBrains Mono"/>
                        </a:rPr>
                        <a:t>Scope Level</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1" i="0" lang="en-US" sz="750" u="none" cap="none" strike="noStrike">
                          <a:solidFill>
                            <a:srgbClr val="0F172A"/>
                          </a:solidFill>
                          <a:latin typeface="JetBrains Mono"/>
                          <a:ea typeface="JetBrains Mono"/>
                          <a:cs typeface="JetBrains Mono"/>
                          <a:sym typeface="JetBrains Mono"/>
                        </a:rPr>
                        <a:t>Is Reusable?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1" i="0" lang="en-US" sz="750" u="none" cap="none" strike="noStrike">
                          <a:solidFill>
                            <a:srgbClr val="0F172A"/>
                          </a:solidFill>
                          <a:latin typeface="JetBrains Mono"/>
                          <a:ea typeface="JetBrains Mono"/>
                          <a:cs typeface="JetBrains Mono"/>
                          <a:sym typeface="JetBrains Mono"/>
                        </a:rPr>
                        <a:t>Core Interactive Connection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r>
              <a:tr h="323850">
                <a:tc>
                  <a:txBody>
                    <a:bodyPr/>
                    <a:lstStyle/>
                    <a:p>
                      <a:pPr indent="0" lvl="0" marL="0" marR="0" rtl="0" algn="l">
                        <a:spcBef>
                          <a:spcPts val="0"/>
                        </a:spcBef>
                        <a:spcAft>
                          <a:spcPts val="0"/>
                        </a:spcAft>
                        <a:buNone/>
                      </a:pPr>
                      <a:r>
                        <a:rPr b="1" i="0" lang="en-US" sz="900" u="none" cap="none" strike="noStrike">
                          <a:solidFill>
                            <a:srgbClr val="334155"/>
                          </a:solidFill>
                          <a:latin typeface="Plus Jakarta Sans"/>
                          <a:ea typeface="Plus Jakarta Sans"/>
                          <a:cs typeface="Plus Jakarta Sans"/>
                          <a:sym typeface="Plus Jakarta Sans"/>
                        </a:rPr>
                        <a:t>Environment/Snapshot</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Foundational</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Organization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Yes (Required)</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Clones repos and installs target compiler dependencies for VM sandboxes.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23850">
                <a:tc>
                  <a:txBody>
                    <a:bodyPr/>
                    <a:lstStyle/>
                    <a:p>
                      <a:pPr indent="0" lvl="0" marL="0" marR="0" rtl="0" algn="l">
                        <a:spcBef>
                          <a:spcPts val="0"/>
                        </a:spcBef>
                        <a:spcAft>
                          <a:spcPts val="0"/>
                        </a:spcAft>
                        <a:buNone/>
                      </a:pPr>
                      <a:r>
                        <a:rPr b="1" i="0" lang="en-US" sz="900" u="none" cap="none" strike="noStrike">
                          <a:solidFill>
                            <a:srgbClr val="334155"/>
                          </a:solidFill>
                          <a:latin typeface="Plus Jakarta Sans"/>
                          <a:ea typeface="Plus Jakarta Sans"/>
                          <a:cs typeface="Plus Jakarta Sans"/>
                          <a:sym typeface="Plus Jakarta Sans"/>
                        </a:rPr>
                        <a:t>Knowledge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Memory</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Org / Enterprise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Yes (All sessions)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Automatically matching context keywords during active processes.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23850">
                <a:tc>
                  <a:txBody>
                    <a:bodyPr/>
                    <a:lstStyle/>
                    <a:p>
                      <a:pPr indent="0" lvl="0" marL="0" marR="0" rtl="0" algn="l">
                        <a:spcBef>
                          <a:spcPts val="0"/>
                        </a:spcBef>
                        <a:spcAft>
                          <a:spcPts val="0"/>
                        </a:spcAft>
                        <a:buNone/>
                      </a:pPr>
                      <a:r>
                        <a:rPr b="1" i="0" lang="en-US" sz="900" u="none" cap="none" strike="noStrike">
                          <a:solidFill>
                            <a:srgbClr val="334155"/>
                          </a:solidFill>
                          <a:latin typeface="Plus Jakarta Sans"/>
                          <a:ea typeface="Plus Jakarta Sans"/>
                          <a:cs typeface="Plus Jakarta Sans"/>
                          <a:sym typeface="Plus Jakarta Sans"/>
                        </a:rPr>
                        <a:t>Skills &amp; Playbooks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Workflow</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Repo / Org</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Yes (Versioned)</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Injects explicit commands and custom postcondition checklists dynamically.</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973" name="Google Shape;973;p32"/>
          <p:cNvSpPr/>
          <p:nvPr/>
        </p:nvSpPr>
        <p:spPr>
          <a:xfrm>
            <a:off x="581025" y="4108995"/>
            <a:ext cx="1916013"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74" name="Google Shape;974;p32"/>
          <p:cNvSpPr/>
          <p:nvPr/>
        </p:nvSpPr>
        <p:spPr>
          <a:xfrm>
            <a:off x="2497038" y="4108995"/>
            <a:ext cx="1196578"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75" name="Google Shape;975;p32"/>
          <p:cNvSpPr/>
          <p:nvPr/>
        </p:nvSpPr>
        <p:spPr>
          <a:xfrm>
            <a:off x="3693616" y="4108995"/>
            <a:ext cx="1368921"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76" name="Google Shape;976;p32"/>
          <p:cNvSpPr/>
          <p:nvPr/>
        </p:nvSpPr>
        <p:spPr>
          <a:xfrm>
            <a:off x="5062537" y="4108995"/>
            <a:ext cx="1481137"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77" name="Google Shape;977;p32"/>
          <p:cNvSpPr/>
          <p:nvPr/>
        </p:nvSpPr>
        <p:spPr>
          <a:xfrm>
            <a:off x="6543675" y="4108995"/>
            <a:ext cx="5067300"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78" name="Google Shape;978;p32"/>
          <p:cNvSpPr txBox="1"/>
          <p:nvPr/>
        </p:nvSpPr>
        <p:spPr>
          <a:xfrm>
            <a:off x="923925" y="2782341"/>
            <a:ext cx="3111400"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Environment Blueprints &amp; Snapshots</a:t>
            </a:r>
            <a:endParaRPr/>
          </a:p>
        </p:txBody>
      </p:sp>
      <p:sp>
        <p:nvSpPr>
          <p:cNvPr id="979" name="Google Shape;979;p32"/>
          <p:cNvSpPr txBox="1"/>
          <p:nvPr/>
        </p:nvSpPr>
        <p:spPr>
          <a:xfrm>
            <a:off x="923925" y="3045172"/>
            <a:ext cx="3111400"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Cloned &amp; Indexed Repository Database</a:t>
            </a:r>
            <a:endParaRPr/>
          </a:p>
        </p:txBody>
      </p:sp>
      <p:sp>
        <p:nvSpPr>
          <p:cNvPr id="980" name="Google Shape;980;p32"/>
          <p:cNvSpPr txBox="1"/>
          <p:nvPr/>
        </p:nvSpPr>
        <p:spPr>
          <a:xfrm>
            <a:off x="4654450" y="2782341"/>
            <a:ext cx="3470374"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Trigger-Based Context Knowledge</a:t>
            </a:r>
            <a:endParaRPr/>
          </a:p>
        </p:txBody>
      </p:sp>
      <p:sp>
        <p:nvSpPr>
          <p:cNvPr id="981" name="Google Shape;981;p32"/>
          <p:cNvSpPr txBox="1"/>
          <p:nvPr/>
        </p:nvSpPr>
        <p:spPr>
          <a:xfrm>
            <a:off x="4654450" y="3045172"/>
            <a:ext cx="3470374"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Committed Skills &amp; Playbook Templates</a:t>
            </a:r>
            <a:endParaRPr/>
          </a:p>
        </p:txBody>
      </p:sp>
      <p:sp>
        <p:nvSpPr>
          <p:cNvPr id="982" name="Google Shape;982;p32"/>
          <p:cNvSpPr txBox="1"/>
          <p:nvPr/>
        </p:nvSpPr>
        <p:spPr>
          <a:xfrm>
            <a:off x="4654450" y="3308002"/>
            <a:ext cx="3470374"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AGENTS.md Repository Rules</a:t>
            </a:r>
            <a:endParaRPr/>
          </a:p>
        </p:txBody>
      </p:sp>
      <p:sp>
        <p:nvSpPr>
          <p:cNvPr id="983" name="Google Shape;983;p32"/>
          <p:cNvSpPr txBox="1"/>
          <p:nvPr/>
        </p:nvSpPr>
        <p:spPr>
          <a:xfrm>
            <a:off x="8743950" y="2782341"/>
            <a:ext cx="2752576"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Webhooks &amp; Scheduled CRON Runs</a:t>
            </a:r>
            <a:endParaRPr/>
          </a:p>
        </p:txBody>
      </p:sp>
      <p:sp>
        <p:nvSpPr>
          <p:cNvPr id="984" name="Google Shape;984;p32"/>
          <p:cNvSpPr txBox="1"/>
          <p:nvPr/>
        </p:nvSpPr>
        <p:spPr>
          <a:xfrm>
            <a:off x="8743950" y="3045172"/>
            <a:ext cx="2752576"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Managed Parallel Coordinator Flows</a:t>
            </a:r>
            <a:endParaRPr/>
          </a:p>
        </p:txBody>
      </p:sp>
      <p:sp>
        <p:nvSpPr>
          <p:cNvPr id="985" name="Google Shape;985;p32"/>
          <p:cNvSpPr/>
          <p:nvPr/>
        </p:nvSpPr>
        <p:spPr>
          <a:xfrm>
            <a:off x="581025" y="4442370"/>
            <a:ext cx="1916013"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86" name="Google Shape;986;p32"/>
          <p:cNvSpPr/>
          <p:nvPr/>
        </p:nvSpPr>
        <p:spPr>
          <a:xfrm>
            <a:off x="2497038" y="4442370"/>
            <a:ext cx="1196578"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87" name="Google Shape;987;p32"/>
          <p:cNvSpPr/>
          <p:nvPr/>
        </p:nvSpPr>
        <p:spPr>
          <a:xfrm>
            <a:off x="3693616" y="4442370"/>
            <a:ext cx="1368921"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88" name="Google Shape;988;p32"/>
          <p:cNvSpPr/>
          <p:nvPr/>
        </p:nvSpPr>
        <p:spPr>
          <a:xfrm>
            <a:off x="5062537" y="4442370"/>
            <a:ext cx="1481137"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89" name="Google Shape;989;p32"/>
          <p:cNvSpPr/>
          <p:nvPr/>
        </p:nvSpPr>
        <p:spPr>
          <a:xfrm>
            <a:off x="6543675" y="4442370"/>
            <a:ext cx="5067300"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90" name="Google Shape;990;p32"/>
          <p:cNvSpPr/>
          <p:nvPr/>
        </p:nvSpPr>
        <p:spPr>
          <a:xfrm>
            <a:off x="581025" y="4775745"/>
            <a:ext cx="1916013"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91" name="Google Shape;991;p32"/>
          <p:cNvSpPr/>
          <p:nvPr/>
        </p:nvSpPr>
        <p:spPr>
          <a:xfrm>
            <a:off x="2497038" y="4775745"/>
            <a:ext cx="1196578"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92" name="Google Shape;992;p32"/>
          <p:cNvSpPr/>
          <p:nvPr/>
        </p:nvSpPr>
        <p:spPr>
          <a:xfrm>
            <a:off x="3693616" y="4775745"/>
            <a:ext cx="1368921"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93" name="Google Shape;993;p32"/>
          <p:cNvSpPr/>
          <p:nvPr/>
        </p:nvSpPr>
        <p:spPr>
          <a:xfrm>
            <a:off x="5062537" y="4775745"/>
            <a:ext cx="1481137"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94" name="Google Shape;994;p32"/>
          <p:cNvSpPr/>
          <p:nvPr/>
        </p:nvSpPr>
        <p:spPr>
          <a:xfrm>
            <a:off x="6543675" y="4775745"/>
            <a:ext cx="5067300"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995" name="Google Shape;995;p32"/>
          <p:cNvPicPr preferRelativeResize="0"/>
          <p:nvPr/>
        </p:nvPicPr>
        <p:blipFill rotWithShape="1">
          <a:blip r:embed="rId12">
            <a:alphaModFix/>
          </a:blip>
          <a:srcRect b="0" l="0" r="0" t="0"/>
          <a:stretch/>
        </p:blipFill>
        <p:spPr>
          <a:xfrm>
            <a:off x="695325" y="2806154"/>
            <a:ext cx="133350" cy="142875"/>
          </a:xfrm>
          <a:prstGeom prst="rect">
            <a:avLst/>
          </a:prstGeom>
          <a:noFill/>
          <a:ln>
            <a:noFill/>
          </a:ln>
        </p:spPr>
      </p:pic>
      <p:pic>
        <p:nvPicPr>
          <p:cNvPr descr="image.png" id="996" name="Google Shape;996;p32"/>
          <p:cNvPicPr preferRelativeResize="0"/>
          <p:nvPr/>
        </p:nvPicPr>
        <p:blipFill rotWithShape="1">
          <a:blip r:embed="rId13">
            <a:alphaModFix/>
          </a:blip>
          <a:srcRect b="0" l="0" r="0" t="0"/>
          <a:stretch/>
        </p:blipFill>
        <p:spPr>
          <a:xfrm>
            <a:off x="695325" y="3068984"/>
            <a:ext cx="114300" cy="142875"/>
          </a:xfrm>
          <a:prstGeom prst="rect">
            <a:avLst/>
          </a:prstGeom>
          <a:noFill/>
          <a:ln>
            <a:noFill/>
          </a:ln>
        </p:spPr>
      </p:pic>
      <p:pic>
        <p:nvPicPr>
          <p:cNvPr descr="image.png" id="997" name="Google Shape;997;p32"/>
          <p:cNvPicPr preferRelativeResize="0"/>
          <p:nvPr/>
        </p:nvPicPr>
        <p:blipFill rotWithShape="1">
          <a:blip r:embed="rId14">
            <a:alphaModFix/>
          </a:blip>
          <a:srcRect b="0" l="0" r="0" t="0"/>
          <a:stretch/>
        </p:blipFill>
        <p:spPr>
          <a:xfrm>
            <a:off x="4425850" y="2806154"/>
            <a:ext cx="133350" cy="142875"/>
          </a:xfrm>
          <a:prstGeom prst="rect">
            <a:avLst/>
          </a:prstGeom>
          <a:noFill/>
          <a:ln>
            <a:noFill/>
          </a:ln>
        </p:spPr>
      </p:pic>
      <p:pic>
        <p:nvPicPr>
          <p:cNvPr descr="image.png" id="998" name="Google Shape;998;p32"/>
          <p:cNvPicPr preferRelativeResize="0"/>
          <p:nvPr/>
        </p:nvPicPr>
        <p:blipFill rotWithShape="1">
          <a:blip r:embed="rId15">
            <a:alphaModFix/>
          </a:blip>
          <a:srcRect b="0" l="0" r="0" t="0"/>
          <a:stretch/>
        </p:blipFill>
        <p:spPr>
          <a:xfrm>
            <a:off x="4425850" y="3068984"/>
            <a:ext cx="133350" cy="142875"/>
          </a:xfrm>
          <a:prstGeom prst="rect">
            <a:avLst/>
          </a:prstGeom>
          <a:noFill/>
          <a:ln>
            <a:noFill/>
          </a:ln>
        </p:spPr>
      </p:pic>
      <p:pic>
        <p:nvPicPr>
          <p:cNvPr descr="image.png" id="999" name="Google Shape;999;p32"/>
          <p:cNvPicPr preferRelativeResize="0"/>
          <p:nvPr/>
        </p:nvPicPr>
        <p:blipFill rotWithShape="1">
          <a:blip r:embed="rId16">
            <a:alphaModFix/>
          </a:blip>
          <a:srcRect b="0" l="0" r="0" t="0"/>
          <a:stretch/>
        </p:blipFill>
        <p:spPr>
          <a:xfrm>
            <a:off x="4425850" y="3331815"/>
            <a:ext cx="104775" cy="142875"/>
          </a:xfrm>
          <a:prstGeom prst="rect">
            <a:avLst/>
          </a:prstGeom>
          <a:noFill/>
          <a:ln>
            <a:noFill/>
          </a:ln>
        </p:spPr>
      </p:pic>
      <p:pic>
        <p:nvPicPr>
          <p:cNvPr descr="image.png" id="1000" name="Google Shape;1000;p32"/>
          <p:cNvPicPr preferRelativeResize="0"/>
          <p:nvPr/>
        </p:nvPicPr>
        <p:blipFill rotWithShape="1">
          <a:blip r:embed="rId17">
            <a:alphaModFix/>
          </a:blip>
          <a:srcRect b="0" l="0" r="0" t="0"/>
          <a:stretch/>
        </p:blipFill>
        <p:spPr>
          <a:xfrm>
            <a:off x="8515350" y="2806154"/>
            <a:ext cx="171450" cy="142875"/>
          </a:xfrm>
          <a:prstGeom prst="rect">
            <a:avLst/>
          </a:prstGeom>
          <a:noFill/>
          <a:ln>
            <a:noFill/>
          </a:ln>
        </p:spPr>
      </p:pic>
      <p:pic>
        <p:nvPicPr>
          <p:cNvPr descr="image.png" id="1001" name="Google Shape;1001;p32"/>
          <p:cNvPicPr preferRelativeResize="0"/>
          <p:nvPr/>
        </p:nvPicPr>
        <p:blipFill rotWithShape="1">
          <a:blip r:embed="rId18">
            <a:alphaModFix/>
          </a:blip>
          <a:srcRect b="0" l="0" r="0" t="0"/>
          <a:stretch/>
        </p:blipFill>
        <p:spPr>
          <a:xfrm>
            <a:off x="8515350" y="3068984"/>
            <a:ext cx="133350" cy="142875"/>
          </a:xfrm>
          <a:prstGeom prst="rect">
            <a:avLst/>
          </a:prstGeom>
          <a:noFill/>
          <a:ln>
            <a:noFill/>
          </a:ln>
        </p:spPr>
      </p:pic>
      <p:sp>
        <p:nvSpPr>
          <p:cNvPr id="1002" name="Google Shape;1002;p32"/>
          <p:cNvSpPr txBox="1"/>
          <p:nvPr/>
        </p:nvSpPr>
        <p:spPr>
          <a:xfrm>
            <a:off x="571500" y="381000"/>
            <a:ext cx="11601450" cy="37147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2400" u="none" cap="none" strike="noStrike">
                <a:solidFill>
                  <a:srgbClr val="0F172A"/>
                </a:solidFill>
                <a:latin typeface="Plus Jakarta Sans ExtraBold"/>
                <a:ea typeface="Plus Jakarta Sans ExtraBold"/>
                <a:cs typeface="Plus Jakarta Sans ExtraBold"/>
                <a:sym typeface="Plus Jakarta Sans ExtraBold"/>
              </a:rPr>
              <a:t>Feature Integration Fabric</a:t>
            </a:r>
            <a:endParaRPr/>
          </a:p>
        </p:txBody>
      </p:sp>
      <p:sp>
        <p:nvSpPr>
          <p:cNvPr id="1003" name="Google Shape;1003;p32"/>
          <p:cNvSpPr/>
          <p:nvPr/>
        </p:nvSpPr>
        <p:spPr>
          <a:xfrm>
            <a:off x="571500" y="847725"/>
            <a:ext cx="11049000" cy="19050"/>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07" name="Shape 1007"/>
        <p:cNvGrpSpPr/>
        <p:nvPr/>
      </p:nvGrpSpPr>
      <p:grpSpPr>
        <a:xfrm>
          <a:off x="0" y="0"/>
          <a:ext cx="0" cy="0"/>
          <a:chOff x="0" y="0"/>
          <a:chExt cx="0" cy="0"/>
        </a:xfrm>
      </p:grpSpPr>
      <p:pic>
        <p:nvPicPr>
          <p:cNvPr descr="image.png" id="1008" name="Google Shape;1008;p33"/>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id="1009" name="Google Shape;1009;p33"/>
          <p:cNvPicPr preferRelativeResize="0"/>
          <p:nvPr/>
        </p:nvPicPr>
        <p:blipFill rotWithShape="1">
          <a:blip r:embed="rId4">
            <a:alphaModFix/>
          </a:blip>
          <a:srcRect b="0" l="0" r="0" t="0"/>
          <a:stretch/>
        </p:blipFill>
        <p:spPr>
          <a:xfrm>
            <a:off x="1571625" y="1981200"/>
            <a:ext cx="7543800" cy="38100"/>
          </a:xfrm>
          <a:prstGeom prst="rect">
            <a:avLst/>
          </a:prstGeom>
          <a:noFill/>
          <a:ln>
            <a:noFill/>
          </a:ln>
        </p:spPr>
      </p:pic>
      <p:grpSp>
        <p:nvGrpSpPr>
          <p:cNvPr id="1010" name="Google Shape;1010;p33"/>
          <p:cNvGrpSpPr/>
          <p:nvPr/>
        </p:nvGrpSpPr>
        <p:grpSpPr>
          <a:xfrm>
            <a:off x="571500" y="1809750"/>
            <a:ext cx="2000100" cy="3619500"/>
            <a:chOff x="571500" y="1809750"/>
            <a:chExt cx="2000100" cy="3619500"/>
          </a:xfrm>
        </p:grpSpPr>
        <p:sp>
          <p:nvSpPr>
            <p:cNvPr id="1011" name="Google Shape;1011;p33"/>
            <p:cNvSpPr/>
            <p:nvPr/>
          </p:nvSpPr>
          <p:spPr>
            <a:xfrm>
              <a:off x="571500" y="2381250"/>
              <a:ext cx="2000100" cy="3048000"/>
            </a:xfrm>
            <a:prstGeom prst="roundRect">
              <a:avLst>
                <a:gd fmla="val 7619" name="adj"/>
              </a:avLst>
            </a:prstGeom>
            <a:solidFill>
              <a:srgbClr val="FFFFFF"/>
            </a:solidFill>
            <a:ln cap="flat" cmpd="sng" w="19050">
              <a:solidFill>
                <a:srgbClr val="F1F5F9"/>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12" name="Google Shape;1012;p33"/>
            <p:cNvSpPr/>
            <p:nvPr/>
          </p:nvSpPr>
          <p:spPr>
            <a:xfrm>
              <a:off x="571500" y="2381250"/>
              <a:ext cx="2000100" cy="57300"/>
            </a:xfrm>
            <a:prstGeom prst="roundRect">
              <a:avLst>
                <a:gd fmla="val 5000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13" name="Google Shape;1013;p33"/>
            <p:cNvSpPr/>
            <p:nvPr/>
          </p:nvSpPr>
          <p:spPr>
            <a:xfrm>
              <a:off x="1381125" y="1809750"/>
              <a:ext cx="381000" cy="381000"/>
            </a:xfrm>
            <a:prstGeom prst="ellipse">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14" name="Google Shape;1014;p33"/>
            <p:cNvSpPr txBox="1"/>
            <p:nvPr/>
          </p:nvSpPr>
          <p:spPr>
            <a:xfrm>
              <a:off x="1381125" y="1809750"/>
              <a:ext cx="381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000">
                  <a:solidFill>
                    <a:srgbClr val="FFFFFF"/>
                  </a:solidFill>
                  <a:latin typeface="JetBrains Mono"/>
                  <a:ea typeface="JetBrains Mono"/>
                  <a:cs typeface="JetBrains Mono"/>
                  <a:sym typeface="JetBrains Mono"/>
                </a:rPr>
                <a:t>01</a:t>
              </a:r>
              <a:endParaRPr b="1" sz="1000">
                <a:solidFill>
                  <a:srgbClr val="FFFFFF"/>
                </a:solidFill>
                <a:latin typeface="JetBrains Mono"/>
                <a:ea typeface="JetBrains Mono"/>
                <a:cs typeface="JetBrains Mono"/>
                <a:sym typeface="JetBrains Mono"/>
              </a:endParaRPr>
            </a:p>
          </p:txBody>
        </p:sp>
        <p:sp>
          <p:nvSpPr>
            <p:cNvPr id="1015" name="Google Shape;1015;p33"/>
            <p:cNvSpPr txBox="1"/>
            <p:nvPr/>
          </p:nvSpPr>
          <p:spPr>
            <a:xfrm>
              <a:off x="723900" y="2628900"/>
              <a:ext cx="1695600" cy="2571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100">
                  <a:solidFill>
                    <a:srgbClr val="2563EB"/>
                  </a:solidFill>
                  <a:latin typeface="JetBrains Mono"/>
                  <a:ea typeface="JetBrains Mono"/>
                  <a:cs typeface="JetBrains Mono"/>
                  <a:sym typeface="JetBrains Mono"/>
                </a:rPr>
                <a:t>BOOT &amp; LOAD</a:t>
              </a:r>
              <a:endParaRPr b="1" sz="1100">
                <a:solidFill>
                  <a:srgbClr val="2563EB"/>
                </a:solidFill>
                <a:latin typeface="JetBrains Mono"/>
                <a:ea typeface="JetBrains Mono"/>
                <a:cs typeface="JetBrains Mono"/>
                <a:sym typeface="JetBrains Mono"/>
              </a:endParaRPr>
            </a:p>
            <a:p>
              <a:pPr indent="0" lvl="0" marL="0" rtl="0" algn="l">
                <a:spcBef>
                  <a:spcPts val="900"/>
                </a:spcBef>
                <a:spcAft>
                  <a:spcPts val="0"/>
                </a:spcAft>
                <a:buNone/>
              </a:pPr>
              <a:r>
                <a:rPr b="0" lang="en-US" sz="1000">
                  <a:solidFill>
                    <a:srgbClr val="475569"/>
                  </a:solidFill>
                  <a:latin typeface="Plus Jakarta Sans"/>
                  <a:ea typeface="Plus Jakarta Sans"/>
                  <a:cs typeface="Plus Jakarta Sans"/>
                  <a:sym typeface="Plus Jakarta Sans"/>
                </a:rPr>
                <a:t>Manual or API trigger boots Ubuntu container, mapping custom knowledge parameters.</a:t>
              </a:r>
              <a:endParaRPr b="0" sz="1000">
                <a:solidFill>
                  <a:srgbClr val="475569"/>
                </a:solidFill>
                <a:latin typeface="Plus Jakarta Sans"/>
                <a:ea typeface="Plus Jakarta Sans"/>
                <a:cs typeface="Plus Jakarta Sans"/>
                <a:sym typeface="Plus Jakarta Sans"/>
              </a:endParaRPr>
            </a:p>
          </p:txBody>
        </p:sp>
      </p:grpSp>
      <p:grpSp>
        <p:nvGrpSpPr>
          <p:cNvPr id="1016" name="Google Shape;1016;p33"/>
          <p:cNvGrpSpPr/>
          <p:nvPr/>
        </p:nvGrpSpPr>
        <p:grpSpPr>
          <a:xfrm>
            <a:off x="2833688" y="1809750"/>
            <a:ext cx="2000100" cy="3619500"/>
            <a:chOff x="2833688" y="1809750"/>
            <a:chExt cx="2000100" cy="3619500"/>
          </a:xfrm>
        </p:grpSpPr>
        <p:sp>
          <p:nvSpPr>
            <p:cNvPr id="1017" name="Google Shape;1017;p33"/>
            <p:cNvSpPr/>
            <p:nvPr/>
          </p:nvSpPr>
          <p:spPr>
            <a:xfrm>
              <a:off x="2833688" y="2381250"/>
              <a:ext cx="2000100" cy="3048000"/>
            </a:xfrm>
            <a:prstGeom prst="roundRect">
              <a:avLst>
                <a:gd fmla="val 7619" name="adj"/>
              </a:avLst>
            </a:prstGeom>
            <a:solidFill>
              <a:srgbClr val="FFFFFF"/>
            </a:solidFill>
            <a:ln cap="flat" cmpd="sng" w="19050">
              <a:solidFill>
                <a:srgbClr val="F1F5F9"/>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18" name="Google Shape;1018;p33"/>
            <p:cNvSpPr/>
            <p:nvPr/>
          </p:nvSpPr>
          <p:spPr>
            <a:xfrm>
              <a:off x="2833688" y="2381250"/>
              <a:ext cx="2000100" cy="57300"/>
            </a:xfrm>
            <a:prstGeom prst="roundRect">
              <a:avLst>
                <a:gd fmla="val 50000" name="adj"/>
              </a:avLst>
            </a:prstGeom>
            <a:solidFill>
              <a:srgbClr val="7C3AED"/>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19" name="Google Shape;1019;p33"/>
            <p:cNvSpPr/>
            <p:nvPr/>
          </p:nvSpPr>
          <p:spPr>
            <a:xfrm>
              <a:off x="3643313" y="1809750"/>
              <a:ext cx="381000" cy="381000"/>
            </a:xfrm>
            <a:prstGeom prst="ellipse">
              <a:avLst/>
            </a:prstGeom>
            <a:solidFill>
              <a:srgbClr val="7C3AED"/>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20" name="Google Shape;1020;p33"/>
            <p:cNvSpPr txBox="1"/>
            <p:nvPr/>
          </p:nvSpPr>
          <p:spPr>
            <a:xfrm>
              <a:off x="3643313" y="1809750"/>
              <a:ext cx="381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000">
                  <a:solidFill>
                    <a:srgbClr val="FFFFFF"/>
                  </a:solidFill>
                  <a:latin typeface="JetBrains Mono"/>
                  <a:ea typeface="JetBrains Mono"/>
                  <a:cs typeface="JetBrains Mono"/>
                  <a:sym typeface="JetBrains Mono"/>
                </a:rPr>
                <a:t>02</a:t>
              </a:r>
              <a:endParaRPr b="1" sz="1000">
                <a:solidFill>
                  <a:srgbClr val="FFFFFF"/>
                </a:solidFill>
                <a:latin typeface="JetBrains Mono"/>
                <a:ea typeface="JetBrains Mono"/>
                <a:cs typeface="JetBrains Mono"/>
                <a:sym typeface="JetBrains Mono"/>
              </a:endParaRPr>
            </a:p>
          </p:txBody>
        </p:sp>
        <p:sp>
          <p:nvSpPr>
            <p:cNvPr id="1021" name="Google Shape;1021;p33"/>
            <p:cNvSpPr txBox="1"/>
            <p:nvPr/>
          </p:nvSpPr>
          <p:spPr>
            <a:xfrm>
              <a:off x="2986088" y="2628900"/>
              <a:ext cx="1695600" cy="2571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100">
                  <a:solidFill>
                    <a:srgbClr val="7C3AED"/>
                  </a:solidFill>
                  <a:latin typeface="JetBrains Mono"/>
                  <a:ea typeface="JetBrains Mono"/>
                  <a:cs typeface="JetBrains Mono"/>
                  <a:sym typeface="JetBrains Mono"/>
                </a:rPr>
                <a:t>AGENTS PROTOCOL</a:t>
              </a:r>
              <a:endParaRPr b="1" sz="1100">
                <a:solidFill>
                  <a:srgbClr val="7C3AED"/>
                </a:solidFill>
                <a:latin typeface="JetBrains Mono"/>
                <a:ea typeface="JetBrains Mono"/>
                <a:cs typeface="JetBrains Mono"/>
                <a:sym typeface="JetBrains Mono"/>
              </a:endParaRPr>
            </a:p>
            <a:p>
              <a:pPr indent="0" lvl="0" marL="0" rtl="0" algn="l">
                <a:spcBef>
                  <a:spcPts val="900"/>
                </a:spcBef>
                <a:spcAft>
                  <a:spcPts val="0"/>
                </a:spcAft>
                <a:buNone/>
              </a:pPr>
              <a:r>
                <a:rPr b="0" lang="en-US" sz="1000">
                  <a:solidFill>
                    <a:srgbClr val="475569"/>
                  </a:solidFill>
                  <a:latin typeface="Plus Jakarta Sans"/>
                  <a:ea typeface="Plus Jakarta Sans"/>
                  <a:cs typeface="Plus Jakarta Sans"/>
                  <a:sym typeface="Plus Jakarta Sans"/>
                </a:rPr>
                <a:t>Discovers Skills, processes active Playbooks, and parses repository rules files.</a:t>
              </a:r>
              <a:endParaRPr b="0" sz="1000">
                <a:solidFill>
                  <a:srgbClr val="475569"/>
                </a:solidFill>
                <a:latin typeface="Plus Jakarta Sans"/>
                <a:ea typeface="Plus Jakarta Sans"/>
                <a:cs typeface="Plus Jakarta Sans"/>
                <a:sym typeface="Plus Jakarta Sans"/>
              </a:endParaRPr>
            </a:p>
          </p:txBody>
        </p:sp>
      </p:grpSp>
      <p:grpSp>
        <p:nvGrpSpPr>
          <p:cNvPr id="1022" name="Google Shape;1022;p33"/>
          <p:cNvGrpSpPr/>
          <p:nvPr/>
        </p:nvGrpSpPr>
        <p:grpSpPr>
          <a:xfrm>
            <a:off x="5095875" y="1809750"/>
            <a:ext cx="2000100" cy="3619500"/>
            <a:chOff x="5095875" y="1809750"/>
            <a:chExt cx="2000100" cy="3619500"/>
          </a:xfrm>
        </p:grpSpPr>
        <p:sp>
          <p:nvSpPr>
            <p:cNvPr id="1023" name="Google Shape;1023;p33"/>
            <p:cNvSpPr/>
            <p:nvPr/>
          </p:nvSpPr>
          <p:spPr>
            <a:xfrm>
              <a:off x="5095875" y="2381250"/>
              <a:ext cx="2000100" cy="3048000"/>
            </a:xfrm>
            <a:prstGeom prst="roundRect">
              <a:avLst>
                <a:gd fmla="val 7619" name="adj"/>
              </a:avLst>
            </a:prstGeom>
            <a:solidFill>
              <a:srgbClr val="FFFFFF"/>
            </a:solidFill>
            <a:ln cap="flat" cmpd="sng" w="19050">
              <a:solidFill>
                <a:srgbClr val="F1F5F9"/>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24" name="Google Shape;1024;p33"/>
            <p:cNvSpPr/>
            <p:nvPr/>
          </p:nvSpPr>
          <p:spPr>
            <a:xfrm>
              <a:off x="5095875" y="2381250"/>
              <a:ext cx="2000100" cy="57300"/>
            </a:xfrm>
            <a:prstGeom prst="roundRect">
              <a:avLst>
                <a:gd fmla="val 50000" name="adj"/>
              </a:avLst>
            </a:prstGeom>
            <a:solidFill>
              <a:srgbClr val="0D948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25" name="Google Shape;1025;p33"/>
            <p:cNvSpPr/>
            <p:nvPr/>
          </p:nvSpPr>
          <p:spPr>
            <a:xfrm>
              <a:off x="5905500" y="1809750"/>
              <a:ext cx="381000" cy="381000"/>
            </a:xfrm>
            <a:prstGeom prst="ellipse">
              <a:avLst/>
            </a:prstGeom>
            <a:solidFill>
              <a:srgbClr val="0D948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26" name="Google Shape;1026;p33"/>
            <p:cNvSpPr txBox="1"/>
            <p:nvPr/>
          </p:nvSpPr>
          <p:spPr>
            <a:xfrm>
              <a:off x="5905500" y="1809750"/>
              <a:ext cx="381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000">
                  <a:solidFill>
                    <a:srgbClr val="FFFFFF"/>
                  </a:solidFill>
                  <a:latin typeface="JetBrains Mono"/>
                  <a:ea typeface="JetBrains Mono"/>
                  <a:cs typeface="JetBrains Mono"/>
                  <a:sym typeface="JetBrains Mono"/>
                </a:rPr>
                <a:t>03</a:t>
              </a:r>
              <a:endParaRPr b="1" sz="1000">
                <a:solidFill>
                  <a:srgbClr val="FFFFFF"/>
                </a:solidFill>
                <a:latin typeface="JetBrains Mono"/>
                <a:ea typeface="JetBrains Mono"/>
                <a:cs typeface="JetBrains Mono"/>
                <a:sym typeface="JetBrains Mono"/>
              </a:endParaRPr>
            </a:p>
          </p:txBody>
        </p:sp>
        <p:sp>
          <p:nvSpPr>
            <p:cNvPr id="1027" name="Google Shape;1027;p33"/>
            <p:cNvSpPr txBox="1"/>
            <p:nvPr/>
          </p:nvSpPr>
          <p:spPr>
            <a:xfrm>
              <a:off x="5248275" y="2628900"/>
              <a:ext cx="1695600" cy="2571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100">
                  <a:solidFill>
                    <a:srgbClr val="0D9488"/>
                  </a:solidFill>
                  <a:latin typeface="JetBrains Mono"/>
                  <a:ea typeface="JetBrains Mono"/>
                  <a:cs typeface="JetBrains Mono"/>
                  <a:sym typeface="JetBrains Mono"/>
                </a:rPr>
                <a:t>REASONING &amp; PLAN</a:t>
              </a:r>
              <a:endParaRPr b="1" sz="1100">
                <a:solidFill>
                  <a:srgbClr val="0D9488"/>
                </a:solidFill>
                <a:latin typeface="JetBrains Mono"/>
                <a:ea typeface="JetBrains Mono"/>
                <a:cs typeface="JetBrains Mono"/>
                <a:sym typeface="JetBrains Mono"/>
              </a:endParaRPr>
            </a:p>
            <a:p>
              <a:pPr indent="0" lvl="0" marL="0" rtl="0" algn="l">
                <a:spcBef>
                  <a:spcPts val="900"/>
                </a:spcBef>
                <a:spcAft>
                  <a:spcPts val="0"/>
                </a:spcAft>
                <a:buNone/>
              </a:pPr>
              <a:r>
                <a:rPr b="0" lang="en-US" sz="1000">
                  <a:solidFill>
                    <a:srgbClr val="475569"/>
                  </a:solidFill>
                  <a:latin typeface="Plus Jakarta Sans"/>
                  <a:ea typeface="Plus Jakarta Sans"/>
                  <a:cs typeface="Plus Jakarta Sans"/>
                  <a:sym typeface="Plus Jakarta Sans"/>
                </a:rPr>
                <a:t>Deconstructs objectives, scopes directory trees, and maps specific dependencies.</a:t>
              </a:r>
              <a:endParaRPr b="0" sz="1000">
                <a:solidFill>
                  <a:srgbClr val="475569"/>
                </a:solidFill>
                <a:latin typeface="Plus Jakarta Sans"/>
                <a:ea typeface="Plus Jakarta Sans"/>
                <a:cs typeface="Plus Jakarta Sans"/>
                <a:sym typeface="Plus Jakarta Sans"/>
              </a:endParaRPr>
            </a:p>
          </p:txBody>
        </p:sp>
      </p:grpSp>
      <p:grpSp>
        <p:nvGrpSpPr>
          <p:cNvPr id="1028" name="Google Shape;1028;p33"/>
          <p:cNvGrpSpPr/>
          <p:nvPr/>
        </p:nvGrpSpPr>
        <p:grpSpPr>
          <a:xfrm>
            <a:off x="7358063" y="1809750"/>
            <a:ext cx="2000100" cy="3619500"/>
            <a:chOff x="7358063" y="1809750"/>
            <a:chExt cx="2000100" cy="3619500"/>
          </a:xfrm>
        </p:grpSpPr>
        <p:sp>
          <p:nvSpPr>
            <p:cNvPr id="1029" name="Google Shape;1029;p33"/>
            <p:cNvSpPr/>
            <p:nvPr/>
          </p:nvSpPr>
          <p:spPr>
            <a:xfrm>
              <a:off x="7358063" y="2381250"/>
              <a:ext cx="2000100" cy="3048000"/>
            </a:xfrm>
            <a:prstGeom prst="roundRect">
              <a:avLst>
                <a:gd fmla="val 7619" name="adj"/>
              </a:avLst>
            </a:prstGeom>
            <a:solidFill>
              <a:srgbClr val="FFFFFF"/>
            </a:solidFill>
            <a:ln cap="flat" cmpd="sng" w="19050">
              <a:solidFill>
                <a:srgbClr val="F1F5F9"/>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30" name="Google Shape;1030;p33"/>
            <p:cNvSpPr/>
            <p:nvPr/>
          </p:nvSpPr>
          <p:spPr>
            <a:xfrm>
              <a:off x="7358063" y="2381250"/>
              <a:ext cx="2000100" cy="57300"/>
            </a:xfrm>
            <a:prstGeom prst="roundRect">
              <a:avLst>
                <a:gd fmla="val 50000" name="adj"/>
              </a:avLst>
            </a:prstGeom>
            <a:solidFill>
              <a:srgbClr val="EA580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31" name="Google Shape;1031;p33"/>
            <p:cNvSpPr/>
            <p:nvPr/>
          </p:nvSpPr>
          <p:spPr>
            <a:xfrm>
              <a:off x="8167688" y="1809750"/>
              <a:ext cx="381000" cy="381000"/>
            </a:xfrm>
            <a:prstGeom prst="ellipse">
              <a:avLst/>
            </a:prstGeom>
            <a:solidFill>
              <a:srgbClr val="EA580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32" name="Google Shape;1032;p33"/>
            <p:cNvSpPr txBox="1"/>
            <p:nvPr/>
          </p:nvSpPr>
          <p:spPr>
            <a:xfrm>
              <a:off x="8167688" y="1809750"/>
              <a:ext cx="381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000">
                  <a:solidFill>
                    <a:srgbClr val="FFFFFF"/>
                  </a:solidFill>
                  <a:latin typeface="JetBrains Mono"/>
                  <a:ea typeface="JetBrains Mono"/>
                  <a:cs typeface="JetBrains Mono"/>
                  <a:sym typeface="JetBrains Mono"/>
                </a:rPr>
                <a:t>04</a:t>
              </a:r>
              <a:endParaRPr b="1" sz="1000">
                <a:solidFill>
                  <a:srgbClr val="FFFFFF"/>
                </a:solidFill>
                <a:latin typeface="JetBrains Mono"/>
                <a:ea typeface="JetBrains Mono"/>
                <a:cs typeface="JetBrains Mono"/>
                <a:sym typeface="JetBrains Mono"/>
              </a:endParaRPr>
            </a:p>
          </p:txBody>
        </p:sp>
        <p:sp>
          <p:nvSpPr>
            <p:cNvPr id="1033" name="Google Shape;1033;p33"/>
            <p:cNvSpPr txBox="1"/>
            <p:nvPr/>
          </p:nvSpPr>
          <p:spPr>
            <a:xfrm>
              <a:off x="7510463" y="2628900"/>
              <a:ext cx="1695600" cy="2571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100">
                  <a:solidFill>
                    <a:srgbClr val="EA580C"/>
                  </a:solidFill>
                  <a:latin typeface="JetBrains Mono"/>
                  <a:ea typeface="JetBrains Mono"/>
                  <a:cs typeface="JetBrains Mono"/>
                  <a:sym typeface="JetBrains Mono"/>
                </a:rPr>
                <a:t>WRITE &amp; VERIFY</a:t>
              </a:r>
              <a:endParaRPr b="1" sz="1100">
                <a:solidFill>
                  <a:srgbClr val="EA580C"/>
                </a:solidFill>
                <a:latin typeface="JetBrains Mono"/>
                <a:ea typeface="JetBrains Mono"/>
                <a:cs typeface="JetBrains Mono"/>
                <a:sym typeface="JetBrains Mono"/>
              </a:endParaRPr>
            </a:p>
            <a:p>
              <a:pPr indent="0" lvl="0" marL="0" rtl="0" algn="l">
                <a:spcBef>
                  <a:spcPts val="900"/>
                </a:spcBef>
                <a:spcAft>
                  <a:spcPts val="0"/>
                </a:spcAft>
                <a:buNone/>
              </a:pPr>
              <a:r>
                <a:rPr b="0" lang="en-US" sz="1000">
                  <a:solidFill>
                    <a:srgbClr val="475569"/>
                  </a:solidFill>
                  <a:latin typeface="Plus Jakarta Sans"/>
                  <a:ea typeface="Plus Jakarta Sans"/>
                  <a:cs typeface="Plus Jakarta Sans"/>
                  <a:sym typeface="Plus Jakarta Sans"/>
                </a:rPr>
                <a:t>Executes code inside Workspace IDE. Verifies via local compilers, linters, and test suites.</a:t>
              </a:r>
              <a:endParaRPr b="0" sz="1000">
                <a:solidFill>
                  <a:srgbClr val="475569"/>
                </a:solidFill>
                <a:latin typeface="Plus Jakarta Sans"/>
                <a:ea typeface="Plus Jakarta Sans"/>
                <a:cs typeface="Plus Jakarta Sans"/>
                <a:sym typeface="Plus Jakarta Sans"/>
              </a:endParaRPr>
            </a:p>
          </p:txBody>
        </p:sp>
      </p:grpSp>
      <p:grpSp>
        <p:nvGrpSpPr>
          <p:cNvPr id="1034" name="Google Shape;1034;p33"/>
          <p:cNvGrpSpPr/>
          <p:nvPr/>
        </p:nvGrpSpPr>
        <p:grpSpPr>
          <a:xfrm>
            <a:off x="9620250" y="1809750"/>
            <a:ext cx="2000100" cy="3619500"/>
            <a:chOff x="9620250" y="1809750"/>
            <a:chExt cx="2000100" cy="3619500"/>
          </a:xfrm>
        </p:grpSpPr>
        <p:sp>
          <p:nvSpPr>
            <p:cNvPr id="1035" name="Google Shape;1035;p33"/>
            <p:cNvSpPr/>
            <p:nvPr/>
          </p:nvSpPr>
          <p:spPr>
            <a:xfrm>
              <a:off x="9620250" y="2381250"/>
              <a:ext cx="2000100" cy="3048000"/>
            </a:xfrm>
            <a:prstGeom prst="roundRect">
              <a:avLst>
                <a:gd fmla="val 7619" name="adj"/>
              </a:avLst>
            </a:prstGeom>
            <a:solidFill>
              <a:srgbClr val="FFFFFF"/>
            </a:solidFill>
            <a:ln cap="flat" cmpd="sng" w="19050">
              <a:solidFill>
                <a:srgbClr val="F1F5F9"/>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36" name="Google Shape;1036;p33"/>
            <p:cNvSpPr/>
            <p:nvPr/>
          </p:nvSpPr>
          <p:spPr>
            <a:xfrm>
              <a:off x="9620250" y="2381250"/>
              <a:ext cx="2000100" cy="57300"/>
            </a:xfrm>
            <a:prstGeom prst="roundRect">
              <a:avLst>
                <a:gd fmla="val 50000" name="adj"/>
              </a:avLst>
            </a:prstGeom>
            <a:solidFill>
              <a:srgbClr val="0F172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37" name="Google Shape;1037;p33"/>
            <p:cNvSpPr/>
            <p:nvPr/>
          </p:nvSpPr>
          <p:spPr>
            <a:xfrm>
              <a:off x="10429875" y="1809750"/>
              <a:ext cx="381000" cy="381000"/>
            </a:xfrm>
            <a:prstGeom prst="ellipse">
              <a:avLst/>
            </a:prstGeom>
            <a:solidFill>
              <a:srgbClr val="0F172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38" name="Google Shape;1038;p33"/>
            <p:cNvSpPr txBox="1"/>
            <p:nvPr/>
          </p:nvSpPr>
          <p:spPr>
            <a:xfrm>
              <a:off x="10429875" y="1809750"/>
              <a:ext cx="381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000">
                  <a:solidFill>
                    <a:srgbClr val="FFFFFF"/>
                  </a:solidFill>
                  <a:latin typeface="JetBrains Mono"/>
                  <a:ea typeface="JetBrains Mono"/>
                  <a:cs typeface="JetBrains Mono"/>
                  <a:sym typeface="JetBrains Mono"/>
                </a:rPr>
                <a:t>05</a:t>
              </a:r>
              <a:endParaRPr b="1" sz="1000">
                <a:solidFill>
                  <a:srgbClr val="FFFFFF"/>
                </a:solidFill>
                <a:latin typeface="JetBrains Mono"/>
                <a:ea typeface="JetBrains Mono"/>
                <a:cs typeface="JetBrains Mono"/>
                <a:sym typeface="JetBrains Mono"/>
              </a:endParaRPr>
            </a:p>
          </p:txBody>
        </p:sp>
        <p:sp>
          <p:nvSpPr>
            <p:cNvPr id="1039" name="Google Shape;1039;p33"/>
            <p:cNvSpPr txBox="1"/>
            <p:nvPr/>
          </p:nvSpPr>
          <p:spPr>
            <a:xfrm>
              <a:off x="9772650" y="2628900"/>
              <a:ext cx="1695600" cy="2571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100">
                  <a:solidFill>
                    <a:srgbClr val="0F172A"/>
                  </a:solidFill>
                  <a:latin typeface="JetBrains Mono"/>
                  <a:ea typeface="JetBrains Mono"/>
                  <a:cs typeface="JetBrains Mono"/>
                  <a:sym typeface="JetBrains Mono"/>
                </a:rPr>
                <a:t>PR DEPLOYMENT</a:t>
              </a:r>
              <a:endParaRPr b="1" sz="1100">
                <a:solidFill>
                  <a:srgbClr val="0F172A"/>
                </a:solidFill>
                <a:latin typeface="JetBrains Mono"/>
                <a:ea typeface="JetBrains Mono"/>
                <a:cs typeface="JetBrains Mono"/>
                <a:sym typeface="JetBrains Mono"/>
              </a:endParaRPr>
            </a:p>
            <a:p>
              <a:pPr indent="0" lvl="0" marL="0" rtl="0" algn="l">
                <a:spcBef>
                  <a:spcPts val="900"/>
                </a:spcBef>
                <a:spcAft>
                  <a:spcPts val="0"/>
                </a:spcAft>
                <a:buNone/>
              </a:pPr>
              <a:r>
                <a:rPr b="0" lang="en-US" sz="1000">
                  <a:solidFill>
                    <a:srgbClr val="475569"/>
                  </a:solidFill>
                  <a:latin typeface="Plus Jakarta Sans"/>
                  <a:ea typeface="Plus Jakarta Sans"/>
                  <a:cs typeface="Plus Jakarta Sans"/>
                  <a:sym typeface="Plus Jakarta Sans"/>
                </a:rPr>
                <a:t>Pushes code, structures branch PR, suggests code lessons, and pauses for review.</a:t>
              </a:r>
              <a:endParaRPr b="0" sz="1000">
                <a:solidFill>
                  <a:srgbClr val="475569"/>
                </a:solidFill>
                <a:latin typeface="Plus Jakarta Sans"/>
                <a:ea typeface="Plus Jakarta Sans"/>
                <a:cs typeface="Plus Jakarta Sans"/>
                <a:sym typeface="Plus Jakarta Sans"/>
              </a:endParaRPr>
            </a:p>
          </p:txBody>
        </p:sp>
      </p:grpSp>
      <p:pic>
        <p:nvPicPr>
          <p:cNvPr descr="image.png" id="1040" name="Google Shape;1040;p33"/>
          <p:cNvPicPr preferRelativeResize="0"/>
          <p:nvPr/>
        </p:nvPicPr>
        <p:blipFill rotWithShape="1">
          <a:blip r:embed="rId5">
            <a:alphaModFix/>
          </a:blip>
          <a:srcRect b="0" l="0" r="0" t="0"/>
          <a:stretch/>
        </p:blipFill>
        <p:spPr>
          <a:xfrm>
            <a:off x="571500" y="457200"/>
            <a:ext cx="823168" cy="200025"/>
          </a:xfrm>
          <a:prstGeom prst="rect">
            <a:avLst/>
          </a:prstGeom>
          <a:noFill/>
          <a:ln>
            <a:noFill/>
          </a:ln>
        </p:spPr>
      </p:pic>
      <p:sp>
        <p:nvSpPr>
          <p:cNvPr id="1041" name="Google Shape;1041;p33"/>
          <p:cNvSpPr txBox="1"/>
          <p:nvPr/>
        </p:nvSpPr>
        <p:spPr>
          <a:xfrm>
            <a:off x="571500" y="381000"/>
            <a:ext cx="11601600" cy="3693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2400" u="none" cap="none" strike="noStrike">
                <a:solidFill>
                  <a:srgbClr val="0F172A"/>
                </a:solidFill>
                <a:latin typeface="Plus Jakarta Sans ExtraBold"/>
                <a:ea typeface="Plus Jakarta Sans ExtraBold"/>
                <a:cs typeface="Plus Jakarta Sans ExtraBold"/>
                <a:sym typeface="Plus Jakarta Sans ExtraBold"/>
              </a:rPr>
              <a:t>Detailed Session Lifecycle Pipeline</a:t>
            </a:r>
            <a:endParaRPr/>
          </a:p>
        </p:txBody>
      </p:sp>
      <p:sp>
        <p:nvSpPr>
          <p:cNvPr id="1042" name="Google Shape;1042;p33"/>
          <p:cNvSpPr/>
          <p:nvPr/>
        </p:nvSpPr>
        <p:spPr>
          <a:xfrm>
            <a:off x="571500" y="847725"/>
            <a:ext cx="11049000" cy="19200"/>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46" name="Shape 1046"/>
        <p:cNvGrpSpPr/>
        <p:nvPr/>
      </p:nvGrpSpPr>
      <p:grpSpPr>
        <a:xfrm>
          <a:off x="0" y="0"/>
          <a:ext cx="0" cy="0"/>
          <a:chOff x="0" y="0"/>
          <a:chExt cx="0" cy="0"/>
        </a:xfrm>
      </p:grpSpPr>
      <p:pic>
        <p:nvPicPr>
          <p:cNvPr descr="image.png" id="1047" name="Google Shape;1047;p34"/>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048" name="Google Shape;1048;p34"/>
          <p:cNvPicPr preferRelativeResize="0"/>
          <p:nvPr/>
        </p:nvPicPr>
        <p:blipFill rotWithShape="1">
          <a:blip r:embed="rId4">
            <a:alphaModFix/>
          </a:blip>
          <a:srcRect b="0" l="0" r="0" t="0"/>
          <a:stretch/>
        </p:blipFill>
        <p:spPr>
          <a:xfrm>
            <a:off x="571500" y="3169146"/>
            <a:ext cx="2655093" cy="1176932"/>
          </a:xfrm>
          <a:prstGeom prst="rect">
            <a:avLst/>
          </a:prstGeom>
          <a:noFill/>
          <a:ln>
            <a:noFill/>
          </a:ln>
        </p:spPr>
      </p:pic>
      <p:pic>
        <p:nvPicPr>
          <p:cNvPr descr="image.png" id="1049" name="Google Shape;1049;p34"/>
          <p:cNvPicPr preferRelativeResize="0"/>
          <p:nvPr/>
        </p:nvPicPr>
        <p:blipFill rotWithShape="1">
          <a:blip r:embed="rId5">
            <a:alphaModFix/>
          </a:blip>
          <a:srcRect b="0" l="0" r="0" t="0"/>
          <a:stretch/>
        </p:blipFill>
        <p:spPr>
          <a:xfrm>
            <a:off x="3369468" y="3169146"/>
            <a:ext cx="2655093" cy="1176932"/>
          </a:xfrm>
          <a:prstGeom prst="rect">
            <a:avLst/>
          </a:prstGeom>
          <a:noFill/>
          <a:ln>
            <a:noFill/>
          </a:ln>
        </p:spPr>
      </p:pic>
      <p:pic>
        <p:nvPicPr>
          <p:cNvPr descr="image.png" id="1050" name="Google Shape;1050;p34"/>
          <p:cNvPicPr preferRelativeResize="0"/>
          <p:nvPr/>
        </p:nvPicPr>
        <p:blipFill rotWithShape="1">
          <a:blip r:embed="rId6">
            <a:alphaModFix/>
          </a:blip>
          <a:srcRect b="0" l="0" r="0" t="0"/>
          <a:stretch/>
        </p:blipFill>
        <p:spPr>
          <a:xfrm>
            <a:off x="6167437" y="3169146"/>
            <a:ext cx="2655093" cy="1176932"/>
          </a:xfrm>
          <a:prstGeom prst="rect">
            <a:avLst/>
          </a:prstGeom>
          <a:noFill/>
          <a:ln>
            <a:noFill/>
          </a:ln>
        </p:spPr>
      </p:pic>
      <p:pic>
        <p:nvPicPr>
          <p:cNvPr descr="image.png" id="1051" name="Google Shape;1051;p34"/>
          <p:cNvPicPr preferRelativeResize="0"/>
          <p:nvPr/>
        </p:nvPicPr>
        <p:blipFill rotWithShape="1">
          <a:blip r:embed="rId7">
            <a:alphaModFix/>
          </a:blip>
          <a:srcRect b="0" l="0" r="0" t="0"/>
          <a:stretch/>
        </p:blipFill>
        <p:spPr>
          <a:xfrm>
            <a:off x="8965406" y="3169146"/>
            <a:ext cx="2655093" cy="1176932"/>
          </a:xfrm>
          <a:prstGeom prst="rect">
            <a:avLst/>
          </a:prstGeom>
          <a:noFill/>
          <a:ln>
            <a:noFill/>
          </a:ln>
        </p:spPr>
      </p:pic>
      <p:pic>
        <p:nvPicPr>
          <p:cNvPr descr="image.png" id="1052" name="Google Shape;1052;p34"/>
          <p:cNvPicPr preferRelativeResize="0"/>
          <p:nvPr/>
        </p:nvPicPr>
        <p:blipFill rotWithShape="1">
          <a:blip r:embed="rId8">
            <a:alphaModFix/>
          </a:blip>
          <a:srcRect b="0" l="0" r="0" t="0"/>
          <a:stretch/>
        </p:blipFill>
        <p:spPr>
          <a:xfrm>
            <a:off x="571500" y="457200"/>
            <a:ext cx="823168" cy="200025"/>
          </a:xfrm>
          <a:prstGeom prst="rect">
            <a:avLst/>
          </a:prstGeom>
          <a:noFill/>
          <a:ln>
            <a:noFill/>
          </a:ln>
        </p:spPr>
      </p:pic>
      <p:sp>
        <p:nvSpPr>
          <p:cNvPr id="1053" name="Google Shape;1053;p34"/>
          <p:cNvSpPr txBox="1"/>
          <p:nvPr/>
        </p:nvSpPr>
        <p:spPr>
          <a:xfrm>
            <a:off x="723900" y="3350121"/>
            <a:ext cx="2350293" cy="1238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825" u="none" cap="none" strike="noStrike">
                <a:solidFill>
                  <a:srgbClr val="2563EB"/>
                </a:solidFill>
                <a:latin typeface="JetBrains Mono"/>
                <a:ea typeface="JetBrains Mono"/>
                <a:cs typeface="JetBrains Mono"/>
                <a:sym typeface="JetBrains Mono"/>
              </a:rPr>
              <a:t>01. CREATION</a:t>
            </a:r>
            <a:endParaRPr/>
          </a:p>
        </p:txBody>
      </p:sp>
      <p:sp>
        <p:nvSpPr>
          <p:cNvPr id="1054" name="Google Shape;1054;p34"/>
          <p:cNvSpPr txBox="1"/>
          <p:nvPr/>
        </p:nvSpPr>
        <p:spPr>
          <a:xfrm>
            <a:off x="723900" y="3531096"/>
            <a:ext cx="2350293" cy="662582"/>
          </a:xfrm>
          <a:prstGeom prst="rect">
            <a:avLst/>
          </a:prstGeom>
          <a:noFill/>
          <a:ln>
            <a:noFill/>
          </a:ln>
        </p:spPr>
        <p:txBody>
          <a:bodyPr anchorCtr="0" anchor="t" bIns="0" lIns="0" spcFirstLastPara="1" rIns="0" wrap="square" tIns="0">
            <a:spAutoFit/>
          </a:bodyPr>
          <a:lstStyle/>
          <a:p>
            <a:pPr indent="0" lvl="0" marL="0" marR="0" rtl="0" algn="l">
              <a:lnSpc>
                <a:spcPct val="145000"/>
              </a:lnSpc>
              <a:spcBef>
                <a:spcPts val="0"/>
              </a:spcBef>
              <a:spcAft>
                <a:spcPts val="0"/>
              </a:spcAft>
              <a:buNone/>
            </a:pPr>
            <a:r>
              <a:rPr b="0" i="0" lang="en-US" sz="900" u="none" cap="none" strike="noStrike">
                <a:solidFill>
                  <a:srgbClr val="475569"/>
                </a:solidFill>
                <a:latin typeface="Plus Jakarta Sans"/>
                <a:ea typeface="Plus Jakarta Sans"/>
                <a:cs typeface="Plus Jakarta Sans"/>
                <a:sym typeface="Plus Jakarta Sans"/>
              </a:rPr>
              <a:t>Engineers upload instructions manually, or let Devin extract parameters directly from repository READMEs and successful sessions.</a:t>
            </a:r>
            <a:endParaRPr/>
          </a:p>
        </p:txBody>
      </p:sp>
      <p:sp>
        <p:nvSpPr>
          <p:cNvPr id="1055" name="Google Shape;1055;p34"/>
          <p:cNvSpPr txBox="1"/>
          <p:nvPr/>
        </p:nvSpPr>
        <p:spPr>
          <a:xfrm>
            <a:off x="3521868" y="3350121"/>
            <a:ext cx="2350293" cy="1238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825" u="none" cap="none" strike="noStrike">
                <a:solidFill>
                  <a:srgbClr val="7C3AED"/>
                </a:solidFill>
                <a:latin typeface="JetBrains Mono"/>
                <a:ea typeface="JetBrains Mono"/>
                <a:cs typeface="JetBrains Mono"/>
                <a:sym typeface="JetBrains Mono"/>
              </a:rPr>
              <a:t>02. INDEXING</a:t>
            </a:r>
            <a:endParaRPr/>
          </a:p>
        </p:txBody>
      </p:sp>
      <p:sp>
        <p:nvSpPr>
          <p:cNvPr id="1056" name="Google Shape;1056;p34"/>
          <p:cNvSpPr txBox="1"/>
          <p:nvPr/>
        </p:nvSpPr>
        <p:spPr>
          <a:xfrm>
            <a:off x="3521868" y="3531096"/>
            <a:ext cx="2350293" cy="496937"/>
          </a:xfrm>
          <a:prstGeom prst="rect">
            <a:avLst/>
          </a:prstGeom>
          <a:noFill/>
          <a:ln>
            <a:noFill/>
          </a:ln>
        </p:spPr>
        <p:txBody>
          <a:bodyPr anchorCtr="0" anchor="t" bIns="0" lIns="0" spcFirstLastPara="1" rIns="0" wrap="square" tIns="0">
            <a:spAutoFit/>
          </a:bodyPr>
          <a:lstStyle/>
          <a:p>
            <a:pPr indent="0" lvl="0" marL="0" marR="0" rtl="0" algn="l">
              <a:lnSpc>
                <a:spcPct val="145000"/>
              </a:lnSpc>
              <a:spcBef>
                <a:spcPts val="0"/>
              </a:spcBef>
              <a:spcAft>
                <a:spcPts val="0"/>
              </a:spcAft>
              <a:buNone/>
            </a:pPr>
            <a:r>
              <a:rPr b="0" i="0" lang="en-US" sz="900" u="none" cap="none" strike="noStrike">
                <a:solidFill>
                  <a:srgbClr val="475569"/>
                </a:solidFill>
                <a:latin typeface="Plus Jakarta Sans"/>
                <a:ea typeface="Plus Jakarta Sans"/>
                <a:cs typeface="Plus Jakarta Sans"/>
                <a:sym typeface="Plus Jakarta Sans"/>
              </a:rPr>
              <a:t>Associates folders with explicit regex trigger descriptions. Restricts access scopes to specific code repositories.</a:t>
            </a:r>
            <a:endParaRPr/>
          </a:p>
        </p:txBody>
      </p:sp>
      <p:sp>
        <p:nvSpPr>
          <p:cNvPr id="1057" name="Google Shape;1057;p34"/>
          <p:cNvSpPr txBox="1"/>
          <p:nvPr/>
        </p:nvSpPr>
        <p:spPr>
          <a:xfrm>
            <a:off x="6319837" y="3350121"/>
            <a:ext cx="2350293" cy="1238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825" u="none" cap="none" strike="noStrike">
                <a:solidFill>
                  <a:srgbClr val="0D9488"/>
                </a:solidFill>
                <a:latin typeface="JetBrains Mono"/>
                <a:ea typeface="JetBrains Mono"/>
                <a:cs typeface="JetBrains Mono"/>
                <a:sym typeface="JetBrains Mono"/>
              </a:rPr>
              <a:t>03. FETCH</a:t>
            </a:r>
            <a:endParaRPr/>
          </a:p>
        </p:txBody>
      </p:sp>
      <p:sp>
        <p:nvSpPr>
          <p:cNvPr id="1058" name="Google Shape;1058;p34"/>
          <p:cNvSpPr txBox="1"/>
          <p:nvPr/>
        </p:nvSpPr>
        <p:spPr>
          <a:xfrm>
            <a:off x="6319837" y="3531096"/>
            <a:ext cx="2350293" cy="496937"/>
          </a:xfrm>
          <a:prstGeom prst="rect">
            <a:avLst/>
          </a:prstGeom>
          <a:noFill/>
          <a:ln>
            <a:noFill/>
          </a:ln>
        </p:spPr>
        <p:txBody>
          <a:bodyPr anchorCtr="0" anchor="t" bIns="0" lIns="0" spcFirstLastPara="1" rIns="0" wrap="square" tIns="0">
            <a:spAutoFit/>
          </a:bodyPr>
          <a:lstStyle/>
          <a:p>
            <a:pPr indent="0" lvl="0" marL="0" marR="0" rtl="0" algn="l">
              <a:lnSpc>
                <a:spcPct val="145000"/>
              </a:lnSpc>
              <a:spcBef>
                <a:spcPts val="0"/>
              </a:spcBef>
              <a:spcAft>
                <a:spcPts val="0"/>
              </a:spcAft>
              <a:buNone/>
            </a:pPr>
            <a:r>
              <a:rPr b="0" i="0" lang="en-US" sz="900" u="none" cap="none" strike="noStrike">
                <a:solidFill>
                  <a:srgbClr val="475569"/>
                </a:solidFill>
                <a:latin typeface="Plus Jakarta Sans"/>
                <a:ea typeface="Plus Jakarta Sans"/>
                <a:cs typeface="Plus Jakarta Sans"/>
                <a:sym typeface="Plus Jakarta Sans"/>
              </a:rPr>
              <a:t>Dynamically feeds specific instructions to active VM sessions when workspace search criteria are contextually matched.</a:t>
            </a:r>
            <a:endParaRPr/>
          </a:p>
        </p:txBody>
      </p:sp>
      <p:sp>
        <p:nvSpPr>
          <p:cNvPr id="1059" name="Google Shape;1059;p34"/>
          <p:cNvSpPr txBox="1"/>
          <p:nvPr/>
        </p:nvSpPr>
        <p:spPr>
          <a:xfrm>
            <a:off x="9117806" y="3350121"/>
            <a:ext cx="2350293" cy="1238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825" u="none" cap="none" strike="noStrike">
                <a:solidFill>
                  <a:srgbClr val="EA580C"/>
                </a:solidFill>
                <a:latin typeface="JetBrains Mono"/>
                <a:ea typeface="JetBrains Mono"/>
                <a:cs typeface="JetBrains Mono"/>
                <a:sym typeface="JetBrains Mono"/>
              </a:rPr>
              <a:t>04. DISTRIBUTION</a:t>
            </a:r>
            <a:endParaRPr/>
          </a:p>
        </p:txBody>
      </p:sp>
      <p:sp>
        <p:nvSpPr>
          <p:cNvPr id="1060" name="Google Shape;1060;p34"/>
          <p:cNvSpPr txBox="1"/>
          <p:nvPr/>
        </p:nvSpPr>
        <p:spPr>
          <a:xfrm>
            <a:off x="9117806" y="3531096"/>
            <a:ext cx="2350293" cy="496937"/>
          </a:xfrm>
          <a:prstGeom prst="rect">
            <a:avLst/>
          </a:prstGeom>
          <a:noFill/>
          <a:ln>
            <a:noFill/>
          </a:ln>
        </p:spPr>
        <p:txBody>
          <a:bodyPr anchorCtr="0" anchor="t" bIns="0" lIns="0" spcFirstLastPara="1" rIns="0" wrap="square" tIns="0">
            <a:spAutoFit/>
          </a:bodyPr>
          <a:lstStyle/>
          <a:p>
            <a:pPr indent="0" lvl="0" marL="0" marR="0" rtl="0" algn="l">
              <a:lnSpc>
                <a:spcPct val="145000"/>
              </a:lnSpc>
              <a:spcBef>
                <a:spcPts val="0"/>
              </a:spcBef>
              <a:spcAft>
                <a:spcPts val="0"/>
              </a:spcAft>
              <a:buNone/>
            </a:pPr>
            <a:r>
              <a:rPr b="0" i="0" lang="en-US" sz="900" u="none" cap="none" strike="noStrike">
                <a:solidFill>
                  <a:srgbClr val="475569"/>
                </a:solidFill>
                <a:latin typeface="Plus Jakarta Sans"/>
                <a:ea typeface="Plus Jakarta Sans"/>
                <a:cs typeface="Plus Jakarta Sans"/>
                <a:sym typeface="Plus Jakarta Sans"/>
              </a:rPr>
              <a:t>Synchronizes custom checklists globally. Propagates verified group-level criteria to secure enterprise environments.</a:t>
            </a:r>
            <a:endParaRPr/>
          </a:p>
        </p:txBody>
      </p:sp>
      <p:sp>
        <p:nvSpPr>
          <p:cNvPr id="1061" name="Google Shape;1061;p34"/>
          <p:cNvSpPr txBox="1"/>
          <p:nvPr/>
        </p:nvSpPr>
        <p:spPr>
          <a:xfrm>
            <a:off x="571500" y="381000"/>
            <a:ext cx="11601450" cy="37147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2400" u="none" cap="none" strike="noStrike">
                <a:solidFill>
                  <a:srgbClr val="0F172A"/>
                </a:solidFill>
                <a:latin typeface="Plus Jakarta Sans ExtraBold"/>
                <a:ea typeface="Plus Jakarta Sans ExtraBold"/>
                <a:cs typeface="Plus Jakarta Sans ExtraBold"/>
                <a:sym typeface="Plus Jakarta Sans ExtraBold"/>
              </a:rPr>
              <a:t>Knowledge Lifecycle Pipeline</a:t>
            </a:r>
            <a:endParaRPr/>
          </a:p>
        </p:txBody>
      </p:sp>
      <p:sp>
        <p:nvSpPr>
          <p:cNvPr id="1062" name="Google Shape;1062;p34"/>
          <p:cNvSpPr/>
          <p:nvPr/>
        </p:nvSpPr>
        <p:spPr>
          <a:xfrm>
            <a:off x="571500" y="847725"/>
            <a:ext cx="11049000" cy="19050"/>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66" name="Shape 1066"/>
        <p:cNvGrpSpPr/>
        <p:nvPr/>
      </p:nvGrpSpPr>
      <p:grpSpPr>
        <a:xfrm>
          <a:off x="0" y="0"/>
          <a:ext cx="0" cy="0"/>
          <a:chOff x="0" y="0"/>
          <a:chExt cx="0" cy="0"/>
        </a:xfrm>
      </p:grpSpPr>
      <p:pic>
        <p:nvPicPr>
          <p:cNvPr descr="image.png" id="1067" name="Google Shape;1067;p35"/>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068" name="Google Shape;1068;p35"/>
          <p:cNvPicPr preferRelativeResize="0"/>
          <p:nvPr/>
        </p:nvPicPr>
        <p:blipFill rotWithShape="1">
          <a:blip r:embed="rId4">
            <a:alphaModFix/>
          </a:blip>
          <a:srcRect b="0" l="0" r="0" t="0"/>
          <a:stretch/>
        </p:blipFill>
        <p:spPr>
          <a:xfrm>
            <a:off x="571500" y="1038225"/>
            <a:ext cx="6243637" cy="7735490"/>
          </a:xfrm>
          <a:prstGeom prst="rect">
            <a:avLst/>
          </a:prstGeom>
          <a:noFill/>
          <a:ln>
            <a:noFill/>
          </a:ln>
        </p:spPr>
      </p:pic>
      <p:pic>
        <p:nvPicPr>
          <p:cNvPr descr="image.png" id="1069" name="Google Shape;1069;p35"/>
          <p:cNvPicPr preferRelativeResize="0"/>
          <p:nvPr/>
        </p:nvPicPr>
        <p:blipFill rotWithShape="1">
          <a:blip r:embed="rId5">
            <a:alphaModFix/>
          </a:blip>
          <a:srcRect b="0" l="0" r="0" t="0"/>
          <a:stretch/>
        </p:blipFill>
        <p:spPr>
          <a:xfrm>
            <a:off x="7005637" y="1345852"/>
            <a:ext cx="4614862" cy="3248025"/>
          </a:xfrm>
          <a:prstGeom prst="rect">
            <a:avLst/>
          </a:prstGeom>
          <a:noFill/>
          <a:ln>
            <a:noFill/>
          </a:ln>
        </p:spPr>
      </p:pic>
      <p:pic>
        <p:nvPicPr>
          <p:cNvPr descr="image.png" id="1070" name="Google Shape;1070;p35"/>
          <p:cNvPicPr preferRelativeResize="0"/>
          <p:nvPr/>
        </p:nvPicPr>
        <p:blipFill rotWithShape="1">
          <a:blip r:embed="rId6">
            <a:alphaModFix/>
          </a:blip>
          <a:srcRect b="0" l="0" r="0" t="0"/>
          <a:stretch/>
        </p:blipFill>
        <p:spPr>
          <a:xfrm>
            <a:off x="571500" y="457200"/>
            <a:ext cx="823168" cy="200025"/>
          </a:xfrm>
          <a:prstGeom prst="rect">
            <a:avLst/>
          </a:prstGeom>
          <a:noFill/>
          <a:ln>
            <a:noFill/>
          </a:ln>
        </p:spPr>
      </p:pic>
      <p:sp>
        <p:nvSpPr>
          <p:cNvPr id="1071" name="Google Shape;1071;p35"/>
          <p:cNvSpPr txBox="1"/>
          <p:nvPr/>
        </p:nvSpPr>
        <p:spPr>
          <a:xfrm>
            <a:off x="723900" y="1190625"/>
            <a:ext cx="5938837" cy="193327"/>
          </a:xfrm>
          <a:prstGeom prst="rect">
            <a:avLst/>
          </a:prstGeom>
          <a:noFill/>
          <a:ln>
            <a:noFill/>
          </a:ln>
        </p:spPr>
        <p:txBody>
          <a:bodyPr anchorCtr="0" anchor="t" bIns="0" lIns="114300" spcFirstLastPara="1" rIns="0" wrap="square" tIns="0">
            <a:spAutoFit/>
          </a:bodyPr>
          <a:lstStyle/>
          <a:p>
            <a:pPr indent="0" lvl="0" marL="0" marR="0" rtl="0" algn="l">
              <a:lnSpc>
                <a:spcPct val="144952"/>
              </a:lnSpc>
              <a:spcBef>
                <a:spcPts val="0"/>
              </a:spcBef>
              <a:spcAft>
                <a:spcPts val="0"/>
              </a:spcAft>
              <a:buNone/>
            </a:pPr>
            <a:r>
              <a:rPr b="1" i="0" lang="en-US" sz="1050" u="none" cap="none" strike="noStrike">
                <a:solidFill>
                  <a:srgbClr val="0F172A"/>
                </a:solidFill>
                <a:latin typeface="Plus Jakarta Sans"/>
                <a:ea typeface="Plus Jakarta Sans"/>
                <a:cs typeface="Plus Jakarta Sans"/>
                <a:sym typeface="Plus Jakarta Sans"/>
              </a:rPr>
              <a:t>FEATURE IMPLEMENTATION LIFECYCLE (JIRA TO PR)</a:t>
            </a:r>
            <a:endParaRPr/>
          </a:p>
        </p:txBody>
      </p:sp>
      <p:sp>
        <p:nvSpPr>
          <p:cNvPr id="1072" name="Google Shape;1072;p35"/>
          <p:cNvSpPr txBox="1"/>
          <p:nvPr/>
        </p:nvSpPr>
        <p:spPr>
          <a:xfrm>
            <a:off x="7005637" y="1038225"/>
            <a:ext cx="4614862" cy="193327"/>
          </a:xfrm>
          <a:prstGeom prst="rect">
            <a:avLst/>
          </a:prstGeom>
          <a:noFill/>
          <a:ln>
            <a:noFill/>
          </a:ln>
        </p:spPr>
        <p:txBody>
          <a:bodyPr anchorCtr="0" anchor="t" bIns="0" lIns="133350" spcFirstLastPara="1" rIns="0" wrap="square" tIns="0">
            <a:spAutoFit/>
          </a:bodyPr>
          <a:lstStyle/>
          <a:p>
            <a:pPr indent="0" lvl="0" marL="0" marR="0" rtl="0" algn="ctr">
              <a:lnSpc>
                <a:spcPct val="144952"/>
              </a:lnSpc>
              <a:spcBef>
                <a:spcPts val="0"/>
              </a:spcBef>
              <a:spcAft>
                <a:spcPts val="0"/>
              </a:spcAft>
              <a:buNone/>
            </a:pPr>
            <a:r>
              <a:rPr b="1" i="0" lang="en-US" sz="1050" u="none" cap="none" strike="noStrike">
                <a:solidFill>
                  <a:srgbClr val="0F172A"/>
                </a:solidFill>
                <a:latin typeface="Plus Jakarta Sans"/>
                <a:ea typeface="Plus Jakarta Sans"/>
                <a:cs typeface="Plus Jakarta Sans"/>
                <a:sym typeface="Plus Jakarta Sans"/>
              </a:rPr>
              <a:t>FEATURE PARTICIPATION SUMMARY</a:t>
            </a:r>
            <a:endParaRPr/>
          </a:p>
        </p:txBody>
      </p:sp>
      <p:pic>
        <p:nvPicPr>
          <p:cNvPr descr="image.png" id="1073" name="Google Shape;1073;p35"/>
          <p:cNvPicPr preferRelativeResize="0"/>
          <p:nvPr/>
        </p:nvPicPr>
        <p:blipFill rotWithShape="1">
          <a:blip r:embed="rId7">
            <a:alphaModFix/>
          </a:blip>
          <a:srcRect b="0" l="0" r="0" t="0"/>
          <a:stretch/>
        </p:blipFill>
        <p:spPr>
          <a:xfrm>
            <a:off x="723900" y="1219200"/>
            <a:ext cx="114300" cy="133350"/>
          </a:xfrm>
          <a:prstGeom prst="rect">
            <a:avLst/>
          </a:prstGeom>
          <a:noFill/>
          <a:ln>
            <a:noFill/>
          </a:ln>
        </p:spPr>
      </p:pic>
      <p:sp>
        <p:nvSpPr>
          <p:cNvPr id="1074" name="Google Shape;1074;p35"/>
          <p:cNvSpPr/>
          <p:nvPr/>
        </p:nvSpPr>
        <p:spPr>
          <a:xfrm>
            <a:off x="895350" y="1612552"/>
            <a:ext cx="19050" cy="6894462"/>
          </a:xfrm>
          <a:prstGeom prst="rect">
            <a:avLst/>
          </a:prstGeom>
          <a:solidFill>
            <a:srgbClr val="2563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1075" name="Google Shape;1075;p35"/>
          <p:cNvPicPr preferRelativeResize="0"/>
          <p:nvPr/>
        </p:nvPicPr>
        <p:blipFill rotWithShape="1">
          <a:blip r:embed="rId8">
            <a:alphaModFix/>
          </a:blip>
          <a:srcRect b="0" l="0" r="0" t="0"/>
          <a:stretch/>
        </p:blipFill>
        <p:spPr>
          <a:xfrm>
            <a:off x="8035081" y="1066800"/>
            <a:ext cx="133350" cy="133350"/>
          </a:xfrm>
          <a:prstGeom prst="rect">
            <a:avLst/>
          </a:prstGeom>
          <a:noFill/>
          <a:ln>
            <a:noFill/>
          </a:ln>
        </p:spPr>
      </p:pic>
      <p:graphicFrame>
        <p:nvGraphicFramePr>
          <p:cNvPr id="1076" name="Google Shape;1076;p35"/>
          <p:cNvGraphicFramePr/>
          <p:nvPr/>
        </p:nvGraphicFramePr>
        <p:xfrm>
          <a:off x="7015162" y="1355377"/>
          <a:ext cx="3000000" cy="3000000"/>
        </p:xfrm>
        <a:graphic>
          <a:graphicData uri="http://schemas.openxmlformats.org/drawingml/2006/table">
            <a:tbl>
              <a:tblPr bandRow="1" firstRow="1">
                <a:noFill/>
                <a:tableStyleId>{6AF95251-05E6-4B1C-8FEE-4ABA8F11838E}</a:tableStyleId>
              </a:tblPr>
              <a:tblGrid>
                <a:gridCol w="1296000"/>
                <a:gridCol w="3299825"/>
              </a:tblGrid>
              <a:tr h="358775">
                <a:tc>
                  <a:txBody>
                    <a:bodyPr/>
                    <a:lstStyle/>
                    <a:p>
                      <a:pPr indent="0" lvl="0" marL="0" marR="0" rtl="0" algn="l">
                        <a:spcBef>
                          <a:spcPts val="0"/>
                        </a:spcBef>
                        <a:spcAft>
                          <a:spcPts val="0"/>
                        </a:spcAft>
                        <a:buNone/>
                      </a:pPr>
                      <a:r>
                        <a:rPr b="1" i="0" lang="en-US" sz="750" u="none" cap="none" strike="noStrike">
                          <a:solidFill>
                            <a:srgbClr val="0F172A"/>
                          </a:solidFill>
                          <a:latin typeface="JetBrains Mono"/>
                          <a:ea typeface="JetBrains Mono"/>
                          <a:cs typeface="JetBrains Mono"/>
                          <a:sym typeface="JetBrains Mono"/>
                        </a:rPr>
                        <a:t>Workflow Step</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1" i="0" lang="en-US" sz="750" u="none" cap="none" strike="noStrike">
                          <a:solidFill>
                            <a:srgbClr val="0F172A"/>
                          </a:solidFill>
                          <a:latin typeface="JetBrains Mono"/>
                          <a:ea typeface="JetBrains Mono"/>
                          <a:cs typeface="JetBrains Mono"/>
                          <a:sym typeface="JetBrains Mono"/>
                        </a:rPr>
                        <a:t>Features Used</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r>
              <a:tr h="358775">
                <a:tc>
                  <a:txBody>
                    <a:bodyPr/>
                    <a:lstStyle/>
                    <a:p>
                      <a:pPr indent="0" lvl="0" marL="0" marR="0" rtl="0" algn="l">
                        <a:spcBef>
                          <a:spcPts val="0"/>
                        </a:spcBef>
                        <a:spcAft>
                          <a:spcPts val="0"/>
                        </a:spcAft>
                        <a:buNone/>
                      </a:pPr>
                      <a:r>
                        <a:rPr b="1" i="0" lang="en-US" sz="900" u="none" cap="none" strike="noStrike">
                          <a:solidFill>
                            <a:srgbClr val="0F172A"/>
                          </a:solidFill>
                          <a:latin typeface="Plus Jakarta Sans"/>
                          <a:ea typeface="Plus Jakarta Sans"/>
                          <a:cs typeface="Plus Jakarta Sans"/>
                          <a:sym typeface="Plus Jakarta Sans"/>
                        </a:rPr>
                        <a:t>Requirement intake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Automations (Jira/Linear trigger), Sessions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58775">
                <a:tc>
                  <a:txBody>
                    <a:bodyPr/>
                    <a:lstStyle/>
                    <a:p>
                      <a:pPr indent="0" lvl="0" marL="0" marR="0" rtl="0" algn="l">
                        <a:spcBef>
                          <a:spcPts val="0"/>
                        </a:spcBef>
                        <a:spcAft>
                          <a:spcPts val="0"/>
                        </a:spcAft>
                        <a:buNone/>
                      </a:pPr>
                      <a:r>
                        <a:rPr b="1" i="0" lang="en-US" sz="900" u="none" cap="none" strike="noStrike">
                          <a:solidFill>
                            <a:srgbClr val="0F172A"/>
                          </a:solidFill>
                          <a:latin typeface="Plus Jakarta Sans"/>
                          <a:ea typeface="Plus Jakarta Sans"/>
                          <a:cs typeface="Plus Jakarta Sans"/>
                          <a:sym typeface="Plus Jakarta Sans"/>
                        </a:rPr>
                        <a:t>Planning</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Ask Devin, Plan mode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58775">
                <a:tc>
                  <a:txBody>
                    <a:bodyPr/>
                    <a:lstStyle/>
                    <a:p>
                      <a:pPr indent="0" lvl="0" marL="0" marR="0" rtl="0" algn="l">
                        <a:spcBef>
                          <a:spcPts val="0"/>
                        </a:spcBef>
                        <a:spcAft>
                          <a:spcPts val="0"/>
                        </a:spcAft>
                        <a:buNone/>
                      </a:pPr>
                      <a:r>
                        <a:rPr b="1" i="0" lang="en-US" sz="900" u="none" cap="none" strike="noStrike">
                          <a:solidFill>
                            <a:srgbClr val="0F172A"/>
                          </a:solidFill>
                          <a:latin typeface="Plus Jakarta Sans"/>
                          <a:ea typeface="Plus Jakarta Sans"/>
                          <a:cs typeface="Plus Jakarta Sans"/>
                          <a:sym typeface="Plus Jakarta Sans"/>
                        </a:rPr>
                        <a:t>Session boot</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Environment/Snapshot, Knowledge, Skills, Playbooks, AGENTS.md</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58775">
                <a:tc>
                  <a:txBody>
                    <a:bodyPr/>
                    <a:lstStyle/>
                    <a:p>
                      <a:pPr indent="0" lvl="0" marL="0" marR="0" rtl="0" algn="l">
                        <a:spcBef>
                          <a:spcPts val="0"/>
                        </a:spcBef>
                        <a:spcAft>
                          <a:spcPts val="0"/>
                        </a:spcAft>
                        <a:buNone/>
                      </a:pPr>
                      <a:r>
                        <a:rPr b="1" i="0" lang="en-US" sz="900" u="none" cap="none" strike="noStrike">
                          <a:solidFill>
                            <a:srgbClr val="0F172A"/>
                          </a:solidFill>
                          <a:latin typeface="Plus Jakarta Sans"/>
                          <a:ea typeface="Plus Jakarta Sans"/>
                          <a:cs typeface="Plus Jakarta Sans"/>
                          <a:sym typeface="Plus Jakarta Sans"/>
                        </a:rPr>
                        <a:t>Execution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IDE, Terminal, Browser, Skills, Knowledge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58775">
                <a:tc>
                  <a:txBody>
                    <a:bodyPr/>
                    <a:lstStyle/>
                    <a:p>
                      <a:pPr indent="0" lvl="0" marL="0" marR="0" rtl="0" algn="l">
                        <a:spcBef>
                          <a:spcPts val="0"/>
                        </a:spcBef>
                        <a:spcAft>
                          <a:spcPts val="0"/>
                        </a:spcAft>
                        <a:buNone/>
                      </a:pPr>
                      <a:r>
                        <a:rPr b="1" i="0" lang="en-US" sz="900" u="none" cap="none" strike="noStrike">
                          <a:solidFill>
                            <a:srgbClr val="0F172A"/>
                          </a:solidFill>
                          <a:latin typeface="Plus Jakarta Sans"/>
                          <a:ea typeface="Plus Jakarta Sans"/>
                          <a:cs typeface="Plus Jakarta Sans"/>
                          <a:sym typeface="Plus Jakarta Sans"/>
                        </a:rPr>
                        <a:t>Pull request</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GitHub integration, PR templates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58775">
                <a:tc>
                  <a:txBody>
                    <a:bodyPr/>
                    <a:lstStyle/>
                    <a:p>
                      <a:pPr indent="0" lvl="0" marL="0" marR="0" rtl="0" algn="l">
                        <a:spcBef>
                          <a:spcPts val="0"/>
                        </a:spcBef>
                        <a:spcAft>
                          <a:spcPts val="0"/>
                        </a:spcAft>
                        <a:buNone/>
                      </a:pPr>
                      <a:r>
                        <a:rPr b="1" i="0" lang="en-US" sz="900" u="none" cap="none" strike="noStrike">
                          <a:solidFill>
                            <a:srgbClr val="0F172A"/>
                          </a:solidFill>
                          <a:latin typeface="Plus Jakarta Sans"/>
                          <a:ea typeface="Plus Jakarta Sans"/>
                          <a:cs typeface="Plus Jakarta Sans"/>
                          <a:sym typeface="Plus Jakarta Sans"/>
                        </a:rPr>
                        <a:t>Review</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Devin Review, Bug Catcher, Security Scanner</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58775">
                <a:tc>
                  <a:txBody>
                    <a:bodyPr/>
                    <a:lstStyle/>
                    <a:p>
                      <a:pPr indent="0" lvl="0" marL="0" marR="0" rtl="0" algn="l">
                        <a:spcBef>
                          <a:spcPts val="0"/>
                        </a:spcBef>
                        <a:spcAft>
                          <a:spcPts val="0"/>
                        </a:spcAft>
                        <a:buNone/>
                      </a:pPr>
                      <a:r>
                        <a:rPr b="1" i="0" lang="en-US" sz="900" u="none" cap="none" strike="noStrike">
                          <a:solidFill>
                            <a:srgbClr val="0F172A"/>
                          </a:solidFill>
                          <a:latin typeface="Plus Jakarta Sans"/>
                          <a:ea typeface="Plus Jakarta Sans"/>
                          <a:cs typeface="Plus Jakarta Sans"/>
                          <a:sym typeface="Plus Jakarta Sans"/>
                        </a:rPr>
                        <a:t>Iteration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Devin Review chat, Sessions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58775">
                <a:tc>
                  <a:txBody>
                    <a:bodyPr/>
                    <a:lstStyle/>
                    <a:p>
                      <a:pPr indent="0" lvl="0" marL="0" marR="0" rtl="0" algn="l">
                        <a:spcBef>
                          <a:spcPts val="0"/>
                        </a:spcBef>
                        <a:spcAft>
                          <a:spcPts val="0"/>
                        </a:spcAft>
                        <a:buNone/>
                      </a:pPr>
                      <a:r>
                        <a:rPr b="1" i="0" lang="en-US" sz="900" u="none" cap="none" strike="noStrike">
                          <a:solidFill>
                            <a:srgbClr val="0F172A"/>
                          </a:solidFill>
                          <a:latin typeface="Plus Jakarta Sans"/>
                          <a:ea typeface="Plus Jakarta Sans"/>
                          <a:cs typeface="Plus Jakarta Sans"/>
                          <a:sym typeface="Plus Jakarta Sans"/>
                        </a:rPr>
                        <a:t>Post-merge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Automations, Scheduled Sessions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pic>
        <p:nvPicPr>
          <p:cNvPr descr="image.png" id="1077" name="Google Shape;1077;p35"/>
          <p:cNvPicPr preferRelativeResize="0"/>
          <p:nvPr/>
        </p:nvPicPr>
        <p:blipFill rotWithShape="1">
          <a:blip r:embed="rId9">
            <a:alphaModFix/>
          </a:blip>
          <a:srcRect b="0" l="0" r="0" t="0"/>
          <a:stretch/>
        </p:blipFill>
        <p:spPr>
          <a:xfrm>
            <a:off x="819150" y="1498252"/>
            <a:ext cx="190500" cy="190500"/>
          </a:xfrm>
          <a:prstGeom prst="rect">
            <a:avLst/>
          </a:prstGeom>
          <a:noFill/>
          <a:ln>
            <a:noFill/>
          </a:ln>
        </p:spPr>
      </p:pic>
      <p:pic>
        <p:nvPicPr>
          <p:cNvPr descr="image.png" id="1078" name="Google Shape;1078;p35"/>
          <p:cNvPicPr preferRelativeResize="0"/>
          <p:nvPr/>
        </p:nvPicPr>
        <p:blipFill rotWithShape="1">
          <a:blip r:embed="rId10">
            <a:alphaModFix/>
          </a:blip>
          <a:srcRect b="0" l="0" r="0" t="0"/>
          <a:stretch/>
        </p:blipFill>
        <p:spPr>
          <a:xfrm>
            <a:off x="819150" y="2308026"/>
            <a:ext cx="190500" cy="190500"/>
          </a:xfrm>
          <a:prstGeom prst="rect">
            <a:avLst/>
          </a:prstGeom>
          <a:noFill/>
          <a:ln>
            <a:noFill/>
          </a:ln>
        </p:spPr>
      </p:pic>
      <p:pic>
        <p:nvPicPr>
          <p:cNvPr descr="image.png" id="1079" name="Google Shape;1079;p35"/>
          <p:cNvPicPr preferRelativeResize="0"/>
          <p:nvPr/>
        </p:nvPicPr>
        <p:blipFill rotWithShape="1">
          <a:blip r:embed="rId11">
            <a:alphaModFix/>
          </a:blip>
          <a:srcRect b="0" l="0" r="0" t="0"/>
          <a:stretch/>
        </p:blipFill>
        <p:spPr>
          <a:xfrm>
            <a:off x="819150" y="3276600"/>
            <a:ext cx="190500" cy="190500"/>
          </a:xfrm>
          <a:prstGeom prst="rect">
            <a:avLst/>
          </a:prstGeom>
          <a:noFill/>
          <a:ln>
            <a:noFill/>
          </a:ln>
        </p:spPr>
      </p:pic>
      <p:pic>
        <p:nvPicPr>
          <p:cNvPr descr="image.png" id="1080" name="Google Shape;1080;p35"/>
          <p:cNvPicPr preferRelativeResize="0"/>
          <p:nvPr/>
        </p:nvPicPr>
        <p:blipFill rotWithShape="1">
          <a:blip r:embed="rId12">
            <a:alphaModFix/>
          </a:blip>
          <a:srcRect b="0" l="0" r="0" t="0"/>
          <a:stretch/>
        </p:blipFill>
        <p:spPr>
          <a:xfrm>
            <a:off x="819150" y="4403973"/>
            <a:ext cx="190500" cy="190500"/>
          </a:xfrm>
          <a:prstGeom prst="rect">
            <a:avLst/>
          </a:prstGeom>
          <a:noFill/>
          <a:ln>
            <a:noFill/>
          </a:ln>
        </p:spPr>
      </p:pic>
      <p:pic>
        <p:nvPicPr>
          <p:cNvPr descr="image.png" id="1081" name="Google Shape;1081;p35"/>
          <p:cNvPicPr preferRelativeResize="0"/>
          <p:nvPr/>
        </p:nvPicPr>
        <p:blipFill rotWithShape="1">
          <a:blip r:embed="rId13">
            <a:alphaModFix/>
          </a:blip>
          <a:srcRect b="0" l="0" r="0" t="0"/>
          <a:stretch/>
        </p:blipFill>
        <p:spPr>
          <a:xfrm>
            <a:off x="819150" y="5690145"/>
            <a:ext cx="190500" cy="190500"/>
          </a:xfrm>
          <a:prstGeom prst="rect">
            <a:avLst/>
          </a:prstGeom>
          <a:noFill/>
          <a:ln>
            <a:noFill/>
          </a:ln>
        </p:spPr>
      </p:pic>
      <p:pic>
        <p:nvPicPr>
          <p:cNvPr descr="image.png" id="1082" name="Google Shape;1082;p35"/>
          <p:cNvPicPr preferRelativeResize="0"/>
          <p:nvPr/>
        </p:nvPicPr>
        <p:blipFill rotWithShape="1">
          <a:blip r:embed="rId14">
            <a:alphaModFix/>
          </a:blip>
          <a:srcRect b="0" l="0" r="0" t="0"/>
          <a:stretch/>
        </p:blipFill>
        <p:spPr>
          <a:xfrm>
            <a:off x="819150" y="6817518"/>
            <a:ext cx="190500" cy="190500"/>
          </a:xfrm>
          <a:prstGeom prst="rect">
            <a:avLst/>
          </a:prstGeom>
          <a:noFill/>
          <a:ln>
            <a:noFill/>
          </a:ln>
        </p:spPr>
      </p:pic>
      <p:pic>
        <p:nvPicPr>
          <p:cNvPr descr="image.png" id="1083" name="Google Shape;1083;p35"/>
          <p:cNvPicPr preferRelativeResize="0"/>
          <p:nvPr/>
        </p:nvPicPr>
        <p:blipFill rotWithShape="1">
          <a:blip r:embed="rId15">
            <a:alphaModFix/>
          </a:blip>
          <a:srcRect b="0" l="0" r="0" t="0"/>
          <a:stretch/>
        </p:blipFill>
        <p:spPr>
          <a:xfrm>
            <a:off x="819150" y="7786092"/>
            <a:ext cx="190500" cy="190500"/>
          </a:xfrm>
          <a:prstGeom prst="rect">
            <a:avLst/>
          </a:prstGeom>
          <a:noFill/>
          <a:ln>
            <a:noFill/>
          </a:ln>
        </p:spPr>
      </p:pic>
      <p:sp>
        <p:nvSpPr>
          <p:cNvPr id="1084" name="Google Shape;1084;p35"/>
          <p:cNvSpPr/>
          <p:nvPr/>
        </p:nvSpPr>
        <p:spPr>
          <a:xfrm>
            <a:off x="7015162" y="1645890"/>
            <a:ext cx="1295995"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85" name="Google Shape;1085;p35"/>
          <p:cNvSpPr/>
          <p:nvPr/>
        </p:nvSpPr>
        <p:spPr>
          <a:xfrm>
            <a:off x="8311157" y="1645890"/>
            <a:ext cx="3299817"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86" name="Google Shape;1086;p35"/>
          <p:cNvSpPr txBox="1"/>
          <p:nvPr/>
        </p:nvSpPr>
        <p:spPr>
          <a:xfrm>
            <a:off x="1123950" y="1526827"/>
            <a:ext cx="1754981" cy="1333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00" u="none" cap="none" strike="noStrike">
                <a:solidFill>
                  <a:srgbClr val="0F172A"/>
                </a:solidFill>
                <a:latin typeface="Plus Jakarta Sans"/>
                <a:ea typeface="Plus Jakarta Sans"/>
                <a:cs typeface="Plus Jakarta Sans"/>
                <a:sym typeface="Plus Jakarta Sans"/>
              </a:rPr>
              <a:t>STEP 1: REQUIREMENT INTAKE</a:t>
            </a:r>
            <a:endParaRPr/>
          </a:p>
        </p:txBody>
      </p:sp>
      <p:sp>
        <p:nvSpPr>
          <p:cNvPr id="1087" name="Google Shape;1087;p35"/>
          <p:cNvSpPr txBox="1"/>
          <p:nvPr/>
        </p:nvSpPr>
        <p:spPr>
          <a:xfrm>
            <a:off x="1123950" y="1698277"/>
            <a:ext cx="2532608" cy="476398"/>
          </a:xfrm>
          <a:prstGeom prst="rect">
            <a:avLst/>
          </a:prstGeom>
          <a:noFill/>
          <a:ln>
            <a:noFill/>
          </a:ln>
        </p:spPr>
        <p:txBody>
          <a:bodyPr anchorCtr="0" anchor="t" bIns="0" lIns="0" spcFirstLastPara="1" rIns="0" wrap="square" tIns="0">
            <a:spAutoFit/>
          </a:bodyPr>
          <a:lstStyle/>
          <a:p>
            <a:pPr indent="0" lvl="0" marL="0" marR="0" rtl="0" algn="l">
              <a:lnSpc>
                <a:spcPct val="69444"/>
              </a:lnSpc>
              <a:spcBef>
                <a:spcPts val="0"/>
              </a:spcBef>
              <a:spcAft>
                <a:spcPts val="0"/>
              </a:spcAft>
              <a:buNone/>
            </a:pPr>
            <a:r>
              <a:rPr b="1" i="0" lang="en-US" sz="862" u="none" cap="none" strike="noStrike">
                <a:solidFill>
                  <a:srgbClr val="334155"/>
                </a:solidFill>
                <a:latin typeface="Plus Jakarta Sans"/>
                <a:ea typeface="Plus Jakarta Sans"/>
                <a:cs typeface="Plus Jakarta Sans"/>
                <a:sym typeface="Plus Jakarta Sans"/>
              </a:rPr>
              <a:t>Feature:</a:t>
            </a:r>
            <a:r>
              <a:rPr b="0" i="0" lang="en-US" sz="862" u="none" cap="none" strike="noStrike">
                <a:solidFill>
                  <a:srgbClr val="334155"/>
                </a:solidFill>
                <a:latin typeface="Plus Jakarta Sans"/>
                <a:ea typeface="Plus Jakarta Sans"/>
                <a:cs typeface="Plus Jakarta Sans"/>
                <a:sym typeface="Plus Jakarta Sans"/>
              </a:rPr>
              <a:t> Jira ticket created with label "devin"</a:t>
            </a:r>
            <a:br>
              <a:rPr b="0" i="0" lang="en-US" sz="1800" u="none" cap="none" strike="noStrike">
                <a:solidFill>
                  <a:schemeClr val="dk1"/>
                </a:solidFill>
                <a:latin typeface="Calibri"/>
                <a:ea typeface="Calibri"/>
                <a:cs typeface="Calibri"/>
                <a:sym typeface="Calibri"/>
              </a:rPr>
            </a:br>
            <a:r>
              <a:rPr b="1" i="0" lang="en-US" sz="862" u="none" cap="none" strike="noStrike">
                <a:solidFill>
                  <a:srgbClr val="334155"/>
                </a:solidFill>
                <a:latin typeface="Plus Jakarta Sans"/>
                <a:ea typeface="Plus Jakarta Sans"/>
                <a:cs typeface="Plus Jakarta Sans"/>
                <a:sym typeface="Plus Jakarta Sans"/>
              </a:rPr>
              <a:t>Automation:</a:t>
            </a:r>
            <a:r>
              <a:rPr b="0" i="0" lang="en-US" sz="862" u="none" cap="none" strike="noStrike">
                <a:solidFill>
                  <a:srgbClr val="334155"/>
                </a:solidFill>
                <a:latin typeface="Plus Jakarta Sans"/>
                <a:ea typeface="Plus Jakarta Sans"/>
                <a:cs typeface="Plus Jakarta Sans"/>
                <a:sym typeface="Plus Jakarta Sans"/>
              </a:rPr>
              <a:t> Linear/Jira trigger fires</a:t>
            </a:r>
            <a:br>
              <a:rPr b="0" i="0" lang="en-US" sz="1800" u="none" cap="none" strike="noStrike">
                <a:solidFill>
                  <a:schemeClr val="dk1"/>
                </a:solidFill>
                <a:latin typeface="Calibri"/>
                <a:ea typeface="Calibri"/>
                <a:cs typeface="Calibri"/>
                <a:sym typeface="Calibri"/>
              </a:rPr>
            </a:br>
            <a:r>
              <a:rPr b="1" i="0" lang="en-US" sz="862" u="none" cap="none" strike="noStrike">
                <a:solidFill>
                  <a:srgbClr val="334155"/>
                </a:solidFill>
                <a:latin typeface="Plus Jakarta Sans"/>
                <a:ea typeface="Plus Jakarta Sans"/>
                <a:cs typeface="Plus Jakarta Sans"/>
                <a:sym typeface="Plus Jakarta Sans"/>
              </a:rPr>
              <a:t>→</a:t>
            </a:r>
            <a:r>
              <a:rPr b="0" i="0" lang="en-US" sz="862" u="none" cap="none" strike="noStrike">
                <a:solidFill>
                  <a:srgbClr val="334155"/>
                </a:solidFill>
                <a:latin typeface="Plus Jakarta Sans"/>
                <a:ea typeface="Plus Jakarta Sans"/>
                <a:cs typeface="Plus Jakarta Sans"/>
                <a:sym typeface="Plus Jakarta Sans"/>
              </a:rPr>
              <a:t> Devin session starts with ticket context as prompt</a:t>
            </a:r>
            <a:endParaRPr/>
          </a:p>
        </p:txBody>
      </p:sp>
      <p:sp>
        <p:nvSpPr>
          <p:cNvPr id="1088" name="Google Shape;1088;p35"/>
          <p:cNvSpPr txBox="1"/>
          <p:nvPr/>
        </p:nvSpPr>
        <p:spPr>
          <a:xfrm>
            <a:off x="1123950" y="2336601"/>
            <a:ext cx="1788914" cy="1333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00" u="none" cap="none" strike="noStrike">
                <a:solidFill>
                  <a:srgbClr val="0F172A"/>
                </a:solidFill>
                <a:latin typeface="Plus Jakarta Sans"/>
                <a:ea typeface="Plus Jakarta Sans"/>
                <a:cs typeface="Plus Jakarta Sans"/>
                <a:sym typeface="Plus Jakarta Sans"/>
              </a:rPr>
              <a:t>STEP 2: PLANNING (ASK DEVIN)</a:t>
            </a:r>
            <a:endParaRPr/>
          </a:p>
        </p:txBody>
      </p:sp>
      <p:sp>
        <p:nvSpPr>
          <p:cNvPr id="1089" name="Google Shape;1089;p35"/>
          <p:cNvSpPr txBox="1"/>
          <p:nvPr/>
        </p:nvSpPr>
        <p:spPr>
          <a:xfrm>
            <a:off x="1123950" y="2508051"/>
            <a:ext cx="2910333" cy="635198"/>
          </a:xfrm>
          <a:prstGeom prst="rect">
            <a:avLst/>
          </a:prstGeom>
          <a:noFill/>
          <a:ln>
            <a:noFill/>
          </a:ln>
        </p:spPr>
        <p:txBody>
          <a:bodyPr anchorCtr="0" anchor="t" bIns="0" lIns="0" spcFirstLastPara="1" rIns="0" wrap="square" tIns="0">
            <a:spAutoFit/>
          </a:bodyPr>
          <a:lstStyle/>
          <a:p>
            <a:pPr indent="0" lvl="0" marL="0" marR="0" rtl="0" algn="l">
              <a:lnSpc>
                <a:spcPct val="69444"/>
              </a:lnSpc>
              <a:spcBef>
                <a:spcPts val="0"/>
              </a:spcBef>
              <a:spcAft>
                <a:spcPts val="0"/>
              </a:spcAft>
              <a:buNone/>
            </a:pPr>
            <a:r>
              <a:rPr b="0" i="0" lang="en-US" sz="862" u="none" cap="none" strike="noStrike">
                <a:solidFill>
                  <a:srgbClr val="334155"/>
                </a:solidFill>
                <a:latin typeface="Plus Jakarta Sans"/>
                <a:ea typeface="Plus Jakarta Sans"/>
                <a:cs typeface="Plus Jakarta Sans"/>
                <a:sym typeface="Plus Jakarta Sans"/>
              </a:rPr>
              <a:t>Engineer uses Ask Devin to explore the codebase</a:t>
            </a:r>
            <a:br>
              <a:rPr b="0" i="0" lang="en-US" sz="1800" u="none" cap="none" strike="noStrike">
                <a:solidFill>
                  <a:schemeClr val="dk1"/>
                </a:solidFill>
                <a:latin typeface="Calibri"/>
                <a:ea typeface="Calibri"/>
                <a:cs typeface="Calibri"/>
                <a:sym typeface="Calibri"/>
              </a:rPr>
            </a:br>
            <a:r>
              <a:rPr b="1" i="0" lang="en-US" sz="862" u="none" cap="none" strike="noStrike">
                <a:solidFill>
                  <a:srgbClr val="334155"/>
                </a:solidFill>
                <a:latin typeface="Plus Jakarta Sans"/>
                <a:ea typeface="Plus Jakarta Sans"/>
                <a:cs typeface="Plus Jakarta Sans"/>
                <a:sym typeface="Plus Jakarta Sans"/>
              </a:rPr>
              <a:t>→</a:t>
            </a:r>
            <a:r>
              <a:rPr b="0" i="0" lang="en-US" sz="862" u="none" cap="none" strike="noStrike">
                <a:solidFill>
                  <a:srgbClr val="334155"/>
                </a:solidFill>
                <a:latin typeface="Plus Jakarta Sans"/>
                <a:ea typeface="Plus Jakarta Sans"/>
                <a:cs typeface="Plus Jakarta Sans"/>
                <a:sym typeface="Plus Jakarta Sans"/>
              </a:rPr>
              <a:t> Ask Devin indexes repos, answers architecture questions</a:t>
            </a:r>
            <a:br>
              <a:rPr b="0" i="0" lang="en-US" sz="1800" u="none" cap="none" strike="noStrike">
                <a:solidFill>
                  <a:schemeClr val="dk1"/>
                </a:solidFill>
                <a:latin typeface="Calibri"/>
                <a:ea typeface="Calibri"/>
                <a:cs typeface="Calibri"/>
                <a:sym typeface="Calibri"/>
              </a:rPr>
            </a:br>
            <a:r>
              <a:rPr b="1" i="0" lang="en-US" sz="862" u="none" cap="none" strike="noStrike">
                <a:solidFill>
                  <a:srgbClr val="334155"/>
                </a:solidFill>
                <a:latin typeface="Plus Jakarta Sans"/>
                <a:ea typeface="Plus Jakarta Sans"/>
                <a:cs typeface="Plus Jakarta Sans"/>
                <a:sym typeface="Plus Jakarta Sans"/>
              </a:rPr>
              <a:t>→</a:t>
            </a:r>
            <a:r>
              <a:rPr b="0" i="0" lang="en-US" sz="862" u="none" cap="none" strike="noStrike">
                <a:solidFill>
                  <a:srgbClr val="334155"/>
                </a:solidFill>
                <a:latin typeface="Plus Jakarta Sans"/>
                <a:ea typeface="Plus Jakarta Sans"/>
                <a:cs typeface="Plus Jakarta Sans"/>
                <a:sym typeface="Plus Jakarta Sans"/>
              </a:rPr>
              <a:t> Plan mode generates context-rich session prompt</a:t>
            </a:r>
            <a:br>
              <a:rPr b="0" i="0" lang="en-US" sz="1800" u="none" cap="none" strike="noStrike">
                <a:solidFill>
                  <a:schemeClr val="dk1"/>
                </a:solidFill>
                <a:latin typeface="Calibri"/>
                <a:ea typeface="Calibri"/>
                <a:cs typeface="Calibri"/>
                <a:sym typeface="Calibri"/>
              </a:rPr>
            </a:br>
            <a:r>
              <a:rPr b="1" i="0" lang="en-US" sz="862" u="none" cap="none" strike="noStrike">
                <a:solidFill>
                  <a:srgbClr val="334155"/>
                </a:solidFill>
                <a:latin typeface="Plus Jakarta Sans"/>
                <a:ea typeface="Plus Jakarta Sans"/>
                <a:cs typeface="Plus Jakarta Sans"/>
                <a:sym typeface="Plus Jakarta Sans"/>
              </a:rPr>
              <a:t>→</a:t>
            </a:r>
            <a:r>
              <a:rPr b="0" i="0" lang="en-US" sz="862" u="none" cap="none" strike="noStrike">
                <a:solidFill>
                  <a:srgbClr val="334155"/>
                </a:solidFill>
                <a:latin typeface="Plus Jakarta Sans"/>
                <a:ea typeface="Plus Jakarta Sans"/>
                <a:cs typeface="Plus Jakarta Sans"/>
                <a:sym typeface="Plus Jakarta Sans"/>
              </a:rPr>
              <a:t> Session started from Ask Devin conversation</a:t>
            </a:r>
            <a:endParaRPr/>
          </a:p>
        </p:txBody>
      </p:sp>
      <p:sp>
        <p:nvSpPr>
          <p:cNvPr id="1090" name="Google Shape;1090;p35"/>
          <p:cNvSpPr txBox="1"/>
          <p:nvPr/>
        </p:nvSpPr>
        <p:spPr>
          <a:xfrm>
            <a:off x="1123950" y="3305175"/>
            <a:ext cx="1331714" cy="1333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00" u="none" cap="none" strike="noStrike">
                <a:solidFill>
                  <a:srgbClr val="0F172A"/>
                </a:solidFill>
                <a:latin typeface="Plus Jakarta Sans"/>
                <a:ea typeface="Plus Jakarta Sans"/>
                <a:cs typeface="Plus Jakarta Sans"/>
                <a:sym typeface="Plus Jakarta Sans"/>
              </a:rPr>
              <a:t>STEP 3: SESSION BOOT</a:t>
            </a:r>
            <a:endParaRPr/>
          </a:p>
        </p:txBody>
      </p:sp>
      <p:sp>
        <p:nvSpPr>
          <p:cNvPr id="1091" name="Google Shape;1091;p35"/>
          <p:cNvSpPr txBox="1"/>
          <p:nvPr/>
        </p:nvSpPr>
        <p:spPr>
          <a:xfrm>
            <a:off x="1123950" y="3476625"/>
            <a:ext cx="3982045" cy="793998"/>
          </a:xfrm>
          <a:prstGeom prst="rect">
            <a:avLst/>
          </a:prstGeom>
          <a:noFill/>
          <a:ln>
            <a:noFill/>
          </a:ln>
        </p:spPr>
        <p:txBody>
          <a:bodyPr anchorCtr="0" anchor="t" bIns="0" lIns="0" spcFirstLastPara="1" rIns="0" wrap="square" tIns="0">
            <a:spAutoFit/>
          </a:bodyPr>
          <a:lstStyle/>
          <a:p>
            <a:pPr indent="0" lvl="0" marL="0" marR="0" rtl="0" algn="l">
              <a:lnSpc>
                <a:spcPct val="69444"/>
              </a:lnSpc>
              <a:spcBef>
                <a:spcPts val="0"/>
              </a:spcBef>
              <a:spcAft>
                <a:spcPts val="0"/>
              </a:spcAft>
              <a:buNone/>
            </a:pPr>
            <a:r>
              <a:rPr b="1" i="0" lang="en-US" sz="862" u="none" cap="none" strike="noStrike">
                <a:solidFill>
                  <a:srgbClr val="334155"/>
                </a:solidFill>
                <a:latin typeface="Plus Jakarta Sans"/>
                <a:ea typeface="Plus Jakarta Sans"/>
                <a:cs typeface="Plus Jakarta Sans"/>
                <a:sym typeface="Plus Jakarta Sans"/>
              </a:rPr>
              <a:t>→</a:t>
            </a:r>
            <a:r>
              <a:rPr b="0" i="0" lang="en-US" sz="862" u="none" cap="none" strike="noStrike">
                <a:solidFill>
                  <a:srgbClr val="334155"/>
                </a:solidFill>
                <a:latin typeface="Plus Jakarta Sans"/>
                <a:ea typeface="Plus Jakarta Sans"/>
                <a:cs typeface="Plus Jakarta Sans"/>
                <a:sym typeface="Plus Jakarta Sans"/>
              </a:rPr>
              <a:t> Snapshot loaded (repos, deps, tools ready)</a:t>
            </a:r>
            <a:br>
              <a:rPr b="0" i="0" lang="en-US" sz="1800" u="none" cap="none" strike="noStrike">
                <a:solidFill>
                  <a:schemeClr val="dk1"/>
                </a:solidFill>
                <a:latin typeface="Calibri"/>
                <a:ea typeface="Calibri"/>
                <a:cs typeface="Calibri"/>
                <a:sym typeface="Calibri"/>
              </a:rPr>
            </a:br>
            <a:r>
              <a:rPr b="1" i="0" lang="en-US" sz="862" u="none" cap="none" strike="noStrike">
                <a:solidFill>
                  <a:srgbClr val="334155"/>
                </a:solidFill>
                <a:latin typeface="Plus Jakarta Sans"/>
                <a:ea typeface="Plus Jakarta Sans"/>
                <a:cs typeface="Plus Jakarta Sans"/>
                <a:sym typeface="Plus Jakarta Sans"/>
              </a:rPr>
              <a:t>→</a:t>
            </a:r>
            <a:r>
              <a:rPr b="0" i="0" lang="en-US" sz="862" u="none" cap="none" strike="noStrike">
                <a:solidFill>
                  <a:srgbClr val="334155"/>
                </a:solidFill>
                <a:latin typeface="Plus Jakarta Sans"/>
                <a:ea typeface="Plus Jakarta Sans"/>
                <a:cs typeface="Plus Jakarta Sans"/>
                <a:sym typeface="Plus Jakarta Sans"/>
              </a:rPr>
              <a:t> Knowledge retrieved (coding standards, deployment workflow, PR conventions)</a:t>
            </a:r>
            <a:br>
              <a:rPr b="0" i="0" lang="en-US" sz="1800" u="none" cap="none" strike="noStrike">
                <a:solidFill>
                  <a:schemeClr val="dk1"/>
                </a:solidFill>
                <a:latin typeface="Calibri"/>
                <a:ea typeface="Calibri"/>
                <a:cs typeface="Calibri"/>
                <a:sym typeface="Calibri"/>
              </a:rPr>
            </a:br>
            <a:r>
              <a:rPr b="1" i="0" lang="en-US" sz="862" u="none" cap="none" strike="noStrike">
                <a:solidFill>
                  <a:srgbClr val="334155"/>
                </a:solidFill>
                <a:latin typeface="Plus Jakarta Sans"/>
                <a:ea typeface="Plus Jakarta Sans"/>
                <a:cs typeface="Plus Jakarta Sans"/>
                <a:sym typeface="Plus Jakarta Sans"/>
              </a:rPr>
              <a:t>→</a:t>
            </a:r>
            <a:r>
              <a:rPr b="0" i="0" lang="en-US" sz="862" u="none" cap="none" strike="noStrike">
                <a:solidFill>
                  <a:srgbClr val="334155"/>
                </a:solidFill>
                <a:latin typeface="Plus Jakarta Sans"/>
                <a:ea typeface="Plus Jakarta Sans"/>
                <a:cs typeface="Plus Jakarta Sans"/>
                <a:sym typeface="Plus Jakarta Sans"/>
              </a:rPr>
              <a:t> Skills discovered (test-before-pr, deploy skill)</a:t>
            </a:r>
            <a:br>
              <a:rPr b="0" i="0" lang="en-US" sz="1800" u="none" cap="none" strike="noStrike">
                <a:solidFill>
                  <a:schemeClr val="dk1"/>
                </a:solidFill>
                <a:latin typeface="Calibri"/>
                <a:ea typeface="Calibri"/>
                <a:cs typeface="Calibri"/>
                <a:sym typeface="Calibri"/>
              </a:rPr>
            </a:br>
            <a:r>
              <a:rPr b="1" i="0" lang="en-US" sz="862" u="none" cap="none" strike="noStrike">
                <a:solidFill>
                  <a:srgbClr val="334155"/>
                </a:solidFill>
                <a:latin typeface="Plus Jakarta Sans"/>
                <a:ea typeface="Plus Jakarta Sans"/>
                <a:cs typeface="Plus Jakarta Sans"/>
                <a:sym typeface="Plus Jakarta Sans"/>
              </a:rPr>
              <a:t>→</a:t>
            </a:r>
            <a:r>
              <a:rPr b="0" i="0" lang="en-US" sz="862" u="none" cap="none" strike="noStrike">
                <a:solidFill>
                  <a:srgbClr val="334155"/>
                </a:solidFill>
                <a:latin typeface="Plus Jakarta Sans"/>
                <a:ea typeface="Plus Jakarta Sans"/>
                <a:cs typeface="Plus Jakarta Sans"/>
                <a:sym typeface="Plus Jakarta Sans"/>
              </a:rPr>
              <a:t> Playbook applied (feature implementation template)</a:t>
            </a:r>
            <a:br>
              <a:rPr b="0" i="0" lang="en-US" sz="1800" u="none" cap="none" strike="noStrike">
                <a:solidFill>
                  <a:schemeClr val="dk1"/>
                </a:solidFill>
                <a:latin typeface="Calibri"/>
                <a:ea typeface="Calibri"/>
                <a:cs typeface="Calibri"/>
                <a:sym typeface="Calibri"/>
              </a:rPr>
            </a:br>
            <a:r>
              <a:rPr b="1" i="0" lang="en-US" sz="862" u="none" cap="none" strike="noStrike">
                <a:solidFill>
                  <a:srgbClr val="334155"/>
                </a:solidFill>
                <a:latin typeface="Plus Jakarta Sans"/>
                <a:ea typeface="Plus Jakarta Sans"/>
                <a:cs typeface="Plus Jakarta Sans"/>
                <a:sym typeface="Plus Jakarta Sans"/>
              </a:rPr>
              <a:t>→</a:t>
            </a:r>
            <a:r>
              <a:rPr b="0" i="0" lang="en-US" sz="862" u="none" cap="none" strike="noStrike">
                <a:solidFill>
                  <a:srgbClr val="334155"/>
                </a:solidFill>
                <a:latin typeface="Plus Jakarta Sans"/>
                <a:ea typeface="Plus Jakarta Sans"/>
                <a:cs typeface="Plus Jakarta Sans"/>
                <a:sym typeface="Plus Jakarta Sans"/>
              </a:rPr>
              <a:t> AGENTS.md read (project-specific instructions)</a:t>
            </a:r>
            <a:endParaRPr/>
          </a:p>
        </p:txBody>
      </p:sp>
      <p:sp>
        <p:nvSpPr>
          <p:cNvPr id="1092" name="Google Shape;1092;p35"/>
          <p:cNvSpPr txBox="1"/>
          <p:nvPr/>
        </p:nvSpPr>
        <p:spPr>
          <a:xfrm>
            <a:off x="1123950" y="4432548"/>
            <a:ext cx="1871513" cy="1333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00" u="none" cap="none" strike="noStrike">
                <a:solidFill>
                  <a:srgbClr val="0F172A"/>
                </a:solidFill>
                <a:latin typeface="Plus Jakarta Sans"/>
                <a:ea typeface="Plus Jakarta Sans"/>
                <a:cs typeface="Plus Jakarta Sans"/>
                <a:sym typeface="Plus Jakarta Sans"/>
              </a:rPr>
              <a:t>STEP 4: PLANNING &amp; EXECUTION</a:t>
            </a:r>
            <a:endParaRPr/>
          </a:p>
        </p:txBody>
      </p:sp>
      <p:sp>
        <p:nvSpPr>
          <p:cNvPr id="1093" name="Google Shape;1093;p35"/>
          <p:cNvSpPr txBox="1"/>
          <p:nvPr/>
        </p:nvSpPr>
        <p:spPr>
          <a:xfrm>
            <a:off x="1123950" y="4603998"/>
            <a:ext cx="2368301" cy="952797"/>
          </a:xfrm>
          <a:prstGeom prst="rect">
            <a:avLst/>
          </a:prstGeom>
          <a:noFill/>
          <a:ln>
            <a:noFill/>
          </a:ln>
        </p:spPr>
        <p:txBody>
          <a:bodyPr anchorCtr="0" anchor="t" bIns="0" lIns="0" spcFirstLastPara="1" rIns="0" wrap="square" tIns="0">
            <a:spAutoFit/>
          </a:bodyPr>
          <a:lstStyle/>
          <a:p>
            <a:pPr indent="0" lvl="0" marL="0" marR="0" rtl="0" algn="l">
              <a:lnSpc>
                <a:spcPct val="69444"/>
              </a:lnSpc>
              <a:spcBef>
                <a:spcPts val="0"/>
              </a:spcBef>
              <a:spcAft>
                <a:spcPts val="0"/>
              </a:spcAft>
              <a:buNone/>
            </a:pPr>
            <a:r>
              <a:rPr b="1" i="0" lang="en-US" sz="862" u="none" cap="none" strike="noStrike">
                <a:solidFill>
                  <a:srgbClr val="334155"/>
                </a:solidFill>
                <a:latin typeface="Plus Jakarta Sans"/>
                <a:ea typeface="Plus Jakarta Sans"/>
                <a:cs typeface="Plus Jakarta Sans"/>
                <a:sym typeface="Plus Jakarta Sans"/>
              </a:rPr>
              <a:t>→</a:t>
            </a:r>
            <a:r>
              <a:rPr b="0" i="0" lang="en-US" sz="862" u="none" cap="none" strike="noStrike">
                <a:solidFill>
                  <a:srgbClr val="334155"/>
                </a:solidFill>
                <a:latin typeface="Plus Jakarta Sans"/>
                <a:ea typeface="Plus Jakarta Sans"/>
                <a:cs typeface="Plus Jakarta Sans"/>
                <a:sym typeface="Plus Jakarta Sans"/>
              </a:rPr>
              <a:t> Devin plans the implementation</a:t>
            </a:r>
            <a:br>
              <a:rPr b="0" i="0" lang="en-US" sz="1800" u="none" cap="none" strike="noStrike">
                <a:solidFill>
                  <a:schemeClr val="dk1"/>
                </a:solidFill>
                <a:latin typeface="Calibri"/>
                <a:ea typeface="Calibri"/>
                <a:cs typeface="Calibri"/>
                <a:sym typeface="Calibri"/>
              </a:rPr>
            </a:br>
            <a:r>
              <a:rPr b="1" i="0" lang="en-US" sz="862" u="none" cap="none" strike="noStrike">
                <a:solidFill>
                  <a:srgbClr val="334155"/>
                </a:solidFill>
                <a:latin typeface="Plus Jakarta Sans"/>
                <a:ea typeface="Plus Jakarta Sans"/>
                <a:cs typeface="Plus Jakarta Sans"/>
                <a:sym typeface="Plus Jakarta Sans"/>
              </a:rPr>
              <a:t>→</a:t>
            </a:r>
            <a:r>
              <a:rPr b="0" i="0" lang="en-US" sz="862" u="none" cap="none" strike="noStrike">
                <a:solidFill>
                  <a:srgbClr val="334155"/>
                </a:solidFill>
                <a:latin typeface="Plus Jakarta Sans"/>
                <a:ea typeface="Plus Jakarta Sans"/>
                <a:cs typeface="Plus Jakarta Sans"/>
                <a:sym typeface="Plus Jakarta Sans"/>
              </a:rPr>
              <a:t> Writes code (IDE)</a:t>
            </a:r>
            <a:br>
              <a:rPr b="0" i="0" lang="en-US" sz="1800" u="none" cap="none" strike="noStrike">
                <a:solidFill>
                  <a:schemeClr val="dk1"/>
                </a:solidFill>
                <a:latin typeface="Calibri"/>
                <a:ea typeface="Calibri"/>
                <a:cs typeface="Calibri"/>
                <a:sym typeface="Calibri"/>
              </a:rPr>
            </a:br>
            <a:r>
              <a:rPr b="1" i="0" lang="en-US" sz="862" u="none" cap="none" strike="noStrike">
                <a:solidFill>
                  <a:srgbClr val="334155"/>
                </a:solidFill>
                <a:latin typeface="Plus Jakarta Sans"/>
                <a:ea typeface="Plus Jakarta Sans"/>
                <a:cs typeface="Plus Jakarta Sans"/>
                <a:sym typeface="Plus Jakarta Sans"/>
              </a:rPr>
              <a:t>→</a:t>
            </a:r>
            <a:r>
              <a:rPr b="0" i="0" lang="en-US" sz="862" u="none" cap="none" strike="noStrike">
                <a:solidFill>
                  <a:srgbClr val="334155"/>
                </a:solidFill>
                <a:latin typeface="Plus Jakarta Sans"/>
                <a:ea typeface="Plus Jakarta Sans"/>
                <a:cs typeface="Plus Jakarta Sans"/>
                <a:sym typeface="Plus Jakarta Sans"/>
              </a:rPr>
              <a:t> Runs local app (Browser) to verify UI changes</a:t>
            </a:r>
            <a:br>
              <a:rPr b="0" i="0" lang="en-US" sz="1800" u="none" cap="none" strike="noStrike">
                <a:solidFill>
                  <a:schemeClr val="dk1"/>
                </a:solidFill>
                <a:latin typeface="Calibri"/>
                <a:ea typeface="Calibri"/>
                <a:cs typeface="Calibri"/>
                <a:sym typeface="Calibri"/>
              </a:rPr>
            </a:br>
            <a:r>
              <a:rPr b="1" i="0" lang="en-US" sz="862" u="none" cap="none" strike="noStrike">
                <a:solidFill>
                  <a:srgbClr val="334155"/>
                </a:solidFill>
                <a:latin typeface="Plus Jakarta Sans"/>
                <a:ea typeface="Plus Jakarta Sans"/>
                <a:cs typeface="Plus Jakarta Sans"/>
                <a:sym typeface="Plus Jakarta Sans"/>
              </a:rPr>
              <a:t>→</a:t>
            </a:r>
            <a:r>
              <a:rPr b="0" i="0" lang="en-US" sz="862" u="none" cap="none" strike="noStrike">
                <a:solidFill>
                  <a:srgbClr val="334155"/>
                </a:solidFill>
                <a:latin typeface="Plus Jakarta Sans"/>
                <a:ea typeface="Plus Jakarta Sans"/>
                <a:cs typeface="Plus Jakarta Sans"/>
                <a:sym typeface="Plus Jakarta Sans"/>
              </a:rPr>
              <a:t> Invokes test-before-pr Skill automatically</a:t>
            </a:r>
            <a:br>
              <a:rPr b="0" i="0" lang="en-US" sz="1800" u="none" cap="none" strike="noStrike">
                <a:solidFill>
                  <a:schemeClr val="dk1"/>
                </a:solidFill>
                <a:latin typeface="Calibri"/>
                <a:ea typeface="Calibri"/>
                <a:cs typeface="Calibri"/>
                <a:sym typeface="Calibri"/>
              </a:rPr>
            </a:br>
            <a:r>
              <a:rPr b="1" i="0" lang="en-US" sz="862" u="none" cap="none" strike="noStrike">
                <a:solidFill>
                  <a:srgbClr val="334155"/>
                </a:solidFill>
                <a:latin typeface="Plus Jakarta Sans"/>
                <a:ea typeface="Plus Jakarta Sans"/>
                <a:cs typeface="Plus Jakarta Sans"/>
                <a:sym typeface="Plus Jakarta Sans"/>
              </a:rPr>
              <a:t>→</a:t>
            </a:r>
            <a:r>
              <a:rPr b="0" i="0" lang="en-US" sz="862" u="none" cap="none" strike="noStrike">
                <a:solidFill>
                  <a:srgbClr val="334155"/>
                </a:solidFill>
                <a:latin typeface="Plus Jakarta Sans"/>
                <a:ea typeface="Plus Jakarta Sans"/>
                <a:cs typeface="Plus Jakarta Sans"/>
                <a:sym typeface="Plus Jakarta Sans"/>
              </a:rPr>
              <a:t> Runs lint and tests (Terminal)</a:t>
            </a:r>
            <a:br>
              <a:rPr b="0" i="0" lang="en-US" sz="1800" u="none" cap="none" strike="noStrike">
                <a:solidFill>
                  <a:schemeClr val="dk1"/>
                </a:solidFill>
                <a:latin typeface="Calibri"/>
                <a:ea typeface="Calibri"/>
                <a:cs typeface="Calibri"/>
                <a:sym typeface="Calibri"/>
              </a:rPr>
            </a:br>
            <a:r>
              <a:rPr b="1" i="0" lang="en-US" sz="862" u="none" cap="none" strike="noStrike">
                <a:solidFill>
                  <a:srgbClr val="334155"/>
                </a:solidFill>
                <a:latin typeface="Plus Jakarta Sans"/>
                <a:ea typeface="Plus Jakarta Sans"/>
                <a:cs typeface="Plus Jakarta Sans"/>
                <a:sym typeface="Plus Jakarta Sans"/>
              </a:rPr>
              <a:t>→</a:t>
            </a:r>
            <a:r>
              <a:rPr b="0" i="0" lang="en-US" sz="862" u="none" cap="none" strike="noStrike">
                <a:solidFill>
                  <a:srgbClr val="334155"/>
                </a:solidFill>
                <a:latin typeface="Plus Jakarta Sans"/>
                <a:ea typeface="Plus Jakarta Sans"/>
                <a:cs typeface="Plus Jakarta Sans"/>
                <a:sym typeface="Plus Jakarta Sans"/>
              </a:rPr>
              <a:t> Checks Knowledge for deployment workflow</a:t>
            </a:r>
            <a:endParaRPr/>
          </a:p>
        </p:txBody>
      </p:sp>
      <p:sp>
        <p:nvSpPr>
          <p:cNvPr id="1094" name="Google Shape;1094;p35"/>
          <p:cNvSpPr txBox="1"/>
          <p:nvPr/>
        </p:nvSpPr>
        <p:spPr>
          <a:xfrm>
            <a:off x="1123950" y="5718720"/>
            <a:ext cx="1342280" cy="1333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00" u="none" cap="none" strike="noStrike">
                <a:solidFill>
                  <a:srgbClr val="0F172A"/>
                </a:solidFill>
                <a:latin typeface="Plus Jakarta Sans"/>
                <a:ea typeface="Plus Jakarta Sans"/>
                <a:cs typeface="Plus Jakarta Sans"/>
                <a:sym typeface="Plus Jakarta Sans"/>
              </a:rPr>
              <a:t>STEP 5: PULL REQUEST</a:t>
            </a:r>
            <a:endParaRPr/>
          </a:p>
        </p:txBody>
      </p:sp>
      <p:sp>
        <p:nvSpPr>
          <p:cNvPr id="1095" name="Google Shape;1095;p35"/>
          <p:cNvSpPr txBox="1"/>
          <p:nvPr/>
        </p:nvSpPr>
        <p:spPr>
          <a:xfrm>
            <a:off x="1123950" y="5890170"/>
            <a:ext cx="3019573" cy="793998"/>
          </a:xfrm>
          <a:prstGeom prst="rect">
            <a:avLst/>
          </a:prstGeom>
          <a:noFill/>
          <a:ln>
            <a:noFill/>
          </a:ln>
        </p:spPr>
        <p:txBody>
          <a:bodyPr anchorCtr="0" anchor="t" bIns="0" lIns="0" spcFirstLastPara="1" rIns="0" wrap="square" tIns="0">
            <a:spAutoFit/>
          </a:bodyPr>
          <a:lstStyle/>
          <a:p>
            <a:pPr indent="0" lvl="0" marL="0" marR="0" rtl="0" algn="l">
              <a:lnSpc>
                <a:spcPct val="69444"/>
              </a:lnSpc>
              <a:spcBef>
                <a:spcPts val="0"/>
              </a:spcBef>
              <a:spcAft>
                <a:spcPts val="0"/>
              </a:spcAft>
              <a:buNone/>
            </a:pPr>
            <a:r>
              <a:rPr b="1" i="0" lang="en-US" sz="862" u="none" cap="none" strike="noStrike">
                <a:solidFill>
                  <a:srgbClr val="334155"/>
                </a:solidFill>
                <a:latin typeface="Plus Jakarta Sans"/>
                <a:ea typeface="Plus Jakarta Sans"/>
                <a:cs typeface="Plus Jakarta Sans"/>
                <a:sym typeface="Plus Jakarta Sans"/>
              </a:rPr>
              <a:t>→</a:t>
            </a:r>
            <a:r>
              <a:rPr b="0" i="0" lang="en-US" sz="862" u="none" cap="none" strike="noStrike">
                <a:solidFill>
                  <a:srgbClr val="334155"/>
                </a:solidFill>
                <a:latin typeface="Plus Jakarta Sans"/>
                <a:ea typeface="Plus Jakarta Sans"/>
                <a:cs typeface="Plus Jakarta Sans"/>
                <a:sym typeface="Plus Jakarta Sans"/>
              </a:rPr>
              <a:t> Devin creates PR with description, screenshots, test results</a:t>
            </a:r>
            <a:br>
              <a:rPr b="0" i="0" lang="en-US" sz="1800" u="none" cap="none" strike="noStrike">
                <a:solidFill>
                  <a:schemeClr val="dk1"/>
                </a:solidFill>
                <a:latin typeface="Calibri"/>
                <a:ea typeface="Calibri"/>
                <a:cs typeface="Calibri"/>
                <a:sym typeface="Calibri"/>
              </a:rPr>
            </a:br>
            <a:r>
              <a:rPr b="1" i="0" lang="en-US" sz="862" u="none" cap="none" strike="noStrike">
                <a:solidFill>
                  <a:srgbClr val="334155"/>
                </a:solidFill>
                <a:latin typeface="Plus Jakarta Sans"/>
                <a:ea typeface="Plus Jakarta Sans"/>
                <a:cs typeface="Plus Jakarta Sans"/>
                <a:sym typeface="Plus Jakarta Sans"/>
              </a:rPr>
              <a:t>→</a:t>
            </a:r>
            <a:r>
              <a:rPr b="0" i="0" lang="en-US" sz="862" u="none" cap="none" strike="noStrike">
                <a:solidFill>
                  <a:srgbClr val="334155"/>
                </a:solidFill>
                <a:latin typeface="Plus Jakarta Sans"/>
                <a:ea typeface="Plus Jakarta Sans"/>
                <a:cs typeface="Plus Jakarta Sans"/>
                <a:sym typeface="Plus Jakarta Sans"/>
              </a:rPr>
              <a:t> PR template applied (from integrations/pr-templates)</a:t>
            </a:r>
            <a:br>
              <a:rPr b="0" i="0" lang="en-US" sz="1800" u="none" cap="none" strike="noStrike">
                <a:solidFill>
                  <a:schemeClr val="dk1"/>
                </a:solidFill>
                <a:latin typeface="Calibri"/>
                <a:ea typeface="Calibri"/>
                <a:cs typeface="Calibri"/>
                <a:sym typeface="Calibri"/>
              </a:rPr>
            </a:br>
            <a:r>
              <a:rPr b="1" i="0" lang="en-US" sz="862" u="none" cap="none" strike="noStrike">
                <a:solidFill>
                  <a:srgbClr val="334155"/>
                </a:solidFill>
                <a:latin typeface="Plus Jakarta Sans"/>
                <a:ea typeface="Plus Jakarta Sans"/>
                <a:cs typeface="Plus Jakarta Sans"/>
                <a:sym typeface="Plus Jakarta Sans"/>
              </a:rPr>
              <a:t>→</a:t>
            </a:r>
            <a:r>
              <a:rPr b="0" i="0" lang="en-US" sz="862" u="none" cap="none" strike="noStrike">
                <a:solidFill>
                  <a:srgbClr val="334155"/>
                </a:solidFill>
                <a:latin typeface="Plus Jakarta Sans"/>
                <a:ea typeface="Plus Jakarta Sans"/>
                <a:cs typeface="Plus Jakarta Sans"/>
                <a:sym typeface="Plus Jakarta Sans"/>
              </a:rPr>
              <a:t> Devin Review auto-review triggers</a:t>
            </a:r>
            <a:br>
              <a:rPr b="0" i="0" lang="en-US" sz="1800" u="none" cap="none" strike="noStrike">
                <a:solidFill>
                  <a:schemeClr val="dk1"/>
                </a:solidFill>
                <a:latin typeface="Calibri"/>
                <a:ea typeface="Calibri"/>
                <a:cs typeface="Calibri"/>
                <a:sym typeface="Calibri"/>
              </a:rPr>
            </a:br>
            <a:r>
              <a:rPr b="1" i="0" lang="en-US" sz="862" u="none" cap="none" strike="noStrike">
                <a:solidFill>
                  <a:srgbClr val="334155"/>
                </a:solidFill>
                <a:latin typeface="Plus Jakarta Sans"/>
                <a:ea typeface="Plus Jakarta Sans"/>
                <a:cs typeface="Plus Jakarta Sans"/>
                <a:sym typeface="Plus Jakarta Sans"/>
              </a:rPr>
              <a:t>→</a:t>
            </a:r>
            <a:r>
              <a:rPr b="0" i="0" lang="en-US" sz="862" u="none" cap="none" strike="noStrike">
                <a:solidFill>
                  <a:srgbClr val="334155"/>
                </a:solidFill>
                <a:latin typeface="Plus Jakarta Sans"/>
                <a:ea typeface="Plus Jakarta Sans"/>
                <a:cs typeface="Plus Jakarta Sans"/>
                <a:sym typeface="Plus Jakarta Sans"/>
              </a:rPr>
              <a:t> Bug Catcher and Security Scanner analyze the PR</a:t>
            </a:r>
            <a:br>
              <a:rPr b="0" i="0" lang="en-US" sz="1800" u="none" cap="none" strike="noStrike">
                <a:solidFill>
                  <a:schemeClr val="dk1"/>
                </a:solidFill>
                <a:latin typeface="Calibri"/>
                <a:ea typeface="Calibri"/>
                <a:cs typeface="Calibri"/>
                <a:sym typeface="Calibri"/>
              </a:rPr>
            </a:br>
            <a:r>
              <a:rPr b="1" i="0" lang="en-US" sz="862" u="none" cap="none" strike="noStrike">
                <a:solidFill>
                  <a:srgbClr val="334155"/>
                </a:solidFill>
                <a:latin typeface="Plus Jakarta Sans"/>
                <a:ea typeface="Plus Jakarta Sans"/>
                <a:cs typeface="Plus Jakarta Sans"/>
                <a:sym typeface="Plus Jakarta Sans"/>
              </a:rPr>
              <a:t>→</a:t>
            </a:r>
            <a:r>
              <a:rPr b="0" i="0" lang="en-US" sz="862" u="none" cap="none" strike="noStrike">
                <a:solidFill>
                  <a:srgbClr val="334155"/>
                </a:solidFill>
                <a:latin typeface="Plus Jakarta Sans"/>
                <a:ea typeface="Plus Jakarta Sans"/>
                <a:cs typeface="Plus Jakarta Sans"/>
                <a:sym typeface="Plus Jakarta Sans"/>
              </a:rPr>
              <a:t> Engineer reviews Devin Review analysis</a:t>
            </a:r>
            <a:endParaRPr/>
          </a:p>
        </p:txBody>
      </p:sp>
      <p:sp>
        <p:nvSpPr>
          <p:cNvPr id="1096" name="Google Shape;1096;p35"/>
          <p:cNvSpPr txBox="1"/>
          <p:nvPr/>
        </p:nvSpPr>
        <p:spPr>
          <a:xfrm>
            <a:off x="1123950" y="6846093"/>
            <a:ext cx="1666130" cy="1190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00" u="none" cap="none" strike="noStrike">
                <a:solidFill>
                  <a:srgbClr val="0F172A"/>
                </a:solidFill>
                <a:latin typeface="Plus Jakarta Sans"/>
                <a:ea typeface="Plus Jakarta Sans"/>
                <a:cs typeface="Plus Jakarta Sans"/>
                <a:sym typeface="Plus Jakarta Sans"/>
              </a:rPr>
              <a:t>STEP 6: REVIEW &amp; ITERATION</a:t>
            </a:r>
            <a:endParaRPr/>
          </a:p>
        </p:txBody>
      </p:sp>
      <p:sp>
        <p:nvSpPr>
          <p:cNvPr id="1097" name="Google Shape;1097;p35"/>
          <p:cNvSpPr txBox="1"/>
          <p:nvPr/>
        </p:nvSpPr>
        <p:spPr>
          <a:xfrm>
            <a:off x="1123950" y="7017543"/>
            <a:ext cx="2301329" cy="0"/>
          </a:xfrm>
          <a:prstGeom prst="rect">
            <a:avLst/>
          </a:prstGeom>
          <a:noFill/>
          <a:ln>
            <a:noFill/>
          </a:ln>
        </p:spPr>
        <p:txBody>
          <a:bodyPr anchorCtr="0" anchor="t" bIns="0" lIns="0" spcFirstLastPara="1" rIns="0" wrap="square" tIns="0">
            <a:spAutoFit/>
          </a:bodyPr>
          <a:lstStyle/>
          <a:p>
            <a:pPr indent="0" lvl="0" marL="0" marR="0" rtl="0" algn="l">
              <a:lnSpc>
                <a:spcPct val="69444"/>
              </a:lnSpc>
              <a:spcBef>
                <a:spcPts val="0"/>
              </a:spcBef>
              <a:spcAft>
                <a:spcPts val="0"/>
              </a:spcAft>
              <a:buNone/>
            </a:pPr>
            <a:r>
              <a:rPr b="1" i="0" lang="en-US" sz="862" u="none" cap="none" strike="noStrike">
                <a:solidFill>
                  <a:srgbClr val="334155"/>
                </a:solidFill>
                <a:latin typeface="Plus Jakarta Sans"/>
                <a:ea typeface="Plus Jakarta Sans"/>
                <a:cs typeface="Plus Jakarta Sans"/>
                <a:sym typeface="Plus Jakarta Sans"/>
              </a:rPr>
              <a:t>→</a:t>
            </a:r>
            <a:r>
              <a:rPr b="0" i="0" lang="en-US" sz="862" u="none" cap="none" strike="noStrike">
                <a:solidFill>
                  <a:srgbClr val="334155"/>
                </a:solidFill>
                <a:latin typeface="Plus Jakarta Sans"/>
                <a:ea typeface="Plus Jakarta Sans"/>
                <a:cs typeface="Plus Jakarta Sans"/>
                <a:sym typeface="Plus Jakarta Sans"/>
              </a:rPr>
              <a:t> Engineer reviews PR in Devin Review</a:t>
            </a:r>
            <a:br>
              <a:rPr b="0" i="0" lang="en-US" sz="1800" u="none" cap="none" strike="noStrike">
                <a:solidFill>
                  <a:schemeClr val="dk1"/>
                </a:solidFill>
                <a:latin typeface="Calibri"/>
                <a:ea typeface="Calibri"/>
                <a:cs typeface="Calibri"/>
                <a:sym typeface="Calibri"/>
              </a:rPr>
            </a:br>
            <a:r>
              <a:rPr b="1" i="0" lang="en-US" sz="862" u="none" cap="none" strike="noStrike">
                <a:solidFill>
                  <a:srgbClr val="334155"/>
                </a:solidFill>
                <a:latin typeface="Plus Jakarta Sans"/>
                <a:ea typeface="Plus Jakarta Sans"/>
                <a:cs typeface="Plus Jakarta Sans"/>
                <a:sym typeface="Plus Jakarta Sans"/>
              </a:rPr>
              <a:t>→</a:t>
            </a:r>
            <a:r>
              <a:rPr b="0" i="0" lang="en-US" sz="862" u="none" cap="none" strike="noStrike">
                <a:solidFill>
                  <a:srgbClr val="334155"/>
                </a:solidFill>
                <a:latin typeface="Plus Jakarta Sans"/>
                <a:ea typeface="Plus Jakarta Sans"/>
                <a:cs typeface="Plus Jakarta Sans"/>
                <a:sym typeface="Plus Jakarta Sans"/>
              </a:rPr>
              <a:t> Requests changes via codebase-aware chat</a:t>
            </a:r>
            <a:br>
              <a:rPr b="0" i="0" lang="en-US" sz="1800" u="none" cap="none" strike="noStrike">
                <a:solidFill>
                  <a:schemeClr val="dk1"/>
                </a:solidFill>
                <a:latin typeface="Calibri"/>
                <a:ea typeface="Calibri"/>
                <a:cs typeface="Calibri"/>
                <a:sym typeface="Calibri"/>
              </a:rPr>
            </a:br>
            <a:r>
              <a:rPr b="1" i="0" lang="en-US" sz="862" u="none" cap="none" strike="noStrike">
                <a:solidFill>
                  <a:srgbClr val="334155"/>
                </a:solidFill>
                <a:latin typeface="Plus Jakarta Sans"/>
                <a:ea typeface="Plus Jakarta Sans"/>
                <a:cs typeface="Plus Jakarta Sans"/>
                <a:sym typeface="Plus Jakarta Sans"/>
              </a:rPr>
              <a:t>→</a:t>
            </a:r>
            <a:r>
              <a:rPr b="0" i="0" lang="en-US" sz="862" u="none" cap="none" strike="noStrike">
                <a:solidFill>
                  <a:srgbClr val="334155"/>
                </a:solidFill>
                <a:latin typeface="Plus Jakarta Sans"/>
                <a:ea typeface="Plus Jakarta Sans"/>
                <a:cs typeface="Plus Jakarta Sans"/>
                <a:sym typeface="Plus Jakarta Sans"/>
              </a:rPr>
              <a:t> Devin makes changes, pushes new commits</a:t>
            </a:r>
            <a:br>
              <a:rPr b="0" i="0" lang="en-US" sz="1800" u="none" cap="none" strike="noStrike">
                <a:solidFill>
                  <a:schemeClr val="dk1"/>
                </a:solidFill>
                <a:latin typeface="Calibri"/>
                <a:ea typeface="Calibri"/>
                <a:cs typeface="Calibri"/>
                <a:sym typeface="Calibri"/>
              </a:rPr>
            </a:br>
            <a:r>
              <a:rPr b="1" i="0" lang="en-US" sz="862" u="none" cap="none" strike="noStrike">
                <a:solidFill>
                  <a:srgbClr val="334155"/>
                </a:solidFill>
                <a:latin typeface="Plus Jakarta Sans"/>
                <a:ea typeface="Plus Jakarta Sans"/>
                <a:cs typeface="Plus Jakarta Sans"/>
                <a:sym typeface="Plus Jakarta Sans"/>
              </a:rPr>
              <a:t>→</a:t>
            </a:r>
            <a:r>
              <a:rPr b="0" i="0" lang="en-US" sz="862" u="none" cap="none" strike="noStrike">
                <a:solidFill>
                  <a:srgbClr val="334155"/>
                </a:solidFill>
                <a:latin typeface="Plus Jakarta Sans"/>
                <a:ea typeface="Plus Jakarta Sans"/>
                <a:cs typeface="Plus Jakarta Sans"/>
                <a:sym typeface="Plus Jakarta Sans"/>
              </a:rPr>
              <a:t> Devin Review re-analyzes</a:t>
            </a:r>
            <a:endParaRPr/>
          </a:p>
        </p:txBody>
      </p:sp>
      <p:sp>
        <p:nvSpPr>
          <p:cNvPr id="1098" name="Google Shape;1098;p35"/>
          <p:cNvSpPr txBox="1"/>
          <p:nvPr/>
        </p:nvSpPr>
        <p:spPr>
          <a:xfrm>
            <a:off x="1123950" y="7814667"/>
            <a:ext cx="1786681" cy="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00" u="none" cap="none" strike="noStrike">
                <a:solidFill>
                  <a:srgbClr val="0D9488"/>
                </a:solidFill>
                <a:latin typeface="Plus Jakarta Sans"/>
                <a:ea typeface="Plus Jakarta Sans"/>
                <a:cs typeface="Plus Jakarta Sans"/>
                <a:sym typeface="Plus Jakarta Sans"/>
              </a:rPr>
              <a:t>STEP 7: MERGE &amp; AUTOMATION</a:t>
            </a:r>
            <a:endParaRPr/>
          </a:p>
        </p:txBody>
      </p:sp>
      <p:sp>
        <p:nvSpPr>
          <p:cNvPr id="1099" name="Google Shape;1099;p35"/>
          <p:cNvSpPr txBox="1"/>
          <p:nvPr/>
        </p:nvSpPr>
        <p:spPr>
          <a:xfrm>
            <a:off x="1123950" y="7986117"/>
            <a:ext cx="2940694" cy="0"/>
          </a:xfrm>
          <a:prstGeom prst="rect">
            <a:avLst/>
          </a:prstGeom>
          <a:noFill/>
          <a:ln>
            <a:noFill/>
          </a:ln>
        </p:spPr>
        <p:txBody>
          <a:bodyPr anchorCtr="0" anchor="t" bIns="0" lIns="0" spcFirstLastPara="1" rIns="0" wrap="square" tIns="0">
            <a:spAutoFit/>
          </a:bodyPr>
          <a:lstStyle/>
          <a:p>
            <a:pPr indent="0" lvl="0" marL="0" marR="0" rtl="0" algn="l">
              <a:lnSpc>
                <a:spcPct val="69444"/>
              </a:lnSpc>
              <a:spcBef>
                <a:spcPts val="0"/>
              </a:spcBef>
              <a:spcAft>
                <a:spcPts val="0"/>
              </a:spcAft>
              <a:buNone/>
            </a:pPr>
            <a:r>
              <a:rPr b="1" i="0" lang="en-US" sz="862" u="none" cap="none" strike="noStrike">
                <a:solidFill>
                  <a:srgbClr val="334155"/>
                </a:solidFill>
                <a:latin typeface="Plus Jakarta Sans"/>
                <a:ea typeface="Plus Jakarta Sans"/>
                <a:cs typeface="Plus Jakarta Sans"/>
                <a:sym typeface="Plus Jakarta Sans"/>
              </a:rPr>
              <a:t>→</a:t>
            </a:r>
            <a:r>
              <a:rPr b="0" i="0" lang="en-US" sz="862" u="none" cap="none" strike="noStrike">
                <a:solidFill>
                  <a:srgbClr val="334155"/>
                </a:solidFill>
                <a:latin typeface="Plus Jakarta Sans"/>
                <a:ea typeface="Plus Jakarta Sans"/>
                <a:cs typeface="Plus Jakarta Sans"/>
                <a:sym typeface="Plus Jakarta Sans"/>
              </a:rPr>
              <a:t> PR merged</a:t>
            </a:r>
            <a:br>
              <a:rPr b="0" i="0" lang="en-US" sz="1800" u="none" cap="none" strike="noStrike">
                <a:solidFill>
                  <a:schemeClr val="dk1"/>
                </a:solidFill>
                <a:latin typeface="Calibri"/>
                <a:ea typeface="Calibri"/>
                <a:cs typeface="Calibri"/>
                <a:sym typeface="Calibri"/>
              </a:rPr>
            </a:br>
            <a:r>
              <a:rPr b="1" i="0" lang="en-US" sz="862" u="none" cap="none" strike="noStrike">
                <a:solidFill>
                  <a:srgbClr val="334155"/>
                </a:solidFill>
                <a:latin typeface="Plus Jakarta Sans"/>
                <a:ea typeface="Plus Jakarta Sans"/>
                <a:cs typeface="Plus Jakarta Sans"/>
                <a:sym typeface="Plus Jakarta Sans"/>
              </a:rPr>
              <a:t>→</a:t>
            </a:r>
            <a:r>
              <a:rPr b="0" i="0" lang="en-US" sz="862" u="none" cap="none" strike="noStrike">
                <a:solidFill>
                  <a:srgbClr val="334155"/>
                </a:solidFill>
                <a:latin typeface="Plus Jakarta Sans"/>
                <a:ea typeface="Plus Jakarta Sans"/>
                <a:cs typeface="Plus Jakarta Sans"/>
                <a:sym typeface="Plus Jakarta Sans"/>
              </a:rPr>
              <a:t> Automation: CI/CD pipeline triggered</a:t>
            </a:r>
            <a:br>
              <a:rPr b="0" i="0" lang="en-US" sz="1800" u="none" cap="none" strike="noStrike">
                <a:solidFill>
                  <a:schemeClr val="dk1"/>
                </a:solidFill>
                <a:latin typeface="Calibri"/>
                <a:ea typeface="Calibri"/>
                <a:cs typeface="Calibri"/>
                <a:sym typeface="Calibri"/>
              </a:rPr>
            </a:br>
            <a:r>
              <a:rPr b="1" i="0" lang="en-US" sz="862" u="none" cap="none" strike="noStrike">
                <a:solidFill>
                  <a:srgbClr val="334155"/>
                </a:solidFill>
                <a:latin typeface="Plus Jakarta Sans"/>
                <a:ea typeface="Plus Jakarta Sans"/>
                <a:cs typeface="Plus Jakarta Sans"/>
                <a:sym typeface="Plus Jakarta Sans"/>
              </a:rPr>
              <a:t>→</a:t>
            </a:r>
            <a:r>
              <a:rPr b="0" i="0" lang="en-US" sz="862" u="none" cap="none" strike="noStrike">
                <a:solidFill>
                  <a:srgbClr val="334155"/>
                </a:solidFill>
                <a:latin typeface="Plus Jakarta Sans"/>
                <a:ea typeface="Plus Jakarta Sans"/>
                <a:cs typeface="Plus Jakarta Sans"/>
                <a:sym typeface="Plus Jakarta Sans"/>
              </a:rPr>
              <a:t> Scheduled session: nightly smoke tests verify deployment</a:t>
            </a:r>
            <a:br>
              <a:rPr b="0" i="0" lang="en-US" sz="1800" u="none" cap="none" strike="noStrike">
                <a:solidFill>
                  <a:schemeClr val="dk1"/>
                </a:solidFill>
                <a:latin typeface="Calibri"/>
                <a:ea typeface="Calibri"/>
                <a:cs typeface="Calibri"/>
                <a:sym typeface="Calibri"/>
              </a:rPr>
            </a:br>
            <a:r>
              <a:rPr b="1" i="0" lang="en-US" sz="862" u="none" cap="none" strike="noStrike">
                <a:solidFill>
                  <a:srgbClr val="334155"/>
                </a:solidFill>
                <a:latin typeface="Plus Jakarta Sans"/>
                <a:ea typeface="Plus Jakarta Sans"/>
                <a:cs typeface="Plus Jakarta Sans"/>
                <a:sym typeface="Plus Jakarta Sans"/>
              </a:rPr>
              <a:t>→</a:t>
            </a:r>
            <a:r>
              <a:rPr b="0" i="0" lang="en-US" sz="862" u="none" cap="none" strike="noStrike">
                <a:solidFill>
                  <a:srgbClr val="334155"/>
                </a:solidFill>
                <a:latin typeface="Plus Jakarta Sans"/>
                <a:ea typeface="Plus Jakarta Sans"/>
                <a:cs typeface="Plus Jakarta Sans"/>
                <a:sym typeface="Plus Jakarta Sans"/>
              </a:rPr>
              <a:t> Knowledge updated with any new learnings</a:t>
            </a:r>
            <a:endParaRPr/>
          </a:p>
        </p:txBody>
      </p:sp>
      <p:sp>
        <p:nvSpPr>
          <p:cNvPr id="1100" name="Google Shape;1100;p35"/>
          <p:cNvSpPr/>
          <p:nvPr/>
        </p:nvSpPr>
        <p:spPr>
          <a:xfrm>
            <a:off x="7015162" y="2112615"/>
            <a:ext cx="1295995"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01" name="Google Shape;1101;p35"/>
          <p:cNvSpPr/>
          <p:nvPr/>
        </p:nvSpPr>
        <p:spPr>
          <a:xfrm>
            <a:off x="8311157" y="2112615"/>
            <a:ext cx="3299817"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02" name="Google Shape;1102;p35"/>
          <p:cNvSpPr/>
          <p:nvPr/>
        </p:nvSpPr>
        <p:spPr>
          <a:xfrm>
            <a:off x="7015162" y="2445990"/>
            <a:ext cx="1295995"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03" name="Google Shape;1103;p35"/>
          <p:cNvSpPr/>
          <p:nvPr/>
        </p:nvSpPr>
        <p:spPr>
          <a:xfrm>
            <a:off x="8311157" y="2445990"/>
            <a:ext cx="3299817"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04" name="Google Shape;1104;p35"/>
          <p:cNvSpPr/>
          <p:nvPr/>
        </p:nvSpPr>
        <p:spPr>
          <a:xfrm>
            <a:off x="7015162" y="2912715"/>
            <a:ext cx="1295995"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05" name="Google Shape;1105;p35"/>
          <p:cNvSpPr/>
          <p:nvPr/>
        </p:nvSpPr>
        <p:spPr>
          <a:xfrm>
            <a:off x="8311157" y="2912715"/>
            <a:ext cx="3299817"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06" name="Google Shape;1106;p35"/>
          <p:cNvSpPr/>
          <p:nvPr/>
        </p:nvSpPr>
        <p:spPr>
          <a:xfrm>
            <a:off x="7015162" y="3246090"/>
            <a:ext cx="1295995"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07" name="Google Shape;1107;p35"/>
          <p:cNvSpPr/>
          <p:nvPr/>
        </p:nvSpPr>
        <p:spPr>
          <a:xfrm>
            <a:off x="8311157" y="3246090"/>
            <a:ext cx="3299817"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08" name="Google Shape;1108;p35"/>
          <p:cNvSpPr/>
          <p:nvPr/>
        </p:nvSpPr>
        <p:spPr>
          <a:xfrm>
            <a:off x="7015162" y="3579465"/>
            <a:ext cx="1295995"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09" name="Google Shape;1109;p35"/>
          <p:cNvSpPr/>
          <p:nvPr/>
        </p:nvSpPr>
        <p:spPr>
          <a:xfrm>
            <a:off x="8311157" y="3579465"/>
            <a:ext cx="3299817"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10" name="Google Shape;1110;p35"/>
          <p:cNvSpPr/>
          <p:nvPr/>
        </p:nvSpPr>
        <p:spPr>
          <a:xfrm>
            <a:off x="7015162" y="3912840"/>
            <a:ext cx="1295995"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11" name="Google Shape;1111;p35"/>
          <p:cNvSpPr/>
          <p:nvPr/>
        </p:nvSpPr>
        <p:spPr>
          <a:xfrm>
            <a:off x="8311157" y="3912840"/>
            <a:ext cx="3299817"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12" name="Google Shape;1112;p35"/>
          <p:cNvSpPr/>
          <p:nvPr/>
        </p:nvSpPr>
        <p:spPr>
          <a:xfrm>
            <a:off x="7015162" y="4246215"/>
            <a:ext cx="1295995"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13" name="Google Shape;1113;p35"/>
          <p:cNvSpPr/>
          <p:nvPr/>
        </p:nvSpPr>
        <p:spPr>
          <a:xfrm>
            <a:off x="8311157" y="4246215"/>
            <a:ext cx="3299817"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14" name="Google Shape;1114;p35"/>
          <p:cNvSpPr txBox="1"/>
          <p:nvPr/>
        </p:nvSpPr>
        <p:spPr>
          <a:xfrm>
            <a:off x="571500" y="381000"/>
            <a:ext cx="11601450" cy="37147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2400" u="none" cap="none" strike="noStrike">
                <a:solidFill>
                  <a:srgbClr val="0F172A"/>
                </a:solidFill>
                <a:latin typeface="Plus Jakarta Sans ExtraBold"/>
                <a:ea typeface="Plus Jakarta Sans ExtraBold"/>
                <a:cs typeface="Plus Jakarta Sans ExtraBold"/>
                <a:sym typeface="Plus Jakarta Sans ExtraBold"/>
              </a:rPr>
              <a:t>Enterprise Dev Workflow Pipeline</a:t>
            </a:r>
            <a:endParaRPr/>
          </a:p>
        </p:txBody>
      </p:sp>
      <p:sp>
        <p:nvSpPr>
          <p:cNvPr id="1115" name="Google Shape;1115;p35"/>
          <p:cNvSpPr/>
          <p:nvPr/>
        </p:nvSpPr>
        <p:spPr>
          <a:xfrm>
            <a:off x="571500" y="847725"/>
            <a:ext cx="11049000" cy="19050"/>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19" name="Shape 1119"/>
        <p:cNvGrpSpPr/>
        <p:nvPr/>
      </p:nvGrpSpPr>
      <p:grpSpPr>
        <a:xfrm>
          <a:off x="0" y="0"/>
          <a:ext cx="0" cy="0"/>
          <a:chOff x="0" y="0"/>
          <a:chExt cx="0" cy="0"/>
        </a:xfrm>
      </p:grpSpPr>
      <p:pic>
        <p:nvPicPr>
          <p:cNvPr descr="image.png" id="1120" name="Google Shape;1120;p36"/>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121" name="Google Shape;1121;p36"/>
          <p:cNvPicPr preferRelativeResize="0"/>
          <p:nvPr/>
        </p:nvPicPr>
        <p:blipFill rotWithShape="1">
          <a:blip r:embed="rId4">
            <a:alphaModFix/>
          </a:blip>
          <a:srcRect b="0" l="0" r="0" t="0"/>
          <a:stretch/>
        </p:blipFill>
        <p:spPr>
          <a:xfrm>
            <a:off x="571500" y="2728912"/>
            <a:ext cx="6188868" cy="542925"/>
          </a:xfrm>
          <a:prstGeom prst="rect">
            <a:avLst/>
          </a:prstGeom>
          <a:noFill/>
          <a:ln>
            <a:noFill/>
          </a:ln>
        </p:spPr>
      </p:pic>
      <p:pic>
        <p:nvPicPr>
          <p:cNvPr descr="image.png" id="1122" name="Google Shape;1122;p36"/>
          <p:cNvPicPr preferRelativeResize="0"/>
          <p:nvPr/>
        </p:nvPicPr>
        <p:blipFill rotWithShape="1">
          <a:blip r:embed="rId5">
            <a:alphaModFix/>
          </a:blip>
          <a:srcRect b="0" l="0" r="0" t="0"/>
          <a:stretch/>
        </p:blipFill>
        <p:spPr>
          <a:xfrm>
            <a:off x="571500" y="4252912"/>
            <a:ext cx="6188868" cy="533400"/>
          </a:xfrm>
          <a:prstGeom prst="rect">
            <a:avLst/>
          </a:prstGeom>
          <a:noFill/>
          <a:ln>
            <a:noFill/>
          </a:ln>
        </p:spPr>
      </p:pic>
      <p:pic>
        <p:nvPicPr>
          <p:cNvPr descr="image.png" id="1123" name="Google Shape;1123;p36"/>
          <p:cNvPicPr preferRelativeResize="0"/>
          <p:nvPr/>
        </p:nvPicPr>
        <p:blipFill rotWithShape="1">
          <a:blip r:embed="rId6">
            <a:alphaModFix/>
          </a:blip>
          <a:srcRect b="0" l="0" r="0" t="0"/>
          <a:stretch/>
        </p:blipFill>
        <p:spPr>
          <a:xfrm>
            <a:off x="7046118" y="3054250"/>
            <a:ext cx="4574381" cy="1406723"/>
          </a:xfrm>
          <a:prstGeom prst="rect">
            <a:avLst/>
          </a:prstGeom>
          <a:noFill/>
          <a:ln>
            <a:noFill/>
          </a:ln>
        </p:spPr>
      </p:pic>
      <p:pic>
        <p:nvPicPr>
          <p:cNvPr descr="image.png" id="1124" name="Google Shape;1124;p36"/>
          <p:cNvPicPr preferRelativeResize="0"/>
          <p:nvPr/>
        </p:nvPicPr>
        <p:blipFill rotWithShape="1">
          <a:blip r:embed="rId7">
            <a:alphaModFix/>
          </a:blip>
          <a:srcRect b="0" l="0" r="0" t="0"/>
          <a:stretch/>
        </p:blipFill>
        <p:spPr>
          <a:xfrm>
            <a:off x="571500" y="457200"/>
            <a:ext cx="823168" cy="200025"/>
          </a:xfrm>
          <a:prstGeom prst="rect">
            <a:avLst/>
          </a:prstGeom>
          <a:noFill/>
          <a:ln>
            <a:noFill/>
          </a:ln>
        </p:spPr>
      </p:pic>
      <p:pic>
        <p:nvPicPr>
          <p:cNvPr descr="image.png" id="1125" name="Google Shape;1125;p36"/>
          <p:cNvPicPr preferRelativeResize="0"/>
          <p:nvPr/>
        </p:nvPicPr>
        <p:blipFill rotWithShape="1">
          <a:blip r:embed="rId8">
            <a:alphaModFix/>
          </a:blip>
          <a:srcRect b="0" l="0" r="0" t="0"/>
          <a:stretch/>
        </p:blipFill>
        <p:spPr>
          <a:xfrm>
            <a:off x="571500" y="3462337"/>
            <a:ext cx="6188868" cy="600075"/>
          </a:xfrm>
          <a:prstGeom prst="rect">
            <a:avLst/>
          </a:prstGeom>
          <a:noFill/>
          <a:ln>
            <a:noFill/>
          </a:ln>
        </p:spPr>
      </p:pic>
      <p:sp>
        <p:nvSpPr>
          <p:cNvPr id="1126" name="Google Shape;1126;p36"/>
          <p:cNvSpPr txBox="1"/>
          <p:nvPr/>
        </p:nvSpPr>
        <p:spPr>
          <a:xfrm>
            <a:off x="676275" y="2833687"/>
            <a:ext cx="5979318" cy="1333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900" u="none" cap="none" strike="noStrike">
                <a:solidFill>
                  <a:srgbClr val="2563EB"/>
                </a:solidFill>
                <a:latin typeface="Plus Jakarta Sans"/>
                <a:ea typeface="Plus Jakarta Sans"/>
                <a:cs typeface="Plus Jakarta Sans"/>
                <a:sym typeface="Plus Jakarta Sans"/>
              </a:rPr>
              <a:t>VCS &amp; COMMUNICATIONS (NATIVE)</a:t>
            </a:r>
            <a:endParaRPr/>
          </a:p>
        </p:txBody>
      </p:sp>
      <p:pic>
        <p:nvPicPr>
          <p:cNvPr descr="image.png" id="1127" name="Google Shape;1127;p36"/>
          <p:cNvPicPr preferRelativeResize="0"/>
          <p:nvPr/>
        </p:nvPicPr>
        <p:blipFill rotWithShape="1">
          <a:blip r:embed="rId9">
            <a:alphaModFix/>
          </a:blip>
          <a:srcRect b="0" l="0" r="0" t="0"/>
          <a:stretch/>
        </p:blipFill>
        <p:spPr>
          <a:xfrm>
            <a:off x="3637359" y="3309937"/>
            <a:ext cx="57150" cy="114300"/>
          </a:xfrm>
          <a:prstGeom prst="rect">
            <a:avLst/>
          </a:prstGeom>
          <a:noFill/>
          <a:ln>
            <a:noFill/>
          </a:ln>
        </p:spPr>
      </p:pic>
      <p:sp>
        <p:nvSpPr>
          <p:cNvPr id="1128" name="Google Shape;1128;p36"/>
          <p:cNvSpPr txBox="1"/>
          <p:nvPr/>
        </p:nvSpPr>
        <p:spPr>
          <a:xfrm>
            <a:off x="704850" y="3595687"/>
            <a:ext cx="5922168" cy="142875"/>
          </a:xfrm>
          <a:prstGeom prst="rect">
            <a:avLst/>
          </a:prstGeom>
          <a:noFill/>
          <a:ln>
            <a:noFill/>
          </a:ln>
        </p:spPr>
        <p:txBody>
          <a:bodyPr anchorCtr="0" anchor="t" bIns="0" lIns="142875" spcFirstLastPara="1" rIns="0" wrap="square" tIns="0">
            <a:spAutoFit/>
          </a:bodyPr>
          <a:lstStyle/>
          <a:p>
            <a:pPr indent="0" lvl="0" marL="0" marR="0" rtl="0" algn="ctr">
              <a:spcBef>
                <a:spcPts val="0"/>
              </a:spcBef>
              <a:spcAft>
                <a:spcPts val="0"/>
              </a:spcAft>
              <a:buNone/>
            </a:pPr>
            <a:r>
              <a:rPr b="1" i="0" lang="en-US" sz="975" u="none" cap="none" strike="noStrike">
                <a:solidFill>
                  <a:srgbClr val="0F172A"/>
                </a:solidFill>
                <a:latin typeface="Plus Jakarta Sans"/>
                <a:ea typeface="Plus Jakarta Sans"/>
                <a:cs typeface="Plus Jakarta Sans"/>
                <a:sym typeface="Plus Jakarta Sans"/>
              </a:rPr>
              <a:t>DEVIN AGENT PLATFORM</a:t>
            </a:r>
            <a:endParaRPr/>
          </a:p>
        </p:txBody>
      </p:sp>
      <p:sp>
        <p:nvSpPr>
          <p:cNvPr id="1129" name="Google Shape;1129;p36"/>
          <p:cNvSpPr txBox="1"/>
          <p:nvPr/>
        </p:nvSpPr>
        <p:spPr>
          <a:xfrm>
            <a:off x="2585591" y="3814762"/>
            <a:ext cx="2160686" cy="952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675" u="none" cap="none" strike="noStrike">
                <a:solidFill>
                  <a:srgbClr val="64748B"/>
                </a:solidFill>
                <a:latin typeface="JetBrains Mono"/>
                <a:ea typeface="JetBrains Mono"/>
                <a:cs typeface="JetBrains Mono"/>
                <a:sym typeface="JetBrains Mono"/>
              </a:rPr>
              <a:t>Bridges Webhooks, Automations, &amp; MCP Links</a:t>
            </a:r>
            <a:endParaRPr/>
          </a:p>
        </p:txBody>
      </p:sp>
      <p:pic>
        <p:nvPicPr>
          <p:cNvPr descr="image.png" id="1130" name="Google Shape;1130;p36"/>
          <p:cNvPicPr preferRelativeResize="0"/>
          <p:nvPr/>
        </p:nvPicPr>
        <p:blipFill rotWithShape="1">
          <a:blip r:embed="rId9">
            <a:alphaModFix/>
          </a:blip>
          <a:srcRect b="0" l="0" r="0" t="0"/>
          <a:stretch/>
        </p:blipFill>
        <p:spPr>
          <a:xfrm>
            <a:off x="3637359" y="4100512"/>
            <a:ext cx="57150" cy="114300"/>
          </a:xfrm>
          <a:prstGeom prst="rect">
            <a:avLst/>
          </a:prstGeom>
          <a:noFill/>
          <a:ln>
            <a:noFill/>
          </a:ln>
        </p:spPr>
      </p:pic>
      <p:sp>
        <p:nvSpPr>
          <p:cNvPr id="1131" name="Google Shape;1131;p36"/>
          <p:cNvSpPr txBox="1"/>
          <p:nvPr/>
        </p:nvSpPr>
        <p:spPr>
          <a:xfrm>
            <a:off x="676275" y="4357687"/>
            <a:ext cx="5979318" cy="1333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900" u="none" cap="none" strike="noStrike">
                <a:solidFill>
                  <a:srgbClr val="0D9488"/>
                </a:solidFill>
                <a:latin typeface="Plus Jakarta Sans"/>
                <a:ea typeface="Plus Jakarta Sans"/>
                <a:cs typeface="Plus Jakarta Sans"/>
                <a:sym typeface="Plus Jakarta Sans"/>
              </a:rPr>
              <a:t>MODEL CONTEXT PROTOCOL (MCP)</a:t>
            </a:r>
            <a:endParaRPr/>
          </a:p>
        </p:txBody>
      </p:sp>
      <p:sp>
        <p:nvSpPr>
          <p:cNvPr id="1132" name="Google Shape;1132;p36"/>
          <p:cNvSpPr txBox="1"/>
          <p:nvPr/>
        </p:nvSpPr>
        <p:spPr>
          <a:xfrm>
            <a:off x="7493793" y="3178075"/>
            <a:ext cx="4143017" cy="1524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050" u="none" cap="none" strike="noStrike">
                <a:solidFill>
                  <a:srgbClr val="0F172A"/>
                </a:solidFill>
                <a:latin typeface="Plus Jakarta Sans"/>
                <a:ea typeface="Plus Jakarta Sans"/>
                <a:cs typeface="Plus Jakarta Sans"/>
                <a:sym typeface="Plus Jakarta Sans"/>
              </a:rPr>
              <a:t>Supported MCP Transports</a:t>
            </a:r>
            <a:endParaRPr/>
          </a:p>
        </p:txBody>
      </p:sp>
      <p:sp>
        <p:nvSpPr>
          <p:cNvPr id="1133" name="Google Shape;1133;p36"/>
          <p:cNvSpPr txBox="1"/>
          <p:nvPr/>
        </p:nvSpPr>
        <p:spPr>
          <a:xfrm>
            <a:off x="7227093" y="3387625"/>
            <a:ext cx="4212431" cy="151804"/>
          </a:xfrm>
          <a:prstGeom prst="rect">
            <a:avLst/>
          </a:prstGeom>
          <a:noFill/>
          <a:ln>
            <a:noFill/>
          </a:ln>
        </p:spPr>
        <p:txBody>
          <a:bodyPr anchorCtr="0" anchor="t" bIns="0" lIns="0" spcFirstLastPara="1" rIns="0" wrap="square" tIns="0">
            <a:spAutoFit/>
          </a:bodyPr>
          <a:lstStyle/>
          <a:p>
            <a:pPr indent="0" lvl="0" marL="0" marR="0" rtl="0" algn="l">
              <a:lnSpc>
                <a:spcPct val="144969"/>
              </a:lnSpc>
              <a:spcBef>
                <a:spcPts val="0"/>
              </a:spcBef>
              <a:spcAft>
                <a:spcPts val="0"/>
              </a:spcAft>
              <a:buNone/>
            </a:pPr>
            <a:r>
              <a:rPr b="1" i="0" lang="en-US" sz="825" u="none" cap="none" strike="noStrike">
                <a:solidFill>
                  <a:srgbClr val="475569"/>
                </a:solidFill>
                <a:latin typeface="Plus Jakarta Sans"/>
                <a:ea typeface="Plus Jakarta Sans"/>
                <a:cs typeface="Plus Jakarta Sans"/>
                <a:sym typeface="Plus Jakarta Sans"/>
              </a:rPr>
              <a:t>1. STDIO:</a:t>
            </a:r>
            <a:r>
              <a:rPr b="0" i="0" lang="en-US" sz="825" u="none" cap="none" strike="noStrike">
                <a:solidFill>
                  <a:srgbClr val="475569"/>
                </a:solidFill>
                <a:latin typeface="Plus Jakarta Sans"/>
                <a:ea typeface="Plus Jakarta Sans"/>
                <a:cs typeface="Plus Jakarta Sans"/>
                <a:sym typeface="Plus Jakarta Sans"/>
              </a:rPr>
              <a:t> Local CLI-based servers (npx, uvx, Docker container actions).</a:t>
            </a:r>
            <a:endParaRPr/>
          </a:p>
        </p:txBody>
      </p:sp>
      <p:sp>
        <p:nvSpPr>
          <p:cNvPr id="1134" name="Google Shape;1134;p36"/>
          <p:cNvSpPr txBox="1"/>
          <p:nvPr/>
        </p:nvSpPr>
        <p:spPr>
          <a:xfrm>
            <a:off x="7227093" y="3577530"/>
            <a:ext cx="4212431" cy="151804"/>
          </a:xfrm>
          <a:prstGeom prst="rect">
            <a:avLst/>
          </a:prstGeom>
          <a:noFill/>
          <a:ln>
            <a:noFill/>
          </a:ln>
        </p:spPr>
        <p:txBody>
          <a:bodyPr anchorCtr="0" anchor="t" bIns="0" lIns="0" spcFirstLastPara="1" rIns="0" wrap="square" tIns="0">
            <a:spAutoFit/>
          </a:bodyPr>
          <a:lstStyle/>
          <a:p>
            <a:pPr indent="0" lvl="0" marL="0" marR="0" rtl="0" algn="l">
              <a:lnSpc>
                <a:spcPct val="144969"/>
              </a:lnSpc>
              <a:spcBef>
                <a:spcPts val="0"/>
              </a:spcBef>
              <a:spcAft>
                <a:spcPts val="0"/>
              </a:spcAft>
              <a:buNone/>
            </a:pPr>
            <a:r>
              <a:rPr b="1" i="0" lang="en-US" sz="825" u="none" cap="none" strike="noStrike">
                <a:solidFill>
                  <a:srgbClr val="475569"/>
                </a:solidFill>
                <a:latin typeface="Plus Jakarta Sans"/>
                <a:ea typeface="Plus Jakarta Sans"/>
                <a:cs typeface="Plus Jakarta Sans"/>
                <a:sym typeface="Plus Jakarta Sans"/>
              </a:rPr>
              <a:t>2. SSE:</a:t>
            </a:r>
            <a:r>
              <a:rPr b="0" i="0" lang="en-US" sz="825" u="none" cap="none" strike="noStrike">
                <a:solidFill>
                  <a:srgbClr val="475569"/>
                </a:solidFill>
                <a:latin typeface="Plus Jakarta Sans"/>
                <a:ea typeface="Plus Jakarta Sans"/>
                <a:cs typeface="Plus Jakarta Sans"/>
                <a:sym typeface="Plus Jakarta Sans"/>
              </a:rPr>
              <a:t> Remote connections using Server-Sent Events.</a:t>
            </a:r>
            <a:endParaRPr/>
          </a:p>
        </p:txBody>
      </p:sp>
      <p:sp>
        <p:nvSpPr>
          <p:cNvPr id="1135" name="Google Shape;1135;p36"/>
          <p:cNvSpPr txBox="1"/>
          <p:nvPr/>
        </p:nvSpPr>
        <p:spPr>
          <a:xfrm>
            <a:off x="7227093" y="3767435"/>
            <a:ext cx="4212431" cy="151804"/>
          </a:xfrm>
          <a:prstGeom prst="rect">
            <a:avLst/>
          </a:prstGeom>
          <a:noFill/>
          <a:ln>
            <a:noFill/>
          </a:ln>
        </p:spPr>
        <p:txBody>
          <a:bodyPr anchorCtr="0" anchor="t" bIns="0" lIns="0" spcFirstLastPara="1" rIns="0" wrap="square" tIns="0">
            <a:spAutoFit/>
          </a:bodyPr>
          <a:lstStyle/>
          <a:p>
            <a:pPr indent="0" lvl="0" marL="0" marR="0" rtl="0" algn="l">
              <a:lnSpc>
                <a:spcPct val="144969"/>
              </a:lnSpc>
              <a:spcBef>
                <a:spcPts val="0"/>
              </a:spcBef>
              <a:spcAft>
                <a:spcPts val="0"/>
              </a:spcAft>
              <a:buNone/>
            </a:pPr>
            <a:r>
              <a:rPr b="1" i="0" lang="en-US" sz="825" u="none" cap="none" strike="noStrike">
                <a:solidFill>
                  <a:srgbClr val="475569"/>
                </a:solidFill>
                <a:latin typeface="Plus Jakarta Sans"/>
                <a:ea typeface="Plus Jakarta Sans"/>
                <a:cs typeface="Plus Jakarta Sans"/>
                <a:sym typeface="Plus Jakarta Sans"/>
              </a:rPr>
              <a:t>3. HTTP:</a:t>
            </a:r>
            <a:r>
              <a:rPr b="0" i="0" lang="en-US" sz="825" u="none" cap="none" strike="noStrike">
                <a:solidFill>
                  <a:srgbClr val="475569"/>
                </a:solidFill>
                <a:latin typeface="Plus Jakarta Sans"/>
                <a:ea typeface="Plus Jakarta Sans"/>
                <a:cs typeface="Plus Jakarta Sans"/>
                <a:sym typeface="Plus Jakarta Sans"/>
              </a:rPr>
              <a:t> Streamable HTTP connections (ideal for scale environments).</a:t>
            </a:r>
            <a:endParaRPr/>
          </a:p>
        </p:txBody>
      </p:sp>
      <p:sp>
        <p:nvSpPr>
          <p:cNvPr id="1136" name="Google Shape;1136;p36"/>
          <p:cNvSpPr txBox="1"/>
          <p:nvPr/>
        </p:nvSpPr>
        <p:spPr>
          <a:xfrm>
            <a:off x="7227093" y="4024014"/>
            <a:ext cx="4212431" cy="313134"/>
          </a:xfrm>
          <a:prstGeom prst="rect">
            <a:avLst/>
          </a:prstGeom>
          <a:noFill/>
          <a:ln>
            <a:noFill/>
          </a:ln>
        </p:spPr>
        <p:txBody>
          <a:bodyPr anchorCtr="0" anchor="t" bIns="0" lIns="0" spcFirstLastPara="1" rIns="0" wrap="square" tIns="0">
            <a:spAutoFit/>
          </a:bodyPr>
          <a:lstStyle/>
          <a:p>
            <a:pPr indent="0" lvl="0" marL="0" marR="0" rtl="0" algn="l">
              <a:lnSpc>
                <a:spcPct val="144969"/>
              </a:lnSpc>
              <a:spcBef>
                <a:spcPts val="0"/>
              </a:spcBef>
              <a:spcAft>
                <a:spcPts val="0"/>
              </a:spcAft>
              <a:buNone/>
            </a:pPr>
            <a:r>
              <a:rPr b="1" i="0" lang="en-US" sz="825" u="none" cap="none" strike="noStrike">
                <a:solidFill>
                  <a:srgbClr val="475569"/>
                </a:solidFill>
                <a:latin typeface="Plus Jakarta Sans"/>
                <a:ea typeface="Plus Jakarta Sans"/>
                <a:cs typeface="Plus Jakarta Sans"/>
                <a:sym typeface="Plus Jakarta Sans"/>
              </a:rPr>
              <a:t>Corporate SSO Integration:</a:t>
            </a:r>
            <a:r>
              <a:rPr b="0" i="0" lang="en-US" sz="825" u="none" cap="none" strike="noStrike">
                <a:solidFill>
                  <a:srgbClr val="475569"/>
                </a:solidFill>
                <a:latin typeface="Plus Jakarta Sans"/>
                <a:ea typeface="Plus Jakarta Sans"/>
                <a:cs typeface="Plus Jakarta Sans"/>
                <a:sym typeface="Plus Jakarta Sans"/>
              </a:rPr>
              <a:t> Syncs identity systems (Entra ID, Okta groups) using SAML/OIDC. OAuth actions run via secure organization service accounts.</a:t>
            </a:r>
            <a:endParaRPr/>
          </a:p>
        </p:txBody>
      </p:sp>
      <p:sp>
        <p:nvSpPr>
          <p:cNvPr id="1137" name="Google Shape;1137;p36"/>
          <p:cNvSpPr/>
          <p:nvPr/>
        </p:nvSpPr>
        <p:spPr>
          <a:xfrm>
            <a:off x="7227093" y="3976389"/>
            <a:ext cx="4212431" cy="9525"/>
          </a:xfrm>
          <a:prstGeom prst="rect">
            <a:avLst/>
          </a:prstGeom>
          <a:solidFill>
            <a:srgbClr val="CBD5E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1138" name="Google Shape;1138;p36"/>
          <p:cNvPicPr preferRelativeResize="0"/>
          <p:nvPr/>
        </p:nvPicPr>
        <p:blipFill rotWithShape="1">
          <a:blip r:embed="rId10">
            <a:alphaModFix/>
          </a:blip>
          <a:srcRect b="0" l="0" r="0" t="0"/>
          <a:stretch/>
        </p:blipFill>
        <p:spPr>
          <a:xfrm>
            <a:off x="2555676" y="3005137"/>
            <a:ext cx="1250453" cy="161925"/>
          </a:xfrm>
          <a:prstGeom prst="rect">
            <a:avLst/>
          </a:prstGeom>
          <a:noFill/>
          <a:ln>
            <a:noFill/>
          </a:ln>
        </p:spPr>
      </p:pic>
      <p:pic>
        <p:nvPicPr>
          <p:cNvPr descr="image.png" id="1139" name="Google Shape;1139;p36"/>
          <p:cNvPicPr preferRelativeResize="0"/>
          <p:nvPr/>
        </p:nvPicPr>
        <p:blipFill rotWithShape="1">
          <a:blip r:embed="rId11">
            <a:alphaModFix/>
          </a:blip>
          <a:srcRect b="0" l="0" r="0" t="0"/>
          <a:stretch/>
        </p:blipFill>
        <p:spPr>
          <a:xfrm>
            <a:off x="3882330" y="3005137"/>
            <a:ext cx="893861" cy="161925"/>
          </a:xfrm>
          <a:prstGeom prst="rect">
            <a:avLst/>
          </a:prstGeom>
          <a:noFill/>
          <a:ln>
            <a:noFill/>
          </a:ln>
        </p:spPr>
      </p:pic>
      <p:pic>
        <p:nvPicPr>
          <p:cNvPr descr="image.png" id="1140" name="Google Shape;1140;p36"/>
          <p:cNvPicPr preferRelativeResize="0"/>
          <p:nvPr/>
        </p:nvPicPr>
        <p:blipFill rotWithShape="1">
          <a:blip r:embed="rId12">
            <a:alphaModFix/>
          </a:blip>
          <a:srcRect b="0" l="0" r="0" t="0"/>
          <a:stretch/>
        </p:blipFill>
        <p:spPr>
          <a:xfrm>
            <a:off x="2799903" y="3605212"/>
            <a:ext cx="142875" cy="123825"/>
          </a:xfrm>
          <a:prstGeom prst="rect">
            <a:avLst/>
          </a:prstGeom>
          <a:noFill/>
          <a:ln>
            <a:noFill/>
          </a:ln>
        </p:spPr>
      </p:pic>
      <p:pic>
        <p:nvPicPr>
          <p:cNvPr descr="image.png" id="1141" name="Google Shape;1141;p36"/>
          <p:cNvPicPr preferRelativeResize="0"/>
          <p:nvPr/>
        </p:nvPicPr>
        <p:blipFill rotWithShape="1">
          <a:blip r:embed="rId13">
            <a:alphaModFix/>
          </a:blip>
          <a:srcRect b="0" l="0" r="0" t="0"/>
          <a:stretch/>
        </p:blipFill>
        <p:spPr>
          <a:xfrm>
            <a:off x="1924347" y="4529137"/>
            <a:ext cx="1224557" cy="152400"/>
          </a:xfrm>
          <a:prstGeom prst="rect">
            <a:avLst/>
          </a:prstGeom>
          <a:noFill/>
          <a:ln>
            <a:noFill/>
          </a:ln>
        </p:spPr>
      </p:pic>
      <p:pic>
        <p:nvPicPr>
          <p:cNvPr descr="image.png" id="1142" name="Google Shape;1142;p36"/>
          <p:cNvPicPr preferRelativeResize="0"/>
          <p:nvPr/>
        </p:nvPicPr>
        <p:blipFill rotWithShape="1">
          <a:blip r:embed="rId14">
            <a:alphaModFix/>
          </a:blip>
          <a:srcRect b="0" l="0" r="0" t="0"/>
          <a:stretch/>
        </p:blipFill>
        <p:spPr>
          <a:xfrm>
            <a:off x="3206055" y="4529137"/>
            <a:ext cx="1014858" cy="152400"/>
          </a:xfrm>
          <a:prstGeom prst="rect">
            <a:avLst/>
          </a:prstGeom>
          <a:noFill/>
          <a:ln>
            <a:noFill/>
          </a:ln>
        </p:spPr>
      </p:pic>
      <p:pic>
        <p:nvPicPr>
          <p:cNvPr descr="image.png" id="1143" name="Google Shape;1143;p36"/>
          <p:cNvPicPr preferRelativeResize="0"/>
          <p:nvPr/>
        </p:nvPicPr>
        <p:blipFill rotWithShape="1">
          <a:blip r:embed="rId15">
            <a:alphaModFix/>
          </a:blip>
          <a:srcRect b="0" l="0" r="0" t="0"/>
          <a:stretch/>
        </p:blipFill>
        <p:spPr>
          <a:xfrm>
            <a:off x="4278064" y="4529137"/>
            <a:ext cx="1129307" cy="152400"/>
          </a:xfrm>
          <a:prstGeom prst="rect">
            <a:avLst/>
          </a:prstGeom>
          <a:noFill/>
          <a:ln>
            <a:noFill/>
          </a:ln>
        </p:spPr>
      </p:pic>
      <p:pic>
        <p:nvPicPr>
          <p:cNvPr descr="image.png" id="1144" name="Google Shape;1144;p36"/>
          <p:cNvPicPr preferRelativeResize="0"/>
          <p:nvPr/>
        </p:nvPicPr>
        <p:blipFill rotWithShape="1">
          <a:blip r:embed="rId16">
            <a:alphaModFix/>
          </a:blip>
          <a:srcRect b="0" l="0" r="0" t="0"/>
          <a:stretch/>
        </p:blipFill>
        <p:spPr>
          <a:xfrm>
            <a:off x="7227093" y="3187600"/>
            <a:ext cx="171450" cy="133350"/>
          </a:xfrm>
          <a:prstGeom prst="rect">
            <a:avLst/>
          </a:prstGeom>
          <a:noFill/>
          <a:ln>
            <a:noFill/>
          </a:ln>
        </p:spPr>
      </p:pic>
      <p:sp>
        <p:nvSpPr>
          <p:cNvPr id="1145" name="Google Shape;1145;p36"/>
          <p:cNvSpPr txBox="1"/>
          <p:nvPr/>
        </p:nvSpPr>
        <p:spPr>
          <a:xfrm>
            <a:off x="571500" y="381000"/>
            <a:ext cx="11601450" cy="37147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2400" u="none" cap="none" strike="noStrike">
                <a:solidFill>
                  <a:srgbClr val="0F172A"/>
                </a:solidFill>
                <a:latin typeface="Plus Jakarta Sans ExtraBold"/>
                <a:ea typeface="Plus Jakarta Sans ExtraBold"/>
                <a:cs typeface="Plus Jakarta Sans ExtraBold"/>
                <a:sym typeface="Plus Jakarta Sans ExtraBold"/>
              </a:rPr>
              <a:t>Integration Architecture</a:t>
            </a:r>
            <a:endParaRPr/>
          </a:p>
        </p:txBody>
      </p:sp>
      <p:sp>
        <p:nvSpPr>
          <p:cNvPr id="1146" name="Google Shape;1146;p36"/>
          <p:cNvSpPr/>
          <p:nvPr/>
        </p:nvSpPr>
        <p:spPr>
          <a:xfrm>
            <a:off x="571500" y="847725"/>
            <a:ext cx="11049000" cy="19050"/>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50" name="Shape 1150"/>
        <p:cNvGrpSpPr/>
        <p:nvPr/>
      </p:nvGrpSpPr>
      <p:grpSpPr>
        <a:xfrm>
          <a:off x="0" y="0"/>
          <a:ext cx="0" cy="0"/>
          <a:chOff x="0" y="0"/>
          <a:chExt cx="0" cy="0"/>
        </a:xfrm>
      </p:grpSpPr>
      <p:sp>
        <p:nvSpPr>
          <p:cNvPr id="1151" name="Google Shape;1151;p37"/>
          <p:cNvSpPr txBox="1"/>
          <p:nvPr/>
        </p:nvSpPr>
        <p:spPr>
          <a:xfrm>
            <a:off x="571500" y="476250"/>
            <a:ext cx="110490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3200">
                <a:solidFill>
                  <a:srgbClr val="0F172A"/>
                </a:solidFill>
                <a:latin typeface="Plus Jakarta Sans ExtraBold"/>
                <a:ea typeface="Plus Jakarta Sans ExtraBold"/>
                <a:cs typeface="Plus Jakarta Sans ExtraBold"/>
                <a:sym typeface="Plus Jakarta Sans ExtraBold"/>
              </a:rPr>
              <a:t>ACU Compute Optimization</a:t>
            </a:r>
            <a:endParaRPr b="0" sz="3200">
              <a:solidFill>
                <a:srgbClr val="0F172A"/>
              </a:solidFill>
              <a:latin typeface="Plus Jakarta Sans ExtraBold"/>
              <a:ea typeface="Plus Jakarta Sans ExtraBold"/>
              <a:cs typeface="Plus Jakarta Sans ExtraBold"/>
              <a:sym typeface="Plus Jakarta Sans ExtraBold"/>
            </a:endParaRPr>
          </a:p>
        </p:txBody>
      </p:sp>
      <p:sp>
        <p:nvSpPr>
          <p:cNvPr id="1152" name="Google Shape;1152;p37"/>
          <p:cNvSpPr/>
          <p:nvPr/>
        </p:nvSpPr>
        <p:spPr>
          <a:xfrm>
            <a:off x="571500" y="1047750"/>
            <a:ext cx="11049000" cy="19200"/>
          </a:xfrm>
          <a:prstGeom prst="rect">
            <a:avLst/>
          </a:prstGeom>
          <a:solidFill>
            <a:srgbClr val="E2E8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153" name="Google Shape;1153;p37"/>
          <p:cNvGrpSpPr/>
          <p:nvPr/>
        </p:nvGrpSpPr>
        <p:grpSpPr>
          <a:xfrm>
            <a:off x="571500" y="1333500"/>
            <a:ext cx="5334000" cy="3048000"/>
            <a:chOff x="0" y="0"/>
            <a:chExt cx="5334000" cy="3048000"/>
          </a:xfrm>
        </p:grpSpPr>
        <p:sp>
          <p:nvSpPr>
            <p:cNvPr id="1154" name="Google Shape;1154;p37"/>
            <p:cNvSpPr/>
            <p:nvPr/>
          </p:nvSpPr>
          <p:spPr>
            <a:xfrm>
              <a:off x="0" y="0"/>
              <a:ext cx="5334000" cy="3048000"/>
            </a:xfrm>
            <a:prstGeom prst="roundRect">
              <a:avLst>
                <a:gd fmla="val 3750" name="adj"/>
              </a:avLst>
            </a:prstGeom>
            <a:solidFill>
              <a:srgbClr val="FFFFFF"/>
            </a:solidFill>
            <a:ln cap="flat" cmpd="sng" w="19050">
              <a:solidFill>
                <a:srgbClr val="FEE2E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55" name="Google Shape;1155;p37"/>
            <p:cNvSpPr/>
            <p:nvPr/>
          </p:nvSpPr>
          <p:spPr>
            <a:xfrm>
              <a:off x="0" y="0"/>
              <a:ext cx="114300" cy="3048000"/>
            </a:xfrm>
            <a:custGeom>
              <a:rect b="b" l="l" r="r" t="t"/>
              <a:pathLst>
                <a:path extrusionOk="0" h="120000" w="120000">
                  <a:moveTo>
                    <a:pt x="0" y="4500"/>
                  </a:moveTo>
                  <a:cubicBezTo>
                    <a:pt x="0" y="2015"/>
                    <a:pt x="53726" y="0"/>
                    <a:pt x="120000" y="0"/>
                  </a:cubicBezTo>
                  <a:lnTo>
                    <a:pt x="120000" y="120000"/>
                  </a:lnTo>
                  <a:cubicBezTo>
                    <a:pt x="53726" y="120000"/>
                    <a:pt x="0" y="117985"/>
                    <a:pt x="0" y="115500"/>
                  </a:cubicBezTo>
                  <a:close/>
                </a:path>
              </a:pathLst>
            </a:custGeom>
            <a:solidFill>
              <a:srgbClr val="EF44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56" name="Google Shape;1156;p37"/>
            <p:cNvSpPr txBox="1"/>
            <p:nvPr/>
          </p:nvSpPr>
          <p:spPr>
            <a:xfrm>
              <a:off x="285750" y="228600"/>
              <a:ext cx="4762500" cy="2571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900">
                  <a:solidFill>
                    <a:srgbClr val="EF4444"/>
                  </a:solidFill>
                  <a:latin typeface="Plus Jakarta Sans"/>
                  <a:ea typeface="Plus Jakarta Sans"/>
                  <a:cs typeface="Plus Jakarta Sans"/>
                  <a:sym typeface="Plus Jakarta Sans"/>
                </a:rPr>
                <a:t>Anti-Pattern</a:t>
              </a:r>
              <a:endParaRPr>
                <a:latin typeface="Plus Jakarta Sans"/>
                <a:ea typeface="Plus Jakarta Sans"/>
                <a:cs typeface="Plus Jakarta Sans"/>
                <a:sym typeface="Plus Jakarta Sans"/>
              </a:endParaRPr>
            </a:p>
            <a:p>
              <a:pPr indent="0" lvl="0" marL="0" rtl="0" algn="l">
                <a:spcBef>
                  <a:spcPts val="0"/>
                </a:spcBef>
                <a:spcAft>
                  <a:spcPts val="0"/>
                </a:spcAft>
                <a:buNone/>
              </a:pPr>
              <a:r>
                <a:rPr b="0" lang="en-US" sz="1600">
                  <a:solidFill>
                    <a:srgbClr val="0F172A"/>
                  </a:solidFill>
                  <a:latin typeface="Plus Jakarta Sans ExtraBold"/>
                  <a:ea typeface="Plus Jakarta Sans ExtraBold"/>
                  <a:cs typeface="Plus Jakarta Sans ExtraBold"/>
                  <a:sym typeface="Plus Jakarta Sans ExtraBold"/>
                </a:rPr>
                <a:t>Sprawling Tall-and-Deep Tasks</a:t>
              </a:r>
              <a:endParaRPr b="0" sz="1600">
                <a:solidFill>
                  <a:srgbClr val="0F172A"/>
                </a:solidFill>
                <a:latin typeface="Plus Jakarta Sans ExtraBold"/>
                <a:ea typeface="Plus Jakarta Sans ExtraBold"/>
                <a:cs typeface="Plus Jakarta Sans ExtraBold"/>
                <a:sym typeface="Plus Jakarta Sans ExtraBold"/>
              </a:endParaRPr>
            </a:p>
            <a:p>
              <a:pPr indent="0" lvl="0" marL="0" rtl="0" algn="l">
                <a:spcBef>
                  <a:spcPts val="600"/>
                </a:spcBef>
                <a:spcAft>
                  <a:spcPts val="0"/>
                </a:spcAft>
                <a:buNone/>
              </a:pPr>
              <a:r>
                <a:rPr i="1" lang="en-US" sz="1100">
                  <a:solidFill>
                    <a:srgbClr val="475569"/>
                  </a:solidFill>
                  <a:highlight>
                    <a:srgbClr val="F8FAFC"/>
                  </a:highlight>
                  <a:latin typeface="Plus Jakarta Sans"/>
                  <a:ea typeface="Plus Jakarta Sans"/>
                  <a:cs typeface="Plus Jakarta Sans"/>
                  <a:sym typeface="Plus Jakarta Sans"/>
                </a:rPr>
                <a:t>"Fix all our codebase linter bugs and improve overall testing code coverage."</a:t>
              </a:r>
              <a:endParaRPr i="1" sz="1100">
                <a:solidFill>
                  <a:srgbClr val="475569"/>
                </a:solidFill>
                <a:highlight>
                  <a:srgbClr val="F8FAFC"/>
                </a:highlight>
                <a:latin typeface="Plus Jakarta Sans"/>
                <a:ea typeface="Plus Jakarta Sans"/>
                <a:cs typeface="Plus Jakarta Sans"/>
                <a:sym typeface="Plus Jakarta Sans"/>
              </a:endParaRPr>
            </a:p>
            <a:p>
              <a:pPr indent="-298450" lvl="0" marL="457200" rtl="0" algn="l">
                <a:spcBef>
                  <a:spcPts val="1500"/>
                </a:spcBef>
                <a:spcAft>
                  <a:spcPts val="0"/>
                </a:spcAft>
                <a:buClr>
                  <a:srgbClr val="64748B"/>
                </a:buClr>
                <a:buSzPts val="1100"/>
                <a:buFont typeface="Plus Jakarta Sans"/>
                <a:buChar char="●"/>
              </a:pPr>
              <a:r>
                <a:rPr b="0" lang="en-US" sz="1100">
                  <a:solidFill>
                    <a:srgbClr val="475569"/>
                  </a:solidFill>
                  <a:latin typeface="Plus Jakarta Sans Medium"/>
                  <a:ea typeface="Plus Jakarta Sans Medium"/>
                  <a:cs typeface="Plus Jakarta Sans Medium"/>
                  <a:sym typeface="Plus Jakarta Sans Medium"/>
                </a:rPr>
                <a:t>Spawns endless codebase-wide explorations</a:t>
              </a:r>
              <a:endParaRPr sz="1100">
                <a:solidFill>
                  <a:srgbClr val="64748B"/>
                </a:solidFill>
                <a:latin typeface="Plus Jakarta Sans"/>
                <a:ea typeface="Plus Jakarta Sans"/>
                <a:cs typeface="Plus Jakarta Sans"/>
                <a:sym typeface="Plus Jakarta Sans"/>
              </a:endParaRPr>
            </a:p>
            <a:p>
              <a:pPr indent="-298450" lvl="0" marL="457200" rtl="0" algn="l">
                <a:spcBef>
                  <a:spcPts val="600"/>
                </a:spcBef>
                <a:spcAft>
                  <a:spcPts val="0"/>
                </a:spcAft>
                <a:buClr>
                  <a:srgbClr val="64748B"/>
                </a:buClr>
                <a:buSzPts val="1100"/>
                <a:buFont typeface="Plus Jakarta Sans"/>
                <a:buChar char="●"/>
              </a:pPr>
              <a:r>
                <a:rPr b="0" lang="en-US" sz="1100">
                  <a:solidFill>
                    <a:srgbClr val="475569"/>
                  </a:solidFill>
                  <a:latin typeface="Plus Jakarta Sans Medium"/>
                  <a:ea typeface="Plus Jakarta Sans Medium"/>
                  <a:cs typeface="Plus Jakarta Sans Medium"/>
                  <a:sym typeface="Plus Jakarta Sans Medium"/>
                </a:rPr>
                <a:t>Dilutes container context memory</a:t>
              </a:r>
              <a:endParaRPr sz="1100">
                <a:solidFill>
                  <a:srgbClr val="64748B"/>
                </a:solidFill>
                <a:latin typeface="Plus Jakarta Sans"/>
                <a:ea typeface="Plus Jakarta Sans"/>
                <a:cs typeface="Plus Jakarta Sans"/>
                <a:sym typeface="Plus Jakarta Sans"/>
              </a:endParaRPr>
            </a:p>
            <a:p>
              <a:pPr indent="-298450" lvl="0" marL="457200" rtl="0" algn="l">
                <a:spcBef>
                  <a:spcPts val="600"/>
                </a:spcBef>
                <a:spcAft>
                  <a:spcPts val="0"/>
                </a:spcAft>
                <a:buClr>
                  <a:srgbClr val="64748B"/>
                </a:buClr>
                <a:buSzPts val="1100"/>
                <a:buFont typeface="Plus Jakarta Sans"/>
                <a:buChar char="●"/>
              </a:pPr>
              <a:r>
                <a:rPr b="0" lang="en-US" sz="1100">
                  <a:solidFill>
                    <a:srgbClr val="475569"/>
                  </a:solidFill>
                  <a:latin typeface="Plus Jakarta Sans Medium"/>
                  <a:ea typeface="Plus Jakarta Sans Medium"/>
                  <a:cs typeface="Plus Jakarta Sans Medium"/>
                  <a:sym typeface="Plus Jakarta Sans Medium"/>
                </a:rPr>
                <a:t>Spends hours executing unguided loops</a:t>
              </a:r>
              <a:endParaRPr sz="1100">
                <a:solidFill>
                  <a:srgbClr val="64748B"/>
                </a:solidFill>
                <a:latin typeface="Plus Jakarta Sans"/>
                <a:ea typeface="Plus Jakarta Sans"/>
                <a:cs typeface="Plus Jakarta Sans"/>
                <a:sym typeface="Plus Jakarta Sans"/>
              </a:endParaRPr>
            </a:p>
          </p:txBody>
        </p:sp>
      </p:grpSp>
      <p:grpSp>
        <p:nvGrpSpPr>
          <p:cNvPr id="1157" name="Google Shape;1157;p37"/>
          <p:cNvGrpSpPr/>
          <p:nvPr/>
        </p:nvGrpSpPr>
        <p:grpSpPr>
          <a:xfrm>
            <a:off x="6286500" y="1333500"/>
            <a:ext cx="5334000" cy="3048000"/>
            <a:chOff x="0" y="0"/>
            <a:chExt cx="5334000" cy="3048000"/>
          </a:xfrm>
        </p:grpSpPr>
        <p:sp>
          <p:nvSpPr>
            <p:cNvPr id="1158" name="Google Shape;1158;p37"/>
            <p:cNvSpPr/>
            <p:nvPr/>
          </p:nvSpPr>
          <p:spPr>
            <a:xfrm>
              <a:off x="0" y="0"/>
              <a:ext cx="5334000" cy="3048000"/>
            </a:xfrm>
            <a:prstGeom prst="roundRect">
              <a:avLst>
                <a:gd fmla="val 3750" name="adj"/>
              </a:avLst>
            </a:prstGeom>
            <a:solidFill>
              <a:srgbClr val="FFFFFF"/>
            </a:solidFill>
            <a:ln cap="flat" cmpd="sng" w="19050">
              <a:solidFill>
                <a:srgbClr val="CCFBF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59" name="Google Shape;1159;p37"/>
            <p:cNvSpPr/>
            <p:nvPr/>
          </p:nvSpPr>
          <p:spPr>
            <a:xfrm>
              <a:off x="0" y="0"/>
              <a:ext cx="114300" cy="3048000"/>
            </a:xfrm>
            <a:custGeom>
              <a:rect b="b" l="l" r="r" t="t"/>
              <a:pathLst>
                <a:path extrusionOk="0" h="120000" w="120000">
                  <a:moveTo>
                    <a:pt x="0" y="4500"/>
                  </a:moveTo>
                  <a:cubicBezTo>
                    <a:pt x="0" y="2015"/>
                    <a:pt x="53726" y="0"/>
                    <a:pt x="120000" y="0"/>
                  </a:cubicBezTo>
                  <a:lnTo>
                    <a:pt x="120000" y="120000"/>
                  </a:lnTo>
                  <a:cubicBezTo>
                    <a:pt x="53726" y="120000"/>
                    <a:pt x="0" y="117985"/>
                    <a:pt x="0" y="115500"/>
                  </a:cubicBezTo>
                  <a:close/>
                </a:path>
              </a:pathLst>
            </a:custGeom>
            <a:solidFill>
              <a:srgbClr val="0D948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60" name="Google Shape;1160;p37"/>
            <p:cNvSpPr txBox="1"/>
            <p:nvPr/>
          </p:nvSpPr>
          <p:spPr>
            <a:xfrm>
              <a:off x="285750" y="228600"/>
              <a:ext cx="4762500" cy="2571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900">
                  <a:solidFill>
                    <a:srgbClr val="0D9488"/>
                  </a:solidFill>
                  <a:latin typeface="Plus Jakarta Sans"/>
                  <a:ea typeface="Plus Jakarta Sans"/>
                  <a:cs typeface="Plus Jakarta Sans"/>
                  <a:sym typeface="Plus Jakarta Sans"/>
                </a:rPr>
                <a:t>Optimized Approach</a:t>
              </a:r>
              <a:endParaRPr>
                <a:latin typeface="Plus Jakarta Sans"/>
                <a:ea typeface="Plus Jakarta Sans"/>
                <a:cs typeface="Plus Jakarta Sans"/>
                <a:sym typeface="Plus Jakarta Sans"/>
              </a:endParaRPr>
            </a:p>
            <a:p>
              <a:pPr indent="0" lvl="0" marL="0" rtl="0" algn="l">
                <a:spcBef>
                  <a:spcPts val="0"/>
                </a:spcBef>
                <a:spcAft>
                  <a:spcPts val="0"/>
                </a:spcAft>
                <a:buNone/>
              </a:pPr>
              <a:r>
                <a:rPr b="0" lang="en-US" sz="1600">
                  <a:solidFill>
                    <a:srgbClr val="0F172A"/>
                  </a:solidFill>
                  <a:latin typeface="Plus Jakarta Sans ExtraBold"/>
                  <a:ea typeface="Plus Jakarta Sans ExtraBold"/>
                  <a:cs typeface="Plus Jakarta Sans ExtraBold"/>
                  <a:sym typeface="Plus Jakarta Sans ExtraBold"/>
                </a:rPr>
                <a:t>Wide-and-Shallow Scoped Slices</a:t>
              </a:r>
              <a:endParaRPr b="0" sz="1600">
                <a:solidFill>
                  <a:srgbClr val="0F172A"/>
                </a:solidFill>
                <a:latin typeface="Plus Jakarta Sans ExtraBold"/>
                <a:ea typeface="Plus Jakarta Sans ExtraBold"/>
                <a:cs typeface="Plus Jakarta Sans ExtraBold"/>
                <a:sym typeface="Plus Jakarta Sans ExtraBold"/>
              </a:endParaRPr>
            </a:p>
            <a:p>
              <a:pPr indent="0" lvl="0" marL="0" rtl="0" algn="l">
                <a:spcBef>
                  <a:spcPts val="600"/>
                </a:spcBef>
                <a:spcAft>
                  <a:spcPts val="0"/>
                </a:spcAft>
                <a:buNone/>
              </a:pPr>
              <a:r>
                <a:rPr i="1" lang="en-US" sz="1100">
                  <a:solidFill>
                    <a:srgbClr val="475569"/>
                  </a:solidFill>
                  <a:highlight>
                    <a:srgbClr val="F8FAFC"/>
                  </a:highlight>
                  <a:latin typeface="Plus Jakarta Sans"/>
                  <a:ea typeface="Plus Jakarta Sans"/>
                  <a:cs typeface="Plus Jakarta Sans"/>
                  <a:sym typeface="Plus Jakarta Sans"/>
                </a:rPr>
                <a:t>"Fix UserService.getById Null Pointer. Test edge cases via standard test skills."</a:t>
              </a:r>
              <a:endParaRPr i="1" sz="1100">
                <a:solidFill>
                  <a:srgbClr val="475569"/>
                </a:solidFill>
                <a:highlight>
                  <a:srgbClr val="F8FAFC"/>
                </a:highlight>
                <a:latin typeface="Plus Jakarta Sans"/>
                <a:ea typeface="Plus Jakarta Sans"/>
                <a:cs typeface="Plus Jakarta Sans"/>
                <a:sym typeface="Plus Jakarta Sans"/>
              </a:endParaRPr>
            </a:p>
            <a:p>
              <a:pPr indent="-298450" lvl="0" marL="457200" rtl="0" algn="l">
                <a:spcBef>
                  <a:spcPts val="1500"/>
                </a:spcBef>
                <a:spcAft>
                  <a:spcPts val="0"/>
                </a:spcAft>
                <a:buClr>
                  <a:srgbClr val="64748B"/>
                </a:buClr>
                <a:buSzPts val="1100"/>
                <a:buFont typeface="Plus Jakarta Sans"/>
                <a:buChar char="●"/>
              </a:pPr>
              <a:r>
                <a:rPr b="0" lang="en-US" sz="1100">
                  <a:solidFill>
                    <a:srgbClr val="475569"/>
                  </a:solidFill>
                  <a:latin typeface="Plus Jakarta Sans Medium"/>
                  <a:ea typeface="Plus Jakarta Sans Medium"/>
                  <a:cs typeface="Plus Jakarta Sans Medium"/>
                  <a:sym typeface="Plus Jakarta Sans Medium"/>
                </a:rPr>
                <a:t>Keeps tasks under 90 mins of manual engineering</a:t>
              </a:r>
              <a:endParaRPr sz="1100">
                <a:solidFill>
                  <a:srgbClr val="64748B"/>
                </a:solidFill>
                <a:latin typeface="Plus Jakarta Sans"/>
                <a:ea typeface="Plus Jakarta Sans"/>
                <a:cs typeface="Plus Jakarta Sans"/>
                <a:sym typeface="Plus Jakarta Sans"/>
              </a:endParaRPr>
            </a:p>
            <a:p>
              <a:pPr indent="-298450" lvl="0" marL="457200" rtl="0" algn="l">
                <a:spcBef>
                  <a:spcPts val="600"/>
                </a:spcBef>
                <a:spcAft>
                  <a:spcPts val="0"/>
                </a:spcAft>
                <a:buClr>
                  <a:srgbClr val="64748B"/>
                </a:buClr>
                <a:buSzPts val="1100"/>
                <a:buFont typeface="Plus Jakarta Sans"/>
                <a:buChar char="●"/>
              </a:pPr>
              <a:r>
                <a:rPr b="0" lang="en-US" sz="1100">
                  <a:solidFill>
                    <a:srgbClr val="475569"/>
                  </a:solidFill>
                  <a:latin typeface="Plus Jakarta Sans Medium"/>
                  <a:ea typeface="Plus Jakarta Sans Medium"/>
                  <a:cs typeface="Plus Jakarta Sans Medium"/>
                  <a:sym typeface="Plus Jakarta Sans Medium"/>
                </a:rPr>
                <a:t>Pre-baked environment snapshots boot in seconds</a:t>
              </a:r>
              <a:endParaRPr sz="1100">
                <a:solidFill>
                  <a:srgbClr val="64748B"/>
                </a:solidFill>
                <a:latin typeface="Plus Jakarta Sans"/>
                <a:ea typeface="Plus Jakarta Sans"/>
                <a:cs typeface="Plus Jakarta Sans"/>
                <a:sym typeface="Plus Jakarta Sans"/>
              </a:endParaRPr>
            </a:p>
            <a:p>
              <a:pPr indent="-298450" lvl="0" marL="457200" rtl="0" algn="l">
                <a:spcBef>
                  <a:spcPts val="600"/>
                </a:spcBef>
                <a:spcAft>
                  <a:spcPts val="0"/>
                </a:spcAft>
                <a:buClr>
                  <a:srgbClr val="64748B"/>
                </a:buClr>
                <a:buSzPts val="1100"/>
                <a:buFont typeface="Plus Jakarta Sans"/>
                <a:buChar char="●"/>
              </a:pPr>
              <a:r>
                <a:rPr b="0" lang="en-US" sz="1100">
                  <a:solidFill>
                    <a:srgbClr val="475569"/>
                  </a:solidFill>
                  <a:latin typeface="Plus Jakarta Sans Medium"/>
                  <a:ea typeface="Plus Jakarta Sans Medium"/>
                  <a:cs typeface="Plus Jakarta Sans Medium"/>
                  <a:sym typeface="Plus Jakarta Sans Medium"/>
                </a:rPr>
                <a:t>Targeted Knowledge matches precise triggers</a:t>
              </a:r>
              <a:endParaRPr sz="1100">
                <a:solidFill>
                  <a:srgbClr val="64748B"/>
                </a:solidFill>
                <a:latin typeface="Plus Jakarta Sans"/>
                <a:ea typeface="Plus Jakarta Sans"/>
                <a:cs typeface="Plus Jakarta Sans"/>
                <a:sym typeface="Plus Jakarta Sans"/>
              </a:endParaRPr>
            </a:p>
          </p:txBody>
        </p:sp>
      </p:grpSp>
      <p:grpSp>
        <p:nvGrpSpPr>
          <p:cNvPr id="1161" name="Google Shape;1161;p37"/>
          <p:cNvGrpSpPr/>
          <p:nvPr/>
        </p:nvGrpSpPr>
        <p:grpSpPr>
          <a:xfrm>
            <a:off x="571500" y="4667250"/>
            <a:ext cx="2619300" cy="1619100"/>
            <a:chOff x="0" y="0"/>
            <a:chExt cx="2619300" cy="1619100"/>
          </a:xfrm>
        </p:grpSpPr>
        <p:sp>
          <p:nvSpPr>
            <p:cNvPr id="1162" name="Google Shape;1162;p37"/>
            <p:cNvSpPr/>
            <p:nvPr/>
          </p:nvSpPr>
          <p:spPr>
            <a:xfrm>
              <a:off x="0" y="0"/>
              <a:ext cx="2619300" cy="1619100"/>
            </a:xfrm>
            <a:prstGeom prst="roundRect">
              <a:avLst>
                <a:gd fmla="val 4705"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63" name="Google Shape;1163;p37"/>
            <p:cNvSpPr/>
            <p:nvPr/>
          </p:nvSpPr>
          <p:spPr>
            <a:xfrm>
              <a:off x="0" y="0"/>
              <a:ext cx="2619300" cy="381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64" name="Google Shape;1164;p37"/>
            <p:cNvSpPr txBox="1"/>
            <p:nvPr/>
          </p:nvSpPr>
          <p:spPr>
            <a:xfrm>
              <a:off x="152400" y="190500"/>
              <a:ext cx="2314500" cy="1238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1100">
                  <a:solidFill>
                    <a:srgbClr val="0F172A"/>
                  </a:solidFill>
                  <a:latin typeface="Plus Jakarta Sans ExtraBold"/>
                  <a:ea typeface="Plus Jakarta Sans ExtraBold"/>
                  <a:cs typeface="Plus Jakarta Sans ExtraBold"/>
                  <a:sym typeface="Plus Jakarta Sans ExtraBold"/>
                </a:rPr>
                <a:t>1. Pre-Bake Environment</a:t>
              </a:r>
              <a:endParaRPr b="0" sz="1100">
                <a:solidFill>
                  <a:srgbClr val="0F172A"/>
                </a:solidFill>
                <a:latin typeface="Plus Jakarta Sans ExtraBold"/>
                <a:ea typeface="Plus Jakarta Sans ExtraBold"/>
                <a:cs typeface="Plus Jakarta Sans ExtraBold"/>
                <a:sym typeface="Plus Jakarta Sans ExtraBold"/>
              </a:endParaRPr>
            </a:p>
            <a:p>
              <a:pPr indent="0" lvl="0" marL="0" rtl="0" algn="l">
                <a:spcBef>
                  <a:spcPts val="600"/>
                </a:spcBef>
                <a:spcAft>
                  <a:spcPts val="0"/>
                </a:spcAft>
                <a:buNone/>
              </a:pPr>
              <a:r>
                <a:rPr lang="en-US" sz="1000">
                  <a:solidFill>
                    <a:srgbClr val="475569"/>
                  </a:solidFill>
                  <a:latin typeface="Plus Jakarta Sans"/>
                  <a:ea typeface="Plus Jakarta Sans"/>
                  <a:cs typeface="Plus Jakarta Sans"/>
                  <a:sym typeface="Plus Jakarta Sans"/>
                </a:rPr>
                <a:t>Caches packages in blueprints to avoid startup downloads.</a:t>
              </a:r>
              <a:endParaRPr sz="1000">
                <a:solidFill>
                  <a:srgbClr val="475569"/>
                </a:solidFill>
                <a:latin typeface="Plus Jakarta Sans"/>
                <a:ea typeface="Plus Jakarta Sans"/>
                <a:cs typeface="Plus Jakarta Sans"/>
                <a:sym typeface="Plus Jakarta Sans"/>
              </a:endParaRPr>
            </a:p>
          </p:txBody>
        </p:sp>
      </p:grpSp>
      <p:grpSp>
        <p:nvGrpSpPr>
          <p:cNvPr id="1165" name="Google Shape;1165;p37"/>
          <p:cNvGrpSpPr/>
          <p:nvPr/>
        </p:nvGrpSpPr>
        <p:grpSpPr>
          <a:xfrm>
            <a:off x="3381375" y="4667250"/>
            <a:ext cx="2619300" cy="1619100"/>
            <a:chOff x="0" y="0"/>
            <a:chExt cx="2619300" cy="1619100"/>
          </a:xfrm>
        </p:grpSpPr>
        <p:sp>
          <p:nvSpPr>
            <p:cNvPr id="1166" name="Google Shape;1166;p37"/>
            <p:cNvSpPr/>
            <p:nvPr/>
          </p:nvSpPr>
          <p:spPr>
            <a:xfrm>
              <a:off x="0" y="0"/>
              <a:ext cx="2619300" cy="1619100"/>
            </a:xfrm>
            <a:prstGeom prst="roundRect">
              <a:avLst>
                <a:gd fmla="val 4705"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67" name="Google Shape;1167;p37"/>
            <p:cNvSpPr/>
            <p:nvPr/>
          </p:nvSpPr>
          <p:spPr>
            <a:xfrm>
              <a:off x="0" y="0"/>
              <a:ext cx="2619300" cy="381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68" name="Google Shape;1168;p37"/>
            <p:cNvSpPr txBox="1"/>
            <p:nvPr/>
          </p:nvSpPr>
          <p:spPr>
            <a:xfrm>
              <a:off x="152400" y="190500"/>
              <a:ext cx="2314500" cy="1238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1100">
                  <a:solidFill>
                    <a:srgbClr val="0F172A"/>
                  </a:solidFill>
                  <a:latin typeface="Plus Jakarta Sans ExtraBold"/>
                  <a:ea typeface="Plus Jakarta Sans ExtraBold"/>
                  <a:cs typeface="Plus Jakarta Sans ExtraBold"/>
                  <a:sym typeface="Plus Jakarta Sans ExtraBold"/>
                </a:rPr>
                <a:t>2. Reusable Skills</a:t>
              </a:r>
              <a:endParaRPr b="0" sz="1100">
                <a:solidFill>
                  <a:srgbClr val="0F172A"/>
                </a:solidFill>
                <a:latin typeface="Plus Jakarta Sans ExtraBold"/>
                <a:ea typeface="Plus Jakarta Sans ExtraBold"/>
                <a:cs typeface="Plus Jakarta Sans ExtraBold"/>
                <a:sym typeface="Plus Jakarta Sans ExtraBold"/>
              </a:endParaRPr>
            </a:p>
            <a:p>
              <a:pPr indent="0" lvl="0" marL="0" rtl="0" algn="l">
                <a:spcBef>
                  <a:spcPts val="600"/>
                </a:spcBef>
                <a:spcAft>
                  <a:spcPts val="0"/>
                </a:spcAft>
                <a:buNone/>
              </a:pPr>
              <a:r>
                <a:rPr lang="en-US" sz="1000">
                  <a:solidFill>
                    <a:srgbClr val="475569"/>
                  </a:solidFill>
                  <a:latin typeface="Plus Jakarta Sans"/>
                  <a:ea typeface="Plus Jakarta Sans"/>
                  <a:cs typeface="Plus Jakarta Sans"/>
                  <a:sym typeface="Plus Jakarta Sans"/>
                </a:rPr>
                <a:t>Avoids recreating test or linter routines from scratch.</a:t>
              </a:r>
              <a:endParaRPr sz="1000">
                <a:solidFill>
                  <a:srgbClr val="475569"/>
                </a:solidFill>
                <a:latin typeface="Plus Jakarta Sans"/>
                <a:ea typeface="Plus Jakarta Sans"/>
                <a:cs typeface="Plus Jakarta Sans"/>
                <a:sym typeface="Plus Jakarta Sans"/>
              </a:endParaRPr>
            </a:p>
          </p:txBody>
        </p:sp>
      </p:grpSp>
      <p:grpSp>
        <p:nvGrpSpPr>
          <p:cNvPr id="1169" name="Google Shape;1169;p37"/>
          <p:cNvGrpSpPr/>
          <p:nvPr/>
        </p:nvGrpSpPr>
        <p:grpSpPr>
          <a:xfrm>
            <a:off x="6191250" y="4667250"/>
            <a:ext cx="2619300" cy="1619100"/>
            <a:chOff x="0" y="0"/>
            <a:chExt cx="2619300" cy="1619100"/>
          </a:xfrm>
        </p:grpSpPr>
        <p:sp>
          <p:nvSpPr>
            <p:cNvPr id="1170" name="Google Shape;1170;p37"/>
            <p:cNvSpPr/>
            <p:nvPr/>
          </p:nvSpPr>
          <p:spPr>
            <a:xfrm>
              <a:off x="0" y="0"/>
              <a:ext cx="2619300" cy="1619100"/>
            </a:xfrm>
            <a:prstGeom prst="roundRect">
              <a:avLst>
                <a:gd fmla="val 4705"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71" name="Google Shape;1171;p37"/>
            <p:cNvSpPr/>
            <p:nvPr/>
          </p:nvSpPr>
          <p:spPr>
            <a:xfrm>
              <a:off x="0" y="0"/>
              <a:ext cx="2619300" cy="381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72" name="Google Shape;1172;p37"/>
            <p:cNvSpPr txBox="1"/>
            <p:nvPr/>
          </p:nvSpPr>
          <p:spPr>
            <a:xfrm>
              <a:off x="152400" y="190500"/>
              <a:ext cx="2314500" cy="1238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1100">
                  <a:solidFill>
                    <a:srgbClr val="0F172A"/>
                  </a:solidFill>
                  <a:latin typeface="Plus Jakarta Sans ExtraBold"/>
                  <a:ea typeface="Plus Jakarta Sans ExtraBold"/>
                  <a:cs typeface="Plus Jakarta Sans ExtraBold"/>
                  <a:sym typeface="Plus Jakarta Sans ExtraBold"/>
                </a:rPr>
                <a:t>3. Parallel Decomposition</a:t>
              </a:r>
              <a:endParaRPr b="0" sz="1100">
                <a:solidFill>
                  <a:srgbClr val="0F172A"/>
                </a:solidFill>
                <a:latin typeface="Plus Jakarta Sans ExtraBold"/>
                <a:ea typeface="Plus Jakarta Sans ExtraBold"/>
                <a:cs typeface="Plus Jakarta Sans ExtraBold"/>
                <a:sym typeface="Plus Jakarta Sans ExtraBold"/>
              </a:endParaRPr>
            </a:p>
            <a:p>
              <a:pPr indent="0" lvl="0" marL="0" rtl="0" algn="l">
                <a:spcBef>
                  <a:spcPts val="600"/>
                </a:spcBef>
                <a:spcAft>
                  <a:spcPts val="0"/>
                </a:spcAft>
                <a:buNone/>
              </a:pPr>
              <a:r>
                <a:rPr lang="en-US" sz="1000">
                  <a:solidFill>
                    <a:srgbClr val="475569"/>
                  </a:solidFill>
                  <a:latin typeface="Plus Jakarta Sans"/>
                  <a:ea typeface="Plus Jakarta Sans"/>
                  <a:cs typeface="Plus Jakarta Sans"/>
                  <a:sym typeface="Plus Jakarta Sans"/>
                </a:rPr>
                <a:t>Uses Coordinator Devins to split runs across child VMs.</a:t>
              </a:r>
              <a:endParaRPr sz="1000">
                <a:solidFill>
                  <a:srgbClr val="475569"/>
                </a:solidFill>
                <a:latin typeface="Plus Jakarta Sans"/>
                <a:ea typeface="Plus Jakarta Sans"/>
                <a:cs typeface="Plus Jakarta Sans"/>
                <a:sym typeface="Plus Jakarta Sans"/>
              </a:endParaRPr>
            </a:p>
          </p:txBody>
        </p:sp>
      </p:grpSp>
      <p:grpSp>
        <p:nvGrpSpPr>
          <p:cNvPr id="1173" name="Google Shape;1173;p37"/>
          <p:cNvGrpSpPr/>
          <p:nvPr/>
        </p:nvGrpSpPr>
        <p:grpSpPr>
          <a:xfrm>
            <a:off x="9001125" y="4667250"/>
            <a:ext cx="2619300" cy="1619100"/>
            <a:chOff x="0" y="0"/>
            <a:chExt cx="2619300" cy="1619100"/>
          </a:xfrm>
        </p:grpSpPr>
        <p:sp>
          <p:nvSpPr>
            <p:cNvPr id="1174" name="Google Shape;1174;p37"/>
            <p:cNvSpPr/>
            <p:nvPr/>
          </p:nvSpPr>
          <p:spPr>
            <a:xfrm>
              <a:off x="0" y="0"/>
              <a:ext cx="2619300" cy="1619100"/>
            </a:xfrm>
            <a:prstGeom prst="roundRect">
              <a:avLst>
                <a:gd fmla="val 4705"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75" name="Google Shape;1175;p37"/>
            <p:cNvSpPr/>
            <p:nvPr/>
          </p:nvSpPr>
          <p:spPr>
            <a:xfrm>
              <a:off x="0" y="0"/>
              <a:ext cx="2619300" cy="381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76" name="Google Shape;1176;p37"/>
            <p:cNvSpPr txBox="1"/>
            <p:nvPr/>
          </p:nvSpPr>
          <p:spPr>
            <a:xfrm>
              <a:off x="152400" y="190500"/>
              <a:ext cx="2314500" cy="1238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1100">
                  <a:solidFill>
                    <a:srgbClr val="0F172A"/>
                  </a:solidFill>
                  <a:latin typeface="Plus Jakarta Sans ExtraBold"/>
                  <a:ea typeface="Plus Jakarta Sans ExtraBold"/>
                  <a:cs typeface="Plus Jakarta Sans ExtraBold"/>
                  <a:sym typeface="Plus Jakarta Sans ExtraBold"/>
                </a:rPr>
                <a:t>4. ACU Cost Budgets</a:t>
              </a:r>
              <a:endParaRPr b="0" sz="1100">
                <a:solidFill>
                  <a:srgbClr val="0F172A"/>
                </a:solidFill>
                <a:latin typeface="Plus Jakarta Sans ExtraBold"/>
                <a:ea typeface="Plus Jakarta Sans ExtraBold"/>
                <a:cs typeface="Plus Jakarta Sans ExtraBold"/>
                <a:sym typeface="Plus Jakarta Sans ExtraBold"/>
              </a:endParaRPr>
            </a:p>
            <a:p>
              <a:pPr indent="0" lvl="0" marL="0" rtl="0" algn="l">
                <a:spcBef>
                  <a:spcPts val="600"/>
                </a:spcBef>
                <a:spcAft>
                  <a:spcPts val="0"/>
                </a:spcAft>
                <a:buNone/>
              </a:pPr>
              <a:r>
                <a:rPr lang="en-US" sz="1000">
                  <a:solidFill>
                    <a:srgbClr val="475569"/>
                  </a:solidFill>
                  <a:latin typeface="Plus Jakarta Sans"/>
                  <a:ea typeface="Plus Jakarta Sans"/>
                  <a:cs typeface="Plus Jakarta Sans"/>
                  <a:sym typeface="Plus Jakarta Sans"/>
                </a:rPr>
                <a:t>Sets explicit limits per-organization &amp; per-PR review.</a:t>
              </a:r>
              <a:endParaRPr sz="1000">
                <a:solidFill>
                  <a:srgbClr val="475569"/>
                </a:solidFill>
                <a:latin typeface="Plus Jakarta Sans"/>
                <a:ea typeface="Plus Jakarta Sans"/>
                <a:cs typeface="Plus Jakarta Sans"/>
                <a:sym typeface="Plus Jakarta Sans"/>
              </a:endParaRPr>
            </a:p>
          </p:txBody>
        </p:sp>
      </p:gr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80" name="Shape 1180"/>
        <p:cNvGrpSpPr/>
        <p:nvPr/>
      </p:nvGrpSpPr>
      <p:grpSpPr>
        <a:xfrm>
          <a:off x="0" y="0"/>
          <a:ext cx="0" cy="0"/>
          <a:chOff x="0" y="0"/>
          <a:chExt cx="0" cy="0"/>
        </a:xfrm>
      </p:grpSpPr>
      <p:grpSp>
        <p:nvGrpSpPr>
          <p:cNvPr id="1181" name="Google Shape;1181;p38"/>
          <p:cNvGrpSpPr/>
          <p:nvPr/>
        </p:nvGrpSpPr>
        <p:grpSpPr>
          <a:xfrm>
            <a:off x="571500" y="1238250"/>
            <a:ext cx="3429000" cy="2190900"/>
            <a:chOff x="0" y="0"/>
            <a:chExt cx="3429000" cy="2190900"/>
          </a:xfrm>
        </p:grpSpPr>
        <p:sp>
          <p:nvSpPr>
            <p:cNvPr id="1182" name="Google Shape;1182;p38"/>
            <p:cNvSpPr/>
            <p:nvPr/>
          </p:nvSpPr>
          <p:spPr>
            <a:xfrm>
              <a:off x="0" y="0"/>
              <a:ext cx="3429000" cy="2190900"/>
            </a:xfrm>
            <a:prstGeom prst="roundRect">
              <a:avLst>
                <a:gd fmla="val 5217"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83" name="Google Shape;1183;p38"/>
            <p:cNvSpPr/>
            <p:nvPr/>
          </p:nvSpPr>
          <p:spPr>
            <a:xfrm>
              <a:off x="0" y="0"/>
              <a:ext cx="3429000" cy="152400"/>
            </a:xfrm>
            <a:custGeom>
              <a:rect b="b" l="l" r="r" t="t"/>
              <a:pathLst>
                <a:path extrusionOk="0" h="120000" w="120000">
                  <a:moveTo>
                    <a:pt x="0" y="90000"/>
                  </a:moveTo>
                  <a:cubicBezTo>
                    <a:pt x="0" y="40275"/>
                    <a:pt x="1790" y="0"/>
                    <a:pt x="4000" y="0"/>
                  </a:cubicBezTo>
                  <a:lnTo>
                    <a:pt x="116000" y="0"/>
                  </a:lnTo>
                  <a:cubicBezTo>
                    <a:pt x="118210" y="0"/>
                    <a:pt x="120000" y="40275"/>
                    <a:pt x="120000" y="90000"/>
                  </a:cubicBezTo>
                  <a:lnTo>
                    <a:pt x="120000" y="120000"/>
                  </a:lnTo>
                  <a:lnTo>
                    <a:pt x="0" y="120000"/>
                  </a:lnTo>
                  <a:close/>
                </a:path>
              </a:pathLst>
            </a:cu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84" name="Google Shape;1184;p38"/>
            <p:cNvSpPr txBox="1"/>
            <p:nvPr/>
          </p:nvSpPr>
          <p:spPr>
            <a:xfrm>
              <a:off x="228600" y="304800"/>
              <a:ext cx="2971800" cy="1657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sz="2000">
                  <a:solidFill>
                    <a:srgbClr val="2563EB"/>
                  </a:solidFill>
                  <a:latin typeface="Material Icons"/>
                  <a:ea typeface="Material Icons"/>
                  <a:cs typeface="Material Icons"/>
                  <a:sym typeface="Material Icons"/>
                </a:rPr>
                <a:t>settings</a:t>
              </a:r>
              <a:r>
                <a:rPr b="0" lang="en-US" sz="1100">
                  <a:solidFill>
                    <a:srgbClr val="0F172A"/>
                  </a:solidFill>
                  <a:latin typeface="Plus Jakarta Sans ExtraBold"/>
                  <a:ea typeface="Plus Jakarta Sans ExtraBold"/>
                  <a:cs typeface="Plus Jakarta Sans ExtraBold"/>
                  <a:sym typeface="Plus Jakarta Sans ExtraBold"/>
                </a:rPr>
                <a:t>SETUP &amp; ENVIRONMENT</a:t>
              </a:r>
              <a:endParaRPr>
                <a:latin typeface="Plus Jakarta Sans"/>
                <a:ea typeface="Plus Jakarta Sans"/>
                <a:cs typeface="Plus Jakarta Sans"/>
                <a:sym typeface="Plus Jakarta Sans"/>
              </a:endParaRPr>
            </a:p>
            <a:p>
              <a:pPr indent="0" lvl="0" marL="0" rtl="0" algn="l">
                <a:spcBef>
                  <a:spcPts val="900"/>
                </a:spcBef>
                <a:spcAft>
                  <a:spcPts val="0"/>
                </a:spcAft>
                <a:buNone/>
              </a:pPr>
              <a:r>
                <a:rPr b="0" lang="en-US" sz="1100">
                  <a:solidFill>
                    <a:srgbClr val="475569"/>
                  </a:solidFill>
                  <a:latin typeface="Plus Jakarta Sans"/>
                  <a:ea typeface="Plus Jakarta Sans"/>
                  <a:cs typeface="Plus Jakarta Sans"/>
                  <a:sym typeface="Plus Jakarta Sans"/>
                </a:rPr>
                <a:t>Invest in environment setup first. Configure 3-tiered blueprints (Enterprise standard, Org lints, Repo scripts). Add versioned </a:t>
              </a:r>
              <a:r>
                <a:rPr b="0" lang="en-US" sz="1000">
                  <a:solidFill>
                    <a:srgbClr val="0F172A"/>
                  </a:solidFill>
                  <a:highlight>
                    <a:srgbClr val="F1F5F9"/>
                  </a:highlight>
                  <a:latin typeface="JetBrains Mono"/>
                  <a:ea typeface="JetBrains Mono"/>
                  <a:cs typeface="JetBrains Mono"/>
                  <a:sym typeface="JetBrains Mono"/>
                </a:rPr>
                <a:t>AGENTS.md</a:t>
              </a:r>
              <a:r>
                <a:rPr b="0" lang="en-US" sz="1100">
                  <a:solidFill>
                    <a:srgbClr val="475569"/>
                  </a:solidFill>
                  <a:latin typeface="Plus Jakarta Sans"/>
                  <a:ea typeface="Plus Jakarta Sans"/>
                  <a:cs typeface="Plus Jakarta Sans"/>
                  <a:sym typeface="Plus Jakarta Sans"/>
                </a:rPr>
                <a:t> context guidelines to all repositories.</a:t>
              </a:r>
              <a:endParaRPr b="0" sz="1100">
                <a:solidFill>
                  <a:srgbClr val="475569"/>
                </a:solidFill>
                <a:latin typeface="Plus Jakarta Sans"/>
                <a:ea typeface="Plus Jakarta Sans"/>
                <a:cs typeface="Plus Jakarta Sans"/>
                <a:sym typeface="Plus Jakarta Sans"/>
              </a:endParaRPr>
            </a:p>
          </p:txBody>
        </p:sp>
      </p:grpSp>
      <p:grpSp>
        <p:nvGrpSpPr>
          <p:cNvPr id="1185" name="Google Shape;1185;p38"/>
          <p:cNvGrpSpPr/>
          <p:nvPr/>
        </p:nvGrpSpPr>
        <p:grpSpPr>
          <a:xfrm>
            <a:off x="4381500" y="1238250"/>
            <a:ext cx="3429000" cy="2190900"/>
            <a:chOff x="0" y="0"/>
            <a:chExt cx="3429000" cy="2190900"/>
          </a:xfrm>
        </p:grpSpPr>
        <p:sp>
          <p:nvSpPr>
            <p:cNvPr id="1186" name="Google Shape;1186;p38"/>
            <p:cNvSpPr/>
            <p:nvPr/>
          </p:nvSpPr>
          <p:spPr>
            <a:xfrm>
              <a:off x="0" y="0"/>
              <a:ext cx="3429000" cy="2190900"/>
            </a:xfrm>
            <a:prstGeom prst="roundRect">
              <a:avLst>
                <a:gd fmla="val 5217"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87" name="Google Shape;1187;p38"/>
            <p:cNvSpPr/>
            <p:nvPr/>
          </p:nvSpPr>
          <p:spPr>
            <a:xfrm>
              <a:off x="0" y="0"/>
              <a:ext cx="3429000" cy="152400"/>
            </a:xfrm>
            <a:custGeom>
              <a:rect b="b" l="l" r="r" t="t"/>
              <a:pathLst>
                <a:path extrusionOk="0" h="120000" w="120000">
                  <a:moveTo>
                    <a:pt x="0" y="90000"/>
                  </a:moveTo>
                  <a:cubicBezTo>
                    <a:pt x="0" y="40275"/>
                    <a:pt x="1790" y="0"/>
                    <a:pt x="4000" y="0"/>
                  </a:cubicBezTo>
                  <a:lnTo>
                    <a:pt x="116000" y="0"/>
                  </a:lnTo>
                  <a:cubicBezTo>
                    <a:pt x="118210" y="0"/>
                    <a:pt x="120000" y="40275"/>
                    <a:pt x="120000" y="90000"/>
                  </a:cubicBezTo>
                  <a:lnTo>
                    <a:pt x="120000" y="120000"/>
                  </a:lnTo>
                  <a:lnTo>
                    <a:pt x="0" y="120000"/>
                  </a:lnTo>
                  <a:close/>
                </a:path>
              </a:pathLst>
            </a:custGeom>
            <a:solidFill>
              <a:srgbClr val="7C3AED"/>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88" name="Google Shape;1188;p38"/>
            <p:cNvSpPr txBox="1"/>
            <p:nvPr/>
          </p:nvSpPr>
          <p:spPr>
            <a:xfrm>
              <a:off x="228600" y="304800"/>
              <a:ext cx="2971800" cy="1657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sz="2000">
                  <a:solidFill>
                    <a:srgbClr val="7C3AED"/>
                  </a:solidFill>
                  <a:latin typeface="Material Icons"/>
                  <a:ea typeface="Material Icons"/>
                  <a:cs typeface="Material Icons"/>
                  <a:sym typeface="Material Icons"/>
                </a:rPr>
                <a:t>psychology</a:t>
              </a:r>
              <a:r>
                <a:rPr b="0" lang="en-US" sz="1100">
                  <a:solidFill>
                    <a:srgbClr val="0F172A"/>
                  </a:solidFill>
                  <a:latin typeface="Plus Jakarta Sans ExtraBold"/>
                  <a:ea typeface="Plus Jakarta Sans ExtraBold"/>
                  <a:cs typeface="Plus Jakarta Sans ExtraBold"/>
                  <a:sym typeface="Plus Jakarta Sans ExtraBold"/>
                </a:rPr>
                <a:t>KNOWLEDGE &amp; SKILLS</a:t>
              </a:r>
              <a:endParaRPr>
                <a:latin typeface="Plus Jakarta Sans"/>
                <a:ea typeface="Plus Jakarta Sans"/>
                <a:cs typeface="Plus Jakarta Sans"/>
                <a:sym typeface="Plus Jakarta Sans"/>
              </a:endParaRPr>
            </a:p>
            <a:p>
              <a:pPr indent="0" lvl="0" marL="0" rtl="0" algn="l">
                <a:spcBef>
                  <a:spcPts val="900"/>
                </a:spcBef>
                <a:spcAft>
                  <a:spcPts val="0"/>
                </a:spcAft>
                <a:buNone/>
              </a:pPr>
              <a:r>
                <a:rPr b="0" lang="en-US" sz="1100">
                  <a:solidFill>
                    <a:srgbClr val="475569"/>
                  </a:solidFill>
                  <a:latin typeface="Plus Jakarta Sans"/>
                  <a:ea typeface="Plus Jakarta Sans"/>
                  <a:cs typeface="Plus Jakarta Sans"/>
                  <a:sym typeface="Plus Jakarta Sans"/>
                </a:rPr>
                <a:t>Use precise trigger descriptions for folder organization. Commit versioned </a:t>
              </a:r>
              <a:r>
                <a:rPr b="0" lang="en-US" sz="1000">
                  <a:solidFill>
                    <a:srgbClr val="0F172A"/>
                  </a:solidFill>
                  <a:highlight>
                    <a:srgbClr val="F1F5F9"/>
                  </a:highlight>
                  <a:latin typeface="JetBrains Mono"/>
                  <a:ea typeface="JetBrains Mono"/>
                  <a:cs typeface="JetBrains Mono"/>
                  <a:sym typeface="JetBrains Mono"/>
                </a:rPr>
                <a:t>SKILL.md</a:t>
              </a:r>
              <a:r>
                <a:rPr b="0" lang="en-US" sz="1100">
                  <a:solidFill>
                    <a:srgbClr val="475569"/>
                  </a:solidFill>
                  <a:latin typeface="Plus Jakarta Sans"/>
                  <a:ea typeface="Plus Jakarta Sans"/>
                  <a:cs typeface="Plus Jakarta Sans"/>
                  <a:sym typeface="Plus Jakarta Sans"/>
                </a:rPr>
                <a:t> procedures to prevent rebuild loops. Restrict sensitive deployments to explicit user verification.</a:t>
              </a:r>
              <a:endParaRPr b="0" sz="1100">
                <a:solidFill>
                  <a:srgbClr val="475569"/>
                </a:solidFill>
                <a:latin typeface="Plus Jakarta Sans"/>
                <a:ea typeface="Plus Jakarta Sans"/>
                <a:cs typeface="Plus Jakarta Sans"/>
                <a:sym typeface="Plus Jakarta Sans"/>
              </a:endParaRPr>
            </a:p>
          </p:txBody>
        </p:sp>
      </p:grpSp>
      <p:grpSp>
        <p:nvGrpSpPr>
          <p:cNvPr id="1189" name="Google Shape;1189;p38"/>
          <p:cNvGrpSpPr/>
          <p:nvPr/>
        </p:nvGrpSpPr>
        <p:grpSpPr>
          <a:xfrm>
            <a:off x="8191500" y="1238250"/>
            <a:ext cx="3429000" cy="2190900"/>
            <a:chOff x="0" y="0"/>
            <a:chExt cx="3429000" cy="2190900"/>
          </a:xfrm>
        </p:grpSpPr>
        <p:sp>
          <p:nvSpPr>
            <p:cNvPr id="1190" name="Google Shape;1190;p38"/>
            <p:cNvSpPr/>
            <p:nvPr/>
          </p:nvSpPr>
          <p:spPr>
            <a:xfrm>
              <a:off x="0" y="0"/>
              <a:ext cx="3429000" cy="2190900"/>
            </a:xfrm>
            <a:prstGeom prst="roundRect">
              <a:avLst>
                <a:gd fmla="val 5217"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91" name="Google Shape;1191;p38"/>
            <p:cNvSpPr/>
            <p:nvPr/>
          </p:nvSpPr>
          <p:spPr>
            <a:xfrm>
              <a:off x="0" y="0"/>
              <a:ext cx="3429000" cy="152400"/>
            </a:xfrm>
            <a:custGeom>
              <a:rect b="b" l="l" r="r" t="t"/>
              <a:pathLst>
                <a:path extrusionOk="0" h="120000" w="120000">
                  <a:moveTo>
                    <a:pt x="0" y="90000"/>
                  </a:moveTo>
                  <a:cubicBezTo>
                    <a:pt x="0" y="40275"/>
                    <a:pt x="1790" y="0"/>
                    <a:pt x="4000" y="0"/>
                  </a:cubicBezTo>
                  <a:lnTo>
                    <a:pt x="116000" y="0"/>
                  </a:lnTo>
                  <a:cubicBezTo>
                    <a:pt x="118210" y="0"/>
                    <a:pt x="120000" y="40275"/>
                    <a:pt x="120000" y="90000"/>
                  </a:cubicBezTo>
                  <a:lnTo>
                    <a:pt x="120000" y="120000"/>
                  </a:lnTo>
                  <a:lnTo>
                    <a:pt x="0" y="120000"/>
                  </a:lnTo>
                  <a:close/>
                </a:path>
              </a:pathLst>
            </a:custGeom>
            <a:solidFill>
              <a:srgbClr val="0D948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92" name="Google Shape;1192;p38"/>
            <p:cNvSpPr txBox="1"/>
            <p:nvPr/>
          </p:nvSpPr>
          <p:spPr>
            <a:xfrm>
              <a:off x="228600" y="304800"/>
              <a:ext cx="2971800" cy="1657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sz="2000">
                  <a:solidFill>
                    <a:srgbClr val="0D9488"/>
                  </a:solidFill>
                  <a:latin typeface="Material Icons"/>
                  <a:ea typeface="Material Icons"/>
                  <a:cs typeface="Material Icons"/>
                  <a:sym typeface="Material Icons"/>
                </a:rPr>
                <a:t>smart_toy</a:t>
              </a:r>
              <a:r>
                <a:rPr b="0" lang="en-US" sz="1100">
                  <a:solidFill>
                    <a:srgbClr val="0F172A"/>
                  </a:solidFill>
                  <a:latin typeface="Plus Jakarta Sans ExtraBold"/>
                  <a:ea typeface="Plus Jakarta Sans ExtraBold"/>
                  <a:cs typeface="Plus Jakarta Sans ExtraBold"/>
                  <a:sym typeface="Plus Jakarta Sans ExtraBold"/>
                </a:rPr>
                <a:t>PLAYBOOKS &amp; AUTOMATIONS</a:t>
              </a:r>
              <a:endParaRPr>
                <a:latin typeface="Plus Jakarta Sans"/>
                <a:ea typeface="Plus Jakarta Sans"/>
                <a:cs typeface="Plus Jakarta Sans"/>
                <a:sym typeface="Plus Jakarta Sans"/>
              </a:endParaRPr>
            </a:p>
            <a:p>
              <a:pPr indent="0" lvl="0" marL="0" rtl="0" algn="l">
                <a:spcBef>
                  <a:spcPts val="900"/>
                </a:spcBef>
                <a:spcAft>
                  <a:spcPts val="0"/>
                </a:spcAft>
                <a:buNone/>
              </a:pPr>
              <a:r>
                <a:rPr b="0" lang="en-US" sz="1100">
                  <a:solidFill>
                    <a:srgbClr val="475569"/>
                  </a:solidFill>
                  <a:latin typeface="Plus Jakarta Sans"/>
                  <a:ea typeface="Plus Jakarta Sans"/>
                  <a:cs typeface="Plus Jakarta Sans"/>
                  <a:sym typeface="Plus Jakarta Sans"/>
                </a:rPr>
                <a:t>Write Procedures using imperative verbs (one step per line). Define explicit postcondition specifications. Set narrow conditions on triggers to avoid runaway automated tasks.</a:t>
              </a:r>
              <a:endParaRPr b="0" sz="1100">
                <a:solidFill>
                  <a:srgbClr val="475569"/>
                </a:solidFill>
                <a:latin typeface="Plus Jakarta Sans"/>
                <a:ea typeface="Plus Jakarta Sans"/>
                <a:cs typeface="Plus Jakarta Sans"/>
                <a:sym typeface="Plus Jakarta Sans"/>
              </a:endParaRPr>
            </a:p>
          </p:txBody>
        </p:sp>
      </p:grpSp>
      <p:grpSp>
        <p:nvGrpSpPr>
          <p:cNvPr id="1193" name="Google Shape;1193;p38"/>
          <p:cNvGrpSpPr/>
          <p:nvPr/>
        </p:nvGrpSpPr>
        <p:grpSpPr>
          <a:xfrm>
            <a:off x="571500" y="3714750"/>
            <a:ext cx="3429000" cy="2190900"/>
            <a:chOff x="0" y="0"/>
            <a:chExt cx="3429000" cy="2190900"/>
          </a:xfrm>
        </p:grpSpPr>
        <p:sp>
          <p:nvSpPr>
            <p:cNvPr id="1194" name="Google Shape;1194;p38"/>
            <p:cNvSpPr/>
            <p:nvPr/>
          </p:nvSpPr>
          <p:spPr>
            <a:xfrm>
              <a:off x="0" y="0"/>
              <a:ext cx="3429000" cy="2190900"/>
            </a:xfrm>
            <a:prstGeom prst="roundRect">
              <a:avLst>
                <a:gd fmla="val 5217"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95" name="Google Shape;1195;p38"/>
            <p:cNvSpPr/>
            <p:nvPr/>
          </p:nvSpPr>
          <p:spPr>
            <a:xfrm>
              <a:off x="0" y="0"/>
              <a:ext cx="3429000" cy="152400"/>
            </a:xfrm>
            <a:custGeom>
              <a:rect b="b" l="l" r="r" t="t"/>
              <a:pathLst>
                <a:path extrusionOk="0" h="120000" w="120000">
                  <a:moveTo>
                    <a:pt x="0" y="90000"/>
                  </a:moveTo>
                  <a:cubicBezTo>
                    <a:pt x="0" y="40275"/>
                    <a:pt x="1790" y="0"/>
                    <a:pt x="4000" y="0"/>
                  </a:cubicBezTo>
                  <a:lnTo>
                    <a:pt x="116000" y="0"/>
                  </a:lnTo>
                  <a:cubicBezTo>
                    <a:pt x="118210" y="0"/>
                    <a:pt x="120000" y="40275"/>
                    <a:pt x="120000" y="90000"/>
                  </a:cubicBezTo>
                  <a:lnTo>
                    <a:pt x="120000" y="120000"/>
                  </a:lnTo>
                  <a:lnTo>
                    <a:pt x="0" y="120000"/>
                  </a:lnTo>
                  <a:close/>
                </a:path>
              </a:pathLst>
            </a:custGeom>
            <a:solidFill>
              <a:srgbClr val="EA580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96" name="Google Shape;1196;p38"/>
            <p:cNvSpPr txBox="1"/>
            <p:nvPr/>
          </p:nvSpPr>
          <p:spPr>
            <a:xfrm>
              <a:off x="228600" y="304800"/>
              <a:ext cx="2971800" cy="1657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sz="2000">
                  <a:solidFill>
                    <a:srgbClr val="EA580C"/>
                  </a:solidFill>
                  <a:latin typeface="Material Icons"/>
                  <a:ea typeface="Material Icons"/>
                  <a:cs typeface="Material Icons"/>
                  <a:sym typeface="Material Icons"/>
                </a:rPr>
                <a:t>schedule</a:t>
              </a:r>
              <a:r>
                <a:rPr b="0" lang="en-US" sz="1100">
                  <a:solidFill>
                    <a:srgbClr val="0F172A"/>
                  </a:solidFill>
                  <a:latin typeface="Plus Jakarta Sans ExtraBold"/>
                  <a:ea typeface="Plus Jakarta Sans ExtraBold"/>
                  <a:cs typeface="Plus Jakarta Sans ExtraBold"/>
                  <a:sym typeface="Plus Jakarta Sans ExtraBold"/>
                </a:rPr>
                <a:t>SESSIONS &amp; SCOPING</a:t>
              </a:r>
              <a:endParaRPr>
                <a:latin typeface="Plus Jakarta Sans"/>
                <a:ea typeface="Plus Jakarta Sans"/>
                <a:cs typeface="Plus Jakarta Sans"/>
                <a:sym typeface="Plus Jakarta Sans"/>
              </a:endParaRPr>
            </a:p>
            <a:p>
              <a:pPr indent="0" lvl="0" marL="0" rtl="0" algn="l">
                <a:spcBef>
                  <a:spcPts val="900"/>
                </a:spcBef>
                <a:spcAft>
                  <a:spcPts val="0"/>
                </a:spcAft>
                <a:buNone/>
              </a:pPr>
              <a:r>
                <a:rPr b="0" lang="en-US" sz="1100">
                  <a:solidFill>
                    <a:srgbClr val="475569"/>
                  </a:solidFill>
                  <a:latin typeface="Plus Jakarta Sans"/>
                  <a:ea typeface="Plus Jakarta Sans"/>
                  <a:cs typeface="Plus Jakarta Sans"/>
                  <a:sym typeface="Plus Jakarta Sans"/>
                </a:rPr>
                <a:t>Scope tasks to take under 90 minutes of equivalent manual engineering work. Prefer wide-and-shallow parameters (migrations, test code sweeps) over tall-and-deep net-new features.</a:t>
              </a:r>
              <a:endParaRPr b="0" sz="1100">
                <a:solidFill>
                  <a:srgbClr val="475569"/>
                </a:solidFill>
                <a:latin typeface="Plus Jakarta Sans"/>
                <a:ea typeface="Plus Jakarta Sans"/>
                <a:cs typeface="Plus Jakarta Sans"/>
                <a:sym typeface="Plus Jakarta Sans"/>
              </a:endParaRPr>
            </a:p>
          </p:txBody>
        </p:sp>
      </p:grpSp>
      <p:grpSp>
        <p:nvGrpSpPr>
          <p:cNvPr id="1197" name="Google Shape;1197;p38"/>
          <p:cNvGrpSpPr/>
          <p:nvPr/>
        </p:nvGrpSpPr>
        <p:grpSpPr>
          <a:xfrm>
            <a:off x="4381500" y="3714750"/>
            <a:ext cx="3429000" cy="2190900"/>
            <a:chOff x="0" y="0"/>
            <a:chExt cx="3429000" cy="2190900"/>
          </a:xfrm>
        </p:grpSpPr>
        <p:sp>
          <p:nvSpPr>
            <p:cNvPr id="1198" name="Google Shape;1198;p38"/>
            <p:cNvSpPr/>
            <p:nvPr/>
          </p:nvSpPr>
          <p:spPr>
            <a:xfrm>
              <a:off x="0" y="0"/>
              <a:ext cx="3429000" cy="2190900"/>
            </a:xfrm>
            <a:prstGeom prst="roundRect">
              <a:avLst>
                <a:gd fmla="val 5217"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99" name="Google Shape;1199;p38"/>
            <p:cNvSpPr/>
            <p:nvPr/>
          </p:nvSpPr>
          <p:spPr>
            <a:xfrm>
              <a:off x="0" y="0"/>
              <a:ext cx="3429000" cy="152400"/>
            </a:xfrm>
            <a:custGeom>
              <a:rect b="b" l="l" r="r" t="t"/>
              <a:pathLst>
                <a:path extrusionOk="0" h="120000" w="120000">
                  <a:moveTo>
                    <a:pt x="0" y="90000"/>
                  </a:moveTo>
                  <a:cubicBezTo>
                    <a:pt x="0" y="40275"/>
                    <a:pt x="1790" y="0"/>
                    <a:pt x="4000" y="0"/>
                  </a:cubicBezTo>
                  <a:lnTo>
                    <a:pt x="116000" y="0"/>
                  </a:lnTo>
                  <a:cubicBezTo>
                    <a:pt x="118210" y="0"/>
                    <a:pt x="120000" y="40275"/>
                    <a:pt x="120000" y="90000"/>
                  </a:cubicBezTo>
                  <a:lnTo>
                    <a:pt x="120000" y="120000"/>
                  </a:lnTo>
                  <a:lnTo>
                    <a:pt x="0" y="120000"/>
                  </a:lnTo>
                  <a:close/>
                </a:path>
              </a:pathLst>
            </a:custGeom>
            <a:solidFill>
              <a:srgbClr val="47556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00" name="Google Shape;1200;p38"/>
            <p:cNvSpPr txBox="1"/>
            <p:nvPr/>
          </p:nvSpPr>
          <p:spPr>
            <a:xfrm>
              <a:off x="228600" y="304800"/>
              <a:ext cx="2971800" cy="1657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sz="2000">
                  <a:solidFill>
                    <a:srgbClr val="475569"/>
                  </a:solidFill>
                  <a:latin typeface="Material Icons"/>
                  <a:ea typeface="Material Icons"/>
                  <a:cs typeface="Material Icons"/>
                  <a:sym typeface="Material Icons"/>
                </a:rPr>
                <a:t>security</a:t>
              </a:r>
              <a:r>
                <a:rPr b="0" lang="en-US" sz="1100">
                  <a:solidFill>
                    <a:srgbClr val="0F172A"/>
                  </a:solidFill>
                  <a:latin typeface="Plus Jakarta Sans ExtraBold"/>
                  <a:ea typeface="Plus Jakarta Sans ExtraBold"/>
                  <a:cs typeface="Plus Jakarta Sans ExtraBold"/>
                  <a:sym typeface="Plus Jakarta Sans ExtraBold"/>
                </a:rPr>
                <a:t>SECURITY &amp; SECRETS</a:t>
              </a:r>
              <a:endParaRPr>
                <a:latin typeface="Plus Jakarta Sans"/>
                <a:ea typeface="Plus Jakarta Sans"/>
                <a:cs typeface="Plus Jakarta Sans"/>
                <a:sym typeface="Plus Jakarta Sans"/>
              </a:endParaRPr>
            </a:p>
            <a:p>
              <a:pPr indent="0" lvl="0" marL="0" rtl="0" algn="l">
                <a:spcBef>
                  <a:spcPts val="900"/>
                </a:spcBef>
                <a:spcAft>
                  <a:spcPts val="0"/>
                </a:spcAft>
                <a:buNone/>
              </a:pPr>
              <a:r>
                <a:rPr b="0" lang="en-US" sz="1100">
                  <a:solidFill>
                    <a:srgbClr val="475569"/>
                  </a:solidFill>
                  <a:latin typeface="Plus Jakarta Sans"/>
                  <a:ea typeface="Plus Jakarta Sans"/>
                  <a:cs typeface="Plus Jakarta Sans"/>
                  <a:sym typeface="Plus Jakarta Sans"/>
                </a:rPr>
                <a:t>Store critical tokens inside the secure Secrets dashboard—never hardcoded in blueprints or prompts. Enforce IP Access Lists and human review on PR merges.</a:t>
              </a:r>
              <a:endParaRPr b="0" sz="1100">
                <a:solidFill>
                  <a:srgbClr val="475569"/>
                </a:solidFill>
                <a:latin typeface="Plus Jakarta Sans"/>
                <a:ea typeface="Plus Jakarta Sans"/>
                <a:cs typeface="Plus Jakarta Sans"/>
                <a:sym typeface="Plus Jakarta Sans"/>
              </a:endParaRPr>
            </a:p>
          </p:txBody>
        </p:sp>
      </p:grpSp>
      <p:grpSp>
        <p:nvGrpSpPr>
          <p:cNvPr id="1201" name="Google Shape;1201;p38"/>
          <p:cNvGrpSpPr/>
          <p:nvPr/>
        </p:nvGrpSpPr>
        <p:grpSpPr>
          <a:xfrm>
            <a:off x="8191500" y="3714750"/>
            <a:ext cx="3429000" cy="2190900"/>
            <a:chOff x="0" y="0"/>
            <a:chExt cx="3429000" cy="2190900"/>
          </a:xfrm>
        </p:grpSpPr>
        <p:sp>
          <p:nvSpPr>
            <p:cNvPr id="1202" name="Google Shape;1202;p38"/>
            <p:cNvSpPr/>
            <p:nvPr/>
          </p:nvSpPr>
          <p:spPr>
            <a:xfrm>
              <a:off x="0" y="0"/>
              <a:ext cx="3429000" cy="2190900"/>
            </a:xfrm>
            <a:prstGeom prst="roundRect">
              <a:avLst>
                <a:gd fmla="val 5217"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03" name="Google Shape;1203;p38"/>
            <p:cNvSpPr/>
            <p:nvPr/>
          </p:nvSpPr>
          <p:spPr>
            <a:xfrm>
              <a:off x="0" y="0"/>
              <a:ext cx="3429000" cy="152400"/>
            </a:xfrm>
            <a:custGeom>
              <a:rect b="b" l="l" r="r" t="t"/>
              <a:pathLst>
                <a:path extrusionOk="0" h="120000" w="120000">
                  <a:moveTo>
                    <a:pt x="0" y="90000"/>
                  </a:moveTo>
                  <a:cubicBezTo>
                    <a:pt x="0" y="40275"/>
                    <a:pt x="1790" y="0"/>
                    <a:pt x="4000" y="0"/>
                  </a:cubicBezTo>
                  <a:lnTo>
                    <a:pt x="116000" y="0"/>
                  </a:lnTo>
                  <a:cubicBezTo>
                    <a:pt x="118210" y="0"/>
                    <a:pt x="120000" y="40275"/>
                    <a:pt x="120000" y="90000"/>
                  </a:cubicBezTo>
                  <a:lnTo>
                    <a:pt x="120000" y="120000"/>
                  </a:lnTo>
                  <a:lnTo>
                    <a:pt x="0" y="120000"/>
                  </a:lnTo>
                  <a:close/>
                </a:path>
              </a:pathLst>
            </a:cu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04" name="Google Shape;1204;p38"/>
            <p:cNvSpPr txBox="1"/>
            <p:nvPr/>
          </p:nvSpPr>
          <p:spPr>
            <a:xfrm>
              <a:off x="228600" y="304800"/>
              <a:ext cx="2971800" cy="1657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sz="2000">
                  <a:solidFill>
                    <a:srgbClr val="2563EB"/>
                  </a:solidFill>
                  <a:latin typeface="Material Icons"/>
                  <a:ea typeface="Material Icons"/>
                  <a:cs typeface="Material Icons"/>
                  <a:sym typeface="Material Icons"/>
                </a:rPr>
                <a:t>insights</a:t>
              </a:r>
              <a:r>
                <a:rPr b="0" lang="en-US" sz="1100">
                  <a:solidFill>
                    <a:srgbClr val="0F172A"/>
                  </a:solidFill>
                  <a:latin typeface="Plus Jakarta Sans ExtraBold"/>
                  <a:ea typeface="Plus Jakarta Sans ExtraBold"/>
                  <a:cs typeface="Plus Jakarta Sans ExtraBold"/>
                  <a:sym typeface="Plus Jakarta Sans ExtraBold"/>
                </a:rPr>
                <a:t>SCALING &amp; METRICS</a:t>
              </a:r>
              <a:endParaRPr>
                <a:latin typeface="Plus Jakarta Sans"/>
                <a:ea typeface="Plus Jakarta Sans"/>
                <a:cs typeface="Plus Jakarta Sans"/>
                <a:sym typeface="Plus Jakarta Sans"/>
              </a:endParaRPr>
            </a:p>
            <a:p>
              <a:pPr indent="0" lvl="0" marL="0" rtl="0" algn="l">
                <a:spcBef>
                  <a:spcPts val="900"/>
                </a:spcBef>
                <a:spcAft>
                  <a:spcPts val="0"/>
                </a:spcAft>
                <a:buNone/>
              </a:pPr>
              <a:r>
                <a:rPr b="0" lang="en-US" sz="1100">
                  <a:solidFill>
                    <a:srgbClr val="475569"/>
                  </a:solidFill>
                  <a:latin typeface="Plus Jakarta Sans"/>
                  <a:ea typeface="Plus Jakarta Sans"/>
                  <a:cs typeface="Plus Jakarta Sans"/>
                  <a:sym typeface="Plus Jakarta Sans"/>
                </a:rPr>
                <a:t>Integrate identity directory SSO automatically. Set per-organization ACU limits, track metrics on custom dashboard sweeps, and run structured pilot phases first.</a:t>
              </a:r>
              <a:endParaRPr b="0" sz="1100">
                <a:solidFill>
                  <a:srgbClr val="475569"/>
                </a:solidFill>
                <a:latin typeface="Plus Jakarta Sans"/>
                <a:ea typeface="Plus Jakarta Sans"/>
                <a:cs typeface="Plus Jakarta Sans"/>
                <a:sym typeface="Plus Jakarta Sans"/>
              </a:endParaRPr>
            </a:p>
          </p:txBody>
        </p:sp>
      </p:grpSp>
      <p:sp>
        <p:nvSpPr>
          <p:cNvPr id="1205" name="Google Shape;1205;p38"/>
          <p:cNvSpPr txBox="1"/>
          <p:nvPr/>
        </p:nvSpPr>
        <p:spPr>
          <a:xfrm>
            <a:off x="571500" y="381000"/>
            <a:ext cx="11601600" cy="3693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2400" u="none" cap="none" strike="noStrike">
                <a:solidFill>
                  <a:srgbClr val="0F172A"/>
                </a:solidFill>
                <a:latin typeface="Plus Jakarta Sans ExtraBold"/>
                <a:ea typeface="Plus Jakarta Sans ExtraBold"/>
                <a:cs typeface="Plus Jakarta Sans ExtraBold"/>
                <a:sym typeface="Plus Jakarta Sans ExtraBold"/>
              </a:rPr>
              <a:t>Enterprise Best Practices Dashboard</a:t>
            </a:r>
            <a:endParaRPr/>
          </a:p>
        </p:txBody>
      </p:sp>
      <p:sp>
        <p:nvSpPr>
          <p:cNvPr id="1206" name="Google Shape;1206;p38"/>
          <p:cNvSpPr/>
          <p:nvPr/>
        </p:nvSpPr>
        <p:spPr>
          <a:xfrm>
            <a:off x="571500" y="847725"/>
            <a:ext cx="11049000" cy="19200"/>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10" name="Shape 1210"/>
        <p:cNvGrpSpPr/>
        <p:nvPr/>
      </p:nvGrpSpPr>
      <p:grpSpPr>
        <a:xfrm>
          <a:off x="0" y="0"/>
          <a:ext cx="0" cy="0"/>
          <a:chOff x="0" y="0"/>
          <a:chExt cx="0" cy="0"/>
        </a:xfrm>
      </p:grpSpPr>
      <p:pic>
        <p:nvPicPr>
          <p:cNvPr descr="image.png" id="1211" name="Google Shape;1211;p39"/>
          <p:cNvPicPr preferRelativeResize="0"/>
          <p:nvPr/>
        </p:nvPicPr>
        <p:blipFill rotWithShape="1">
          <a:blip r:embed="rId3">
            <a:alphaModFix/>
          </a:blip>
          <a:srcRect b="0" l="0" r="0" t="0"/>
          <a:stretch/>
        </p:blipFill>
        <p:spPr>
          <a:xfrm>
            <a:off x="0" y="0"/>
            <a:ext cx="12192000" cy="6858000"/>
          </a:xfrm>
          <a:prstGeom prst="rect">
            <a:avLst/>
          </a:prstGeom>
          <a:noFill/>
          <a:ln>
            <a:noFill/>
          </a:ln>
        </p:spPr>
      </p:pic>
      <p:grpSp>
        <p:nvGrpSpPr>
          <p:cNvPr id="1212" name="Google Shape;1212;p39"/>
          <p:cNvGrpSpPr/>
          <p:nvPr/>
        </p:nvGrpSpPr>
        <p:grpSpPr>
          <a:xfrm>
            <a:off x="571500" y="1333500"/>
            <a:ext cx="5715000" cy="3429075"/>
            <a:chOff x="571500" y="1333500"/>
            <a:chExt cx="5715000" cy="3429075"/>
          </a:xfrm>
        </p:grpSpPr>
        <p:sp>
          <p:nvSpPr>
            <p:cNvPr id="1213" name="Google Shape;1213;p39"/>
            <p:cNvSpPr/>
            <p:nvPr/>
          </p:nvSpPr>
          <p:spPr>
            <a:xfrm>
              <a:off x="571500" y="1333500"/>
              <a:ext cx="5715000" cy="285900"/>
            </a:xfrm>
            <a:prstGeom prst="roundRect">
              <a:avLst>
                <a:gd fmla="val 20000" name="adj"/>
              </a:avLst>
            </a:prstGeom>
            <a:solidFill>
              <a:srgbClr val="F3E8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14" name="Google Shape;1214;p39"/>
            <p:cNvSpPr txBox="1"/>
            <p:nvPr/>
          </p:nvSpPr>
          <p:spPr>
            <a:xfrm>
              <a:off x="571500" y="1333500"/>
              <a:ext cx="5715000" cy="285900"/>
            </a:xfrm>
            <a:prstGeom prst="rect">
              <a:avLst/>
            </a:prstGeom>
            <a:noFill/>
            <a:ln>
              <a:noFill/>
            </a:ln>
          </p:spPr>
          <p:txBody>
            <a:bodyPr anchorCtr="0" anchor="t" bIns="0" lIns="142875" spcFirstLastPara="1" rIns="0" wrap="square" tIns="0">
              <a:noAutofit/>
            </a:bodyPr>
            <a:lstStyle/>
            <a:p>
              <a:pPr indent="0" lvl="0" marL="0" rtl="0" algn="ctr">
                <a:spcBef>
                  <a:spcPts val="0"/>
                </a:spcBef>
                <a:spcAft>
                  <a:spcPts val="0"/>
                </a:spcAft>
                <a:buNone/>
              </a:pPr>
              <a:r>
                <a:rPr b="1" lang="en-US" sz="750">
                  <a:solidFill>
                    <a:srgbClr val="7C3AED"/>
                  </a:solidFill>
                  <a:latin typeface="JetBrains Mono"/>
                  <a:ea typeface="JetBrains Mono"/>
                  <a:cs typeface="JetBrains Mono"/>
                  <a:sym typeface="JetBrains Mono"/>
                </a:rPr>
                <a:t>COBOL TO JAVA MODULE FLOW</a:t>
              </a:r>
              <a:endParaRPr b="1" sz="750">
                <a:solidFill>
                  <a:srgbClr val="7C3AED"/>
                </a:solidFill>
                <a:latin typeface="JetBrains Mono"/>
                <a:ea typeface="JetBrains Mono"/>
                <a:cs typeface="JetBrains Mono"/>
                <a:sym typeface="JetBrains Mono"/>
              </a:endParaRPr>
            </a:p>
          </p:txBody>
        </p:sp>
        <p:sp>
          <p:nvSpPr>
            <p:cNvPr id="1215" name="Google Shape;1215;p39"/>
            <p:cNvSpPr/>
            <p:nvPr/>
          </p:nvSpPr>
          <p:spPr>
            <a:xfrm>
              <a:off x="571500" y="1857375"/>
              <a:ext cx="5715000" cy="809700"/>
            </a:xfrm>
            <a:prstGeom prst="roundRect">
              <a:avLst>
                <a:gd fmla="val 9411" name="adj"/>
              </a:avLst>
            </a:prstGeom>
            <a:solidFill>
              <a:srgbClr val="F8FAFC"/>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16" name="Google Shape;1216;p39"/>
            <p:cNvSpPr/>
            <p:nvPr/>
          </p:nvSpPr>
          <p:spPr>
            <a:xfrm>
              <a:off x="571500" y="1857375"/>
              <a:ext cx="47700" cy="809700"/>
            </a:xfrm>
            <a:prstGeom prst="roundRect">
              <a:avLst>
                <a:gd fmla="val 4000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17" name="Google Shape;1217;p39"/>
            <p:cNvSpPr txBox="1"/>
            <p:nvPr/>
          </p:nvSpPr>
          <p:spPr>
            <a:xfrm>
              <a:off x="809625" y="1857375"/>
              <a:ext cx="5143500" cy="809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825">
                  <a:solidFill>
                    <a:srgbClr val="2563EB"/>
                  </a:solidFill>
                  <a:latin typeface="JetBrains Mono ExtraBold"/>
                  <a:ea typeface="JetBrains Mono ExtraBold"/>
                  <a:cs typeface="JetBrains Mono ExtraBold"/>
                  <a:sym typeface="JetBrains Mono ExtraBold"/>
                </a:rPr>
                <a:t>INPUTS</a:t>
              </a:r>
              <a:endParaRPr b="0" sz="825">
                <a:solidFill>
                  <a:srgbClr val="2563EB"/>
                </a:solidFill>
                <a:latin typeface="JetBrains Mono ExtraBold"/>
                <a:ea typeface="JetBrains Mono ExtraBold"/>
                <a:cs typeface="JetBrains Mono ExtraBold"/>
                <a:sym typeface="JetBrains Mono ExtraBold"/>
              </a:endParaRPr>
            </a:p>
            <a:p>
              <a:pPr indent="0" lvl="0" marL="0" rtl="0" algn="l">
                <a:spcBef>
                  <a:spcPts val="300"/>
                </a:spcBef>
                <a:spcAft>
                  <a:spcPts val="0"/>
                </a:spcAft>
                <a:buNone/>
              </a:pPr>
              <a:r>
                <a:rPr b="0" lang="en-US" sz="975">
                  <a:solidFill>
                    <a:srgbClr val="475569"/>
                  </a:solidFill>
                  <a:latin typeface="Plus Jakarta Sans Medium"/>
                  <a:ea typeface="Plus Jakarta Sans Medium"/>
                  <a:cs typeface="Plus Jakarta Sans Medium"/>
                  <a:sym typeface="Plus Jakarta Sans Medium"/>
                </a:rPr>
                <a:t>Ask Devin indexes COBOL codebase, mapping business rules and scoping module files.</a:t>
              </a:r>
              <a:endParaRPr b="0" sz="975">
                <a:solidFill>
                  <a:srgbClr val="475569"/>
                </a:solidFill>
                <a:latin typeface="Plus Jakarta Sans Medium"/>
                <a:ea typeface="Plus Jakarta Sans Medium"/>
                <a:cs typeface="Plus Jakarta Sans Medium"/>
                <a:sym typeface="Plus Jakarta Sans Medium"/>
              </a:endParaRPr>
            </a:p>
          </p:txBody>
        </p:sp>
        <p:sp>
          <p:nvSpPr>
            <p:cNvPr id="1218" name="Google Shape;1218;p39"/>
            <p:cNvSpPr/>
            <p:nvPr/>
          </p:nvSpPr>
          <p:spPr>
            <a:xfrm>
              <a:off x="571500" y="2905125"/>
              <a:ext cx="5715000" cy="809700"/>
            </a:xfrm>
            <a:prstGeom prst="roundRect">
              <a:avLst>
                <a:gd fmla="val 9411" name="adj"/>
              </a:avLst>
            </a:prstGeom>
            <a:solidFill>
              <a:srgbClr val="F8FAFC"/>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19" name="Google Shape;1219;p39"/>
            <p:cNvSpPr/>
            <p:nvPr/>
          </p:nvSpPr>
          <p:spPr>
            <a:xfrm>
              <a:off x="571500" y="2905125"/>
              <a:ext cx="47700" cy="809700"/>
            </a:xfrm>
            <a:prstGeom prst="roundRect">
              <a:avLst>
                <a:gd fmla="val 40000" name="adj"/>
              </a:avLst>
            </a:prstGeom>
            <a:solidFill>
              <a:srgbClr val="7C3AED"/>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20" name="Google Shape;1220;p39"/>
            <p:cNvSpPr txBox="1"/>
            <p:nvPr/>
          </p:nvSpPr>
          <p:spPr>
            <a:xfrm>
              <a:off x="809625" y="2905125"/>
              <a:ext cx="5143500" cy="809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825">
                  <a:solidFill>
                    <a:srgbClr val="7C3AED"/>
                  </a:solidFill>
                  <a:latin typeface="JetBrains Mono ExtraBold"/>
                  <a:ea typeface="JetBrains Mono ExtraBold"/>
                  <a:cs typeface="JetBrains Mono ExtraBold"/>
                  <a:sym typeface="JetBrains Mono ExtraBold"/>
                </a:rPr>
                <a:t>PARALLEL</a:t>
              </a:r>
              <a:endParaRPr b="0" sz="825">
                <a:solidFill>
                  <a:srgbClr val="7C3AED"/>
                </a:solidFill>
                <a:latin typeface="JetBrains Mono ExtraBold"/>
                <a:ea typeface="JetBrains Mono ExtraBold"/>
                <a:cs typeface="JetBrains Mono ExtraBold"/>
                <a:sym typeface="JetBrains Mono ExtraBold"/>
              </a:endParaRPr>
            </a:p>
            <a:p>
              <a:pPr indent="0" lvl="0" marL="0" rtl="0" algn="l">
                <a:spcBef>
                  <a:spcPts val="300"/>
                </a:spcBef>
                <a:spcAft>
                  <a:spcPts val="0"/>
                </a:spcAft>
                <a:buNone/>
              </a:pPr>
              <a:r>
                <a:rPr b="0" lang="en-US" sz="975">
                  <a:solidFill>
                    <a:srgbClr val="475569"/>
                  </a:solidFill>
                  <a:latin typeface="Plus Jakarta Sans Medium"/>
                  <a:ea typeface="Plus Jakarta Sans Medium"/>
                  <a:cs typeface="Plus Jakarta Sans Medium"/>
                  <a:sym typeface="Plus Jakarta Sans Medium"/>
                </a:rPr>
                <a:t>Coordinator spawns child VMs. Each converts an isolated segment utilizing migration Playbooks.</a:t>
              </a:r>
              <a:endParaRPr b="0" sz="975">
                <a:solidFill>
                  <a:srgbClr val="475569"/>
                </a:solidFill>
                <a:latin typeface="Plus Jakarta Sans Medium"/>
                <a:ea typeface="Plus Jakarta Sans Medium"/>
                <a:cs typeface="Plus Jakarta Sans Medium"/>
                <a:sym typeface="Plus Jakarta Sans Medium"/>
              </a:endParaRPr>
            </a:p>
          </p:txBody>
        </p:sp>
        <p:sp>
          <p:nvSpPr>
            <p:cNvPr id="1221" name="Google Shape;1221;p39"/>
            <p:cNvSpPr/>
            <p:nvPr/>
          </p:nvSpPr>
          <p:spPr>
            <a:xfrm>
              <a:off x="571500" y="3952875"/>
              <a:ext cx="5715000" cy="809700"/>
            </a:xfrm>
            <a:prstGeom prst="roundRect">
              <a:avLst>
                <a:gd fmla="val 9411" name="adj"/>
              </a:avLst>
            </a:prstGeom>
            <a:solidFill>
              <a:srgbClr val="F8FAFC"/>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22" name="Google Shape;1222;p39"/>
            <p:cNvSpPr/>
            <p:nvPr/>
          </p:nvSpPr>
          <p:spPr>
            <a:xfrm>
              <a:off x="571500" y="3952875"/>
              <a:ext cx="47700" cy="809700"/>
            </a:xfrm>
            <a:prstGeom prst="roundRect">
              <a:avLst>
                <a:gd fmla="val 40000" name="adj"/>
              </a:avLst>
            </a:prstGeom>
            <a:solidFill>
              <a:srgbClr val="0D948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23" name="Google Shape;1223;p39"/>
            <p:cNvSpPr txBox="1"/>
            <p:nvPr/>
          </p:nvSpPr>
          <p:spPr>
            <a:xfrm>
              <a:off x="809625" y="3952875"/>
              <a:ext cx="5143500" cy="809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825">
                  <a:solidFill>
                    <a:srgbClr val="0D9488"/>
                  </a:solidFill>
                  <a:latin typeface="JetBrains Mono ExtraBold"/>
                  <a:ea typeface="JetBrains Mono ExtraBold"/>
                  <a:cs typeface="JetBrains Mono ExtraBold"/>
                  <a:sym typeface="JetBrains Mono ExtraBold"/>
                </a:rPr>
                <a:t>VERIFY</a:t>
              </a:r>
              <a:endParaRPr b="0" sz="825">
                <a:solidFill>
                  <a:srgbClr val="0D9488"/>
                </a:solidFill>
                <a:latin typeface="JetBrains Mono ExtraBold"/>
                <a:ea typeface="JetBrains Mono ExtraBold"/>
                <a:cs typeface="JetBrains Mono ExtraBold"/>
                <a:sym typeface="JetBrains Mono ExtraBold"/>
              </a:endParaRPr>
            </a:p>
            <a:p>
              <a:pPr indent="0" lvl="0" marL="0" rtl="0" algn="l">
                <a:spcBef>
                  <a:spcPts val="300"/>
                </a:spcBef>
                <a:spcAft>
                  <a:spcPts val="0"/>
                </a:spcAft>
                <a:buNone/>
              </a:pPr>
              <a:r>
                <a:rPr b="0" lang="en-US" sz="975">
                  <a:solidFill>
                    <a:srgbClr val="475569"/>
                  </a:solidFill>
                  <a:latin typeface="Plus Jakarta Sans Medium"/>
                  <a:ea typeface="Plus Jakarta Sans Medium"/>
                  <a:cs typeface="Plus Jakarta Sans Medium"/>
                  <a:sym typeface="Plus Jakarta Sans Medium"/>
                </a:rPr>
                <a:t>Verifies code logic via Java build/test skills prior to raising PRs.</a:t>
              </a:r>
              <a:endParaRPr b="0" sz="975">
                <a:solidFill>
                  <a:srgbClr val="475569"/>
                </a:solidFill>
                <a:latin typeface="Plus Jakarta Sans Medium"/>
                <a:ea typeface="Plus Jakarta Sans Medium"/>
                <a:cs typeface="Plus Jakarta Sans Medium"/>
                <a:sym typeface="Plus Jakarta Sans Medium"/>
              </a:endParaRPr>
            </a:p>
          </p:txBody>
        </p:sp>
      </p:grpSp>
      <p:grpSp>
        <p:nvGrpSpPr>
          <p:cNvPr id="1224" name="Google Shape;1224;p39"/>
          <p:cNvGrpSpPr/>
          <p:nvPr/>
        </p:nvGrpSpPr>
        <p:grpSpPr>
          <a:xfrm>
            <a:off x="7239000" y="1333500"/>
            <a:ext cx="4381500" cy="3429000"/>
            <a:chOff x="7239000" y="1333500"/>
            <a:chExt cx="4381500" cy="3429000"/>
          </a:xfrm>
        </p:grpSpPr>
        <p:sp>
          <p:nvSpPr>
            <p:cNvPr id="1225" name="Google Shape;1225;p39"/>
            <p:cNvSpPr/>
            <p:nvPr/>
          </p:nvSpPr>
          <p:spPr>
            <a:xfrm>
              <a:off x="7239000" y="1333500"/>
              <a:ext cx="4381500" cy="3429000"/>
            </a:xfrm>
            <a:prstGeom prst="roundRect">
              <a:avLst>
                <a:gd fmla="val 4444" name="adj"/>
              </a:avLst>
            </a:prstGeom>
            <a:solidFill>
              <a:srgbClr val="FFFFFF"/>
            </a:solidFill>
            <a:ln cap="flat" cmpd="sng" w="1905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26" name="Google Shape;1226;p39"/>
            <p:cNvSpPr/>
            <p:nvPr/>
          </p:nvSpPr>
          <p:spPr>
            <a:xfrm>
              <a:off x="7239000" y="1333500"/>
              <a:ext cx="4381500" cy="228600"/>
            </a:xfrm>
            <a:custGeom>
              <a:rect b="b" l="l" r="r" t="t"/>
              <a:pathLst>
                <a:path extrusionOk="0" h="120000" w="120000">
                  <a:moveTo>
                    <a:pt x="0" y="80000"/>
                  </a:moveTo>
                  <a:cubicBezTo>
                    <a:pt x="0" y="35800"/>
                    <a:pt x="1868" y="0"/>
                    <a:pt x="4174" y="0"/>
                  </a:cubicBezTo>
                  <a:lnTo>
                    <a:pt x="115826" y="0"/>
                  </a:lnTo>
                  <a:cubicBezTo>
                    <a:pt x="118132" y="0"/>
                    <a:pt x="120000" y="35800"/>
                    <a:pt x="120000" y="80000"/>
                  </a:cubicBezTo>
                  <a:lnTo>
                    <a:pt x="120000" y="120000"/>
                  </a:lnTo>
                  <a:lnTo>
                    <a:pt x="0" y="120000"/>
                  </a:lnTo>
                  <a:close/>
                </a:path>
              </a:pathLst>
            </a:cu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27" name="Google Shape;1227;p39"/>
            <p:cNvSpPr/>
            <p:nvPr/>
          </p:nvSpPr>
          <p:spPr>
            <a:xfrm>
              <a:off x="8667750" y="1857375"/>
              <a:ext cx="1524000" cy="247800"/>
            </a:xfrm>
            <a:prstGeom prst="roundRect">
              <a:avLst>
                <a:gd fmla="val 50000" name="adj"/>
              </a:avLst>
            </a:prstGeom>
            <a:solidFill>
              <a:srgbClr val="EFF6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28" name="Google Shape;1228;p39"/>
            <p:cNvSpPr txBox="1"/>
            <p:nvPr/>
          </p:nvSpPr>
          <p:spPr>
            <a:xfrm>
              <a:off x="8667750" y="1857375"/>
              <a:ext cx="1524000" cy="247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US" sz="750">
                  <a:solidFill>
                    <a:srgbClr val="2563EB"/>
                  </a:solidFill>
                  <a:latin typeface="JetBrains Mono ExtraBold"/>
                  <a:ea typeface="JetBrains Mono ExtraBold"/>
                  <a:cs typeface="JetBrains Mono ExtraBold"/>
                  <a:sym typeface="JetBrains Mono ExtraBold"/>
                </a:rPr>
                <a:t>PRODUCTION IMPACT</a:t>
              </a:r>
              <a:endParaRPr b="0" sz="750">
                <a:solidFill>
                  <a:srgbClr val="2563EB"/>
                </a:solidFill>
                <a:latin typeface="JetBrains Mono ExtraBold"/>
                <a:ea typeface="JetBrains Mono ExtraBold"/>
                <a:cs typeface="JetBrains Mono ExtraBold"/>
                <a:sym typeface="JetBrains Mono ExtraBold"/>
              </a:endParaRPr>
            </a:p>
          </p:txBody>
        </p:sp>
        <p:sp>
          <p:nvSpPr>
            <p:cNvPr id="1229" name="Google Shape;1229;p39"/>
            <p:cNvSpPr txBox="1"/>
            <p:nvPr/>
          </p:nvSpPr>
          <p:spPr>
            <a:xfrm>
              <a:off x="7524750" y="2286000"/>
              <a:ext cx="3810000" cy="952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US" sz="5400">
                  <a:solidFill>
                    <a:srgbClr val="2563EB"/>
                  </a:solidFill>
                  <a:latin typeface="Plus Jakarta Sans ExtraBold"/>
                  <a:ea typeface="Plus Jakarta Sans ExtraBold"/>
                  <a:cs typeface="Plus Jakarta Sans ExtraBold"/>
                  <a:sym typeface="Plus Jakarta Sans ExtraBold"/>
                </a:rPr>
                <a:t>100%</a:t>
              </a:r>
              <a:endParaRPr b="0" sz="5400">
                <a:solidFill>
                  <a:srgbClr val="2563EB"/>
                </a:solidFill>
                <a:latin typeface="Plus Jakarta Sans ExtraBold"/>
                <a:ea typeface="Plus Jakarta Sans ExtraBold"/>
                <a:cs typeface="Plus Jakarta Sans ExtraBold"/>
                <a:sym typeface="Plus Jakarta Sans ExtraBold"/>
              </a:endParaRPr>
            </a:p>
          </p:txBody>
        </p:sp>
        <p:sp>
          <p:nvSpPr>
            <p:cNvPr id="1230" name="Google Shape;1230;p39"/>
            <p:cNvSpPr txBox="1"/>
            <p:nvPr/>
          </p:nvSpPr>
          <p:spPr>
            <a:xfrm>
              <a:off x="7524750" y="3286125"/>
              <a:ext cx="38100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US" sz="1350">
                  <a:solidFill>
                    <a:srgbClr val="0F172A"/>
                  </a:solidFill>
                  <a:latin typeface="Plus Jakarta Sans ExtraBold"/>
                  <a:ea typeface="Plus Jakarta Sans ExtraBold"/>
                  <a:cs typeface="Plus Jakarta Sans ExtraBold"/>
                  <a:sym typeface="Plus Jakarta Sans ExtraBold"/>
                </a:rPr>
                <a:t>Migrated Autonomously</a:t>
              </a:r>
              <a:endParaRPr b="0" sz="1350">
                <a:solidFill>
                  <a:srgbClr val="0F172A"/>
                </a:solidFill>
                <a:latin typeface="Plus Jakarta Sans ExtraBold"/>
                <a:ea typeface="Plus Jakarta Sans ExtraBold"/>
                <a:cs typeface="Plus Jakarta Sans ExtraBold"/>
                <a:sym typeface="Plus Jakarta Sans ExtraBold"/>
              </a:endParaRPr>
            </a:p>
          </p:txBody>
        </p:sp>
        <p:sp>
          <p:nvSpPr>
            <p:cNvPr id="1231" name="Google Shape;1231;p39"/>
            <p:cNvSpPr txBox="1"/>
            <p:nvPr/>
          </p:nvSpPr>
          <p:spPr>
            <a:xfrm>
              <a:off x="7620000" y="3667125"/>
              <a:ext cx="3619500" cy="762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US" sz="975">
                  <a:solidFill>
                    <a:srgbClr val="475569"/>
                  </a:solidFill>
                  <a:latin typeface="Plus Jakarta Sans"/>
                  <a:ea typeface="Plus Jakarta Sans"/>
                  <a:cs typeface="Plus Jakarta Sans"/>
                  <a:sym typeface="Plus Jakarta Sans"/>
                </a:rPr>
                <a:t>Successful microservice modernization of legacy banking codebases. Mirrors real-world enterprise conversions (e.g., Nubank modules).</a:t>
              </a:r>
              <a:endParaRPr b="0" sz="975">
                <a:solidFill>
                  <a:srgbClr val="475569"/>
                </a:solidFill>
                <a:latin typeface="Plus Jakarta Sans"/>
                <a:ea typeface="Plus Jakarta Sans"/>
                <a:cs typeface="Plus Jakarta Sans"/>
                <a:sym typeface="Plus Jakarta Sans"/>
              </a:endParaRPr>
            </a:p>
          </p:txBody>
        </p:sp>
      </p:grpSp>
      <p:pic>
        <p:nvPicPr>
          <p:cNvPr descr="image.png" id="1232" name="Google Shape;1232;p39"/>
          <p:cNvPicPr preferRelativeResize="0"/>
          <p:nvPr/>
        </p:nvPicPr>
        <p:blipFill rotWithShape="1">
          <a:blip r:embed="rId4">
            <a:alphaModFix/>
          </a:blip>
          <a:srcRect b="0" l="0" r="0" t="0"/>
          <a:stretch/>
        </p:blipFill>
        <p:spPr>
          <a:xfrm>
            <a:off x="571500" y="457200"/>
            <a:ext cx="823168" cy="200025"/>
          </a:xfrm>
          <a:prstGeom prst="rect">
            <a:avLst/>
          </a:prstGeom>
          <a:noFill/>
          <a:ln>
            <a:noFill/>
          </a:ln>
        </p:spPr>
      </p:pic>
      <p:sp>
        <p:nvSpPr>
          <p:cNvPr id="1233" name="Google Shape;1233;p39"/>
          <p:cNvSpPr txBox="1"/>
          <p:nvPr/>
        </p:nvSpPr>
        <p:spPr>
          <a:xfrm>
            <a:off x="571500" y="381000"/>
            <a:ext cx="11601600" cy="3693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2400" u="none" cap="none" strike="noStrike">
                <a:solidFill>
                  <a:srgbClr val="0F172A"/>
                </a:solidFill>
                <a:latin typeface="Plus Jakarta Sans ExtraBold"/>
                <a:ea typeface="Plus Jakarta Sans ExtraBold"/>
                <a:cs typeface="Plus Jakarta Sans ExtraBold"/>
                <a:sym typeface="Plus Jakarta Sans ExtraBold"/>
              </a:rPr>
              <a:t>Case Study: Legacy Modernization</a:t>
            </a:r>
            <a:endParaRPr/>
          </a:p>
        </p:txBody>
      </p:sp>
      <p:sp>
        <p:nvSpPr>
          <p:cNvPr id="1234" name="Google Shape;1234;p39"/>
          <p:cNvSpPr/>
          <p:nvPr/>
        </p:nvSpPr>
        <p:spPr>
          <a:xfrm>
            <a:off x="571500" y="847725"/>
            <a:ext cx="11049000" cy="19200"/>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38" name="Shape 1238"/>
        <p:cNvGrpSpPr/>
        <p:nvPr/>
      </p:nvGrpSpPr>
      <p:grpSpPr>
        <a:xfrm>
          <a:off x="0" y="0"/>
          <a:ext cx="0" cy="0"/>
          <a:chOff x="0" y="0"/>
          <a:chExt cx="0" cy="0"/>
        </a:xfrm>
      </p:grpSpPr>
      <p:pic>
        <p:nvPicPr>
          <p:cNvPr descr="image.png" id="1239" name="Google Shape;1239;p40"/>
          <p:cNvPicPr preferRelativeResize="0"/>
          <p:nvPr/>
        </p:nvPicPr>
        <p:blipFill rotWithShape="1">
          <a:blip r:embed="rId3">
            <a:alphaModFix/>
          </a:blip>
          <a:srcRect b="0" l="0" r="0" t="0"/>
          <a:stretch/>
        </p:blipFill>
        <p:spPr>
          <a:xfrm>
            <a:off x="0" y="0"/>
            <a:ext cx="12192000" cy="6858000"/>
          </a:xfrm>
          <a:prstGeom prst="rect">
            <a:avLst/>
          </a:prstGeom>
          <a:noFill/>
          <a:ln>
            <a:noFill/>
          </a:ln>
        </p:spPr>
      </p:pic>
      <p:grpSp>
        <p:nvGrpSpPr>
          <p:cNvPr id="1240" name="Google Shape;1240;p40"/>
          <p:cNvGrpSpPr/>
          <p:nvPr/>
        </p:nvGrpSpPr>
        <p:grpSpPr>
          <a:xfrm>
            <a:off x="571500" y="1333500"/>
            <a:ext cx="6191400" cy="285900"/>
            <a:chOff x="571500" y="1333500"/>
            <a:chExt cx="6191400" cy="285900"/>
          </a:xfrm>
        </p:grpSpPr>
        <p:sp>
          <p:nvSpPr>
            <p:cNvPr id="1241" name="Google Shape;1241;p40"/>
            <p:cNvSpPr/>
            <p:nvPr/>
          </p:nvSpPr>
          <p:spPr>
            <a:xfrm>
              <a:off x="571500" y="1333500"/>
              <a:ext cx="6191400" cy="285900"/>
            </a:xfrm>
            <a:prstGeom prst="roundRect">
              <a:avLst>
                <a:gd fmla="val 20000" name="adj"/>
              </a:avLst>
            </a:prstGeom>
            <a:solidFill>
              <a:srgbClr val="F3E8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42" name="Google Shape;1242;p40"/>
            <p:cNvSpPr txBox="1"/>
            <p:nvPr/>
          </p:nvSpPr>
          <p:spPr>
            <a:xfrm>
              <a:off x="571500" y="1333500"/>
              <a:ext cx="6191400" cy="285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US" sz="750">
                  <a:solidFill>
                    <a:srgbClr val="7C3AED"/>
                  </a:solidFill>
                  <a:latin typeface="JetBrains Mono"/>
                  <a:ea typeface="JetBrains Mono"/>
                  <a:cs typeface="JetBrains Mono"/>
                  <a:sym typeface="JetBrains Mono"/>
                </a:rPr>
                <a:t>CI/CD AUTO-REMEDIATION FLOW</a:t>
              </a:r>
              <a:endParaRPr b="1" sz="750">
                <a:solidFill>
                  <a:srgbClr val="7C3AED"/>
                </a:solidFill>
                <a:latin typeface="JetBrains Mono"/>
                <a:ea typeface="JetBrains Mono"/>
                <a:cs typeface="JetBrains Mono"/>
                <a:sym typeface="JetBrains Mono"/>
              </a:endParaRPr>
            </a:p>
          </p:txBody>
        </p:sp>
      </p:grpSp>
      <p:grpSp>
        <p:nvGrpSpPr>
          <p:cNvPr id="1243" name="Google Shape;1243;p40"/>
          <p:cNvGrpSpPr/>
          <p:nvPr/>
        </p:nvGrpSpPr>
        <p:grpSpPr>
          <a:xfrm>
            <a:off x="571500" y="1762125"/>
            <a:ext cx="6191400" cy="619200"/>
            <a:chOff x="571500" y="1762125"/>
            <a:chExt cx="6191400" cy="619200"/>
          </a:xfrm>
        </p:grpSpPr>
        <p:sp>
          <p:nvSpPr>
            <p:cNvPr id="1244" name="Google Shape;1244;p40"/>
            <p:cNvSpPr/>
            <p:nvPr/>
          </p:nvSpPr>
          <p:spPr>
            <a:xfrm>
              <a:off x="571500" y="1762125"/>
              <a:ext cx="6191400" cy="619200"/>
            </a:xfrm>
            <a:prstGeom prst="roundRect">
              <a:avLst>
                <a:gd fmla="val 12307"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45" name="Google Shape;1245;p40"/>
            <p:cNvSpPr/>
            <p:nvPr/>
          </p:nvSpPr>
          <p:spPr>
            <a:xfrm>
              <a:off x="571500" y="1762125"/>
              <a:ext cx="47700" cy="619200"/>
            </a:xfrm>
            <a:prstGeom prst="roundRect">
              <a:avLst>
                <a:gd fmla="val 4000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46" name="Google Shape;1246;p40"/>
            <p:cNvSpPr txBox="1"/>
            <p:nvPr/>
          </p:nvSpPr>
          <p:spPr>
            <a:xfrm>
              <a:off x="809625" y="1762125"/>
              <a:ext cx="5810400" cy="6192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lang="en-US" sz="825">
                  <a:solidFill>
                    <a:srgbClr val="2563EB"/>
                  </a:solidFill>
                  <a:latin typeface="JetBrains Mono ExtraBold"/>
                  <a:ea typeface="JetBrains Mono ExtraBold"/>
                  <a:cs typeface="JetBrains Mono ExtraBold"/>
                  <a:sym typeface="JetBrains Mono ExtraBold"/>
                </a:rPr>
                <a:t>1. CI CHECK FAILS</a:t>
              </a:r>
              <a:endParaRPr b="0" sz="825">
                <a:solidFill>
                  <a:srgbClr val="2563EB"/>
                </a:solidFill>
                <a:latin typeface="JetBrains Mono ExtraBold"/>
                <a:ea typeface="JetBrains Mono ExtraBold"/>
                <a:cs typeface="JetBrains Mono ExtraBold"/>
                <a:sym typeface="JetBrains Mono ExtraBold"/>
              </a:endParaRPr>
            </a:p>
            <a:p>
              <a:pPr indent="0" lvl="0" marL="0" rtl="0" algn="l">
                <a:spcBef>
                  <a:spcPts val="300"/>
                </a:spcBef>
                <a:spcAft>
                  <a:spcPts val="0"/>
                </a:spcAft>
                <a:buNone/>
              </a:pPr>
              <a:r>
                <a:rPr b="0" lang="en-US" sz="975">
                  <a:solidFill>
                    <a:srgbClr val="475569"/>
                  </a:solidFill>
                  <a:latin typeface="Plus Jakarta Sans Medium"/>
                  <a:ea typeface="Plus Jakarta Sans Medium"/>
                  <a:cs typeface="Plus Jakarta Sans Medium"/>
                  <a:sym typeface="Plus Jakarta Sans Medium"/>
                </a:rPr>
                <a:t>GitHub Action alerts. Automation webhook fires on failure. [cite: 28]</a:t>
              </a:r>
              <a:endParaRPr b="0" sz="975">
                <a:solidFill>
                  <a:srgbClr val="475569"/>
                </a:solidFill>
                <a:latin typeface="Plus Jakarta Sans Medium"/>
                <a:ea typeface="Plus Jakarta Sans Medium"/>
                <a:cs typeface="Plus Jakarta Sans Medium"/>
                <a:sym typeface="Plus Jakarta Sans Medium"/>
              </a:endParaRPr>
            </a:p>
          </p:txBody>
        </p:sp>
      </p:grpSp>
      <p:grpSp>
        <p:nvGrpSpPr>
          <p:cNvPr id="1247" name="Google Shape;1247;p40"/>
          <p:cNvGrpSpPr/>
          <p:nvPr/>
        </p:nvGrpSpPr>
        <p:grpSpPr>
          <a:xfrm>
            <a:off x="571500" y="2476500"/>
            <a:ext cx="6191400" cy="619200"/>
            <a:chOff x="571500" y="2476500"/>
            <a:chExt cx="6191400" cy="619200"/>
          </a:xfrm>
        </p:grpSpPr>
        <p:sp>
          <p:nvSpPr>
            <p:cNvPr id="1248" name="Google Shape;1248;p40"/>
            <p:cNvSpPr/>
            <p:nvPr/>
          </p:nvSpPr>
          <p:spPr>
            <a:xfrm>
              <a:off x="571500" y="2476500"/>
              <a:ext cx="6191400" cy="619200"/>
            </a:xfrm>
            <a:prstGeom prst="roundRect">
              <a:avLst>
                <a:gd fmla="val 12307"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49" name="Google Shape;1249;p40"/>
            <p:cNvSpPr/>
            <p:nvPr/>
          </p:nvSpPr>
          <p:spPr>
            <a:xfrm>
              <a:off x="571500" y="2476500"/>
              <a:ext cx="47700" cy="619200"/>
            </a:xfrm>
            <a:prstGeom prst="roundRect">
              <a:avLst>
                <a:gd fmla="val 40000" name="adj"/>
              </a:avLst>
            </a:prstGeom>
            <a:solidFill>
              <a:srgbClr val="7C3AED"/>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50" name="Google Shape;1250;p40"/>
            <p:cNvSpPr txBox="1"/>
            <p:nvPr/>
          </p:nvSpPr>
          <p:spPr>
            <a:xfrm>
              <a:off x="809625" y="2476500"/>
              <a:ext cx="5810400" cy="6192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lang="en-US" sz="825">
                  <a:solidFill>
                    <a:srgbClr val="7C3AED"/>
                  </a:solidFill>
                  <a:latin typeface="JetBrains Mono ExtraBold"/>
                  <a:ea typeface="JetBrains Mono ExtraBold"/>
                  <a:cs typeface="JetBrains Mono ExtraBold"/>
                  <a:sym typeface="JetBrains Mono ExtraBold"/>
                </a:rPr>
                <a:t>2. TRIAGE BOOT</a:t>
              </a:r>
              <a:endParaRPr b="0" sz="825">
                <a:solidFill>
                  <a:srgbClr val="7C3AED"/>
                </a:solidFill>
                <a:latin typeface="JetBrains Mono ExtraBold"/>
                <a:ea typeface="JetBrains Mono ExtraBold"/>
                <a:cs typeface="JetBrains Mono ExtraBold"/>
                <a:sym typeface="JetBrains Mono ExtraBold"/>
              </a:endParaRPr>
            </a:p>
            <a:p>
              <a:pPr indent="0" lvl="0" marL="0" rtl="0" algn="l">
                <a:spcBef>
                  <a:spcPts val="300"/>
                </a:spcBef>
                <a:spcAft>
                  <a:spcPts val="0"/>
                </a:spcAft>
                <a:buNone/>
              </a:pPr>
              <a:r>
                <a:rPr b="0" lang="en-US" sz="975">
                  <a:solidFill>
                    <a:srgbClr val="475569"/>
                  </a:solidFill>
                  <a:latin typeface="Plus Jakarta Sans Medium"/>
                  <a:ea typeface="Plus Jakarta Sans Medium"/>
                  <a:cs typeface="Plus Jakarta Sans Medium"/>
                  <a:sym typeface="Plus Jakarta Sans Medium"/>
                </a:rPr>
                <a:t>Sandbox VM boots, retrieves "CI failure" Knowledge runbooks. [cite: 28]</a:t>
              </a:r>
              <a:endParaRPr b="0" sz="975">
                <a:solidFill>
                  <a:srgbClr val="475569"/>
                </a:solidFill>
                <a:latin typeface="Plus Jakarta Sans Medium"/>
                <a:ea typeface="Plus Jakarta Sans Medium"/>
                <a:cs typeface="Plus Jakarta Sans Medium"/>
                <a:sym typeface="Plus Jakarta Sans Medium"/>
              </a:endParaRPr>
            </a:p>
          </p:txBody>
        </p:sp>
      </p:grpSp>
      <p:grpSp>
        <p:nvGrpSpPr>
          <p:cNvPr id="1251" name="Google Shape;1251;p40"/>
          <p:cNvGrpSpPr/>
          <p:nvPr/>
        </p:nvGrpSpPr>
        <p:grpSpPr>
          <a:xfrm>
            <a:off x="571500" y="3190875"/>
            <a:ext cx="6191400" cy="619200"/>
            <a:chOff x="571500" y="3190875"/>
            <a:chExt cx="6191400" cy="619200"/>
          </a:xfrm>
        </p:grpSpPr>
        <p:sp>
          <p:nvSpPr>
            <p:cNvPr id="1252" name="Google Shape;1252;p40"/>
            <p:cNvSpPr/>
            <p:nvPr/>
          </p:nvSpPr>
          <p:spPr>
            <a:xfrm>
              <a:off x="571500" y="3190875"/>
              <a:ext cx="6191400" cy="619200"/>
            </a:xfrm>
            <a:prstGeom prst="roundRect">
              <a:avLst>
                <a:gd fmla="val 12307"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53" name="Google Shape;1253;p40"/>
            <p:cNvSpPr/>
            <p:nvPr/>
          </p:nvSpPr>
          <p:spPr>
            <a:xfrm>
              <a:off x="571500" y="3190875"/>
              <a:ext cx="47700" cy="619200"/>
            </a:xfrm>
            <a:prstGeom prst="roundRect">
              <a:avLst>
                <a:gd fmla="val 40000" name="adj"/>
              </a:avLst>
            </a:prstGeom>
            <a:solidFill>
              <a:srgbClr val="0D948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54" name="Google Shape;1254;p40"/>
            <p:cNvSpPr txBox="1"/>
            <p:nvPr/>
          </p:nvSpPr>
          <p:spPr>
            <a:xfrm>
              <a:off x="809625" y="3190875"/>
              <a:ext cx="5810400" cy="6192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lang="en-US" sz="825">
                  <a:solidFill>
                    <a:srgbClr val="0D9488"/>
                  </a:solidFill>
                  <a:latin typeface="JetBrains Mono ExtraBold"/>
                  <a:ea typeface="JetBrains Mono ExtraBold"/>
                  <a:cs typeface="JetBrains Mono ExtraBold"/>
                  <a:sym typeface="JetBrains Mono ExtraBold"/>
                </a:rPr>
                <a:t>3. FIX &amp; TEST</a:t>
              </a:r>
              <a:endParaRPr b="0" sz="825">
                <a:solidFill>
                  <a:srgbClr val="0D9488"/>
                </a:solidFill>
                <a:latin typeface="JetBrains Mono ExtraBold"/>
                <a:ea typeface="JetBrains Mono ExtraBold"/>
                <a:cs typeface="JetBrains Mono ExtraBold"/>
                <a:sym typeface="JetBrains Mono ExtraBold"/>
              </a:endParaRPr>
            </a:p>
            <a:p>
              <a:pPr indent="0" lvl="0" marL="0" rtl="0" algn="l">
                <a:spcBef>
                  <a:spcPts val="300"/>
                </a:spcBef>
                <a:spcAft>
                  <a:spcPts val="0"/>
                </a:spcAft>
                <a:buNone/>
              </a:pPr>
              <a:r>
                <a:rPr b="0" lang="en-US" sz="975">
                  <a:solidFill>
                    <a:srgbClr val="475569"/>
                  </a:solidFill>
                  <a:latin typeface="Plus Jakarta Sans Medium"/>
                  <a:ea typeface="Plus Jakarta Sans Medium"/>
                  <a:cs typeface="Plus Jakarta Sans Medium"/>
                  <a:sym typeface="Plus Jakarta Sans Medium"/>
                </a:rPr>
                <a:t>Resolves code paths, auto-runs `test-before-pr` verification. [cite: 28]</a:t>
              </a:r>
              <a:endParaRPr b="0" sz="975">
                <a:solidFill>
                  <a:srgbClr val="475569"/>
                </a:solidFill>
                <a:latin typeface="Plus Jakarta Sans Medium"/>
                <a:ea typeface="Plus Jakarta Sans Medium"/>
                <a:cs typeface="Plus Jakarta Sans Medium"/>
                <a:sym typeface="Plus Jakarta Sans Medium"/>
              </a:endParaRPr>
            </a:p>
          </p:txBody>
        </p:sp>
      </p:grpSp>
      <p:grpSp>
        <p:nvGrpSpPr>
          <p:cNvPr id="1255" name="Google Shape;1255;p40"/>
          <p:cNvGrpSpPr/>
          <p:nvPr/>
        </p:nvGrpSpPr>
        <p:grpSpPr>
          <a:xfrm>
            <a:off x="571500" y="3905250"/>
            <a:ext cx="6191400" cy="619200"/>
            <a:chOff x="571500" y="3905250"/>
            <a:chExt cx="6191400" cy="619200"/>
          </a:xfrm>
        </p:grpSpPr>
        <p:sp>
          <p:nvSpPr>
            <p:cNvPr id="1256" name="Google Shape;1256;p40"/>
            <p:cNvSpPr/>
            <p:nvPr/>
          </p:nvSpPr>
          <p:spPr>
            <a:xfrm>
              <a:off x="571500" y="3905250"/>
              <a:ext cx="6191400" cy="619200"/>
            </a:xfrm>
            <a:prstGeom prst="roundRect">
              <a:avLst>
                <a:gd fmla="val 12307"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57" name="Google Shape;1257;p40"/>
            <p:cNvSpPr/>
            <p:nvPr/>
          </p:nvSpPr>
          <p:spPr>
            <a:xfrm>
              <a:off x="571500" y="3905250"/>
              <a:ext cx="47700" cy="619200"/>
            </a:xfrm>
            <a:prstGeom prst="roundRect">
              <a:avLst>
                <a:gd fmla="val 40000" name="adj"/>
              </a:avLst>
            </a:prstGeom>
            <a:solidFill>
              <a:srgbClr val="EA580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58" name="Google Shape;1258;p40"/>
            <p:cNvSpPr txBox="1"/>
            <p:nvPr/>
          </p:nvSpPr>
          <p:spPr>
            <a:xfrm>
              <a:off x="809625" y="3905250"/>
              <a:ext cx="5810400" cy="6192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lang="en-US" sz="825">
                  <a:solidFill>
                    <a:srgbClr val="EA580C"/>
                  </a:solidFill>
                  <a:latin typeface="JetBrains Mono ExtraBold"/>
                  <a:ea typeface="JetBrains Mono ExtraBold"/>
                  <a:cs typeface="JetBrains Mono ExtraBold"/>
                  <a:sym typeface="JetBrains Mono ExtraBold"/>
                </a:rPr>
                <a:t>4. PR COMMIT</a:t>
              </a:r>
              <a:endParaRPr b="0" sz="825">
                <a:solidFill>
                  <a:srgbClr val="EA580C"/>
                </a:solidFill>
                <a:latin typeface="JetBrains Mono ExtraBold"/>
                <a:ea typeface="JetBrains Mono ExtraBold"/>
                <a:cs typeface="JetBrains Mono ExtraBold"/>
                <a:sym typeface="JetBrains Mono ExtraBold"/>
              </a:endParaRPr>
            </a:p>
            <a:p>
              <a:pPr indent="0" lvl="0" marL="0" rtl="0" algn="l">
                <a:spcBef>
                  <a:spcPts val="300"/>
                </a:spcBef>
                <a:spcAft>
                  <a:spcPts val="0"/>
                </a:spcAft>
                <a:buNone/>
              </a:pPr>
              <a:r>
                <a:rPr b="0" lang="en-US" sz="975">
                  <a:solidFill>
                    <a:srgbClr val="475569"/>
                  </a:solidFill>
                  <a:latin typeface="Plus Jakarta Sans Medium"/>
                  <a:ea typeface="Plus Jakarta Sans Medium"/>
                  <a:cs typeface="Plus Jakarta Sans Medium"/>
                  <a:sym typeface="Plus Jakarta Sans Medium"/>
                </a:rPr>
                <a:t>Pushes clean fix PR, auto-triggering Devin Review scans. [cite: 28]</a:t>
              </a:r>
              <a:endParaRPr b="0" sz="975">
                <a:solidFill>
                  <a:srgbClr val="475569"/>
                </a:solidFill>
                <a:latin typeface="Plus Jakarta Sans Medium"/>
                <a:ea typeface="Plus Jakarta Sans Medium"/>
                <a:cs typeface="Plus Jakarta Sans Medium"/>
                <a:sym typeface="Plus Jakarta Sans Medium"/>
              </a:endParaRPr>
            </a:p>
          </p:txBody>
        </p:sp>
      </p:grpSp>
      <p:grpSp>
        <p:nvGrpSpPr>
          <p:cNvPr id="1259" name="Google Shape;1259;p40"/>
          <p:cNvGrpSpPr/>
          <p:nvPr/>
        </p:nvGrpSpPr>
        <p:grpSpPr>
          <a:xfrm>
            <a:off x="7239000" y="1333500"/>
            <a:ext cx="4381500" cy="3190800"/>
            <a:chOff x="7239000" y="1333500"/>
            <a:chExt cx="4381500" cy="3190800"/>
          </a:xfrm>
        </p:grpSpPr>
        <p:sp>
          <p:nvSpPr>
            <p:cNvPr id="1260" name="Google Shape;1260;p40"/>
            <p:cNvSpPr/>
            <p:nvPr/>
          </p:nvSpPr>
          <p:spPr>
            <a:xfrm>
              <a:off x="7239000" y="1333500"/>
              <a:ext cx="4381500" cy="3190800"/>
            </a:xfrm>
            <a:prstGeom prst="roundRect">
              <a:avLst>
                <a:gd fmla="val 4776" name="adj"/>
              </a:avLst>
            </a:prstGeom>
            <a:solidFill>
              <a:srgbClr val="FFFFFF"/>
            </a:solidFill>
            <a:ln cap="flat" cmpd="sng" w="1905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61" name="Google Shape;1261;p40"/>
            <p:cNvSpPr/>
            <p:nvPr/>
          </p:nvSpPr>
          <p:spPr>
            <a:xfrm>
              <a:off x="7239000" y="1333500"/>
              <a:ext cx="4381500" cy="228600"/>
            </a:xfrm>
            <a:custGeom>
              <a:rect b="b" l="l" r="r" t="t"/>
              <a:pathLst>
                <a:path extrusionOk="0" h="120000" w="120000">
                  <a:moveTo>
                    <a:pt x="0" y="80000"/>
                  </a:moveTo>
                  <a:cubicBezTo>
                    <a:pt x="0" y="35800"/>
                    <a:pt x="1868" y="0"/>
                    <a:pt x="4174" y="0"/>
                  </a:cubicBezTo>
                  <a:lnTo>
                    <a:pt x="115826" y="0"/>
                  </a:lnTo>
                  <a:cubicBezTo>
                    <a:pt x="118132" y="0"/>
                    <a:pt x="120000" y="35800"/>
                    <a:pt x="120000" y="80000"/>
                  </a:cubicBezTo>
                  <a:lnTo>
                    <a:pt x="120000" y="120000"/>
                  </a:lnTo>
                  <a:lnTo>
                    <a:pt x="0" y="120000"/>
                  </a:lnTo>
                  <a:close/>
                </a:path>
              </a:pathLst>
            </a:cu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62" name="Google Shape;1262;p40"/>
            <p:cNvSpPr/>
            <p:nvPr/>
          </p:nvSpPr>
          <p:spPr>
            <a:xfrm>
              <a:off x="8667750" y="1762125"/>
              <a:ext cx="1524000" cy="247800"/>
            </a:xfrm>
            <a:prstGeom prst="roundRect">
              <a:avLst>
                <a:gd fmla="val 50000" name="adj"/>
              </a:avLst>
            </a:prstGeom>
            <a:solidFill>
              <a:srgbClr val="EFF6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63" name="Google Shape;1263;p40"/>
            <p:cNvSpPr txBox="1"/>
            <p:nvPr/>
          </p:nvSpPr>
          <p:spPr>
            <a:xfrm>
              <a:off x="8667750" y="1762125"/>
              <a:ext cx="1524000" cy="2478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0" lang="en-US" sz="750">
                  <a:solidFill>
                    <a:srgbClr val="2563EB"/>
                  </a:solidFill>
                  <a:latin typeface="JetBrains Mono ExtraBold"/>
                  <a:ea typeface="JetBrains Mono ExtraBold"/>
                  <a:cs typeface="JetBrains Mono ExtraBold"/>
                  <a:sym typeface="JetBrains Mono ExtraBold"/>
                </a:rPr>
                <a:t>ENTERPRISE VALUE</a:t>
              </a:r>
              <a:endParaRPr b="0" sz="750">
                <a:solidFill>
                  <a:srgbClr val="2563EB"/>
                </a:solidFill>
                <a:latin typeface="JetBrains Mono ExtraBold"/>
                <a:ea typeface="JetBrains Mono ExtraBold"/>
                <a:cs typeface="JetBrains Mono ExtraBold"/>
                <a:sym typeface="JetBrains Mono ExtraBold"/>
              </a:endParaRPr>
            </a:p>
          </p:txBody>
        </p:sp>
        <p:sp>
          <p:nvSpPr>
            <p:cNvPr id="1264" name="Google Shape;1264;p40"/>
            <p:cNvSpPr txBox="1"/>
            <p:nvPr/>
          </p:nvSpPr>
          <p:spPr>
            <a:xfrm>
              <a:off x="7524750" y="2143125"/>
              <a:ext cx="3810000" cy="8574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0" lang="en-US" sz="5400">
                  <a:solidFill>
                    <a:srgbClr val="2563EB"/>
                  </a:solidFill>
                  <a:latin typeface="Plus Jakarta Sans ExtraBold"/>
                  <a:ea typeface="Plus Jakarta Sans ExtraBold"/>
                  <a:cs typeface="Plus Jakarta Sans ExtraBold"/>
                  <a:sym typeface="Plus Jakarta Sans ExtraBold"/>
                </a:rPr>
                <a:t>24/7</a:t>
              </a:r>
              <a:endParaRPr b="0" sz="5400">
                <a:solidFill>
                  <a:srgbClr val="2563EB"/>
                </a:solidFill>
                <a:latin typeface="Plus Jakarta Sans ExtraBold"/>
                <a:ea typeface="Plus Jakarta Sans ExtraBold"/>
                <a:cs typeface="Plus Jakarta Sans ExtraBold"/>
                <a:sym typeface="Plus Jakarta Sans ExtraBold"/>
              </a:endParaRPr>
            </a:p>
          </p:txBody>
        </p:sp>
        <p:sp>
          <p:nvSpPr>
            <p:cNvPr id="1265" name="Google Shape;1265;p40"/>
            <p:cNvSpPr txBox="1"/>
            <p:nvPr/>
          </p:nvSpPr>
          <p:spPr>
            <a:xfrm>
              <a:off x="7524750" y="3048000"/>
              <a:ext cx="3810000" cy="285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0" lang="en-US" sz="1350">
                  <a:solidFill>
                    <a:srgbClr val="0F172A"/>
                  </a:solidFill>
                  <a:latin typeface="Plus Jakarta Sans ExtraBold"/>
                  <a:ea typeface="Plus Jakarta Sans ExtraBold"/>
                  <a:cs typeface="Plus Jakarta Sans ExtraBold"/>
                  <a:sym typeface="Plus Jakarta Sans ExtraBold"/>
                </a:rPr>
                <a:t>Autonomous Resolution</a:t>
              </a:r>
              <a:endParaRPr b="0" sz="1350">
                <a:solidFill>
                  <a:srgbClr val="0F172A"/>
                </a:solidFill>
                <a:latin typeface="Plus Jakarta Sans ExtraBold"/>
                <a:ea typeface="Plus Jakarta Sans ExtraBold"/>
                <a:cs typeface="Plus Jakarta Sans ExtraBold"/>
                <a:sym typeface="Plus Jakarta Sans ExtraBold"/>
              </a:endParaRPr>
            </a:p>
          </p:txBody>
        </p:sp>
        <p:sp>
          <p:nvSpPr>
            <p:cNvPr id="1266" name="Google Shape;1266;p40"/>
            <p:cNvSpPr txBox="1"/>
            <p:nvPr/>
          </p:nvSpPr>
          <p:spPr>
            <a:xfrm>
              <a:off x="7429500" y="3429000"/>
              <a:ext cx="4000500" cy="952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0" lang="en-US" sz="975">
                  <a:solidFill>
                    <a:srgbClr val="475569"/>
                  </a:solidFill>
                  <a:latin typeface="Plus Jakarta Sans"/>
                  <a:ea typeface="Plus Jakarta Sans"/>
                  <a:cs typeface="Plus Jakarta Sans"/>
                  <a:sym typeface="Plus Jakarta Sans"/>
                </a:rPr>
                <a:t>Engineers are no longer paged or blocked by routine linter failures, dependency breakages, or syntax compiler bugs. Devin intercepts, resolves, and verifies the fixes autonomously. [cite: 28]</a:t>
              </a:r>
              <a:endParaRPr b="0" sz="975">
                <a:solidFill>
                  <a:srgbClr val="475569"/>
                </a:solidFill>
                <a:latin typeface="Plus Jakarta Sans"/>
                <a:ea typeface="Plus Jakarta Sans"/>
                <a:cs typeface="Plus Jakarta Sans"/>
                <a:sym typeface="Plus Jakarta Sans"/>
              </a:endParaRPr>
            </a:p>
          </p:txBody>
        </p:sp>
      </p:grpSp>
      <p:pic>
        <p:nvPicPr>
          <p:cNvPr descr="image.png" id="1267" name="Google Shape;1267;p40"/>
          <p:cNvPicPr preferRelativeResize="0"/>
          <p:nvPr/>
        </p:nvPicPr>
        <p:blipFill rotWithShape="1">
          <a:blip r:embed="rId4">
            <a:alphaModFix/>
          </a:blip>
          <a:srcRect b="0" l="0" r="0" t="0"/>
          <a:stretch/>
        </p:blipFill>
        <p:spPr>
          <a:xfrm>
            <a:off x="571500" y="457200"/>
            <a:ext cx="823168" cy="200025"/>
          </a:xfrm>
          <a:prstGeom prst="rect">
            <a:avLst/>
          </a:prstGeom>
          <a:noFill/>
          <a:ln>
            <a:noFill/>
          </a:ln>
        </p:spPr>
      </p:pic>
      <p:sp>
        <p:nvSpPr>
          <p:cNvPr id="1268" name="Google Shape;1268;p40"/>
          <p:cNvSpPr txBox="1"/>
          <p:nvPr/>
        </p:nvSpPr>
        <p:spPr>
          <a:xfrm>
            <a:off x="571500" y="381000"/>
            <a:ext cx="11601600" cy="3693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2400" u="none" cap="none" strike="noStrike">
                <a:solidFill>
                  <a:srgbClr val="0F172A"/>
                </a:solidFill>
                <a:latin typeface="Plus Jakarta Sans ExtraBold"/>
                <a:ea typeface="Plus Jakarta Sans ExtraBold"/>
                <a:cs typeface="Plus Jakarta Sans ExtraBold"/>
                <a:sym typeface="Plus Jakarta Sans ExtraBold"/>
              </a:rPr>
              <a:t>Case Study: CI/CD Remediation</a:t>
            </a:r>
            <a:endParaRPr/>
          </a:p>
        </p:txBody>
      </p:sp>
      <p:sp>
        <p:nvSpPr>
          <p:cNvPr id="1269" name="Google Shape;1269;p40"/>
          <p:cNvSpPr/>
          <p:nvPr/>
        </p:nvSpPr>
        <p:spPr>
          <a:xfrm>
            <a:off x="571500" y="847725"/>
            <a:ext cx="11049000" cy="19200"/>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73" name="Shape 1273"/>
        <p:cNvGrpSpPr/>
        <p:nvPr/>
      </p:nvGrpSpPr>
      <p:grpSpPr>
        <a:xfrm>
          <a:off x="0" y="0"/>
          <a:ext cx="0" cy="0"/>
          <a:chOff x="0" y="0"/>
          <a:chExt cx="0" cy="0"/>
        </a:xfrm>
      </p:grpSpPr>
      <p:pic>
        <p:nvPicPr>
          <p:cNvPr descr="image.png" id="1274" name="Google Shape;1274;p41"/>
          <p:cNvPicPr preferRelativeResize="0"/>
          <p:nvPr/>
        </p:nvPicPr>
        <p:blipFill rotWithShape="1">
          <a:blip r:embed="rId3">
            <a:alphaModFix/>
          </a:blip>
          <a:srcRect b="0" l="0" r="0" t="0"/>
          <a:stretch/>
        </p:blipFill>
        <p:spPr>
          <a:xfrm>
            <a:off x="0" y="0"/>
            <a:ext cx="12192000" cy="6858000"/>
          </a:xfrm>
          <a:prstGeom prst="rect">
            <a:avLst/>
          </a:prstGeom>
          <a:noFill/>
          <a:ln>
            <a:noFill/>
          </a:ln>
        </p:spPr>
      </p:pic>
      <p:grpSp>
        <p:nvGrpSpPr>
          <p:cNvPr id="1275" name="Google Shape;1275;p41"/>
          <p:cNvGrpSpPr/>
          <p:nvPr/>
        </p:nvGrpSpPr>
        <p:grpSpPr>
          <a:xfrm>
            <a:off x="571500" y="1333500"/>
            <a:ext cx="6191400" cy="285900"/>
            <a:chOff x="571500" y="1333500"/>
            <a:chExt cx="6191400" cy="285900"/>
          </a:xfrm>
        </p:grpSpPr>
        <p:sp>
          <p:nvSpPr>
            <p:cNvPr id="1276" name="Google Shape;1276;p41"/>
            <p:cNvSpPr/>
            <p:nvPr/>
          </p:nvSpPr>
          <p:spPr>
            <a:xfrm>
              <a:off x="571500" y="1333500"/>
              <a:ext cx="6191400" cy="285900"/>
            </a:xfrm>
            <a:prstGeom prst="roundRect">
              <a:avLst>
                <a:gd fmla="val 20000" name="adj"/>
              </a:avLst>
            </a:prstGeom>
            <a:solidFill>
              <a:srgbClr val="F3E8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77" name="Google Shape;1277;p41"/>
            <p:cNvSpPr txBox="1"/>
            <p:nvPr/>
          </p:nvSpPr>
          <p:spPr>
            <a:xfrm>
              <a:off x="571500" y="1333500"/>
              <a:ext cx="6191400" cy="285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US" sz="750">
                  <a:solidFill>
                    <a:srgbClr val="7C3AED"/>
                  </a:solidFill>
                  <a:latin typeface="JetBrains Mono"/>
                  <a:ea typeface="JetBrains Mono"/>
                  <a:cs typeface="JetBrains Mono"/>
                  <a:sym typeface="JetBrains Mono"/>
                </a:rPr>
                <a:t>HORIZONTAL TASK DECOMPOSITION LOOP</a:t>
              </a:r>
              <a:endParaRPr b="1" sz="750">
                <a:solidFill>
                  <a:srgbClr val="7C3AED"/>
                </a:solidFill>
                <a:latin typeface="JetBrains Mono"/>
                <a:ea typeface="JetBrains Mono"/>
                <a:cs typeface="JetBrains Mono"/>
                <a:sym typeface="JetBrains Mono"/>
              </a:endParaRPr>
            </a:p>
          </p:txBody>
        </p:sp>
      </p:grpSp>
      <p:pic>
        <p:nvPicPr>
          <p:cNvPr descr="image.png" id="1278" name="Google Shape;1278;p41"/>
          <p:cNvPicPr preferRelativeResize="0"/>
          <p:nvPr/>
        </p:nvPicPr>
        <p:blipFill rotWithShape="1">
          <a:blip r:embed="rId4">
            <a:alphaModFix/>
          </a:blip>
          <a:srcRect b="0" l="0" r="0" t="0"/>
          <a:stretch/>
        </p:blipFill>
        <p:spPr>
          <a:xfrm>
            <a:off x="571500" y="457200"/>
            <a:ext cx="823168" cy="200025"/>
          </a:xfrm>
          <a:prstGeom prst="rect">
            <a:avLst/>
          </a:prstGeom>
          <a:noFill/>
          <a:ln>
            <a:noFill/>
          </a:ln>
        </p:spPr>
      </p:pic>
      <p:grpSp>
        <p:nvGrpSpPr>
          <p:cNvPr id="1279" name="Google Shape;1279;p41"/>
          <p:cNvGrpSpPr/>
          <p:nvPr/>
        </p:nvGrpSpPr>
        <p:grpSpPr>
          <a:xfrm>
            <a:off x="571500" y="1762125"/>
            <a:ext cx="6191400" cy="762000"/>
            <a:chOff x="571500" y="1762125"/>
            <a:chExt cx="6191400" cy="762000"/>
          </a:xfrm>
        </p:grpSpPr>
        <p:sp>
          <p:nvSpPr>
            <p:cNvPr id="1280" name="Google Shape;1280;p41"/>
            <p:cNvSpPr/>
            <p:nvPr/>
          </p:nvSpPr>
          <p:spPr>
            <a:xfrm>
              <a:off x="571500" y="1762125"/>
              <a:ext cx="6191400" cy="762000"/>
            </a:xfrm>
            <a:prstGeom prst="roundRect">
              <a:avLst>
                <a:gd fmla="val 10000" name="adj"/>
              </a:avLst>
            </a:prstGeom>
            <a:solidFill>
              <a:srgbClr val="F8FAFC"/>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81" name="Google Shape;1281;p41"/>
            <p:cNvSpPr/>
            <p:nvPr/>
          </p:nvSpPr>
          <p:spPr>
            <a:xfrm>
              <a:off x="571500" y="1762125"/>
              <a:ext cx="47700" cy="762000"/>
            </a:xfrm>
            <a:prstGeom prst="roundRect">
              <a:avLst>
                <a:gd fmla="val 4000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82" name="Google Shape;1282;p41"/>
            <p:cNvSpPr txBox="1"/>
            <p:nvPr/>
          </p:nvSpPr>
          <p:spPr>
            <a:xfrm>
              <a:off x="809625" y="1762125"/>
              <a:ext cx="5619900" cy="762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lang="en-US" sz="825">
                  <a:solidFill>
                    <a:srgbClr val="2563EB"/>
                  </a:solidFill>
                  <a:latin typeface="JetBrains Mono ExtraBold"/>
                  <a:ea typeface="JetBrains Mono ExtraBold"/>
                  <a:cs typeface="JetBrains Mono ExtraBold"/>
                  <a:sym typeface="JetBrains Mono ExtraBold"/>
                </a:rPr>
                <a:t>1. QUERY &amp; DETECT</a:t>
              </a:r>
              <a:endParaRPr b="0" sz="825">
                <a:solidFill>
                  <a:srgbClr val="2563EB"/>
                </a:solidFill>
                <a:latin typeface="JetBrains Mono ExtraBold"/>
                <a:ea typeface="JetBrains Mono ExtraBold"/>
                <a:cs typeface="JetBrains Mono ExtraBold"/>
                <a:sym typeface="JetBrains Mono ExtraBold"/>
              </a:endParaRPr>
            </a:p>
            <a:p>
              <a:pPr indent="0" lvl="0" marL="0" rtl="0" algn="l">
                <a:spcBef>
                  <a:spcPts val="300"/>
                </a:spcBef>
                <a:spcAft>
                  <a:spcPts val="0"/>
                </a:spcAft>
                <a:buNone/>
              </a:pPr>
              <a:r>
                <a:rPr b="0" lang="en-US" sz="975">
                  <a:solidFill>
                    <a:srgbClr val="475569"/>
                  </a:solidFill>
                  <a:latin typeface="Plus Jakarta Sans Medium"/>
                  <a:ea typeface="Plus Jakarta Sans Medium"/>
                  <a:cs typeface="Plus Jakarta Sans Medium"/>
                  <a:sym typeface="Plus Jakarta Sans Medium"/>
                </a:rPr>
                <a:t>Coordinator queries SonarQube database for linter failures.</a:t>
              </a:r>
              <a:endParaRPr b="0" sz="975">
                <a:solidFill>
                  <a:srgbClr val="475569"/>
                </a:solidFill>
                <a:latin typeface="Plus Jakarta Sans Medium"/>
                <a:ea typeface="Plus Jakarta Sans Medium"/>
                <a:cs typeface="Plus Jakarta Sans Medium"/>
                <a:sym typeface="Plus Jakarta Sans Medium"/>
              </a:endParaRPr>
            </a:p>
          </p:txBody>
        </p:sp>
      </p:grpSp>
      <p:grpSp>
        <p:nvGrpSpPr>
          <p:cNvPr id="1283" name="Google Shape;1283;p41"/>
          <p:cNvGrpSpPr/>
          <p:nvPr/>
        </p:nvGrpSpPr>
        <p:grpSpPr>
          <a:xfrm>
            <a:off x="571500" y="2619375"/>
            <a:ext cx="6191400" cy="762000"/>
            <a:chOff x="571500" y="2619375"/>
            <a:chExt cx="6191400" cy="762000"/>
          </a:xfrm>
        </p:grpSpPr>
        <p:sp>
          <p:nvSpPr>
            <p:cNvPr id="1284" name="Google Shape;1284;p41"/>
            <p:cNvSpPr/>
            <p:nvPr/>
          </p:nvSpPr>
          <p:spPr>
            <a:xfrm>
              <a:off x="571500" y="2619375"/>
              <a:ext cx="6191400" cy="762000"/>
            </a:xfrm>
            <a:prstGeom prst="roundRect">
              <a:avLst>
                <a:gd fmla="val 10000" name="adj"/>
              </a:avLst>
            </a:prstGeom>
            <a:solidFill>
              <a:srgbClr val="F8FAFC"/>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85" name="Google Shape;1285;p41"/>
            <p:cNvSpPr/>
            <p:nvPr/>
          </p:nvSpPr>
          <p:spPr>
            <a:xfrm>
              <a:off x="571500" y="2619375"/>
              <a:ext cx="47700" cy="762000"/>
            </a:xfrm>
            <a:prstGeom prst="roundRect">
              <a:avLst>
                <a:gd fmla="val 40000" name="adj"/>
              </a:avLst>
            </a:prstGeom>
            <a:solidFill>
              <a:srgbClr val="7C3AED"/>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86" name="Google Shape;1286;p41"/>
            <p:cNvSpPr txBox="1"/>
            <p:nvPr/>
          </p:nvSpPr>
          <p:spPr>
            <a:xfrm>
              <a:off x="809625" y="2619375"/>
              <a:ext cx="5619900" cy="762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lang="en-US" sz="825">
                  <a:solidFill>
                    <a:srgbClr val="7C3AED"/>
                  </a:solidFill>
                  <a:latin typeface="JetBrains Mono ExtraBold"/>
                  <a:ea typeface="JetBrains Mono ExtraBold"/>
                  <a:cs typeface="JetBrains Mono ExtraBold"/>
                  <a:sym typeface="JetBrains Mono ExtraBold"/>
                </a:rPr>
                <a:t>2. MODULAR PARTITION</a:t>
              </a:r>
              <a:endParaRPr b="0" sz="825">
                <a:solidFill>
                  <a:srgbClr val="7C3AED"/>
                </a:solidFill>
                <a:latin typeface="JetBrains Mono ExtraBold"/>
                <a:ea typeface="JetBrains Mono ExtraBold"/>
                <a:cs typeface="JetBrains Mono ExtraBold"/>
                <a:sym typeface="JetBrains Mono ExtraBold"/>
              </a:endParaRPr>
            </a:p>
            <a:p>
              <a:pPr indent="0" lvl="0" marL="0" rtl="0" algn="l">
                <a:spcBef>
                  <a:spcPts val="300"/>
                </a:spcBef>
                <a:spcAft>
                  <a:spcPts val="0"/>
                </a:spcAft>
                <a:buNone/>
              </a:pPr>
              <a:r>
                <a:rPr b="0" lang="en-US" sz="975">
                  <a:solidFill>
                    <a:srgbClr val="475569"/>
                  </a:solidFill>
                  <a:latin typeface="Plus Jakarta Sans Medium"/>
                  <a:ea typeface="Plus Jakarta Sans Medium"/>
                  <a:cs typeface="Plus Jakarta Sans Medium"/>
                  <a:sym typeface="Plus Jakarta Sans Medium"/>
                </a:rPr>
                <a:t>Groups issues by repository/complexity and schedules parallel workers.</a:t>
              </a:r>
              <a:endParaRPr b="0" sz="975">
                <a:solidFill>
                  <a:srgbClr val="475569"/>
                </a:solidFill>
                <a:latin typeface="Plus Jakarta Sans Medium"/>
                <a:ea typeface="Plus Jakarta Sans Medium"/>
                <a:cs typeface="Plus Jakarta Sans Medium"/>
                <a:sym typeface="Plus Jakarta Sans Medium"/>
              </a:endParaRPr>
            </a:p>
          </p:txBody>
        </p:sp>
      </p:grpSp>
      <p:grpSp>
        <p:nvGrpSpPr>
          <p:cNvPr id="1287" name="Google Shape;1287;p41"/>
          <p:cNvGrpSpPr/>
          <p:nvPr/>
        </p:nvGrpSpPr>
        <p:grpSpPr>
          <a:xfrm>
            <a:off x="571500" y="3476625"/>
            <a:ext cx="6191400" cy="762000"/>
            <a:chOff x="571500" y="3476625"/>
            <a:chExt cx="6191400" cy="762000"/>
          </a:xfrm>
        </p:grpSpPr>
        <p:sp>
          <p:nvSpPr>
            <p:cNvPr id="1288" name="Google Shape;1288;p41"/>
            <p:cNvSpPr/>
            <p:nvPr/>
          </p:nvSpPr>
          <p:spPr>
            <a:xfrm>
              <a:off x="571500" y="3476625"/>
              <a:ext cx="6191400" cy="762000"/>
            </a:xfrm>
            <a:prstGeom prst="roundRect">
              <a:avLst>
                <a:gd fmla="val 10000" name="adj"/>
              </a:avLst>
            </a:prstGeom>
            <a:solidFill>
              <a:srgbClr val="F8FAFC"/>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89" name="Google Shape;1289;p41"/>
            <p:cNvSpPr/>
            <p:nvPr/>
          </p:nvSpPr>
          <p:spPr>
            <a:xfrm>
              <a:off x="571500" y="3476625"/>
              <a:ext cx="47700" cy="762000"/>
            </a:xfrm>
            <a:prstGeom prst="roundRect">
              <a:avLst>
                <a:gd fmla="val 40000" name="adj"/>
              </a:avLst>
            </a:prstGeom>
            <a:solidFill>
              <a:srgbClr val="0D948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90" name="Google Shape;1290;p41"/>
            <p:cNvSpPr txBox="1"/>
            <p:nvPr/>
          </p:nvSpPr>
          <p:spPr>
            <a:xfrm>
              <a:off x="809625" y="3476625"/>
              <a:ext cx="5619900" cy="762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lang="en-US" sz="825">
                  <a:solidFill>
                    <a:srgbClr val="0D9488"/>
                  </a:solidFill>
                  <a:latin typeface="JetBrains Mono ExtraBold"/>
                  <a:ea typeface="JetBrains Mono ExtraBold"/>
                  <a:cs typeface="JetBrains Mono ExtraBold"/>
                  <a:sym typeface="JetBrains Mono ExtraBold"/>
                </a:rPr>
                <a:t>3. FIX &amp; SHIP</a:t>
              </a:r>
              <a:endParaRPr b="0" sz="825">
                <a:solidFill>
                  <a:srgbClr val="0D9488"/>
                </a:solidFill>
                <a:latin typeface="JetBrains Mono ExtraBold"/>
                <a:ea typeface="JetBrains Mono ExtraBold"/>
                <a:cs typeface="JetBrains Mono ExtraBold"/>
                <a:sym typeface="JetBrains Mono ExtraBold"/>
              </a:endParaRPr>
            </a:p>
            <a:p>
              <a:pPr indent="0" lvl="0" marL="0" rtl="0" algn="l">
                <a:spcBef>
                  <a:spcPts val="300"/>
                </a:spcBef>
                <a:spcAft>
                  <a:spcPts val="0"/>
                </a:spcAft>
                <a:buNone/>
              </a:pPr>
              <a:r>
                <a:rPr b="0" lang="en-US" sz="975">
                  <a:solidFill>
                    <a:srgbClr val="475569"/>
                  </a:solidFill>
                  <a:latin typeface="Plus Jakarta Sans Medium"/>
                  <a:ea typeface="Plus Jakarta Sans Medium"/>
                  <a:cs typeface="Plus Jakarta Sans Medium"/>
                  <a:sym typeface="Plus Jakarta Sans Medium"/>
                </a:rPr>
                <a:t>Child VMs resolve issues using Playbooks, verify with build skills, and raise PRs.</a:t>
              </a:r>
              <a:endParaRPr b="0" sz="975">
                <a:solidFill>
                  <a:srgbClr val="475569"/>
                </a:solidFill>
                <a:latin typeface="Plus Jakarta Sans Medium"/>
                <a:ea typeface="Plus Jakarta Sans Medium"/>
                <a:cs typeface="Plus Jakarta Sans Medium"/>
                <a:sym typeface="Plus Jakarta Sans Medium"/>
              </a:endParaRPr>
            </a:p>
          </p:txBody>
        </p:sp>
      </p:grpSp>
      <p:grpSp>
        <p:nvGrpSpPr>
          <p:cNvPr id="1291" name="Google Shape;1291;p41"/>
          <p:cNvGrpSpPr/>
          <p:nvPr/>
        </p:nvGrpSpPr>
        <p:grpSpPr>
          <a:xfrm>
            <a:off x="7239000" y="1333500"/>
            <a:ext cx="4381500" cy="3429000"/>
            <a:chOff x="7239000" y="1333500"/>
            <a:chExt cx="4381500" cy="3429000"/>
          </a:xfrm>
        </p:grpSpPr>
        <p:sp>
          <p:nvSpPr>
            <p:cNvPr id="1292" name="Google Shape;1292;p41"/>
            <p:cNvSpPr/>
            <p:nvPr/>
          </p:nvSpPr>
          <p:spPr>
            <a:xfrm>
              <a:off x="7239000" y="1333500"/>
              <a:ext cx="4381500" cy="3429000"/>
            </a:xfrm>
            <a:prstGeom prst="roundRect">
              <a:avLst>
                <a:gd fmla="val 4444" name="adj"/>
              </a:avLst>
            </a:prstGeom>
            <a:solidFill>
              <a:srgbClr val="FFFFFF"/>
            </a:solidFill>
            <a:ln cap="flat" cmpd="sng" w="1905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93" name="Google Shape;1293;p41"/>
            <p:cNvSpPr/>
            <p:nvPr/>
          </p:nvSpPr>
          <p:spPr>
            <a:xfrm>
              <a:off x="7239000" y="1333500"/>
              <a:ext cx="4381500" cy="228600"/>
            </a:xfrm>
            <a:custGeom>
              <a:rect b="b" l="l" r="r" t="t"/>
              <a:pathLst>
                <a:path extrusionOk="0" h="120000" w="120000">
                  <a:moveTo>
                    <a:pt x="0" y="80000"/>
                  </a:moveTo>
                  <a:cubicBezTo>
                    <a:pt x="0" y="35800"/>
                    <a:pt x="1868" y="0"/>
                    <a:pt x="4174" y="0"/>
                  </a:cubicBezTo>
                  <a:lnTo>
                    <a:pt x="115826" y="0"/>
                  </a:lnTo>
                  <a:cubicBezTo>
                    <a:pt x="118132" y="0"/>
                    <a:pt x="120000" y="35800"/>
                    <a:pt x="120000" y="80000"/>
                  </a:cubicBezTo>
                  <a:lnTo>
                    <a:pt x="120000" y="120000"/>
                  </a:lnTo>
                  <a:lnTo>
                    <a:pt x="0" y="120000"/>
                  </a:lnTo>
                  <a:close/>
                </a:path>
              </a:pathLst>
            </a:custGeom>
            <a:solidFill>
              <a:srgbClr val="0D948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94" name="Google Shape;1294;p41"/>
            <p:cNvSpPr/>
            <p:nvPr/>
          </p:nvSpPr>
          <p:spPr>
            <a:xfrm>
              <a:off x="8667750" y="1857375"/>
              <a:ext cx="1524000" cy="247800"/>
            </a:xfrm>
            <a:prstGeom prst="roundRect">
              <a:avLst>
                <a:gd fmla="val 50000" name="adj"/>
              </a:avLst>
            </a:prstGeom>
            <a:solidFill>
              <a:srgbClr val="E6F4F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95" name="Google Shape;1295;p41"/>
            <p:cNvSpPr txBox="1"/>
            <p:nvPr/>
          </p:nvSpPr>
          <p:spPr>
            <a:xfrm>
              <a:off x="8667750" y="1857375"/>
              <a:ext cx="1524000" cy="2478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0" lang="en-US" sz="750">
                  <a:solidFill>
                    <a:srgbClr val="0D9488"/>
                  </a:solidFill>
                  <a:latin typeface="JetBrains Mono ExtraBold"/>
                  <a:ea typeface="JetBrains Mono ExtraBold"/>
                  <a:cs typeface="JetBrains Mono ExtraBold"/>
                  <a:sym typeface="JetBrains Mono ExtraBold"/>
                </a:rPr>
                <a:t>EFFICIENCY OUTPUT</a:t>
              </a:r>
              <a:endParaRPr b="0" sz="750">
                <a:solidFill>
                  <a:srgbClr val="0D9488"/>
                </a:solidFill>
                <a:latin typeface="JetBrains Mono ExtraBold"/>
                <a:ea typeface="JetBrains Mono ExtraBold"/>
                <a:cs typeface="JetBrains Mono ExtraBold"/>
                <a:sym typeface="JetBrains Mono ExtraBold"/>
              </a:endParaRPr>
            </a:p>
          </p:txBody>
        </p:sp>
        <p:sp>
          <p:nvSpPr>
            <p:cNvPr id="1296" name="Google Shape;1296;p41"/>
            <p:cNvSpPr txBox="1"/>
            <p:nvPr/>
          </p:nvSpPr>
          <p:spPr>
            <a:xfrm>
              <a:off x="7524750" y="2286000"/>
              <a:ext cx="3810000" cy="952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0" lang="en-US" sz="5400">
                  <a:solidFill>
                    <a:srgbClr val="0D9488"/>
                  </a:solidFill>
                  <a:latin typeface="Plus Jakarta Sans ExtraBold"/>
                  <a:ea typeface="Plus Jakarta Sans ExtraBold"/>
                  <a:cs typeface="Plus Jakarta Sans ExtraBold"/>
                  <a:sym typeface="Plus Jakarta Sans ExtraBold"/>
                </a:rPr>
                <a:t>6-12x</a:t>
              </a:r>
              <a:endParaRPr b="0" sz="5400">
                <a:solidFill>
                  <a:srgbClr val="0D9488"/>
                </a:solidFill>
                <a:latin typeface="Plus Jakarta Sans ExtraBold"/>
                <a:ea typeface="Plus Jakarta Sans ExtraBold"/>
                <a:cs typeface="Plus Jakarta Sans ExtraBold"/>
                <a:sym typeface="Plus Jakarta Sans ExtraBold"/>
              </a:endParaRPr>
            </a:p>
          </p:txBody>
        </p:sp>
        <p:sp>
          <p:nvSpPr>
            <p:cNvPr id="1297" name="Google Shape;1297;p41"/>
            <p:cNvSpPr txBox="1"/>
            <p:nvPr/>
          </p:nvSpPr>
          <p:spPr>
            <a:xfrm>
              <a:off x="7524750" y="3286125"/>
              <a:ext cx="3810000" cy="285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0" lang="en-US" sz="1350">
                  <a:solidFill>
                    <a:srgbClr val="0F172A"/>
                  </a:solidFill>
                  <a:latin typeface="Plus Jakarta Sans ExtraBold"/>
                  <a:ea typeface="Plus Jakarta Sans ExtraBold"/>
                  <a:cs typeface="Plus Jakarta Sans ExtraBold"/>
                  <a:sym typeface="Plus Jakarta Sans ExtraBold"/>
                </a:rPr>
                <a:t>Velocity Uplift</a:t>
              </a:r>
              <a:endParaRPr b="0" sz="1350">
                <a:solidFill>
                  <a:srgbClr val="0F172A"/>
                </a:solidFill>
                <a:latin typeface="Plus Jakarta Sans ExtraBold"/>
                <a:ea typeface="Plus Jakarta Sans ExtraBold"/>
                <a:cs typeface="Plus Jakarta Sans ExtraBold"/>
                <a:sym typeface="Plus Jakarta Sans ExtraBold"/>
              </a:endParaRPr>
            </a:p>
          </p:txBody>
        </p:sp>
        <p:sp>
          <p:nvSpPr>
            <p:cNvPr id="1298" name="Google Shape;1298;p41"/>
            <p:cNvSpPr txBox="1"/>
            <p:nvPr/>
          </p:nvSpPr>
          <p:spPr>
            <a:xfrm>
              <a:off x="7620000" y="3667125"/>
              <a:ext cx="3619500" cy="762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0" lang="en-US" sz="975">
                  <a:solidFill>
                    <a:srgbClr val="475569"/>
                  </a:solidFill>
                  <a:latin typeface="Plus Jakarta Sans"/>
                  <a:ea typeface="Plus Jakarta Sans"/>
                  <a:cs typeface="Plus Jakarta Sans"/>
                  <a:sym typeface="Plus Jakarta Sans"/>
                </a:rPr>
                <a:t>Bulk clearance of linter errors across 20+ active repositories. Horizontal scaling clears backlogs without consuming high-focus team hours.</a:t>
              </a:r>
              <a:endParaRPr b="0" sz="975">
                <a:solidFill>
                  <a:srgbClr val="475569"/>
                </a:solidFill>
                <a:latin typeface="Plus Jakarta Sans"/>
                <a:ea typeface="Plus Jakarta Sans"/>
                <a:cs typeface="Plus Jakarta Sans"/>
                <a:sym typeface="Plus Jakarta Sans"/>
              </a:endParaRPr>
            </a:p>
          </p:txBody>
        </p:sp>
      </p:grpSp>
      <p:sp>
        <p:nvSpPr>
          <p:cNvPr id="1299" name="Google Shape;1299;p41"/>
          <p:cNvSpPr txBox="1"/>
          <p:nvPr/>
        </p:nvSpPr>
        <p:spPr>
          <a:xfrm>
            <a:off x="571500" y="381000"/>
            <a:ext cx="11601600" cy="3693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2400" u="none" cap="none" strike="noStrike">
                <a:solidFill>
                  <a:srgbClr val="0F172A"/>
                </a:solidFill>
                <a:latin typeface="Plus Jakarta Sans ExtraBold"/>
                <a:ea typeface="Plus Jakarta Sans ExtraBold"/>
                <a:cs typeface="Plus Jakarta Sans ExtraBold"/>
                <a:sym typeface="Plus Jakarta Sans ExtraBold"/>
              </a:rPr>
              <a:t>Case Study: Backlog Clearance</a:t>
            </a:r>
            <a:endParaRPr/>
          </a:p>
        </p:txBody>
      </p:sp>
      <p:sp>
        <p:nvSpPr>
          <p:cNvPr id="1300" name="Google Shape;1300;p41"/>
          <p:cNvSpPr/>
          <p:nvPr/>
        </p:nvSpPr>
        <p:spPr>
          <a:xfrm>
            <a:off x="571500" y="847725"/>
            <a:ext cx="11049000" cy="19200"/>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04" name="Shape 1304"/>
        <p:cNvGrpSpPr/>
        <p:nvPr/>
      </p:nvGrpSpPr>
      <p:grpSpPr>
        <a:xfrm>
          <a:off x="0" y="0"/>
          <a:ext cx="0" cy="0"/>
          <a:chOff x="0" y="0"/>
          <a:chExt cx="0" cy="0"/>
        </a:xfrm>
      </p:grpSpPr>
      <p:pic>
        <p:nvPicPr>
          <p:cNvPr descr="image.png" id="1305" name="Google Shape;1305;p42"/>
          <p:cNvPicPr preferRelativeResize="0"/>
          <p:nvPr/>
        </p:nvPicPr>
        <p:blipFill rotWithShape="1">
          <a:blip r:embed="rId3">
            <a:alphaModFix/>
          </a:blip>
          <a:srcRect b="0" l="0" r="0" t="0"/>
          <a:stretch/>
        </p:blipFill>
        <p:spPr>
          <a:xfrm>
            <a:off x="0" y="0"/>
            <a:ext cx="12192000" cy="6858000"/>
          </a:xfrm>
          <a:prstGeom prst="rect">
            <a:avLst/>
          </a:prstGeom>
          <a:noFill/>
          <a:ln>
            <a:noFill/>
          </a:ln>
        </p:spPr>
      </p:pic>
      <p:grpSp>
        <p:nvGrpSpPr>
          <p:cNvPr id="1306" name="Google Shape;1306;p42"/>
          <p:cNvGrpSpPr/>
          <p:nvPr/>
        </p:nvGrpSpPr>
        <p:grpSpPr>
          <a:xfrm>
            <a:off x="571500" y="1333500"/>
            <a:ext cx="6191400" cy="285900"/>
            <a:chOff x="571500" y="1333500"/>
            <a:chExt cx="6191400" cy="285900"/>
          </a:xfrm>
        </p:grpSpPr>
        <p:sp>
          <p:nvSpPr>
            <p:cNvPr id="1307" name="Google Shape;1307;p42"/>
            <p:cNvSpPr/>
            <p:nvPr/>
          </p:nvSpPr>
          <p:spPr>
            <a:xfrm>
              <a:off x="571500" y="1333500"/>
              <a:ext cx="6191400" cy="285900"/>
            </a:xfrm>
            <a:prstGeom prst="roundRect">
              <a:avLst>
                <a:gd fmla="val 20000" name="adj"/>
              </a:avLst>
            </a:prstGeom>
            <a:solidFill>
              <a:srgbClr val="F3E8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08" name="Google Shape;1308;p42"/>
            <p:cNvSpPr txBox="1"/>
            <p:nvPr/>
          </p:nvSpPr>
          <p:spPr>
            <a:xfrm>
              <a:off x="571500" y="1333500"/>
              <a:ext cx="6191400" cy="285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US" sz="750">
                  <a:solidFill>
                    <a:srgbClr val="7C3AED"/>
                  </a:solidFill>
                  <a:latin typeface="JetBrains Mono"/>
                  <a:ea typeface="JetBrains Mono"/>
                  <a:cs typeface="JetBrains Mono"/>
                  <a:sym typeface="JetBrains Mono"/>
                </a:rPr>
                <a:t>INCIDENT RESPONSE AUTOMATION FLOW</a:t>
              </a:r>
              <a:endParaRPr b="1" sz="750">
                <a:solidFill>
                  <a:srgbClr val="7C3AED"/>
                </a:solidFill>
                <a:latin typeface="JetBrains Mono"/>
                <a:ea typeface="JetBrains Mono"/>
                <a:cs typeface="JetBrains Mono"/>
                <a:sym typeface="JetBrains Mono"/>
              </a:endParaRPr>
            </a:p>
          </p:txBody>
        </p:sp>
      </p:grpSp>
      <p:grpSp>
        <p:nvGrpSpPr>
          <p:cNvPr id="1309" name="Google Shape;1309;p42"/>
          <p:cNvGrpSpPr/>
          <p:nvPr/>
        </p:nvGrpSpPr>
        <p:grpSpPr>
          <a:xfrm>
            <a:off x="571500" y="1762125"/>
            <a:ext cx="6191400" cy="619200"/>
            <a:chOff x="571500" y="1762125"/>
            <a:chExt cx="6191400" cy="619200"/>
          </a:xfrm>
        </p:grpSpPr>
        <p:sp>
          <p:nvSpPr>
            <p:cNvPr id="1310" name="Google Shape;1310;p42"/>
            <p:cNvSpPr/>
            <p:nvPr/>
          </p:nvSpPr>
          <p:spPr>
            <a:xfrm>
              <a:off x="571500" y="1762125"/>
              <a:ext cx="6191400" cy="619200"/>
            </a:xfrm>
            <a:prstGeom prst="roundRect">
              <a:avLst>
                <a:gd fmla="val 12307"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11" name="Google Shape;1311;p42"/>
            <p:cNvSpPr/>
            <p:nvPr/>
          </p:nvSpPr>
          <p:spPr>
            <a:xfrm>
              <a:off x="571500" y="1762125"/>
              <a:ext cx="47700" cy="619200"/>
            </a:xfrm>
            <a:prstGeom prst="roundRect">
              <a:avLst>
                <a:gd fmla="val 4000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12" name="Google Shape;1312;p42"/>
            <p:cNvSpPr txBox="1"/>
            <p:nvPr/>
          </p:nvSpPr>
          <p:spPr>
            <a:xfrm>
              <a:off x="809625" y="1762125"/>
              <a:ext cx="5810400" cy="6192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lang="en-US" sz="825">
                  <a:solidFill>
                    <a:srgbClr val="2563EB"/>
                  </a:solidFill>
                  <a:latin typeface="JetBrains Mono ExtraBold"/>
                  <a:ea typeface="JetBrains Mono ExtraBold"/>
                  <a:cs typeface="JetBrains Mono ExtraBold"/>
                  <a:sym typeface="JetBrains Mono ExtraBold"/>
                </a:rPr>
                <a:t>1. INCIDENT ALERT</a:t>
              </a:r>
              <a:endParaRPr b="0" sz="825">
                <a:solidFill>
                  <a:srgbClr val="2563EB"/>
                </a:solidFill>
                <a:latin typeface="JetBrains Mono ExtraBold"/>
                <a:ea typeface="JetBrains Mono ExtraBold"/>
                <a:cs typeface="JetBrains Mono ExtraBold"/>
                <a:sym typeface="JetBrains Mono ExtraBold"/>
              </a:endParaRPr>
            </a:p>
            <a:p>
              <a:pPr indent="0" lvl="0" marL="0" rtl="0" algn="l">
                <a:spcBef>
                  <a:spcPts val="300"/>
                </a:spcBef>
                <a:spcAft>
                  <a:spcPts val="0"/>
                </a:spcAft>
                <a:buNone/>
              </a:pPr>
              <a:r>
                <a:rPr b="0" lang="en-US" sz="975">
                  <a:solidFill>
                    <a:srgbClr val="475569"/>
                  </a:solidFill>
                  <a:latin typeface="Plus Jakarta Sans Medium"/>
                  <a:ea typeface="Plus Jakarta Sans Medium"/>
                  <a:cs typeface="Plus Jakarta Sans Medium"/>
                  <a:sym typeface="Plus Jakarta Sans Medium"/>
                </a:rPr>
                <a:t>Slack 🚨 reaction on crash log triggers incident automation.</a:t>
              </a:r>
              <a:endParaRPr b="0" sz="825">
                <a:solidFill>
                  <a:srgbClr val="2563EB"/>
                </a:solidFill>
                <a:latin typeface="JetBrains Mono ExtraBold"/>
                <a:ea typeface="JetBrains Mono ExtraBold"/>
                <a:cs typeface="JetBrains Mono ExtraBold"/>
                <a:sym typeface="JetBrains Mono ExtraBold"/>
              </a:endParaRPr>
            </a:p>
          </p:txBody>
        </p:sp>
      </p:grpSp>
      <p:grpSp>
        <p:nvGrpSpPr>
          <p:cNvPr id="1313" name="Google Shape;1313;p42"/>
          <p:cNvGrpSpPr/>
          <p:nvPr/>
        </p:nvGrpSpPr>
        <p:grpSpPr>
          <a:xfrm>
            <a:off x="571500" y="2476500"/>
            <a:ext cx="6191400" cy="619200"/>
            <a:chOff x="571500" y="2476500"/>
            <a:chExt cx="6191400" cy="619200"/>
          </a:xfrm>
        </p:grpSpPr>
        <p:sp>
          <p:nvSpPr>
            <p:cNvPr id="1314" name="Google Shape;1314;p42"/>
            <p:cNvSpPr/>
            <p:nvPr/>
          </p:nvSpPr>
          <p:spPr>
            <a:xfrm>
              <a:off x="571500" y="2476500"/>
              <a:ext cx="6191400" cy="619200"/>
            </a:xfrm>
            <a:prstGeom prst="roundRect">
              <a:avLst>
                <a:gd fmla="val 12307"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15" name="Google Shape;1315;p42"/>
            <p:cNvSpPr/>
            <p:nvPr/>
          </p:nvSpPr>
          <p:spPr>
            <a:xfrm>
              <a:off x="571500" y="2476500"/>
              <a:ext cx="47700" cy="619200"/>
            </a:xfrm>
            <a:prstGeom prst="roundRect">
              <a:avLst>
                <a:gd fmla="val 40000" name="adj"/>
              </a:avLst>
            </a:prstGeom>
            <a:solidFill>
              <a:srgbClr val="7C3AED"/>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16" name="Google Shape;1316;p42"/>
            <p:cNvSpPr txBox="1"/>
            <p:nvPr/>
          </p:nvSpPr>
          <p:spPr>
            <a:xfrm>
              <a:off x="809625" y="2476500"/>
              <a:ext cx="5810400" cy="6192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lang="en-US" sz="825">
                  <a:solidFill>
                    <a:srgbClr val="7C3AED"/>
                  </a:solidFill>
                  <a:latin typeface="JetBrains Mono ExtraBold"/>
                  <a:ea typeface="JetBrains Mono ExtraBold"/>
                  <a:cs typeface="JetBrains Mono ExtraBold"/>
                  <a:sym typeface="JetBrains Mono ExtraBold"/>
                </a:rPr>
                <a:t>2. QUERY SENTRY</a:t>
              </a:r>
              <a:endParaRPr b="0" sz="825">
                <a:solidFill>
                  <a:srgbClr val="7C3AED"/>
                </a:solidFill>
                <a:latin typeface="JetBrains Mono ExtraBold"/>
                <a:ea typeface="JetBrains Mono ExtraBold"/>
                <a:cs typeface="JetBrains Mono ExtraBold"/>
                <a:sym typeface="JetBrains Mono ExtraBold"/>
              </a:endParaRPr>
            </a:p>
            <a:p>
              <a:pPr indent="0" lvl="0" marL="0" rtl="0" algn="l">
                <a:spcBef>
                  <a:spcPts val="300"/>
                </a:spcBef>
                <a:spcAft>
                  <a:spcPts val="0"/>
                </a:spcAft>
                <a:buNone/>
              </a:pPr>
              <a:r>
                <a:rPr b="0" lang="en-US" sz="975">
                  <a:solidFill>
                    <a:srgbClr val="475569"/>
                  </a:solidFill>
                  <a:latin typeface="Plus Jakarta Sans Medium"/>
                  <a:ea typeface="Plus Jakarta Sans Medium"/>
                  <a:cs typeface="Plus Jakarta Sans Medium"/>
                  <a:sym typeface="Plus Jakarta Sans Medium"/>
                </a:rPr>
                <a:t>Devin queries Datadog &amp; Sentry MCP servers for logs.</a:t>
              </a:r>
              <a:endParaRPr b="0" sz="825">
                <a:solidFill>
                  <a:srgbClr val="7C3AED"/>
                </a:solidFill>
                <a:latin typeface="JetBrains Mono ExtraBold"/>
                <a:ea typeface="JetBrains Mono ExtraBold"/>
                <a:cs typeface="JetBrains Mono ExtraBold"/>
                <a:sym typeface="JetBrains Mono ExtraBold"/>
              </a:endParaRPr>
            </a:p>
          </p:txBody>
        </p:sp>
      </p:grpSp>
      <p:grpSp>
        <p:nvGrpSpPr>
          <p:cNvPr id="1317" name="Google Shape;1317;p42"/>
          <p:cNvGrpSpPr/>
          <p:nvPr/>
        </p:nvGrpSpPr>
        <p:grpSpPr>
          <a:xfrm>
            <a:off x="571500" y="3190875"/>
            <a:ext cx="6191400" cy="619200"/>
            <a:chOff x="571500" y="3190875"/>
            <a:chExt cx="6191400" cy="619200"/>
          </a:xfrm>
        </p:grpSpPr>
        <p:sp>
          <p:nvSpPr>
            <p:cNvPr id="1318" name="Google Shape;1318;p42"/>
            <p:cNvSpPr/>
            <p:nvPr/>
          </p:nvSpPr>
          <p:spPr>
            <a:xfrm>
              <a:off x="571500" y="3190875"/>
              <a:ext cx="6191400" cy="619200"/>
            </a:xfrm>
            <a:prstGeom prst="roundRect">
              <a:avLst>
                <a:gd fmla="val 12307"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19" name="Google Shape;1319;p42"/>
            <p:cNvSpPr/>
            <p:nvPr/>
          </p:nvSpPr>
          <p:spPr>
            <a:xfrm>
              <a:off x="571500" y="3190875"/>
              <a:ext cx="47700" cy="619200"/>
            </a:xfrm>
            <a:prstGeom prst="roundRect">
              <a:avLst>
                <a:gd fmla="val 40000" name="adj"/>
              </a:avLst>
            </a:prstGeom>
            <a:solidFill>
              <a:srgbClr val="0D948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20" name="Google Shape;1320;p42"/>
            <p:cNvSpPr txBox="1"/>
            <p:nvPr/>
          </p:nvSpPr>
          <p:spPr>
            <a:xfrm>
              <a:off x="809625" y="3190875"/>
              <a:ext cx="5810400" cy="6192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lang="en-US" sz="825">
                  <a:solidFill>
                    <a:srgbClr val="0D9488"/>
                  </a:solidFill>
                  <a:latin typeface="JetBrains Mono ExtraBold"/>
                  <a:ea typeface="JetBrains Mono ExtraBold"/>
                  <a:cs typeface="JetBrains Mono ExtraBold"/>
                  <a:sym typeface="JetBrains Mono ExtraBold"/>
                </a:rPr>
                <a:t>3. RUNBOOK MATCH</a:t>
              </a:r>
              <a:endParaRPr b="0" sz="825">
                <a:solidFill>
                  <a:srgbClr val="0D9488"/>
                </a:solidFill>
                <a:latin typeface="JetBrains Mono ExtraBold"/>
                <a:ea typeface="JetBrains Mono ExtraBold"/>
                <a:cs typeface="JetBrains Mono ExtraBold"/>
                <a:sym typeface="JetBrains Mono ExtraBold"/>
              </a:endParaRPr>
            </a:p>
            <a:p>
              <a:pPr indent="0" lvl="0" marL="0" rtl="0" algn="l">
                <a:spcBef>
                  <a:spcPts val="300"/>
                </a:spcBef>
                <a:spcAft>
                  <a:spcPts val="0"/>
                </a:spcAft>
                <a:buNone/>
              </a:pPr>
              <a:r>
                <a:rPr b="0" lang="en-US" sz="975">
                  <a:solidFill>
                    <a:srgbClr val="475569"/>
                  </a:solidFill>
                  <a:latin typeface="Plus Jakarta Sans Medium"/>
                  <a:ea typeface="Plus Jakarta Sans Medium"/>
                  <a:cs typeface="Plus Jakarta Sans Medium"/>
                  <a:sym typeface="Plus Jakarta Sans Medium"/>
                </a:rPr>
                <a:t>Matches "common outages" runbook, running read-only search skills.</a:t>
              </a:r>
              <a:endParaRPr b="0" sz="825">
                <a:solidFill>
                  <a:srgbClr val="0D9488"/>
                </a:solidFill>
                <a:latin typeface="JetBrains Mono ExtraBold"/>
                <a:ea typeface="JetBrains Mono ExtraBold"/>
                <a:cs typeface="JetBrains Mono ExtraBold"/>
                <a:sym typeface="JetBrains Mono ExtraBold"/>
              </a:endParaRPr>
            </a:p>
          </p:txBody>
        </p:sp>
      </p:grpSp>
      <p:grpSp>
        <p:nvGrpSpPr>
          <p:cNvPr id="1321" name="Google Shape;1321;p42"/>
          <p:cNvGrpSpPr/>
          <p:nvPr/>
        </p:nvGrpSpPr>
        <p:grpSpPr>
          <a:xfrm>
            <a:off x="571500" y="3905250"/>
            <a:ext cx="6191400" cy="619200"/>
            <a:chOff x="571500" y="3905250"/>
            <a:chExt cx="6191400" cy="619200"/>
          </a:xfrm>
        </p:grpSpPr>
        <p:sp>
          <p:nvSpPr>
            <p:cNvPr id="1322" name="Google Shape;1322;p42"/>
            <p:cNvSpPr/>
            <p:nvPr/>
          </p:nvSpPr>
          <p:spPr>
            <a:xfrm>
              <a:off x="571500" y="3905250"/>
              <a:ext cx="6191400" cy="619200"/>
            </a:xfrm>
            <a:prstGeom prst="roundRect">
              <a:avLst>
                <a:gd fmla="val 12307"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23" name="Google Shape;1323;p42"/>
            <p:cNvSpPr/>
            <p:nvPr/>
          </p:nvSpPr>
          <p:spPr>
            <a:xfrm>
              <a:off x="571500" y="3905250"/>
              <a:ext cx="47700" cy="619200"/>
            </a:xfrm>
            <a:prstGeom prst="roundRect">
              <a:avLst>
                <a:gd fmla="val 40000" name="adj"/>
              </a:avLst>
            </a:prstGeom>
            <a:solidFill>
              <a:srgbClr val="EA580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24" name="Google Shape;1324;p42"/>
            <p:cNvSpPr txBox="1"/>
            <p:nvPr/>
          </p:nvSpPr>
          <p:spPr>
            <a:xfrm>
              <a:off x="809625" y="3905250"/>
              <a:ext cx="5810400" cy="6192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lang="en-US" sz="825">
                  <a:solidFill>
                    <a:srgbClr val="EA580C"/>
                  </a:solidFill>
                  <a:latin typeface="JetBrains Mono ExtraBold"/>
                  <a:ea typeface="JetBrains Mono ExtraBold"/>
                  <a:cs typeface="JetBrains Mono ExtraBold"/>
                  <a:sym typeface="JetBrains Mono ExtraBold"/>
                </a:rPr>
                <a:t>4. SLACK SUMMARY</a:t>
              </a:r>
              <a:endParaRPr b="0" sz="825">
                <a:solidFill>
                  <a:srgbClr val="EA580C"/>
                </a:solidFill>
                <a:latin typeface="JetBrains Mono ExtraBold"/>
                <a:ea typeface="JetBrains Mono ExtraBold"/>
                <a:cs typeface="JetBrains Mono ExtraBold"/>
                <a:sym typeface="JetBrains Mono ExtraBold"/>
              </a:endParaRPr>
            </a:p>
            <a:p>
              <a:pPr indent="0" lvl="0" marL="0" rtl="0" algn="l">
                <a:spcBef>
                  <a:spcPts val="300"/>
                </a:spcBef>
                <a:spcAft>
                  <a:spcPts val="0"/>
                </a:spcAft>
                <a:buNone/>
              </a:pPr>
              <a:r>
                <a:rPr b="0" lang="en-US" sz="975">
                  <a:solidFill>
                    <a:srgbClr val="475569"/>
                  </a:solidFill>
                  <a:latin typeface="Plus Jakarta Sans Medium"/>
                  <a:ea typeface="Plus Jakarta Sans Medium"/>
                  <a:cs typeface="Plus Jakarta Sans Medium"/>
                  <a:sym typeface="Plus Jakarta Sans Medium"/>
                </a:rPr>
                <a:t>Posts error diagnosis, waiting for engineer fix authorizations.</a:t>
              </a:r>
              <a:endParaRPr b="0" sz="825">
                <a:solidFill>
                  <a:srgbClr val="EA580C"/>
                </a:solidFill>
                <a:latin typeface="JetBrains Mono ExtraBold"/>
                <a:ea typeface="JetBrains Mono ExtraBold"/>
                <a:cs typeface="JetBrains Mono ExtraBold"/>
                <a:sym typeface="JetBrains Mono ExtraBold"/>
              </a:endParaRPr>
            </a:p>
          </p:txBody>
        </p:sp>
      </p:grpSp>
      <p:grpSp>
        <p:nvGrpSpPr>
          <p:cNvPr id="1325" name="Google Shape;1325;p42"/>
          <p:cNvGrpSpPr/>
          <p:nvPr/>
        </p:nvGrpSpPr>
        <p:grpSpPr>
          <a:xfrm>
            <a:off x="7239000" y="1333500"/>
            <a:ext cx="4381500" cy="3190800"/>
            <a:chOff x="7239000" y="1333500"/>
            <a:chExt cx="4381500" cy="3190800"/>
          </a:xfrm>
        </p:grpSpPr>
        <p:sp>
          <p:nvSpPr>
            <p:cNvPr id="1326" name="Google Shape;1326;p42"/>
            <p:cNvSpPr/>
            <p:nvPr/>
          </p:nvSpPr>
          <p:spPr>
            <a:xfrm>
              <a:off x="7239000" y="1333500"/>
              <a:ext cx="4381500" cy="3190800"/>
            </a:xfrm>
            <a:prstGeom prst="roundRect">
              <a:avLst>
                <a:gd fmla="val 4776" name="adj"/>
              </a:avLst>
            </a:prstGeom>
            <a:solidFill>
              <a:srgbClr val="FFFFFF"/>
            </a:solidFill>
            <a:ln cap="flat" cmpd="sng" w="1905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27" name="Google Shape;1327;p42"/>
            <p:cNvSpPr/>
            <p:nvPr/>
          </p:nvSpPr>
          <p:spPr>
            <a:xfrm>
              <a:off x="7239000" y="1333500"/>
              <a:ext cx="4381500" cy="228600"/>
            </a:xfrm>
            <a:custGeom>
              <a:rect b="b" l="l" r="r" t="t"/>
              <a:pathLst>
                <a:path extrusionOk="0" h="120000" w="120000">
                  <a:moveTo>
                    <a:pt x="0" y="80000"/>
                  </a:moveTo>
                  <a:cubicBezTo>
                    <a:pt x="0" y="35800"/>
                    <a:pt x="1868" y="0"/>
                    <a:pt x="4174" y="0"/>
                  </a:cubicBezTo>
                  <a:lnTo>
                    <a:pt x="115826" y="0"/>
                  </a:lnTo>
                  <a:cubicBezTo>
                    <a:pt x="118132" y="0"/>
                    <a:pt x="120000" y="35800"/>
                    <a:pt x="120000" y="80000"/>
                  </a:cubicBezTo>
                  <a:lnTo>
                    <a:pt x="120000" y="120000"/>
                  </a:lnTo>
                  <a:lnTo>
                    <a:pt x="0" y="120000"/>
                  </a:lnTo>
                  <a:close/>
                </a:path>
              </a:pathLst>
            </a:cu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28" name="Google Shape;1328;p42"/>
            <p:cNvSpPr/>
            <p:nvPr/>
          </p:nvSpPr>
          <p:spPr>
            <a:xfrm>
              <a:off x="8667750" y="1762125"/>
              <a:ext cx="1524000" cy="247800"/>
            </a:xfrm>
            <a:prstGeom prst="roundRect">
              <a:avLst>
                <a:gd fmla="val 50000" name="adj"/>
              </a:avLst>
            </a:prstGeom>
            <a:solidFill>
              <a:srgbClr val="EFF6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29" name="Google Shape;1329;p42"/>
            <p:cNvSpPr txBox="1"/>
            <p:nvPr/>
          </p:nvSpPr>
          <p:spPr>
            <a:xfrm>
              <a:off x="8667750" y="1762125"/>
              <a:ext cx="1524000" cy="2478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0" lang="en-US" sz="750">
                  <a:solidFill>
                    <a:srgbClr val="2563EB"/>
                  </a:solidFill>
                  <a:latin typeface="JetBrains Mono ExtraBold"/>
                  <a:ea typeface="JetBrains Mono ExtraBold"/>
                  <a:cs typeface="JetBrains Mono ExtraBold"/>
                  <a:sym typeface="JetBrains Mono ExtraBold"/>
                </a:rPr>
                <a:t>INTERACTIVE SAFETY</a:t>
              </a:r>
              <a:endParaRPr b="0" sz="750">
                <a:solidFill>
                  <a:srgbClr val="2563EB"/>
                </a:solidFill>
                <a:latin typeface="JetBrains Mono ExtraBold"/>
                <a:ea typeface="JetBrains Mono ExtraBold"/>
                <a:cs typeface="JetBrains Mono ExtraBold"/>
                <a:sym typeface="JetBrains Mono ExtraBold"/>
              </a:endParaRPr>
            </a:p>
          </p:txBody>
        </p:sp>
        <p:sp>
          <p:nvSpPr>
            <p:cNvPr id="1330" name="Google Shape;1330;p42"/>
            <p:cNvSpPr txBox="1"/>
            <p:nvPr/>
          </p:nvSpPr>
          <p:spPr>
            <a:xfrm>
              <a:off x="7524750" y="2143125"/>
              <a:ext cx="3810000" cy="8574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0" lang="en-US" sz="4600">
                  <a:solidFill>
                    <a:srgbClr val="2563EB"/>
                  </a:solidFill>
                  <a:latin typeface="Plus Jakarta Sans ExtraBold"/>
                  <a:ea typeface="Plus Jakarta Sans ExtraBold"/>
                  <a:cs typeface="Plus Jakarta Sans ExtraBold"/>
                  <a:sym typeface="Plus Jakarta Sans ExtraBold"/>
                </a:rPr>
                <a:t>Read-Only</a:t>
              </a:r>
              <a:endParaRPr b="0" sz="4600">
                <a:solidFill>
                  <a:srgbClr val="2563EB"/>
                </a:solidFill>
                <a:latin typeface="Plus Jakarta Sans ExtraBold"/>
                <a:ea typeface="Plus Jakarta Sans ExtraBold"/>
                <a:cs typeface="Plus Jakarta Sans ExtraBold"/>
                <a:sym typeface="Plus Jakarta Sans ExtraBold"/>
              </a:endParaRPr>
            </a:p>
          </p:txBody>
        </p:sp>
        <p:sp>
          <p:nvSpPr>
            <p:cNvPr id="1331" name="Google Shape;1331;p42"/>
            <p:cNvSpPr txBox="1"/>
            <p:nvPr/>
          </p:nvSpPr>
          <p:spPr>
            <a:xfrm>
              <a:off x="7524750" y="3048000"/>
              <a:ext cx="3810000" cy="285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0" lang="en-US" sz="1350">
                  <a:solidFill>
                    <a:srgbClr val="0F172A"/>
                  </a:solidFill>
                  <a:latin typeface="Plus Jakarta Sans ExtraBold"/>
                  <a:ea typeface="Plus Jakarta Sans ExtraBold"/>
                  <a:cs typeface="Plus Jakarta Sans ExtraBold"/>
                  <a:sym typeface="Plus Jakarta Sans ExtraBold"/>
                </a:rPr>
                <a:t>Interactive Guardrails</a:t>
              </a:r>
              <a:endParaRPr b="0" sz="1350">
                <a:solidFill>
                  <a:srgbClr val="0F172A"/>
                </a:solidFill>
                <a:latin typeface="Plus Jakarta Sans ExtraBold"/>
                <a:ea typeface="Plus Jakarta Sans ExtraBold"/>
                <a:cs typeface="Plus Jakarta Sans ExtraBold"/>
                <a:sym typeface="Plus Jakarta Sans ExtraBold"/>
              </a:endParaRPr>
            </a:p>
          </p:txBody>
        </p:sp>
        <p:sp>
          <p:nvSpPr>
            <p:cNvPr id="1332" name="Google Shape;1332;p42"/>
            <p:cNvSpPr txBox="1"/>
            <p:nvPr/>
          </p:nvSpPr>
          <p:spPr>
            <a:xfrm>
              <a:off x="7429500" y="3429000"/>
              <a:ext cx="4000500" cy="952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0" lang="en-US" sz="975">
                  <a:solidFill>
                    <a:srgbClr val="475569"/>
                  </a:solidFill>
                  <a:latin typeface="Plus Jakarta Sans"/>
                  <a:ea typeface="Plus Jakarta Sans"/>
                  <a:cs typeface="Plus Jakarta Sans"/>
                  <a:sym typeface="Plus Jakarta Sans"/>
                </a:rPr>
                <a:t>Devin executes diagnostic read-only commands (</a:t>
              </a:r>
              <a:r>
                <a:rPr b="0" lang="en-US" sz="900">
                  <a:solidFill>
                    <a:srgbClr val="0F172A"/>
                  </a:solidFill>
                  <a:highlight>
                    <a:srgbClr val="F1F5F9"/>
                  </a:highlight>
                  <a:latin typeface="JetBrains Mono"/>
                  <a:ea typeface="JetBrains Mono"/>
                  <a:cs typeface="JetBrains Mono"/>
                  <a:sym typeface="JetBrains Mono"/>
                </a:rPr>
                <a:t>allowed-tools: Read, Grep, ListDir</a:t>
              </a:r>
              <a:r>
                <a:rPr b="0" lang="en-US" sz="975">
                  <a:solidFill>
                    <a:srgbClr val="475569"/>
                  </a:solidFill>
                  <a:latin typeface="Plus Jakarta Sans"/>
                  <a:ea typeface="Plus Jakarta Sans"/>
                  <a:cs typeface="Plus Jakarta Sans"/>
                  <a:sym typeface="Plus Jakarta Sans"/>
                </a:rPr>
                <a:t>), compiles root cause analysis, and posts outlines back to Slack before any write-actions run.</a:t>
              </a:r>
              <a:endParaRPr b="0" sz="975">
                <a:solidFill>
                  <a:srgbClr val="475569"/>
                </a:solidFill>
                <a:latin typeface="Plus Jakarta Sans"/>
                <a:ea typeface="Plus Jakarta Sans"/>
                <a:cs typeface="Plus Jakarta Sans"/>
                <a:sym typeface="Plus Jakarta Sans"/>
              </a:endParaRPr>
            </a:p>
          </p:txBody>
        </p:sp>
      </p:grpSp>
      <p:pic>
        <p:nvPicPr>
          <p:cNvPr descr="image.png" id="1333" name="Google Shape;1333;p42"/>
          <p:cNvPicPr preferRelativeResize="0"/>
          <p:nvPr/>
        </p:nvPicPr>
        <p:blipFill rotWithShape="1">
          <a:blip r:embed="rId4">
            <a:alphaModFix/>
          </a:blip>
          <a:srcRect b="0" l="0" r="0" t="0"/>
          <a:stretch/>
        </p:blipFill>
        <p:spPr>
          <a:xfrm>
            <a:off x="571500" y="457200"/>
            <a:ext cx="823168" cy="200025"/>
          </a:xfrm>
          <a:prstGeom prst="rect">
            <a:avLst/>
          </a:prstGeom>
          <a:noFill/>
          <a:ln>
            <a:noFill/>
          </a:ln>
        </p:spPr>
      </p:pic>
      <p:sp>
        <p:nvSpPr>
          <p:cNvPr id="1334" name="Google Shape;1334;p42"/>
          <p:cNvSpPr txBox="1"/>
          <p:nvPr/>
        </p:nvSpPr>
        <p:spPr>
          <a:xfrm>
            <a:off x="571500" y="381000"/>
            <a:ext cx="11601600" cy="3693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2400" u="none" cap="none" strike="noStrike">
                <a:solidFill>
                  <a:srgbClr val="0F172A"/>
                </a:solidFill>
                <a:latin typeface="Plus Jakarta Sans ExtraBold"/>
                <a:ea typeface="Plus Jakarta Sans ExtraBold"/>
                <a:cs typeface="Plus Jakarta Sans ExtraBold"/>
                <a:sym typeface="Plus Jakarta Sans ExtraBold"/>
              </a:rPr>
              <a:t>Case Study: Incident Response</a:t>
            </a:r>
            <a:endParaRPr/>
          </a:p>
        </p:txBody>
      </p:sp>
      <p:sp>
        <p:nvSpPr>
          <p:cNvPr id="1335" name="Google Shape;1335;p42"/>
          <p:cNvSpPr/>
          <p:nvPr/>
        </p:nvSpPr>
        <p:spPr>
          <a:xfrm>
            <a:off x="571500" y="847725"/>
            <a:ext cx="11049000" cy="19200"/>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39" name="Shape 1339"/>
        <p:cNvGrpSpPr/>
        <p:nvPr/>
      </p:nvGrpSpPr>
      <p:grpSpPr>
        <a:xfrm>
          <a:off x="0" y="0"/>
          <a:ext cx="0" cy="0"/>
          <a:chOff x="0" y="0"/>
          <a:chExt cx="0" cy="0"/>
        </a:xfrm>
      </p:grpSpPr>
      <p:pic>
        <p:nvPicPr>
          <p:cNvPr descr="image.png" id="1340" name="Google Shape;1340;p43"/>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341" name="Google Shape;1341;p43"/>
          <p:cNvPicPr preferRelativeResize="0"/>
          <p:nvPr/>
        </p:nvPicPr>
        <p:blipFill rotWithShape="1">
          <a:blip r:embed="rId4">
            <a:alphaModFix/>
          </a:blip>
          <a:srcRect b="0" l="0" r="0" t="0"/>
          <a:stretch/>
        </p:blipFill>
        <p:spPr>
          <a:xfrm>
            <a:off x="571500" y="2933700"/>
            <a:ext cx="5405437" cy="1647825"/>
          </a:xfrm>
          <a:prstGeom prst="rect">
            <a:avLst/>
          </a:prstGeom>
          <a:noFill/>
          <a:ln>
            <a:noFill/>
          </a:ln>
        </p:spPr>
      </p:pic>
      <p:pic>
        <p:nvPicPr>
          <p:cNvPr descr="image.png" id="1342" name="Google Shape;1342;p43"/>
          <p:cNvPicPr preferRelativeResize="0"/>
          <p:nvPr/>
        </p:nvPicPr>
        <p:blipFill rotWithShape="1">
          <a:blip r:embed="rId5">
            <a:alphaModFix/>
          </a:blip>
          <a:srcRect b="0" l="0" r="0" t="0"/>
          <a:stretch/>
        </p:blipFill>
        <p:spPr>
          <a:xfrm>
            <a:off x="6215062" y="2933700"/>
            <a:ext cx="5405437" cy="1647825"/>
          </a:xfrm>
          <a:prstGeom prst="rect">
            <a:avLst/>
          </a:prstGeom>
          <a:noFill/>
          <a:ln>
            <a:noFill/>
          </a:ln>
        </p:spPr>
      </p:pic>
      <p:pic>
        <p:nvPicPr>
          <p:cNvPr descr="image.png" id="1343" name="Google Shape;1343;p43"/>
          <p:cNvPicPr preferRelativeResize="0"/>
          <p:nvPr/>
        </p:nvPicPr>
        <p:blipFill rotWithShape="1">
          <a:blip r:embed="rId6">
            <a:alphaModFix/>
          </a:blip>
          <a:srcRect b="0" l="0" r="0" t="0"/>
          <a:stretch/>
        </p:blipFill>
        <p:spPr>
          <a:xfrm>
            <a:off x="571500" y="457200"/>
            <a:ext cx="895498" cy="200025"/>
          </a:xfrm>
          <a:prstGeom prst="rect">
            <a:avLst/>
          </a:prstGeom>
          <a:noFill/>
          <a:ln>
            <a:noFill/>
          </a:ln>
        </p:spPr>
      </p:pic>
      <p:sp>
        <p:nvSpPr>
          <p:cNvPr id="1344" name="Google Shape;1344;p43"/>
          <p:cNvSpPr txBox="1"/>
          <p:nvPr/>
        </p:nvSpPr>
        <p:spPr>
          <a:xfrm>
            <a:off x="1038225" y="3133725"/>
            <a:ext cx="4975621" cy="16192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125" u="none" cap="none" strike="noStrike">
                <a:solidFill>
                  <a:srgbClr val="EF4444"/>
                </a:solidFill>
                <a:latin typeface="Plus Jakarta Sans"/>
                <a:ea typeface="Plus Jakarta Sans"/>
                <a:cs typeface="Plus Jakarta Sans"/>
                <a:sym typeface="Plus Jakarta Sans"/>
              </a:rPr>
              <a:t>Key Risks &amp; Anti-Patterns</a:t>
            </a:r>
            <a:endParaRPr/>
          </a:p>
        </p:txBody>
      </p:sp>
      <p:sp>
        <p:nvSpPr>
          <p:cNvPr id="1345" name="Google Shape;1345;p43"/>
          <p:cNvSpPr txBox="1"/>
          <p:nvPr/>
        </p:nvSpPr>
        <p:spPr>
          <a:xfrm>
            <a:off x="6681787" y="3133725"/>
            <a:ext cx="4975621" cy="16192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125" u="none" cap="none" strike="noStrike">
                <a:solidFill>
                  <a:srgbClr val="0D9488"/>
                </a:solidFill>
                <a:latin typeface="Plus Jakarta Sans"/>
                <a:ea typeface="Plus Jakarta Sans"/>
                <a:cs typeface="Plus Jakarta Sans"/>
                <a:sym typeface="Plus Jakarta Sans"/>
              </a:rPr>
              <a:t>Standard Corrections</a:t>
            </a:r>
            <a:endParaRPr/>
          </a:p>
        </p:txBody>
      </p:sp>
      <p:pic>
        <p:nvPicPr>
          <p:cNvPr descr="image.png" id="1346" name="Google Shape;1346;p43"/>
          <p:cNvPicPr preferRelativeResize="0"/>
          <p:nvPr/>
        </p:nvPicPr>
        <p:blipFill rotWithShape="1">
          <a:blip r:embed="rId7">
            <a:alphaModFix/>
          </a:blip>
          <a:srcRect b="0" l="0" r="0" t="0"/>
          <a:stretch/>
        </p:blipFill>
        <p:spPr>
          <a:xfrm>
            <a:off x="800100" y="3143250"/>
            <a:ext cx="142875" cy="142875"/>
          </a:xfrm>
          <a:prstGeom prst="rect">
            <a:avLst/>
          </a:prstGeom>
          <a:noFill/>
          <a:ln>
            <a:noFill/>
          </a:ln>
        </p:spPr>
      </p:pic>
      <p:sp>
        <p:nvSpPr>
          <p:cNvPr id="1347" name="Google Shape;1347;p43"/>
          <p:cNvSpPr txBox="1"/>
          <p:nvPr/>
        </p:nvSpPr>
        <p:spPr>
          <a:xfrm>
            <a:off x="800100" y="3409950"/>
            <a:ext cx="4976812" cy="1333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00" u="none" cap="none" strike="noStrike">
                <a:solidFill>
                  <a:srgbClr val="475569"/>
                </a:solidFill>
                <a:latin typeface="Plus Jakarta Sans"/>
                <a:ea typeface="Plus Jakarta Sans"/>
                <a:cs typeface="Plus Jakarta Sans"/>
                <a:sym typeface="Plus Jakarta Sans"/>
              </a:rPr>
              <a:t>1. Monolithic Prompts:</a:t>
            </a:r>
            <a:r>
              <a:rPr b="0" i="0" lang="en-US" sz="900" u="none" cap="none" strike="noStrike">
                <a:solidFill>
                  <a:srgbClr val="475569"/>
                </a:solidFill>
                <a:latin typeface="Plus Jakarta Sans"/>
                <a:ea typeface="Plus Jakarta Sans"/>
                <a:cs typeface="Plus Jakarta Sans"/>
                <a:sym typeface="Plus Jakarta Sans"/>
              </a:rPr>
              <a:t> "Migrate entire codebase to TypeScript" causes context dilution.</a:t>
            </a:r>
            <a:endParaRPr/>
          </a:p>
        </p:txBody>
      </p:sp>
      <p:sp>
        <p:nvSpPr>
          <p:cNvPr id="1348" name="Google Shape;1348;p43"/>
          <p:cNvSpPr txBox="1"/>
          <p:nvPr/>
        </p:nvSpPr>
        <p:spPr>
          <a:xfrm>
            <a:off x="800100" y="3619500"/>
            <a:ext cx="4976812" cy="1333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00" u="none" cap="none" strike="noStrike">
                <a:solidFill>
                  <a:srgbClr val="475569"/>
                </a:solidFill>
                <a:latin typeface="Plus Jakarta Sans"/>
                <a:ea typeface="Plus Jakarta Sans"/>
                <a:cs typeface="Plus Jakarta Sans"/>
                <a:sym typeface="Plus Jakarta Sans"/>
              </a:rPr>
              <a:t>2. Raw Booting:</a:t>
            </a:r>
            <a:r>
              <a:rPr b="0" i="0" lang="en-US" sz="900" u="none" cap="none" strike="noStrike">
                <a:solidFill>
                  <a:srgbClr val="475569"/>
                </a:solidFill>
                <a:latin typeface="Plus Jakarta Sans"/>
                <a:ea typeface="Plus Jakarta Sans"/>
                <a:cs typeface="Plus Jakarta Sans"/>
                <a:sym typeface="Plus Jakarta Sans"/>
              </a:rPr>
              <a:t> Wastes ACUs downloading compiler packages mid-session.</a:t>
            </a:r>
            <a:endParaRPr/>
          </a:p>
        </p:txBody>
      </p:sp>
      <p:sp>
        <p:nvSpPr>
          <p:cNvPr id="1349" name="Google Shape;1349;p43"/>
          <p:cNvSpPr txBox="1"/>
          <p:nvPr/>
        </p:nvSpPr>
        <p:spPr>
          <a:xfrm>
            <a:off x="800100" y="3829050"/>
            <a:ext cx="4976812" cy="1333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00" u="none" cap="none" strike="noStrike">
                <a:solidFill>
                  <a:srgbClr val="475569"/>
                </a:solidFill>
                <a:latin typeface="Plus Jakarta Sans"/>
                <a:ea typeface="Plus Jakarta Sans"/>
                <a:cs typeface="Plus Jakarta Sans"/>
                <a:sym typeface="Plus Jakarta Sans"/>
              </a:rPr>
              <a:t>3. Bloated Knowledge:</a:t>
            </a:r>
            <a:r>
              <a:rPr b="0" i="0" lang="en-US" sz="900" u="none" cap="none" strike="noStrike">
                <a:solidFill>
                  <a:srgbClr val="475569"/>
                </a:solidFill>
                <a:latin typeface="Plus Jakarta Sans"/>
                <a:ea typeface="Plus Jakarta Sans"/>
                <a:cs typeface="Plus Jakarta Sans"/>
                <a:sym typeface="Plus Jakarta Sans"/>
              </a:rPr>
              <a:t> Monolithic files covering multiple flows degrade trigger matches.</a:t>
            </a:r>
            <a:endParaRPr/>
          </a:p>
        </p:txBody>
      </p:sp>
      <p:sp>
        <p:nvSpPr>
          <p:cNvPr id="1350" name="Google Shape;1350;p43"/>
          <p:cNvSpPr txBox="1"/>
          <p:nvPr/>
        </p:nvSpPr>
        <p:spPr>
          <a:xfrm>
            <a:off x="800100" y="4038600"/>
            <a:ext cx="4976812" cy="1333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00" u="none" cap="none" strike="noStrike">
                <a:solidFill>
                  <a:srgbClr val="475569"/>
                </a:solidFill>
                <a:latin typeface="Plus Jakarta Sans"/>
                <a:ea typeface="Plus Jakarta Sans"/>
                <a:cs typeface="Plus Jakarta Sans"/>
                <a:sym typeface="Plus Jakarta Sans"/>
              </a:rPr>
              <a:t>4. Broad Triggers:</a:t>
            </a:r>
            <a:r>
              <a:rPr b="0" i="0" lang="en-US" sz="900" u="none" cap="none" strike="noStrike">
                <a:solidFill>
                  <a:srgbClr val="475569"/>
                </a:solidFill>
                <a:latin typeface="Plus Jakarta Sans"/>
                <a:ea typeface="Plus Jakarta Sans"/>
                <a:cs typeface="Plus Jakarta Sans"/>
                <a:sym typeface="Plus Jakarta Sans"/>
              </a:rPr>
              <a:t> Launching sessions on every git commit creates runaway noise.</a:t>
            </a:r>
            <a:endParaRPr/>
          </a:p>
        </p:txBody>
      </p:sp>
      <p:sp>
        <p:nvSpPr>
          <p:cNvPr id="1351" name="Google Shape;1351;p43"/>
          <p:cNvSpPr txBox="1"/>
          <p:nvPr/>
        </p:nvSpPr>
        <p:spPr>
          <a:xfrm>
            <a:off x="800100" y="4248150"/>
            <a:ext cx="4976812" cy="1333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00" u="none" cap="none" strike="noStrike">
                <a:solidFill>
                  <a:srgbClr val="475569"/>
                </a:solidFill>
                <a:latin typeface="Plus Jakarta Sans"/>
                <a:ea typeface="Plus Jakarta Sans"/>
                <a:cs typeface="Plus Jakarta Sans"/>
                <a:sym typeface="Plus Jakarta Sans"/>
              </a:rPr>
              <a:t>5. Silent Commits:</a:t>
            </a:r>
            <a:r>
              <a:rPr b="0" i="0" lang="en-US" sz="900" u="none" cap="none" strike="noStrike">
                <a:solidFill>
                  <a:srgbClr val="475569"/>
                </a:solidFill>
                <a:latin typeface="Plus Jakarta Sans"/>
                <a:ea typeface="Plus Jakarta Sans"/>
                <a:cs typeface="Plus Jakarta Sans"/>
                <a:sym typeface="Plus Jakarta Sans"/>
              </a:rPr>
              <a:t> Tasks missing standard lints or build tests lead to regression leaks.</a:t>
            </a:r>
            <a:endParaRPr/>
          </a:p>
        </p:txBody>
      </p:sp>
      <p:pic>
        <p:nvPicPr>
          <p:cNvPr descr="image.png" id="1352" name="Google Shape;1352;p43"/>
          <p:cNvPicPr preferRelativeResize="0"/>
          <p:nvPr/>
        </p:nvPicPr>
        <p:blipFill rotWithShape="1">
          <a:blip r:embed="rId8">
            <a:alphaModFix/>
          </a:blip>
          <a:srcRect b="0" l="0" r="0" t="0"/>
          <a:stretch/>
        </p:blipFill>
        <p:spPr>
          <a:xfrm>
            <a:off x="6443662" y="3143250"/>
            <a:ext cx="142875" cy="142875"/>
          </a:xfrm>
          <a:prstGeom prst="rect">
            <a:avLst/>
          </a:prstGeom>
          <a:noFill/>
          <a:ln>
            <a:noFill/>
          </a:ln>
        </p:spPr>
      </p:pic>
      <p:sp>
        <p:nvSpPr>
          <p:cNvPr id="1353" name="Google Shape;1353;p43"/>
          <p:cNvSpPr txBox="1"/>
          <p:nvPr/>
        </p:nvSpPr>
        <p:spPr>
          <a:xfrm>
            <a:off x="6443662" y="3409950"/>
            <a:ext cx="4976812" cy="1333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00" u="none" cap="none" strike="noStrike">
                <a:solidFill>
                  <a:srgbClr val="475569"/>
                </a:solidFill>
                <a:latin typeface="Plus Jakarta Sans"/>
                <a:ea typeface="Plus Jakarta Sans"/>
                <a:cs typeface="Plus Jakarta Sans"/>
                <a:sym typeface="Plus Jakarta Sans"/>
              </a:rPr>
              <a:t>1. Narrow Scoping:</a:t>
            </a:r>
            <a:r>
              <a:rPr b="0" i="0" lang="en-US" sz="900" u="none" cap="none" strike="noStrike">
                <a:solidFill>
                  <a:srgbClr val="475569"/>
                </a:solidFill>
                <a:latin typeface="Plus Jakarta Sans"/>
                <a:ea typeface="Plus Jakarta Sans"/>
                <a:cs typeface="Plus Jakarta Sans"/>
                <a:sym typeface="Plus Jakarta Sans"/>
              </a:rPr>
              <a:t> Slice tasks into isolated blocks (files/endpoints) under 90 mins.</a:t>
            </a:r>
            <a:endParaRPr/>
          </a:p>
        </p:txBody>
      </p:sp>
      <p:sp>
        <p:nvSpPr>
          <p:cNvPr id="1354" name="Google Shape;1354;p43"/>
          <p:cNvSpPr txBox="1"/>
          <p:nvPr/>
        </p:nvSpPr>
        <p:spPr>
          <a:xfrm>
            <a:off x="6443662" y="3619500"/>
            <a:ext cx="4976812" cy="1333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00" u="none" cap="none" strike="noStrike">
                <a:solidFill>
                  <a:srgbClr val="475569"/>
                </a:solidFill>
                <a:latin typeface="Plus Jakarta Sans"/>
                <a:ea typeface="Plus Jakarta Sans"/>
                <a:cs typeface="Plus Jakarta Sans"/>
                <a:sym typeface="Plus Jakarta Sans"/>
              </a:rPr>
              <a:t>2. Snapshot Pre-baking:</a:t>
            </a:r>
            <a:r>
              <a:rPr b="0" i="0" lang="en-US" sz="900" u="none" cap="none" strike="noStrike">
                <a:solidFill>
                  <a:srgbClr val="475569"/>
                </a:solidFill>
                <a:latin typeface="Plus Jakarta Sans"/>
                <a:ea typeface="Plus Jakarta Sans"/>
                <a:cs typeface="Plus Jakarta Sans"/>
                <a:sym typeface="Plus Jakarta Sans"/>
              </a:rPr>
              <a:t> Configure Docker blueprint baselines so VMs boot ready.</a:t>
            </a:r>
            <a:endParaRPr/>
          </a:p>
        </p:txBody>
      </p:sp>
      <p:sp>
        <p:nvSpPr>
          <p:cNvPr id="1355" name="Google Shape;1355;p43"/>
          <p:cNvSpPr txBox="1"/>
          <p:nvPr/>
        </p:nvSpPr>
        <p:spPr>
          <a:xfrm>
            <a:off x="6443662" y="3829050"/>
            <a:ext cx="4976812" cy="1333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00" u="none" cap="none" strike="noStrike">
                <a:solidFill>
                  <a:srgbClr val="475569"/>
                </a:solidFill>
                <a:latin typeface="Plus Jakarta Sans"/>
                <a:ea typeface="Plus Jakarta Sans"/>
                <a:cs typeface="Plus Jakarta Sans"/>
                <a:sym typeface="Plus Jakarta Sans"/>
              </a:rPr>
              <a:t>3. Single-Purpose Entries:</a:t>
            </a:r>
            <a:r>
              <a:rPr b="0" i="0" lang="en-US" sz="900" u="none" cap="none" strike="noStrike">
                <a:solidFill>
                  <a:srgbClr val="475569"/>
                </a:solidFill>
                <a:latin typeface="Plus Jakarta Sans"/>
                <a:ea typeface="Plus Jakarta Sans"/>
                <a:cs typeface="Plus Jakarta Sans"/>
                <a:sym typeface="Plus Jakarta Sans"/>
              </a:rPr>
              <a:t> Split Knowledge folders into precise trigger runbooks.</a:t>
            </a:r>
            <a:endParaRPr/>
          </a:p>
        </p:txBody>
      </p:sp>
      <p:sp>
        <p:nvSpPr>
          <p:cNvPr id="1356" name="Google Shape;1356;p43"/>
          <p:cNvSpPr txBox="1"/>
          <p:nvPr/>
        </p:nvSpPr>
        <p:spPr>
          <a:xfrm>
            <a:off x="6443662" y="4038600"/>
            <a:ext cx="4976812" cy="1333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00" u="none" cap="none" strike="noStrike">
                <a:solidFill>
                  <a:srgbClr val="475569"/>
                </a:solidFill>
                <a:latin typeface="Plus Jakarta Sans"/>
                <a:ea typeface="Plus Jakarta Sans"/>
                <a:cs typeface="Plus Jakarta Sans"/>
                <a:sym typeface="Plus Jakarta Sans"/>
              </a:rPr>
              <a:t>4. Limit Budgets:</a:t>
            </a:r>
            <a:r>
              <a:rPr b="0" i="0" lang="en-US" sz="900" u="none" cap="none" strike="noStrike">
                <a:solidFill>
                  <a:srgbClr val="475569"/>
                </a:solidFill>
                <a:latin typeface="Plus Jakarta Sans"/>
                <a:ea typeface="Plus Jakarta Sans"/>
                <a:cs typeface="Plus Jakarta Sans"/>
                <a:sym typeface="Plus Jakarta Sans"/>
              </a:rPr>
              <a:t> Bind ACU limits and conditions per PR review or CRON sweep.</a:t>
            </a:r>
            <a:endParaRPr/>
          </a:p>
        </p:txBody>
      </p:sp>
      <p:sp>
        <p:nvSpPr>
          <p:cNvPr id="1357" name="Google Shape;1357;p43"/>
          <p:cNvSpPr txBox="1"/>
          <p:nvPr/>
        </p:nvSpPr>
        <p:spPr>
          <a:xfrm>
            <a:off x="6443662" y="4248150"/>
            <a:ext cx="4976812" cy="1333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00" u="none" cap="none" strike="noStrike">
                <a:solidFill>
                  <a:srgbClr val="475569"/>
                </a:solidFill>
                <a:latin typeface="Plus Jakarta Sans"/>
                <a:ea typeface="Plus Jakarta Sans"/>
                <a:cs typeface="Plus Jakarta Sans"/>
                <a:sym typeface="Plus Jakarta Sans"/>
              </a:rPr>
              <a:t>5. Enforced Verification:</a:t>
            </a:r>
            <a:r>
              <a:rPr b="0" i="0" lang="en-US" sz="900" u="none" cap="none" strike="noStrike">
                <a:solidFill>
                  <a:srgbClr val="475569"/>
                </a:solidFill>
                <a:latin typeface="Plus Jakarta Sans"/>
                <a:ea typeface="Plus Jakarta Sans"/>
                <a:cs typeface="Plus Jakarta Sans"/>
                <a:sym typeface="Plus Jakarta Sans"/>
              </a:rPr>
              <a:t> Require test runs inside playbooks before creating PRs.</a:t>
            </a:r>
            <a:endParaRPr/>
          </a:p>
        </p:txBody>
      </p:sp>
      <p:sp>
        <p:nvSpPr>
          <p:cNvPr id="1358" name="Google Shape;1358;p43"/>
          <p:cNvSpPr txBox="1"/>
          <p:nvPr/>
        </p:nvSpPr>
        <p:spPr>
          <a:xfrm>
            <a:off x="571500" y="381000"/>
            <a:ext cx="11601450" cy="37147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2400" u="none" cap="none" strike="noStrike">
                <a:solidFill>
                  <a:srgbClr val="0F172A"/>
                </a:solidFill>
                <a:latin typeface="Plus Jakarta Sans ExtraBold"/>
                <a:ea typeface="Plus Jakarta Sans ExtraBold"/>
                <a:cs typeface="Plus Jakarta Sans ExtraBold"/>
                <a:sym typeface="Plus Jakarta Sans ExtraBold"/>
              </a:rPr>
              <a:t>Critical Anti-Patterns</a:t>
            </a:r>
            <a:endParaRPr/>
          </a:p>
        </p:txBody>
      </p:sp>
      <p:sp>
        <p:nvSpPr>
          <p:cNvPr id="1359" name="Google Shape;1359;p43"/>
          <p:cNvSpPr/>
          <p:nvPr/>
        </p:nvSpPr>
        <p:spPr>
          <a:xfrm>
            <a:off x="571500" y="847725"/>
            <a:ext cx="11049000" cy="19050"/>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363" name="Shape 1363"/>
        <p:cNvGrpSpPr/>
        <p:nvPr/>
      </p:nvGrpSpPr>
      <p:grpSpPr>
        <a:xfrm>
          <a:off x="0" y="0"/>
          <a:ext cx="0" cy="0"/>
          <a:chOff x="0" y="0"/>
          <a:chExt cx="0" cy="0"/>
        </a:xfrm>
      </p:grpSpPr>
      <p:grpSp>
        <p:nvGrpSpPr>
          <p:cNvPr id="1364" name="Google Shape;1364;p44"/>
          <p:cNvGrpSpPr/>
          <p:nvPr/>
        </p:nvGrpSpPr>
        <p:grpSpPr>
          <a:xfrm>
            <a:off x="571500" y="1238250"/>
            <a:ext cx="11049150" cy="2857500"/>
            <a:chOff x="571500" y="1238250"/>
            <a:chExt cx="11049150" cy="2857500"/>
          </a:xfrm>
        </p:grpSpPr>
        <p:grpSp>
          <p:nvGrpSpPr>
            <p:cNvPr id="1365" name="Google Shape;1365;p44"/>
            <p:cNvGrpSpPr/>
            <p:nvPr/>
          </p:nvGrpSpPr>
          <p:grpSpPr>
            <a:xfrm>
              <a:off x="571500" y="1238250"/>
              <a:ext cx="3486300" cy="2857500"/>
              <a:chOff x="0" y="0"/>
              <a:chExt cx="3486300" cy="2857500"/>
            </a:xfrm>
          </p:grpSpPr>
          <p:sp>
            <p:nvSpPr>
              <p:cNvPr id="1366" name="Google Shape;1366;p44"/>
              <p:cNvSpPr/>
              <p:nvPr/>
            </p:nvSpPr>
            <p:spPr>
              <a:xfrm>
                <a:off x="0" y="0"/>
                <a:ext cx="3486300" cy="2857500"/>
              </a:xfrm>
              <a:prstGeom prst="roundRect">
                <a:avLst>
                  <a:gd fmla="val 4000"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67" name="Google Shape;1367;p44"/>
              <p:cNvSpPr/>
              <p:nvPr/>
            </p:nvSpPr>
            <p:spPr>
              <a:xfrm>
                <a:off x="0" y="0"/>
                <a:ext cx="3486300" cy="152400"/>
              </a:xfrm>
              <a:custGeom>
                <a:rect b="b" l="l" r="r" t="t"/>
                <a:pathLst>
                  <a:path extrusionOk="0" h="120000" w="120000">
                    <a:moveTo>
                      <a:pt x="0" y="90000"/>
                    </a:moveTo>
                    <a:cubicBezTo>
                      <a:pt x="0" y="40275"/>
                      <a:pt x="1761" y="0"/>
                      <a:pt x="3934" y="0"/>
                    </a:cubicBezTo>
                    <a:lnTo>
                      <a:pt x="116066" y="0"/>
                    </a:lnTo>
                    <a:cubicBezTo>
                      <a:pt x="118239" y="0"/>
                      <a:pt x="120000" y="40275"/>
                      <a:pt x="120000" y="90000"/>
                    </a:cubicBezTo>
                    <a:lnTo>
                      <a:pt x="120000" y="120000"/>
                    </a:lnTo>
                    <a:lnTo>
                      <a:pt x="0" y="120000"/>
                    </a:lnTo>
                    <a:close/>
                  </a:path>
                </a:pathLst>
              </a:cu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68" name="Google Shape;1368;p44"/>
              <p:cNvSpPr txBox="1"/>
              <p:nvPr/>
            </p:nvSpPr>
            <p:spPr>
              <a:xfrm>
                <a:off x="228600" y="381000"/>
                <a:ext cx="3029100" cy="2247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sz="2800">
                    <a:solidFill>
                      <a:srgbClr val="2563EB"/>
                    </a:solidFill>
                    <a:latin typeface="Material Icons"/>
                    <a:ea typeface="Material Icons"/>
                    <a:cs typeface="Material Icons"/>
                    <a:sym typeface="Material Icons"/>
                  </a:rPr>
                  <a:t>smart_toy</a:t>
                </a:r>
                <a:endParaRPr sz="2800">
                  <a:solidFill>
                    <a:srgbClr val="2563EB"/>
                  </a:solidFill>
                  <a:latin typeface="Material Icons"/>
                  <a:ea typeface="Material Icons"/>
                  <a:cs typeface="Material Icons"/>
                  <a:sym typeface="Material Icons"/>
                </a:endParaRPr>
              </a:p>
              <a:p>
                <a:pPr indent="0" lvl="0" marL="0" rtl="0" algn="l">
                  <a:spcBef>
                    <a:spcPts val="900"/>
                  </a:spcBef>
                  <a:spcAft>
                    <a:spcPts val="0"/>
                  </a:spcAft>
                  <a:buNone/>
                </a:pPr>
                <a:r>
                  <a:rPr b="0" lang="en-US" sz="1500">
                    <a:solidFill>
                      <a:srgbClr val="0F172A"/>
                    </a:solidFill>
                    <a:latin typeface="Plus Jakarta Sans ExtraBold"/>
                    <a:ea typeface="Plus Jakarta Sans ExtraBold"/>
                    <a:cs typeface="Plus Jakarta Sans ExtraBold"/>
                    <a:sym typeface="Plus Jakarta Sans ExtraBold"/>
                  </a:rPr>
                  <a:t>Agent, Not Copilot</a:t>
                </a:r>
                <a:endParaRPr b="0" sz="1500">
                  <a:solidFill>
                    <a:srgbClr val="0F172A"/>
                  </a:solidFill>
                  <a:latin typeface="Plus Jakarta Sans ExtraBold"/>
                  <a:ea typeface="Plus Jakarta Sans ExtraBold"/>
                  <a:cs typeface="Plus Jakarta Sans ExtraBold"/>
                  <a:sym typeface="Plus Jakarta Sans ExtraBold"/>
                </a:endParaRPr>
              </a:p>
              <a:p>
                <a:pPr indent="0" lvl="0" marL="0" rtl="0" algn="l">
                  <a:spcBef>
                    <a:spcPts val="750"/>
                  </a:spcBef>
                  <a:spcAft>
                    <a:spcPts val="0"/>
                  </a:spcAft>
                  <a:buNone/>
                </a:pPr>
                <a:r>
                  <a:rPr b="0" lang="en-US" sz="1050">
                    <a:solidFill>
                      <a:srgbClr val="475569"/>
                    </a:solidFill>
                    <a:latin typeface="Plus Jakarta Sans"/>
                    <a:ea typeface="Plus Jakarta Sans"/>
                    <a:cs typeface="Plus Jakarta Sans"/>
                    <a:sym typeface="Plus Jakarta Sans"/>
                  </a:rPr>
                  <a:t>Mental model shift: Devin behaves as an active developer inside a secure VM, not an inline autocomplete tool. Task scoping is critical.</a:t>
                </a:r>
                <a:endParaRPr b="0" sz="1050">
                  <a:solidFill>
                    <a:srgbClr val="475569"/>
                  </a:solidFill>
                  <a:latin typeface="Plus Jakarta Sans"/>
                  <a:ea typeface="Plus Jakarta Sans"/>
                  <a:cs typeface="Plus Jakarta Sans"/>
                  <a:sym typeface="Plus Jakarta Sans"/>
                </a:endParaRPr>
              </a:p>
            </p:txBody>
          </p:sp>
        </p:grpSp>
        <p:grpSp>
          <p:nvGrpSpPr>
            <p:cNvPr id="1369" name="Google Shape;1369;p44"/>
            <p:cNvGrpSpPr/>
            <p:nvPr/>
          </p:nvGrpSpPr>
          <p:grpSpPr>
            <a:xfrm>
              <a:off x="4352925" y="1238250"/>
              <a:ext cx="3486300" cy="2857500"/>
              <a:chOff x="0" y="0"/>
              <a:chExt cx="3486300" cy="2857500"/>
            </a:xfrm>
          </p:grpSpPr>
          <p:sp>
            <p:nvSpPr>
              <p:cNvPr id="1370" name="Google Shape;1370;p44"/>
              <p:cNvSpPr/>
              <p:nvPr/>
            </p:nvSpPr>
            <p:spPr>
              <a:xfrm>
                <a:off x="0" y="0"/>
                <a:ext cx="3486300" cy="2857500"/>
              </a:xfrm>
              <a:prstGeom prst="roundRect">
                <a:avLst>
                  <a:gd fmla="val 4000"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71" name="Google Shape;1371;p44"/>
              <p:cNvSpPr/>
              <p:nvPr/>
            </p:nvSpPr>
            <p:spPr>
              <a:xfrm>
                <a:off x="0" y="0"/>
                <a:ext cx="3486300" cy="152400"/>
              </a:xfrm>
              <a:custGeom>
                <a:rect b="b" l="l" r="r" t="t"/>
                <a:pathLst>
                  <a:path extrusionOk="0" h="120000" w="120000">
                    <a:moveTo>
                      <a:pt x="0" y="90000"/>
                    </a:moveTo>
                    <a:cubicBezTo>
                      <a:pt x="0" y="40275"/>
                      <a:pt x="1761" y="0"/>
                      <a:pt x="3934" y="0"/>
                    </a:cubicBezTo>
                    <a:lnTo>
                      <a:pt x="116066" y="0"/>
                    </a:lnTo>
                    <a:cubicBezTo>
                      <a:pt x="118239" y="0"/>
                      <a:pt x="120000" y="40275"/>
                      <a:pt x="120000" y="90000"/>
                    </a:cubicBezTo>
                    <a:lnTo>
                      <a:pt x="120000" y="120000"/>
                    </a:lnTo>
                    <a:lnTo>
                      <a:pt x="0" y="120000"/>
                    </a:lnTo>
                    <a:close/>
                  </a:path>
                </a:pathLst>
              </a:custGeom>
              <a:solidFill>
                <a:srgbClr val="7C3AED"/>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72" name="Google Shape;1372;p44"/>
              <p:cNvSpPr txBox="1"/>
              <p:nvPr/>
            </p:nvSpPr>
            <p:spPr>
              <a:xfrm>
                <a:off x="228600" y="381000"/>
                <a:ext cx="3029100" cy="2247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sz="2800">
                    <a:solidFill>
                      <a:srgbClr val="7C3AED"/>
                    </a:solidFill>
                    <a:latin typeface="Material Icons"/>
                    <a:ea typeface="Material Icons"/>
                    <a:cs typeface="Material Icons"/>
                    <a:sym typeface="Material Icons"/>
                  </a:rPr>
                  <a:t>layers</a:t>
                </a:r>
                <a:endParaRPr sz="2800">
                  <a:solidFill>
                    <a:srgbClr val="7C3AED"/>
                  </a:solidFill>
                  <a:latin typeface="Material Icons"/>
                  <a:ea typeface="Material Icons"/>
                  <a:cs typeface="Material Icons"/>
                  <a:sym typeface="Material Icons"/>
                </a:endParaRPr>
              </a:p>
              <a:p>
                <a:pPr indent="0" lvl="0" marL="0" rtl="0" algn="l">
                  <a:spcBef>
                    <a:spcPts val="900"/>
                  </a:spcBef>
                  <a:spcAft>
                    <a:spcPts val="0"/>
                  </a:spcAft>
                  <a:buNone/>
                </a:pPr>
                <a:r>
                  <a:rPr b="0" lang="en-US" sz="1500">
                    <a:solidFill>
                      <a:srgbClr val="0F172A"/>
                    </a:solidFill>
                    <a:latin typeface="Plus Jakarta Sans ExtraBold"/>
                    <a:ea typeface="Plus Jakarta Sans ExtraBold"/>
                    <a:cs typeface="Plus Jakarta Sans ExtraBold"/>
                    <a:sym typeface="Plus Jakarta Sans ExtraBold"/>
                  </a:rPr>
                  <a:t>Snapshot Pre-Bakes</a:t>
                </a:r>
                <a:endParaRPr b="0" sz="1500">
                  <a:solidFill>
                    <a:srgbClr val="0F172A"/>
                  </a:solidFill>
                  <a:latin typeface="Plus Jakarta Sans ExtraBold"/>
                  <a:ea typeface="Plus Jakarta Sans ExtraBold"/>
                  <a:cs typeface="Plus Jakarta Sans ExtraBold"/>
                  <a:sym typeface="Plus Jakarta Sans ExtraBold"/>
                </a:endParaRPr>
              </a:p>
              <a:p>
                <a:pPr indent="0" lvl="0" marL="0" rtl="0" algn="l">
                  <a:spcBef>
                    <a:spcPts val="750"/>
                  </a:spcBef>
                  <a:spcAft>
                    <a:spcPts val="0"/>
                  </a:spcAft>
                  <a:buNone/>
                </a:pPr>
                <a:r>
                  <a:rPr b="0" lang="en-US" sz="1050">
                    <a:solidFill>
                      <a:srgbClr val="475569"/>
                    </a:solidFill>
                    <a:latin typeface="Plus Jakarta Sans"/>
                    <a:ea typeface="Plus Jakarta Sans"/>
                    <a:cs typeface="Plus Jakarta Sans"/>
                    <a:sym typeface="Plus Jakarta Sans"/>
                  </a:rPr>
                  <a:t>Environment tuning is everything. Custom blueprints and pre-compiled snapshots represent the single highest-leverage improvement.</a:t>
                </a:r>
                <a:endParaRPr b="0" sz="1050">
                  <a:solidFill>
                    <a:srgbClr val="475569"/>
                  </a:solidFill>
                  <a:latin typeface="Plus Jakarta Sans"/>
                  <a:ea typeface="Plus Jakarta Sans"/>
                  <a:cs typeface="Plus Jakarta Sans"/>
                  <a:sym typeface="Plus Jakarta Sans"/>
                </a:endParaRPr>
              </a:p>
            </p:txBody>
          </p:sp>
        </p:grpSp>
        <p:grpSp>
          <p:nvGrpSpPr>
            <p:cNvPr id="1373" name="Google Shape;1373;p44"/>
            <p:cNvGrpSpPr/>
            <p:nvPr/>
          </p:nvGrpSpPr>
          <p:grpSpPr>
            <a:xfrm>
              <a:off x="8134350" y="1238250"/>
              <a:ext cx="3486300" cy="2857500"/>
              <a:chOff x="0" y="0"/>
              <a:chExt cx="3486300" cy="2857500"/>
            </a:xfrm>
          </p:grpSpPr>
          <p:sp>
            <p:nvSpPr>
              <p:cNvPr id="1374" name="Google Shape;1374;p44"/>
              <p:cNvSpPr/>
              <p:nvPr/>
            </p:nvSpPr>
            <p:spPr>
              <a:xfrm>
                <a:off x="0" y="0"/>
                <a:ext cx="3486300" cy="2857500"/>
              </a:xfrm>
              <a:prstGeom prst="roundRect">
                <a:avLst>
                  <a:gd fmla="val 4000"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75" name="Google Shape;1375;p44"/>
              <p:cNvSpPr/>
              <p:nvPr/>
            </p:nvSpPr>
            <p:spPr>
              <a:xfrm>
                <a:off x="0" y="0"/>
                <a:ext cx="3486300" cy="152400"/>
              </a:xfrm>
              <a:custGeom>
                <a:rect b="b" l="l" r="r" t="t"/>
                <a:pathLst>
                  <a:path extrusionOk="0" h="120000" w="120000">
                    <a:moveTo>
                      <a:pt x="0" y="90000"/>
                    </a:moveTo>
                    <a:cubicBezTo>
                      <a:pt x="0" y="40275"/>
                      <a:pt x="1761" y="0"/>
                      <a:pt x="3934" y="0"/>
                    </a:cubicBezTo>
                    <a:lnTo>
                      <a:pt x="116066" y="0"/>
                    </a:lnTo>
                    <a:cubicBezTo>
                      <a:pt x="118239" y="0"/>
                      <a:pt x="120000" y="40275"/>
                      <a:pt x="120000" y="90000"/>
                    </a:cubicBezTo>
                    <a:lnTo>
                      <a:pt x="120000" y="120000"/>
                    </a:lnTo>
                    <a:lnTo>
                      <a:pt x="0" y="120000"/>
                    </a:lnTo>
                    <a:close/>
                  </a:path>
                </a:pathLst>
              </a:custGeom>
              <a:solidFill>
                <a:srgbClr val="0D948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76" name="Google Shape;1376;p44"/>
              <p:cNvSpPr txBox="1"/>
              <p:nvPr/>
            </p:nvSpPr>
            <p:spPr>
              <a:xfrm>
                <a:off x="228600" y="381000"/>
                <a:ext cx="3029100" cy="2247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sz="2800">
                    <a:solidFill>
                      <a:srgbClr val="0D9488"/>
                    </a:solidFill>
                    <a:latin typeface="Material Icons"/>
                    <a:ea typeface="Material Icons"/>
                    <a:cs typeface="Material Icons"/>
                    <a:sym typeface="Material Icons"/>
                  </a:rPr>
                  <a:t>psychology</a:t>
                </a:r>
                <a:endParaRPr sz="2800">
                  <a:solidFill>
                    <a:srgbClr val="0D9488"/>
                  </a:solidFill>
                  <a:latin typeface="Material Icons"/>
                  <a:ea typeface="Material Icons"/>
                  <a:cs typeface="Material Icons"/>
                  <a:sym typeface="Material Icons"/>
                </a:endParaRPr>
              </a:p>
              <a:p>
                <a:pPr indent="0" lvl="0" marL="0" rtl="0" algn="l">
                  <a:spcBef>
                    <a:spcPts val="900"/>
                  </a:spcBef>
                  <a:spcAft>
                    <a:spcPts val="0"/>
                  </a:spcAft>
                  <a:buNone/>
                </a:pPr>
                <a:r>
                  <a:rPr b="0" lang="en-US" sz="1500">
                    <a:solidFill>
                      <a:srgbClr val="0F172A"/>
                    </a:solidFill>
                    <a:latin typeface="Plus Jakarta Sans ExtraBold"/>
                    <a:ea typeface="Plus Jakarta Sans ExtraBold"/>
                    <a:cs typeface="Plus Jakarta Sans ExtraBold"/>
                    <a:sym typeface="Plus Jakarta Sans ExtraBold"/>
                  </a:rPr>
                  <a:t>Memory Compounds</a:t>
                </a:r>
                <a:endParaRPr b="0" sz="1500">
                  <a:solidFill>
                    <a:srgbClr val="0F172A"/>
                  </a:solidFill>
                  <a:latin typeface="Plus Jakarta Sans ExtraBold"/>
                  <a:ea typeface="Plus Jakarta Sans ExtraBold"/>
                  <a:cs typeface="Plus Jakarta Sans ExtraBold"/>
                  <a:sym typeface="Plus Jakarta Sans ExtraBold"/>
                </a:endParaRPr>
              </a:p>
              <a:p>
                <a:pPr indent="0" lvl="0" marL="0" rtl="0" algn="l">
                  <a:spcBef>
                    <a:spcPts val="750"/>
                  </a:spcBef>
                  <a:spcAft>
                    <a:spcPts val="0"/>
                  </a:spcAft>
                  <a:buNone/>
                </a:pPr>
                <a:r>
                  <a:rPr b="0" lang="en-US" sz="1050">
                    <a:solidFill>
                      <a:srgbClr val="475569"/>
                    </a:solidFill>
                    <a:latin typeface="Plus Jakarta Sans"/>
                    <a:ea typeface="Plus Jakarta Sans"/>
                    <a:cs typeface="Plus Jakarta Sans"/>
                    <a:sym typeface="Plus Jakarta Sans"/>
                  </a:rPr>
                  <a:t>Persistent organization Knowledge, repository Skills, and Playbooks scale performance over time, transforming Devin into an institutional asset.</a:t>
                </a:r>
                <a:endParaRPr b="0" sz="1050">
                  <a:solidFill>
                    <a:srgbClr val="475569"/>
                  </a:solidFill>
                  <a:latin typeface="Plus Jakarta Sans"/>
                  <a:ea typeface="Plus Jakarta Sans"/>
                  <a:cs typeface="Plus Jakarta Sans"/>
                  <a:sym typeface="Plus Jakarta Sans"/>
                </a:endParaRPr>
              </a:p>
            </p:txBody>
          </p:sp>
        </p:grpSp>
      </p:grpSp>
      <p:grpSp>
        <p:nvGrpSpPr>
          <p:cNvPr id="1377" name="Google Shape;1377;p44"/>
          <p:cNvGrpSpPr/>
          <p:nvPr/>
        </p:nvGrpSpPr>
        <p:grpSpPr>
          <a:xfrm>
            <a:off x="571500" y="4381500"/>
            <a:ext cx="11049075" cy="1809600"/>
            <a:chOff x="571500" y="4381500"/>
            <a:chExt cx="11049075" cy="1809600"/>
          </a:xfrm>
        </p:grpSpPr>
        <p:grpSp>
          <p:nvGrpSpPr>
            <p:cNvPr id="1378" name="Google Shape;1378;p44"/>
            <p:cNvGrpSpPr/>
            <p:nvPr/>
          </p:nvGrpSpPr>
          <p:grpSpPr>
            <a:xfrm>
              <a:off x="571500" y="4381500"/>
              <a:ext cx="5381700" cy="1809600"/>
              <a:chOff x="0" y="0"/>
              <a:chExt cx="5381700" cy="1809600"/>
            </a:xfrm>
          </p:grpSpPr>
          <p:sp>
            <p:nvSpPr>
              <p:cNvPr id="1379" name="Google Shape;1379;p44"/>
              <p:cNvSpPr/>
              <p:nvPr/>
            </p:nvSpPr>
            <p:spPr>
              <a:xfrm>
                <a:off x="0" y="0"/>
                <a:ext cx="5381700" cy="1809600"/>
              </a:xfrm>
              <a:prstGeom prst="roundRect">
                <a:avLst>
                  <a:gd fmla="val 421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80" name="Google Shape;1380;p44"/>
              <p:cNvSpPr/>
              <p:nvPr/>
            </p:nvSpPr>
            <p:spPr>
              <a:xfrm>
                <a:off x="0" y="0"/>
                <a:ext cx="57300" cy="1809600"/>
              </a:xfrm>
              <a:prstGeom prst="roundRect">
                <a:avLst>
                  <a:gd fmla="val 5000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81" name="Google Shape;1381;p44"/>
              <p:cNvSpPr txBox="1"/>
              <p:nvPr/>
            </p:nvSpPr>
            <p:spPr>
              <a:xfrm>
                <a:off x="228600" y="190500"/>
                <a:ext cx="4924500" cy="1428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850">
                    <a:solidFill>
                      <a:srgbClr val="2563EB"/>
                    </a:solidFill>
                    <a:latin typeface="JetBrains Mono ExtraBold"/>
                    <a:ea typeface="JetBrains Mono ExtraBold"/>
                    <a:cs typeface="JetBrains Mono ExtraBold"/>
                    <a:sym typeface="JetBrains Mono ExtraBold"/>
                  </a:rPr>
                  <a:t>AUTOMATION &amp; SCALING</a:t>
                </a:r>
                <a:endParaRPr b="0" sz="850">
                  <a:solidFill>
                    <a:srgbClr val="2563EB"/>
                  </a:solidFill>
                  <a:latin typeface="JetBrains Mono ExtraBold"/>
                  <a:ea typeface="JetBrains Mono ExtraBold"/>
                  <a:cs typeface="JetBrains Mono ExtraBold"/>
                  <a:sym typeface="JetBrains Mono ExtraBold"/>
                </a:endParaRPr>
              </a:p>
              <a:p>
                <a:pPr indent="0" lvl="0" marL="0" rtl="0" algn="l">
                  <a:spcBef>
                    <a:spcPts val="600"/>
                  </a:spcBef>
                  <a:spcAft>
                    <a:spcPts val="0"/>
                  </a:spcAft>
                  <a:buNone/>
                </a:pPr>
                <a:r>
                  <a:rPr b="0" lang="en-US" sz="1100">
                    <a:solidFill>
                      <a:srgbClr val="475569"/>
                    </a:solidFill>
                    <a:latin typeface="Plus Jakarta Sans"/>
                    <a:ea typeface="Plus Jakarta Sans"/>
                    <a:cs typeface="Plus Jakarta Sans"/>
                    <a:sym typeface="Plus Jakarta Sans"/>
                  </a:rPr>
                  <a:t>Event-driven triggers operate 24/7 without manual run tasks. Spawning parallel child sessions converts weeks of migration sweeps into hours.</a:t>
                </a:r>
                <a:endParaRPr b="0" sz="1100">
                  <a:solidFill>
                    <a:srgbClr val="475569"/>
                  </a:solidFill>
                  <a:latin typeface="Plus Jakarta Sans"/>
                  <a:ea typeface="Plus Jakarta Sans"/>
                  <a:cs typeface="Plus Jakarta Sans"/>
                  <a:sym typeface="Plus Jakarta Sans"/>
                </a:endParaRPr>
              </a:p>
            </p:txBody>
          </p:sp>
        </p:grpSp>
        <p:grpSp>
          <p:nvGrpSpPr>
            <p:cNvPr id="1382" name="Google Shape;1382;p44"/>
            <p:cNvGrpSpPr/>
            <p:nvPr/>
          </p:nvGrpSpPr>
          <p:grpSpPr>
            <a:xfrm>
              <a:off x="6238875" y="4381500"/>
              <a:ext cx="5381700" cy="1809600"/>
              <a:chOff x="0" y="0"/>
              <a:chExt cx="5381700" cy="1809600"/>
            </a:xfrm>
          </p:grpSpPr>
          <p:sp>
            <p:nvSpPr>
              <p:cNvPr id="1383" name="Google Shape;1383;p44"/>
              <p:cNvSpPr/>
              <p:nvPr/>
            </p:nvSpPr>
            <p:spPr>
              <a:xfrm>
                <a:off x="0" y="0"/>
                <a:ext cx="5381700" cy="1809600"/>
              </a:xfrm>
              <a:prstGeom prst="roundRect">
                <a:avLst>
                  <a:gd fmla="val 421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84" name="Google Shape;1384;p44"/>
              <p:cNvSpPr/>
              <p:nvPr/>
            </p:nvSpPr>
            <p:spPr>
              <a:xfrm>
                <a:off x="0" y="0"/>
                <a:ext cx="57300" cy="1809600"/>
              </a:xfrm>
              <a:prstGeom prst="roundRect">
                <a:avLst>
                  <a:gd fmla="val 50000" name="adj"/>
                </a:avLst>
              </a:prstGeom>
              <a:solidFill>
                <a:srgbClr val="0D948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85" name="Google Shape;1385;p44"/>
              <p:cNvSpPr txBox="1"/>
              <p:nvPr/>
            </p:nvSpPr>
            <p:spPr>
              <a:xfrm>
                <a:off x="228600" y="190500"/>
                <a:ext cx="4924500" cy="1428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850">
                    <a:solidFill>
                      <a:srgbClr val="0D9488"/>
                    </a:solidFill>
                    <a:latin typeface="JetBrains Mono ExtraBold"/>
                    <a:ea typeface="JetBrains Mono ExtraBold"/>
                    <a:cs typeface="JetBrains Mono ExtraBold"/>
                    <a:sym typeface="JetBrains Mono ExtraBold"/>
                  </a:rPr>
                  <a:t>ENTERPRISE SECURITY</a:t>
                </a:r>
                <a:endParaRPr b="0" sz="850">
                  <a:solidFill>
                    <a:srgbClr val="0D9488"/>
                  </a:solidFill>
                  <a:latin typeface="JetBrains Mono ExtraBold"/>
                  <a:ea typeface="JetBrains Mono ExtraBold"/>
                  <a:cs typeface="JetBrains Mono ExtraBold"/>
                  <a:sym typeface="JetBrains Mono ExtraBold"/>
                </a:endParaRPr>
              </a:p>
              <a:p>
                <a:pPr indent="0" lvl="0" marL="0" rtl="0" algn="l">
                  <a:spcBef>
                    <a:spcPts val="600"/>
                  </a:spcBef>
                  <a:spcAft>
                    <a:spcPts val="0"/>
                  </a:spcAft>
                  <a:buNone/>
                </a:pPr>
                <a:r>
                  <a:rPr b="0" lang="en-US" sz="1100">
                    <a:solidFill>
                      <a:srgbClr val="475569"/>
                    </a:solidFill>
                    <a:latin typeface="Plus Jakarta Sans"/>
                    <a:ea typeface="Plus Jakarta Sans"/>
                    <a:cs typeface="Plus Jakarta Sans"/>
                    <a:sym typeface="Plus Jakarta Sans"/>
                  </a:rPr>
                  <a:t>SSO connections, RBAC customized roles, and IP Access filters provide secure environment compliance. Human review remains essential.</a:t>
                </a:r>
                <a:endParaRPr b="0" sz="1100">
                  <a:solidFill>
                    <a:srgbClr val="475569"/>
                  </a:solidFill>
                  <a:latin typeface="Plus Jakarta Sans"/>
                  <a:ea typeface="Plus Jakarta Sans"/>
                  <a:cs typeface="Plus Jakarta Sans"/>
                  <a:sym typeface="Plus Jakarta Sans"/>
                </a:endParaRPr>
              </a:p>
            </p:txBody>
          </p:sp>
        </p:grpSp>
      </p:grpSp>
      <p:sp>
        <p:nvSpPr>
          <p:cNvPr id="1386" name="Google Shape;1386;p44"/>
          <p:cNvSpPr txBox="1"/>
          <p:nvPr/>
        </p:nvSpPr>
        <p:spPr>
          <a:xfrm>
            <a:off x="571500" y="381000"/>
            <a:ext cx="11601600" cy="3693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2400" u="none" cap="none" strike="noStrike">
                <a:solidFill>
                  <a:srgbClr val="0F172A"/>
                </a:solidFill>
                <a:latin typeface="Plus Jakarta Sans ExtraBold"/>
                <a:ea typeface="Plus Jakarta Sans ExtraBold"/>
                <a:cs typeface="Plus Jakarta Sans ExtraBold"/>
                <a:sym typeface="Plus Jakarta Sans ExtraBold"/>
              </a:rPr>
              <a:t>Key Takeaways</a:t>
            </a:r>
            <a:endParaRPr/>
          </a:p>
        </p:txBody>
      </p:sp>
      <p:sp>
        <p:nvSpPr>
          <p:cNvPr id="1387" name="Google Shape;1387;p44"/>
          <p:cNvSpPr/>
          <p:nvPr/>
        </p:nvSpPr>
        <p:spPr>
          <a:xfrm>
            <a:off x="571500" y="847725"/>
            <a:ext cx="11049000" cy="19200"/>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91" name="Shape 1391"/>
        <p:cNvGrpSpPr/>
        <p:nvPr/>
      </p:nvGrpSpPr>
      <p:grpSpPr>
        <a:xfrm>
          <a:off x="0" y="0"/>
          <a:ext cx="0" cy="0"/>
          <a:chOff x="0" y="0"/>
          <a:chExt cx="0" cy="0"/>
        </a:xfrm>
      </p:grpSpPr>
      <p:pic>
        <p:nvPicPr>
          <p:cNvPr descr="image.png" id="1392" name="Google Shape;1392;p45"/>
          <p:cNvPicPr preferRelativeResize="0"/>
          <p:nvPr/>
        </p:nvPicPr>
        <p:blipFill rotWithShape="1">
          <a:blip r:embed="rId3">
            <a:alphaModFix/>
          </a:blip>
          <a:srcRect b="0" l="0" r="0" t="0"/>
          <a:stretch/>
        </p:blipFill>
        <p:spPr>
          <a:xfrm>
            <a:off x="0" y="0"/>
            <a:ext cx="12192000" cy="6858000"/>
          </a:xfrm>
          <a:prstGeom prst="rect">
            <a:avLst/>
          </a:prstGeom>
          <a:noFill/>
          <a:ln>
            <a:noFill/>
          </a:ln>
        </p:spPr>
      </p:pic>
      <p:grpSp>
        <p:nvGrpSpPr>
          <p:cNvPr id="1393" name="Google Shape;1393;p45"/>
          <p:cNvGrpSpPr/>
          <p:nvPr/>
        </p:nvGrpSpPr>
        <p:grpSpPr>
          <a:xfrm>
            <a:off x="1790700" y="1447800"/>
            <a:ext cx="8610600" cy="152400"/>
            <a:chOff x="1790700" y="1447800"/>
            <a:chExt cx="8610600" cy="152400"/>
          </a:xfrm>
        </p:grpSpPr>
        <p:cxnSp>
          <p:nvCxnSpPr>
            <p:cNvPr id="1394" name="Google Shape;1394;p45"/>
            <p:cNvCxnSpPr/>
            <p:nvPr/>
          </p:nvCxnSpPr>
          <p:spPr>
            <a:xfrm>
              <a:off x="1866900" y="1524000"/>
              <a:ext cx="8458200" cy="0"/>
            </a:xfrm>
            <a:prstGeom prst="straightConnector1">
              <a:avLst/>
            </a:prstGeom>
            <a:solidFill>
              <a:srgbClr val="FFFFFF"/>
            </a:solidFill>
            <a:ln cap="flat" cmpd="sng" w="28575">
              <a:solidFill>
                <a:srgbClr val="E2E8F0"/>
              </a:solidFill>
              <a:prstDash val="solid"/>
              <a:round/>
              <a:headEnd len="sm" w="sm" type="none"/>
              <a:tailEnd len="sm" w="sm" type="none"/>
            </a:ln>
          </p:spPr>
        </p:cxnSp>
        <p:sp>
          <p:nvSpPr>
            <p:cNvPr id="1395" name="Google Shape;1395;p45"/>
            <p:cNvSpPr/>
            <p:nvPr/>
          </p:nvSpPr>
          <p:spPr>
            <a:xfrm>
              <a:off x="1790700" y="1447800"/>
              <a:ext cx="152400" cy="152400"/>
            </a:xfrm>
            <a:prstGeom prst="ellipse">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96" name="Google Shape;1396;p45"/>
            <p:cNvSpPr/>
            <p:nvPr/>
          </p:nvSpPr>
          <p:spPr>
            <a:xfrm>
              <a:off x="4610100" y="1447800"/>
              <a:ext cx="152400" cy="152400"/>
            </a:xfrm>
            <a:prstGeom prst="ellipse">
              <a:avLst/>
            </a:prstGeom>
            <a:solidFill>
              <a:srgbClr val="7C3AED"/>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97" name="Google Shape;1397;p45"/>
            <p:cNvSpPr/>
            <p:nvPr/>
          </p:nvSpPr>
          <p:spPr>
            <a:xfrm>
              <a:off x="7429500" y="1447800"/>
              <a:ext cx="152400" cy="152400"/>
            </a:xfrm>
            <a:prstGeom prst="ellipse">
              <a:avLst/>
            </a:prstGeom>
            <a:solidFill>
              <a:srgbClr val="4F46E5"/>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98" name="Google Shape;1398;p45"/>
            <p:cNvSpPr/>
            <p:nvPr/>
          </p:nvSpPr>
          <p:spPr>
            <a:xfrm>
              <a:off x="10248900" y="1447800"/>
              <a:ext cx="152400" cy="152400"/>
            </a:xfrm>
            <a:prstGeom prst="ellipse">
              <a:avLst/>
            </a:prstGeom>
            <a:solidFill>
              <a:srgbClr val="0D948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1399" name="Google Shape;1399;p45"/>
          <p:cNvGrpSpPr/>
          <p:nvPr/>
        </p:nvGrpSpPr>
        <p:grpSpPr>
          <a:xfrm>
            <a:off x="571500" y="1809750"/>
            <a:ext cx="2590800" cy="3619500"/>
            <a:chOff x="0" y="0"/>
            <a:chExt cx="2590800" cy="3619500"/>
          </a:xfrm>
        </p:grpSpPr>
        <p:sp>
          <p:nvSpPr>
            <p:cNvPr id="1400" name="Google Shape;1400;p45"/>
            <p:cNvSpPr/>
            <p:nvPr/>
          </p:nvSpPr>
          <p:spPr>
            <a:xfrm>
              <a:off x="0" y="0"/>
              <a:ext cx="2590800" cy="3619500"/>
            </a:xfrm>
            <a:prstGeom prst="roundRect">
              <a:avLst>
                <a:gd fmla="val 4411"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01" name="Google Shape;1401;p45"/>
            <p:cNvSpPr/>
            <p:nvPr/>
          </p:nvSpPr>
          <p:spPr>
            <a:xfrm>
              <a:off x="0" y="0"/>
              <a:ext cx="2590800" cy="57300"/>
            </a:xfrm>
            <a:prstGeom prst="roundRect">
              <a:avLst>
                <a:gd fmla="val 5000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02" name="Google Shape;1402;p45"/>
            <p:cNvSpPr txBox="1"/>
            <p:nvPr/>
          </p:nvSpPr>
          <p:spPr>
            <a:xfrm>
              <a:off x="0" y="57150"/>
              <a:ext cx="2590800" cy="3562200"/>
            </a:xfrm>
            <a:prstGeom prst="rect">
              <a:avLst/>
            </a:prstGeom>
            <a:noFill/>
            <a:ln>
              <a:noFill/>
            </a:ln>
          </p:spPr>
          <p:txBody>
            <a:bodyPr anchorCtr="0" anchor="t" bIns="228600" lIns="228600" spcFirstLastPara="1" rIns="228600" wrap="square" tIns="228600">
              <a:noAutofit/>
            </a:bodyPr>
            <a:lstStyle/>
            <a:p>
              <a:pPr indent="0" lvl="0" marL="0" rtl="0" algn="l">
                <a:spcBef>
                  <a:spcPts val="0"/>
                </a:spcBef>
                <a:spcAft>
                  <a:spcPts val="0"/>
                </a:spcAft>
                <a:buNone/>
              </a:pPr>
              <a:r>
                <a:rPr b="0" lang="en-US" sz="2800">
                  <a:solidFill>
                    <a:srgbClr val="2563EB"/>
                  </a:solidFill>
                  <a:latin typeface="Plus Jakarta Sans ExtraBold"/>
                  <a:ea typeface="Plus Jakarta Sans ExtraBold"/>
                  <a:cs typeface="Plus Jakarta Sans ExtraBold"/>
                  <a:sym typeface="Plus Jakarta Sans ExtraBold"/>
                </a:rPr>
                <a:t>01</a:t>
              </a:r>
              <a:endParaRPr b="0" sz="2800">
                <a:solidFill>
                  <a:srgbClr val="2563EB"/>
                </a:solidFill>
                <a:latin typeface="Plus Jakarta Sans ExtraBold"/>
                <a:ea typeface="Plus Jakarta Sans ExtraBold"/>
                <a:cs typeface="Plus Jakarta Sans ExtraBold"/>
                <a:sym typeface="Plus Jakarta Sans ExtraBold"/>
              </a:endParaRPr>
            </a:p>
            <a:p>
              <a:pPr indent="0" lvl="0" marL="0" rtl="0" algn="l">
                <a:spcBef>
                  <a:spcPts val="600"/>
                </a:spcBef>
                <a:spcAft>
                  <a:spcPts val="0"/>
                </a:spcAft>
                <a:buNone/>
              </a:pPr>
              <a:r>
                <a:rPr b="1" lang="en-US" sz="750">
                  <a:solidFill>
                    <a:srgbClr val="2563EB"/>
                  </a:solidFill>
                  <a:highlight>
                    <a:srgbClr val="EFF6FF"/>
                  </a:highlight>
                  <a:latin typeface="JetBrains Mono"/>
                  <a:ea typeface="JetBrains Mono"/>
                  <a:cs typeface="JetBrains Mono"/>
                  <a:sym typeface="JetBrains Mono"/>
                </a:rPr>
                <a:t>WEEKS 1 - 4</a:t>
              </a:r>
              <a:endParaRPr>
                <a:latin typeface="Plus Jakarta Sans"/>
                <a:ea typeface="Plus Jakarta Sans"/>
                <a:cs typeface="Plus Jakarta Sans"/>
                <a:sym typeface="Plus Jakarta Sans"/>
              </a:endParaRPr>
            </a:p>
            <a:p>
              <a:pPr indent="0" lvl="0" marL="0" rtl="0" algn="l">
                <a:spcBef>
                  <a:spcPts val="1500"/>
                </a:spcBef>
                <a:spcAft>
                  <a:spcPts val="0"/>
                </a:spcAft>
                <a:buNone/>
              </a:pPr>
              <a:r>
                <a:rPr b="0" lang="en-US" sz="1300">
                  <a:solidFill>
                    <a:srgbClr val="0F172A"/>
                  </a:solidFill>
                  <a:latin typeface="Plus Jakarta Sans ExtraBold"/>
                  <a:ea typeface="Plus Jakarta Sans ExtraBold"/>
                  <a:cs typeface="Plus Jakarta Sans ExtraBold"/>
                  <a:sym typeface="Plus Jakarta Sans ExtraBold"/>
                </a:rPr>
                <a:t>Foundation</a:t>
              </a:r>
              <a:endParaRPr b="0" sz="1300">
                <a:solidFill>
                  <a:srgbClr val="0F172A"/>
                </a:solidFill>
                <a:latin typeface="Plus Jakarta Sans ExtraBold"/>
                <a:ea typeface="Plus Jakarta Sans ExtraBold"/>
                <a:cs typeface="Plus Jakarta Sans ExtraBold"/>
                <a:sym typeface="Plus Jakarta Sans ExtraBold"/>
              </a:endParaRPr>
            </a:p>
            <a:p>
              <a:pPr indent="0" lvl="0" marL="0" rtl="0" algn="l">
                <a:spcBef>
                  <a:spcPts val="600"/>
                </a:spcBef>
                <a:spcAft>
                  <a:spcPts val="0"/>
                </a:spcAft>
                <a:buNone/>
              </a:pPr>
              <a:r>
                <a:rPr b="0" lang="en-US" sz="1000">
                  <a:solidFill>
                    <a:srgbClr val="475569"/>
                  </a:solidFill>
                  <a:latin typeface="Plus Jakarta Sans"/>
                  <a:ea typeface="Plus Jakarta Sans"/>
                  <a:cs typeface="Plus Jakarta Sans"/>
                  <a:sym typeface="Plus Jakarta Sans"/>
                </a:rPr>
                <a:t>Connect source control. Pre-bake environment snapshots. Deploy AGENTS.md rules. Run 2–5 pilot team devs.</a:t>
              </a:r>
              <a:endParaRPr b="0" sz="1000">
                <a:solidFill>
                  <a:srgbClr val="475569"/>
                </a:solidFill>
                <a:latin typeface="Plus Jakarta Sans"/>
                <a:ea typeface="Plus Jakarta Sans"/>
                <a:cs typeface="Plus Jakarta Sans"/>
                <a:sym typeface="Plus Jakarta Sans"/>
              </a:endParaRPr>
            </a:p>
          </p:txBody>
        </p:sp>
      </p:grpSp>
      <p:grpSp>
        <p:nvGrpSpPr>
          <p:cNvPr id="1403" name="Google Shape;1403;p45"/>
          <p:cNvGrpSpPr/>
          <p:nvPr/>
        </p:nvGrpSpPr>
        <p:grpSpPr>
          <a:xfrm>
            <a:off x="3390900" y="1809750"/>
            <a:ext cx="2590800" cy="3619500"/>
            <a:chOff x="0" y="0"/>
            <a:chExt cx="2590800" cy="3619500"/>
          </a:xfrm>
        </p:grpSpPr>
        <p:sp>
          <p:nvSpPr>
            <p:cNvPr id="1404" name="Google Shape;1404;p45"/>
            <p:cNvSpPr/>
            <p:nvPr/>
          </p:nvSpPr>
          <p:spPr>
            <a:xfrm>
              <a:off x="0" y="0"/>
              <a:ext cx="2590800" cy="3619500"/>
            </a:xfrm>
            <a:prstGeom prst="roundRect">
              <a:avLst>
                <a:gd fmla="val 4411"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05" name="Google Shape;1405;p45"/>
            <p:cNvSpPr/>
            <p:nvPr/>
          </p:nvSpPr>
          <p:spPr>
            <a:xfrm>
              <a:off x="0" y="0"/>
              <a:ext cx="2590800" cy="57300"/>
            </a:xfrm>
            <a:prstGeom prst="roundRect">
              <a:avLst>
                <a:gd fmla="val 50000" name="adj"/>
              </a:avLst>
            </a:prstGeom>
            <a:solidFill>
              <a:srgbClr val="7C3AED"/>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06" name="Google Shape;1406;p45"/>
            <p:cNvSpPr txBox="1"/>
            <p:nvPr/>
          </p:nvSpPr>
          <p:spPr>
            <a:xfrm>
              <a:off x="0" y="57150"/>
              <a:ext cx="2590800" cy="3562200"/>
            </a:xfrm>
            <a:prstGeom prst="rect">
              <a:avLst/>
            </a:prstGeom>
            <a:noFill/>
            <a:ln>
              <a:noFill/>
            </a:ln>
          </p:spPr>
          <p:txBody>
            <a:bodyPr anchorCtr="0" anchor="t" bIns="228600" lIns="228600" spcFirstLastPara="1" rIns="228600" wrap="square" tIns="228600">
              <a:noAutofit/>
            </a:bodyPr>
            <a:lstStyle/>
            <a:p>
              <a:pPr indent="0" lvl="0" marL="0" rtl="0" algn="l">
                <a:spcBef>
                  <a:spcPts val="0"/>
                </a:spcBef>
                <a:spcAft>
                  <a:spcPts val="0"/>
                </a:spcAft>
                <a:buNone/>
              </a:pPr>
              <a:r>
                <a:rPr b="0" lang="en-US" sz="2800">
                  <a:solidFill>
                    <a:srgbClr val="7C3AED"/>
                  </a:solidFill>
                  <a:latin typeface="Plus Jakarta Sans ExtraBold"/>
                  <a:ea typeface="Plus Jakarta Sans ExtraBold"/>
                  <a:cs typeface="Plus Jakarta Sans ExtraBold"/>
                  <a:sym typeface="Plus Jakarta Sans ExtraBold"/>
                </a:rPr>
                <a:t>02</a:t>
              </a:r>
              <a:endParaRPr b="0" sz="2800">
                <a:solidFill>
                  <a:srgbClr val="7C3AED"/>
                </a:solidFill>
                <a:latin typeface="Plus Jakarta Sans ExtraBold"/>
                <a:ea typeface="Plus Jakarta Sans ExtraBold"/>
                <a:cs typeface="Plus Jakarta Sans ExtraBold"/>
                <a:sym typeface="Plus Jakarta Sans ExtraBold"/>
              </a:endParaRPr>
            </a:p>
            <a:p>
              <a:pPr indent="0" lvl="0" marL="0" rtl="0" algn="l">
                <a:spcBef>
                  <a:spcPts val="600"/>
                </a:spcBef>
                <a:spcAft>
                  <a:spcPts val="0"/>
                </a:spcAft>
                <a:buNone/>
              </a:pPr>
              <a:r>
                <a:rPr b="1" lang="en-US" sz="750">
                  <a:solidFill>
                    <a:srgbClr val="7C3AED"/>
                  </a:solidFill>
                  <a:highlight>
                    <a:srgbClr val="F3E8FF"/>
                  </a:highlight>
                  <a:latin typeface="JetBrains Mono"/>
                  <a:ea typeface="JetBrains Mono"/>
                  <a:cs typeface="JetBrains Mono"/>
                  <a:sym typeface="JetBrains Mono"/>
                </a:rPr>
                <a:t>WEEKS 5 - 8</a:t>
              </a:r>
              <a:endParaRPr>
                <a:latin typeface="Plus Jakarta Sans"/>
                <a:ea typeface="Plus Jakarta Sans"/>
                <a:cs typeface="Plus Jakarta Sans"/>
                <a:sym typeface="Plus Jakarta Sans"/>
              </a:endParaRPr>
            </a:p>
            <a:p>
              <a:pPr indent="0" lvl="0" marL="0" rtl="0" algn="l">
                <a:spcBef>
                  <a:spcPts val="1500"/>
                </a:spcBef>
                <a:spcAft>
                  <a:spcPts val="0"/>
                </a:spcAft>
                <a:buNone/>
              </a:pPr>
              <a:r>
                <a:rPr b="0" lang="en-US" sz="1300">
                  <a:solidFill>
                    <a:srgbClr val="0F172A"/>
                  </a:solidFill>
                  <a:latin typeface="Plus Jakarta Sans ExtraBold"/>
                  <a:ea typeface="Plus Jakarta Sans ExtraBold"/>
                  <a:cs typeface="Plus Jakarta Sans ExtraBold"/>
                  <a:sym typeface="Plus Jakarta Sans ExtraBold"/>
                </a:rPr>
                <a:t>Workflow Integration</a:t>
              </a:r>
              <a:endParaRPr b="0" sz="1300">
                <a:solidFill>
                  <a:srgbClr val="0F172A"/>
                </a:solidFill>
                <a:latin typeface="Plus Jakarta Sans ExtraBold"/>
                <a:ea typeface="Plus Jakarta Sans ExtraBold"/>
                <a:cs typeface="Plus Jakarta Sans ExtraBold"/>
                <a:sym typeface="Plus Jakarta Sans ExtraBold"/>
              </a:endParaRPr>
            </a:p>
            <a:p>
              <a:pPr indent="0" lvl="0" marL="0" rtl="0" algn="l">
                <a:spcBef>
                  <a:spcPts val="600"/>
                </a:spcBef>
                <a:spcAft>
                  <a:spcPts val="0"/>
                </a:spcAft>
                <a:buNone/>
              </a:pPr>
              <a:r>
                <a:rPr b="0" lang="en-US" sz="1000">
                  <a:solidFill>
                    <a:srgbClr val="475569"/>
                  </a:solidFill>
                  <a:latin typeface="Plus Jakarta Sans"/>
                  <a:ea typeface="Plus Jakarta Sans"/>
                  <a:cs typeface="Plus Jakarta Sans"/>
                  <a:sym typeface="Plus Jakarta Sans"/>
                </a:rPr>
                <a:t>Build task Playbooks. Setup automated CI check failure webhooks. Connect Datadog &amp; Sentry MCP triggers.</a:t>
              </a:r>
              <a:endParaRPr b="0" sz="1000">
                <a:solidFill>
                  <a:srgbClr val="475569"/>
                </a:solidFill>
                <a:latin typeface="Plus Jakarta Sans"/>
                <a:ea typeface="Plus Jakarta Sans"/>
                <a:cs typeface="Plus Jakarta Sans"/>
                <a:sym typeface="Plus Jakarta Sans"/>
              </a:endParaRPr>
            </a:p>
          </p:txBody>
        </p:sp>
      </p:grpSp>
      <p:grpSp>
        <p:nvGrpSpPr>
          <p:cNvPr id="1407" name="Google Shape;1407;p45"/>
          <p:cNvGrpSpPr/>
          <p:nvPr/>
        </p:nvGrpSpPr>
        <p:grpSpPr>
          <a:xfrm>
            <a:off x="6210300" y="1809750"/>
            <a:ext cx="2590800" cy="3619500"/>
            <a:chOff x="0" y="0"/>
            <a:chExt cx="2590800" cy="3619500"/>
          </a:xfrm>
        </p:grpSpPr>
        <p:sp>
          <p:nvSpPr>
            <p:cNvPr id="1408" name="Google Shape;1408;p45"/>
            <p:cNvSpPr/>
            <p:nvPr/>
          </p:nvSpPr>
          <p:spPr>
            <a:xfrm>
              <a:off x="0" y="0"/>
              <a:ext cx="2590800" cy="3619500"/>
            </a:xfrm>
            <a:prstGeom prst="roundRect">
              <a:avLst>
                <a:gd fmla="val 4411"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09" name="Google Shape;1409;p45"/>
            <p:cNvSpPr/>
            <p:nvPr/>
          </p:nvSpPr>
          <p:spPr>
            <a:xfrm>
              <a:off x="0" y="0"/>
              <a:ext cx="2590800" cy="57300"/>
            </a:xfrm>
            <a:prstGeom prst="roundRect">
              <a:avLst>
                <a:gd fmla="val 50000" name="adj"/>
              </a:avLst>
            </a:prstGeom>
            <a:solidFill>
              <a:srgbClr val="4F46E5"/>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10" name="Google Shape;1410;p45"/>
            <p:cNvSpPr txBox="1"/>
            <p:nvPr/>
          </p:nvSpPr>
          <p:spPr>
            <a:xfrm>
              <a:off x="0" y="57150"/>
              <a:ext cx="2590800" cy="3562200"/>
            </a:xfrm>
            <a:prstGeom prst="rect">
              <a:avLst/>
            </a:prstGeom>
            <a:noFill/>
            <a:ln>
              <a:noFill/>
            </a:ln>
          </p:spPr>
          <p:txBody>
            <a:bodyPr anchorCtr="0" anchor="t" bIns="228600" lIns="228600" spcFirstLastPara="1" rIns="228600" wrap="square" tIns="228600">
              <a:noAutofit/>
            </a:bodyPr>
            <a:lstStyle/>
            <a:p>
              <a:pPr indent="0" lvl="0" marL="0" rtl="0" algn="l">
                <a:spcBef>
                  <a:spcPts val="0"/>
                </a:spcBef>
                <a:spcAft>
                  <a:spcPts val="0"/>
                </a:spcAft>
                <a:buNone/>
              </a:pPr>
              <a:r>
                <a:rPr b="0" lang="en-US" sz="2800">
                  <a:solidFill>
                    <a:srgbClr val="4F46E5"/>
                  </a:solidFill>
                  <a:latin typeface="Plus Jakarta Sans ExtraBold"/>
                  <a:ea typeface="Plus Jakarta Sans ExtraBold"/>
                  <a:cs typeface="Plus Jakarta Sans ExtraBold"/>
                  <a:sym typeface="Plus Jakarta Sans ExtraBold"/>
                </a:rPr>
                <a:t>03</a:t>
              </a:r>
              <a:endParaRPr b="0" sz="2800">
                <a:solidFill>
                  <a:srgbClr val="4F46E5"/>
                </a:solidFill>
                <a:latin typeface="Plus Jakarta Sans ExtraBold"/>
                <a:ea typeface="Plus Jakarta Sans ExtraBold"/>
                <a:cs typeface="Plus Jakarta Sans ExtraBold"/>
                <a:sym typeface="Plus Jakarta Sans ExtraBold"/>
              </a:endParaRPr>
            </a:p>
            <a:p>
              <a:pPr indent="0" lvl="0" marL="0" rtl="0" algn="l">
                <a:spcBef>
                  <a:spcPts val="600"/>
                </a:spcBef>
                <a:spcAft>
                  <a:spcPts val="0"/>
                </a:spcAft>
                <a:buNone/>
              </a:pPr>
              <a:r>
                <a:rPr b="1" lang="en-US" sz="750">
                  <a:solidFill>
                    <a:srgbClr val="4F46E5"/>
                  </a:solidFill>
                  <a:highlight>
                    <a:srgbClr val="EEF2FF"/>
                  </a:highlight>
                  <a:latin typeface="JetBrains Mono"/>
                  <a:ea typeface="JetBrains Mono"/>
                  <a:cs typeface="JetBrains Mono"/>
                  <a:sym typeface="JetBrains Mono"/>
                </a:rPr>
                <a:t>WEEKS 9 - 16</a:t>
              </a:r>
              <a:endParaRPr>
                <a:latin typeface="Plus Jakarta Sans"/>
                <a:ea typeface="Plus Jakarta Sans"/>
                <a:cs typeface="Plus Jakarta Sans"/>
                <a:sym typeface="Plus Jakarta Sans"/>
              </a:endParaRPr>
            </a:p>
            <a:p>
              <a:pPr indent="0" lvl="0" marL="0" rtl="0" algn="l">
                <a:spcBef>
                  <a:spcPts val="1500"/>
                </a:spcBef>
                <a:spcAft>
                  <a:spcPts val="0"/>
                </a:spcAft>
                <a:buNone/>
              </a:pPr>
              <a:r>
                <a:rPr b="0" lang="en-US" sz="1300">
                  <a:solidFill>
                    <a:srgbClr val="0F172A"/>
                  </a:solidFill>
                  <a:latin typeface="Plus Jakarta Sans ExtraBold"/>
                  <a:ea typeface="Plus Jakarta Sans ExtraBold"/>
                  <a:cs typeface="Plus Jakarta Sans ExtraBold"/>
                  <a:sym typeface="Plus Jakarta Sans ExtraBold"/>
                </a:rPr>
                <a:t>Enterprise Rollout</a:t>
              </a:r>
              <a:endParaRPr b="0" sz="1300">
                <a:solidFill>
                  <a:srgbClr val="0F172A"/>
                </a:solidFill>
                <a:latin typeface="Plus Jakarta Sans ExtraBold"/>
                <a:ea typeface="Plus Jakarta Sans ExtraBold"/>
                <a:cs typeface="Plus Jakarta Sans ExtraBold"/>
                <a:sym typeface="Plus Jakarta Sans ExtraBold"/>
              </a:endParaRPr>
            </a:p>
            <a:p>
              <a:pPr indent="0" lvl="0" marL="0" rtl="0" algn="l">
                <a:spcBef>
                  <a:spcPts val="600"/>
                </a:spcBef>
                <a:spcAft>
                  <a:spcPts val="0"/>
                </a:spcAft>
                <a:buNone/>
              </a:pPr>
              <a:r>
                <a:rPr b="0" lang="en-US" sz="1000">
                  <a:solidFill>
                    <a:srgbClr val="475569"/>
                  </a:solidFill>
                  <a:latin typeface="Plus Jakarta Sans"/>
                  <a:ea typeface="Plus Jakarta Sans"/>
                  <a:cs typeface="Plus Jakarta Sans"/>
                  <a:sym typeface="Plus Jakarta Sans"/>
                </a:rPr>
                <a:t>Configure global Enterprise blueprints. Bind identity SSO groups. Establish ACU limits per organization.</a:t>
              </a:r>
              <a:endParaRPr b="0" sz="1000">
                <a:solidFill>
                  <a:srgbClr val="475569"/>
                </a:solidFill>
                <a:latin typeface="Plus Jakarta Sans"/>
                <a:ea typeface="Plus Jakarta Sans"/>
                <a:cs typeface="Plus Jakarta Sans"/>
                <a:sym typeface="Plus Jakarta Sans"/>
              </a:endParaRPr>
            </a:p>
          </p:txBody>
        </p:sp>
      </p:grpSp>
      <p:grpSp>
        <p:nvGrpSpPr>
          <p:cNvPr id="1411" name="Google Shape;1411;p45"/>
          <p:cNvGrpSpPr/>
          <p:nvPr/>
        </p:nvGrpSpPr>
        <p:grpSpPr>
          <a:xfrm>
            <a:off x="9029700" y="1809750"/>
            <a:ext cx="2590800" cy="3619500"/>
            <a:chOff x="0" y="0"/>
            <a:chExt cx="2590800" cy="3619500"/>
          </a:xfrm>
        </p:grpSpPr>
        <p:sp>
          <p:nvSpPr>
            <p:cNvPr id="1412" name="Google Shape;1412;p45"/>
            <p:cNvSpPr/>
            <p:nvPr/>
          </p:nvSpPr>
          <p:spPr>
            <a:xfrm>
              <a:off x="0" y="0"/>
              <a:ext cx="2590800" cy="3619500"/>
            </a:xfrm>
            <a:prstGeom prst="roundRect">
              <a:avLst>
                <a:gd fmla="val 4411"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13" name="Google Shape;1413;p45"/>
            <p:cNvSpPr/>
            <p:nvPr/>
          </p:nvSpPr>
          <p:spPr>
            <a:xfrm>
              <a:off x="0" y="0"/>
              <a:ext cx="2590800" cy="57300"/>
            </a:xfrm>
            <a:prstGeom prst="roundRect">
              <a:avLst>
                <a:gd fmla="val 50000" name="adj"/>
              </a:avLst>
            </a:prstGeom>
            <a:solidFill>
              <a:srgbClr val="0D948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14" name="Google Shape;1414;p45"/>
            <p:cNvSpPr txBox="1"/>
            <p:nvPr/>
          </p:nvSpPr>
          <p:spPr>
            <a:xfrm>
              <a:off x="0" y="57150"/>
              <a:ext cx="2590800" cy="3562200"/>
            </a:xfrm>
            <a:prstGeom prst="rect">
              <a:avLst/>
            </a:prstGeom>
            <a:noFill/>
            <a:ln>
              <a:noFill/>
            </a:ln>
          </p:spPr>
          <p:txBody>
            <a:bodyPr anchorCtr="0" anchor="t" bIns="228600" lIns="228600" spcFirstLastPara="1" rIns="228600" wrap="square" tIns="228600">
              <a:noAutofit/>
            </a:bodyPr>
            <a:lstStyle/>
            <a:p>
              <a:pPr indent="0" lvl="0" marL="0" rtl="0" algn="l">
                <a:spcBef>
                  <a:spcPts val="0"/>
                </a:spcBef>
                <a:spcAft>
                  <a:spcPts val="0"/>
                </a:spcAft>
                <a:buNone/>
              </a:pPr>
              <a:r>
                <a:rPr b="0" lang="en-US" sz="2800">
                  <a:solidFill>
                    <a:srgbClr val="0D9488"/>
                  </a:solidFill>
                  <a:latin typeface="Plus Jakarta Sans ExtraBold"/>
                  <a:ea typeface="Plus Jakarta Sans ExtraBold"/>
                  <a:cs typeface="Plus Jakarta Sans ExtraBold"/>
                  <a:sym typeface="Plus Jakarta Sans ExtraBold"/>
                </a:rPr>
                <a:t>04</a:t>
              </a:r>
              <a:endParaRPr b="0" sz="2800">
                <a:solidFill>
                  <a:srgbClr val="0D9488"/>
                </a:solidFill>
                <a:latin typeface="Plus Jakarta Sans ExtraBold"/>
                <a:ea typeface="Plus Jakarta Sans ExtraBold"/>
                <a:cs typeface="Plus Jakarta Sans ExtraBold"/>
                <a:sym typeface="Plus Jakarta Sans ExtraBold"/>
              </a:endParaRPr>
            </a:p>
            <a:p>
              <a:pPr indent="0" lvl="0" marL="0" rtl="0" algn="l">
                <a:spcBef>
                  <a:spcPts val="600"/>
                </a:spcBef>
                <a:spcAft>
                  <a:spcPts val="0"/>
                </a:spcAft>
                <a:buNone/>
              </a:pPr>
              <a:r>
                <a:rPr b="1" lang="en-US" sz="750">
                  <a:solidFill>
                    <a:srgbClr val="0D9488"/>
                  </a:solidFill>
                  <a:latin typeface="JetBrains Mono"/>
                  <a:ea typeface="JetBrains Mono"/>
                  <a:cs typeface="JetBrains Mono"/>
                  <a:sym typeface="JetBrains Mono"/>
                </a:rPr>
                <a:t>ONGOING</a:t>
              </a:r>
              <a:endParaRPr>
                <a:latin typeface="Plus Jakarta Sans"/>
                <a:ea typeface="Plus Jakarta Sans"/>
                <a:cs typeface="Plus Jakarta Sans"/>
                <a:sym typeface="Plus Jakarta Sans"/>
              </a:endParaRPr>
            </a:p>
            <a:p>
              <a:pPr indent="0" lvl="0" marL="0" rtl="0" algn="l">
                <a:spcBef>
                  <a:spcPts val="1500"/>
                </a:spcBef>
                <a:spcAft>
                  <a:spcPts val="0"/>
                </a:spcAft>
                <a:buNone/>
              </a:pPr>
              <a:r>
                <a:rPr b="0" lang="en-US" sz="1300">
                  <a:solidFill>
                    <a:srgbClr val="0F172A"/>
                  </a:solidFill>
                  <a:latin typeface="Plus Jakarta Sans ExtraBold"/>
                  <a:ea typeface="Plus Jakarta Sans ExtraBold"/>
                  <a:cs typeface="Plus Jakarta Sans ExtraBold"/>
                  <a:sym typeface="Plus Jakarta Sans ExtraBold"/>
                </a:rPr>
                <a:t>Scale &amp; Optimize</a:t>
              </a:r>
              <a:endParaRPr b="0" sz="1300">
                <a:solidFill>
                  <a:srgbClr val="0F172A"/>
                </a:solidFill>
                <a:latin typeface="Plus Jakarta Sans ExtraBold"/>
                <a:ea typeface="Plus Jakarta Sans ExtraBold"/>
                <a:cs typeface="Plus Jakarta Sans ExtraBold"/>
                <a:sym typeface="Plus Jakarta Sans ExtraBold"/>
              </a:endParaRPr>
            </a:p>
            <a:p>
              <a:pPr indent="0" lvl="0" marL="0" rtl="0" algn="l">
                <a:spcBef>
                  <a:spcPts val="600"/>
                </a:spcBef>
                <a:spcAft>
                  <a:spcPts val="0"/>
                </a:spcAft>
                <a:buNone/>
              </a:pPr>
              <a:r>
                <a:rPr b="0" lang="en-US" sz="1000">
                  <a:solidFill>
                    <a:srgbClr val="475569"/>
                  </a:solidFill>
                  <a:latin typeface="Plus Jakarta Sans"/>
                  <a:ea typeface="Plus Jakarta Sans"/>
                  <a:cs typeface="Plus Jakarta Sans"/>
                  <a:sym typeface="Plus Jakarta Sans"/>
                </a:rPr>
                <a:t>Orchestrate Managed Coordinator sessions for large sweeps. Refine Playbook specs based on failed logs.</a:t>
              </a:r>
              <a:endParaRPr b="0" sz="1000">
                <a:solidFill>
                  <a:srgbClr val="475569"/>
                </a:solidFill>
                <a:latin typeface="Plus Jakarta Sans"/>
                <a:ea typeface="Plus Jakarta Sans"/>
                <a:cs typeface="Plus Jakarta Sans"/>
                <a:sym typeface="Plus Jakarta Sans"/>
              </a:endParaRPr>
            </a:p>
          </p:txBody>
        </p:sp>
      </p:grpSp>
      <p:pic>
        <p:nvPicPr>
          <p:cNvPr descr="image.png" id="1415" name="Google Shape;1415;p45"/>
          <p:cNvPicPr preferRelativeResize="0"/>
          <p:nvPr/>
        </p:nvPicPr>
        <p:blipFill rotWithShape="1">
          <a:blip r:embed="rId4">
            <a:alphaModFix/>
          </a:blip>
          <a:srcRect b="0" l="0" r="0" t="0"/>
          <a:stretch/>
        </p:blipFill>
        <p:spPr>
          <a:xfrm>
            <a:off x="571500" y="457200"/>
            <a:ext cx="895498" cy="200025"/>
          </a:xfrm>
          <a:prstGeom prst="rect">
            <a:avLst/>
          </a:prstGeom>
          <a:noFill/>
          <a:ln>
            <a:noFill/>
          </a:ln>
        </p:spPr>
      </p:pic>
      <p:sp>
        <p:nvSpPr>
          <p:cNvPr id="1416" name="Google Shape;1416;p45"/>
          <p:cNvSpPr txBox="1"/>
          <p:nvPr/>
        </p:nvSpPr>
        <p:spPr>
          <a:xfrm>
            <a:off x="571500" y="381000"/>
            <a:ext cx="11601600" cy="3693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2400" u="none" cap="none" strike="noStrike">
                <a:solidFill>
                  <a:srgbClr val="0F172A"/>
                </a:solidFill>
                <a:latin typeface="Plus Jakarta Sans ExtraBold"/>
                <a:ea typeface="Plus Jakarta Sans ExtraBold"/>
                <a:cs typeface="Plus Jakarta Sans ExtraBold"/>
                <a:sym typeface="Plus Jakarta Sans ExtraBold"/>
              </a:rPr>
              <a:t>Adoption Roadmap</a:t>
            </a:r>
            <a:endParaRPr/>
          </a:p>
        </p:txBody>
      </p:sp>
      <p:sp>
        <p:nvSpPr>
          <p:cNvPr id="1417" name="Google Shape;1417;p45"/>
          <p:cNvSpPr/>
          <p:nvPr/>
        </p:nvSpPr>
        <p:spPr>
          <a:xfrm>
            <a:off x="571500" y="847725"/>
            <a:ext cx="11049000" cy="19200"/>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421" name="Shape 1421"/>
        <p:cNvGrpSpPr/>
        <p:nvPr/>
      </p:nvGrpSpPr>
      <p:grpSpPr>
        <a:xfrm>
          <a:off x="0" y="0"/>
          <a:ext cx="0" cy="0"/>
          <a:chOff x="0" y="0"/>
          <a:chExt cx="0" cy="0"/>
        </a:xfrm>
      </p:grpSpPr>
      <p:pic>
        <p:nvPicPr>
          <p:cNvPr id="1422" name="Google Shape;1422;p46"/>
          <p:cNvPicPr preferRelativeResize="0"/>
          <p:nvPr/>
        </p:nvPicPr>
        <p:blipFill rotWithShape="1">
          <a:blip r:embed="rId4">
            <a:alphaModFix/>
          </a:blip>
          <a:srcRect b="0" l="524" r="524" t="0"/>
          <a:stretch/>
        </p:blipFill>
        <p:spPr>
          <a:xfrm>
            <a:off x="571500" y="457200"/>
            <a:ext cx="895500" cy="200100"/>
          </a:xfrm>
          <a:prstGeom prst="rect">
            <a:avLst/>
          </a:prstGeom>
          <a:noFill/>
          <a:ln>
            <a:noFill/>
          </a:ln>
        </p:spPr>
      </p:pic>
      <p:grpSp>
        <p:nvGrpSpPr>
          <p:cNvPr id="1423" name="Google Shape;1423;p46"/>
          <p:cNvGrpSpPr/>
          <p:nvPr/>
        </p:nvGrpSpPr>
        <p:grpSpPr>
          <a:xfrm>
            <a:off x="571500" y="1333500"/>
            <a:ext cx="6191400" cy="914400"/>
            <a:chOff x="0" y="0"/>
            <a:chExt cx="6191400" cy="914400"/>
          </a:xfrm>
        </p:grpSpPr>
        <p:sp>
          <p:nvSpPr>
            <p:cNvPr id="1424" name="Google Shape;1424;p46"/>
            <p:cNvSpPr/>
            <p:nvPr/>
          </p:nvSpPr>
          <p:spPr>
            <a:xfrm>
              <a:off x="0" y="0"/>
              <a:ext cx="6191400" cy="914400"/>
            </a:xfrm>
            <a:prstGeom prst="roundRect">
              <a:avLst>
                <a:gd fmla="val 8333"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25" name="Google Shape;1425;p46"/>
            <p:cNvSpPr/>
            <p:nvPr/>
          </p:nvSpPr>
          <p:spPr>
            <a:xfrm>
              <a:off x="0" y="0"/>
              <a:ext cx="57300" cy="914400"/>
            </a:xfrm>
            <a:prstGeom prst="roundRect">
              <a:avLst>
                <a:gd fmla="val 5000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26" name="Google Shape;1426;p46"/>
            <p:cNvSpPr txBox="1"/>
            <p:nvPr/>
          </p:nvSpPr>
          <p:spPr>
            <a:xfrm>
              <a:off x="228600" y="152400"/>
              <a:ext cx="5734200" cy="609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850">
                  <a:solidFill>
                    <a:srgbClr val="2563EB"/>
                  </a:solidFill>
                  <a:latin typeface="JetBrains Mono"/>
                  <a:ea typeface="JetBrains Mono"/>
                  <a:cs typeface="JetBrains Mono"/>
                  <a:sym typeface="JetBrains Mono"/>
                </a:rPr>
                <a:t>IDENTITY &amp; ROLE SECURITY (SSO)</a:t>
              </a:r>
              <a:endParaRPr b="1" sz="850">
                <a:solidFill>
                  <a:srgbClr val="2563EB"/>
                </a:solidFill>
                <a:latin typeface="JetBrains Mono"/>
                <a:ea typeface="JetBrains Mono"/>
                <a:cs typeface="JetBrains Mono"/>
                <a:sym typeface="JetBrains Mono"/>
              </a:endParaRPr>
            </a:p>
            <a:p>
              <a:pPr indent="0" lvl="0" marL="0" rtl="0" algn="l">
                <a:spcBef>
                  <a:spcPts val="300"/>
                </a:spcBef>
                <a:spcAft>
                  <a:spcPts val="0"/>
                </a:spcAft>
                <a:buNone/>
              </a:pPr>
              <a:r>
                <a:rPr b="0" lang="en-US" sz="1000">
                  <a:solidFill>
                    <a:srgbClr val="475569"/>
                  </a:solidFill>
                  <a:latin typeface="Plus Jakarta Sans"/>
                  <a:ea typeface="Plus Jakarta Sans"/>
                  <a:cs typeface="Plus Jakarta Sans"/>
                  <a:sym typeface="Plus Jakarta Sans"/>
                </a:rPr>
                <a:t>Entra ID / Okta group mappings automatically provision access. Role-Based Access Control regulates feature permissions.</a:t>
              </a:r>
              <a:endParaRPr b="0" sz="1000">
                <a:solidFill>
                  <a:srgbClr val="475569"/>
                </a:solidFill>
                <a:latin typeface="Plus Jakarta Sans"/>
                <a:ea typeface="Plus Jakarta Sans"/>
                <a:cs typeface="Plus Jakarta Sans"/>
                <a:sym typeface="Plus Jakarta Sans"/>
              </a:endParaRPr>
            </a:p>
          </p:txBody>
        </p:sp>
      </p:grpSp>
      <p:grpSp>
        <p:nvGrpSpPr>
          <p:cNvPr id="1427" name="Google Shape;1427;p46"/>
          <p:cNvGrpSpPr/>
          <p:nvPr/>
        </p:nvGrpSpPr>
        <p:grpSpPr>
          <a:xfrm>
            <a:off x="571500" y="2438400"/>
            <a:ext cx="6191400" cy="914400"/>
            <a:chOff x="0" y="0"/>
            <a:chExt cx="6191400" cy="914400"/>
          </a:xfrm>
        </p:grpSpPr>
        <p:sp>
          <p:nvSpPr>
            <p:cNvPr id="1428" name="Google Shape;1428;p46"/>
            <p:cNvSpPr/>
            <p:nvPr/>
          </p:nvSpPr>
          <p:spPr>
            <a:xfrm>
              <a:off x="0" y="0"/>
              <a:ext cx="6191400" cy="914400"/>
            </a:xfrm>
            <a:prstGeom prst="roundRect">
              <a:avLst>
                <a:gd fmla="val 8333"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29" name="Google Shape;1429;p46"/>
            <p:cNvSpPr/>
            <p:nvPr/>
          </p:nvSpPr>
          <p:spPr>
            <a:xfrm>
              <a:off x="0" y="0"/>
              <a:ext cx="57300" cy="914400"/>
            </a:xfrm>
            <a:prstGeom prst="roundRect">
              <a:avLst>
                <a:gd fmla="val 50000" name="adj"/>
              </a:avLst>
            </a:prstGeom>
            <a:solidFill>
              <a:srgbClr val="7C3AED"/>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30" name="Google Shape;1430;p46"/>
            <p:cNvSpPr txBox="1"/>
            <p:nvPr/>
          </p:nvSpPr>
          <p:spPr>
            <a:xfrm>
              <a:off x="228600" y="152400"/>
              <a:ext cx="5734200" cy="609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850">
                  <a:solidFill>
                    <a:srgbClr val="7C3AED"/>
                  </a:solidFill>
                  <a:latin typeface="JetBrains Mono"/>
                  <a:ea typeface="JetBrains Mono"/>
                  <a:cs typeface="JetBrains Mono"/>
                  <a:sym typeface="JetBrains Mono"/>
                </a:rPr>
                <a:t>ADDITIVE ENVIRONMENT STACK</a:t>
              </a:r>
              <a:endParaRPr b="1" sz="850">
                <a:solidFill>
                  <a:srgbClr val="7C3AED"/>
                </a:solidFill>
                <a:latin typeface="JetBrains Mono"/>
                <a:ea typeface="JetBrains Mono"/>
                <a:cs typeface="JetBrains Mono"/>
                <a:sym typeface="JetBrains Mono"/>
              </a:endParaRPr>
            </a:p>
            <a:p>
              <a:pPr indent="0" lvl="0" marL="0" rtl="0" algn="l">
                <a:spcBef>
                  <a:spcPts val="300"/>
                </a:spcBef>
                <a:spcAft>
                  <a:spcPts val="0"/>
                </a:spcAft>
                <a:buNone/>
              </a:pPr>
              <a:r>
                <a:rPr b="0" lang="en-US" sz="1000">
                  <a:solidFill>
                    <a:srgbClr val="475569"/>
                  </a:solidFill>
                  <a:latin typeface="Plus Jakarta Sans"/>
                  <a:ea typeface="Plus Jakarta Sans"/>
                  <a:cs typeface="Plus Jakarta Sans"/>
                  <a:sym typeface="Plus Jakarta Sans"/>
                </a:rPr>
                <a:t>Global blueprints feed down to Org lints and Repo setups. Secrets remain housed in protected dashboards.</a:t>
              </a:r>
              <a:endParaRPr b="0" sz="1000">
                <a:solidFill>
                  <a:srgbClr val="475569"/>
                </a:solidFill>
                <a:latin typeface="Plus Jakarta Sans"/>
                <a:ea typeface="Plus Jakarta Sans"/>
                <a:cs typeface="Plus Jakarta Sans"/>
                <a:sym typeface="Plus Jakarta Sans"/>
              </a:endParaRPr>
            </a:p>
          </p:txBody>
        </p:sp>
      </p:grpSp>
      <p:grpSp>
        <p:nvGrpSpPr>
          <p:cNvPr id="1431" name="Google Shape;1431;p46"/>
          <p:cNvGrpSpPr/>
          <p:nvPr/>
        </p:nvGrpSpPr>
        <p:grpSpPr>
          <a:xfrm>
            <a:off x="571500" y="3543300"/>
            <a:ext cx="6191400" cy="914400"/>
            <a:chOff x="0" y="0"/>
            <a:chExt cx="6191400" cy="914400"/>
          </a:xfrm>
        </p:grpSpPr>
        <p:sp>
          <p:nvSpPr>
            <p:cNvPr id="1432" name="Google Shape;1432;p46"/>
            <p:cNvSpPr/>
            <p:nvPr/>
          </p:nvSpPr>
          <p:spPr>
            <a:xfrm>
              <a:off x="0" y="0"/>
              <a:ext cx="6191400" cy="914400"/>
            </a:xfrm>
            <a:prstGeom prst="roundRect">
              <a:avLst>
                <a:gd fmla="val 8333"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33" name="Google Shape;1433;p46"/>
            <p:cNvSpPr/>
            <p:nvPr/>
          </p:nvSpPr>
          <p:spPr>
            <a:xfrm>
              <a:off x="0" y="0"/>
              <a:ext cx="57300" cy="914400"/>
            </a:xfrm>
            <a:prstGeom prst="roundRect">
              <a:avLst>
                <a:gd fmla="val 50000" name="adj"/>
              </a:avLst>
            </a:prstGeom>
            <a:solidFill>
              <a:srgbClr val="0D948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34" name="Google Shape;1434;p46"/>
            <p:cNvSpPr txBox="1"/>
            <p:nvPr/>
          </p:nvSpPr>
          <p:spPr>
            <a:xfrm>
              <a:off x="228600" y="152400"/>
              <a:ext cx="5734200" cy="609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850">
                  <a:solidFill>
                    <a:srgbClr val="0D9488"/>
                  </a:solidFill>
                  <a:latin typeface="JetBrains Mono"/>
                  <a:ea typeface="JetBrains Mono"/>
                  <a:cs typeface="JetBrains Mono"/>
                  <a:sym typeface="JetBrains Mono"/>
                </a:rPr>
                <a:t>NETWORK &amp; COST GOVERNANCE</a:t>
              </a:r>
              <a:endParaRPr b="1" sz="850">
                <a:solidFill>
                  <a:srgbClr val="0D9488"/>
                </a:solidFill>
                <a:latin typeface="JetBrains Mono"/>
                <a:ea typeface="JetBrains Mono"/>
                <a:cs typeface="JetBrains Mono"/>
                <a:sym typeface="JetBrains Mono"/>
              </a:endParaRPr>
            </a:p>
            <a:p>
              <a:pPr indent="0" lvl="0" marL="0" rtl="0" algn="l">
                <a:spcBef>
                  <a:spcPts val="300"/>
                </a:spcBef>
                <a:spcAft>
                  <a:spcPts val="0"/>
                </a:spcAft>
                <a:buNone/>
              </a:pPr>
              <a:r>
                <a:rPr b="0" lang="en-US" sz="1000">
                  <a:solidFill>
                    <a:srgbClr val="475569"/>
                  </a:solidFill>
                  <a:latin typeface="Plus Jakarta Sans"/>
                  <a:ea typeface="Plus Jakarta Sans"/>
                  <a:cs typeface="Plus Jakarta Sans"/>
                  <a:sym typeface="Plus Jakarta Sans"/>
                </a:rPr>
                <a:t>IP Access lists configure private boundaries. Explicit ACU spend metrics manage billing quotas across products.</a:t>
              </a:r>
              <a:endParaRPr b="0" sz="1000">
                <a:solidFill>
                  <a:srgbClr val="475569"/>
                </a:solidFill>
                <a:latin typeface="Plus Jakarta Sans"/>
                <a:ea typeface="Plus Jakarta Sans"/>
                <a:cs typeface="Plus Jakarta Sans"/>
                <a:sym typeface="Plus Jakarta Sans"/>
              </a:endParaRPr>
            </a:p>
          </p:txBody>
        </p:sp>
      </p:grpSp>
      <p:grpSp>
        <p:nvGrpSpPr>
          <p:cNvPr id="1435" name="Google Shape;1435;p46"/>
          <p:cNvGrpSpPr/>
          <p:nvPr/>
        </p:nvGrpSpPr>
        <p:grpSpPr>
          <a:xfrm>
            <a:off x="7143750" y="1333500"/>
            <a:ext cx="4476900" cy="3124200"/>
            <a:chOff x="0" y="0"/>
            <a:chExt cx="4476900" cy="3124200"/>
          </a:xfrm>
        </p:grpSpPr>
        <p:sp>
          <p:nvSpPr>
            <p:cNvPr id="1436" name="Google Shape;1436;p46"/>
            <p:cNvSpPr/>
            <p:nvPr/>
          </p:nvSpPr>
          <p:spPr>
            <a:xfrm>
              <a:off x="0" y="0"/>
              <a:ext cx="4476900" cy="3124200"/>
            </a:xfrm>
            <a:prstGeom prst="roundRect">
              <a:avLst>
                <a:gd fmla="val 4878"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37" name="Google Shape;1437;p46"/>
            <p:cNvSpPr/>
            <p:nvPr/>
          </p:nvSpPr>
          <p:spPr>
            <a:xfrm>
              <a:off x="0" y="0"/>
              <a:ext cx="4476900" cy="228600"/>
            </a:xfrm>
            <a:custGeom>
              <a:rect b="b" l="l" r="r" t="t"/>
              <a:pathLst>
                <a:path extrusionOk="0" h="120000" w="120000">
                  <a:moveTo>
                    <a:pt x="0" y="80000"/>
                  </a:moveTo>
                  <a:cubicBezTo>
                    <a:pt x="0" y="35800"/>
                    <a:pt x="1828" y="0"/>
                    <a:pt x="4085" y="0"/>
                  </a:cubicBezTo>
                  <a:lnTo>
                    <a:pt x="115915" y="0"/>
                  </a:lnTo>
                  <a:cubicBezTo>
                    <a:pt x="118172" y="0"/>
                    <a:pt x="120000" y="35800"/>
                    <a:pt x="120000" y="80000"/>
                  </a:cubicBezTo>
                  <a:lnTo>
                    <a:pt x="120000" y="120000"/>
                  </a:lnTo>
                  <a:lnTo>
                    <a:pt x="0" y="120000"/>
                  </a:lnTo>
                  <a:close/>
                </a:path>
              </a:pathLst>
            </a:cu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38" name="Google Shape;1438;p46"/>
            <p:cNvSpPr/>
            <p:nvPr/>
          </p:nvSpPr>
          <p:spPr>
            <a:xfrm>
              <a:off x="1381125" y="457200"/>
              <a:ext cx="1714500" cy="247800"/>
            </a:xfrm>
            <a:prstGeom prst="roundRect">
              <a:avLst>
                <a:gd fmla="val 50000" name="adj"/>
              </a:avLst>
            </a:prstGeom>
            <a:solidFill>
              <a:srgbClr val="EFF6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39" name="Google Shape;1439;p46"/>
            <p:cNvSpPr txBox="1"/>
            <p:nvPr/>
          </p:nvSpPr>
          <p:spPr>
            <a:xfrm>
              <a:off x="1381125" y="457200"/>
              <a:ext cx="1714500" cy="247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US" sz="750">
                  <a:solidFill>
                    <a:srgbClr val="2563EB"/>
                  </a:solidFill>
                  <a:latin typeface="JetBrains Mono ExtraBold"/>
                  <a:ea typeface="JetBrains Mono ExtraBold"/>
                  <a:cs typeface="JetBrains Mono ExtraBold"/>
                  <a:sym typeface="JetBrains Mono ExtraBold"/>
                </a:rPr>
                <a:t>DEPLOY DEVIN SECURELY</a:t>
              </a:r>
              <a:endParaRPr b="0" sz="750">
                <a:solidFill>
                  <a:srgbClr val="2563EB"/>
                </a:solidFill>
                <a:latin typeface="JetBrains Mono ExtraBold"/>
                <a:ea typeface="JetBrains Mono ExtraBold"/>
                <a:cs typeface="JetBrains Mono ExtraBold"/>
                <a:sym typeface="JetBrains Mono ExtraBold"/>
              </a:endParaRPr>
            </a:p>
          </p:txBody>
        </p:sp>
        <p:sp>
          <p:nvSpPr>
            <p:cNvPr id="1440" name="Google Shape;1440;p46"/>
            <p:cNvSpPr txBox="1"/>
            <p:nvPr/>
          </p:nvSpPr>
          <p:spPr>
            <a:xfrm>
              <a:off x="381000" y="857250"/>
              <a:ext cx="3714900" cy="1428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US" sz="1250">
                  <a:solidFill>
                    <a:srgbClr val="0F172A"/>
                  </a:solidFill>
                  <a:latin typeface="Plus Jakarta Sans SemiBold"/>
                  <a:ea typeface="Plus Jakarta Sans SemiBold"/>
                  <a:cs typeface="Plus Jakarta Sans SemiBold"/>
                  <a:sym typeface="Plus Jakarta Sans SemiBold"/>
                </a:rPr>
                <a:t>Empower engineering velocity while maintaining complete repository governance, security controls, and resource optimization parameters.</a:t>
              </a:r>
              <a:endParaRPr b="0" sz="1250">
                <a:solidFill>
                  <a:srgbClr val="0F172A"/>
                </a:solidFill>
                <a:latin typeface="Plus Jakarta Sans SemiBold"/>
                <a:ea typeface="Plus Jakarta Sans SemiBold"/>
                <a:cs typeface="Plus Jakarta Sans SemiBold"/>
                <a:sym typeface="Plus Jakarta Sans SemiBold"/>
              </a:endParaRPr>
            </a:p>
          </p:txBody>
        </p:sp>
        <p:grpSp>
          <p:nvGrpSpPr>
            <p:cNvPr id="1441" name="Google Shape;1441;p46"/>
            <p:cNvGrpSpPr/>
            <p:nvPr/>
          </p:nvGrpSpPr>
          <p:grpSpPr>
            <a:xfrm>
              <a:off x="1285875" y="2476500"/>
              <a:ext cx="1924050" cy="190500"/>
              <a:chOff x="0" y="0"/>
              <a:chExt cx="1924050" cy="190500"/>
            </a:xfrm>
          </p:grpSpPr>
          <p:pic>
            <p:nvPicPr>
              <p:cNvPr id="1442" name="Google Shape;1442;p46"/>
              <p:cNvPicPr preferRelativeResize="0"/>
              <p:nvPr/>
            </p:nvPicPr>
            <p:blipFill rotWithShape="1">
              <a:blip r:embed="rId5">
                <a:alphaModFix/>
              </a:blip>
              <a:srcRect b="0" l="0" r="0" t="0"/>
              <a:stretch/>
            </p:blipFill>
            <p:spPr>
              <a:xfrm>
                <a:off x="0" y="28575"/>
                <a:ext cx="133500" cy="133500"/>
              </a:xfrm>
              <a:prstGeom prst="rect">
                <a:avLst/>
              </a:prstGeom>
              <a:noFill/>
              <a:ln>
                <a:noFill/>
              </a:ln>
            </p:spPr>
          </p:pic>
          <p:sp>
            <p:nvSpPr>
              <p:cNvPr id="1443" name="Google Shape;1443;p46"/>
              <p:cNvSpPr txBox="1"/>
              <p:nvPr/>
            </p:nvSpPr>
            <p:spPr>
              <a:xfrm>
                <a:off x="209550" y="0"/>
                <a:ext cx="17145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800">
                    <a:solidFill>
                      <a:srgbClr val="64748B"/>
                    </a:solidFill>
                    <a:latin typeface="JetBrains Mono"/>
                    <a:ea typeface="JetBrains Mono"/>
                    <a:cs typeface="JetBrains Mono"/>
                    <a:sym typeface="JetBrains Mono"/>
                  </a:rPr>
                  <a:t>SECURE CONTROL PLANE ACTIVE</a:t>
                </a:r>
                <a:endParaRPr b="1" sz="800">
                  <a:solidFill>
                    <a:srgbClr val="64748B"/>
                  </a:solidFill>
                  <a:latin typeface="JetBrains Mono"/>
                  <a:ea typeface="JetBrains Mono"/>
                  <a:cs typeface="JetBrains Mono"/>
                  <a:sym typeface="JetBrains Mono"/>
                </a:endParaRPr>
              </a:p>
            </p:txBody>
          </p:sp>
        </p:grpSp>
      </p:grpSp>
      <p:sp>
        <p:nvSpPr>
          <p:cNvPr id="1444" name="Google Shape;1444;p46"/>
          <p:cNvSpPr txBox="1"/>
          <p:nvPr/>
        </p:nvSpPr>
        <p:spPr>
          <a:xfrm>
            <a:off x="571500" y="381000"/>
            <a:ext cx="11601600" cy="3693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2400" u="none" cap="none" strike="noStrike">
                <a:solidFill>
                  <a:srgbClr val="0F172A"/>
                </a:solidFill>
                <a:latin typeface="Plus Jakarta Sans ExtraBold"/>
                <a:ea typeface="Plus Jakarta Sans ExtraBold"/>
                <a:cs typeface="Plus Jakarta Sans ExtraBold"/>
                <a:sym typeface="Plus Jakarta Sans ExtraBold"/>
              </a:rPr>
              <a:t>Unified Enterprise Blueprint</a:t>
            </a:r>
            <a:endParaRPr/>
          </a:p>
        </p:txBody>
      </p:sp>
      <p:sp>
        <p:nvSpPr>
          <p:cNvPr id="1445" name="Google Shape;1445;p46"/>
          <p:cNvSpPr/>
          <p:nvPr/>
        </p:nvSpPr>
        <p:spPr>
          <a:xfrm>
            <a:off x="571500" y="847725"/>
            <a:ext cx="11049000" cy="19200"/>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