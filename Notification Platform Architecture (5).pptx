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Inter"/>
      <p:bold r:id="rId28"/>
      <p:boldItalic r:id="rId29"/>
    </p:embeddedFont>
    <p:embeddedFont>
      <p:font typeface="Inter ExtraBold"/>
      <p:bold r:id="rId30"/>
      <p:boldItalic r:id="rId31"/>
    </p:embeddedFont>
    <p:embeddedFont>
      <p:font typeface="DM Sans"/>
      <p:bold r:id="rId32"/>
      <p:boldItalic r:id="rId33"/>
    </p:embeddedFont>
    <p:embeddedFont>
      <p:font typeface="Merriweather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Inter-bold.fntdata"/><Relationship Id="rId27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-bold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1b7769e6_0_1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71b7769e6_0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72f5b1387_0_1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72f5b1387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2f5b1387_0_14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72f5b1387_0_1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72f5b1387_0_17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72f5b1387_0_1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71b7769e6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f71b7769e6_0_6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72f5b1387_0_2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72f5b1387_0_2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72f5b1387_0_3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72f5b1387_0_3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71b7769e6_0_17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f71b7769e6_0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71b7769e6_66_0)">
  <p:cSld name="Generated (g3f71b7769e6_66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9.png"/><Relationship Id="rId13" Type="http://schemas.openxmlformats.org/officeDocument/2006/relationships/image" Target="../media/image26.png"/><Relationship Id="rId1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Relationship Id="rId1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11" Type="http://schemas.openxmlformats.org/officeDocument/2006/relationships/image" Target="../media/image7.png"/><Relationship Id="rId22" Type="http://schemas.openxmlformats.org/officeDocument/2006/relationships/image" Target="../media/image55.jpg"/><Relationship Id="rId10" Type="http://schemas.openxmlformats.org/officeDocument/2006/relationships/image" Target="../media/image45.png"/><Relationship Id="rId21" Type="http://schemas.openxmlformats.org/officeDocument/2006/relationships/image" Target="../media/image49.jpg"/><Relationship Id="rId13" Type="http://schemas.openxmlformats.org/officeDocument/2006/relationships/image" Target="../media/image15.jpg"/><Relationship Id="rId24" Type="http://schemas.openxmlformats.org/officeDocument/2006/relationships/image" Target="../media/image60.jpg"/><Relationship Id="rId12" Type="http://schemas.openxmlformats.org/officeDocument/2006/relationships/image" Target="../media/image30.jpg"/><Relationship Id="rId23" Type="http://schemas.openxmlformats.org/officeDocument/2006/relationships/image" Target="../media/image6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15" Type="http://schemas.openxmlformats.org/officeDocument/2006/relationships/image" Target="../media/image40.png"/><Relationship Id="rId14" Type="http://schemas.openxmlformats.org/officeDocument/2006/relationships/image" Target="../media/image54.png"/><Relationship Id="rId17" Type="http://schemas.openxmlformats.org/officeDocument/2006/relationships/image" Target="../media/image20.jpg"/><Relationship Id="rId16" Type="http://schemas.openxmlformats.org/officeDocument/2006/relationships/image" Target="../media/image16.jpg"/><Relationship Id="rId5" Type="http://schemas.openxmlformats.org/officeDocument/2006/relationships/image" Target="../media/image5.png"/><Relationship Id="rId19" Type="http://schemas.openxmlformats.org/officeDocument/2006/relationships/image" Target="../media/image59.png"/><Relationship Id="rId6" Type="http://schemas.openxmlformats.org/officeDocument/2006/relationships/image" Target="../media/image4.png"/><Relationship Id="rId18" Type="http://schemas.openxmlformats.org/officeDocument/2006/relationships/image" Target="../media/image21.png"/><Relationship Id="rId7" Type="http://schemas.openxmlformats.org/officeDocument/2006/relationships/image" Target="../media/image13.png"/><Relationship Id="rId8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8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9" Type="http://schemas.openxmlformats.org/officeDocument/2006/relationships/image" Target="../media/image44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Relationship Id="rId8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48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9" Type="http://schemas.openxmlformats.org/officeDocument/2006/relationships/image" Target="../media/image67.png"/><Relationship Id="rId5" Type="http://schemas.openxmlformats.org/officeDocument/2006/relationships/image" Target="../media/image63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762000" y="952500"/>
            <a:ext cx="57150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Architecture Briefing</a:t>
            </a:r>
            <a:endParaRPr b="1" sz="1018">
              <a:solidFill>
                <a:srgbClr val="2563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407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Enterprise Notification Platform</a:t>
            </a:r>
            <a:endParaRPr b="1" sz="407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665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Next-Generation Architecture &amp; Orchestration Deep-Dive</a:t>
            </a:r>
            <a:endParaRPr b="1" sz="1665">
              <a:solidFill>
                <a:srgbClr val="2563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203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highly optimized, LangGraph-driven platform featuring a strict separation between Zero-DB express paths and DB-reliant standard pipelines.</a:t>
            </a:r>
            <a:endParaRPr b="0" sz="1203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7" name="Google Shape;87;p14"/>
          <p:cNvGrpSpPr/>
          <p:nvPr/>
        </p:nvGrpSpPr>
        <p:grpSpPr>
          <a:xfrm>
            <a:off x="762000" y="4619625"/>
            <a:ext cx="2714700" cy="1095300"/>
            <a:chOff x="0" y="0"/>
            <a:chExt cx="2714700" cy="1095300"/>
          </a:xfrm>
        </p:grpSpPr>
        <p:sp>
          <p:nvSpPr>
            <p:cNvPr id="88" name="Google Shape;88;p14"/>
            <p:cNvSpPr/>
            <p:nvPr/>
          </p:nvSpPr>
          <p:spPr>
            <a:xfrm>
              <a:off x="0" y="0"/>
              <a:ext cx="2714700" cy="1095300"/>
            </a:xfrm>
            <a:prstGeom prst="roundRect">
              <a:avLst>
                <a:gd fmla="val 10434" name="adj"/>
              </a:avLst>
            </a:prstGeom>
            <a:solidFill>
              <a:srgbClr val="EFF6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0" y="0"/>
              <a:ext cx="2714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3A8A"/>
                  </a:solidFill>
                  <a:latin typeface="DM Sans"/>
                  <a:ea typeface="DM Sans"/>
                  <a:cs typeface="DM Sans"/>
                  <a:sym typeface="DM Sans"/>
                </a:rPr>
                <a:t>Express Path (Zero-DB)</a:t>
              </a:r>
              <a:endParaRPr b="1" sz="120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E40AF"/>
                  </a:solidFill>
                  <a:latin typeface="DM Sans"/>
                  <a:ea typeface="DM Sans"/>
                  <a:cs typeface="DM Sans"/>
                  <a:sym typeface="DM Sans"/>
                </a:rPr>
                <a:t>Ultra-low latency in-memory routing and direct channel dispatch.</a:t>
              </a:r>
              <a:endParaRPr b="0" sz="100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0" name="Google Shape;90;p14"/>
          <p:cNvGrpSpPr/>
          <p:nvPr/>
        </p:nvGrpSpPr>
        <p:grpSpPr>
          <a:xfrm>
            <a:off x="3762375" y="4619625"/>
            <a:ext cx="2714700" cy="1095300"/>
            <a:chOff x="0" y="0"/>
            <a:chExt cx="2714700" cy="1095300"/>
          </a:xfrm>
        </p:grpSpPr>
        <p:sp>
          <p:nvSpPr>
            <p:cNvPr id="91" name="Google Shape;91;p14"/>
            <p:cNvSpPr/>
            <p:nvPr/>
          </p:nvSpPr>
          <p:spPr>
            <a:xfrm>
              <a:off x="0" y="0"/>
              <a:ext cx="2714700" cy="1095300"/>
            </a:xfrm>
            <a:prstGeom prst="roundRect">
              <a:avLst>
                <a:gd fmla="val 10434" name="adj"/>
              </a:avLst>
            </a:prstGeom>
            <a:solidFill>
              <a:srgbClr val="ECFDF5"/>
            </a:solidFill>
            <a:ln cap="flat" cmpd="sng" w="14300">
              <a:solidFill>
                <a:srgbClr val="D1F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 txBox="1"/>
            <p:nvPr/>
          </p:nvSpPr>
          <p:spPr>
            <a:xfrm>
              <a:off x="0" y="0"/>
              <a:ext cx="2714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65F46"/>
                  </a:solidFill>
                  <a:latin typeface="DM Sans"/>
                  <a:ea typeface="DM Sans"/>
                  <a:cs typeface="DM Sans"/>
                  <a:sym typeface="DM Sans"/>
                </a:rPr>
                <a:t>Standard Pipeline</a:t>
              </a:r>
              <a:endParaRPr b="1" sz="1200">
                <a:solidFill>
                  <a:srgbClr val="065F4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47857"/>
                  </a:solidFill>
                  <a:latin typeface="DM Sans"/>
                  <a:ea typeface="DM Sans"/>
                  <a:cs typeface="DM Sans"/>
                  <a:sym typeface="DM Sans"/>
                </a:rPr>
                <a:t>Rich data orchestration, MongoDB templates, and fallback channels.</a:t>
              </a:r>
              <a:endParaRPr b="0" sz="1000">
                <a:solidFill>
                  <a:srgbClr val="0478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3" name="Google Shape;93;p14"/>
          <p:cNvGrpSpPr/>
          <p:nvPr/>
        </p:nvGrpSpPr>
        <p:grpSpPr>
          <a:xfrm>
            <a:off x="7048500" y="952500"/>
            <a:ext cx="4381500" cy="4953000"/>
            <a:chOff x="0" y="0"/>
            <a:chExt cx="4381500" cy="4953000"/>
          </a:xfrm>
        </p:grpSpPr>
        <p:pic>
          <p:nvPicPr>
            <p:cNvPr id="94" name="Google Shape;94;p14"/>
            <p:cNvPicPr preferRelativeResize="0"/>
            <p:nvPr/>
          </p:nvPicPr>
          <p:blipFill rotWithShape="1">
            <a:blip r:embed="rId5">
              <a:alphaModFix/>
            </a:blip>
            <a:srcRect b="16354" l="0" r="0" t="20550"/>
            <a:stretch/>
          </p:blipFill>
          <p:spPr>
            <a:xfrm>
              <a:off x="0" y="0"/>
              <a:ext cx="4381500" cy="4953000"/>
            </a:xfrm>
            <a:prstGeom prst="roundRect">
              <a:avLst>
                <a:gd fmla="val 5217" name="adj"/>
              </a:avLst>
            </a:prstGeom>
            <a:noFill/>
            <a:ln>
              <a:noFill/>
            </a:ln>
          </p:spPr>
        </p:pic>
        <p:sp>
          <p:nvSpPr>
            <p:cNvPr id="95" name="Google Shape;95;p14"/>
            <p:cNvSpPr/>
            <p:nvPr/>
          </p:nvSpPr>
          <p:spPr>
            <a:xfrm>
              <a:off x="0" y="0"/>
              <a:ext cx="4381500" cy="4953000"/>
            </a:xfrm>
            <a:prstGeom prst="roundRect">
              <a:avLst>
                <a:gd fmla="val 5217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6038850" y="609600"/>
            <a:ext cx="5638800" cy="5638800"/>
            <a:chOff x="-2819400" y="-2819400"/>
            <a:chExt cx="5638800" cy="5638800"/>
          </a:xfrm>
        </p:grpSpPr>
        <p:pic>
          <p:nvPicPr>
            <p:cNvPr id="102" name="Google Shape;10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819400" y="-2819400"/>
              <a:ext cx="5638800" cy="563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2152650" y="-1866900"/>
              <a:ext cx="4305300" cy="37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1243012" y="-1195387"/>
              <a:ext cx="2486100" cy="2390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5" name="Google Shape;105;p15"/>
            <p:cNvCxnSpPr/>
            <p:nvPr/>
          </p:nvCxnSpPr>
          <p:spPr>
            <a:xfrm>
              <a:off x="-1428750" y="-952500"/>
              <a:ext cx="666900" cy="476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15"/>
            <p:cNvCxnSpPr/>
            <p:nvPr/>
          </p:nvCxnSpPr>
          <p:spPr>
            <a:xfrm flipH="1">
              <a:off x="761850" y="-952500"/>
              <a:ext cx="666900" cy="476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15"/>
            <p:cNvCxnSpPr/>
            <p:nvPr/>
          </p:nvCxnSpPr>
          <p:spPr>
            <a:xfrm flipH="1" rot="10800000">
              <a:off x="-1428750" y="476100"/>
              <a:ext cx="666900" cy="476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15"/>
            <p:cNvCxnSpPr/>
            <p:nvPr/>
          </p:nvCxnSpPr>
          <p:spPr>
            <a:xfrm rot="10800000">
              <a:off x="761850" y="476100"/>
              <a:ext cx="666900" cy="476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09" name="Google Shape;109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971550" y="-1795462"/>
              <a:ext cx="1943100" cy="37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5"/>
            <p:cNvSpPr/>
            <p:nvPr/>
          </p:nvSpPr>
          <p:spPr>
            <a:xfrm>
              <a:off x="-733425" y="-1543050"/>
              <a:ext cx="1467000" cy="3086100"/>
            </a:xfrm>
            <a:prstGeom prst="roundRect">
              <a:avLst>
                <a:gd fmla="val 16883" name="adj"/>
              </a:avLst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-38100" y="-1419225"/>
              <a:ext cx="76200" cy="76200"/>
            </a:xfrm>
            <a:prstGeom prst="ellipse">
              <a:avLst/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228600" y="-1428750"/>
              <a:ext cx="457200" cy="573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15"/>
            <p:cNvGrpSpPr/>
            <p:nvPr/>
          </p:nvGrpSpPr>
          <p:grpSpPr>
            <a:xfrm>
              <a:off x="-619125" y="-1047750"/>
              <a:ext cx="1238400" cy="400200"/>
              <a:chOff x="0" y="0"/>
              <a:chExt cx="1238400" cy="40020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0" y="0"/>
                <a:ext cx="1238400" cy="400200"/>
              </a:xfrm>
              <a:prstGeom prst="roundRect">
                <a:avLst>
                  <a:gd fmla="val 2857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15" name="Google Shape;115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5250" y="95250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" name="Google Shape;116;p15"/>
              <p:cNvSpPr/>
              <p:nvPr/>
            </p:nvSpPr>
            <p:spPr>
              <a:xfrm>
                <a:off x="152400" y="161925"/>
                <a:ext cx="95400" cy="762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0"/>
                    </a:lnTo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0" y="120000"/>
                    </a:moveTo>
                    <a:lnTo>
                      <a:pt x="72000" y="120000"/>
                    </a:lnTo>
                  </a:path>
                </a:pathLst>
              </a:custGeom>
              <a:solidFill>
                <a:srgbClr val="FFFFFF"/>
              </a:solidFill>
              <a:ln cap="rnd" cmpd="sng" w="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381000" y="114300"/>
                <a:ext cx="571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172A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381000" y="209550"/>
                <a:ext cx="381000" cy="47700"/>
              </a:xfrm>
              <a:prstGeom prst="roundRect">
                <a:avLst>
                  <a:gd fmla="val 40000" name="adj"/>
                </a:avLst>
              </a:prstGeom>
              <a:solidFill>
                <a:srgbClr val="64748B">
                  <a:alpha val="7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" name="Google Shape;119;p15"/>
            <p:cNvGrpSpPr/>
            <p:nvPr/>
          </p:nvGrpSpPr>
          <p:grpSpPr>
            <a:xfrm>
              <a:off x="-619125" y="-552450"/>
              <a:ext cx="1238400" cy="400200"/>
              <a:chOff x="0" y="0"/>
              <a:chExt cx="1238400" cy="400200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0" y="0"/>
                <a:ext cx="1238400" cy="400200"/>
              </a:xfrm>
              <a:prstGeom prst="roundRect">
                <a:avLst>
                  <a:gd fmla="val 2857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1" name="Google Shape;121;p1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5250" y="95250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" name="Google Shape;122;p15"/>
              <p:cNvSpPr/>
              <p:nvPr/>
            </p:nvSpPr>
            <p:spPr>
              <a:xfrm>
                <a:off x="142875" y="161925"/>
                <a:ext cx="114300" cy="85800"/>
              </a:xfrm>
              <a:custGeom>
                <a:rect b="b" l="l" r="r" t="t"/>
                <a:pathLst>
                  <a:path extrusionOk="0" h="120000" w="120000">
                    <a:moveTo>
                      <a:pt x="20000" y="0"/>
                    </a:moveTo>
                    <a:lnTo>
                      <a:pt x="100000" y="0"/>
                    </a:lnTo>
                    <a:cubicBezTo>
                      <a:pt x="111000" y="0"/>
                      <a:pt x="120000" y="12000"/>
                      <a:pt x="120000" y="26667"/>
                    </a:cubicBezTo>
                    <a:lnTo>
                      <a:pt x="120000" y="53333"/>
                    </a:lnTo>
                    <a:cubicBezTo>
                      <a:pt x="120000" y="68000"/>
                      <a:pt x="111000" y="80000"/>
                      <a:pt x="100000" y="80000"/>
                    </a:cubicBezTo>
                    <a:lnTo>
                      <a:pt x="50000" y="80000"/>
                    </a:lnTo>
                    <a:lnTo>
                      <a:pt x="0" y="120000"/>
                    </a:lnTo>
                    <a:lnTo>
                      <a:pt x="0" y="80000"/>
                    </a:lnTo>
                    <a:lnTo>
                      <a:pt x="0" y="26667"/>
                    </a:lnTo>
                    <a:cubicBezTo>
                      <a:pt x="0" y="12000"/>
                      <a:pt x="9000" y="0"/>
                      <a:pt x="2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381000" y="114300"/>
                <a:ext cx="523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172A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81000" y="209550"/>
                <a:ext cx="428700" cy="47700"/>
              </a:xfrm>
              <a:prstGeom prst="roundRect">
                <a:avLst>
                  <a:gd fmla="val 40000" name="adj"/>
                </a:avLst>
              </a:prstGeom>
              <a:solidFill>
                <a:srgbClr val="64748B">
                  <a:alpha val="7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15"/>
            <p:cNvGrpSpPr/>
            <p:nvPr/>
          </p:nvGrpSpPr>
          <p:grpSpPr>
            <a:xfrm>
              <a:off x="-619125" y="-57150"/>
              <a:ext cx="1238400" cy="400200"/>
              <a:chOff x="0" y="0"/>
              <a:chExt cx="1238400" cy="400200"/>
            </a:xfrm>
          </p:grpSpPr>
          <p:sp>
            <p:nvSpPr>
              <p:cNvPr id="126" name="Google Shape;126;p15"/>
              <p:cNvSpPr/>
              <p:nvPr/>
            </p:nvSpPr>
            <p:spPr>
              <a:xfrm>
                <a:off x="0" y="0"/>
                <a:ext cx="1238400" cy="400200"/>
              </a:xfrm>
              <a:prstGeom prst="roundRect">
                <a:avLst>
                  <a:gd fmla="val 2857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7" name="Google Shape;127;p1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5250" y="95250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5"/>
              <p:cNvSpPr/>
              <p:nvPr/>
            </p:nvSpPr>
            <p:spPr>
              <a:xfrm>
                <a:off x="142875" y="161925"/>
                <a:ext cx="114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60000" y="75000"/>
                    </a:lnTo>
                    <a:close/>
                    <a:moveTo>
                      <a:pt x="0" y="30000"/>
                    </a:moveTo>
                    <a:lnTo>
                      <a:pt x="60000" y="105000"/>
                    </a:lnTo>
                    <a:lnTo>
                      <a:pt x="120000" y="30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381000" y="114300"/>
                <a:ext cx="666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172A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381000" y="209550"/>
                <a:ext cx="333300" cy="47700"/>
              </a:xfrm>
              <a:prstGeom prst="roundRect">
                <a:avLst>
                  <a:gd fmla="val 40000" name="adj"/>
                </a:avLst>
              </a:prstGeom>
              <a:solidFill>
                <a:srgbClr val="64748B">
                  <a:alpha val="7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1" name="Google Shape;131;p15"/>
            <p:cNvSpPr/>
            <p:nvPr/>
          </p:nvSpPr>
          <p:spPr>
            <a:xfrm>
              <a:off x="-333375" y="1447800"/>
              <a:ext cx="666900" cy="381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2" name="Google Shape;132;p15"/>
            <p:cNvGrpSpPr/>
            <p:nvPr/>
          </p:nvGrpSpPr>
          <p:grpSpPr>
            <a:xfrm>
              <a:off x="-2019300" y="-1543050"/>
              <a:ext cx="609600" cy="609600"/>
              <a:chOff x="-304800" y="-304800"/>
              <a:chExt cx="609600" cy="609600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-304800" y="-304800"/>
                <a:ext cx="609600" cy="609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4" name="Google Shape;134;p15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-228600" y="-2286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" name="Google Shape;135;p15"/>
              <p:cNvSpPr/>
              <p:nvPr/>
            </p:nvSpPr>
            <p:spPr>
              <a:xfrm>
                <a:off x="-57150" y="-38100"/>
                <a:ext cx="114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0" y="40000"/>
                    </a:moveTo>
                    <a:lnTo>
                      <a:pt x="60000" y="120000"/>
                    </a:lnTo>
                    <a:lnTo>
                      <a:pt x="120000" y="4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15"/>
            <p:cNvGrpSpPr/>
            <p:nvPr/>
          </p:nvGrpSpPr>
          <p:grpSpPr>
            <a:xfrm>
              <a:off x="1409700" y="-1352550"/>
              <a:ext cx="609600" cy="609600"/>
              <a:chOff x="-304800" y="-304800"/>
              <a:chExt cx="609600" cy="609600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-304800" y="-304800"/>
                <a:ext cx="609600" cy="609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8" name="Google Shape;138;p1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-228600" y="-2286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" name="Google Shape;139;p15"/>
              <p:cNvSpPr/>
              <p:nvPr/>
            </p:nvSpPr>
            <p:spPr>
              <a:xfrm>
                <a:off x="-47625" y="-38100"/>
                <a:ext cx="954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72000" y="0"/>
                    </a:lnTo>
                    <a:cubicBezTo>
                      <a:pt x="102000" y="0"/>
                      <a:pt x="120000" y="15000"/>
                      <a:pt x="120000" y="40000"/>
                    </a:cubicBezTo>
                    <a:cubicBezTo>
                      <a:pt x="120000" y="65000"/>
                      <a:pt x="102000" y="80000"/>
                      <a:pt x="72000" y="80000"/>
                    </a:cubicBezTo>
                    <a:lnTo>
                      <a:pt x="0" y="80000"/>
                    </a:lnTo>
                    <a:close/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p15"/>
            <p:cNvGrpSpPr/>
            <p:nvPr/>
          </p:nvGrpSpPr>
          <p:grpSpPr>
            <a:xfrm>
              <a:off x="-1828800" y="742950"/>
              <a:ext cx="609600" cy="609600"/>
              <a:chOff x="-304800" y="-304800"/>
              <a:chExt cx="609600" cy="609600"/>
            </a:xfrm>
          </p:grpSpPr>
          <p:sp>
            <p:nvSpPr>
              <p:cNvPr id="141" name="Google Shape;141;p15"/>
              <p:cNvSpPr/>
              <p:nvPr/>
            </p:nvSpPr>
            <p:spPr>
              <a:xfrm>
                <a:off x="-304800" y="-304800"/>
                <a:ext cx="609600" cy="609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42" name="Google Shape;142;p1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-228600" y="-2286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" name="Google Shape;143;p15"/>
              <p:cNvSpPr/>
              <p:nvPr/>
            </p:nvSpPr>
            <p:spPr>
              <a:xfrm>
                <a:off x="-57150" y="-47625"/>
                <a:ext cx="104700" cy="95400"/>
              </a:xfrm>
              <a:custGeom>
                <a:rect b="b" l="l" r="r" t="t"/>
                <a:pathLst>
                  <a:path extrusionOk="0" h="120000" w="120000">
                    <a:moveTo>
                      <a:pt x="0" y="84000"/>
                    </a:moveTo>
                    <a:lnTo>
                      <a:pt x="0" y="12000"/>
                    </a:lnTo>
                    <a:cubicBezTo>
                      <a:pt x="0" y="0"/>
                      <a:pt x="76364" y="0"/>
                      <a:pt x="76364" y="48000"/>
                    </a:cubicBezTo>
                    <a:lnTo>
                      <a:pt x="76364" y="120000"/>
                    </a:lnTo>
                    <a:moveTo>
                      <a:pt x="120000" y="120000"/>
                    </a:moveTo>
                    <a:lnTo>
                      <a:pt x="120000" y="48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p15"/>
            <p:cNvGrpSpPr/>
            <p:nvPr/>
          </p:nvGrpSpPr>
          <p:grpSpPr>
            <a:xfrm>
              <a:off x="1219200" y="933450"/>
              <a:ext cx="609600" cy="609600"/>
              <a:chOff x="-304800" y="-304800"/>
              <a:chExt cx="609600" cy="609600"/>
            </a:xfrm>
          </p:grpSpPr>
          <p:sp>
            <p:nvSpPr>
              <p:cNvPr id="145" name="Google Shape;145;p15"/>
              <p:cNvSpPr/>
              <p:nvPr/>
            </p:nvSpPr>
            <p:spPr>
              <a:xfrm>
                <a:off x="-304800" y="-304800"/>
                <a:ext cx="609600" cy="609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46" name="Google Shape;146;p1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-228600" y="-2286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" name="Google Shape;147;p15"/>
              <p:cNvSpPr/>
              <p:nvPr/>
            </p:nvSpPr>
            <p:spPr>
              <a:xfrm>
                <a:off x="-57150" y="-76200"/>
                <a:ext cx="114300" cy="1524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37500"/>
                    </a:moveTo>
                    <a:lnTo>
                      <a:pt x="60000" y="0"/>
                    </a:lnTo>
                    <a:lnTo>
                      <a:pt x="120000" y="375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5"/>
            <p:cNvGrpSpPr/>
            <p:nvPr/>
          </p:nvGrpSpPr>
          <p:grpSpPr>
            <a:xfrm>
              <a:off x="-419100" y="1009650"/>
              <a:ext cx="838200" cy="838200"/>
              <a:chOff x="-419100" y="-419100"/>
              <a:chExt cx="838200" cy="838200"/>
            </a:xfrm>
          </p:grpSpPr>
          <p:sp>
            <p:nvSpPr>
              <p:cNvPr id="149" name="Google Shape;149;p15"/>
              <p:cNvSpPr/>
              <p:nvPr/>
            </p:nvSpPr>
            <p:spPr>
              <a:xfrm>
                <a:off x="-419100" y="-419100"/>
                <a:ext cx="838200" cy="838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50" name="Google Shape;150;p15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-342900" y="-342900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" name="Google Shape;151;p15"/>
              <p:cNvSpPr/>
              <p:nvPr/>
            </p:nvSpPr>
            <p:spPr>
              <a:xfrm>
                <a:off x="-114300" y="-114300"/>
                <a:ext cx="228600" cy="2097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35000" y="0"/>
                      <a:pt x="20000" y="21818"/>
                      <a:pt x="20000" y="49091"/>
                    </a:cubicBezTo>
                    <a:cubicBezTo>
                      <a:pt x="20000" y="87273"/>
                      <a:pt x="0" y="98182"/>
                      <a:pt x="0" y="120000"/>
                    </a:cubicBezTo>
                    <a:lnTo>
                      <a:pt x="120000" y="120000"/>
                    </a:lnTo>
                    <a:cubicBezTo>
                      <a:pt x="120000" y="98182"/>
                      <a:pt x="100000" y="87273"/>
                      <a:pt x="100000" y="49091"/>
                    </a:cubicBezTo>
                    <a:cubicBezTo>
                      <a:pt x="100000" y="21818"/>
                      <a:pt x="85000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-28575" y="123825"/>
                <a:ext cx="57300" cy="381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60000"/>
                      <a:pt x="60000" y="120000"/>
                      <a:pt x="120000" y="120000"/>
                    </a:cubicBezTo>
                    <a:cubicBezTo>
                      <a:pt x="120000" y="120000"/>
                      <a:pt x="120000" y="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19050" y="-114300"/>
                <a:ext cx="76200" cy="762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" name="Google Shape;154;p15"/>
          <p:cNvGrpSpPr/>
          <p:nvPr/>
        </p:nvGrpSpPr>
        <p:grpSpPr>
          <a:xfrm>
            <a:off x="762000" y="1095375"/>
            <a:ext cx="5715000" cy="4381500"/>
            <a:chOff x="0" y="0"/>
            <a:chExt cx="5715000" cy="4381500"/>
          </a:xfrm>
        </p:grpSpPr>
        <p:sp>
          <p:nvSpPr>
            <p:cNvPr id="155" name="Google Shape;155;p15"/>
            <p:cNvSpPr txBox="1"/>
            <p:nvPr/>
          </p:nvSpPr>
          <p:spPr>
            <a:xfrm>
              <a:off x="0" y="0"/>
              <a:ext cx="5715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00">
                  <a:solidFill>
                    <a:srgbClr val="0F172A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When 20 Million Alerts Meet Real‑World Chaos</a:t>
              </a:r>
              <a:endParaRPr b="1" sz="380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0" y="1905000"/>
              <a:ext cx="571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Lessons from modernizing a high-volume notification platform with LangGraph</a:t>
              </a:r>
              <a:endParaRPr b="0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157" name="Google Shape;157;p15"/>
            <p:cNvGrpSpPr/>
            <p:nvPr/>
          </p:nvGrpSpPr>
          <p:grpSpPr>
            <a:xfrm>
              <a:off x="0" y="3429000"/>
              <a:ext cx="5334000" cy="952500"/>
              <a:chOff x="0" y="0"/>
              <a:chExt cx="5334000" cy="952500"/>
            </a:xfrm>
          </p:grpSpPr>
          <p:sp>
            <p:nvSpPr>
              <p:cNvPr id="158" name="Google Shape;158;p15"/>
              <p:cNvSpPr/>
              <p:nvPr/>
            </p:nvSpPr>
            <p:spPr>
              <a:xfrm>
                <a:off x="0" y="0"/>
                <a:ext cx="5334000" cy="952500"/>
              </a:xfrm>
              <a:prstGeom prst="roundRect">
                <a:avLst>
                  <a:gd fmla="val 16000" name="adj"/>
                </a:avLst>
              </a:prstGeom>
              <a:solidFill>
                <a:srgbClr val="EEF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5"/>
              <p:cNvSpPr txBox="1"/>
              <p:nvPr/>
            </p:nvSpPr>
            <p:spPr>
              <a:xfrm>
                <a:off x="228600" y="190500"/>
                <a:ext cx="4876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1300">
                    <a:solidFill>
                      <a:srgbClr val="1E293B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“It’s not just about sending alerts. It’s about orchestrating the right alert to the right person at the right time.”</a:t>
                </a:r>
                <a:endParaRPr b="0" i="1" sz="1300">
                  <a:solidFill>
                    <a:srgbClr val="1E293B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16"/>
          <p:cNvGrpSpPr/>
          <p:nvPr/>
        </p:nvGrpSpPr>
        <p:grpSpPr>
          <a:xfrm>
            <a:off x="762000" y="476250"/>
            <a:ext cx="10668000" cy="809775"/>
            <a:chOff x="0" y="0"/>
            <a:chExt cx="10668000" cy="809775"/>
          </a:xfrm>
        </p:grpSpPr>
        <p:sp>
          <p:nvSpPr>
            <p:cNvPr id="166" name="Google Shape;166;p16"/>
            <p:cNvSpPr txBox="1"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0F172A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The Challenge: Reality Is Never a Straight Line</a:t>
              </a:r>
              <a:endParaRPr b="1" sz="296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0" y="523875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2563EB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“On paper, the architecture looked solid…”</a:t>
              </a:r>
              <a:endParaRPr b="0" sz="1600">
                <a:solidFill>
                  <a:srgbClr val="2563EB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168" name="Google Shape;168;p16"/>
          <p:cNvGrpSpPr/>
          <p:nvPr/>
        </p:nvGrpSpPr>
        <p:grpSpPr>
          <a:xfrm>
            <a:off x="762000" y="1571625"/>
            <a:ext cx="4953000" cy="3810075"/>
            <a:chOff x="0" y="0"/>
            <a:chExt cx="4953000" cy="3810075"/>
          </a:xfrm>
        </p:grpSpPr>
        <p:grpSp>
          <p:nvGrpSpPr>
            <p:cNvPr id="169" name="Google Shape;169;p16"/>
            <p:cNvGrpSpPr/>
            <p:nvPr/>
          </p:nvGrpSpPr>
          <p:grpSpPr>
            <a:xfrm>
              <a:off x="0" y="0"/>
              <a:ext cx="4953000" cy="809700"/>
              <a:chOff x="0" y="0"/>
              <a:chExt cx="4953000" cy="809700"/>
            </a:xfrm>
          </p:grpSpPr>
          <p:sp>
            <p:nvSpPr>
              <p:cNvPr id="170" name="Google Shape;170;p16"/>
              <p:cNvSpPr/>
              <p:nvPr/>
            </p:nvSpPr>
            <p:spPr>
              <a:xfrm>
                <a:off x="0" y="0"/>
                <a:ext cx="49530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6"/>
              <p:cNvSpPr/>
              <p:nvPr/>
            </p:nvSpPr>
            <p:spPr>
              <a:xfrm>
                <a:off x="219075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6"/>
              <p:cNvSpPr/>
              <p:nvPr/>
            </p:nvSpPr>
            <p:spPr>
              <a:xfrm>
                <a:off x="352425" y="328613"/>
                <a:ext cx="152400" cy="152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6"/>
              <p:cNvSpPr/>
              <p:nvPr/>
            </p:nvSpPr>
            <p:spPr>
              <a:xfrm>
                <a:off x="323850" y="376238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>
                <a:off x="476250" y="376238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6"/>
              <p:cNvSpPr txBox="1"/>
              <p:nvPr/>
            </p:nvSpPr>
            <p:spPr>
              <a:xfrm>
                <a:off x="809625" y="142875"/>
                <a:ext cx="3952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6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Different Rules</a:t>
                </a:r>
                <a:endParaRPr b="1" sz="1156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018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Distinct pathways and routing logics needed for individual users vs. corporate accounts.</a:t>
                </a:r>
                <a:endParaRPr b="0" sz="1018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76" name="Google Shape;176;p16"/>
            <p:cNvGrpSpPr/>
            <p:nvPr/>
          </p:nvGrpSpPr>
          <p:grpSpPr>
            <a:xfrm>
              <a:off x="0" y="1000125"/>
              <a:ext cx="4953000" cy="809700"/>
              <a:chOff x="0" y="0"/>
              <a:chExt cx="4953000" cy="809700"/>
            </a:xfrm>
          </p:grpSpPr>
          <p:sp>
            <p:nvSpPr>
              <p:cNvPr id="177" name="Google Shape;177;p16"/>
              <p:cNvSpPr/>
              <p:nvPr/>
            </p:nvSpPr>
            <p:spPr>
              <a:xfrm>
                <a:off x="0" y="0"/>
                <a:ext cx="49530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6"/>
              <p:cNvSpPr/>
              <p:nvPr/>
            </p:nvSpPr>
            <p:spPr>
              <a:xfrm>
                <a:off x="219075" y="195263"/>
                <a:ext cx="419100" cy="419100"/>
              </a:xfrm>
              <a:prstGeom prst="ellipse">
                <a:avLst/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6"/>
              <p:cNvSpPr/>
              <p:nvPr/>
            </p:nvSpPr>
            <p:spPr>
              <a:xfrm>
                <a:off x="352425" y="342900"/>
                <a:ext cx="152400" cy="1239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6A3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6"/>
              <p:cNvSpPr/>
              <p:nvPr/>
            </p:nvSpPr>
            <p:spPr>
              <a:xfrm>
                <a:off x="390525" y="385763"/>
                <a:ext cx="76200" cy="477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16A3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6"/>
              <p:cNvSpPr txBox="1"/>
              <p:nvPr/>
            </p:nvSpPr>
            <p:spPr>
              <a:xfrm>
                <a:off x="809625" y="142875"/>
                <a:ext cx="3952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6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Complex Eligibility</a:t>
                </a:r>
                <a:endParaRPr b="1" sz="1156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018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Evaluating who should receive the alert based on real-time, dynamic conditions.</a:t>
                </a:r>
                <a:endParaRPr b="0" sz="1018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2" name="Google Shape;182;p16"/>
            <p:cNvGrpSpPr/>
            <p:nvPr/>
          </p:nvGrpSpPr>
          <p:grpSpPr>
            <a:xfrm>
              <a:off x="0" y="2000250"/>
              <a:ext cx="4953000" cy="809700"/>
              <a:chOff x="0" y="0"/>
              <a:chExt cx="4953000" cy="809700"/>
            </a:xfrm>
          </p:grpSpPr>
          <p:sp>
            <p:nvSpPr>
              <p:cNvPr id="183" name="Google Shape;183;p16"/>
              <p:cNvSpPr/>
              <p:nvPr/>
            </p:nvSpPr>
            <p:spPr>
              <a:xfrm>
                <a:off x="0" y="0"/>
                <a:ext cx="49530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6"/>
              <p:cNvSpPr/>
              <p:nvPr/>
            </p:nvSpPr>
            <p:spPr>
              <a:xfrm>
                <a:off x="219075" y="195263"/>
                <a:ext cx="419100" cy="419100"/>
              </a:xfrm>
              <a:prstGeom prst="ellipse">
                <a:avLst/>
              </a:prstGeom>
              <a:solidFill>
                <a:srgbClr val="FFF7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6"/>
              <p:cNvSpPr/>
              <p:nvPr/>
            </p:nvSpPr>
            <p:spPr>
              <a:xfrm>
                <a:off x="319095" y="294191"/>
                <a:ext cx="152400" cy="139200"/>
              </a:xfrm>
              <a:custGeom>
                <a:rect b="b" l="l" r="r" t="t"/>
                <a:pathLst>
                  <a:path extrusionOk="0" h="120000" w="120000">
                    <a:moveTo>
                      <a:pt x="26244" y="120000"/>
                    </a:moveTo>
                    <a:cubicBezTo>
                      <a:pt x="2544" y="102342"/>
                      <a:pt x="-6436" y="68794"/>
                      <a:pt x="4809" y="39923"/>
                    </a:cubicBezTo>
                    <a:cubicBezTo>
                      <a:pt x="16054" y="11051"/>
                      <a:pt x="44383" y="-5077"/>
                      <a:pt x="72429" y="1425"/>
                    </a:cubicBezTo>
                    <a:cubicBezTo>
                      <a:pt x="100475" y="7927"/>
                      <a:pt x="120402" y="35242"/>
                      <a:pt x="119994" y="66626"/>
                    </a:cubicBezTo>
                    <a:moveTo>
                      <a:pt x="116244" y="33780"/>
                    </a:moveTo>
                    <a:lnTo>
                      <a:pt x="116244" y="74837"/>
                    </a:lnTo>
                    <a:lnTo>
                      <a:pt x="78744" y="74837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EA58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6"/>
              <p:cNvSpPr/>
              <p:nvPr/>
            </p:nvSpPr>
            <p:spPr>
              <a:xfrm>
                <a:off x="409575" y="390525"/>
                <a:ext cx="38100" cy="381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120000"/>
                    </a:moveTo>
                    <a:lnTo>
                      <a:pt x="120000" y="0"/>
                    </a:lnTo>
                    <a:moveTo>
                      <a:pt x="120000" y="12000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EA58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6"/>
              <p:cNvSpPr txBox="1"/>
              <p:nvPr/>
            </p:nvSpPr>
            <p:spPr>
              <a:xfrm>
                <a:off x="809625" y="142875"/>
                <a:ext cx="3952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6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Retries &amp; Failures</a:t>
                </a:r>
                <a:endParaRPr b="1" sz="1156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018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Handling delivery exceptions gracefully with automated, multi-channel fallback loops.</a:t>
                </a:r>
                <a:endParaRPr b="0" sz="1018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8" name="Google Shape;188;p16"/>
            <p:cNvGrpSpPr/>
            <p:nvPr/>
          </p:nvGrpSpPr>
          <p:grpSpPr>
            <a:xfrm>
              <a:off x="0" y="3000375"/>
              <a:ext cx="4953000" cy="809700"/>
              <a:chOff x="0" y="0"/>
              <a:chExt cx="4953000" cy="809700"/>
            </a:xfrm>
          </p:grpSpPr>
          <p:sp>
            <p:nvSpPr>
              <p:cNvPr id="189" name="Google Shape;189;p16"/>
              <p:cNvSpPr/>
              <p:nvPr/>
            </p:nvSpPr>
            <p:spPr>
              <a:xfrm>
                <a:off x="0" y="0"/>
                <a:ext cx="49530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6"/>
              <p:cNvSpPr/>
              <p:nvPr/>
            </p:nvSpPr>
            <p:spPr>
              <a:xfrm>
                <a:off x="219075" y="195263"/>
                <a:ext cx="419100" cy="419100"/>
              </a:xfrm>
              <a:prstGeom prst="ellipse">
                <a:avLst/>
              </a:prstGeom>
              <a:solidFill>
                <a:srgbClr val="FAF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333375" y="309563"/>
                <a:ext cx="1905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12000" y="75000"/>
                      <a:pt x="108000" y="75000"/>
                      <a:pt x="120000" y="120000"/>
                    </a:cubicBezTo>
                    <a:moveTo>
                      <a:pt x="60000" y="60000"/>
                    </a:moveTo>
                    <a:cubicBezTo>
                      <a:pt x="46745" y="60000"/>
                      <a:pt x="36000" y="46569"/>
                      <a:pt x="36000" y="30000"/>
                    </a:cubicBezTo>
                    <a:cubicBezTo>
                      <a:pt x="36000" y="13431"/>
                      <a:pt x="46745" y="0"/>
                      <a:pt x="60000" y="0"/>
                    </a:cubicBezTo>
                    <a:cubicBezTo>
                      <a:pt x="73255" y="0"/>
                      <a:pt x="84000" y="13431"/>
                      <a:pt x="84000" y="30000"/>
                    </a:cubicBezTo>
                    <a:cubicBezTo>
                      <a:pt x="84000" y="46569"/>
                      <a:pt x="73255" y="60000"/>
                      <a:pt x="60000" y="6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7C3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457200" y="381000"/>
                <a:ext cx="95400" cy="95400"/>
              </a:xfrm>
              <a:prstGeom prst="ellipse">
                <a:avLst/>
              </a:prstGeom>
              <a:solidFill>
                <a:srgbClr val="7C3AED"/>
              </a:solidFill>
              <a:ln cap="flat" cmpd="sng" w="14300">
                <a:solidFill>
                  <a:srgbClr val="FAF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6"/>
              <p:cNvSpPr txBox="1"/>
              <p:nvPr/>
            </p:nvSpPr>
            <p:spPr>
              <a:xfrm>
                <a:off x="809625" y="142875"/>
                <a:ext cx="3952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6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Operational Visibility</a:t>
                </a:r>
                <a:endParaRPr b="1" sz="1156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018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Business teams need clear dashboards and real-time query tracing of what happened.</a:t>
                </a:r>
                <a:endParaRPr b="0" sz="1018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94" name="Google Shape;194;p16"/>
          <p:cNvGrpSpPr/>
          <p:nvPr/>
        </p:nvGrpSpPr>
        <p:grpSpPr>
          <a:xfrm>
            <a:off x="762000" y="5667375"/>
            <a:ext cx="4953000" cy="571500"/>
            <a:chOff x="0" y="0"/>
            <a:chExt cx="4953000" cy="571500"/>
          </a:xfrm>
        </p:grpSpPr>
        <p:sp>
          <p:nvSpPr>
            <p:cNvPr id="195" name="Google Shape;195;p16"/>
            <p:cNvSpPr/>
            <p:nvPr/>
          </p:nvSpPr>
          <p:spPr>
            <a:xfrm>
              <a:off x="0" y="0"/>
              <a:ext cx="4953000" cy="571500"/>
            </a:xfrm>
            <a:prstGeom prst="roundRect">
              <a:avLst>
                <a:gd fmla="val 20000" name="adj"/>
              </a:avLst>
            </a:prstGeom>
            <a:solidFill>
              <a:srgbClr val="F3E8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6"/>
            <p:cNvSpPr txBox="1"/>
            <p:nvPr/>
          </p:nvSpPr>
          <p:spPr>
            <a:xfrm>
              <a:off x="190500" y="171450"/>
              <a:ext cx="457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156">
                  <a:solidFill>
                    <a:srgbClr val="7C3AED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“Manual rules and point solutions couldn’t keep up.”</a:t>
              </a:r>
              <a:endParaRPr b="0" i="1" sz="1156">
                <a:solidFill>
                  <a:srgbClr val="7C3AED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197" name="Google Shape;197;p16"/>
          <p:cNvGrpSpPr/>
          <p:nvPr/>
        </p:nvGrpSpPr>
        <p:grpSpPr>
          <a:xfrm>
            <a:off x="6477000" y="1571625"/>
            <a:ext cx="4953000" cy="4667400"/>
            <a:chOff x="0" y="0"/>
            <a:chExt cx="4953000" cy="4667400"/>
          </a:xfrm>
        </p:grpSpPr>
        <p:sp>
          <p:nvSpPr>
            <p:cNvPr id="198" name="Google Shape;198;p16"/>
            <p:cNvSpPr/>
            <p:nvPr/>
          </p:nvSpPr>
          <p:spPr>
            <a:xfrm>
              <a:off x="0" y="0"/>
              <a:ext cx="4953000" cy="4667400"/>
            </a:xfrm>
            <a:prstGeom prst="roundRect">
              <a:avLst>
                <a:gd fmla="val 489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modern vector schema representing system complexity. An engineer at the center of an interconnected network diagram featuring notification flows, complex branching channels, retry loops, email/SMS symbols, and bright orange data nodes on a dark slate background. Sophisticated tech aesthetic." id="199" name="Google Shape;199;p16"/>
            <p:cNvPicPr preferRelativeResize="0"/>
            <p:nvPr/>
          </p:nvPicPr>
          <p:blipFill rotWithShape="1">
            <a:blip r:embed="rId3">
              <a:alphaModFix/>
            </a:blip>
            <a:srcRect b="2884" l="0" r="0" t="2884"/>
            <a:stretch/>
          </p:blipFill>
          <p:spPr>
            <a:xfrm>
              <a:off x="0" y="0"/>
              <a:ext cx="4953000" cy="4667400"/>
            </a:xfrm>
            <a:prstGeom prst="roundRect">
              <a:avLst>
                <a:gd fmla="val 4897" name="adj"/>
              </a:avLst>
            </a:prstGeom>
            <a:noFill/>
            <a:ln>
              <a:noFill/>
            </a:ln>
          </p:spPr>
        </p:pic>
        <p:sp>
          <p:nvSpPr>
            <p:cNvPr id="200" name="Google Shape;200;p16"/>
            <p:cNvSpPr/>
            <p:nvPr/>
          </p:nvSpPr>
          <p:spPr>
            <a:xfrm>
              <a:off x="0" y="0"/>
              <a:ext cx="4953000" cy="4667400"/>
            </a:xfrm>
            <a:prstGeom prst="roundRect">
              <a:avLst>
                <a:gd fmla="val 4897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762000" y="476250"/>
            <a:ext cx="10668000" cy="743100"/>
            <a:chOff x="0" y="0"/>
            <a:chExt cx="10668000" cy="743100"/>
          </a:xfrm>
        </p:grpSpPr>
        <p:sp>
          <p:nvSpPr>
            <p:cNvPr id="207" name="Google Shape;207;p17"/>
            <p:cNvSpPr txBox="1"/>
            <p:nvPr/>
          </p:nvSpPr>
          <p:spPr>
            <a:xfrm>
              <a:off x="0" y="0"/>
              <a:ext cx="1066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75">
                  <a:solidFill>
                    <a:srgbClr val="0F172A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The Real-World Use Case</a:t>
              </a:r>
              <a:endParaRPr b="1" sz="2775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0" y="45720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2563EB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“A global communications company needed to modernize its notification platform.”</a:t>
              </a:r>
              <a:endParaRPr b="0" sz="1600">
                <a:solidFill>
                  <a:srgbClr val="2563EB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209" name="Google Shape;209;p17"/>
          <p:cNvGrpSpPr/>
          <p:nvPr/>
        </p:nvGrpSpPr>
        <p:grpSpPr>
          <a:xfrm>
            <a:off x="762000" y="1905000"/>
            <a:ext cx="10668150" cy="2381400"/>
            <a:chOff x="762000" y="1905000"/>
            <a:chExt cx="10668150" cy="2381400"/>
          </a:xfrm>
        </p:grpSpPr>
        <p:grpSp>
          <p:nvGrpSpPr>
            <p:cNvPr id="210" name="Google Shape;210;p17"/>
            <p:cNvGrpSpPr/>
            <p:nvPr/>
          </p:nvGrpSpPr>
          <p:grpSpPr>
            <a:xfrm>
              <a:off x="762000" y="1905000"/>
              <a:ext cx="2381400" cy="2381400"/>
              <a:chOff x="0" y="0"/>
              <a:chExt cx="2381400" cy="2381400"/>
            </a:xfrm>
          </p:grpSpPr>
          <p:sp>
            <p:nvSpPr>
              <p:cNvPr id="211" name="Google Shape;211;p17"/>
              <p:cNvSpPr/>
              <p:nvPr/>
            </p:nvSpPr>
            <p:spPr>
              <a:xfrm>
                <a:off x="0" y="0"/>
                <a:ext cx="2381400" cy="2381400"/>
              </a:xfrm>
              <a:prstGeom prst="roundRect">
                <a:avLst>
                  <a:gd fmla="val 64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7"/>
              <p:cNvSpPr txBox="1"/>
              <p:nvPr/>
            </p:nvSpPr>
            <p:spPr>
              <a:xfrm>
                <a:off x="238125" y="904875"/>
                <a:ext cx="19050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20M+</a:t>
                </a:r>
                <a:endParaRPr b="1" sz="22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Alerts per day processed seamlessly</a:t>
                </a:r>
                <a:endParaRPr b="1" sz="11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13" name="Google Shape;213;p17"/>
            <p:cNvGrpSpPr/>
            <p:nvPr/>
          </p:nvGrpSpPr>
          <p:grpSpPr>
            <a:xfrm>
              <a:off x="3524250" y="1905000"/>
              <a:ext cx="2381400" cy="2381400"/>
              <a:chOff x="0" y="0"/>
              <a:chExt cx="2381400" cy="2381400"/>
            </a:xfrm>
          </p:grpSpPr>
          <p:sp>
            <p:nvSpPr>
              <p:cNvPr id="214" name="Google Shape;214;p17"/>
              <p:cNvSpPr/>
              <p:nvPr/>
            </p:nvSpPr>
            <p:spPr>
              <a:xfrm>
                <a:off x="0" y="0"/>
                <a:ext cx="2381400" cy="2381400"/>
              </a:xfrm>
              <a:prstGeom prst="roundRect">
                <a:avLst>
                  <a:gd fmla="val 64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7"/>
              <p:cNvSpPr txBox="1"/>
              <p:nvPr/>
            </p:nvSpPr>
            <p:spPr>
              <a:xfrm>
                <a:off x="238125" y="904875"/>
                <a:ext cx="19050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Millions</a:t>
                </a:r>
                <a:endParaRPr b="1" sz="22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Users across global corporate accounts</a:t>
                </a:r>
                <a:endParaRPr b="1" sz="11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16" name="Google Shape;216;p17"/>
            <p:cNvGrpSpPr/>
            <p:nvPr/>
          </p:nvGrpSpPr>
          <p:grpSpPr>
            <a:xfrm>
              <a:off x="6286500" y="1905000"/>
              <a:ext cx="2381400" cy="2381400"/>
              <a:chOff x="0" y="0"/>
              <a:chExt cx="2381400" cy="2381400"/>
            </a:xfrm>
          </p:grpSpPr>
          <p:sp>
            <p:nvSpPr>
              <p:cNvPr id="217" name="Google Shape;217;p17"/>
              <p:cNvSpPr/>
              <p:nvPr/>
            </p:nvSpPr>
            <p:spPr>
              <a:xfrm>
                <a:off x="0" y="0"/>
                <a:ext cx="2381400" cy="2381400"/>
              </a:xfrm>
              <a:prstGeom prst="roundRect">
                <a:avLst>
                  <a:gd fmla="val 64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7"/>
              <p:cNvSpPr txBox="1"/>
              <p:nvPr/>
            </p:nvSpPr>
            <p:spPr>
              <a:xfrm>
                <a:off x="238125" y="904875"/>
                <a:ext cx="19050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Strict</a:t>
                </a:r>
                <a:endParaRPr b="1" sz="22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Eligibility and compliance rules</a:t>
                </a:r>
                <a:endParaRPr b="1" sz="11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19" name="Google Shape;219;p17"/>
            <p:cNvGrpSpPr/>
            <p:nvPr/>
          </p:nvGrpSpPr>
          <p:grpSpPr>
            <a:xfrm>
              <a:off x="9048750" y="1905000"/>
              <a:ext cx="2381400" cy="2381400"/>
              <a:chOff x="0" y="0"/>
              <a:chExt cx="2381400" cy="2381400"/>
            </a:xfrm>
          </p:grpSpPr>
          <p:sp>
            <p:nvSpPr>
              <p:cNvPr id="220" name="Google Shape;220;p17"/>
              <p:cNvSpPr/>
              <p:nvPr/>
            </p:nvSpPr>
            <p:spPr>
              <a:xfrm>
                <a:off x="0" y="0"/>
                <a:ext cx="2381400" cy="2381400"/>
              </a:xfrm>
              <a:prstGeom prst="roundRect">
                <a:avLst>
                  <a:gd fmla="val 64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 txBox="1"/>
              <p:nvPr/>
            </p:nvSpPr>
            <p:spPr>
              <a:xfrm>
                <a:off x="238125" y="904875"/>
                <a:ext cx="19050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Real-time</a:t>
                </a:r>
                <a:endParaRPr b="1" sz="22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Delivery with high absolute reliability</a:t>
                </a:r>
                <a:endParaRPr b="1" sz="11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222" name="Google Shape;222;p17"/>
          <p:cNvGrpSpPr/>
          <p:nvPr/>
        </p:nvGrpSpPr>
        <p:grpSpPr>
          <a:xfrm>
            <a:off x="762000" y="4667250"/>
            <a:ext cx="10668000" cy="857400"/>
            <a:chOff x="0" y="0"/>
            <a:chExt cx="10668000" cy="857400"/>
          </a:xfrm>
        </p:grpSpPr>
        <p:sp>
          <p:nvSpPr>
            <p:cNvPr id="223" name="Google Shape;223;p17"/>
            <p:cNvSpPr/>
            <p:nvPr/>
          </p:nvSpPr>
          <p:spPr>
            <a:xfrm>
              <a:off x="0" y="0"/>
              <a:ext cx="10668000" cy="857400"/>
            </a:xfrm>
            <a:prstGeom prst="roundRect">
              <a:avLst>
                <a:gd fmla="val 17777" name="adj"/>
              </a:avLst>
            </a:prstGeom>
            <a:solidFill>
              <a:srgbClr val="F3E8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285750" y="0"/>
              <a:ext cx="10096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350">
                  <a:solidFill>
                    <a:srgbClr val="7C3AED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“We needed more than a message pipeline. We needed an intelligent orchestrator.”</a:t>
              </a:r>
              <a:endParaRPr b="0" i="1" sz="1350">
                <a:solidFill>
                  <a:srgbClr val="7C3AED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/>
        </p:nvSpPr>
        <p:spPr>
          <a:xfrm>
            <a:off x="762000" y="571500"/>
            <a:ext cx="4190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762000" y="1181100"/>
            <a:ext cx="39909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p18"/>
          <p:cNvGrpSpPr/>
          <p:nvPr/>
        </p:nvGrpSpPr>
        <p:grpSpPr>
          <a:xfrm>
            <a:off x="762000" y="1428750"/>
            <a:ext cx="10973125" cy="523800"/>
            <a:chOff x="762000" y="1428750"/>
            <a:chExt cx="10973125" cy="523800"/>
          </a:xfrm>
        </p:grpSpPr>
        <p:sp>
          <p:nvSpPr>
            <p:cNvPr id="232" name="Google Shape;232;p18"/>
            <p:cNvSpPr/>
            <p:nvPr/>
          </p:nvSpPr>
          <p:spPr>
            <a:xfrm>
              <a:off x="762000" y="1428750"/>
              <a:ext cx="3333900" cy="523800"/>
            </a:xfrm>
            <a:prstGeom prst="roundRect">
              <a:avLst>
                <a:gd fmla="val 1454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1333500" y="1428750"/>
              <a:ext cx="26670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Grafana </a:t>
              </a:r>
              <a:r>
                <a:rPr b="0" lang="en-US" sz="12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Visual Dashboards</a:t>
              </a:r>
              <a:endParaRPr b="1" sz="12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4286250" y="1428750"/>
              <a:ext cx="3333900" cy="523800"/>
            </a:xfrm>
            <a:prstGeom prst="roundRect">
              <a:avLst>
                <a:gd fmla="val 1454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8"/>
            <p:cNvSpPr txBox="1"/>
            <p:nvPr/>
          </p:nvSpPr>
          <p:spPr>
            <a:xfrm>
              <a:off x="5229375" y="1428750"/>
              <a:ext cx="26670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Log Aggregation &amp; Audit</a:t>
              </a:r>
              <a:endParaRPr b="1" sz="12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7810500" y="1428750"/>
              <a:ext cx="3619500" cy="523800"/>
            </a:xfrm>
            <a:prstGeom prst="roundRect">
              <a:avLst>
                <a:gd fmla="val 1454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8782225" y="1428750"/>
              <a:ext cx="29529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AppDB </a:t>
              </a:r>
              <a:r>
                <a:rPr b="0" lang="en-US" sz="12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APM &amp; Tracing</a:t>
              </a:r>
              <a:endParaRPr b="1" sz="12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8" name="Google Shape;238;p18"/>
          <p:cNvGrpSpPr/>
          <p:nvPr/>
        </p:nvGrpSpPr>
        <p:grpSpPr>
          <a:xfrm>
            <a:off x="762000" y="2143125"/>
            <a:ext cx="2381400" cy="3143400"/>
            <a:chOff x="762000" y="2143125"/>
            <a:chExt cx="2381400" cy="3143400"/>
          </a:xfrm>
        </p:grpSpPr>
        <p:sp>
          <p:nvSpPr>
            <p:cNvPr id="239" name="Google Shape;239;p18"/>
            <p:cNvSpPr/>
            <p:nvPr/>
          </p:nvSpPr>
          <p:spPr>
            <a:xfrm>
              <a:off x="762000" y="2143125"/>
              <a:ext cx="2381400" cy="3143400"/>
            </a:xfrm>
            <a:prstGeom prst="roundRect">
              <a:avLst>
                <a:gd fmla="val 4800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 txBox="1"/>
            <p:nvPr/>
          </p:nvSpPr>
          <p:spPr>
            <a:xfrm>
              <a:off x="762000" y="223837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Source &amp; Ingestion</a:t>
              </a:r>
              <a:endParaRPr b="1" sz="12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904875" y="2667000"/>
              <a:ext cx="2095500" cy="4287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904875" y="26670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143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Critical Alerts (REST)</a:t>
              </a:r>
              <a:endParaRPr b="1" sz="1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Kafka &amp; Ingress Adapter</a:t>
              </a:r>
              <a:endParaRPr sz="9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904875" y="3190875"/>
              <a:ext cx="2095500" cy="4287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8"/>
            <p:cNvSpPr txBox="1"/>
            <p:nvPr/>
          </p:nvSpPr>
          <p:spPr>
            <a:xfrm>
              <a:off x="904875" y="31908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143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Enterprise MQ &amp; SOAP</a:t>
              </a:r>
              <a:endParaRPr b="1" sz="1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Legacy Service Connectors</a:t>
              </a:r>
              <a:endParaRPr sz="9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904875" y="3714750"/>
              <a:ext cx="2095500" cy="4287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8"/>
            <p:cNvSpPr txBox="1"/>
            <p:nvPr/>
          </p:nvSpPr>
          <p:spPr>
            <a:xfrm>
              <a:off x="904875" y="37147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143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File Storage Ingest</a:t>
              </a:r>
              <a:endParaRPr b="1" sz="1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Batch &amp; Bulk File Processor</a:t>
              </a:r>
              <a:endParaRPr sz="9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904875" y="4619625"/>
              <a:ext cx="2095500" cy="428700"/>
            </a:xfrm>
            <a:prstGeom prst="roundRect">
              <a:avLst>
                <a:gd fmla="val 13333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904875" y="46196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2563EB"/>
                  </a:solidFill>
                  <a:latin typeface="DM Sans"/>
                  <a:ea typeface="DM Sans"/>
                  <a:cs typeface="DM Sans"/>
                  <a:sym typeface="DM Sans"/>
                </a:rPr>
                <a:t>Authorized Raw Payload</a:t>
              </a:r>
              <a:endParaRPr b="1" sz="1050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249" name="Google Shape;24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0" y="4143375"/>
              <a:ext cx="95400" cy="428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Google Shape;250;p18"/>
          <p:cNvGrpSpPr/>
          <p:nvPr/>
        </p:nvGrpSpPr>
        <p:grpSpPr>
          <a:xfrm>
            <a:off x="3000375" y="2143125"/>
            <a:ext cx="3166525" cy="3143400"/>
            <a:chOff x="3000375" y="2143125"/>
            <a:chExt cx="3166525" cy="3143400"/>
          </a:xfrm>
        </p:grpSpPr>
        <p:sp>
          <p:nvSpPr>
            <p:cNvPr id="251" name="Google Shape;251;p18"/>
            <p:cNvSpPr/>
            <p:nvPr/>
          </p:nvSpPr>
          <p:spPr>
            <a:xfrm>
              <a:off x="3333750" y="2143125"/>
              <a:ext cx="2571900" cy="3143400"/>
            </a:xfrm>
            <a:prstGeom prst="roundRect">
              <a:avLst>
                <a:gd fmla="val 4444" name="adj"/>
              </a:avLst>
            </a:prstGeom>
            <a:solidFill>
              <a:srgbClr val="EFF6FF"/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8"/>
            <p:cNvSpPr txBox="1"/>
            <p:nvPr/>
          </p:nvSpPr>
          <p:spPr>
            <a:xfrm>
              <a:off x="4119100" y="2224579"/>
              <a:ext cx="2047800" cy="48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3A8A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LangGraph </a:t>
              </a:r>
              <a:endParaRPr b="1" sz="120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3A8A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Orchestrator</a:t>
              </a:r>
              <a:endParaRPr b="1" sz="120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53" name="Google Shape;253;p18"/>
            <p:cNvSpPr/>
            <p:nvPr/>
          </p:nvSpPr>
          <p:spPr>
            <a:xfrm>
              <a:off x="3476625" y="2667000"/>
              <a:ext cx="2286000" cy="4287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8"/>
            <p:cNvSpPr txBox="1"/>
            <p:nvPr/>
          </p:nvSpPr>
          <p:spPr>
            <a:xfrm>
              <a:off x="3476625" y="2833613"/>
              <a:ext cx="228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143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mTLS &amp; JWT Auth Layer</a:t>
              </a:r>
              <a:endParaRPr b="1" sz="10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3476625" y="3190875"/>
              <a:ext cx="2286000" cy="4287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3429000" y="3317013"/>
              <a:ext cx="228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143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Validation &amp; Normalization</a:t>
              </a:r>
              <a:endParaRPr b="1" sz="10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3476625" y="3714750"/>
              <a:ext cx="2286000" cy="4287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8"/>
            <p:cNvSpPr txBox="1"/>
            <p:nvPr/>
          </p:nvSpPr>
          <p:spPr>
            <a:xfrm>
              <a:off x="3476625" y="3905250"/>
              <a:ext cx="228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143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Business Rules Engine</a:t>
              </a:r>
              <a:endParaRPr b="1" sz="10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3476625" y="4619625"/>
              <a:ext cx="2286000" cy="428700"/>
            </a:xfrm>
            <a:prstGeom prst="roundRect">
              <a:avLst>
                <a:gd fmla="val 13333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8"/>
            <p:cNvSpPr txBox="1"/>
            <p:nvPr/>
          </p:nvSpPr>
          <p:spPr>
            <a:xfrm>
              <a:off x="3476625" y="4619625"/>
              <a:ext cx="228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Intelligent Traffic Classifier</a:t>
              </a:r>
              <a:endParaRPr b="1" sz="10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261" name="Google Shape;26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4143375"/>
              <a:ext cx="95400" cy="42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00375" y="3667125"/>
              <a:ext cx="381000" cy="9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" name="Google Shape;263;p18"/>
          <p:cNvGrpSpPr/>
          <p:nvPr/>
        </p:nvGrpSpPr>
        <p:grpSpPr>
          <a:xfrm>
            <a:off x="5762625" y="2143125"/>
            <a:ext cx="3095775" cy="3143400"/>
            <a:chOff x="5762625" y="2143125"/>
            <a:chExt cx="3095775" cy="3143400"/>
          </a:xfrm>
        </p:grpSpPr>
        <p:sp>
          <p:nvSpPr>
            <p:cNvPr id="264" name="Google Shape;264;p18"/>
            <p:cNvSpPr/>
            <p:nvPr/>
          </p:nvSpPr>
          <p:spPr>
            <a:xfrm>
              <a:off x="6096000" y="2143125"/>
              <a:ext cx="2762400" cy="3143400"/>
            </a:xfrm>
            <a:prstGeom prst="roundRect">
              <a:avLst>
                <a:gd fmla="val 413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 txBox="1"/>
            <p:nvPr/>
          </p:nvSpPr>
          <p:spPr>
            <a:xfrm>
              <a:off x="6096000" y="223837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Pipeline Bifurcation</a:t>
              </a:r>
              <a:endParaRPr b="1" sz="12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6238875" y="2667000"/>
              <a:ext cx="2476500" cy="1047900"/>
            </a:xfrm>
            <a:prstGeom prst="roundRect">
              <a:avLst>
                <a:gd fmla="val 7272" name="adj"/>
              </a:avLst>
            </a:prstGeom>
            <a:solidFill>
              <a:srgbClr val="EEF2FF"/>
            </a:solidFill>
            <a:ln cap="flat" cmpd="sng" w="14300">
              <a:solidFill>
                <a:srgbClr val="818C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8"/>
            <p:cNvSpPr txBox="1"/>
            <p:nvPr/>
          </p:nvSpPr>
          <p:spPr>
            <a:xfrm>
              <a:off x="6238875" y="2667000"/>
              <a:ext cx="2476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730A3"/>
                  </a:solidFill>
                  <a:latin typeface="DM Sans"/>
                  <a:ea typeface="DM Sans"/>
                  <a:cs typeface="DM Sans"/>
                  <a:sym typeface="DM Sans"/>
                </a:rPr>
                <a:t>Express Path (Zero-DB)</a:t>
              </a:r>
              <a:endParaRPr b="1" sz="1100">
                <a:solidFill>
                  <a:srgbClr val="3730A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F46E5"/>
                  </a:solidFill>
                  <a:latin typeface="DM Sans"/>
                  <a:ea typeface="DM Sans"/>
                  <a:cs typeface="DM Sans"/>
                  <a:sym typeface="DM Sans"/>
                </a:rPr>
                <a:t>• Instant routing &amp; direct dispatch</a:t>
              </a:r>
              <a:endParaRPr sz="95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F46E5"/>
                  </a:solidFill>
                  <a:latin typeface="DM Sans"/>
                  <a:ea typeface="DM Sans"/>
                  <a:cs typeface="DM Sans"/>
                  <a:sym typeface="DM Sans"/>
                </a:rPr>
                <a:t>• In-memory template caching</a:t>
              </a:r>
              <a:endParaRPr sz="95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6238875" y="38100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ECFDF5"/>
            </a:solidFill>
            <a:ln cap="flat" cmpd="sng" w="14300">
              <a:solidFill>
                <a:srgbClr val="34D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 txBox="1"/>
            <p:nvPr/>
          </p:nvSpPr>
          <p:spPr>
            <a:xfrm>
              <a:off x="6238875" y="3810000"/>
              <a:ext cx="2476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65F46"/>
                  </a:solidFill>
                  <a:latin typeface="DM Sans"/>
                  <a:ea typeface="DM Sans"/>
                  <a:cs typeface="DM Sans"/>
                  <a:sym typeface="DM Sans"/>
                </a:rPr>
                <a:t>Standard Pipeline</a:t>
              </a:r>
              <a:endParaRPr b="1" sz="1100">
                <a:solidFill>
                  <a:srgbClr val="065F4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047857"/>
                  </a:solidFill>
                  <a:latin typeface="DM Sans"/>
                  <a:ea typeface="DM Sans"/>
                  <a:cs typeface="DM Sans"/>
                  <a:sym typeface="DM Sans"/>
                </a:rPr>
                <a:t>• MongoDB template fetching</a:t>
              </a:r>
              <a:endParaRPr sz="950">
                <a:solidFill>
                  <a:srgbClr val="04785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047857"/>
                  </a:solidFill>
                  <a:latin typeface="DM Sans"/>
                  <a:ea typeface="DM Sans"/>
                  <a:cs typeface="DM Sans"/>
                  <a:sym typeface="DM Sans"/>
                </a:rPr>
                <a:t>• Oracle master data enrichment</a:t>
              </a:r>
              <a:endParaRPr sz="950">
                <a:solidFill>
                  <a:srgbClr val="04785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047857"/>
                  </a:solidFill>
                  <a:latin typeface="DM Sans"/>
                  <a:ea typeface="DM Sans"/>
                  <a:cs typeface="DM Sans"/>
                  <a:sym typeface="DM Sans"/>
                </a:rPr>
                <a:t>• Built-in AI retry fallback channels</a:t>
              </a:r>
              <a:endParaRPr sz="950">
                <a:solidFill>
                  <a:srgbClr val="0478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270" name="Google Shape;270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62625" y="3143250"/>
              <a:ext cx="523800" cy="169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62625" y="4429125"/>
              <a:ext cx="523800" cy="409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" name="Google Shape;272;p18"/>
          <p:cNvGrpSpPr/>
          <p:nvPr/>
        </p:nvGrpSpPr>
        <p:grpSpPr>
          <a:xfrm>
            <a:off x="8705850" y="2143125"/>
            <a:ext cx="2724300" cy="3143400"/>
            <a:chOff x="8705850" y="2143125"/>
            <a:chExt cx="2724300" cy="3143400"/>
          </a:xfrm>
        </p:grpSpPr>
        <p:sp>
          <p:nvSpPr>
            <p:cNvPr id="273" name="Google Shape;273;p18"/>
            <p:cNvSpPr/>
            <p:nvPr/>
          </p:nvSpPr>
          <p:spPr>
            <a:xfrm>
              <a:off x="9048750" y="2143125"/>
              <a:ext cx="2381400" cy="3143400"/>
            </a:xfrm>
            <a:prstGeom prst="roundRect">
              <a:avLst>
                <a:gd fmla="val 4800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9048750" y="223837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Channel Adapters</a:t>
              </a:r>
              <a:endParaRPr b="1" sz="12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9191625" y="2619375"/>
              <a:ext cx="2095500" cy="904800"/>
            </a:xfrm>
            <a:prstGeom prst="roundRect">
              <a:avLst>
                <a:gd fmla="val 63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8"/>
            <p:cNvSpPr txBox="1"/>
            <p:nvPr/>
          </p:nvSpPr>
          <p:spPr>
            <a:xfrm>
              <a:off x="9191625" y="2619375"/>
              <a:ext cx="20955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143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Email Service (Java 21)</a:t>
              </a:r>
              <a:endParaRPr b="1" sz="1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Sentrion Provider Integrations</a:t>
              </a:r>
              <a:endParaRPr b="0" sz="85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2563EB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• Bounceback &amp; Retry Mechanism</a:t>
              </a:r>
              <a:endParaRPr b="0" sz="800">
                <a:solidFill>
                  <a:srgbClr val="2563EB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05966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• Open-Rate Tracking Feature</a:t>
              </a:r>
              <a:endParaRPr sz="800">
                <a:solidFill>
                  <a:srgbClr val="05966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5966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9191625" y="3619500"/>
              <a:ext cx="2095500" cy="5238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8"/>
            <p:cNvSpPr txBox="1"/>
            <p:nvPr/>
          </p:nvSpPr>
          <p:spPr>
            <a:xfrm>
              <a:off x="9191625" y="3619500"/>
              <a:ext cx="20955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143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SMS Service (Java 21)</a:t>
              </a:r>
              <a:endParaRPr b="1" sz="1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Sinch Provider Integrations</a:t>
              </a:r>
              <a:endParaRPr b="0" sz="9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9191625" y="4238625"/>
              <a:ext cx="2095500" cy="4764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8"/>
            <p:cNvSpPr txBox="1"/>
            <p:nvPr/>
          </p:nvSpPr>
          <p:spPr>
            <a:xfrm>
              <a:off x="9191625" y="4238625"/>
              <a:ext cx="2095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143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Push Service (Java 21)</a:t>
              </a:r>
              <a:endParaRPr b="1" sz="1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APNS / FCM Gateway</a:t>
              </a:r>
              <a:endParaRPr b="0" sz="9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281" name="Google Shape;281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10613" y="3048000"/>
              <a:ext cx="366600" cy="21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18"/>
            <p:cNvPicPr preferRelativeResize="0"/>
            <p:nvPr/>
          </p:nvPicPr>
          <p:blipFill rotWithShape="1">
            <a:blip r:embed="rId9">
              <a:alphaModFix/>
            </a:blip>
            <a:srcRect b="20" l="0" r="0" t="20"/>
            <a:stretch/>
          </p:blipFill>
          <p:spPr>
            <a:xfrm>
              <a:off x="8705850" y="4014788"/>
              <a:ext cx="357300" cy="7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8"/>
            <p:cNvPicPr preferRelativeResize="0"/>
            <p:nvPr/>
          </p:nvPicPr>
          <p:blipFill rotWithShape="1">
            <a:blip r:embed="rId10">
              <a:alphaModFix/>
            </a:blip>
            <a:srcRect b="0" l="50" r="60" t="0"/>
            <a:stretch/>
          </p:blipFill>
          <p:spPr>
            <a:xfrm>
              <a:off x="8710613" y="4800600"/>
              <a:ext cx="371400" cy="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4" name="Google Shape;284;p18"/>
          <p:cNvGrpSpPr/>
          <p:nvPr/>
        </p:nvGrpSpPr>
        <p:grpSpPr>
          <a:xfrm>
            <a:off x="762000" y="5110163"/>
            <a:ext cx="10668000" cy="1224113"/>
            <a:chOff x="762000" y="5110163"/>
            <a:chExt cx="10668000" cy="1224113"/>
          </a:xfrm>
        </p:grpSpPr>
        <p:sp>
          <p:nvSpPr>
            <p:cNvPr id="285" name="Google Shape;285;p18"/>
            <p:cNvSpPr/>
            <p:nvPr/>
          </p:nvSpPr>
          <p:spPr>
            <a:xfrm>
              <a:off x="762000" y="5476875"/>
              <a:ext cx="10668000" cy="8574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952500" y="5619750"/>
              <a:ext cx="3048000" cy="571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8"/>
            <p:cNvSpPr txBox="1"/>
            <p:nvPr/>
          </p:nvSpPr>
          <p:spPr>
            <a:xfrm>
              <a:off x="952500" y="56197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Oracle Master Database</a:t>
              </a:r>
              <a:endParaRPr b="1" sz="105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Enterprise Master Data &amp; State</a:t>
              </a:r>
              <a:endParaRPr sz="95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4572000" y="5619750"/>
              <a:ext cx="3048000" cy="571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8"/>
            <p:cNvSpPr txBox="1"/>
            <p:nvPr/>
          </p:nvSpPr>
          <p:spPr>
            <a:xfrm>
              <a:off x="4572000" y="56197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MongoDB Cluster</a:t>
              </a:r>
              <a:endParaRPr b="1" sz="105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Dynamic Notification Templates &amp; Content</a:t>
              </a:r>
              <a:endParaRPr sz="95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8191500" y="5619750"/>
              <a:ext cx="3048000" cy="571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8"/>
            <p:cNvSpPr txBox="1"/>
            <p:nvPr/>
          </p:nvSpPr>
          <p:spPr>
            <a:xfrm>
              <a:off x="8191500" y="56197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rPr>
                <a:t>ANGNT Audit DB</a:t>
              </a:r>
              <a:endParaRPr b="1" sz="105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Comprehensive Platform Flow &amp; Audit Logs</a:t>
              </a:r>
              <a:endParaRPr sz="95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292" name="Google Shape;292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62838" y="5110163"/>
              <a:ext cx="28500" cy="33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18"/>
          <p:cNvSpPr/>
          <p:nvPr/>
        </p:nvSpPr>
        <p:spPr>
          <a:xfrm>
            <a:off x="9191625" y="4810125"/>
            <a:ext cx="2095500" cy="4287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fficial Grafana logo, flat orange and red gradient icon, minimalist vector art on transparent background" id="294" name="Google Shape;294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4875" y="153828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8"/>
          <p:cNvSpPr txBox="1"/>
          <p:nvPr/>
        </p:nvSpPr>
        <p:spPr>
          <a:xfrm>
            <a:off x="9191625" y="4810125"/>
            <a:ext cx="20955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1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ZLArchive (Java 21)</a:t>
            </a:r>
            <a:endParaRPr b="1" sz="1000">
              <a:solidFill>
                <a:srgbClr val="0F172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Long-term Cold Storage</a:t>
            </a:r>
            <a:endParaRPr b="0" sz="850">
              <a:solidFill>
                <a:srgbClr val="64748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File:Splunk-Logo.jpg - Wikimedia Commons" id="296" name="Google Shape;296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03663" y="1472100"/>
            <a:ext cx="745248" cy="41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008972" y="1538297"/>
            <a:ext cx="696887" cy="41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512000" y="2162100"/>
            <a:ext cx="484800" cy="48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ion (Provided by Getty Images)" id="299" name="Google Shape;299;p1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523349" y="2754699"/>
            <a:ext cx="304799" cy="304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 (Provided by Getty Images)" id="300" name="Google Shape;300;p1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605049" y="3782274"/>
            <a:ext cx="304799" cy="30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523357" y="3268477"/>
            <a:ext cx="304800" cy="30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000375" y="5691179"/>
            <a:ext cx="745225" cy="40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129692" y="5657844"/>
            <a:ext cx="484800" cy="475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database is an icon vector. Isolated contour symbol illustration (Provided by Getty Images)" id="304" name="Google Shape;304;p18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0779049" y="5724499"/>
            <a:ext cx="408499" cy="40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829925" y="27336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0740866" y="3643313"/>
            <a:ext cx="484800" cy="4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 flipH="1">
            <a:off x="10672793" y="4267200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8"/>
          <p:cNvSpPr txBox="1"/>
          <p:nvPr/>
        </p:nvSpPr>
        <p:spPr>
          <a:xfrm>
            <a:off x="10829925" y="4896485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4748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archive</a:t>
            </a:r>
            <a:endParaRPr sz="2000">
              <a:solidFill>
                <a:srgbClr val="64748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/>
        </p:nvSpPr>
        <p:spPr>
          <a:xfrm>
            <a:off x="571500" y="47625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How It Works: LangGraph as the Orchestrator</a:t>
            </a:r>
            <a:endParaRPr b="1" sz="2800">
              <a:solidFill>
                <a:srgbClr val="0F172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563E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“Stateful workflows, intelligent branching and durable execution.”</a:t>
            </a:r>
            <a:endParaRPr b="0" sz="1400">
              <a:solidFill>
                <a:srgbClr val="2563EB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314" name="Google Shape;314;p19"/>
          <p:cNvGrpSpPr/>
          <p:nvPr/>
        </p:nvGrpSpPr>
        <p:grpSpPr>
          <a:xfrm>
            <a:off x="2095500" y="1914525"/>
            <a:ext cx="7429650" cy="1790700"/>
            <a:chOff x="2095500" y="1914525"/>
            <a:chExt cx="7429650" cy="1790700"/>
          </a:xfrm>
        </p:grpSpPr>
        <p:sp>
          <p:nvSpPr>
            <p:cNvPr id="315" name="Google Shape;315;p19"/>
            <p:cNvSpPr/>
            <p:nvPr/>
          </p:nvSpPr>
          <p:spPr>
            <a:xfrm>
              <a:off x="2095500" y="3048000"/>
              <a:ext cx="2859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2324100" y="3009900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4191000" y="3048000"/>
              <a:ext cx="2859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4419600" y="3009900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6572250" y="1952625"/>
              <a:ext cx="285900" cy="1095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6800850" y="191452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6572250" y="3048000"/>
              <a:ext cx="285900" cy="619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6800850" y="362902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9239250" y="1952625"/>
              <a:ext cx="285900" cy="1095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9239250" y="3048000"/>
              <a:ext cx="285900" cy="6192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9467850" y="3009900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6" name="Google Shape;326;p19"/>
          <p:cNvGrpSpPr/>
          <p:nvPr/>
        </p:nvGrpSpPr>
        <p:grpSpPr>
          <a:xfrm>
            <a:off x="571500" y="1428750"/>
            <a:ext cx="1524000" cy="3238500"/>
            <a:chOff x="0" y="0"/>
            <a:chExt cx="1524000" cy="3238500"/>
          </a:xfrm>
        </p:grpSpPr>
        <p:sp>
          <p:nvSpPr>
            <p:cNvPr id="327" name="Google Shape;327;p19"/>
            <p:cNvSpPr/>
            <p:nvPr/>
          </p:nvSpPr>
          <p:spPr>
            <a:xfrm>
              <a:off x="0" y="0"/>
              <a:ext cx="1524000" cy="3238500"/>
            </a:xfrm>
            <a:prstGeom prst="roundRect">
              <a:avLst>
                <a:gd fmla="val 75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 txBox="1"/>
            <p:nvPr/>
          </p:nvSpPr>
          <p:spPr>
            <a:xfrm>
              <a:off x="0" y="14287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INGESTION</a:t>
              </a:r>
              <a:endParaRPr b="1" sz="10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329" name="Google Shape;329;p19"/>
            <p:cNvGrpSpPr/>
            <p:nvPr/>
          </p:nvGrpSpPr>
          <p:grpSpPr>
            <a:xfrm>
              <a:off x="142875" y="476250"/>
              <a:ext cx="1238400" cy="523800"/>
              <a:chOff x="0" y="0"/>
              <a:chExt cx="1238400" cy="523800"/>
            </a:xfrm>
          </p:grpSpPr>
          <p:sp>
            <p:nvSpPr>
              <p:cNvPr id="330" name="Google Shape;330;p19"/>
              <p:cNvSpPr/>
              <p:nvPr/>
            </p:nvSpPr>
            <p:spPr>
              <a:xfrm>
                <a:off x="0" y="0"/>
                <a:ext cx="12384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9"/>
              <p:cNvSpPr txBox="1"/>
              <p:nvPr/>
            </p:nvSpPr>
            <p:spPr>
              <a:xfrm>
                <a:off x="0" y="0"/>
                <a:ext cx="1238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API</a:t>
                </a:r>
                <a:endParaRPr b="1" sz="11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32" name="Google Shape;332;p19"/>
            <p:cNvGrpSpPr/>
            <p:nvPr/>
          </p:nvGrpSpPr>
          <p:grpSpPr>
            <a:xfrm>
              <a:off x="142875" y="1095375"/>
              <a:ext cx="1238400" cy="523800"/>
              <a:chOff x="0" y="0"/>
              <a:chExt cx="1238400" cy="523800"/>
            </a:xfrm>
          </p:grpSpPr>
          <p:sp>
            <p:nvSpPr>
              <p:cNvPr id="333" name="Google Shape;333;p19"/>
              <p:cNvSpPr/>
              <p:nvPr/>
            </p:nvSpPr>
            <p:spPr>
              <a:xfrm>
                <a:off x="0" y="0"/>
                <a:ext cx="12384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9"/>
              <p:cNvSpPr txBox="1"/>
              <p:nvPr/>
            </p:nvSpPr>
            <p:spPr>
              <a:xfrm>
                <a:off x="0" y="0"/>
                <a:ext cx="1238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Kafka</a:t>
                </a:r>
                <a:endParaRPr b="1" sz="11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35" name="Google Shape;335;p19"/>
            <p:cNvGrpSpPr/>
            <p:nvPr/>
          </p:nvGrpSpPr>
          <p:grpSpPr>
            <a:xfrm>
              <a:off x="142875" y="1714500"/>
              <a:ext cx="1238400" cy="523800"/>
              <a:chOff x="0" y="0"/>
              <a:chExt cx="1238400" cy="523800"/>
            </a:xfrm>
          </p:grpSpPr>
          <p:sp>
            <p:nvSpPr>
              <p:cNvPr id="336" name="Google Shape;336;p19"/>
              <p:cNvSpPr/>
              <p:nvPr/>
            </p:nvSpPr>
            <p:spPr>
              <a:xfrm>
                <a:off x="0" y="0"/>
                <a:ext cx="12384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9"/>
              <p:cNvSpPr txBox="1"/>
              <p:nvPr/>
            </p:nvSpPr>
            <p:spPr>
              <a:xfrm>
                <a:off x="0" y="0"/>
                <a:ext cx="1238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MQ</a:t>
                </a:r>
                <a:endParaRPr b="1" sz="11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38" name="Google Shape;338;p19"/>
            <p:cNvGrpSpPr/>
            <p:nvPr/>
          </p:nvGrpSpPr>
          <p:grpSpPr>
            <a:xfrm>
              <a:off x="142875" y="2333625"/>
              <a:ext cx="1238400" cy="523800"/>
              <a:chOff x="0" y="0"/>
              <a:chExt cx="1238400" cy="523800"/>
            </a:xfrm>
          </p:grpSpPr>
          <p:sp>
            <p:nvSpPr>
              <p:cNvPr id="339" name="Google Shape;339;p19"/>
              <p:cNvSpPr/>
              <p:nvPr/>
            </p:nvSpPr>
            <p:spPr>
              <a:xfrm>
                <a:off x="0" y="0"/>
                <a:ext cx="12384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9"/>
              <p:cNvSpPr txBox="1"/>
              <p:nvPr/>
            </p:nvSpPr>
            <p:spPr>
              <a:xfrm>
                <a:off x="0" y="0"/>
                <a:ext cx="1238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Batch</a:t>
                </a:r>
                <a:endParaRPr b="1" sz="11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341" name="Google Shape;341;p19"/>
          <p:cNvGrpSpPr/>
          <p:nvPr/>
        </p:nvGrpSpPr>
        <p:grpSpPr>
          <a:xfrm>
            <a:off x="2381250" y="1428750"/>
            <a:ext cx="1809600" cy="3238500"/>
            <a:chOff x="0" y="0"/>
            <a:chExt cx="1809600" cy="3238500"/>
          </a:xfrm>
        </p:grpSpPr>
        <p:sp>
          <p:nvSpPr>
            <p:cNvPr id="342" name="Google Shape;342;p19"/>
            <p:cNvSpPr/>
            <p:nvPr/>
          </p:nvSpPr>
          <p:spPr>
            <a:xfrm>
              <a:off x="0" y="0"/>
              <a:ext cx="1809600" cy="3238500"/>
            </a:xfrm>
            <a:prstGeom prst="roundRect">
              <a:avLst>
                <a:gd fmla="val 6315" name="adj"/>
              </a:avLst>
            </a:prstGeom>
            <a:solidFill>
              <a:srgbClr val="EFF6FF"/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9"/>
            <p:cNvSpPr txBox="1"/>
            <p:nvPr/>
          </p:nvSpPr>
          <p:spPr>
            <a:xfrm>
              <a:off x="142875" y="762000"/>
              <a:ext cx="1524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3A8A"/>
                  </a:solidFill>
                  <a:latin typeface="DM Sans"/>
                  <a:ea typeface="DM Sans"/>
                  <a:cs typeface="DM Sans"/>
                  <a:sym typeface="DM Sans"/>
                </a:rPr>
                <a:t>1. Alert Received</a:t>
              </a:r>
              <a:endParaRPr b="1" sz="130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Payload normalized &amp; session initialized</a:t>
              </a:r>
              <a:endParaRPr b="1" sz="100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44" name="Google Shape;344;p19"/>
          <p:cNvSpPr txBox="1"/>
          <p:nvPr/>
        </p:nvSpPr>
        <p:spPr>
          <a:xfrm>
            <a:off x="285750" y="476250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LangGraph Core</a:t>
            </a:r>
            <a:endParaRPr b="1" sz="11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State preservation engine</a:t>
            </a:r>
            <a:endParaRPr b="0" sz="8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45" name="Google Shape;345;p19"/>
          <p:cNvGrpSpPr/>
          <p:nvPr/>
        </p:nvGrpSpPr>
        <p:grpSpPr>
          <a:xfrm>
            <a:off x="4476750" y="1314450"/>
            <a:ext cx="2095500" cy="3352800"/>
            <a:chOff x="0" y="-114300"/>
            <a:chExt cx="2095500" cy="3352800"/>
          </a:xfrm>
        </p:grpSpPr>
        <p:sp>
          <p:nvSpPr>
            <p:cNvPr id="346" name="Google Shape;346;p19"/>
            <p:cNvSpPr/>
            <p:nvPr/>
          </p:nvSpPr>
          <p:spPr>
            <a:xfrm>
              <a:off x="0" y="0"/>
              <a:ext cx="2095500" cy="3238500"/>
            </a:xfrm>
            <a:prstGeom prst="roundRect">
              <a:avLst>
                <a:gd fmla="val 5454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428625" y="-114300"/>
              <a:ext cx="1238400" cy="2286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9"/>
            <p:cNvSpPr txBox="1"/>
            <p:nvPr/>
          </p:nvSpPr>
          <p:spPr>
            <a:xfrm>
              <a:off x="428625" y="-114300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Orchestrator</a:t>
              </a:r>
              <a:endParaRPr b="1" sz="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349" name="Google Shape;349;p19"/>
            <p:cNvCxnSpPr/>
            <p:nvPr/>
          </p:nvCxnSpPr>
          <p:spPr>
            <a:xfrm>
              <a:off x="142875" y="762000"/>
              <a:ext cx="180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50" name="Google Shape;350;p19"/>
            <p:cNvGrpSpPr/>
            <p:nvPr/>
          </p:nvGrpSpPr>
          <p:grpSpPr>
            <a:xfrm>
              <a:off x="142875" y="904875"/>
              <a:ext cx="1809600" cy="857400"/>
              <a:chOff x="0" y="0"/>
              <a:chExt cx="1809600" cy="857400"/>
            </a:xfrm>
          </p:grpSpPr>
          <p:sp>
            <p:nvSpPr>
              <p:cNvPr id="351" name="Google Shape;351;p19"/>
              <p:cNvSpPr/>
              <p:nvPr/>
            </p:nvSpPr>
            <p:spPr>
              <a:xfrm>
                <a:off x="0" y="0"/>
                <a:ext cx="18096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9"/>
              <p:cNvSpPr txBox="1"/>
              <p:nvPr/>
            </p:nvSpPr>
            <p:spPr>
              <a:xfrm>
                <a:off x="95250" y="0"/>
                <a:ext cx="1619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2. Identify Journey</a:t>
                </a:r>
                <a:endParaRPr b="1" sz="12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94A3B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Dynamic router node</a:t>
                </a:r>
                <a:endParaRPr b="0" sz="9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pic>
          <p:nvPicPr>
            <p:cNvPr id="353" name="Google Shape;35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8225" y="1905000"/>
              <a:ext cx="192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19"/>
            <p:cNvSpPr/>
            <p:nvPr/>
          </p:nvSpPr>
          <p:spPr>
            <a:xfrm>
              <a:off x="1009650" y="2085975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5" name="Google Shape;355;p19"/>
            <p:cNvGrpSpPr/>
            <p:nvPr/>
          </p:nvGrpSpPr>
          <p:grpSpPr>
            <a:xfrm>
              <a:off x="142875" y="2286000"/>
              <a:ext cx="1809600" cy="714300"/>
              <a:chOff x="0" y="0"/>
              <a:chExt cx="1809600" cy="714300"/>
            </a:xfrm>
          </p:grpSpPr>
          <p:sp>
            <p:nvSpPr>
              <p:cNvPr id="356" name="Google Shape;356;p19"/>
              <p:cNvSpPr/>
              <p:nvPr/>
            </p:nvSpPr>
            <p:spPr>
              <a:xfrm>
                <a:off x="0" y="0"/>
                <a:ext cx="1809600" cy="714300"/>
              </a:xfrm>
              <a:prstGeom prst="roundRect">
                <a:avLst>
                  <a:gd fmla="val 10666" name="adj"/>
                </a:avLst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9"/>
              <p:cNvSpPr txBox="1"/>
              <p:nvPr/>
            </p:nvSpPr>
            <p:spPr>
              <a:xfrm>
                <a:off x="95250" y="0"/>
                <a:ext cx="16191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93C5FD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State: Context Store</a:t>
                </a:r>
                <a:endParaRPr b="1" sz="1050">
                  <a:solidFill>
                    <a:srgbClr val="93C5FD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358" name="Google Shape;358;p19"/>
          <p:cNvGrpSpPr/>
          <p:nvPr/>
        </p:nvGrpSpPr>
        <p:grpSpPr>
          <a:xfrm>
            <a:off x="6858000" y="1428750"/>
            <a:ext cx="2381400" cy="3238350"/>
            <a:chOff x="0" y="0"/>
            <a:chExt cx="2381400" cy="3238350"/>
          </a:xfrm>
        </p:grpSpPr>
        <p:grpSp>
          <p:nvGrpSpPr>
            <p:cNvPr id="359" name="Google Shape;359;p19"/>
            <p:cNvGrpSpPr/>
            <p:nvPr/>
          </p:nvGrpSpPr>
          <p:grpSpPr>
            <a:xfrm>
              <a:off x="0" y="0"/>
              <a:ext cx="2381400" cy="1047900"/>
              <a:chOff x="0" y="0"/>
              <a:chExt cx="2381400" cy="1047900"/>
            </a:xfrm>
          </p:grpSpPr>
          <p:sp>
            <p:nvSpPr>
              <p:cNvPr id="360" name="Google Shape;360;p19"/>
              <p:cNvSpPr/>
              <p:nvPr/>
            </p:nvSpPr>
            <p:spPr>
              <a:xfrm>
                <a:off x="0" y="0"/>
                <a:ext cx="23814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142875" y="114300"/>
                <a:ext cx="8574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9"/>
              <p:cNvSpPr txBox="1"/>
              <p:nvPr/>
            </p:nvSpPr>
            <p:spPr>
              <a:xfrm>
                <a:off x="142875" y="11430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2563EB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User-Based</a:t>
                </a:r>
                <a:endParaRPr b="1" sz="800">
                  <a:solidFill>
                    <a:srgbClr val="2563EB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3" name="Google Shape;363;p19"/>
              <p:cNvSpPr txBox="1"/>
              <p:nvPr/>
            </p:nvSpPr>
            <p:spPr>
              <a:xfrm>
                <a:off x="142875" y="38100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Validate &amp; Deliver</a:t>
                </a:r>
                <a:endParaRPr b="1" sz="12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47556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Check subscription preferences and dispatch single target alert</a:t>
                </a:r>
                <a:endParaRPr b="0" sz="9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64" name="Google Shape;364;p19"/>
            <p:cNvGrpSpPr/>
            <p:nvPr/>
          </p:nvGrpSpPr>
          <p:grpSpPr>
            <a:xfrm>
              <a:off x="0" y="1238250"/>
              <a:ext cx="2381400" cy="2000100"/>
              <a:chOff x="0" y="0"/>
              <a:chExt cx="2381400" cy="2000100"/>
            </a:xfrm>
          </p:grpSpPr>
          <p:sp>
            <p:nvSpPr>
              <p:cNvPr id="365" name="Google Shape;365;p19"/>
              <p:cNvSpPr/>
              <p:nvPr/>
            </p:nvSpPr>
            <p:spPr>
              <a:xfrm>
                <a:off x="0" y="0"/>
                <a:ext cx="23814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142875" y="114300"/>
                <a:ext cx="10479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FAF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9"/>
              <p:cNvSpPr txBox="1"/>
              <p:nvPr/>
            </p:nvSpPr>
            <p:spPr>
              <a:xfrm>
                <a:off x="142875" y="114300"/>
                <a:ext cx="1047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7C3AED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Account-Based</a:t>
                </a:r>
                <a:endParaRPr b="1" sz="800">
                  <a:solidFill>
                    <a:srgbClr val="7C3AED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8" name="Google Shape;368;p19"/>
              <p:cNvSpPr txBox="1"/>
              <p:nvPr/>
            </p:nvSpPr>
            <p:spPr>
              <a:xfrm>
                <a:off x="142875" y="400050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Account Flow</a:t>
                </a:r>
                <a:endParaRPr b="1" sz="1200">
                  <a:solidFill>
                    <a:srgbClr val="0F172A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grpSp>
            <p:nvGrpSpPr>
              <p:cNvPr id="369" name="Google Shape;369;p19"/>
              <p:cNvGrpSpPr/>
              <p:nvPr/>
            </p:nvGrpSpPr>
            <p:grpSpPr>
              <a:xfrm>
                <a:off x="142875" y="666750"/>
                <a:ext cx="2095500" cy="324000"/>
                <a:chOff x="0" y="0"/>
                <a:chExt cx="2095500" cy="324000"/>
              </a:xfrm>
            </p:grpSpPr>
            <p:sp>
              <p:nvSpPr>
                <p:cNvPr id="370" name="Google Shape;370;p19"/>
                <p:cNvSpPr/>
                <p:nvPr/>
              </p:nvSpPr>
              <p:spPr>
                <a:xfrm>
                  <a:off x="0" y="0"/>
                  <a:ext cx="2095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19"/>
                <p:cNvSpPr txBox="1"/>
                <p:nvPr/>
              </p:nvSpPr>
              <p:spPr>
                <a:xfrm>
                  <a:off x="95250" y="0"/>
                  <a:ext cx="19050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0F172A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1. Who's on the account?</a:t>
                  </a:r>
                  <a:endParaRPr b="1" sz="900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372" name="Google Shape;372;p19"/>
              <p:cNvGrpSpPr/>
              <p:nvPr/>
            </p:nvGrpSpPr>
            <p:grpSpPr>
              <a:xfrm>
                <a:off x="142875" y="1066800"/>
                <a:ext cx="2095500" cy="324000"/>
                <a:chOff x="0" y="0"/>
                <a:chExt cx="2095500" cy="324000"/>
              </a:xfrm>
            </p:grpSpPr>
            <p:sp>
              <p:nvSpPr>
                <p:cNvPr id="373" name="Google Shape;373;p19"/>
                <p:cNvSpPr/>
                <p:nvPr/>
              </p:nvSpPr>
              <p:spPr>
                <a:xfrm>
                  <a:off x="0" y="0"/>
                  <a:ext cx="2095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19"/>
                <p:cNvSpPr txBox="1"/>
                <p:nvPr/>
              </p:nvSpPr>
              <p:spPr>
                <a:xfrm>
                  <a:off x="95250" y="0"/>
                  <a:ext cx="19050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0F172A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2. Filter Active Subscribers</a:t>
                  </a:r>
                  <a:endParaRPr b="1" sz="900">
                    <a:solidFill>
                      <a:srgbClr val="0F172A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375" name="Google Shape;375;p19"/>
              <p:cNvGrpSpPr/>
              <p:nvPr/>
            </p:nvGrpSpPr>
            <p:grpSpPr>
              <a:xfrm>
                <a:off x="142875" y="1466850"/>
                <a:ext cx="2095500" cy="324000"/>
                <a:chOff x="0" y="0"/>
                <a:chExt cx="2095500" cy="324000"/>
              </a:xfrm>
            </p:grpSpPr>
            <p:sp>
              <p:nvSpPr>
                <p:cNvPr id="376" name="Google Shape;376;p19"/>
                <p:cNvSpPr/>
                <p:nvPr/>
              </p:nvSpPr>
              <p:spPr>
                <a:xfrm>
                  <a:off x="0" y="0"/>
                  <a:ext cx="2095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F3E8FF"/>
                </a:solidFill>
                <a:ln cap="flat" cmpd="sng" w="9525">
                  <a:solidFill>
                    <a:srgbClr val="D8B4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19"/>
                <p:cNvSpPr txBox="1"/>
                <p:nvPr/>
              </p:nvSpPr>
              <p:spPr>
                <a:xfrm>
                  <a:off x="95250" y="0"/>
                  <a:ext cx="19050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7C3AED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3. Fan-out One Per Person</a:t>
                  </a:r>
                  <a:endParaRPr b="1" sz="900">
                    <a:solidFill>
                      <a:srgbClr val="7C3AED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</p:grpSp>
      </p:grpSp>
      <p:grpSp>
        <p:nvGrpSpPr>
          <p:cNvPr id="378" name="Google Shape;378;p19"/>
          <p:cNvGrpSpPr/>
          <p:nvPr/>
        </p:nvGrpSpPr>
        <p:grpSpPr>
          <a:xfrm>
            <a:off x="9525000" y="1428750"/>
            <a:ext cx="2095500" cy="3238500"/>
            <a:chOff x="0" y="0"/>
            <a:chExt cx="2095500" cy="3238500"/>
          </a:xfrm>
        </p:grpSpPr>
        <p:sp>
          <p:nvSpPr>
            <p:cNvPr id="379" name="Google Shape;379;p19"/>
            <p:cNvSpPr/>
            <p:nvPr/>
          </p:nvSpPr>
          <p:spPr>
            <a:xfrm>
              <a:off x="0" y="0"/>
              <a:ext cx="2095500" cy="3238500"/>
            </a:xfrm>
            <a:prstGeom prst="roundRect">
              <a:avLst>
                <a:gd fmla="val 5454" name="adj"/>
              </a:avLst>
            </a:prstGeom>
            <a:solidFill>
              <a:srgbClr val="FFF7ED"/>
            </a:solidFill>
            <a:ln cap="flat" cmpd="sng" w="14300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9"/>
            <p:cNvSpPr txBox="1"/>
            <p:nvPr/>
          </p:nvSpPr>
          <p:spPr>
            <a:xfrm>
              <a:off x="190500" y="762000"/>
              <a:ext cx="1714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A3412"/>
                  </a:solidFill>
                  <a:latin typeface="DM Sans"/>
                  <a:ea typeface="DM Sans"/>
                  <a:cs typeface="DM Sans"/>
                  <a:sym typeface="DM Sans"/>
                </a:rPr>
                <a:t>Track &amp; Escalate</a:t>
              </a:r>
              <a:endParaRPr b="1" sz="1300">
                <a:solidFill>
                  <a:srgbClr val="9A341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Durable retry loops &amp; multi-channel fallbacks</a:t>
              </a:r>
              <a:endParaRPr b="1" sz="1000">
                <a:solidFill>
                  <a:srgbClr val="9A341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81" name="Google Shape;381;p19"/>
          <p:cNvSpPr/>
          <p:nvPr/>
        </p:nvSpPr>
        <p:spPr>
          <a:xfrm>
            <a:off x="571500" y="5000625"/>
            <a:ext cx="11049000" cy="1047900"/>
          </a:xfrm>
          <a:prstGeom prst="roundRect">
            <a:avLst>
              <a:gd fmla="val 14545" name="adj"/>
            </a:avLst>
          </a:prstGeom>
          <a:solidFill>
            <a:srgbClr val="EFF6FF"/>
          </a:solidFill>
          <a:ln cap="flat" cmpd="sng" w="143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904875" y="5286375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Durable Execution</a:t>
            </a:r>
            <a:endParaRPr b="1" sz="1150">
              <a:solidFill>
                <a:srgbClr val="1E3A8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Re-hydrate flows instantly</a:t>
            </a:r>
            <a:endParaRPr b="0" sz="950">
              <a:solidFill>
                <a:srgbClr val="60A5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3619500" y="5286375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Smart Branching</a:t>
            </a:r>
            <a:endParaRPr b="1" sz="1150">
              <a:solidFill>
                <a:srgbClr val="1E3A8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Conditional path decisions</a:t>
            </a:r>
            <a:endParaRPr b="0" sz="950">
              <a:solidFill>
                <a:srgbClr val="60A5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6334125" y="5286375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State &amp; Context</a:t>
            </a:r>
            <a:endParaRPr b="1" sz="1150">
              <a:solidFill>
                <a:srgbClr val="1E3A8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Fully managed state history</a:t>
            </a:r>
            <a:endParaRPr b="0" sz="950">
              <a:solidFill>
                <a:srgbClr val="60A5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9048750" y="5286375"/>
            <a:ext cx="2000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Human-in-the-Loop</a:t>
            </a:r>
            <a:endParaRPr b="1" sz="1150">
              <a:solidFill>
                <a:srgbClr val="1E3A8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Seamless manual approval</a:t>
            </a:r>
            <a:endParaRPr b="0" sz="950">
              <a:solidFill>
                <a:srgbClr val="60A5F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/>
          <p:nvPr/>
        </p:nvSpPr>
        <p:spPr>
          <a:xfrm>
            <a:off x="762000" y="571500"/>
            <a:ext cx="419052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762000" y="1181100"/>
            <a:ext cx="399097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2" name="Google Shape;3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3401" y="1600200"/>
            <a:ext cx="8725048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7" name="Google Shape;3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600200"/>
            <a:ext cx="5048250" cy="536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50" y="3190875"/>
            <a:ext cx="43624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4438650"/>
            <a:ext cx="43624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5686425"/>
            <a:ext cx="43624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 txBox="1"/>
          <p:nvPr/>
        </p:nvSpPr>
        <p:spPr>
          <a:xfrm>
            <a:off x="762000" y="571500"/>
            <a:ext cx="674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Core Processing &amp; Orchestration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762000" y="1181100"/>
            <a:ext cx="64197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923925" y="1956611"/>
            <a:ext cx="490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Lang</a:t>
            </a:r>
            <a:r>
              <a:rPr b="1" i="0" lang="en-US" sz="27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Graph-Based Rules Engine</a:t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1000125" y="3251836"/>
            <a:ext cx="46674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LangGraph layer serves as the central brain of the platform. It executes critical business logic as a discrete graph of nodes before dynamically routing the payload.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6724650" y="2695575"/>
            <a:ext cx="43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/>
          </a:p>
        </p:txBody>
      </p:sp>
      <p:sp>
        <p:nvSpPr>
          <p:cNvPr id="406" name="Google Shape;406;p21"/>
          <p:cNvSpPr txBox="1"/>
          <p:nvPr/>
        </p:nvSpPr>
        <p:spPr>
          <a:xfrm>
            <a:off x="6724650" y="3943350"/>
            <a:ext cx="43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/>
          </a:p>
        </p:txBody>
      </p:sp>
      <p:sp>
        <p:nvSpPr>
          <p:cNvPr id="407" name="Google Shape;407;p21"/>
          <p:cNvSpPr txBox="1"/>
          <p:nvPr/>
        </p:nvSpPr>
        <p:spPr>
          <a:xfrm>
            <a:off x="6724650" y="5191125"/>
            <a:ext cx="43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/>
          </a:p>
        </p:txBody>
      </p:sp>
      <p:grpSp>
        <p:nvGrpSpPr>
          <p:cNvPr id="408" name="Google Shape;408;p21"/>
          <p:cNvGrpSpPr/>
          <p:nvPr/>
        </p:nvGrpSpPr>
        <p:grpSpPr>
          <a:xfrm>
            <a:off x="923925" y="4810125"/>
            <a:ext cx="4857750" cy="342900"/>
            <a:chOff x="0" y="0"/>
            <a:chExt cx="4857750" cy="342900"/>
          </a:xfrm>
        </p:grpSpPr>
        <p:sp>
          <p:nvSpPr>
            <p:cNvPr id="409" name="Google Shape;409;p21"/>
            <p:cNvSpPr/>
            <p:nvPr/>
          </p:nvSpPr>
          <p:spPr>
            <a:xfrm>
              <a:off x="0" y="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66675" y="95250"/>
              <a:ext cx="209700" cy="152400"/>
            </a:xfrm>
            <a:custGeom>
              <a:rect b="b" l="l" r="r" t="t"/>
              <a:pathLst>
                <a:path extrusionOk="0" h="120000" w="120000">
                  <a:moveTo>
                    <a:pt x="98182" y="30000"/>
                  </a:moveTo>
                  <a:lnTo>
                    <a:pt x="76364" y="60000"/>
                  </a:lnTo>
                  <a:lnTo>
                    <a:pt x="92727" y="60000"/>
                  </a:lnTo>
                  <a:cubicBezTo>
                    <a:pt x="92727" y="84825"/>
                    <a:pt x="78055" y="105000"/>
                    <a:pt x="60000" y="105000"/>
                  </a:cubicBezTo>
                  <a:cubicBezTo>
                    <a:pt x="54491" y="105000"/>
                    <a:pt x="49255" y="103125"/>
                    <a:pt x="44727" y="99750"/>
                  </a:cubicBezTo>
                  <a:lnTo>
                    <a:pt x="36764" y="110700"/>
                  </a:lnTo>
                  <a:cubicBezTo>
                    <a:pt x="43473" y="116550"/>
                    <a:pt x="51436" y="120000"/>
                    <a:pt x="60000" y="120000"/>
                  </a:cubicBezTo>
                  <a:cubicBezTo>
                    <a:pt x="84109" y="120000"/>
                    <a:pt x="103636" y="93150"/>
                    <a:pt x="103636" y="60000"/>
                  </a:cubicBezTo>
                  <a:lnTo>
                    <a:pt x="120000" y="60000"/>
                  </a:lnTo>
                  <a:lnTo>
                    <a:pt x="98182" y="30000"/>
                  </a:lnTo>
                  <a:close/>
                  <a:moveTo>
                    <a:pt x="27273" y="60000"/>
                  </a:moveTo>
                  <a:cubicBezTo>
                    <a:pt x="27273" y="35175"/>
                    <a:pt x="41945" y="15000"/>
                    <a:pt x="60000" y="15000"/>
                  </a:cubicBezTo>
                  <a:cubicBezTo>
                    <a:pt x="65509" y="15000"/>
                    <a:pt x="70745" y="16875"/>
                    <a:pt x="75273" y="20250"/>
                  </a:cubicBezTo>
                  <a:lnTo>
                    <a:pt x="83236" y="9300"/>
                  </a:lnTo>
                  <a:cubicBezTo>
                    <a:pt x="76527" y="3450"/>
                    <a:pt x="68564" y="0"/>
                    <a:pt x="60000" y="0"/>
                  </a:cubicBezTo>
                  <a:cubicBezTo>
                    <a:pt x="35891" y="0"/>
                    <a:pt x="16364" y="26850"/>
                    <a:pt x="16364" y="60000"/>
                  </a:cubicBezTo>
                  <a:lnTo>
                    <a:pt x="0" y="60000"/>
                  </a:lnTo>
                  <a:lnTo>
                    <a:pt x="21818" y="90000"/>
                  </a:lnTo>
                  <a:lnTo>
                    <a:pt x="43636" y="60000"/>
                  </a:lnTo>
                  <a:lnTo>
                    <a:pt x="27273" y="6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 txBox="1"/>
            <p:nvPr/>
          </p:nvSpPr>
          <p:spPr>
            <a:xfrm>
              <a:off x="476250" y="0"/>
              <a:ext cx="438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Ensures canonical normalization.</a:t>
              </a:r>
              <a:endParaRPr sz="16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2" name="Google Shape;412;p21"/>
          <p:cNvGrpSpPr/>
          <p:nvPr/>
        </p:nvGrpSpPr>
        <p:grpSpPr>
          <a:xfrm>
            <a:off x="923925" y="5334000"/>
            <a:ext cx="4857750" cy="342900"/>
            <a:chOff x="0" y="0"/>
            <a:chExt cx="4857750" cy="342900"/>
          </a:xfrm>
        </p:grpSpPr>
        <p:sp>
          <p:nvSpPr>
            <p:cNvPr id="413" name="Google Shape;413;p21"/>
            <p:cNvSpPr/>
            <p:nvPr/>
          </p:nvSpPr>
          <p:spPr>
            <a:xfrm>
              <a:off x="0" y="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95250" y="76200"/>
              <a:ext cx="1524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0" y="18000"/>
                  </a:lnTo>
                  <a:lnTo>
                    <a:pt x="0" y="54540"/>
                  </a:lnTo>
                  <a:cubicBezTo>
                    <a:pt x="0" y="84840"/>
                    <a:pt x="25575" y="113100"/>
                    <a:pt x="60000" y="120000"/>
                  </a:cubicBezTo>
                  <a:cubicBezTo>
                    <a:pt x="94425" y="113100"/>
                    <a:pt x="120000" y="84840"/>
                    <a:pt x="120000" y="54540"/>
                  </a:cubicBezTo>
                  <a:lnTo>
                    <a:pt x="120000" y="18000"/>
                  </a:lnTo>
                  <a:lnTo>
                    <a:pt x="60000" y="0"/>
                  </a:lnTo>
                  <a:close/>
                  <a:moveTo>
                    <a:pt x="52500" y="75000"/>
                  </a:moveTo>
                  <a:lnTo>
                    <a:pt x="30000" y="57000"/>
                  </a:lnTo>
                  <a:lnTo>
                    <a:pt x="40575" y="48540"/>
                  </a:lnTo>
                  <a:lnTo>
                    <a:pt x="52500" y="61020"/>
                  </a:lnTo>
                  <a:lnTo>
                    <a:pt x="86925" y="33480"/>
                  </a:lnTo>
                  <a:lnTo>
                    <a:pt x="97500" y="42000"/>
                  </a:lnTo>
                  <a:lnTo>
                    <a:pt x="52500" y="78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 txBox="1"/>
            <p:nvPr/>
          </p:nvSpPr>
          <p:spPr>
            <a:xfrm>
              <a:off x="476250" y="0"/>
              <a:ext cx="438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Executes pre-dispatch validations.</a:t>
              </a:r>
              <a:endParaRPr sz="16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6" name="Google Shape;416;p21"/>
          <p:cNvGrpSpPr/>
          <p:nvPr/>
        </p:nvGrpSpPr>
        <p:grpSpPr>
          <a:xfrm>
            <a:off x="923925" y="5857875"/>
            <a:ext cx="4857750" cy="342900"/>
            <a:chOff x="0" y="0"/>
            <a:chExt cx="4857750" cy="342900"/>
          </a:xfrm>
        </p:grpSpPr>
        <p:sp>
          <p:nvSpPr>
            <p:cNvPr id="417" name="Google Shape;417;p21"/>
            <p:cNvSpPr/>
            <p:nvPr/>
          </p:nvSpPr>
          <p:spPr>
            <a:xfrm>
              <a:off x="0" y="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FEF3C7"/>
            </a:solidFill>
            <a:ln cap="flat" cmpd="sng" w="1430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85725" y="76200"/>
              <a:ext cx="147600" cy="190500"/>
            </a:xfrm>
            <a:custGeom>
              <a:rect b="b" l="l" r="r" t="t"/>
              <a:pathLst>
                <a:path extrusionOk="0" h="120000" w="120000">
                  <a:moveTo>
                    <a:pt x="65806" y="0"/>
                  </a:moveTo>
                  <a:lnTo>
                    <a:pt x="0" y="66000"/>
                  </a:lnTo>
                  <a:lnTo>
                    <a:pt x="54194" y="66000"/>
                  </a:lnTo>
                  <a:lnTo>
                    <a:pt x="54194" y="120000"/>
                  </a:lnTo>
                  <a:lnTo>
                    <a:pt x="120000" y="54000"/>
                  </a:lnTo>
                  <a:lnTo>
                    <a:pt x="65806" y="54000"/>
                  </a:lnTo>
                  <a:lnTo>
                    <a:pt x="65806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 txBox="1"/>
            <p:nvPr/>
          </p:nvSpPr>
          <p:spPr>
            <a:xfrm>
              <a:off x="476250" y="0"/>
              <a:ext cx="438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Intelligently classifies traffic urgency.</a:t>
              </a:r>
              <a:endParaRPr sz="16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4" name="Google Shape;4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00200"/>
            <a:ext cx="504825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0200"/>
            <a:ext cx="50482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2"/>
          <p:cNvSpPr txBox="1"/>
          <p:nvPr/>
        </p:nvSpPr>
        <p:spPr>
          <a:xfrm>
            <a:off x="762000" y="571500"/>
            <a:ext cx="417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Pipeline Bifurcation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1152525" y="2038350"/>
            <a:ext cx="324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Express Path (Zero-DB)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6772275" y="2038350"/>
            <a:ext cx="247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Pipeline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1266825" y="2572702"/>
            <a:ext cx="7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1343025" y="2571750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Dedicated processing compute exclusively for critical alerts.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1266825" y="3385899"/>
            <a:ext cx="7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1343025" y="3384946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Strict Zero-DB interaction policy to eliminate latency.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1266825" y="4199096"/>
            <a:ext cx="7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34" name="Google Shape;434;p22"/>
          <p:cNvSpPr/>
          <p:nvPr/>
        </p:nvSpPr>
        <p:spPr>
          <a:xfrm>
            <a:off x="762000" y="1181100"/>
            <a:ext cx="342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2"/>
          <p:cNvSpPr txBox="1"/>
          <p:nvPr/>
        </p:nvSpPr>
        <p:spPr>
          <a:xfrm>
            <a:off x="1343025" y="4198143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Fetches template details directly from in-memory cache.</a:t>
            </a:r>
            <a:endParaRPr/>
          </a:p>
        </p:txBody>
      </p:sp>
      <p:grpSp>
        <p:nvGrpSpPr>
          <p:cNvPr id="436" name="Google Shape;436;p22"/>
          <p:cNvGrpSpPr/>
          <p:nvPr/>
        </p:nvGrpSpPr>
        <p:grpSpPr>
          <a:xfrm>
            <a:off x="4953000" y="2019300"/>
            <a:ext cx="381000" cy="381000"/>
            <a:chOff x="0" y="0"/>
            <a:chExt cx="381000" cy="381000"/>
          </a:xfrm>
        </p:grpSpPr>
        <p:sp>
          <p:nvSpPr>
            <p:cNvPr id="437" name="Google Shape;437;p22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114300" y="76200"/>
              <a:ext cx="142800" cy="228600"/>
            </a:xfrm>
            <a:custGeom>
              <a:rect b="b" l="l" r="r" t="t"/>
              <a:pathLst>
                <a:path extrusionOk="0" h="120000" w="120000">
                  <a:moveTo>
                    <a:pt x="72000" y="0"/>
                  </a:moveTo>
                  <a:lnTo>
                    <a:pt x="0" y="55000"/>
                  </a:lnTo>
                  <a:lnTo>
                    <a:pt x="56000" y="55000"/>
                  </a:lnTo>
                  <a:lnTo>
                    <a:pt x="40000" y="120000"/>
                  </a:lnTo>
                  <a:lnTo>
                    <a:pt x="120000" y="45000"/>
                  </a:lnTo>
                  <a:lnTo>
                    <a:pt x="56000" y="45000"/>
                  </a:lnTo>
                  <a:lnTo>
                    <a:pt x="72000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9" name="Google Shape;439;p22"/>
          <p:cNvSpPr txBox="1"/>
          <p:nvPr/>
        </p:nvSpPr>
        <p:spPr>
          <a:xfrm>
            <a:off x="1266825" y="5012293"/>
            <a:ext cx="7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grpSp>
        <p:nvGrpSpPr>
          <p:cNvPr id="440" name="Google Shape;440;p22"/>
          <p:cNvGrpSpPr/>
          <p:nvPr/>
        </p:nvGrpSpPr>
        <p:grpSpPr>
          <a:xfrm>
            <a:off x="10572750" y="2019300"/>
            <a:ext cx="381000" cy="381000"/>
            <a:chOff x="0" y="0"/>
            <a:chExt cx="381000" cy="381000"/>
          </a:xfrm>
        </p:grpSpPr>
        <p:sp>
          <p:nvSpPr>
            <p:cNvPr id="441" name="Google Shape;441;p22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133350" y="13335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95250" y="95250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209550" y="95250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152400" y="209550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6" name="Google Shape;446;p22"/>
          <p:cNvSpPr txBox="1"/>
          <p:nvPr/>
        </p:nvSpPr>
        <p:spPr>
          <a:xfrm>
            <a:off x="1343025" y="5011340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Utilizes a Direct Channel Dispatcher for immediate delivery.</a:t>
            </a:r>
            <a:endParaRPr/>
          </a:p>
        </p:txBody>
      </p:sp>
      <p:sp>
        <p:nvSpPr>
          <p:cNvPr id="447" name="Google Shape;447;p22"/>
          <p:cNvSpPr txBox="1"/>
          <p:nvPr/>
        </p:nvSpPr>
        <p:spPr>
          <a:xfrm>
            <a:off x="6886575" y="2572702"/>
            <a:ext cx="7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48" name="Google Shape;448;p22"/>
          <p:cNvSpPr txBox="1"/>
          <p:nvPr/>
        </p:nvSpPr>
        <p:spPr>
          <a:xfrm>
            <a:off x="6962775" y="2571750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Handles all regular and bulk notification traffic routing.</a:t>
            </a:r>
            <a:endParaRPr/>
          </a:p>
        </p:txBody>
      </p:sp>
      <p:sp>
        <p:nvSpPr>
          <p:cNvPr id="449" name="Google Shape;449;p22"/>
          <p:cNvSpPr txBox="1"/>
          <p:nvPr/>
        </p:nvSpPr>
        <p:spPr>
          <a:xfrm>
            <a:off x="6886575" y="3385899"/>
            <a:ext cx="7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50" name="Google Shape;450;p22"/>
          <p:cNvSpPr txBox="1"/>
          <p:nvPr/>
        </p:nvSpPr>
        <p:spPr>
          <a:xfrm>
            <a:off x="6962775" y="3384946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Content template fetching integrated securely via MongoDB.</a:t>
            </a:r>
            <a:endParaRPr/>
          </a:p>
        </p:txBody>
      </p:sp>
      <p:sp>
        <p:nvSpPr>
          <p:cNvPr id="451" name="Google Shape;451;p22"/>
          <p:cNvSpPr txBox="1"/>
          <p:nvPr/>
        </p:nvSpPr>
        <p:spPr>
          <a:xfrm>
            <a:off x="6886575" y="4199096"/>
            <a:ext cx="7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52" name="Google Shape;452;p22"/>
          <p:cNvSpPr txBox="1"/>
          <p:nvPr/>
        </p:nvSpPr>
        <p:spPr>
          <a:xfrm>
            <a:off x="6962775" y="4198143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Executes context enrichment via Oracle Master Data.</a:t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6886575" y="5012293"/>
            <a:ext cx="7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454" name="Google Shape;454;p22"/>
          <p:cNvSpPr txBox="1"/>
          <p:nvPr/>
        </p:nvSpPr>
        <p:spPr>
          <a:xfrm>
            <a:off x="6962775" y="5011340"/>
            <a:ext cx="4076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Features built-in AI retry mechanisms and fallback channels.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9" name="Google Shape;4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00200"/>
            <a:ext cx="330190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4900" y="1600200"/>
            <a:ext cx="3302049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1600200"/>
            <a:ext cx="33019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3"/>
          <p:cNvSpPr txBox="1"/>
          <p:nvPr/>
        </p:nvSpPr>
        <p:spPr>
          <a:xfrm>
            <a:off x="762000" y="571500"/>
            <a:ext cx="62407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Channel Adapters &amp; Providers</a:t>
            </a:r>
            <a:endParaRPr/>
          </a:p>
        </p:txBody>
      </p:sp>
      <p:sp>
        <p:nvSpPr>
          <p:cNvPr id="463" name="Google Shape;463;p23"/>
          <p:cNvSpPr/>
          <p:nvPr/>
        </p:nvSpPr>
        <p:spPr>
          <a:xfrm>
            <a:off x="762000" y="1181100"/>
            <a:ext cx="5943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 txBox="1"/>
          <p:nvPr/>
        </p:nvSpPr>
        <p:spPr>
          <a:xfrm>
            <a:off x="1467832" y="3228975"/>
            <a:ext cx="18902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Email Service</a:t>
            </a:r>
            <a:endParaRPr/>
          </a:p>
        </p:txBody>
      </p:sp>
      <p:sp>
        <p:nvSpPr>
          <p:cNvPr id="465" name="Google Shape;465;p23"/>
          <p:cNvSpPr txBox="1"/>
          <p:nvPr/>
        </p:nvSpPr>
        <p:spPr>
          <a:xfrm>
            <a:off x="1152525" y="3714750"/>
            <a:ext cx="25208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Java 21 Worker dedicated to secure, high-volume email delivery via the Sentrion Mailer Provider.</a:t>
            </a:r>
            <a:endParaRPr/>
          </a:p>
        </p:txBody>
      </p:sp>
      <p:sp>
        <p:nvSpPr>
          <p:cNvPr id="466" name="Google Shape;466;p23"/>
          <p:cNvSpPr txBox="1"/>
          <p:nvPr/>
        </p:nvSpPr>
        <p:spPr>
          <a:xfrm>
            <a:off x="5245744" y="3228975"/>
            <a:ext cx="17002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SMS Service</a:t>
            </a:r>
            <a:endParaRPr/>
          </a:p>
        </p:txBody>
      </p:sp>
      <p:sp>
        <p:nvSpPr>
          <p:cNvPr id="467" name="Google Shape;467;p23"/>
          <p:cNvSpPr txBox="1"/>
          <p:nvPr/>
        </p:nvSpPr>
        <p:spPr>
          <a:xfrm>
            <a:off x="4835425" y="3714750"/>
            <a:ext cx="252099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Standardized SMS abstraction layer connected seamlessly to the Sinch provider network.</a:t>
            </a:r>
            <a:endParaRPr/>
          </a:p>
        </p:txBody>
      </p:sp>
      <p:sp>
        <p:nvSpPr>
          <p:cNvPr id="468" name="Google Shape;468;p23"/>
          <p:cNvSpPr txBox="1"/>
          <p:nvPr/>
        </p:nvSpPr>
        <p:spPr>
          <a:xfrm>
            <a:off x="8888789" y="3228975"/>
            <a:ext cx="17802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Push Service</a:t>
            </a:r>
            <a:endParaRPr/>
          </a:p>
        </p:txBody>
      </p:sp>
      <p:sp>
        <p:nvSpPr>
          <p:cNvPr id="469" name="Google Shape;469;p23"/>
          <p:cNvSpPr txBox="1"/>
          <p:nvPr/>
        </p:nvSpPr>
        <p:spPr>
          <a:xfrm>
            <a:off x="8518475" y="3714750"/>
            <a:ext cx="252085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Unified Push Service dynamically routing device tokens to Apple (APNs) and Firebase (FCM) ecosystems.</a:t>
            </a:r>
            <a:endParaRPr/>
          </a:p>
        </p:txBody>
      </p:sp>
      <p:pic>
        <p:nvPicPr>
          <p:cNvPr descr="image.png" id="470" name="Google Shape;47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6700" y="19907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101" y="1990725"/>
            <a:ext cx="1333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16106" y="213360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73356" y="2133600"/>
            <a:ext cx="1468189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8" name="Google Shape;4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00200"/>
            <a:ext cx="504825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0200"/>
            <a:ext cx="50482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4"/>
          <p:cNvSpPr txBox="1"/>
          <p:nvPr/>
        </p:nvSpPr>
        <p:spPr>
          <a:xfrm>
            <a:off x="762000" y="571500"/>
            <a:ext cx="539067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Data &amp; State Management</a:t>
            </a:r>
            <a:endParaRPr/>
          </a:p>
        </p:txBody>
      </p:sp>
      <p:sp>
        <p:nvSpPr>
          <p:cNvPr id="481" name="Google Shape;481;p24"/>
          <p:cNvSpPr/>
          <p:nvPr/>
        </p:nvSpPr>
        <p:spPr>
          <a:xfrm>
            <a:off x="762000" y="1181100"/>
            <a:ext cx="513397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 txBox="1"/>
          <p:nvPr/>
        </p:nvSpPr>
        <p:spPr>
          <a:xfrm>
            <a:off x="1152525" y="3228975"/>
            <a:ext cx="167020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Master Data</a:t>
            </a:r>
            <a:endParaRPr/>
          </a:p>
        </p:txBody>
      </p:sp>
      <p:sp>
        <p:nvSpPr>
          <p:cNvPr id="483" name="Google Shape;483;p24"/>
          <p:cNvSpPr txBox="1"/>
          <p:nvPr/>
        </p:nvSpPr>
        <p:spPr>
          <a:xfrm>
            <a:off x="1152525" y="3714750"/>
            <a:ext cx="42672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Enterprise Oracle infrastructure securely handles core relational data, transactional state tracking, and complex user profiles.</a:t>
            </a:r>
            <a:endParaRPr/>
          </a:p>
        </p:txBody>
      </p:sp>
      <p:sp>
        <p:nvSpPr>
          <p:cNvPr id="484" name="Google Shape;484;p24"/>
          <p:cNvSpPr txBox="1"/>
          <p:nvPr/>
        </p:nvSpPr>
        <p:spPr>
          <a:xfrm>
            <a:off x="6772275" y="3228975"/>
            <a:ext cx="20902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Template Store</a:t>
            </a:r>
            <a:endParaRPr/>
          </a:p>
        </p:txBody>
      </p:sp>
      <p:sp>
        <p:nvSpPr>
          <p:cNvPr id="485" name="Google Shape;485;p24"/>
          <p:cNvSpPr txBox="1"/>
          <p:nvPr/>
        </p:nvSpPr>
        <p:spPr>
          <a:xfrm>
            <a:off x="6772275" y="3714750"/>
            <a:ext cx="42672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High-speed MongoDB NoSQL document store utilized by the Standard Pipeline for rich template fetching and state caching.</a:t>
            </a:r>
            <a:endParaRPr/>
          </a:p>
        </p:txBody>
      </p:sp>
      <p:pic>
        <p:nvPicPr>
          <p:cNvPr descr="image.png" id="486" name="Google Shape;48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1990725"/>
            <a:ext cx="1452264" cy="95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6883" y="1990720"/>
            <a:ext cx="728246" cy="7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2" name="Google Shape;4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00200"/>
            <a:ext cx="504825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3" name="Google Shape;49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0200"/>
            <a:ext cx="50482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5"/>
          <p:cNvSpPr txBox="1"/>
          <p:nvPr/>
        </p:nvSpPr>
        <p:spPr>
          <a:xfrm>
            <a:off x="762000" y="571500"/>
            <a:ext cx="46005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Audit Flow &amp; Integrity</a:t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762000" y="1181100"/>
            <a:ext cx="438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 txBox="1"/>
          <p:nvPr/>
        </p:nvSpPr>
        <p:spPr>
          <a:xfrm>
            <a:off x="1152525" y="3228975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Event Streaming</a:t>
            </a:r>
            <a:endParaRPr/>
          </a:p>
        </p:txBody>
      </p:sp>
      <p:sp>
        <p:nvSpPr>
          <p:cNvPr id="497" name="Google Shape;497;p25"/>
          <p:cNvSpPr txBox="1"/>
          <p:nvPr/>
        </p:nvSpPr>
        <p:spPr>
          <a:xfrm>
            <a:off x="1152525" y="3714750"/>
            <a:ext cx="42672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Every request posts structured audit data to a dedicated Kafka Post-Process Topic via the Audit Event Producers.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6819900" y="3228975"/>
            <a:ext cx="20902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Audit Database</a:t>
            </a:r>
            <a:endParaRPr/>
          </a:p>
        </p:txBody>
      </p:sp>
      <p:sp>
        <p:nvSpPr>
          <p:cNvPr id="499" name="Google Shape;499;p25"/>
          <p:cNvSpPr txBox="1"/>
          <p:nvPr/>
        </p:nvSpPr>
        <p:spPr>
          <a:xfrm>
            <a:off x="6819900" y="3714750"/>
            <a:ext cx="42195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Audit Service consumes the Kafka topic and seamlessly aggregates all historical request data into the highly compliant ANGNT DB.</a:t>
            </a:r>
            <a:endParaRPr/>
          </a:p>
        </p:txBody>
      </p:sp>
      <p:pic>
        <p:nvPicPr>
          <p:cNvPr descr="image.png" id="500" name="Google Shape;50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1990725"/>
            <a:ext cx="1534417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5"/>
          <p:cNvSpPr txBox="1"/>
          <p:nvPr/>
        </p:nvSpPr>
        <p:spPr>
          <a:xfrm>
            <a:off x="6819900" y="2181225"/>
            <a:ext cx="1800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ANGNT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"/>
          <p:cNvSpPr txBox="1"/>
          <p:nvPr/>
        </p:nvSpPr>
        <p:spPr>
          <a:xfrm>
            <a:off x="762000" y="47625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2033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b="1" sz="3200">
              <a:solidFill>
                <a:srgbClr val="1720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67085"/>
                </a:solidFill>
                <a:latin typeface="Inter"/>
                <a:ea typeface="Inter"/>
                <a:cs typeface="Inter"/>
                <a:sym typeface="Inter"/>
              </a:rPr>
              <a:t>The hardest part wasn’t handling 20M alerts. It was handling everything that happens before the alert is sent.</a:t>
            </a:r>
            <a:endParaRPr b="0" sz="1600">
              <a:solidFill>
                <a:srgbClr val="66708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07" name="Google Shape;507;p26"/>
          <p:cNvGrpSpPr/>
          <p:nvPr/>
        </p:nvGrpSpPr>
        <p:grpSpPr>
          <a:xfrm>
            <a:off x="3105150" y="2486025"/>
            <a:ext cx="5981700" cy="1885950"/>
            <a:chOff x="3105150" y="2486025"/>
            <a:chExt cx="5981700" cy="1885950"/>
          </a:xfrm>
        </p:grpSpPr>
        <p:pic>
          <p:nvPicPr>
            <p:cNvPr id="508" name="Google Shape;508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3250" y="2514600"/>
              <a:ext cx="2000100" cy="9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26"/>
            <p:cNvSpPr/>
            <p:nvPr/>
          </p:nvSpPr>
          <p:spPr>
            <a:xfrm>
              <a:off x="3105150" y="2486025"/>
              <a:ext cx="76200" cy="76200"/>
            </a:xfrm>
            <a:prstGeom prst="ellipse">
              <a:avLst/>
            </a:prstGeom>
            <a:solidFill>
              <a:srgbClr val="0F9D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0" name="Google Shape;51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48500" y="2514600"/>
              <a:ext cx="2000100" cy="9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26"/>
            <p:cNvSpPr/>
            <p:nvPr/>
          </p:nvSpPr>
          <p:spPr>
            <a:xfrm>
              <a:off x="9010650" y="2486025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2" name="Google Shape;512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43250" y="3419475"/>
              <a:ext cx="2000100" cy="9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26"/>
            <p:cNvSpPr/>
            <p:nvPr/>
          </p:nvSpPr>
          <p:spPr>
            <a:xfrm>
              <a:off x="3105150" y="4295775"/>
              <a:ext cx="76200" cy="762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4" name="Google Shape;514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48500" y="3419475"/>
              <a:ext cx="2000100" cy="9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26"/>
            <p:cNvSpPr/>
            <p:nvPr/>
          </p:nvSpPr>
          <p:spPr>
            <a:xfrm>
              <a:off x="9010650" y="4295775"/>
              <a:ext cx="76200" cy="76200"/>
            </a:xfrm>
            <a:prstGeom prst="ellipse">
              <a:avLst/>
            </a:prstGeom>
            <a:solidFill>
              <a:srgbClr val="EA8C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6" name="Google Shape;516;p26"/>
          <p:cNvGrpSpPr/>
          <p:nvPr/>
        </p:nvGrpSpPr>
        <p:grpSpPr>
          <a:xfrm>
            <a:off x="4910138" y="2281238"/>
            <a:ext cx="2371800" cy="2371800"/>
            <a:chOff x="-233362" y="-195262"/>
            <a:chExt cx="2371800" cy="2371800"/>
          </a:xfrm>
        </p:grpSpPr>
        <p:sp>
          <p:nvSpPr>
            <p:cNvPr id="517" name="Google Shape;517;p26"/>
            <p:cNvSpPr/>
            <p:nvPr/>
          </p:nvSpPr>
          <p:spPr>
            <a:xfrm>
              <a:off x="-47625" y="-47625"/>
              <a:ext cx="2000100" cy="2000100"/>
            </a:xfrm>
            <a:prstGeom prst="ellipse">
              <a:avLst/>
            </a:prstGeom>
            <a:solidFill>
              <a:srgbClr val="5B4FE9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8" name="Google Shape;518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-233362" y="-195262"/>
              <a:ext cx="2371800" cy="237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26"/>
            <p:cNvSpPr txBox="1"/>
            <p:nvPr/>
          </p:nvSpPr>
          <p:spPr>
            <a:xfrm>
              <a:off x="142875" y="809625"/>
              <a:ext cx="1619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5B4FE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LANGGRAPH</a:t>
              </a:r>
              <a:endParaRPr b="0" sz="1400">
                <a:solidFill>
                  <a:srgbClr val="5B4FE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72033"/>
                  </a:solidFill>
                  <a:latin typeface="Inter"/>
                  <a:ea typeface="Inter"/>
                  <a:cs typeface="Inter"/>
                  <a:sym typeface="Inter"/>
                </a:rPr>
                <a:t>ORCHESTRATION</a:t>
              </a:r>
              <a:endParaRPr b="1" sz="900">
                <a:solidFill>
                  <a:srgbClr val="1720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0" name="Google Shape;520;p26"/>
          <p:cNvGrpSpPr/>
          <p:nvPr/>
        </p:nvGrpSpPr>
        <p:grpSpPr>
          <a:xfrm>
            <a:off x="666750" y="1828800"/>
            <a:ext cx="3238500" cy="1428900"/>
            <a:chOff x="-95250" y="-76200"/>
            <a:chExt cx="3238500" cy="1428900"/>
          </a:xfrm>
        </p:grpSpPr>
        <p:pic>
          <p:nvPicPr>
            <p:cNvPr id="521" name="Google Shape;521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95250" y="-76200"/>
              <a:ext cx="3238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26"/>
            <p:cNvSpPr/>
            <p:nvPr/>
          </p:nvSpPr>
          <p:spPr>
            <a:xfrm>
              <a:off x="0" y="0"/>
              <a:ext cx="38100" cy="1238400"/>
            </a:xfrm>
            <a:prstGeom prst="roundRect">
              <a:avLst>
                <a:gd fmla="val 50000" name="adj"/>
              </a:avLst>
            </a:prstGeom>
            <a:solidFill>
              <a:srgbClr val="0F9D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6"/>
            <p:cNvSpPr txBox="1"/>
            <p:nvPr/>
          </p:nvSpPr>
          <p:spPr>
            <a:xfrm>
              <a:off x="228600" y="152400"/>
              <a:ext cx="25908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9D8A"/>
                  </a:solidFill>
                  <a:latin typeface="Inter"/>
                  <a:ea typeface="Inter"/>
                  <a:cs typeface="Inter"/>
                  <a:sym typeface="Inter"/>
                </a:rPr>
                <a:t>01 — MODEL THE REAL WORLD</a:t>
              </a:r>
              <a:endParaRPr b="1" sz="1000">
                <a:solidFill>
                  <a:srgbClr val="0F9D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72033"/>
                  </a:solidFill>
                  <a:latin typeface="Inter"/>
                  <a:ea typeface="Inter"/>
                  <a:cs typeface="Inter"/>
                  <a:sym typeface="Inter"/>
                </a:rPr>
                <a:t>Model the real world</a:t>
              </a:r>
              <a:endParaRPr b="1" sz="1300">
                <a:solidFill>
                  <a:srgbClr val="1720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67085"/>
                  </a:solidFill>
                  <a:latin typeface="Inter"/>
                  <a:ea typeface="Inter"/>
                  <a:cs typeface="Inter"/>
                  <a:sym typeface="Inter"/>
                </a:rPr>
                <a:t>Identity and eligibility are part of the workflow.</a:t>
              </a:r>
              <a:endParaRPr b="0" sz="1100">
                <a:solidFill>
                  <a:srgbClr val="6670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4" name="Google Shape;524;p26"/>
          <p:cNvGrpSpPr/>
          <p:nvPr/>
        </p:nvGrpSpPr>
        <p:grpSpPr>
          <a:xfrm>
            <a:off x="8286750" y="1828800"/>
            <a:ext cx="3238500" cy="1428900"/>
            <a:chOff x="-95250" y="-76200"/>
            <a:chExt cx="3238500" cy="1428900"/>
          </a:xfrm>
        </p:grpSpPr>
        <p:pic>
          <p:nvPicPr>
            <p:cNvPr id="525" name="Google Shape;525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95250" y="-76200"/>
              <a:ext cx="3238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6" name="Google Shape;526;p26"/>
            <p:cNvSpPr/>
            <p:nvPr/>
          </p:nvSpPr>
          <p:spPr>
            <a:xfrm>
              <a:off x="3009900" y="0"/>
              <a:ext cx="38100" cy="1238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6"/>
            <p:cNvSpPr txBox="1"/>
            <p:nvPr/>
          </p:nvSpPr>
          <p:spPr>
            <a:xfrm>
              <a:off x="228600" y="152400"/>
              <a:ext cx="25908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25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02 — ORCHESTRATE, DON'T JUST AUTOMATE</a:t>
              </a:r>
              <a:endParaRPr b="1" sz="9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3">
                  <a:solidFill>
                    <a:srgbClr val="172033"/>
                  </a:solidFill>
                  <a:latin typeface="Inter"/>
                  <a:ea typeface="Inter"/>
                  <a:cs typeface="Inter"/>
                  <a:sym typeface="Inter"/>
                </a:rPr>
                <a:t>Orchestrate, don’t just automate</a:t>
              </a:r>
              <a:endParaRPr b="1" sz="1203">
                <a:solidFill>
                  <a:srgbClr val="1720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18">
                  <a:solidFill>
                    <a:srgbClr val="667085"/>
                  </a:solidFill>
                  <a:latin typeface="Inter"/>
                  <a:ea typeface="Inter"/>
                  <a:cs typeface="Inter"/>
                  <a:sym typeface="Inter"/>
                </a:rPr>
                <a:t>The system needs to decide what happens next.</a:t>
              </a:r>
              <a:endParaRPr b="0" sz="1018">
                <a:solidFill>
                  <a:srgbClr val="6670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8" name="Google Shape;528;p26"/>
          <p:cNvGrpSpPr/>
          <p:nvPr/>
        </p:nvGrpSpPr>
        <p:grpSpPr>
          <a:xfrm>
            <a:off x="666750" y="3638550"/>
            <a:ext cx="3238500" cy="1428900"/>
            <a:chOff x="-95250" y="-76200"/>
            <a:chExt cx="3238500" cy="1428900"/>
          </a:xfrm>
        </p:grpSpPr>
        <p:pic>
          <p:nvPicPr>
            <p:cNvPr id="529" name="Google Shape;529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95250" y="-76200"/>
              <a:ext cx="3238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26"/>
            <p:cNvSpPr/>
            <p:nvPr/>
          </p:nvSpPr>
          <p:spPr>
            <a:xfrm>
              <a:off x="0" y="0"/>
              <a:ext cx="38100" cy="12384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6"/>
            <p:cNvSpPr txBox="1"/>
            <p:nvPr/>
          </p:nvSpPr>
          <p:spPr>
            <a:xfrm>
              <a:off x="228600" y="152400"/>
              <a:ext cx="25908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03 — DESIGN FOR CHANGE</a:t>
              </a:r>
              <a:endParaRPr b="1" sz="10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72033"/>
                  </a:solidFill>
                  <a:latin typeface="Inter"/>
                  <a:ea typeface="Inter"/>
                  <a:cs typeface="Inter"/>
                  <a:sym typeface="Inter"/>
                </a:rPr>
                <a:t>Design for change</a:t>
              </a:r>
              <a:endParaRPr b="1" sz="1300">
                <a:solidFill>
                  <a:srgbClr val="1720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67085"/>
                  </a:solidFill>
                  <a:latin typeface="Inter"/>
                  <a:ea typeface="Inter"/>
                  <a:cs typeface="Inter"/>
                  <a:sym typeface="Inter"/>
                </a:rPr>
                <a:t>New business rules should become new paths, not rewrites.</a:t>
              </a:r>
              <a:endParaRPr b="0" sz="1100">
                <a:solidFill>
                  <a:srgbClr val="6670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2" name="Google Shape;532;p26"/>
          <p:cNvGrpSpPr/>
          <p:nvPr/>
        </p:nvGrpSpPr>
        <p:grpSpPr>
          <a:xfrm>
            <a:off x="8286750" y="3638550"/>
            <a:ext cx="3238500" cy="1428900"/>
            <a:chOff x="-95250" y="-76200"/>
            <a:chExt cx="3238500" cy="1428900"/>
          </a:xfrm>
        </p:grpSpPr>
        <p:pic>
          <p:nvPicPr>
            <p:cNvPr id="533" name="Google Shape;533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95250" y="-76200"/>
              <a:ext cx="3238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26"/>
            <p:cNvSpPr/>
            <p:nvPr/>
          </p:nvSpPr>
          <p:spPr>
            <a:xfrm>
              <a:off x="3009900" y="0"/>
              <a:ext cx="38100" cy="1238400"/>
            </a:xfrm>
            <a:prstGeom prst="roundRect">
              <a:avLst>
                <a:gd fmla="val 50000" name="adj"/>
              </a:avLst>
            </a:prstGeom>
            <a:solidFill>
              <a:srgbClr val="EA8C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6"/>
            <p:cNvSpPr txBox="1"/>
            <p:nvPr/>
          </p:nvSpPr>
          <p:spPr>
            <a:xfrm>
              <a:off x="228600" y="152400"/>
              <a:ext cx="25908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EA8C20"/>
                  </a:solidFill>
                  <a:latin typeface="Inter"/>
                  <a:ea typeface="Inter"/>
                  <a:cs typeface="Inter"/>
                  <a:sym typeface="Inter"/>
                </a:rPr>
                <a:t>04 — MAKE EVERY DECISION VISIBLE</a:t>
              </a:r>
              <a:endParaRPr b="1" sz="1000">
                <a:solidFill>
                  <a:srgbClr val="EA8C2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72033"/>
                  </a:solidFill>
                  <a:latin typeface="Inter"/>
                  <a:ea typeface="Inter"/>
                  <a:cs typeface="Inter"/>
                  <a:sym typeface="Inter"/>
                </a:rPr>
                <a:t>Make every decision visible</a:t>
              </a:r>
              <a:endParaRPr b="1" sz="1300">
                <a:solidFill>
                  <a:srgbClr val="1720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67085"/>
                  </a:solidFill>
                  <a:latin typeface="Inter"/>
                  <a:ea typeface="Inter"/>
                  <a:cs typeface="Inter"/>
                  <a:sym typeface="Inter"/>
                </a:rPr>
                <a:t>If you can’t see the journey, you can’t improve it.</a:t>
              </a:r>
              <a:endParaRPr b="0" sz="1100">
                <a:solidFill>
                  <a:srgbClr val="6670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6" name="Google Shape;536;p26"/>
          <p:cNvGrpSpPr/>
          <p:nvPr/>
        </p:nvGrpSpPr>
        <p:grpSpPr>
          <a:xfrm>
            <a:off x="762000" y="5334000"/>
            <a:ext cx="10668000" cy="952500"/>
            <a:chOff x="0" y="0"/>
            <a:chExt cx="10668000" cy="952500"/>
          </a:xfrm>
        </p:grpSpPr>
        <p:sp>
          <p:nvSpPr>
            <p:cNvPr id="537" name="Google Shape;537;p26"/>
            <p:cNvSpPr/>
            <p:nvPr/>
          </p:nvSpPr>
          <p:spPr>
            <a:xfrm>
              <a:off x="0" y="0"/>
              <a:ext cx="10668000" cy="952500"/>
            </a:xfrm>
            <a:prstGeom prst="roundRect">
              <a:avLst>
                <a:gd fmla="val 8000" name="adj"/>
              </a:avLst>
            </a:prstGeom>
            <a:solidFill>
              <a:srgbClr val="F7F9FC"/>
            </a:solidFill>
            <a:ln cap="flat" cmpd="sng" w="9525">
              <a:solidFill>
                <a:srgbClr val="E4E7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6"/>
            <p:cNvSpPr txBox="1"/>
            <p:nvPr/>
          </p:nvSpPr>
          <p:spPr>
            <a:xfrm>
              <a:off x="285750" y="142875"/>
              <a:ext cx="1009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67085"/>
                  </a:solidFill>
                  <a:latin typeface="Inter"/>
                  <a:ea typeface="Inter"/>
                  <a:cs typeface="Inter"/>
                  <a:sym typeface="Inter"/>
                </a:rPr>
                <a:t>MESSAGE DELIVERY</a:t>
              </a:r>
              <a:r>
                <a:rPr b="1" lang="en-US" sz="12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200">
                  <a:solidFill>
                    <a:srgbClr val="5B4FE9"/>
                  </a:solidFill>
                  <a:latin typeface="Inter"/>
                  <a:ea typeface="Inter"/>
                  <a:cs typeface="Inter"/>
                  <a:sym typeface="Inter"/>
                </a:rPr>
                <a:t>➔</a:t>
              </a:r>
              <a:r>
                <a:rPr b="1" lang="en-US" sz="12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200">
                  <a:solidFill>
                    <a:srgbClr val="5B4FE9"/>
                  </a:solidFill>
                  <a:latin typeface="Inter"/>
                  <a:ea typeface="Inter"/>
                  <a:cs typeface="Inter"/>
                  <a:sym typeface="Inter"/>
                </a:rPr>
                <a:t>DECISION ORCHESTRATION</a:t>
              </a:r>
              <a:endParaRPr b="1" sz="12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1720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“The future of alerting isn’t just bigger pipelines. It’s smarter workflows.”</a:t>
              </a:r>
              <a:endParaRPr b="0" sz="1300">
                <a:solidFill>
                  <a:srgbClr val="1720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4" name="Google Shape;544;p27"/>
          <p:cNvGrpSpPr/>
          <p:nvPr/>
        </p:nvGrpSpPr>
        <p:grpSpPr>
          <a:xfrm>
            <a:off x="3619500" y="952500"/>
            <a:ext cx="4953000" cy="4953000"/>
            <a:chOff x="3619500" y="952500"/>
            <a:chExt cx="4953000" cy="4953000"/>
          </a:xfrm>
        </p:grpSpPr>
        <p:sp>
          <p:nvSpPr>
            <p:cNvPr id="545" name="Google Shape;545;p27"/>
            <p:cNvSpPr/>
            <p:nvPr/>
          </p:nvSpPr>
          <p:spPr>
            <a:xfrm>
              <a:off x="3619500" y="952500"/>
              <a:ext cx="4953000" cy="4953000"/>
            </a:xfrm>
            <a:prstGeom prst="ellipse">
              <a:avLst/>
            </a:prstGeom>
            <a:solidFill>
              <a:srgbClr val="2563EB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4381500" y="1714500"/>
              <a:ext cx="3429000" cy="3429000"/>
            </a:xfrm>
            <a:prstGeom prst="ellipse">
              <a:avLst/>
            </a:prstGeom>
            <a:solidFill>
              <a:srgbClr val="2563EB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4191000" y="108585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27"/>
          <p:cNvGrpSpPr/>
          <p:nvPr/>
        </p:nvGrpSpPr>
        <p:grpSpPr>
          <a:xfrm>
            <a:off x="1333500" y="2286000"/>
            <a:ext cx="9525000" cy="2095500"/>
            <a:chOff x="1333500" y="2286000"/>
            <a:chExt cx="9525000" cy="2095500"/>
          </a:xfrm>
        </p:grpSpPr>
        <p:sp>
          <p:nvSpPr>
            <p:cNvPr id="549" name="Google Shape;549;p27"/>
            <p:cNvSpPr txBox="1"/>
            <p:nvPr/>
          </p:nvSpPr>
          <p:spPr>
            <a:xfrm>
              <a:off x="1333500" y="22860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600">
                  <a:solidFill>
                    <a:srgbClr val="1E293B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Thank You</a:t>
              </a:r>
              <a:endParaRPr b="1" sz="56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550" name="Google Shape;550;p27"/>
            <p:cNvSpPr txBox="1"/>
            <p:nvPr/>
          </p:nvSpPr>
          <p:spPr>
            <a:xfrm>
              <a:off x="1333500" y="3619500"/>
              <a:ext cx="952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Notification </a:t>
              </a:r>
              <a:r>
                <a:rPr b="0" lang="en-US" sz="18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System Architecture</a:t>
              </a:r>
              <a:endParaRPr b="0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