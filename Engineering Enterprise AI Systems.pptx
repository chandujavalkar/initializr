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0" Type="http://schemas.openxmlformats.org/officeDocument/2006/relationships/image" Target="../media/image1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Relationship Id="rId8" Type="http://schemas.openxmlformats.org/officeDocument/2006/relationships/image" Target="../media/image30.png"/><Relationship Id="rId9" Type="http://schemas.openxmlformats.org/officeDocument/2006/relationships/image" Target="../media/image31.png"/><Relationship Id="rId10" Type="http://schemas.openxmlformats.org/officeDocument/2006/relationships/image" Target="../media/image32.png"/><Relationship Id="rId11" Type="http://schemas.openxmlformats.org/officeDocument/2006/relationships/image" Target="../media/image33.png"/><Relationship Id="rId12" Type="http://schemas.openxmlformats.org/officeDocument/2006/relationships/image" Target="../media/image34.png"/><Relationship Id="rId13" Type="http://schemas.openxmlformats.org/officeDocument/2006/relationships/image" Target="../media/image3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3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5" Type="http://schemas.openxmlformats.org/officeDocument/2006/relationships/image" Target="../media/image39.png"/><Relationship Id="rId6" Type="http://schemas.openxmlformats.org/officeDocument/2006/relationships/image" Target="../media/image40.png"/><Relationship Id="rId7" Type="http://schemas.openxmlformats.org/officeDocument/2006/relationships/image" Target="../media/image41.png"/><Relationship Id="rId8" Type="http://schemas.openxmlformats.org/officeDocument/2006/relationships/image" Target="../media/image30.png"/><Relationship Id="rId9" Type="http://schemas.openxmlformats.org/officeDocument/2006/relationships/image" Target="../media/image42.png"/><Relationship Id="rId10" Type="http://schemas.openxmlformats.org/officeDocument/2006/relationships/image" Target="../media/image43.png"/><Relationship Id="rId11" Type="http://schemas.openxmlformats.org/officeDocument/2006/relationships/image" Target="../media/image3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4.png"/><Relationship Id="rId4" Type="http://schemas.openxmlformats.org/officeDocument/2006/relationships/image" Target="../media/image45.png"/><Relationship Id="rId5" Type="http://schemas.openxmlformats.org/officeDocument/2006/relationships/image" Target="../media/image46.png"/><Relationship Id="rId6" Type="http://schemas.openxmlformats.org/officeDocument/2006/relationships/image" Target="../media/image47.png"/><Relationship Id="rId7" Type="http://schemas.openxmlformats.org/officeDocument/2006/relationships/image" Target="../media/image1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9.png"/><Relationship Id="rId4" Type="http://schemas.openxmlformats.org/officeDocument/2006/relationships/image" Target="../media/image48.png"/><Relationship Id="rId5" Type="http://schemas.openxmlformats.org/officeDocument/2006/relationships/image" Target="../media/image49.png"/><Relationship Id="rId6" Type="http://schemas.openxmlformats.org/officeDocument/2006/relationships/image" Target="../media/image5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38.png"/><Relationship Id="rId4" Type="http://schemas.openxmlformats.org/officeDocument/2006/relationships/image" Target="../media/image51.png"/><Relationship Id="rId5" Type="http://schemas.openxmlformats.org/officeDocument/2006/relationships/image" Target="../media/image52.png"/><Relationship Id="rId6" Type="http://schemas.openxmlformats.org/officeDocument/2006/relationships/image" Target="../media/image53.png"/><Relationship Id="rId7" Type="http://schemas.openxmlformats.org/officeDocument/2006/relationships/image" Target="../media/image54.png"/><Relationship Id="rId8" Type="http://schemas.openxmlformats.org/officeDocument/2006/relationships/image" Target="../media/image55.png"/><Relationship Id="rId9" Type="http://schemas.openxmlformats.org/officeDocument/2006/relationships/image" Target="../media/image56.png"/><Relationship Id="rId10" Type="http://schemas.openxmlformats.org/officeDocument/2006/relationships/image" Target="../media/image57.png"/><Relationship Id="rId11" Type="http://schemas.openxmlformats.org/officeDocument/2006/relationships/image" Target="../media/image58.png"/><Relationship Id="rId12" Type="http://schemas.openxmlformats.org/officeDocument/2006/relationships/image" Target="../media/image14.png"/><Relationship Id="rId13" Type="http://schemas.openxmlformats.org/officeDocument/2006/relationships/image" Target="../media/image59.png"/><Relationship Id="rId14" Type="http://schemas.openxmlformats.org/officeDocument/2006/relationships/image" Target="../media/image60.png"/><Relationship Id="rId15" Type="http://schemas.openxmlformats.org/officeDocument/2006/relationships/image" Target="../media/image61.png"/><Relationship Id="rId16" Type="http://schemas.openxmlformats.org/officeDocument/2006/relationships/image" Target="../media/image62.png"/><Relationship Id="rId17" Type="http://schemas.openxmlformats.org/officeDocument/2006/relationships/image" Target="../media/image6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9.png"/><Relationship Id="rId4" Type="http://schemas.openxmlformats.org/officeDocument/2006/relationships/image" Target="../media/image64.png"/><Relationship Id="rId5" Type="http://schemas.openxmlformats.org/officeDocument/2006/relationships/image" Target="../media/image65.png"/><Relationship Id="rId6" Type="http://schemas.openxmlformats.org/officeDocument/2006/relationships/image" Target="../media/image66.png"/><Relationship Id="rId7" Type="http://schemas.openxmlformats.org/officeDocument/2006/relationships/image" Target="../media/image67.png"/><Relationship Id="rId8" Type="http://schemas.openxmlformats.org/officeDocument/2006/relationships/image" Target="../media/image68.png"/><Relationship Id="rId9" Type="http://schemas.openxmlformats.org/officeDocument/2006/relationships/image" Target="../media/image69.png"/><Relationship Id="rId10" Type="http://schemas.openxmlformats.org/officeDocument/2006/relationships/image" Target="../media/image70.png"/><Relationship Id="rId11" Type="http://schemas.openxmlformats.org/officeDocument/2006/relationships/image" Target="../media/image71.png"/><Relationship Id="rId12" Type="http://schemas.openxmlformats.org/officeDocument/2006/relationships/image" Target="../media/image72.png"/><Relationship Id="rId13" Type="http://schemas.openxmlformats.org/officeDocument/2006/relationships/image" Target="../media/image73.png"/><Relationship Id="rId14" Type="http://schemas.openxmlformats.org/officeDocument/2006/relationships/image" Target="../media/image7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9.png"/><Relationship Id="rId4" Type="http://schemas.openxmlformats.org/officeDocument/2006/relationships/image" Target="../media/image75.png"/><Relationship Id="rId5" Type="http://schemas.openxmlformats.org/officeDocument/2006/relationships/image" Target="../media/image76.png"/><Relationship Id="rId6" Type="http://schemas.openxmlformats.org/officeDocument/2006/relationships/image" Target="../media/image77.png"/><Relationship Id="rId7" Type="http://schemas.openxmlformats.org/officeDocument/2006/relationships/image" Target="../media/image78.png"/><Relationship Id="rId8" Type="http://schemas.openxmlformats.org/officeDocument/2006/relationships/image" Target="../media/image79.png"/><Relationship Id="rId9" Type="http://schemas.openxmlformats.org/officeDocument/2006/relationships/image" Target="../media/image80.png"/><Relationship Id="rId10" Type="http://schemas.openxmlformats.org/officeDocument/2006/relationships/image" Target="../media/image81.png"/><Relationship Id="rId11" Type="http://schemas.openxmlformats.org/officeDocument/2006/relationships/image" Target="../media/image8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83.png"/><Relationship Id="rId4" Type="http://schemas.openxmlformats.org/officeDocument/2006/relationships/image" Target="../media/image76.png"/><Relationship Id="rId5" Type="http://schemas.openxmlformats.org/officeDocument/2006/relationships/image" Target="../media/image77.png"/><Relationship Id="rId6" Type="http://schemas.openxmlformats.org/officeDocument/2006/relationships/image" Target="../media/image78.png"/><Relationship Id="rId7" Type="http://schemas.openxmlformats.org/officeDocument/2006/relationships/image" Target="../media/image84.png"/><Relationship Id="rId8" Type="http://schemas.openxmlformats.org/officeDocument/2006/relationships/image" Target="../media/image85.png"/><Relationship Id="rId9" Type="http://schemas.openxmlformats.org/officeDocument/2006/relationships/image" Target="../media/image86.png"/><Relationship Id="rId10" Type="http://schemas.openxmlformats.org/officeDocument/2006/relationships/image" Target="../media/image8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88.png"/><Relationship Id="rId4" Type="http://schemas.openxmlformats.org/officeDocument/2006/relationships/image" Target="../media/image89.png"/><Relationship Id="rId5" Type="http://schemas.openxmlformats.org/officeDocument/2006/relationships/image" Target="../media/image90.png"/><Relationship Id="rId6" Type="http://schemas.openxmlformats.org/officeDocument/2006/relationships/image" Target="../media/image91.png"/><Relationship Id="rId7" Type="http://schemas.openxmlformats.org/officeDocument/2006/relationships/image" Target="../media/image92.png"/><Relationship Id="rId8" Type="http://schemas.openxmlformats.org/officeDocument/2006/relationships/image" Target="../media/image93.png"/><Relationship Id="rId9" Type="http://schemas.openxmlformats.org/officeDocument/2006/relationships/image" Target="../media/image94.png"/><Relationship Id="rId10" Type="http://schemas.openxmlformats.org/officeDocument/2006/relationships/image" Target="../media/image9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96.png"/><Relationship Id="rId4" Type="http://schemas.openxmlformats.org/officeDocument/2006/relationships/image" Target="../media/image97.png"/><Relationship Id="rId5" Type="http://schemas.openxmlformats.org/officeDocument/2006/relationships/image" Target="../media/image98.png"/><Relationship Id="rId6" Type="http://schemas.openxmlformats.org/officeDocument/2006/relationships/image" Target="../media/image76.png"/><Relationship Id="rId7" Type="http://schemas.openxmlformats.org/officeDocument/2006/relationships/image" Target="../media/image77.png"/><Relationship Id="rId8" Type="http://schemas.openxmlformats.org/officeDocument/2006/relationships/image" Target="../media/image78.png"/><Relationship Id="rId9" Type="http://schemas.openxmlformats.org/officeDocument/2006/relationships/image" Target="../media/image99.png"/><Relationship Id="rId10" Type="http://schemas.openxmlformats.org/officeDocument/2006/relationships/image" Target="../media/image100.png"/><Relationship Id="rId11" Type="http://schemas.openxmlformats.org/officeDocument/2006/relationships/image" Target="../media/image101.png"/><Relationship Id="rId12" Type="http://schemas.openxmlformats.org/officeDocument/2006/relationships/image" Target="../media/image10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03.png"/><Relationship Id="rId4" Type="http://schemas.openxmlformats.org/officeDocument/2006/relationships/image" Target="../media/image18.png"/><Relationship Id="rId5" Type="http://schemas.openxmlformats.org/officeDocument/2006/relationships/image" Target="../media/image104.png"/><Relationship Id="rId6" Type="http://schemas.openxmlformats.org/officeDocument/2006/relationships/image" Target="../media/image105.png"/><Relationship Id="rId7" Type="http://schemas.openxmlformats.org/officeDocument/2006/relationships/image" Target="../media/image106.png"/><Relationship Id="rId8" Type="http://schemas.openxmlformats.org/officeDocument/2006/relationships/image" Target="../media/image107.png"/><Relationship Id="rId9" Type="http://schemas.openxmlformats.org/officeDocument/2006/relationships/image" Target="../media/image10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09.png"/><Relationship Id="rId4" Type="http://schemas.openxmlformats.org/officeDocument/2006/relationships/image" Target="../media/image110.png"/><Relationship Id="rId5" Type="http://schemas.openxmlformats.org/officeDocument/2006/relationships/image" Target="../media/image111.png"/><Relationship Id="rId6" Type="http://schemas.openxmlformats.org/officeDocument/2006/relationships/image" Target="../media/image112.png"/><Relationship Id="rId7" Type="http://schemas.openxmlformats.org/officeDocument/2006/relationships/image" Target="../media/image113.png"/><Relationship Id="rId8" Type="http://schemas.openxmlformats.org/officeDocument/2006/relationships/image" Target="../media/image114.png"/><Relationship Id="rId9" Type="http://schemas.openxmlformats.org/officeDocument/2006/relationships/image" Target="../media/image115.png"/><Relationship Id="rId10" Type="http://schemas.openxmlformats.org/officeDocument/2006/relationships/image" Target="../media/image116.png"/><Relationship Id="rId11" Type="http://schemas.openxmlformats.org/officeDocument/2006/relationships/image" Target="../media/image117.png"/><Relationship Id="rId12" Type="http://schemas.openxmlformats.org/officeDocument/2006/relationships/image" Target="../media/image118.png"/><Relationship Id="rId13" Type="http://schemas.openxmlformats.org/officeDocument/2006/relationships/image" Target="../media/image119.png"/><Relationship Id="rId14" Type="http://schemas.openxmlformats.org/officeDocument/2006/relationships/image" Target="../media/image120.png"/><Relationship Id="rId15" Type="http://schemas.openxmlformats.org/officeDocument/2006/relationships/image" Target="../media/image121.png"/><Relationship Id="rId16" Type="http://schemas.openxmlformats.org/officeDocument/2006/relationships/image" Target="../media/image122.png"/><Relationship Id="rId17" Type="http://schemas.openxmlformats.org/officeDocument/2006/relationships/image" Target="../media/image123.png"/><Relationship Id="rId18" Type="http://schemas.openxmlformats.org/officeDocument/2006/relationships/image" Target="../media/image124.png"/><Relationship Id="rId19" Type="http://schemas.openxmlformats.org/officeDocument/2006/relationships/image" Target="../media/image125.png"/><Relationship Id="rId20" Type="http://schemas.openxmlformats.org/officeDocument/2006/relationships/image" Target="../media/image126.png"/><Relationship Id="rId21" Type="http://schemas.openxmlformats.org/officeDocument/2006/relationships/image" Target="../media/image127.png"/><Relationship Id="rId22" Type="http://schemas.openxmlformats.org/officeDocument/2006/relationships/image" Target="../media/image128.png"/><Relationship Id="rId23" Type="http://schemas.openxmlformats.org/officeDocument/2006/relationships/image" Target="../media/image129.png"/><Relationship Id="rId24" Type="http://schemas.openxmlformats.org/officeDocument/2006/relationships/image" Target="../media/image130.png"/><Relationship Id="rId25" Type="http://schemas.openxmlformats.org/officeDocument/2006/relationships/image" Target="../media/image13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32.png"/><Relationship Id="rId4" Type="http://schemas.openxmlformats.org/officeDocument/2006/relationships/image" Target="../media/image133.png"/><Relationship Id="rId5" Type="http://schemas.openxmlformats.org/officeDocument/2006/relationships/image" Target="../media/image134.png"/><Relationship Id="rId6" Type="http://schemas.openxmlformats.org/officeDocument/2006/relationships/image" Target="../media/image67.png"/><Relationship Id="rId7" Type="http://schemas.openxmlformats.org/officeDocument/2006/relationships/image" Target="../media/image68.png"/><Relationship Id="rId8" Type="http://schemas.openxmlformats.org/officeDocument/2006/relationships/image" Target="../media/image69.png"/><Relationship Id="rId9" Type="http://schemas.openxmlformats.org/officeDocument/2006/relationships/image" Target="../media/image135.png"/><Relationship Id="rId10" Type="http://schemas.openxmlformats.org/officeDocument/2006/relationships/image" Target="../media/image136.png"/><Relationship Id="rId11" Type="http://schemas.openxmlformats.org/officeDocument/2006/relationships/image" Target="../media/image137.png"/><Relationship Id="rId12" Type="http://schemas.openxmlformats.org/officeDocument/2006/relationships/image" Target="../media/image138.png"/><Relationship Id="rId13" Type="http://schemas.openxmlformats.org/officeDocument/2006/relationships/image" Target="../media/image13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40.png"/><Relationship Id="rId4" Type="http://schemas.openxmlformats.org/officeDocument/2006/relationships/image" Target="../media/image141.png"/><Relationship Id="rId5" Type="http://schemas.openxmlformats.org/officeDocument/2006/relationships/image" Target="../media/image142.png"/><Relationship Id="rId6" Type="http://schemas.openxmlformats.org/officeDocument/2006/relationships/image" Target="../media/image14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44.png"/><Relationship Id="rId4" Type="http://schemas.openxmlformats.org/officeDocument/2006/relationships/image" Target="../media/image145.png"/><Relationship Id="rId5" Type="http://schemas.openxmlformats.org/officeDocument/2006/relationships/image" Target="../media/image146.png"/><Relationship Id="rId6" Type="http://schemas.openxmlformats.org/officeDocument/2006/relationships/image" Target="../media/image147.png"/><Relationship Id="rId7" Type="http://schemas.openxmlformats.org/officeDocument/2006/relationships/image" Target="../media/image148.png"/><Relationship Id="rId8" Type="http://schemas.openxmlformats.org/officeDocument/2006/relationships/image" Target="../media/image14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50.png"/><Relationship Id="rId4" Type="http://schemas.openxmlformats.org/officeDocument/2006/relationships/image" Target="../media/image76.png"/><Relationship Id="rId5" Type="http://schemas.openxmlformats.org/officeDocument/2006/relationships/image" Target="../media/image77.png"/><Relationship Id="rId6" Type="http://schemas.openxmlformats.org/officeDocument/2006/relationships/image" Target="../media/image78.png"/><Relationship Id="rId7" Type="http://schemas.openxmlformats.org/officeDocument/2006/relationships/image" Target="../media/image151.png"/><Relationship Id="rId8" Type="http://schemas.openxmlformats.org/officeDocument/2006/relationships/image" Target="../media/image152.png"/><Relationship Id="rId9" Type="http://schemas.openxmlformats.org/officeDocument/2006/relationships/image" Target="../media/image153.png"/><Relationship Id="rId10" Type="http://schemas.openxmlformats.org/officeDocument/2006/relationships/image" Target="../media/image15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55.png"/><Relationship Id="rId4" Type="http://schemas.openxmlformats.org/officeDocument/2006/relationships/image" Target="../media/image156.png"/><Relationship Id="rId5" Type="http://schemas.openxmlformats.org/officeDocument/2006/relationships/image" Target="../media/image157.png"/><Relationship Id="rId6" Type="http://schemas.openxmlformats.org/officeDocument/2006/relationships/image" Target="../media/image158.png"/><Relationship Id="rId7" Type="http://schemas.openxmlformats.org/officeDocument/2006/relationships/image" Target="../media/image15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60.png"/><Relationship Id="rId4" Type="http://schemas.openxmlformats.org/officeDocument/2006/relationships/image" Target="../media/image161.png"/><Relationship Id="rId5" Type="http://schemas.openxmlformats.org/officeDocument/2006/relationships/image" Target="../media/image16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63.png"/><Relationship Id="rId4" Type="http://schemas.openxmlformats.org/officeDocument/2006/relationships/image" Target="../media/image164.png"/><Relationship Id="rId5" Type="http://schemas.openxmlformats.org/officeDocument/2006/relationships/image" Target="../media/image165.png"/><Relationship Id="rId6" Type="http://schemas.openxmlformats.org/officeDocument/2006/relationships/image" Target="../media/image166.png"/><Relationship Id="rId7" Type="http://schemas.openxmlformats.org/officeDocument/2006/relationships/image" Target="../media/image167.png"/><Relationship Id="rId8" Type="http://schemas.openxmlformats.org/officeDocument/2006/relationships/image" Target="../media/image168.png"/><Relationship Id="rId9" Type="http://schemas.openxmlformats.org/officeDocument/2006/relationships/image" Target="../media/image169.png"/><Relationship Id="rId10" Type="http://schemas.openxmlformats.org/officeDocument/2006/relationships/image" Target="../media/image24.png"/><Relationship Id="rId11" Type="http://schemas.openxmlformats.org/officeDocument/2006/relationships/image" Target="../media/image94.png"/><Relationship Id="rId12" Type="http://schemas.openxmlformats.org/officeDocument/2006/relationships/image" Target="../media/image170.png"/><Relationship Id="rId13" Type="http://schemas.openxmlformats.org/officeDocument/2006/relationships/image" Target="../media/image171.png"/><Relationship Id="rId14" Type="http://schemas.openxmlformats.org/officeDocument/2006/relationships/image" Target="../media/image172.png"/><Relationship Id="rId15" Type="http://schemas.openxmlformats.org/officeDocument/2006/relationships/image" Target="../media/image173.png"/><Relationship Id="rId16" Type="http://schemas.openxmlformats.org/officeDocument/2006/relationships/image" Target="../media/image17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37.png"/><Relationship Id="rId4" Type="http://schemas.openxmlformats.org/officeDocument/2006/relationships/image" Target="../media/image38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75.png"/><Relationship Id="rId4" Type="http://schemas.openxmlformats.org/officeDocument/2006/relationships/image" Target="../media/image111.png"/><Relationship Id="rId5" Type="http://schemas.openxmlformats.org/officeDocument/2006/relationships/image" Target="../media/image176.png"/><Relationship Id="rId6" Type="http://schemas.openxmlformats.org/officeDocument/2006/relationships/image" Target="../media/image177.png"/><Relationship Id="rId7" Type="http://schemas.openxmlformats.org/officeDocument/2006/relationships/image" Target="../media/image169.png"/><Relationship Id="rId8" Type="http://schemas.openxmlformats.org/officeDocument/2006/relationships/image" Target="../media/image178.png"/><Relationship Id="rId9" Type="http://schemas.openxmlformats.org/officeDocument/2006/relationships/image" Target="../media/image23.png"/><Relationship Id="rId10" Type="http://schemas.openxmlformats.org/officeDocument/2006/relationships/image" Target="../media/image179.png"/><Relationship Id="rId11" Type="http://schemas.openxmlformats.org/officeDocument/2006/relationships/image" Target="../media/image180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81.png"/><Relationship Id="rId4" Type="http://schemas.openxmlformats.org/officeDocument/2006/relationships/image" Target="../media/image182.png"/><Relationship Id="rId5" Type="http://schemas.openxmlformats.org/officeDocument/2006/relationships/image" Target="../media/image183.png"/><Relationship Id="rId6" Type="http://schemas.openxmlformats.org/officeDocument/2006/relationships/image" Target="../media/image67.png"/><Relationship Id="rId7" Type="http://schemas.openxmlformats.org/officeDocument/2006/relationships/image" Target="../media/image68.png"/><Relationship Id="rId8" Type="http://schemas.openxmlformats.org/officeDocument/2006/relationships/image" Target="../media/image69.png"/><Relationship Id="rId9" Type="http://schemas.openxmlformats.org/officeDocument/2006/relationships/image" Target="../media/image184.png"/><Relationship Id="rId10" Type="http://schemas.openxmlformats.org/officeDocument/2006/relationships/image" Target="../media/image185.png"/><Relationship Id="rId11" Type="http://schemas.openxmlformats.org/officeDocument/2006/relationships/image" Target="../media/image186.png"/><Relationship Id="rId12" Type="http://schemas.openxmlformats.org/officeDocument/2006/relationships/image" Target="../media/image187.png"/><Relationship Id="rId13" Type="http://schemas.openxmlformats.org/officeDocument/2006/relationships/image" Target="../media/image188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89.png"/><Relationship Id="rId4" Type="http://schemas.openxmlformats.org/officeDocument/2006/relationships/image" Target="../media/image190.png"/><Relationship Id="rId5" Type="http://schemas.openxmlformats.org/officeDocument/2006/relationships/image" Target="../media/image191.png"/><Relationship Id="rId6" Type="http://schemas.openxmlformats.org/officeDocument/2006/relationships/image" Target="../media/image192.png"/><Relationship Id="rId7" Type="http://schemas.openxmlformats.org/officeDocument/2006/relationships/image" Target="../media/image193.png"/><Relationship Id="rId8" Type="http://schemas.openxmlformats.org/officeDocument/2006/relationships/image" Target="../media/image194.png"/><Relationship Id="rId9" Type="http://schemas.openxmlformats.org/officeDocument/2006/relationships/image" Target="../media/image195.png"/><Relationship Id="rId10" Type="http://schemas.openxmlformats.org/officeDocument/2006/relationships/image" Target="../media/image196.png"/><Relationship Id="rId11" Type="http://schemas.openxmlformats.org/officeDocument/2006/relationships/image" Target="../media/image197.png"/><Relationship Id="rId12" Type="http://schemas.openxmlformats.org/officeDocument/2006/relationships/image" Target="../media/image198.png"/><Relationship Id="rId13" Type="http://schemas.openxmlformats.org/officeDocument/2006/relationships/image" Target="../media/image199.png"/><Relationship Id="rId14" Type="http://schemas.openxmlformats.org/officeDocument/2006/relationships/image" Target="../media/image200.png"/><Relationship Id="rId15" Type="http://schemas.openxmlformats.org/officeDocument/2006/relationships/image" Target="../media/image201.png"/><Relationship Id="rId16" Type="http://schemas.openxmlformats.org/officeDocument/2006/relationships/image" Target="../media/image202.png"/><Relationship Id="rId17" Type="http://schemas.openxmlformats.org/officeDocument/2006/relationships/image" Target="../media/image203.png"/><Relationship Id="rId18" Type="http://schemas.openxmlformats.org/officeDocument/2006/relationships/image" Target="../media/image204.png"/><Relationship Id="rId19" Type="http://schemas.openxmlformats.org/officeDocument/2006/relationships/image" Target="../media/image205.png"/><Relationship Id="rId20" Type="http://schemas.openxmlformats.org/officeDocument/2006/relationships/image" Target="../media/image206.png"/><Relationship Id="rId21" Type="http://schemas.openxmlformats.org/officeDocument/2006/relationships/image" Target="../media/image207.png"/><Relationship Id="rId22" Type="http://schemas.openxmlformats.org/officeDocument/2006/relationships/image" Target="../media/image208.png"/><Relationship Id="rId23" Type="http://schemas.openxmlformats.org/officeDocument/2006/relationships/image" Target="../media/image209.png"/><Relationship Id="rId24" Type="http://schemas.openxmlformats.org/officeDocument/2006/relationships/image" Target="../media/image210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61.png"/><Relationship Id="rId4" Type="http://schemas.openxmlformats.org/officeDocument/2006/relationships/image" Target="../media/image211.png"/><Relationship Id="rId5" Type="http://schemas.openxmlformats.org/officeDocument/2006/relationships/image" Target="../media/image212.png"/><Relationship Id="rId6" Type="http://schemas.openxmlformats.org/officeDocument/2006/relationships/image" Target="../media/image213.png"/><Relationship Id="rId7" Type="http://schemas.openxmlformats.org/officeDocument/2006/relationships/image" Target="../media/image214.png"/><Relationship Id="rId8" Type="http://schemas.openxmlformats.org/officeDocument/2006/relationships/image" Target="../media/image215.png"/><Relationship Id="rId9" Type="http://schemas.openxmlformats.org/officeDocument/2006/relationships/image" Target="../media/image216.png"/><Relationship Id="rId10" Type="http://schemas.openxmlformats.org/officeDocument/2006/relationships/image" Target="../media/image217.png"/><Relationship Id="rId11" Type="http://schemas.openxmlformats.org/officeDocument/2006/relationships/image" Target="../media/image218.png"/><Relationship Id="rId12" Type="http://schemas.openxmlformats.org/officeDocument/2006/relationships/image" Target="../media/image21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20.png"/><Relationship Id="rId4" Type="http://schemas.openxmlformats.org/officeDocument/2006/relationships/image" Target="../media/image221.png"/><Relationship Id="rId5" Type="http://schemas.openxmlformats.org/officeDocument/2006/relationships/image" Target="../media/image222.png"/><Relationship Id="rId6" Type="http://schemas.openxmlformats.org/officeDocument/2006/relationships/image" Target="../media/image223.png"/><Relationship Id="rId7" Type="http://schemas.openxmlformats.org/officeDocument/2006/relationships/image" Target="../media/image224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25.png"/><Relationship Id="rId4" Type="http://schemas.openxmlformats.org/officeDocument/2006/relationships/image" Target="../media/image226.png"/><Relationship Id="rId5" Type="http://schemas.openxmlformats.org/officeDocument/2006/relationships/image" Target="../media/image227.png"/><Relationship Id="rId6" Type="http://schemas.openxmlformats.org/officeDocument/2006/relationships/image" Target="../media/image228.png"/><Relationship Id="rId7" Type="http://schemas.openxmlformats.org/officeDocument/2006/relationships/image" Target="../media/image22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1587" y="2432000"/>
            <a:ext cx="2028825" cy="2190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95437" y="2746325"/>
            <a:ext cx="9001125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b="1" sz="3600" i="0" u="none">
                <a:solidFill>
                  <a:srgbClr val="0F172A"/>
                </a:solidFill>
                <a:latin typeface="Space Grotesk"/>
              </a:rPr>
              <a:t>Engineering Enterprise AI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9750" y="3390155"/>
            <a:ext cx="857250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75"/>
              </a:lnSpc>
            </a:pPr>
            <a:r>
              <a:rPr b="0" sz="1500" i="0" u="none">
                <a:solidFill>
                  <a:srgbClr val="475569"/>
                </a:solidFill>
                <a:latin typeface="Plus Jakarta Sans"/>
              </a:rPr>
              <a:t>The Evolution from Prompt Engineering to Autonomous Agent Platforms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09750" y="4152155"/>
            <a:ext cx="8572500" cy="207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31"/>
              </a:lnSpc>
            </a:pPr>
            <a:r>
              <a:rPr b="0" sz="1125" i="0" u="none">
                <a:solidFill>
                  <a:srgbClr val="64748B"/>
                </a:solidFill>
                <a:latin typeface="Plus Jakarta Sans Medium"/>
              </a:rPr>
              <a:t>How Enterprise AI is Evolving from Conversations to Intelligent Systems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2032545"/>
            <a:ext cx="11239500" cy="242158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4597003"/>
            <a:ext cx="5548312" cy="87615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7437" y="4830960"/>
            <a:ext cx="5548312" cy="408086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85775" y="2042070"/>
          <a:ext cx="11220449" cy="24025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582614"/>
                <a:gridCol w="3041749"/>
                <a:gridCol w="5596086"/>
              </a:tblGrid>
              <a:tr h="400422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FFFFFF"/>
                          </a:solidFill>
                          <a:latin typeface="Space Grotesk"/>
                        </a:rPr>
                        <a:t>Stage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12E8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FFFFFF"/>
                          </a:solidFill>
                          <a:latin typeface="Space Grotesk"/>
                        </a:rPr>
                        <a:t>Primary Question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12E8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FFFFFF"/>
                          </a:solidFill>
                          <a:latin typeface="Space Grotesk"/>
                        </a:rPr>
                        <a:t>Architectural Focus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12E81"/>
                    </a:solidFill>
                  </a:tcPr>
                </a:tc>
              </a:tr>
              <a:tr h="400422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Prompt Engineering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How should I ask?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Formatting input text for single LLM interaction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00422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Context Engineering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What should AI know?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RAG, repository embeddings, vector memory injection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400422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Loop Engineering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How should AI execute?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Autonomous planning, execution, verification &amp; retries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00422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Graph Engineering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How should AI collaborate?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Multi-agent teams, stateful graphs, shared execution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400422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Enterprise AI Platform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How do we govern at scale?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Governance, observability, security, policies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00075" y="4720828"/>
            <a:ext cx="5300662" cy="193327"/>
          </a:xfrm>
          <a:prstGeom prst="rect">
            <a:avLst/>
          </a:prstGeom>
          <a:noFill/>
        </p:spPr>
        <p:txBody>
          <a:bodyPr wrap="square" lIns="13335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1" sz="1050" i="0" u="none">
                <a:solidFill>
                  <a:srgbClr val="312E81"/>
                </a:solidFill>
                <a:latin typeface="Plus Jakarta Sans"/>
              </a:rPr>
              <a:t>Enterprise Lens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0075" y="4990355"/>
            <a:ext cx="5300662" cy="3589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b="0" sz="975" i="0" u="none">
                <a:solidFill>
                  <a:srgbClr val="475569"/>
                </a:solidFill>
                <a:latin typeface="Plus Jakarta Sans"/>
              </a:rPr>
              <a:t>Mirrors traditional software: Monoliths → Microservices → Cloud Native → Platform Engineering.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7937" y="4945260"/>
            <a:ext cx="5205412" cy="179486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b="0" sz="975" i="0" u="none">
                <a:solidFill>
                  <a:srgbClr val="5B21B6"/>
                </a:solidFill>
                <a:latin typeface="Plus Jakarta Sans SemiBold"/>
              </a:rPr>
              <a:t>Key Takeaway: Each discipline builds on the previous one rather than replacing 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5775" y="2856904"/>
            <a:ext cx="258261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068389" y="2856904"/>
            <a:ext cx="304174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10138" y="2856904"/>
            <a:ext cx="559608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85775" y="3250257"/>
            <a:ext cx="258261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068389" y="3250257"/>
            <a:ext cx="304174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10138" y="3250257"/>
            <a:ext cx="559608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85775" y="3643610"/>
            <a:ext cx="258261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068389" y="3643610"/>
            <a:ext cx="304174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10138" y="3643610"/>
            <a:ext cx="559608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85775" y="4036962"/>
            <a:ext cx="258261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068389" y="4036962"/>
            <a:ext cx="304174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10138" y="4036962"/>
            <a:ext cx="559608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85775" y="4430315"/>
            <a:ext cx="258261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068389" y="4430315"/>
            <a:ext cx="304174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10138" y="4430315"/>
            <a:ext cx="559608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0075" y="4758928"/>
            <a:ext cx="133350" cy="13335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7937" y="4973835"/>
            <a:ext cx="95250" cy="12382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76250" y="381000"/>
            <a:ext cx="117157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1" sz="2250" i="0" u="none">
                <a:solidFill>
                  <a:srgbClr val="0F172A"/>
                </a:solidFill>
                <a:latin typeface="Space Grotesk"/>
              </a:rPr>
              <a:t>The Evolution of AI Engineering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76250" y="819150"/>
            <a:ext cx="112395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4902696"/>
            <a:ext cx="11239500" cy="42192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2180927"/>
            <a:ext cx="5476875" cy="2578893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8875" y="2180927"/>
            <a:ext cx="5476875" cy="257889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66750" y="5016996"/>
            <a:ext cx="10896600" cy="193327"/>
          </a:xfrm>
          <a:prstGeom prst="rect">
            <a:avLst/>
          </a:prstGeom>
          <a:noFill/>
        </p:spPr>
        <p:txBody>
          <a:bodyPr wrap="square" lIns="13335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0" sz="1050" i="0" u="none">
                <a:solidFill>
                  <a:srgbClr val="5B21B6"/>
                </a:solidFill>
                <a:latin typeface="Plus Jakarta Sans SemiBold"/>
              </a:rPr>
              <a:t>Architect's Insight: Enterprise AI spends significantly more effort executing, validating and recovering than generating its first response.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375" y="2428577"/>
            <a:ext cx="900112" cy="2190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14375" y="2742902"/>
            <a:ext cx="525065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500" i="0" u="none">
                <a:solidFill>
                  <a:srgbClr val="312E81"/>
                </a:solidFill>
                <a:latin typeface="Space Grotesk SemiBold"/>
              </a:rPr>
              <a:t>Traditional Conversational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4375" y="3047702"/>
            <a:ext cx="5000625" cy="207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1" sz="1125" i="0" u="none">
                <a:solidFill>
                  <a:srgbClr val="475569"/>
                </a:solidFill>
                <a:latin typeface="Plus Jakarta Sans"/>
              </a:rPr>
              <a:t>Workflow: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 Developer → Prompt → LLM → Response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7000" y="2428577"/>
            <a:ext cx="623887" cy="2190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77000" y="2742902"/>
            <a:ext cx="525065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500" i="0" u="none">
                <a:solidFill>
                  <a:srgbClr val="312E81"/>
                </a:solidFill>
                <a:latin typeface="Space Grotesk SemiBold"/>
              </a:rPr>
              <a:t>Modern Autonomous Worker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7000" y="3047702"/>
            <a:ext cx="5000625" cy="414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1" sz="1125" i="0" u="none">
                <a:solidFill>
                  <a:srgbClr val="475569"/>
                </a:solidFill>
                <a:latin typeface="Plus Jakarta Sans"/>
              </a:rPr>
              <a:t>Workflow: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 Goal → Planner → Memory → Tools → Execute → Verify → Retry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6750" y="5055096"/>
            <a:ext cx="133350" cy="1333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00125" y="3350121"/>
            <a:ext cx="4714875" cy="207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Stateless conversations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0125" y="3671589"/>
            <a:ext cx="4714875" cy="207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Single-shot text generation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0125" y="3993058"/>
            <a:ext cx="4714875" cy="207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Human drives every iteration step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2750" y="3557289"/>
            <a:ext cx="4714875" cy="207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Stateful autonomous worker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2750" y="3878758"/>
            <a:ext cx="4714875" cy="207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Outcome &amp; workflow focused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2750" y="4200227"/>
            <a:ext cx="4714875" cy="207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Executes and validates autonomously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4375" y="3364408"/>
            <a:ext cx="123825" cy="18097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4375" y="3685877"/>
            <a:ext cx="123825" cy="18097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4375" y="4007346"/>
            <a:ext cx="123825" cy="18097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77000" y="3571577"/>
            <a:ext cx="152400" cy="18097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77000" y="3893046"/>
            <a:ext cx="152400" cy="18097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77000" y="4214514"/>
            <a:ext cx="152400" cy="180975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76250" y="381000"/>
            <a:ext cx="117157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1" sz="2250" i="0" u="none">
                <a:solidFill>
                  <a:srgbClr val="0F172A"/>
                </a:solidFill>
                <a:latin typeface="Space Grotesk"/>
              </a:rPr>
              <a:t>AI Has Moved Beyond Chat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76250" y="819150"/>
            <a:ext cx="112395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4662041"/>
            <a:ext cx="5476875" cy="61525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2085975"/>
            <a:ext cx="5476875" cy="33337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" y="2237928"/>
            <a:ext cx="1476375" cy="2190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6250" y="2552253"/>
            <a:ext cx="575071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500" i="0" u="none">
                <a:solidFill>
                  <a:srgbClr val="312E81"/>
                </a:solidFill>
                <a:latin typeface="Space Grotesk SemiBold"/>
              </a:rPr>
              <a:t>Beyond Code Generation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6250" y="2857053"/>
            <a:ext cx="5476875" cy="414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Asking AI to </a:t>
            </a:r>
            <a:r>
              <a:rPr b="0" sz="1125" i="1" u="none">
                <a:solidFill>
                  <a:srgbClr val="475569"/>
                </a:solidFill>
                <a:latin typeface="Plus Jakarta Sans"/>
              </a:rPr>
              <a:t>"Upgrade Spring Boot &amp; Raise PR"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 requires a complete engineering pipeline: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3347591"/>
            <a:ext cx="5191125" cy="207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Understand Architecture &amp; Build Setup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3669059"/>
            <a:ext cx="5191125" cy="207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Upgrade Dependencies &amp; Fix Compilation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3990528"/>
            <a:ext cx="5191125" cy="207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Execute Unit Tests &amp; Resolve Failures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4311997"/>
            <a:ext cx="5191125" cy="207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Run Static Scans &amp; Update Documentation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6750" y="4776341"/>
            <a:ext cx="5133975" cy="3866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0" sz="1050" i="0" u="none">
                <a:solidFill>
                  <a:srgbClr val="5B21B6"/>
                </a:solidFill>
                <a:latin typeface="Plus Jakarta Sans SemiBold"/>
              </a:rPr>
              <a:t>Writing code represents only 10% of the workflow. The rest is engineering execution.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8400" y="2095500"/>
            <a:ext cx="5457825" cy="33147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6250" y="3361878"/>
            <a:ext cx="190500" cy="18097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6250" y="3683347"/>
            <a:ext cx="171450" cy="1809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6250" y="4004816"/>
            <a:ext cx="171450" cy="1809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6250" y="4326284"/>
            <a:ext cx="171450" cy="18097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76250" y="381000"/>
            <a:ext cx="117157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1" sz="2250" i="0" u="none">
                <a:solidFill>
                  <a:srgbClr val="0F172A"/>
                </a:solidFill>
                <a:latin typeface="Space Grotesk"/>
              </a:rPr>
              <a:t>The Execution Gap in Engineering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6250" y="819150"/>
            <a:ext cx="112395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3804493"/>
            <a:ext cx="11239500" cy="163487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2066180"/>
            <a:ext cx="5476875" cy="159543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8875" y="2066180"/>
            <a:ext cx="5476875" cy="1595437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85775" y="3814018"/>
          <a:ext cx="11220447" cy="16158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3435101"/>
                <a:gridCol w="2655093"/>
                <a:gridCol w="2744985"/>
                <a:gridCol w="2385268"/>
              </a:tblGrid>
              <a:tr h="403956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FFFFFF"/>
                          </a:solidFill>
                          <a:latin typeface="Space Grotesk"/>
                        </a:rPr>
                        <a:t>Capability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12E8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FFFFFF"/>
                          </a:solidFill>
                          <a:latin typeface="Space Grotesk"/>
                        </a:rPr>
                        <a:t>Prompt Engineering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12E8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FFFFFF"/>
                          </a:solidFill>
                          <a:latin typeface="Space Grotesk"/>
                        </a:rPr>
                        <a:t>Context Engineering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12E8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FFFFFF"/>
                          </a:solidFill>
                          <a:latin typeface="Space Grotesk"/>
                        </a:rPr>
                        <a:t>Loop Engineering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12E81"/>
                    </a:solidFill>
                  </a:tcPr>
                </a:tc>
              </a:tr>
              <a:tr h="403956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Repository Awareness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No</a:t>
                      </a:r>
                    </a:p>
                  </a:txBody>
                  <a:tcPr anchor="ctr" marL="219075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Yes</a:t>
                      </a:r>
                    </a:p>
                  </a:txBody>
                  <a:tcPr anchor="ctr" marL="2286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Yes</a:t>
                      </a:r>
                    </a:p>
                  </a:txBody>
                  <a:tcPr anchor="ctr" marL="2286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03956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Tool Access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No</a:t>
                      </a:r>
                    </a:p>
                  </a:txBody>
                  <a:tcPr anchor="ctr" marL="219075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Yes</a:t>
                      </a:r>
                    </a:p>
                  </a:txBody>
                  <a:tcPr anchor="ctr" marL="2286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Yes</a:t>
                      </a:r>
                    </a:p>
                  </a:txBody>
                  <a:tcPr anchor="ctr" marL="2286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403958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Autonomous Task Completion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No</a:t>
                      </a:r>
                    </a:p>
                  </a:txBody>
                  <a:tcPr anchor="ctr" marL="219075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No</a:t>
                      </a:r>
                    </a:p>
                  </a:txBody>
                  <a:tcPr anchor="ctr" marL="219075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Full Execution</a:t>
                      </a:r>
                    </a:p>
                  </a:txBody>
                  <a:tcPr anchor="ctr" marL="2286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375" y="2313830"/>
            <a:ext cx="1414462" cy="2190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14375" y="2628155"/>
            <a:ext cx="525065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500" i="0" u="none">
                <a:solidFill>
                  <a:srgbClr val="312E81"/>
                </a:solidFill>
                <a:latin typeface="Space Grotesk SemiBold"/>
              </a:rPr>
              <a:t>"What should I know?"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4375" y="2932955"/>
            <a:ext cx="5000625" cy="414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Provides repository awareness, documentation, vector databases, and coding standards.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7000" y="2313830"/>
            <a:ext cx="1257300" cy="2190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77000" y="2628155"/>
            <a:ext cx="525065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500" i="0" u="none">
                <a:solidFill>
                  <a:srgbClr val="991B1B"/>
                </a:solidFill>
                <a:latin typeface="Space Grotesk SemiBold"/>
              </a:rPr>
              <a:t>"What should I do next?"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7000" y="2932955"/>
            <a:ext cx="5000625" cy="414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Does not answer how to plan execution, verify outputs, or recover from unexpected build errors.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5775" y="4628852"/>
            <a:ext cx="343510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920876" y="4628852"/>
            <a:ext cx="265509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75970" y="4628852"/>
            <a:ext cx="274498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320956" y="4628852"/>
            <a:ext cx="238526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85775" y="5022205"/>
            <a:ext cx="343510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920876" y="5022205"/>
            <a:ext cx="265509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75970" y="5022205"/>
            <a:ext cx="274498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320956" y="5022205"/>
            <a:ext cx="238526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85775" y="5415557"/>
            <a:ext cx="343510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920876" y="5415557"/>
            <a:ext cx="265509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75970" y="5415557"/>
            <a:ext cx="274498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320956" y="5415557"/>
            <a:ext cx="238526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73356" y="4383137"/>
            <a:ext cx="114300" cy="13335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73276" y="5169842"/>
            <a:ext cx="104775" cy="13335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28370" y="4383137"/>
            <a:ext cx="114300" cy="13335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73276" y="4776489"/>
            <a:ext cx="104775" cy="13335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28370" y="5169842"/>
            <a:ext cx="104775" cy="13335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473356" y="5169842"/>
            <a:ext cx="114300" cy="13335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28370" y="4776489"/>
            <a:ext cx="114300" cy="13335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473356" y="4776489"/>
            <a:ext cx="114300" cy="13335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073276" y="4383137"/>
            <a:ext cx="104775" cy="13335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073276" y="4383137"/>
            <a:ext cx="104775" cy="13335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28370" y="4383137"/>
            <a:ext cx="114300" cy="133350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73356" y="4383137"/>
            <a:ext cx="114300" cy="133350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73276" y="4776489"/>
            <a:ext cx="104775" cy="133350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28370" y="4776489"/>
            <a:ext cx="114300" cy="133350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473356" y="4776489"/>
            <a:ext cx="114300" cy="133350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73276" y="5169842"/>
            <a:ext cx="104775" cy="133350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28370" y="5169842"/>
            <a:ext cx="104775" cy="133350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473356" y="5169842"/>
            <a:ext cx="114300" cy="13335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476250" y="381000"/>
            <a:ext cx="117157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1" sz="2250" i="0" u="none">
                <a:solidFill>
                  <a:srgbClr val="0F172A"/>
                </a:solidFill>
                <a:latin typeface="Space Grotesk"/>
              </a:rPr>
              <a:t>Why Context Engineering Isn't Enough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76250" y="819150"/>
            <a:ext cx="112395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5" y="3868340"/>
            <a:ext cx="5476875" cy="91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76250" y="3114228"/>
            <a:ext cx="5476875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750"/>
              </a:lnSpc>
            </a:pPr>
            <a:r>
              <a:rPr b="1" sz="6750" i="0" u="none">
                <a:solidFill>
                  <a:srgbClr val="4F46E5"/>
                </a:solidFill>
                <a:latin typeface="Space Grotesk"/>
              </a:rPr>
              <a:t>100s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6250" y="4066728"/>
            <a:ext cx="5476875" cy="2485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b="1" sz="1350" i="0" u="none">
                <a:solidFill>
                  <a:srgbClr val="334155"/>
                </a:solidFill>
                <a:latin typeface="Plus Jakarta Sans"/>
              </a:rPr>
              <a:t>Micro-Failures Per Task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38875" y="2722959"/>
            <a:ext cx="575071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500" i="0" u="none">
                <a:solidFill>
                  <a:srgbClr val="312E81"/>
                </a:solidFill>
                <a:latin typeface="Space Grotesk SemiBold"/>
              </a:rPr>
              <a:t>Autonomous Recovery is Essential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38875" y="3027759"/>
            <a:ext cx="5476875" cy="414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Consider an autonomous development task: Compilation fails, unit tests break, security scans flag vulnerabilities, documentation is missing.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38875" y="3518296"/>
            <a:ext cx="5476875" cy="207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Every failure requires continuous </a:t>
            </a:r>
            <a:r>
              <a:rPr b="1" sz="1125" i="0" u="none">
                <a:solidFill>
                  <a:srgbClr val="475569"/>
                </a:solidFill>
                <a:latin typeface="Plus Jakarta Sans"/>
              </a:rPr>
              <a:t>observation, reasoning, correction, and retry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38900" y="4068365"/>
            <a:ext cx="5076825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1" u="none">
                <a:solidFill>
                  <a:srgbClr val="581C87"/>
                </a:solidFill>
                <a:latin typeface="Space Grotesk"/>
              </a:rPr>
              <a:t> "Enterprise AI is not about making fewer mistakes. It is about recovering from mistakes autonomously."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6250" y="381000"/>
            <a:ext cx="117157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1" sz="2250" i="0" u="none">
                <a:solidFill>
                  <a:srgbClr val="0F172A"/>
                </a:solidFill>
                <a:latin typeface="Space Grotesk"/>
              </a:rPr>
              <a:t>Enterprise AI Fails Hundreds of Times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6250" y="819150"/>
            <a:ext cx="112395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2581572"/>
            <a:ext cx="11239500" cy="163487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4502199"/>
            <a:ext cx="11239500" cy="421927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85775" y="2591097"/>
          <a:ext cx="11220448" cy="16158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610445"/>
                <a:gridCol w="2701974"/>
                <a:gridCol w="2732484"/>
                <a:gridCol w="3175545"/>
              </a:tblGrid>
              <a:tr h="403956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FFFFFF"/>
                          </a:solidFill>
                          <a:latin typeface="Space Grotesk"/>
                        </a:rPr>
                        <a:t>Capability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12E8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FFFFFF"/>
                          </a:solidFill>
                          <a:latin typeface="Space Grotesk"/>
                        </a:rPr>
                        <a:t>GitHub Copilot Chat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12E8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FFFFFF"/>
                          </a:solidFill>
                          <a:latin typeface="Space Grotesk"/>
                        </a:rPr>
                        <a:t>Copilot Agent Mode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12E8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FFFFFF"/>
                          </a:solidFill>
                          <a:latin typeface="Space Grotesk"/>
                        </a:rPr>
                        <a:t>Devin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12E81"/>
                    </a:solidFill>
                  </a:tcPr>
                </a:tc>
              </a:tr>
              <a:tr h="403956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Interaction Style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Conversational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Iterative Loop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Autonomous Long-running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03956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Planning &amp; Reflection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None</a:t>
                      </a:r>
                    </a:p>
                  </a:txBody>
                  <a:tcPr anchor="ctr" marL="219075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Partial</a:t>
                      </a:r>
                    </a:p>
                  </a:txBody>
                  <a:tcPr anchor="ctr" marL="238125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Advanced</a:t>
                      </a:r>
                    </a:p>
                  </a:txBody>
                  <a:tcPr anchor="ctr" marL="2286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403958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Self-Healing / Retry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Manual</a:t>
                      </a:r>
                    </a:p>
                  </a:txBody>
                  <a:tcPr anchor="ctr" marL="219075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Automatic</a:t>
                      </a:r>
                    </a:p>
                  </a:txBody>
                  <a:tcPr anchor="ctr" marL="2286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Autonomous</a:t>
                      </a:r>
                    </a:p>
                  </a:txBody>
                  <a:tcPr anchor="ctr" marL="2286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66750" y="4616499"/>
            <a:ext cx="10896600" cy="193327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0" sz="1050" i="0" u="none">
                <a:solidFill>
                  <a:srgbClr val="5B21B6"/>
                </a:solidFill>
                <a:latin typeface="Plus Jakarta Sans SemiBold"/>
              </a:rPr>
              <a:t>Architect's Insight: The innovation behind autonomous coding agents is not bigger LLMs—it is better execution architecture.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750" y="4654599"/>
            <a:ext cx="104775" cy="13335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85775" y="3405931"/>
            <a:ext cx="261044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096220" y="3405931"/>
            <a:ext cx="270197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798194" y="3405931"/>
            <a:ext cx="273248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530679" y="3405931"/>
            <a:ext cx="317554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85775" y="3799284"/>
            <a:ext cx="261044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096220" y="3799284"/>
            <a:ext cx="270197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798194" y="3799284"/>
            <a:ext cx="273248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530679" y="3799284"/>
            <a:ext cx="317554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85775" y="4192637"/>
            <a:ext cx="261044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096220" y="4192637"/>
            <a:ext cx="270197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798194" y="4192637"/>
            <a:ext cx="273248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30679" y="4192637"/>
            <a:ext cx="317554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48620" y="3946921"/>
            <a:ext cx="104775" cy="1333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48620" y="3553569"/>
            <a:ext cx="104775" cy="1333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83079" y="3946921"/>
            <a:ext cx="114300" cy="1333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50594" y="3946921"/>
            <a:ext cx="114300" cy="13335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50594" y="3553569"/>
            <a:ext cx="123825" cy="13335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683079" y="3553569"/>
            <a:ext cx="114300" cy="13335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48620" y="3553569"/>
            <a:ext cx="104775" cy="13335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50594" y="3553569"/>
            <a:ext cx="123825" cy="13335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683079" y="3553569"/>
            <a:ext cx="114300" cy="13335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48620" y="3946921"/>
            <a:ext cx="104775" cy="13335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50594" y="3946921"/>
            <a:ext cx="114300" cy="13335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83079" y="3946921"/>
            <a:ext cx="114300" cy="13335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76250" y="381000"/>
            <a:ext cx="117157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1" sz="2250" i="0" u="none">
                <a:solidFill>
                  <a:srgbClr val="0F172A"/>
                </a:solidFill>
                <a:latin typeface="Space Grotesk"/>
              </a:rPr>
              <a:t>Case Study: Copilot vs Devin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76250" y="819150"/>
            <a:ext cx="112395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4495502"/>
            <a:ext cx="11239500" cy="42192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2588121"/>
            <a:ext cx="5476875" cy="176450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8875" y="2588121"/>
            <a:ext cx="5476875" cy="176450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66750" y="4609802"/>
            <a:ext cx="10896600" cy="193327"/>
          </a:xfrm>
          <a:prstGeom prst="rect">
            <a:avLst/>
          </a:prstGeom>
          <a:noFill/>
        </p:spPr>
        <p:txBody>
          <a:bodyPr wrap="square" lIns="123825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0" sz="1050" i="0" u="none">
                <a:solidFill>
                  <a:srgbClr val="5B21B6"/>
                </a:solidFill>
                <a:latin typeface="Plus Jakarta Sans SemiBold"/>
              </a:rPr>
              <a:t>Prompt Engineering taught AI how to answer. Loop Engineering teaches AI how to work.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4375" y="2826246"/>
            <a:ext cx="525065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500" i="0" u="none">
                <a:solidFill>
                  <a:srgbClr val="312E81"/>
                </a:solidFill>
                <a:latin typeface="Space Grotesk SemiBold"/>
              </a:rPr>
              <a:t>What We Already Have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7000" y="2826246"/>
            <a:ext cx="525065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500" i="0" u="none">
                <a:solidFill>
                  <a:srgbClr val="4C1D95"/>
                </a:solidFill>
                <a:latin typeface="Space Grotesk SemiBold"/>
              </a:rPr>
              <a:t>What Loop Engineering Adds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7000" y="3131046"/>
            <a:ext cx="5000625" cy="414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125" i="0" u="none">
                <a:solidFill>
                  <a:srgbClr val="6D28D9"/>
                </a:solidFill>
                <a:latin typeface="Plus Jakarta Sans SemiBold"/>
              </a:rPr>
              <a:t>Plan → Execute → Observe → Verify → Reflect → Retry → Remember → Continue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7000" y="3621583"/>
            <a:ext cx="5000625" cy="3866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0" sz="1050" i="0" u="none">
                <a:solidFill>
                  <a:srgbClr val="475569"/>
                </a:solidFill>
                <a:latin typeface="Plus Jakarta Sans"/>
              </a:rPr>
              <a:t>Rediscovering classic engineering principles: workflow engines, state machines, and durable execution.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750" y="4647902"/>
            <a:ext cx="123825" cy="1333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00125" y="3150096"/>
            <a:ext cx="4714875" cy="207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Better Prompts &amp; Model Guardrails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0125" y="3471564"/>
            <a:ext cx="4714875" cy="207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Richer Context &amp; Vector Embeddings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125" y="3793033"/>
            <a:ext cx="4714875" cy="207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Expanded Tool Access &amp; API Wrappers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4375" y="3164383"/>
            <a:ext cx="152400" cy="1809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4375" y="3485852"/>
            <a:ext cx="152400" cy="1809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4375" y="3807321"/>
            <a:ext cx="152400" cy="18097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76250" y="381000"/>
            <a:ext cx="117157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1" sz="2250" i="0" u="none">
                <a:solidFill>
                  <a:srgbClr val="0F172A"/>
                </a:solidFill>
                <a:latin typeface="Space Grotesk"/>
              </a:rPr>
              <a:t>We Optimized Conversations. We Forgot Execution.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6250" y="819150"/>
            <a:ext cx="112395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4514552"/>
            <a:ext cx="11239500" cy="42192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2569071"/>
            <a:ext cx="5476875" cy="180260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66750" y="4628852"/>
            <a:ext cx="10896600" cy="193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0" sz="1050" i="0" u="none">
                <a:solidFill>
                  <a:srgbClr val="5B21B6"/>
                </a:solidFill>
                <a:latin typeface="Plus Jakarta Sans SemiBold"/>
              </a:rPr>
              <a:t>Great AI doesn't fail because it thinks—it fails because it stops too early.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" y="2778621"/>
            <a:ext cx="1685925" cy="2190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76250" y="3092946"/>
            <a:ext cx="575071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500" i="0" u="none">
                <a:solidFill>
                  <a:srgbClr val="312E81"/>
                </a:solidFill>
                <a:latin typeface="Space Grotesk SemiBold"/>
              </a:rPr>
              <a:t>Single-Shot Interaction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6250" y="3397746"/>
            <a:ext cx="5476875" cy="207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125" i="0" u="none">
                <a:solidFill>
                  <a:srgbClr val="475569"/>
                </a:solidFill>
                <a:latin typeface="Plus Jakarta Sans SemiBold"/>
              </a:rPr>
              <a:t>Question → LLM → Answer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6250" y="3681114"/>
            <a:ext cx="5476875" cy="414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Assumes every enterprise task is solved in one turn without verification or feedback.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8900" y="2778621"/>
            <a:ext cx="1547812" cy="2190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38900" y="3092946"/>
            <a:ext cx="533066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500" i="0" u="none">
                <a:solidFill>
                  <a:srgbClr val="312E81"/>
                </a:solidFill>
                <a:latin typeface="Space Grotesk SemiBold"/>
              </a:rPr>
              <a:t>Iterative Feedback Loop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38900" y="3397746"/>
            <a:ext cx="5076825" cy="207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125" i="0" u="none">
                <a:solidFill>
                  <a:srgbClr val="312E81"/>
                </a:solidFill>
                <a:latin typeface="Plus Jakarta Sans SemiBold"/>
              </a:rPr>
              <a:t>Write Code → Compile → Fix → Test → Fix → Deploy → Validate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8900" y="3681114"/>
            <a:ext cx="5076825" cy="414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Success comes from controlled iteration and rapid feedback loops, not getting it right on the first attempt.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6250" y="381000"/>
            <a:ext cx="117157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1" sz="2250" i="0" u="none">
                <a:solidFill>
                  <a:srgbClr val="0F172A"/>
                </a:solidFill>
                <a:latin typeface="Space Grotesk"/>
              </a:rPr>
              <a:t>Loop Engineering from First Principles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6250" y="819150"/>
            <a:ext cx="112395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4577655"/>
            <a:ext cx="11239500" cy="42192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2505967"/>
            <a:ext cx="2126009" cy="178593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54659" y="2505967"/>
            <a:ext cx="2126009" cy="178593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33069" y="2505967"/>
            <a:ext cx="2126009" cy="1785937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1479" y="2505967"/>
            <a:ext cx="2126009" cy="1785937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89889" y="2505967"/>
            <a:ext cx="2126009" cy="178593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66750" y="4691955"/>
            <a:ext cx="10896600" cy="193327"/>
          </a:xfrm>
          <a:prstGeom prst="rect">
            <a:avLst/>
          </a:prstGeom>
          <a:noFill/>
        </p:spPr>
        <p:txBody>
          <a:bodyPr wrap="square" lIns="13335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0" sz="1050" i="0" u="none">
                <a:solidFill>
                  <a:srgbClr val="5B21B6"/>
                </a:solidFill>
                <a:latin typeface="Plus Jakarta Sans SemiBold"/>
              </a:rPr>
              <a:t>The LLM is only involved during </a:t>
            </a:r>
            <a:r>
              <a:rPr b="0" sz="1050" i="0" u="none">
                <a:solidFill>
                  <a:srgbClr val="5B21B6"/>
                </a:solidFill>
                <a:latin typeface="Plus Jakarta Sans Black"/>
              </a:rPr>
              <a:t>Execute</a:t>
            </a:r>
            <a:r>
              <a:rPr b="0" sz="1050" i="0" u="none">
                <a:solidFill>
                  <a:srgbClr val="5B21B6"/>
                </a:solidFill>
                <a:latin typeface="Plus Jakarta Sans SemiBold"/>
              </a:rPr>
              <a:t>. All other stages are pure execution engineering!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6275" y="2705992"/>
            <a:ext cx="476250" cy="4762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76275" y="3296542"/>
            <a:ext cx="1812257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500" i="0" u="none">
                <a:solidFill>
                  <a:srgbClr val="312E81"/>
                </a:solidFill>
                <a:latin typeface="Space Grotesk SemiBold"/>
              </a:rPr>
              <a:t>1. Plan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275" y="3601342"/>
            <a:ext cx="1725959" cy="414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Decompose goal into tasks &amp; select strategy.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54684" y="2705992"/>
            <a:ext cx="476250" cy="4762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954684" y="3296542"/>
            <a:ext cx="1812257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500" i="0" u="none">
                <a:solidFill>
                  <a:srgbClr val="312E81"/>
                </a:solidFill>
                <a:latin typeface="Space Grotesk SemiBold"/>
              </a:rPr>
              <a:t>2. Execute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54684" y="3601342"/>
            <a:ext cx="1725959" cy="414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Call LLM, invoke tools, modify files.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233094" y="2705992"/>
            <a:ext cx="476250" cy="4762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233094" y="3296542"/>
            <a:ext cx="1812257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500" i="0" u="none">
                <a:solidFill>
                  <a:srgbClr val="312E81"/>
                </a:solidFill>
                <a:latin typeface="Space Grotesk SemiBold"/>
              </a:rPr>
              <a:t>3. Observe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33094" y="3601342"/>
            <a:ext cx="1725959" cy="414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Read logs, outputs, and test responses.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11504" y="2705992"/>
            <a:ext cx="476250" cy="4762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511504" y="3296542"/>
            <a:ext cx="1812257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500" i="0" u="none">
                <a:solidFill>
                  <a:srgbClr val="312E81"/>
                </a:solidFill>
                <a:latin typeface="Space Grotesk SemiBold"/>
              </a:rPr>
              <a:t>4. Reflect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11504" y="3601342"/>
            <a:ext cx="1725959" cy="414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Analyze failures &amp; find root cause.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789914" y="2705992"/>
            <a:ext cx="476250" cy="47625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789914" y="3296542"/>
            <a:ext cx="1812257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500" i="0" u="none">
                <a:solidFill>
                  <a:srgbClr val="312E81"/>
                </a:solidFill>
                <a:latin typeface="Space Grotesk SemiBold"/>
              </a:rPr>
              <a:t>5. Decide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9914" y="3601342"/>
            <a:ext cx="1725959" cy="414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Retry, continue, escalate or complete.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6750" y="4730055"/>
            <a:ext cx="133350" cy="13335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81050" y="2810767"/>
            <a:ext cx="266700" cy="26670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040409" y="2810767"/>
            <a:ext cx="304800" cy="26670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318819" y="2810767"/>
            <a:ext cx="304800" cy="26670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616279" y="2810767"/>
            <a:ext cx="266700" cy="26670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908976" y="2810767"/>
            <a:ext cx="238125" cy="2667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476250" y="381000"/>
            <a:ext cx="117157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1" sz="2250" i="0" u="none">
                <a:solidFill>
                  <a:srgbClr val="0F172A"/>
                </a:solidFill>
                <a:latin typeface="Space Grotesk"/>
              </a:rPr>
              <a:t>The Enterprise Loop Lifecycle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76250" y="819150"/>
            <a:ext cx="112395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4514105"/>
            <a:ext cx="11239500" cy="42192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3110210"/>
            <a:ext cx="2023020" cy="111814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80258" y="3110210"/>
            <a:ext cx="2023020" cy="111814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4266" y="3110210"/>
            <a:ext cx="2023020" cy="111814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8274" y="3110210"/>
            <a:ext cx="2023020" cy="111814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92282" y="3110210"/>
            <a:ext cx="2023020" cy="111814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76250" y="2569666"/>
            <a:ext cx="11239500" cy="207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State persistence transforms an LLM session into a durable autonomous execution engine.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7250" y="3654995"/>
            <a:ext cx="10477500" cy="285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6750" y="4628405"/>
            <a:ext cx="10896600" cy="193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0" sz="1050" i="0" u="none">
                <a:solidFill>
                  <a:srgbClr val="5B21B6"/>
                </a:solidFill>
                <a:latin typeface="Plus Jakarta Sans SemiBold"/>
              </a:rPr>
              <a:t>Durable State allows agents to resume after interruption, enforce retry limits, and support policy-driven approval gates.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0985" y="3110210"/>
            <a:ext cx="533400" cy="533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05684" y="3738860"/>
            <a:ext cx="1964151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50"/>
              </a:lnSpc>
            </a:pPr>
            <a:r>
              <a:rPr b="0" sz="1125" i="0" u="none">
                <a:solidFill>
                  <a:srgbClr val="312E81"/>
                </a:solidFill>
                <a:latin typeface="Space Grotesk SemiBold"/>
              </a:rPr>
              <a:t>Start / Plan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2450" y="3986510"/>
            <a:ext cx="1870620" cy="1656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05"/>
              </a:lnSpc>
            </a:pPr>
            <a:r>
              <a:rPr b="0" sz="900" i="0" u="none">
                <a:solidFill>
                  <a:srgbClr val="475569"/>
                </a:solidFill>
                <a:latin typeface="Plus Jakarta Sans"/>
              </a:rPr>
              <a:t>Goal ingested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24994" y="3110210"/>
            <a:ext cx="533400" cy="5334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809692" y="3738860"/>
            <a:ext cx="1964151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50"/>
              </a:lnSpc>
            </a:pPr>
            <a:r>
              <a:rPr b="0" sz="1125" i="0" u="none">
                <a:solidFill>
                  <a:srgbClr val="312E81"/>
                </a:solidFill>
                <a:latin typeface="Space Grotesk SemiBold"/>
              </a:rPr>
              <a:t>Execute Tool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56458" y="3986510"/>
            <a:ext cx="1870620" cy="1656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05"/>
              </a:lnSpc>
            </a:pPr>
            <a:r>
              <a:rPr b="0" sz="900" i="0" u="none">
                <a:solidFill>
                  <a:srgbClr val="475569"/>
                </a:solidFill>
                <a:latin typeface="Plus Jakarta Sans"/>
              </a:rPr>
              <a:t>Code / API call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29002" y="3110210"/>
            <a:ext cx="533400" cy="5334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113700" y="3738860"/>
            <a:ext cx="1964151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50"/>
              </a:lnSpc>
            </a:pPr>
            <a:r>
              <a:rPr b="0" sz="1125" i="0" u="none">
                <a:solidFill>
                  <a:srgbClr val="312E81"/>
                </a:solidFill>
                <a:latin typeface="Space Grotesk SemiBold"/>
              </a:rPr>
              <a:t>Observe Failure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60466" y="3986510"/>
            <a:ext cx="1870620" cy="1656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05"/>
              </a:lnSpc>
            </a:pPr>
            <a:r>
              <a:rPr b="0" sz="900" i="0" u="none">
                <a:solidFill>
                  <a:srgbClr val="475569"/>
                </a:solidFill>
                <a:latin typeface="Plus Jakarta Sans"/>
              </a:rPr>
              <a:t>Build / Test fail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33010" y="3110210"/>
            <a:ext cx="533400" cy="5334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417709" y="3738860"/>
            <a:ext cx="1964151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50"/>
              </a:lnSpc>
            </a:pPr>
            <a:r>
              <a:rPr b="0" sz="1125" i="0" u="none">
                <a:solidFill>
                  <a:srgbClr val="312E81"/>
                </a:solidFill>
                <a:latin typeface="Space Grotesk SemiBold"/>
              </a:rPr>
              <a:t>Update State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64474" y="3986510"/>
            <a:ext cx="1870620" cy="1656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05"/>
              </a:lnSpc>
            </a:pPr>
            <a:r>
              <a:rPr b="0" sz="900" i="0" u="none">
                <a:solidFill>
                  <a:srgbClr val="475569"/>
                </a:solidFill>
                <a:latin typeface="Plus Jakarta Sans"/>
              </a:rPr>
              <a:t>Save checkpoint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37018" y="3110210"/>
            <a:ext cx="533400" cy="5334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9721717" y="3738860"/>
            <a:ext cx="1964151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50"/>
              </a:lnSpc>
            </a:pPr>
            <a:r>
              <a:rPr b="0" sz="1125" i="0" u="none">
                <a:solidFill>
                  <a:srgbClr val="312E81"/>
                </a:solidFill>
                <a:latin typeface="Space Grotesk SemiBold"/>
              </a:rPr>
              <a:t>Complete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68482" y="3986510"/>
            <a:ext cx="1870620" cy="1656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05"/>
              </a:lnSpc>
            </a:pPr>
            <a:r>
              <a:rPr b="0" sz="900" i="0" u="none">
                <a:solidFill>
                  <a:srgbClr val="475569"/>
                </a:solidFill>
                <a:latin typeface="Plus Jakarta Sans"/>
              </a:rPr>
              <a:t>PR verified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06723" y="3272135"/>
            <a:ext cx="161925" cy="20955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686919" y="3272135"/>
            <a:ext cx="209550" cy="20955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990927" y="3272135"/>
            <a:ext cx="209550" cy="20955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294935" y="3272135"/>
            <a:ext cx="209550" cy="20955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613231" y="3272135"/>
            <a:ext cx="180975" cy="20955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76250" y="381000"/>
            <a:ext cx="117157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1" sz="2250" i="0" u="none">
                <a:solidFill>
                  <a:srgbClr val="0F172A"/>
                </a:solidFill>
                <a:latin typeface="Space Grotesk"/>
              </a:rPr>
              <a:t>An AI Agent as a State Machine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76250" y="819150"/>
            <a:ext cx="112395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4609802"/>
            <a:ext cx="11239500" cy="42192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2473821"/>
            <a:ext cx="2695575" cy="199310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4225" y="2473821"/>
            <a:ext cx="2695575" cy="1993106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2473821"/>
            <a:ext cx="2695575" cy="1993106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20175" y="2473821"/>
            <a:ext cx="2695575" cy="199310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66750" y="4724102"/>
            <a:ext cx="10896600" cy="193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0" sz="1050" i="0" u="none">
                <a:solidFill>
                  <a:srgbClr val="5B21B6"/>
                </a:solidFill>
                <a:latin typeface="Plus Jakarta Sans SemiBold"/>
              </a:rPr>
              <a:t>Enterprise AI is an orchestration problem far more than an LLM problem.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275" y="2673846"/>
            <a:ext cx="476250" cy="476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76275" y="3264396"/>
            <a:ext cx="2410301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500" i="0" u="none">
                <a:solidFill>
                  <a:srgbClr val="312E81"/>
                </a:solidFill>
                <a:latin typeface="Space Grotesk SemiBold"/>
              </a:rPr>
              <a:t>Goal &amp; Planner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275" y="3569196"/>
            <a:ext cx="2295525" cy="6215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Goal Manager &amp; Planner decompose requests into structured step-by-step tasks.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4250" y="2673846"/>
            <a:ext cx="476250" cy="4762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524250" y="3264396"/>
            <a:ext cx="2410301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500" i="0" u="none">
                <a:solidFill>
                  <a:srgbClr val="312E81"/>
                </a:solidFill>
                <a:latin typeface="Space Grotesk SemiBold"/>
              </a:rPr>
              <a:t>Memory &amp; Context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4250" y="3569196"/>
            <a:ext cx="2295525" cy="6215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Loads vector embeddings, conversation state, and repository context dynamically.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2225" y="2673846"/>
            <a:ext cx="476250" cy="4762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372225" y="3264396"/>
            <a:ext cx="2410301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500" i="0" u="none">
                <a:solidFill>
                  <a:srgbClr val="312E81"/>
                </a:solidFill>
                <a:latin typeface="Space Grotesk SemiBold"/>
              </a:rPr>
              <a:t>Tool Orchestration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2225" y="3569196"/>
            <a:ext cx="2295525" cy="6215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Invokes external APIs, CLI commands, database queries, and code compilers.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20200" y="2673846"/>
            <a:ext cx="476250" cy="4762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220200" y="3264396"/>
            <a:ext cx="2410301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500" i="0" u="none">
                <a:solidFill>
                  <a:srgbClr val="312E81"/>
                </a:solidFill>
                <a:latin typeface="Space Grotesk SemiBold"/>
              </a:rPr>
              <a:t>Validator &amp; Reflection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20200" y="3569196"/>
            <a:ext cx="2295525" cy="6215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Evaluates output quality, parses logs, and manages retry state storage.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1050" y="2778621"/>
            <a:ext cx="266700" cy="2667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09975" y="2778621"/>
            <a:ext cx="304800" cy="2667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77000" y="2778621"/>
            <a:ext cx="266700" cy="2667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324975" y="2778621"/>
            <a:ext cx="266700" cy="2667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76250" y="381000"/>
            <a:ext cx="117157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1" sz="2250" i="0" u="none">
                <a:solidFill>
                  <a:srgbClr val="0F172A"/>
                </a:solidFill>
                <a:latin typeface="Space Grotesk"/>
              </a:rPr>
              <a:t>Anatomy of a Production AI Loop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6250" y="819150"/>
            <a:ext cx="112395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2652712"/>
            <a:ext cx="2695575" cy="22002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4225" y="2652712"/>
            <a:ext cx="2695575" cy="22002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2652712"/>
            <a:ext cx="2695575" cy="22002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0175" y="2652712"/>
            <a:ext cx="2695575" cy="22002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275" y="2852737"/>
            <a:ext cx="476250" cy="4762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76275" y="3443287"/>
            <a:ext cx="2410301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500" i="0" u="none">
                <a:solidFill>
                  <a:srgbClr val="312E81"/>
                </a:solidFill>
                <a:latin typeface="Space Grotesk SemiBold"/>
              </a:rPr>
              <a:t>Planner → Executor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275" y="3748087"/>
            <a:ext cx="2295525" cy="6215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Planner decides </a:t>
            </a:r>
            <a:r>
              <a:rPr b="0" sz="1125" i="1" u="none">
                <a:solidFill>
                  <a:srgbClr val="475569"/>
                </a:solidFill>
                <a:latin typeface="Plus Jakarta Sans"/>
              </a:rPr>
              <a:t>what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 needs to be done; Executor handles </a:t>
            </a:r>
            <a:r>
              <a:rPr b="0" sz="1125" i="1" u="none">
                <a:solidFill>
                  <a:srgbClr val="475569"/>
                </a:solidFill>
                <a:latin typeface="Plus Jakarta Sans"/>
              </a:rPr>
              <a:t>how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 to execute individual actions.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4250" y="2852737"/>
            <a:ext cx="476250" cy="4762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524250" y="3443287"/>
            <a:ext cx="2410301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500" i="0" u="none">
                <a:solidFill>
                  <a:srgbClr val="312E81"/>
                </a:solidFill>
                <a:latin typeface="Space Grotesk SemiBold"/>
              </a:rPr>
              <a:t>Reflection Loop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4250" y="3748087"/>
            <a:ext cx="2295525" cy="828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Agent evaluates its output against criteria, generating feedback to refine results iteratively.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2225" y="2852737"/>
            <a:ext cx="476250" cy="4762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372225" y="3443287"/>
            <a:ext cx="2410301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500" i="0" u="none">
                <a:solidFill>
                  <a:srgbClr val="312E81"/>
                </a:solidFill>
                <a:latin typeface="Space Grotesk SemiBold"/>
              </a:rPr>
              <a:t>Critic / Gatekeeper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2225" y="3748087"/>
            <a:ext cx="2295525" cy="828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Dedicated validator agent evaluates compliance, security, or code quality before granting approval.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20200" y="2852737"/>
            <a:ext cx="476250" cy="4762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220200" y="3443287"/>
            <a:ext cx="2410301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500" i="0" u="none">
                <a:solidFill>
                  <a:srgbClr val="312E81"/>
                </a:solidFill>
                <a:latin typeface="Space Grotesk SemiBold"/>
              </a:rPr>
              <a:t>Repair Loop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20200" y="3748087"/>
            <a:ext cx="2295525" cy="828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Captures error stack traces, identifies root cause, applies patch, and re-runs test suite automatically.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2957512"/>
            <a:ext cx="304800" cy="2667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29025" y="2957512"/>
            <a:ext cx="266700" cy="2667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43662" y="2957512"/>
            <a:ext cx="333375" cy="2667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24975" y="2957512"/>
            <a:ext cx="266700" cy="2667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76250" y="381000"/>
            <a:ext cx="117157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1" sz="2250" i="0" u="none">
                <a:solidFill>
                  <a:srgbClr val="0F172A"/>
                </a:solidFill>
                <a:latin typeface="Space Grotesk"/>
              </a:rPr>
              <a:t>Core Loop Design Patterns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6250" y="819150"/>
            <a:ext cx="112395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2624137"/>
            <a:ext cx="5476875" cy="22574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2624137"/>
            <a:ext cx="5476875" cy="22574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375" y="2871787"/>
            <a:ext cx="1066800" cy="2190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4375" y="3186112"/>
            <a:ext cx="525065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500" i="0" u="none">
                <a:solidFill>
                  <a:srgbClr val="312E81"/>
                </a:solidFill>
                <a:latin typeface="Space Grotesk SemiBold"/>
              </a:rPr>
              <a:t>Policy Approval Gates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4375" y="3490912"/>
            <a:ext cx="5000625" cy="414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Safety checks evaluate action risks. High-risk operations (production deploy, DB migration) pause for explicit human approval.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7000" y="2871787"/>
            <a:ext cx="885825" cy="21907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77000" y="3186112"/>
            <a:ext cx="525065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500" i="0" u="none">
                <a:solidFill>
                  <a:srgbClr val="312E81"/>
                </a:solidFill>
                <a:latin typeface="Space Grotesk SemiBold"/>
              </a:rPr>
              <a:t>Durable Checkpointing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7000" y="3490912"/>
            <a:ext cx="5000625" cy="414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State is persisted after every execution step. If a 30-minute task fails at minute 29, the agent resumes from Checkpoint 3.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0125" y="4000500"/>
            <a:ext cx="4714875" cy="207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Security Review Approval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0125" y="4321968"/>
            <a:ext cx="4714875" cy="207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Regulatory Compliance Check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2750" y="4000500"/>
            <a:ext cx="4714875" cy="207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No lost progress on network disconnect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2750" y="4321968"/>
            <a:ext cx="4714875" cy="207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Drastically reduces LLM token costs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4375" y="4014787"/>
            <a:ext cx="152400" cy="1809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4375" y="4336256"/>
            <a:ext cx="219075" cy="1809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77000" y="4014787"/>
            <a:ext cx="152400" cy="1809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77000" y="4336256"/>
            <a:ext cx="171450" cy="18097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76250" y="381000"/>
            <a:ext cx="117157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1" sz="2250" i="0" u="none">
                <a:solidFill>
                  <a:srgbClr val="0F172A"/>
                </a:solidFill>
                <a:latin typeface="Space Grotesk"/>
              </a:rPr>
              <a:t>Human-in-the-Loop &amp; Durable Execution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6250" y="819150"/>
            <a:ext cx="112395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2931318"/>
            <a:ext cx="2695575" cy="199310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4225" y="2931318"/>
            <a:ext cx="2695575" cy="199310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2931318"/>
            <a:ext cx="2695575" cy="1993106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20175" y="2931318"/>
            <a:ext cx="2695575" cy="199310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76250" y="2581275"/>
            <a:ext cx="11239500" cy="207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If you cannot explain why an AI made a decision, you cannot operate it in enterprise production.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275" y="3131343"/>
            <a:ext cx="476250" cy="4762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76275" y="3721893"/>
            <a:ext cx="2410301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500" i="0" u="none">
                <a:solidFill>
                  <a:srgbClr val="312E81"/>
                </a:solidFill>
                <a:latin typeface="Space Grotesk SemiBold"/>
              </a:rPr>
              <a:t>Latency &amp; Tokens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275" y="4026693"/>
            <a:ext cx="2295525" cy="6215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Track token consumption, call duration, and cost per task execution.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24250" y="3131343"/>
            <a:ext cx="476250" cy="4762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524250" y="3721893"/>
            <a:ext cx="2410301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500" i="0" u="none">
                <a:solidFill>
                  <a:srgbClr val="312E81"/>
                </a:solidFill>
                <a:latin typeface="Space Grotesk SemiBold"/>
              </a:rPr>
              <a:t>Tool Call Tracing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4250" y="4026693"/>
            <a:ext cx="2295525" cy="6215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Capture input arguments, CLI flags, and API payloads for full auditability.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2225" y="3131343"/>
            <a:ext cx="476250" cy="4762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372225" y="3721893"/>
            <a:ext cx="2410301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500" i="0" u="none">
                <a:solidFill>
                  <a:srgbClr val="312E81"/>
                </a:solidFill>
                <a:latin typeface="Space Grotesk SemiBold"/>
              </a:rPr>
              <a:t>Retry Metrics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2225" y="4026693"/>
            <a:ext cx="2295525" cy="6215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Monitor loop iteration counts, root cause classifications, and failure modes.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20200" y="3131343"/>
            <a:ext cx="476250" cy="4762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220200" y="3721893"/>
            <a:ext cx="2410301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500" i="0" u="none">
                <a:solidFill>
                  <a:srgbClr val="312E81"/>
                </a:solidFill>
                <a:latin typeface="Space Grotesk SemiBold"/>
              </a:rPr>
              <a:t>OpenTelemetry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20200" y="4026693"/>
            <a:ext cx="2295525" cy="6215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Standardized distributed tracing connecting LLM calls to underlying infrastructure.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1050" y="3236118"/>
            <a:ext cx="266700" cy="2667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09975" y="3236118"/>
            <a:ext cx="304800" cy="2667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77000" y="3236118"/>
            <a:ext cx="266700" cy="2667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24975" y="3236118"/>
            <a:ext cx="266700" cy="2667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76250" y="381000"/>
            <a:ext cx="117157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1" sz="2250" i="0" u="none">
                <a:solidFill>
                  <a:srgbClr val="0F172A"/>
                </a:solidFill>
                <a:latin typeface="Space Grotesk"/>
              </a:rPr>
              <a:t>Observability for AI Loops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6250" y="819150"/>
            <a:ext cx="112395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4596705"/>
            <a:ext cx="5476875" cy="42192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2085975"/>
            <a:ext cx="5476875" cy="33337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76250" y="2486917"/>
            <a:ext cx="575071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500" i="0" u="none">
                <a:solidFill>
                  <a:srgbClr val="312E81"/>
                </a:solidFill>
                <a:latin typeface="Space Grotesk SemiBold"/>
              </a:rPr>
              <a:t>Orchestrating Developer Workflows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6250" y="2791717"/>
            <a:ext cx="5476875" cy="414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Copilot Agent moves from conversational assistance to autonomous execution: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3282255"/>
            <a:ext cx="5191125" cy="207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Ingests workspace repository context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3603724"/>
            <a:ext cx="5191125" cy="207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Generates multi-file code modifications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3925192"/>
            <a:ext cx="5191125" cy="207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Executes build commands and unit tests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4246661"/>
            <a:ext cx="5191125" cy="207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Parses compiler errors and auto-fixes 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6750" y="4711005"/>
            <a:ext cx="5133975" cy="193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0" sz="1050" i="0" u="none">
                <a:solidFill>
                  <a:srgbClr val="5B21B6"/>
                </a:solidFill>
                <a:latin typeface="Plus Jakarta Sans SemiBold"/>
              </a:rPr>
              <a:t>Copilot is transitioning from code completion toward workflow orchestration.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8400" y="2095500"/>
            <a:ext cx="5457825" cy="33147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250" y="3296542"/>
            <a:ext cx="190500" cy="1809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6250" y="3618011"/>
            <a:ext cx="219075" cy="18097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6250" y="3939480"/>
            <a:ext cx="133350" cy="1809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6250" y="4260949"/>
            <a:ext cx="171450" cy="18097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76250" y="381000"/>
            <a:ext cx="117157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1" sz="2250" i="0" u="none">
                <a:solidFill>
                  <a:srgbClr val="0F172A"/>
                </a:solidFill>
                <a:latin typeface="Space Grotesk"/>
              </a:rPr>
              <a:t>GitHub Copilot Agent as a Loop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6250" y="819150"/>
            <a:ext cx="112395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0300" y="2635597"/>
            <a:ext cx="5505450" cy="223450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2245072"/>
            <a:ext cx="5505450" cy="2286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" y="4645372"/>
            <a:ext cx="5505450" cy="61525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0325" y="3660427"/>
            <a:ext cx="1304925" cy="2857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91450" y="3660427"/>
            <a:ext cx="1466850" cy="2857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34500" y="3660427"/>
            <a:ext cx="1562100" cy="2857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10325" y="4022377"/>
            <a:ext cx="1295400" cy="2857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81925" y="4022377"/>
            <a:ext cx="1285875" cy="2857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44000" y="4022377"/>
            <a:ext cx="1247775" cy="2857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10325" y="4384327"/>
            <a:ext cx="1295400" cy="2857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781925" y="4384327"/>
            <a:ext cx="1314450" cy="2857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10325" y="2845147"/>
            <a:ext cx="2071687" cy="21907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410325" y="3159472"/>
            <a:ext cx="5105400" cy="3866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0" sz="1050" i="0" u="none">
                <a:solidFill>
                  <a:srgbClr val="475569"/>
                </a:solidFill>
                <a:latin typeface="Plus Jakarta Sans"/>
              </a:rPr>
              <a:t>Autonomous agents structure long-running tasks through disciplined iteration pipelines: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85775" y="2254597"/>
            <a:ext cx="5486400" cy="22669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66750" y="4759672"/>
            <a:ext cx="5162550" cy="386655"/>
          </a:xfrm>
          <a:prstGeom prst="rect">
            <a:avLst/>
          </a:prstGeom>
          <a:noFill/>
        </p:spPr>
        <p:txBody>
          <a:bodyPr wrap="square" lIns="13335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0" sz="1050" i="0" u="none">
                <a:solidFill>
                  <a:srgbClr val="5B21B6"/>
                </a:solidFill>
                <a:latin typeface="Plus Jakarta Sans SemiBold"/>
              </a:rPr>
              <a:t>Architectural Lens: Intelligence stems from execution blueprint orchestration rather than model scale alone.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05575" y="2902297"/>
            <a:ext cx="138112" cy="1143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66750" y="4797772"/>
            <a:ext cx="133350" cy="1333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534150" y="3741390"/>
            <a:ext cx="123825" cy="12382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915275" y="3741390"/>
            <a:ext cx="142875" cy="12382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458325" y="3741390"/>
            <a:ext cx="152400" cy="12382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534150" y="4103340"/>
            <a:ext cx="123825" cy="12382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905750" y="4103340"/>
            <a:ext cx="142875" cy="12382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267825" y="4103340"/>
            <a:ext cx="123825" cy="12382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534150" y="4465290"/>
            <a:ext cx="123825" cy="123825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905750" y="4465290"/>
            <a:ext cx="123825" cy="123825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76250" y="381000"/>
            <a:ext cx="117157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1" sz="2250" i="0" u="none">
                <a:solidFill>
                  <a:srgbClr val="0F172A"/>
                </a:solidFill>
                <a:latin typeface="Space Grotesk"/>
              </a:rPr>
              <a:t>Devin's Execution Architecture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6250" y="819150"/>
            <a:ext cx="112395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3493591"/>
            <a:ext cx="2023020" cy="110668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0258" y="3493591"/>
            <a:ext cx="2023020" cy="110668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4266" y="3493591"/>
            <a:ext cx="2023020" cy="110668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8274" y="3493591"/>
            <a:ext cx="2023020" cy="110668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2282" y="3493591"/>
            <a:ext cx="2023020" cy="110668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76250" y="2905422"/>
            <a:ext cx="11239500" cy="207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An enterprise delivery pipeline is a network of interconnected loops rather than a single linear pipeline.</a:t>
            </a:r>
          </a:p>
        </p:txBody>
      </p:sp>
      <p:sp>
        <p:nvSpPr>
          <p:cNvPr id="9" name="Rectangle 8"/>
          <p:cNvSpPr/>
          <p:nvPr/>
        </p:nvSpPr>
        <p:spPr>
          <a:xfrm>
            <a:off x="857250" y="4032646"/>
            <a:ext cx="10477500" cy="285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0985" y="3493591"/>
            <a:ext cx="533400" cy="533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5684" y="4122241"/>
            <a:ext cx="1964151" cy="1599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60"/>
              </a:lnSpc>
            </a:pPr>
            <a:r>
              <a:rPr b="0" sz="1050" i="0" u="none">
                <a:solidFill>
                  <a:srgbClr val="312E81"/>
                </a:solidFill>
                <a:latin typeface="Space Grotesk SemiBold"/>
              </a:rPr>
              <a:t>Requirement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2450" y="4358431"/>
            <a:ext cx="1870620" cy="1656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05"/>
              </a:lnSpc>
            </a:pPr>
            <a:r>
              <a:rPr b="0" sz="900" i="0" u="none">
                <a:solidFill>
                  <a:srgbClr val="475569"/>
                </a:solidFill>
                <a:latin typeface="Plus Jakarta Sans"/>
              </a:rPr>
              <a:t>Jira / Spec Loop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4994" y="3493591"/>
            <a:ext cx="533400" cy="533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809692" y="4122241"/>
            <a:ext cx="1964151" cy="1599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60"/>
              </a:lnSpc>
            </a:pPr>
            <a:r>
              <a:rPr b="0" sz="1050" i="0" u="none">
                <a:solidFill>
                  <a:srgbClr val="312E81"/>
                </a:solidFill>
                <a:latin typeface="Space Grotesk SemiBold"/>
              </a:rPr>
              <a:t>Development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56458" y="4358431"/>
            <a:ext cx="1870620" cy="1656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05"/>
              </a:lnSpc>
            </a:pPr>
            <a:r>
              <a:rPr b="0" sz="900" i="0" u="none">
                <a:solidFill>
                  <a:srgbClr val="475569"/>
                </a:solidFill>
                <a:latin typeface="Plus Jakarta Sans"/>
              </a:rPr>
              <a:t>Coding &amp; Repair Loop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29002" y="3493591"/>
            <a:ext cx="533400" cy="5334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113700" y="4122241"/>
            <a:ext cx="1964151" cy="1599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60"/>
              </a:lnSpc>
            </a:pPr>
            <a:r>
              <a:rPr b="0" sz="1050" i="0" u="none">
                <a:solidFill>
                  <a:srgbClr val="312E81"/>
                </a:solidFill>
                <a:latin typeface="Space Grotesk SemiBold"/>
              </a:rPr>
              <a:t>Security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60466" y="4358431"/>
            <a:ext cx="1870620" cy="1656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05"/>
              </a:lnSpc>
            </a:pPr>
            <a:r>
              <a:rPr b="0" sz="900" i="0" u="none">
                <a:solidFill>
                  <a:srgbClr val="475569"/>
                </a:solidFill>
                <a:latin typeface="Plus Jakarta Sans"/>
              </a:rPr>
              <a:t>SAST &amp; Compliance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33010" y="3493591"/>
            <a:ext cx="533400" cy="5334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417709" y="4122241"/>
            <a:ext cx="1964151" cy="1599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60"/>
              </a:lnSpc>
            </a:pPr>
            <a:r>
              <a:rPr b="0" sz="1050" i="0" u="none">
                <a:solidFill>
                  <a:srgbClr val="312E81"/>
                </a:solidFill>
                <a:latin typeface="Space Grotesk SemiBold"/>
              </a:rPr>
              <a:t>Deployment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64474" y="4358431"/>
            <a:ext cx="1870620" cy="1656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05"/>
              </a:lnSpc>
            </a:pPr>
            <a:r>
              <a:rPr b="0" sz="900" i="0" u="none">
                <a:solidFill>
                  <a:srgbClr val="475569"/>
                </a:solidFill>
                <a:latin typeface="Plus Jakarta Sans"/>
              </a:rPr>
              <a:t>CI/CD Gate Loop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37018" y="3493591"/>
            <a:ext cx="533400" cy="5334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721717" y="4122241"/>
            <a:ext cx="1964151" cy="1599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60"/>
              </a:lnSpc>
            </a:pPr>
            <a:r>
              <a:rPr b="0" sz="1050" i="0" u="none">
                <a:solidFill>
                  <a:srgbClr val="312E81"/>
                </a:solidFill>
                <a:latin typeface="Space Grotesk SemiBold"/>
              </a:rPr>
              <a:t>Monitoring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68482" y="4358431"/>
            <a:ext cx="1870620" cy="1656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05"/>
              </a:lnSpc>
            </a:pPr>
            <a:r>
              <a:rPr b="0" sz="900" i="0" u="none">
                <a:solidFill>
                  <a:srgbClr val="475569"/>
                </a:solidFill>
                <a:latin typeface="Plus Jakarta Sans"/>
              </a:rPr>
              <a:t>Telemetry Feedback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82910" y="3655516"/>
            <a:ext cx="209550" cy="20955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58344" y="3655516"/>
            <a:ext cx="266700" cy="20955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90927" y="3655516"/>
            <a:ext cx="209550" cy="20955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94935" y="3655516"/>
            <a:ext cx="209550" cy="20955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598943" y="3655516"/>
            <a:ext cx="209550" cy="20955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476250" y="381000"/>
            <a:ext cx="117157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1" sz="2250" i="0" u="none">
                <a:solidFill>
                  <a:srgbClr val="0F172A"/>
                </a:solidFill>
                <a:latin typeface="Space Grotesk"/>
              </a:rPr>
              <a:t>Enterprise SDLC as Interconnected Loops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76250" y="819150"/>
            <a:ext cx="112395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4410819"/>
            <a:ext cx="5143500" cy="61525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476250"/>
            <a:ext cx="5143500" cy="2190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76250" y="790575"/>
            <a:ext cx="5400675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1" sz="2250" i="0" u="none">
                <a:solidFill>
                  <a:srgbClr val="0F172A"/>
                </a:solidFill>
                <a:latin typeface="Space Grotesk"/>
              </a:rPr>
              <a:t>Why One Agent Eventually Fails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76250" y="2717750"/>
            <a:ext cx="5143500" cy="414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As scope grows, concentrating every responsibility into a single agent loop causes severe context overload.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3303537"/>
            <a:ext cx="4857750" cy="207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Planning &amp; Memory Overload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3625006"/>
            <a:ext cx="4857750" cy="207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Tool Selection Confusion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3946475"/>
            <a:ext cx="4857750" cy="207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Security Policy Violations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6750" y="4525119"/>
            <a:ext cx="4800600" cy="3866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0" sz="1050" i="0" u="none">
                <a:solidFill>
                  <a:srgbClr val="5B21B6"/>
                </a:solidFill>
                <a:latin typeface="Plus Jakarta Sans SemiBold"/>
              </a:rPr>
              <a:t>Loops optimize time. Graphs optimize coordination across specialized teams.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250" y="3317825"/>
            <a:ext cx="171450" cy="1809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250" y="3639294"/>
            <a:ext cx="171450" cy="1809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250" y="3960762"/>
            <a:ext cx="171450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2406253"/>
            <a:ext cx="5476875" cy="2693193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2406253"/>
            <a:ext cx="5476875" cy="2693193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375" y="2653903"/>
            <a:ext cx="1371600" cy="2190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4375" y="2968228"/>
            <a:ext cx="525065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500" i="0" u="none">
                <a:solidFill>
                  <a:srgbClr val="312E81"/>
                </a:solidFill>
                <a:latin typeface="Space Grotesk SemiBold"/>
              </a:rPr>
              <a:t>Loop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4375" y="3273028"/>
            <a:ext cx="5000625" cy="207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A single autonomous worker iterative execution loop.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7000" y="2653903"/>
            <a:ext cx="1700212" cy="21907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77000" y="2968228"/>
            <a:ext cx="525065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500" i="0" u="none">
                <a:solidFill>
                  <a:srgbClr val="4C1D95"/>
                </a:solidFill>
                <a:latin typeface="Space Grotesk SemiBold"/>
              </a:rPr>
              <a:t>Graph Engineering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7000" y="3273028"/>
            <a:ext cx="5000625" cy="207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Teams of specialized agents collaborating via state graphs.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0125" y="3575446"/>
            <a:ext cx="4714875" cy="207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Sequential execution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0125" y="3896915"/>
            <a:ext cx="4714875" cy="207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Monolithic execution context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0125" y="4218384"/>
            <a:ext cx="4714875" cy="207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Centralized retry logic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125" y="4539853"/>
            <a:ext cx="4714875" cy="207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Analogous to Monolithic Software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2750" y="3575446"/>
            <a:ext cx="4714875" cy="207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Parallel, branched execution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2750" y="3896915"/>
            <a:ext cx="4714875" cy="207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Distributed shared memory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2750" y="4218384"/>
            <a:ext cx="4714875" cy="207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Local node retries &amp; routing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2750" y="4539853"/>
            <a:ext cx="4714875" cy="207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Analogous to Microservices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4375" y="3589734"/>
            <a:ext cx="171450" cy="1809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4375" y="3911203"/>
            <a:ext cx="171450" cy="18097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4375" y="4232671"/>
            <a:ext cx="171450" cy="18097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4375" y="4554140"/>
            <a:ext cx="171450" cy="18097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7000" y="3589734"/>
            <a:ext cx="190500" cy="18097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7000" y="3911203"/>
            <a:ext cx="190500" cy="18097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7000" y="4232671"/>
            <a:ext cx="190500" cy="18097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7000" y="4554140"/>
            <a:ext cx="190500" cy="18097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76250" y="381000"/>
            <a:ext cx="117157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1" sz="2250" i="0" u="none">
                <a:solidFill>
                  <a:srgbClr val="0F172A"/>
                </a:solidFill>
                <a:latin typeface="Space Grotesk"/>
              </a:rPr>
              <a:t>Single Agent to Multi-Agent Graphs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76250" y="819150"/>
            <a:ext cx="112395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3034903"/>
            <a:ext cx="2695575" cy="178593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4225" y="3034903"/>
            <a:ext cx="2695575" cy="178593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3034903"/>
            <a:ext cx="2695575" cy="178593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0175" y="3034903"/>
            <a:ext cx="2695575" cy="178593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76250" y="2684859"/>
            <a:ext cx="11239500" cy="207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Conway's Law applied to AI: Great engineering systems scale through specialization.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275" y="3234928"/>
            <a:ext cx="476250" cy="4762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76275" y="3825478"/>
            <a:ext cx="2410301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500" i="0" u="none">
                <a:solidFill>
                  <a:srgbClr val="312E81"/>
                </a:solidFill>
                <a:latin typeface="Space Grotesk SemiBold"/>
              </a:rPr>
              <a:t>Supervisor 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275" y="4130278"/>
            <a:ext cx="2295525" cy="414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Assigns tasks, manages routing, and enforces governance.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4250" y="3234928"/>
            <a:ext cx="476250" cy="4762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524250" y="3825478"/>
            <a:ext cx="2410301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500" i="0" u="none">
                <a:solidFill>
                  <a:srgbClr val="312E81"/>
                </a:solidFill>
                <a:latin typeface="Space Grotesk SemiBold"/>
              </a:rPr>
              <a:t>Developer 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4250" y="4130278"/>
            <a:ext cx="2295525" cy="414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Generates code, updates dependencies, and fixes bugs.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2225" y="3234928"/>
            <a:ext cx="476250" cy="4762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372225" y="3825478"/>
            <a:ext cx="2410301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500" i="0" u="none">
                <a:solidFill>
                  <a:srgbClr val="312E81"/>
                </a:solidFill>
                <a:latin typeface="Space Grotesk SemiBold"/>
              </a:rPr>
              <a:t>Tester 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2225" y="4130278"/>
            <a:ext cx="2295525" cy="414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Executes test suites and performs regression validation.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20200" y="3234928"/>
            <a:ext cx="476250" cy="4762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220200" y="3825478"/>
            <a:ext cx="2410301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500" i="0" u="none">
                <a:solidFill>
                  <a:srgbClr val="312E81"/>
                </a:solidFill>
                <a:latin typeface="Space Grotesk SemiBold"/>
              </a:rPr>
              <a:t>Security 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20200" y="4130278"/>
            <a:ext cx="2295525" cy="414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Audits code against compliance policies and vulnerabilities.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7712" y="3339703"/>
            <a:ext cx="333375" cy="2667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95687" y="3339703"/>
            <a:ext cx="333375" cy="2667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77000" y="3339703"/>
            <a:ext cx="266700" cy="2667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24975" y="3339703"/>
            <a:ext cx="266700" cy="2667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76250" y="381000"/>
            <a:ext cx="117157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1" sz="2250" i="0" u="none">
                <a:solidFill>
                  <a:srgbClr val="0F172A"/>
                </a:solidFill>
                <a:latin typeface="Space Grotesk"/>
              </a:rPr>
              <a:t>The Birth of Specialized Agents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6250" y="819150"/>
            <a:ext cx="112395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5" y="2901255"/>
            <a:ext cx="5476875" cy="170304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8900" y="3982342"/>
            <a:ext cx="5076825" cy="42192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76250" y="3024038"/>
            <a:ext cx="575071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500" i="0" u="none">
                <a:solidFill>
                  <a:srgbClr val="312E81"/>
                </a:solidFill>
                <a:latin typeface="Space Grotesk SemiBold"/>
              </a:rPr>
              <a:t>Linear vs Non-Linear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6250" y="3328838"/>
            <a:ext cx="5476875" cy="414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Enterprise work is rarely linear. Payment processing, fraud checks, and risk analysis execute in parallel branches with conditional routing.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8900" y="3110805"/>
            <a:ext cx="1366837" cy="2190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38900" y="3425130"/>
            <a:ext cx="5076825" cy="414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125" i="0" u="none">
                <a:solidFill>
                  <a:srgbClr val="312E81"/>
                </a:solidFill>
                <a:latin typeface="Plus Jakarta Sans SemiBold"/>
              </a:rPr>
              <a:t>Supervisor → (Parallel: Dev + Security + Compliance) → Aggregator → Approval Gate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3838426"/>
            <a:ext cx="5191125" cy="207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1" sz="1125" i="0" u="none">
                <a:solidFill>
                  <a:srgbClr val="475569"/>
                </a:solidFill>
                <a:latin typeface="Plus Jakarta Sans"/>
              </a:rPr>
              <a:t>Nodes: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 Agents, Humans, APIs, Databases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4159894"/>
            <a:ext cx="5191125" cy="207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1" sz="1125" i="0" u="none">
                <a:solidFill>
                  <a:srgbClr val="475569"/>
                </a:solidFill>
                <a:latin typeface="Plus Jakarta Sans"/>
              </a:rPr>
              <a:t>Edges: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 Dependencies, Control Flow, State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4096642"/>
            <a:ext cx="4733925" cy="193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0" sz="1050" i="0" u="none">
                <a:solidFill>
                  <a:srgbClr val="5B21B6"/>
                </a:solidFill>
                <a:latin typeface="Plus Jakarta Sans SemiBold"/>
              </a:rPr>
              <a:t>A loop optimizes execution. A graph optimizes coordination.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250" y="3852713"/>
            <a:ext cx="171450" cy="1809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6250" y="4174182"/>
            <a:ext cx="152400" cy="18097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76250" y="381000"/>
            <a:ext cx="117157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1" sz="2250" i="0" u="none">
                <a:solidFill>
                  <a:srgbClr val="0F172A"/>
                </a:solidFill>
                <a:latin typeface="Space Grotesk"/>
              </a:rPr>
              <a:t>Graph Engineering Fundamentals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6250" y="819150"/>
            <a:ext cx="112395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2384821"/>
            <a:ext cx="11239500" cy="202822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4698801"/>
            <a:ext cx="11239500" cy="421927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85775" y="2394346"/>
          <a:ext cx="11220448" cy="20091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3569344"/>
                <a:gridCol w="3517999"/>
                <a:gridCol w="4133105"/>
              </a:tblGrid>
              <a:tr h="401835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FFFFFF"/>
                          </a:solidFill>
                          <a:latin typeface="Space Grotesk"/>
                        </a:rPr>
                        <a:t>Architectural Dimension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12E8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FFFFFF"/>
                          </a:solidFill>
                          <a:latin typeface="Space Grotesk"/>
                        </a:rPr>
                        <a:t>Loop Engineering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12E8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FFFFFF"/>
                          </a:solidFill>
                          <a:latin typeface="Space Grotesk"/>
                        </a:rPr>
                        <a:t>Graph Engineering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12E81"/>
                    </a:solidFill>
                  </a:tcPr>
                </a:tc>
              </a:tr>
              <a:tr h="401835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Agent Count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Single generalist agent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Coordinated team of specialists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01835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Execution Style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Sequential loop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Parallel &amp; branched execution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401835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Context Management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Monolithic context window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Distributed shared memory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01839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Retry Granularity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Restarts entire task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Isolated node-level recovery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66750" y="4813101"/>
            <a:ext cx="10896600" cy="193327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0" sz="1050" i="0" u="none">
                <a:solidFill>
                  <a:srgbClr val="5B21B6"/>
                </a:solidFill>
                <a:latin typeface="Plus Jakarta Sans SemiBold"/>
              </a:rPr>
              <a:t>Graph Engineering is to Loop Engineering what Microservices are to Monoliths.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750" y="4851201"/>
            <a:ext cx="104775" cy="13335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85775" y="3209180"/>
            <a:ext cx="356934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055119" y="3209180"/>
            <a:ext cx="351799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573119" y="3209180"/>
            <a:ext cx="413310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85775" y="3602533"/>
            <a:ext cx="356934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55119" y="3602533"/>
            <a:ext cx="351799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573119" y="3602533"/>
            <a:ext cx="413310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85775" y="3995886"/>
            <a:ext cx="356934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055119" y="3995886"/>
            <a:ext cx="351799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573119" y="3995886"/>
            <a:ext cx="413310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85775" y="4389239"/>
            <a:ext cx="356934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055119" y="4389239"/>
            <a:ext cx="351799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573119" y="4389239"/>
            <a:ext cx="413310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6250" y="381000"/>
            <a:ext cx="117157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1" sz="2250" i="0" u="none">
                <a:solidFill>
                  <a:srgbClr val="0F172A"/>
                </a:solidFill>
                <a:latin typeface="Space Grotesk"/>
              </a:rPr>
              <a:t>Why Graphs Scale Better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6250" y="819150"/>
            <a:ext cx="112395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8064" y="2214562"/>
            <a:ext cx="5767685" cy="30765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9989" y="2376487"/>
            <a:ext cx="5443835" cy="616743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9989" y="3088481"/>
            <a:ext cx="5443835" cy="616743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09989" y="3800475"/>
            <a:ext cx="5443835" cy="616743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09989" y="4512468"/>
            <a:ext cx="5443835" cy="616743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6250" y="2495550"/>
            <a:ext cx="2124075" cy="21907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62000" y="2905125"/>
            <a:ext cx="4957464" cy="414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1" sz="1125" i="0" u="none">
                <a:solidFill>
                  <a:srgbClr val="475569"/>
                </a:solidFill>
                <a:latin typeface="Plus Jakarta Sans"/>
              </a:rPr>
              <a:t>Decoupled Orchestration: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 Separates supervisor routing and policy checks from underlying execution agents.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3433762"/>
            <a:ext cx="4957464" cy="414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1" sz="1125" i="0" u="none">
                <a:solidFill>
                  <a:srgbClr val="475569"/>
                </a:solidFill>
                <a:latin typeface="Plus Jakarta Sans"/>
              </a:rPr>
              <a:t>Policy-Driven Governance: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 Hard safety gates enforce automated compliance checks prior to production changes.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3962400"/>
            <a:ext cx="4957464" cy="414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1" sz="1125" i="0" u="none">
                <a:solidFill>
                  <a:srgbClr val="475569"/>
                </a:solidFill>
                <a:latin typeface="Plus Jakarta Sans"/>
              </a:rPr>
              <a:t>Durable Memory: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 Shared context graphs store conversation state, policy rules, and persistent checkpoints.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4491037"/>
            <a:ext cx="4957464" cy="414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1" sz="1125" i="0" u="none">
                <a:solidFill>
                  <a:srgbClr val="475569"/>
                </a:solidFill>
                <a:latin typeface="Plus Jakarta Sans"/>
              </a:rPr>
              <a:t>Open Telemetry: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 Distributed tracing tracks latency, token costs, and tool invocations across all workers.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0514" y="2481262"/>
            <a:ext cx="4910435" cy="161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975" i="0" u="none">
                <a:solidFill>
                  <a:srgbClr val="312E81"/>
                </a:solidFill>
                <a:latin typeface="Space Grotesk"/>
              </a:rPr>
              <a:t>Orchestration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81439" y="2681287"/>
            <a:ext cx="5129510" cy="207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Supervisor Agent • Workflow Routing • Policy Engine • Approvals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0514" y="3193256"/>
            <a:ext cx="4910435" cy="161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975" i="0" u="none">
                <a:solidFill>
                  <a:srgbClr val="312E81"/>
                </a:solidFill>
                <a:latin typeface="Space Grotesk"/>
              </a:rPr>
              <a:t>Specialized Intelligence Agents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439" y="3393281"/>
            <a:ext cx="5129510" cy="207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Planner Agent | Dev Agent | Tester Agent | Security 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1464" y="3905250"/>
            <a:ext cx="4929485" cy="161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975" i="0" u="none">
                <a:solidFill>
                  <a:srgbClr val="312E81"/>
                </a:solidFill>
                <a:latin typeface="Space Grotesk"/>
              </a:rPr>
              <a:t>Shared Knowledge &amp; Memory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81439" y="4105275"/>
            <a:ext cx="5129510" cy="207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Vector Store • Context Graph • Execution Checkpoints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0039" y="4617243"/>
            <a:ext cx="4900910" cy="161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975" i="0" u="none">
                <a:solidFill>
                  <a:srgbClr val="312E81"/>
                </a:solidFill>
                <a:latin typeface="Space Grotesk"/>
              </a:rPr>
              <a:t>Enterprise Integration &amp; Telemetry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81439" y="4817268"/>
            <a:ext cx="5129510" cy="207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GitHub • Jira • Jenkins / CI/CD • MCP Servers • OpenTelemetry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6250" y="2919412"/>
            <a:ext cx="190500" cy="18097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6250" y="3448050"/>
            <a:ext cx="171450" cy="18097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6250" y="3976687"/>
            <a:ext cx="152400" cy="18097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6250" y="4505325"/>
            <a:ext cx="171450" cy="18097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81439" y="2500312"/>
            <a:ext cx="142875" cy="12382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81439" y="3212306"/>
            <a:ext cx="142875" cy="123825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81439" y="3924300"/>
            <a:ext cx="123825" cy="123825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281439" y="4636293"/>
            <a:ext cx="152400" cy="123825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76250" y="381000"/>
            <a:ext cx="117157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1" sz="2250" i="0" u="none">
                <a:solidFill>
                  <a:srgbClr val="0F172A"/>
                </a:solidFill>
                <a:latin typeface="Space Grotesk"/>
              </a:rPr>
              <a:t>Enterprise Agent Architecture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76250" y="819150"/>
            <a:ext cx="112395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2581572"/>
            <a:ext cx="11239500" cy="163487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4502199"/>
            <a:ext cx="11239500" cy="421927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85775" y="2591097"/>
          <a:ext cx="11220448" cy="16158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103834"/>
                <a:gridCol w="3024187"/>
                <a:gridCol w="2995017"/>
                <a:gridCol w="3097410"/>
              </a:tblGrid>
              <a:tr h="403956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FFFFFF"/>
                          </a:solidFill>
                          <a:latin typeface="Space Grotesk"/>
                        </a:rPr>
                        <a:t>Capability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12E8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FFFFFF"/>
                          </a:solidFill>
                          <a:latin typeface="Space Grotesk"/>
                        </a:rPr>
                        <a:t>2023 Suggestion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12E8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FFFFFF"/>
                          </a:solidFill>
                          <a:latin typeface="Space Grotesk"/>
                        </a:rPr>
                        <a:t>2025 Agent Mode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12E8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FFFFFF"/>
                          </a:solidFill>
                          <a:latin typeface="Space Grotesk"/>
                        </a:rPr>
                        <a:t>Future Enterprise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12E81"/>
                    </a:solidFill>
                  </a:tcPr>
                </a:tc>
              </a:tr>
              <a:tr h="403956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Primary Model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Prompt Engineering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Loop Engineering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Graph Engineering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03956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Execution Scope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Single file inline suggestion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Multi-file build &amp; test repair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Cross-system orchestrator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403958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Governance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None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Manual human check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Policy approval gates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66750" y="4616499"/>
            <a:ext cx="10896600" cy="193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0" sz="1050" i="0" u="none">
                <a:solidFill>
                  <a:srgbClr val="5B21B6"/>
                </a:solidFill>
                <a:latin typeface="Plus Jakarta Sans SemiBold"/>
              </a:rPr>
              <a:t>Copilot demonstrates the transition from AI-assisted development to AI-orchestrated software delivery.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85775" y="3405931"/>
            <a:ext cx="210383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89609" y="3405931"/>
            <a:ext cx="30241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13796" y="3405931"/>
            <a:ext cx="299501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08814" y="3405931"/>
            <a:ext cx="309741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85775" y="3799284"/>
            <a:ext cx="210383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89609" y="3799284"/>
            <a:ext cx="30241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13796" y="3799284"/>
            <a:ext cx="299501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608814" y="3799284"/>
            <a:ext cx="309741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85775" y="4192637"/>
            <a:ext cx="210383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89609" y="4192637"/>
            <a:ext cx="30241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13796" y="4192637"/>
            <a:ext cx="299501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608814" y="4192637"/>
            <a:ext cx="309741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6250" y="381000"/>
            <a:ext cx="117157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1" sz="2250" i="0" u="none">
                <a:solidFill>
                  <a:srgbClr val="0F172A"/>
                </a:solidFill>
                <a:latin typeface="Space Grotesk"/>
              </a:rPr>
              <a:t>Copilot's Enterprise Evolution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6250" y="819150"/>
            <a:ext cx="112395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2340322"/>
            <a:ext cx="5505450" cy="2095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4550122"/>
            <a:ext cx="5505450" cy="61525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10300" y="2541984"/>
            <a:ext cx="578072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500" i="0" u="none">
                <a:solidFill>
                  <a:srgbClr val="312E81"/>
                </a:solidFill>
                <a:latin typeface="Space Grotesk SemiBold"/>
              </a:rPr>
              <a:t>Enterprise Adaptation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0300" y="2846784"/>
            <a:ext cx="5505450" cy="414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Enterprise deployments wrap autonomous execution loops with strict operational guardrails: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775" y="2349847"/>
            <a:ext cx="5486400" cy="20764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66750" y="4664422"/>
            <a:ext cx="5162550" cy="386655"/>
          </a:xfrm>
          <a:prstGeom prst="rect">
            <a:avLst/>
          </a:prstGeom>
          <a:noFill/>
        </p:spPr>
        <p:txBody>
          <a:bodyPr wrap="square" lIns="17145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0" sz="1050" i="0" u="none">
                <a:solidFill>
                  <a:srgbClr val="5B21B6"/>
                </a:solidFill>
                <a:latin typeface="Plus Jakarta Sans SemiBold"/>
              </a:rPr>
              <a:t>Key Insight: Devin demonstrates how long-running execution threads replace single-turn chat interactions.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6050" y="3356371"/>
            <a:ext cx="5219700" cy="207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Goal decomposition &amp; dynamic sub-tasking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6050" y="3677840"/>
            <a:ext cx="5219700" cy="207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Multi-agent internal delegation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6050" y="3999309"/>
            <a:ext cx="5219700" cy="207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Automated test suite execution &amp; repair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6050" y="4320778"/>
            <a:ext cx="5219700" cy="207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SAST / DAST security policy checks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6050" y="4642246"/>
            <a:ext cx="5219700" cy="207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Complete audit trails &amp; regulatory logging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750" y="4702522"/>
            <a:ext cx="171450" cy="1333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0300" y="3370659"/>
            <a:ext cx="190500" cy="1809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0300" y="3692128"/>
            <a:ext cx="171450" cy="1809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10300" y="4013596"/>
            <a:ext cx="171450" cy="1809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10300" y="4335065"/>
            <a:ext cx="171450" cy="1809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10300" y="4656534"/>
            <a:ext cx="133350" cy="18097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76250" y="381000"/>
            <a:ext cx="117157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1" sz="2250" i="0" u="none">
                <a:solidFill>
                  <a:srgbClr val="0F172A"/>
                </a:solidFill>
                <a:latin typeface="Space Grotesk"/>
              </a:rPr>
              <a:t>Devin's Enterprise Blueprint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6250" y="819150"/>
            <a:ext cx="112395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3482429"/>
            <a:ext cx="2023020" cy="108138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0258" y="3482429"/>
            <a:ext cx="2023020" cy="108138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4266" y="3482429"/>
            <a:ext cx="2023020" cy="108138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8274" y="3482429"/>
            <a:ext cx="2023020" cy="108138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2282" y="3482429"/>
            <a:ext cx="2023020" cy="108138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76250" y="2941885"/>
            <a:ext cx="11239500" cy="207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Every major shift in software engineering changed the fundamental unit of abstraction.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857250" y="4008834"/>
            <a:ext cx="10477500" cy="285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0985" y="3482429"/>
            <a:ext cx="533400" cy="533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5684" y="4111079"/>
            <a:ext cx="1964151" cy="1485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70"/>
              </a:lnSpc>
            </a:pPr>
            <a:r>
              <a:rPr b="0" sz="975" i="0" u="none">
                <a:solidFill>
                  <a:srgbClr val="312E81"/>
                </a:solidFill>
                <a:latin typeface="Space Grotesk SemiBold"/>
              </a:rPr>
              <a:t>2023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2450" y="4335809"/>
            <a:ext cx="1870620" cy="151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96"/>
              </a:lnSpc>
            </a:pPr>
            <a:r>
              <a:rPr b="0" sz="825" i="0" u="none">
                <a:solidFill>
                  <a:srgbClr val="475569"/>
                </a:solidFill>
                <a:latin typeface="Plus Jakarta Sans"/>
              </a:rPr>
              <a:t>Prompt Engineering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4994" y="3482429"/>
            <a:ext cx="533400" cy="533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809692" y="4111079"/>
            <a:ext cx="1964151" cy="1485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70"/>
              </a:lnSpc>
            </a:pPr>
            <a:r>
              <a:rPr b="0" sz="975" i="0" u="none">
                <a:solidFill>
                  <a:srgbClr val="312E81"/>
                </a:solidFill>
                <a:latin typeface="Space Grotesk SemiBold"/>
              </a:rPr>
              <a:t>2024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56458" y="4335809"/>
            <a:ext cx="1870620" cy="151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96"/>
              </a:lnSpc>
            </a:pPr>
            <a:r>
              <a:rPr b="0" sz="825" i="0" u="none">
                <a:solidFill>
                  <a:srgbClr val="475569"/>
                </a:solidFill>
                <a:latin typeface="Plus Jakarta Sans"/>
              </a:rPr>
              <a:t>Context Engineering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29002" y="3482429"/>
            <a:ext cx="533400" cy="5334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113700" y="4111079"/>
            <a:ext cx="1964151" cy="1485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70"/>
              </a:lnSpc>
            </a:pPr>
            <a:r>
              <a:rPr b="0" sz="975" i="0" u="none">
                <a:solidFill>
                  <a:srgbClr val="312E81"/>
                </a:solidFill>
                <a:latin typeface="Space Grotesk SemiBold"/>
              </a:rPr>
              <a:t>2025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60466" y="4335809"/>
            <a:ext cx="1870620" cy="151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96"/>
              </a:lnSpc>
            </a:pPr>
            <a:r>
              <a:rPr b="0" sz="825" i="0" u="none">
                <a:solidFill>
                  <a:srgbClr val="475569"/>
                </a:solidFill>
                <a:latin typeface="Plus Jakarta Sans"/>
              </a:rPr>
              <a:t>Loop Engineering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33010" y="3482429"/>
            <a:ext cx="533400" cy="5334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417709" y="4111079"/>
            <a:ext cx="1964151" cy="1485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70"/>
              </a:lnSpc>
            </a:pPr>
            <a:r>
              <a:rPr b="0" sz="975" i="0" u="none">
                <a:solidFill>
                  <a:srgbClr val="312E81"/>
                </a:solidFill>
                <a:latin typeface="Space Grotesk SemiBold"/>
              </a:rPr>
              <a:t>2026+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64474" y="4335809"/>
            <a:ext cx="1870620" cy="151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96"/>
              </a:lnSpc>
            </a:pPr>
            <a:r>
              <a:rPr b="0" sz="825" i="0" u="none">
                <a:solidFill>
                  <a:srgbClr val="475569"/>
                </a:solidFill>
                <a:latin typeface="Plus Jakarta Sans"/>
              </a:rPr>
              <a:t>Graph Engineering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37018" y="3482429"/>
            <a:ext cx="533400" cy="5334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721717" y="4111079"/>
            <a:ext cx="1964151" cy="1485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70"/>
              </a:lnSpc>
            </a:pPr>
            <a:r>
              <a:rPr b="0" sz="975" i="0" u="none">
                <a:solidFill>
                  <a:srgbClr val="312E81"/>
                </a:solidFill>
                <a:latin typeface="Space Grotesk SemiBold"/>
              </a:rPr>
              <a:t>Future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68482" y="4335809"/>
            <a:ext cx="1870620" cy="151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96"/>
              </a:lnSpc>
            </a:pPr>
            <a:r>
              <a:rPr b="0" sz="825" i="0" u="none">
                <a:solidFill>
                  <a:srgbClr val="475569"/>
                </a:solidFill>
                <a:latin typeface="Plus Jakarta Sans"/>
              </a:rPr>
              <a:t>Enterprise AI Platforms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68623" y="3644354"/>
            <a:ext cx="238125" cy="20955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01206" y="3644354"/>
            <a:ext cx="180975" cy="20955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90927" y="3644354"/>
            <a:ext cx="209550" cy="20955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80648" y="3644354"/>
            <a:ext cx="238125" cy="20955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570368" y="3644354"/>
            <a:ext cx="266700" cy="20955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476250" y="381000"/>
            <a:ext cx="117157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1" sz="2250" i="0" u="none">
                <a:solidFill>
                  <a:srgbClr val="0F172A"/>
                </a:solidFill>
                <a:latin typeface="Space Grotesk"/>
              </a:rPr>
              <a:t>The Next Decade of Software Engineering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76250" y="819150"/>
            <a:ext cx="112395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5170586"/>
            <a:ext cx="11239500" cy="42192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1913036"/>
            <a:ext cx="11239500" cy="5524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" y="2560736"/>
            <a:ext cx="11239500" cy="5524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250" y="3208436"/>
            <a:ext cx="11239500" cy="5524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6250" y="3856136"/>
            <a:ext cx="11239500" cy="5524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6250" y="4503836"/>
            <a:ext cx="11239500" cy="5524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66750" y="5284886"/>
            <a:ext cx="10896600" cy="193327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0" sz="1050" i="0" u="none">
                <a:solidFill>
                  <a:srgbClr val="5B21B6"/>
                </a:solidFill>
                <a:latin typeface="Plus Jakarta Sans Black"/>
              </a:rPr>
              <a:t>Key Takeaway:</a:t>
            </a:r>
            <a:r>
              <a:rPr b="0" sz="1050" i="0" u="none">
                <a:solidFill>
                  <a:srgbClr val="5B21B6"/>
                </a:solidFill>
                <a:latin typeface="Plus Jakarta Sans SemiBold"/>
              </a:rPr>
              <a:t> Every evolution moves us further away from prompts... and closer to software architecture.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5775" y="2103536"/>
            <a:ext cx="72580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34155"/>
                </a:solidFill>
                <a:latin typeface="Plus Jakarta Sans Medium"/>
              </a:rPr>
              <a:t>Crafting effective LLM inputs &amp; formats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5775" y="2751236"/>
            <a:ext cx="72580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34155"/>
                </a:solidFill>
                <a:latin typeface="Plus Jakarta Sans Medium"/>
              </a:rPr>
              <a:t>Injecting repository awareness &amp; RAG memory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5775" y="3398936"/>
            <a:ext cx="72580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34155"/>
                </a:solidFill>
                <a:latin typeface="Plus Jakarta Sans Medium"/>
              </a:rPr>
              <a:t>Autonomous iterative task completion &amp; retries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5775" y="4046636"/>
            <a:ext cx="72580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34155"/>
                </a:solidFill>
                <a:latin typeface="Plus Jakarta Sans Medium"/>
              </a:rPr>
              <a:t>Coordinating specialized multi-agent teams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5775" y="4694336"/>
            <a:ext cx="72580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34155"/>
                </a:solidFill>
                <a:latin typeface="Plus Jakarta Sans Medium"/>
              </a:rPr>
              <a:t>Enterprise policy, security &amp; observability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6750" y="5322986"/>
            <a:ext cx="104775" cy="1333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6275" y="2017811"/>
            <a:ext cx="342900" cy="3429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133475" y="2098774"/>
            <a:ext cx="1400175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1E1B4B"/>
                </a:solidFill>
                <a:latin typeface="Plus Jakarta Sans"/>
              </a:rPr>
              <a:t>Prompt Engineering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962275" y="2098774"/>
            <a:ext cx="790575" cy="2190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6275" y="2665511"/>
            <a:ext cx="342900" cy="3429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133475" y="2746474"/>
            <a:ext cx="1438275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83344"/>
                </a:solidFill>
                <a:latin typeface="Plus Jakarta Sans"/>
              </a:rPr>
              <a:t>Context Engineering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962275" y="2746474"/>
            <a:ext cx="828675" cy="21907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76275" y="3313211"/>
            <a:ext cx="342900" cy="3429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133475" y="3394174"/>
            <a:ext cx="1228725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B0764"/>
                </a:solidFill>
                <a:latin typeface="Plus Jakarta Sans"/>
              </a:rPr>
              <a:t>Loop Engineering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962275" y="3394174"/>
            <a:ext cx="742950" cy="21907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76275" y="3960911"/>
            <a:ext cx="342900" cy="3429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133475" y="4041874"/>
            <a:ext cx="1304925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831843"/>
                </a:solidFill>
                <a:latin typeface="Plus Jakarta Sans"/>
              </a:rPr>
              <a:t>Graph Engineering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962275" y="4041874"/>
            <a:ext cx="952500" cy="219075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76275" y="4608611"/>
            <a:ext cx="342900" cy="3429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133475" y="4689574"/>
            <a:ext cx="154305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64E3B"/>
                </a:solidFill>
                <a:latin typeface="Plus Jakarta Sans"/>
              </a:rPr>
              <a:t>Enterprise AI Platform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962275" y="4689574"/>
            <a:ext cx="866775" cy="219075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66762" y="2117824"/>
            <a:ext cx="161925" cy="142875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85812" y="2765524"/>
            <a:ext cx="123825" cy="142875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76287" y="3413224"/>
            <a:ext cx="142875" cy="142875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66762" y="4060924"/>
            <a:ext cx="161925" cy="142875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57237" y="4708624"/>
            <a:ext cx="180975" cy="142875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476250" y="381000"/>
            <a:ext cx="117157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1" sz="2250" i="0" u="none">
                <a:solidFill>
                  <a:srgbClr val="0F172A"/>
                </a:solidFill>
                <a:latin typeface="Space Grotesk"/>
              </a:rPr>
              <a:t>Summary: Evolution of AI Engineering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76250" y="819150"/>
            <a:ext cx="112395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4279403"/>
            <a:ext cx="11239500" cy="42192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2804219"/>
            <a:ext cx="2724150" cy="1360884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4700" y="2804219"/>
            <a:ext cx="2724150" cy="1360884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53150" y="2804219"/>
            <a:ext cx="2724150" cy="136088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91600" y="2804219"/>
            <a:ext cx="2724150" cy="136088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66750" y="4393703"/>
            <a:ext cx="10896600" cy="193327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0" sz="1050" i="0" u="none">
                <a:solidFill>
                  <a:srgbClr val="5B21B6"/>
                </a:solidFill>
                <a:latin typeface="Plus Jakarta Sans Black"/>
              </a:rPr>
              <a:t>Enterprise Lens:</a:t>
            </a:r>
            <a:r>
              <a:rPr b="0" sz="1050" i="0" u="none">
                <a:solidFill>
                  <a:srgbClr val="5B21B6"/>
                </a:solidFill>
                <a:latin typeface="Plus Jakarta Sans SemiBold"/>
              </a:rPr>
              <a:t> Models are becoming commodities. Execution architecture and governance are the true competitive advantages.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8175" y="2994719"/>
            <a:ext cx="2400300" cy="2190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8175" y="3309044"/>
            <a:ext cx="2520315" cy="182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b="0" sz="1200" i="0" u="none">
                <a:solidFill>
                  <a:srgbClr val="334155"/>
                </a:solidFill>
                <a:latin typeface="Space Grotesk SemiBold"/>
              </a:rPr>
              <a:t>Conversational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175" y="3568005"/>
            <a:ext cx="2400300" cy="3589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b="0" sz="975" i="0" u="none">
                <a:solidFill>
                  <a:srgbClr val="475569"/>
                </a:solidFill>
                <a:latin typeface="Plus Jakarta Sans"/>
              </a:rPr>
              <a:t>Chatbots, coding assistants &amp; ad-hoc prompt engineering.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76625" y="2994719"/>
            <a:ext cx="2400300" cy="21907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476625" y="3309044"/>
            <a:ext cx="2520315" cy="182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b="0" sz="1200" i="0" u="none">
                <a:solidFill>
                  <a:srgbClr val="0E7490"/>
                </a:solidFill>
                <a:latin typeface="Space Grotesk SemiBold"/>
              </a:rPr>
              <a:t>Context Aware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6625" y="3568005"/>
            <a:ext cx="2400300" cy="3589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b="0" sz="975" i="0" u="none">
                <a:solidFill>
                  <a:srgbClr val="475569"/>
                </a:solidFill>
                <a:latin typeface="Plus Jakarta Sans"/>
              </a:rPr>
              <a:t>RAG, vector search, and repository context integration.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15075" y="2994719"/>
            <a:ext cx="2400300" cy="21907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315075" y="3309044"/>
            <a:ext cx="2520315" cy="182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b="0" sz="1200" i="0" u="none">
                <a:solidFill>
                  <a:srgbClr val="7E22CE"/>
                </a:solidFill>
                <a:latin typeface="Space Grotesk SemiBold"/>
              </a:rPr>
              <a:t>Autonomous Loop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5075" y="3568005"/>
            <a:ext cx="2400300" cy="3589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b="0" sz="975" i="0" u="none">
                <a:solidFill>
                  <a:srgbClr val="475569"/>
                </a:solidFill>
                <a:latin typeface="Plus Jakarta Sans"/>
              </a:rPr>
              <a:t>Self-healing execution loops and iterative debugging.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53525" y="2994719"/>
            <a:ext cx="2400300" cy="21907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153525" y="3309044"/>
            <a:ext cx="2520315" cy="182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b="0" sz="1200" i="0" u="none">
                <a:solidFill>
                  <a:srgbClr val="312E81"/>
                </a:solidFill>
                <a:latin typeface="Space Grotesk SemiBold"/>
              </a:rPr>
              <a:t>Enterprise Graph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53525" y="3568005"/>
            <a:ext cx="2400300" cy="3589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b="0" sz="975" i="0" u="none">
                <a:solidFill>
                  <a:srgbClr val="475569"/>
                </a:solidFill>
                <a:latin typeface="Plus Jakarta Sans"/>
              </a:rPr>
              <a:t>Governed multi-agent teams and scalable AI platforms.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6750" y="4431803"/>
            <a:ext cx="104775" cy="1333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76250" y="381000"/>
            <a:ext cx="117157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1" sz="2250" i="0" u="none">
                <a:solidFill>
                  <a:srgbClr val="0F172A"/>
                </a:solidFill>
                <a:latin typeface="Space Grotesk"/>
              </a:rPr>
              <a:t>Enterprise AI Maturity Model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6250" y="819150"/>
            <a:ext cx="112395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9750" y="4230588"/>
            <a:ext cx="8572500" cy="8382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3500" y="2745878"/>
            <a:ext cx="3048000" cy="1198959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2745878"/>
            <a:ext cx="3048000" cy="1198959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10500" y="2745878"/>
            <a:ext cx="3048000" cy="1198959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03006" y="957262"/>
            <a:ext cx="2185987" cy="2857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015614" y="1452562"/>
            <a:ext cx="6160770" cy="9599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b="1" sz="3150" i="0" u="none">
                <a:solidFill>
                  <a:srgbClr val="0F172A"/>
                </a:solidFill>
                <a:latin typeface="Space Grotesk"/>
              </a:rPr>
              <a:t>The Future Isn't Better Prompts.</a:t>
            </a:r>
            <a:r>
              <a:t>
</a:t>
            </a:r>
            <a:r>
              <a:rPr b="1" sz="3150" i="0" u="none">
                <a:solidFill>
                  <a:srgbClr val="4F46E5"/>
                </a:solidFill>
                <a:latin typeface="Space Grotesk"/>
              </a:rPr>
              <a:t>It's Better Systems.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09775" y="4430613"/>
            <a:ext cx="81724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1" u="none">
                <a:solidFill>
                  <a:srgbClr val="581C87"/>
                </a:solidFill>
                <a:latin typeface="Space Grotesk"/>
              </a:rPr>
              <a:t> "The future belongs not to organizations that build the smartest AI agent, but to those that design the most reliable AI systems."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45893" y="5259288"/>
            <a:ext cx="1700212" cy="319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b="1" sz="2100" i="0" u="none">
                <a:solidFill>
                  <a:srgbClr val="312E81"/>
                </a:solidFill>
                <a:latin typeface="Space Grotesk"/>
              </a:rPr>
              <a:t>Thank You!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86375" y="5617368"/>
            <a:ext cx="1619250" cy="207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31"/>
              </a:lnSpc>
            </a:pPr>
            <a:r>
              <a:rPr b="0" sz="1125" i="0" u="none">
                <a:solidFill>
                  <a:srgbClr val="64748B"/>
                </a:solidFill>
                <a:latin typeface="Plus Jakarta Sans"/>
              </a:rPr>
              <a:t>Questions &amp; Discussion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14475" y="2974478"/>
            <a:ext cx="6667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64748B"/>
                </a:solidFill>
                <a:latin typeface="Plus Jakarta Sans"/>
              </a:rPr>
              <a:t>YESTERDAY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14475" y="3164978"/>
            <a:ext cx="2820352" cy="182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b="0" sz="1200" i="0" u="none">
                <a:solidFill>
                  <a:srgbClr val="1E293B"/>
                </a:solidFill>
                <a:latin typeface="Space Grotesk SemiBold"/>
              </a:rPr>
              <a:t>Developer &amp; Prompt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14475" y="3404889"/>
            <a:ext cx="2686050" cy="3589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b="0" sz="975" i="0" u="none">
                <a:solidFill>
                  <a:srgbClr val="64748B"/>
                </a:solidFill>
                <a:latin typeface="Plus Jakarta Sans"/>
              </a:rPr>
              <a:t>Single-turn conversational assistant generating static text outputs.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2975" y="2974478"/>
            <a:ext cx="40957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4F46E5"/>
                </a:solidFill>
                <a:latin typeface="Plus Jakarta Sans"/>
              </a:rPr>
              <a:t>TODAY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2975" y="3164978"/>
            <a:ext cx="2820352" cy="182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b="0" sz="1200" i="0" u="none">
                <a:solidFill>
                  <a:srgbClr val="312E81"/>
                </a:solidFill>
                <a:latin typeface="Space Grotesk SemiBold"/>
              </a:rPr>
              <a:t>AI Autonomous Loops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2975" y="3404889"/>
            <a:ext cx="2686050" cy="3589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b="0" sz="975" i="0" u="none">
                <a:solidFill>
                  <a:srgbClr val="475569"/>
                </a:solidFill>
                <a:latin typeface="Plus Jakarta Sans"/>
              </a:rPr>
              <a:t>Iterative task execution, self-healing builds, and repository context awareness.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91475" y="2974478"/>
            <a:ext cx="75247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9333EA"/>
                </a:solidFill>
                <a:latin typeface="Plus Jakarta Sans"/>
              </a:rPr>
              <a:t>TOMORROW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91475" y="3164978"/>
            <a:ext cx="2820352" cy="182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b="0" sz="1200" i="0" u="none">
                <a:solidFill>
                  <a:srgbClr val="581C87"/>
                </a:solidFill>
                <a:latin typeface="Space Grotesk SemiBold"/>
              </a:rPr>
              <a:t>Enterprise AI Platforms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91475" y="3404889"/>
            <a:ext cx="2686050" cy="3589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b="0" sz="975" i="0" u="none">
                <a:solidFill>
                  <a:srgbClr val="475569"/>
                </a:solidFill>
                <a:latin typeface="Plus Jakarta Sans"/>
              </a:rPr>
              <a:t>Multi-agent graphs, policy-driven security, and governed enterprise business outcomes.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76250" y="1828800"/>
            <a:ext cx="112395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76250" y="2600325"/>
            <a:ext cx="112395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76250" y="3371850"/>
            <a:ext cx="112395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6250" y="4143375"/>
            <a:ext cx="112395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76250" y="2590800"/>
            <a:ext cx="112395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76250" y="2590800"/>
            <a:ext cx="112395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76250" y="3362325"/>
            <a:ext cx="112395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6250" y="3362325"/>
            <a:ext cx="112395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6250" y="4133850"/>
            <a:ext cx="112395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6250" y="4133850"/>
            <a:ext cx="112395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6250" y="4905375"/>
            <a:ext cx="112395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6250" y="4905375"/>
            <a:ext cx="112395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1971675"/>
            <a:ext cx="857250" cy="4762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571625" y="1985813"/>
            <a:ext cx="10144125" cy="1794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b="0" sz="975" i="0" u="none">
                <a:solidFill>
                  <a:srgbClr val="475569"/>
                </a:solidFill>
                <a:latin typeface="Plus Jakarta Sans"/>
              </a:rPr>
              <a:t>https://cdn.prod.website-files.com/681e366f54a6e3ce87159ca4/69c1184cd93c64cf5026349d_8c73d965.png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1625" y="2212925"/>
            <a:ext cx="10144125" cy="2208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www.sysdig.com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2743200"/>
            <a:ext cx="857250" cy="4762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571625" y="2757338"/>
            <a:ext cx="10144125" cy="1794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b="0" sz="975" i="0" u="none">
                <a:solidFill>
                  <a:srgbClr val="475569"/>
                </a:solidFill>
                <a:latin typeface="Plus Jakarta Sans"/>
              </a:rPr>
              <a:t>https://i.redd.it/vbk0m3g0ana41.jpg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71625" y="2984450"/>
            <a:ext cx="10144125" cy="2208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www.reddit.com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" y="3514725"/>
            <a:ext cx="857250" cy="4762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571625" y="3528863"/>
            <a:ext cx="10144125" cy="1794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b="0" sz="975" i="0" u="none">
                <a:solidFill>
                  <a:srgbClr val="475569"/>
                </a:solidFill>
                <a:latin typeface="Plus Jakarta Sans"/>
              </a:rPr>
              <a:t>https://images.edrawsoft.com/articles/software-architecture/architecture-5.png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71625" y="3755975"/>
            <a:ext cx="10144125" cy="2208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www.edrawsoft.com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250" y="4286250"/>
            <a:ext cx="876300" cy="828675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571625" y="4300388"/>
            <a:ext cx="10144125" cy="1794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b="0" sz="975" i="0" u="none">
                <a:solidFill>
                  <a:srgbClr val="475569"/>
                </a:solidFill>
                <a:latin typeface="Plus Jakarta Sans"/>
              </a:rPr>
              <a:t>https://cloud-server-hosting.com/images/data-center-hero.jpg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71625" y="4527500"/>
            <a:ext cx="10144125" cy="2208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cloud-server-hosting.com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6250" y="5057775"/>
            <a:ext cx="857250" cy="47625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571625" y="5071913"/>
            <a:ext cx="10144125" cy="1794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b="0" sz="975" i="0" u="none">
                <a:solidFill>
                  <a:srgbClr val="475569"/>
                </a:solidFill>
                <a:latin typeface="Plus Jakarta Sans"/>
              </a:rPr>
              <a:t>https://blog-cdn.skywork.ai/wp-content/uploads/2025/09/3a2a0bc01b9542cdb33f7ad8d47110b4.jpg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71625" y="5299025"/>
            <a:ext cx="10144125" cy="2208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skywork.ai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6250" y="381000"/>
            <a:ext cx="117157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1" sz="2250" i="0" u="none">
                <a:solidFill>
                  <a:srgbClr val="0F172A"/>
                </a:solidFill>
                <a:latin typeface="Space Grotesk"/>
              </a:rPr>
              <a:t>Image Sources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76250" y="819150"/>
            <a:ext cx="112395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