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12192000"/>
  <p:notesSz cx="6858000" cy="9144000"/>
  <p:embeddedFontLst>
    <p:embeddedFont>
      <p:font typeface="Plus Jakarta Sans ExtraBold"/>
      <p:bold r:id="rId39"/>
      <p:boldItalic r:id="rId40"/>
    </p:embeddedFont>
    <p:embeddedFont>
      <p:font typeface="Plus Jakarta Sans"/>
      <p:bold r:id="rId41"/>
      <p:boldItalic r:id="rId42"/>
    </p:embeddedFont>
    <p:embeddedFont>
      <p:font typeface="JetBrains Mono Medium"/>
      <p:regular r:id="rId43"/>
      <p:bold r:id="rId44"/>
      <p:italic r:id="rId45"/>
      <p:boldItalic r:id="rId46"/>
    </p:embeddedFont>
    <p:embeddedFont>
      <p:font typeface="JetBrains Mono ExtraBold"/>
      <p:bold r:id="rId47"/>
      <p:boldItalic r:id="rId48"/>
    </p:embeddedFont>
    <p:embeddedFont>
      <p:font typeface="Plus Jakarta Sans SemiBold"/>
      <p:regular r:id="rId49"/>
      <p:bold r:id="rId50"/>
      <p:italic r:id="rId51"/>
      <p:boldItalic r:id="rId52"/>
    </p:embeddedFont>
    <p:embeddedFont>
      <p:font typeface="Plus Jakarta Sans Medium"/>
      <p:regular r:id="rId53"/>
      <p:bold r:id="rId54"/>
      <p:italic r:id="rId55"/>
      <p:boldItalic r:id="rId56"/>
    </p:embeddedFont>
    <p:embeddedFont>
      <p:font typeface="JetBrains Mono"/>
      <p:bold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57498C-50AF-47E2-8EDF-F8D5E4E2C3A4}">
  <a:tblStyle styleId="{E657498C-50AF-47E2-8EDF-F8D5E4E2C3A4}"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ExtraBold-boldItalic.fntdata"/><Relationship Id="rId42" Type="http://schemas.openxmlformats.org/officeDocument/2006/relationships/font" Target="fonts/PlusJakartaSans-boldItalic.fntdata"/><Relationship Id="rId41" Type="http://schemas.openxmlformats.org/officeDocument/2006/relationships/font" Target="fonts/PlusJakartaSans-bold.fntdata"/><Relationship Id="rId44" Type="http://schemas.openxmlformats.org/officeDocument/2006/relationships/font" Target="fonts/JetBrainsMonoMedium-bold.fntdata"/><Relationship Id="rId43" Type="http://schemas.openxmlformats.org/officeDocument/2006/relationships/font" Target="fonts/JetBrainsMonoMedium-regular.fntdata"/><Relationship Id="rId46" Type="http://schemas.openxmlformats.org/officeDocument/2006/relationships/font" Target="fonts/JetBrainsMonoMedium-boldItalic.fntdata"/><Relationship Id="rId45" Type="http://schemas.openxmlformats.org/officeDocument/2006/relationships/font" Target="fonts/JetBrainsMono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JetBrainsMonoExtraBold-boldItalic.fntdata"/><Relationship Id="rId47" Type="http://schemas.openxmlformats.org/officeDocument/2006/relationships/font" Target="fonts/JetBrainsMonoExtraBold-bold.fntdata"/><Relationship Id="rId49" Type="http://schemas.openxmlformats.org/officeDocument/2006/relationships/font" Target="fonts/PlusJakartaSansSemiBold-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font" Target="fonts/PlusJakartaSansExtraBold-bold.fntdata"/><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PlusJakartaSansSemiBold-italic.fntdata"/><Relationship Id="rId50" Type="http://schemas.openxmlformats.org/officeDocument/2006/relationships/font" Target="fonts/PlusJakartaSansSemiBold-bold.fntdata"/><Relationship Id="rId53" Type="http://schemas.openxmlformats.org/officeDocument/2006/relationships/font" Target="fonts/PlusJakartaSansMedium-regular.fntdata"/><Relationship Id="rId52" Type="http://schemas.openxmlformats.org/officeDocument/2006/relationships/font" Target="fonts/PlusJakartaSansSemiBold-boldItalic.fntdata"/><Relationship Id="rId11" Type="http://schemas.openxmlformats.org/officeDocument/2006/relationships/slide" Target="slides/slide5.xml"/><Relationship Id="rId55" Type="http://schemas.openxmlformats.org/officeDocument/2006/relationships/font" Target="fonts/PlusJakartaSansMedium-italic.fntdata"/><Relationship Id="rId10" Type="http://schemas.openxmlformats.org/officeDocument/2006/relationships/slide" Target="slides/slide4.xml"/><Relationship Id="rId54" Type="http://schemas.openxmlformats.org/officeDocument/2006/relationships/font" Target="fonts/PlusJakartaSansMedium-bold.fntdata"/><Relationship Id="rId13" Type="http://schemas.openxmlformats.org/officeDocument/2006/relationships/slide" Target="slides/slide7.xml"/><Relationship Id="rId57" Type="http://schemas.openxmlformats.org/officeDocument/2006/relationships/font" Target="fonts/JetBrainsMono-bold.fntdata"/><Relationship Id="rId12" Type="http://schemas.openxmlformats.org/officeDocument/2006/relationships/slide" Target="slides/slide6.xml"/><Relationship Id="rId56" Type="http://schemas.openxmlformats.org/officeDocument/2006/relationships/font" Target="fonts/PlusJakartaSansMedium-boldItalic.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JetBrainsMon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4" name="Shape 1314"/>
        <p:cNvGrpSpPr/>
        <p:nvPr/>
      </p:nvGrpSpPr>
      <p:grpSpPr>
        <a:xfrm>
          <a:off x="0" y="0"/>
          <a:ext cx="0" cy="0"/>
          <a:chOff x="0" y="0"/>
          <a:chExt cx="0" cy="0"/>
        </a:xfrm>
      </p:grpSpPr>
      <p:sp>
        <p:nvSpPr>
          <p:cNvPr id="1315" name="Google Shape;131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20" Type="http://schemas.openxmlformats.org/officeDocument/2006/relationships/image" Target="../media/image24.png"/><Relationship Id="rId22" Type="http://schemas.openxmlformats.org/officeDocument/2006/relationships/image" Target="../media/image22.png"/><Relationship Id="rId21" Type="http://schemas.openxmlformats.org/officeDocument/2006/relationships/image" Target="../media/image20.png"/><Relationship Id="rId24" Type="http://schemas.openxmlformats.org/officeDocument/2006/relationships/image" Target="../media/image31.png"/><Relationship Id="rId23"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5.png"/><Relationship Id="rId9" Type="http://schemas.openxmlformats.org/officeDocument/2006/relationships/image" Target="../media/image12.png"/><Relationship Id="rId26" Type="http://schemas.openxmlformats.org/officeDocument/2006/relationships/image" Target="../media/image23.png"/><Relationship Id="rId25" Type="http://schemas.openxmlformats.org/officeDocument/2006/relationships/image" Target="../media/image28.png"/><Relationship Id="rId5" Type="http://schemas.openxmlformats.org/officeDocument/2006/relationships/image" Target="../media/image11.png"/><Relationship Id="rId6" Type="http://schemas.openxmlformats.org/officeDocument/2006/relationships/image" Target="../media/image16.png"/><Relationship Id="rId7" Type="http://schemas.openxmlformats.org/officeDocument/2006/relationships/image" Target="../media/image6.png"/><Relationship Id="rId8" Type="http://schemas.openxmlformats.org/officeDocument/2006/relationships/image" Target="../media/image7.png"/><Relationship Id="rId11" Type="http://schemas.openxmlformats.org/officeDocument/2006/relationships/image" Target="../media/image13.png"/><Relationship Id="rId10" Type="http://schemas.openxmlformats.org/officeDocument/2006/relationships/image" Target="../media/image3.png"/><Relationship Id="rId13" Type="http://schemas.openxmlformats.org/officeDocument/2006/relationships/image" Target="../media/image8.png"/><Relationship Id="rId12" Type="http://schemas.openxmlformats.org/officeDocument/2006/relationships/image" Target="../media/image5.png"/><Relationship Id="rId15" Type="http://schemas.openxmlformats.org/officeDocument/2006/relationships/image" Target="../media/image14.png"/><Relationship Id="rId14" Type="http://schemas.openxmlformats.org/officeDocument/2006/relationships/image" Target="../media/image17.png"/><Relationship Id="rId17" Type="http://schemas.openxmlformats.org/officeDocument/2006/relationships/image" Target="../media/image18.png"/><Relationship Id="rId16" Type="http://schemas.openxmlformats.org/officeDocument/2006/relationships/image" Target="../media/image9.png"/><Relationship Id="rId19" Type="http://schemas.openxmlformats.org/officeDocument/2006/relationships/image" Target="../media/image19.png"/><Relationship Id="rId18"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20" Type="http://schemas.openxmlformats.org/officeDocument/2006/relationships/image" Target="../media/image41.png"/><Relationship Id="rId22" Type="http://schemas.openxmlformats.org/officeDocument/2006/relationships/image" Target="../media/image42.png"/><Relationship Id="rId21" Type="http://schemas.openxmlformats.org/officeDocument/2006/relationships/image" Target="../media/image45.png"/><Relationship Id="rId23" Type="http://schemas.openxmlformats.org/officeDocument/2006/relationships/image" Target="../media/image87.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47.png"/><Relationship Id="rId9"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37.png"/><Relationship Id="rId8" Type="http://schemas.openxmlformats.org/officeDocument/2006/relationships/image" Target="../media/image40.png"/><Relationship Id="rId11" Type="http://schemas.openxmlformats.org/officeDocument/2006/relationships/image" Target="../media/image38.png"/><Relationship Id="rId10" Type="http://schemas.openxmlformats.org/officeDocument/2006/relationships/image" Target="../media/image56.png"/><Relationship Id="rId13" Type="http://schemas.openxmlformats.org/officeDocument/2006/relationships/image" Target="../media/image26.png"/><Relationship Id="rId12" Type="http://schemas.openxmlformats.org/officeDocument/2006/relationships/image" Target="../media/image27.png"/><Relationship Id="rId15" Type="http://schemas.openxmlformats.org/officeDocument/2006/relationships/image" Target="../media/image39.png"/><Relationship Id="rId14" Type="http://schemas.openxmlformats.org/officeDocument/2006/relationships/image" Target="../media/image36.png"/><Relationship Id="rId17" Type="http://schemas.openxmlformats.org/officeDocument/2006/relationships/image" Target="../media/image35.png"/><Relationship Id="rId16" Type="http://schemas.openxmlformats.org/officeDocument/2006/relationships/image" Target="../media/image29.png"/><Relationship Id="rId19" Type="http://schemas.openxmlformats.org/officeDocument/2006/relationships/image" Target="../media/image34.png"/><Relationship Id="rId18"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0" Type="http://schemas.openxmlformats.org/officeDocument/2006/relationships/image" Target="../media/image62.png"/><Relationship Id="rId22" Type="http://schemas.openxmlformats.org/officeDocument/2006/relationships/image" Target="../media/image65.png"/><Relationship Id="rId21" Type="http://schemas.openxmlformats.org/officeDocument/2006/relationships/image" Target="../media/image68.png"/><Relationship Id="rId24" Type="http://schemas.openxmlformats.org/officeDocument/2006/relationships/image" Target="../media/image67.png"/><Relationship Id="rId23" Type="http://schemas.openxmlformats.org/officeDocument/2006/relationships/image" Target="../media/image64.pn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6.png"/><Relationship Id="rId4" Type="http://schemas.openxmlformats.org/officeDocument/2006/relationships/image" Target="../media/image48.png"/><Relationship Id="rId9" Type="http://schemas.openxmlformats.org/officeDocument/2006/relationships/image" Target="../media/image49.png"/><Relationship Id="rId26" Type="http://schemas.openxmlformats.org/officeDocument/2006/relationships/image" Target="../media/image70.png"/><Relationship Id="rId25" Type="http://schemas.openxmlformats.org/officeDocument/2006/relationships/image" Target="../media/image69.png"/><Relationship Id="rId27" Type="http://schemas.openxmlformats.org/officeDocument/2006/relationships/image" Target="../media/image71.png"/><Relationship Id="rId5" Type="http://schemas.openxmlformats.org/officeDocument/2006/relationships/image" Target="../media/image12.png"/><Relationship Id="rId6" Type="http://schemas.openxmlformats.org/officeDocument/2006/relationships/image" Target="../media/image52.png"/><Relationship Id="rId7" Type="http://schemas.openxmlformats.org/officeDocument/2006/relationships/image" Target="../media/image53.png"/><Relationship Id="rId8" Type="http://schemas.openxmlformats.org/officeDocument/2006/relationships/image" Target="../media/image51.png"/><Relationship Id="rId11" Type="http://schemas.openxmlformats.org/officeDocument/2006/relationships/image" Target="../media/image55.png"/><Relationship Id="rId10" Type="http://schemas.openxmlformats.org/officeDocument/2006/relationships/image" Target="../media/image50.png"/><Relationship Id="rId13" Type="http://schemas.openxmlformats.org/officeDocument/2006/relationships/image" Target="../media/image66.png"/><Relationship Id="rId12" Type="http://schemas.openxmlformats.org/officeDocument/2006/relationships/image" Target="../media/image54.png"/><Relationship Id="rId15" Type="http://schemas.openxmlformats.org/officeDocument/2006/relationships/image" Target="../media/image63.png"/><Relationship Id="rId14" Type="http://schemas.openxmlformats.org/officeDocument/2006/relationships/image" Target="../media/image58.png"/><Relationship Id="rId17" Type="http://schemas.openxmlformats.org/officeDocument/2006/relationships/image" Target="../media/image59.png"/><Relationship Id="rId16" Type="http://schemas.openxmlformats.org/officeDocument/2006/relationships/image" Target="../media/image57.png"/><Relationship Id="rId19" Type="http://schemas.openxmlformats.org/officeDocument/2006/relationships/image" Target="../media/image60.png"/><Relationship Id="rId18" Type="http://schemas.openxmlformats.org/officeDocument/2006/relationships/image" Target="../media/image6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0" Type="http://schemas.openxmlformats.org/officeDocument/2006/relationships/image" Target="../media/image79.png"/><Relationship Id="rId22" Type="http://schemas.openxmlformats.org/officeDocument/2006/relationships/image" Target="../media/image85.png"/><Relationship Id="rId21" Type="http://schemas.openxmlformats.org/officeDocument/2006/relationships/image" Target="../media/image90.png"/><Relationship Id="rId24" Type="http://schemas.openxmlformats.org/officeDocument/2006/relationships/image" Target="../media/image94.png"/><Relationship Id="rId23" Type="http://schemas.openxmlformats.org/officeDocument/2006/relationships/image" Target="../media/image82.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84.png"/><Relationship Id="rId9" Type="http://schemas.openxmlformats.org/officeDocument/2006/relationships/image" Target="../media/image74.png"/><Relationship Id="rId26" Type="http://schemas.openxmlformats.org/officeDocument/2006/relationships/image" Target="../media/image93.png"/><Relationship Id="rId25" Type="http://schemas.openxmlformats.org/officeDocument/2006/relationships/image" Target="../media/image88.png"/><Relationship Id="rId28" Type="http://schemas.openxmlformats.org/officeDocument/2006/relationships/image" Target="../media/image101.png"/><Relationship Id="rId27" Type="http://schemas.openxmlformats.org/officeDocument/2006/relationships/image" Target="../media/image103.png"/><Relationship Id="rId5" Type="http://schemas.openxmlformats.org/officeDocument/2006/relationships/image" Target="../media/image12.png"/><Relationship Id="rId6" Type="http://schemas.openxmlformats.org/officeDocument/2006/relationships/image" Target="../media/image72.png"/><Relationship Id="rId29" Type="http://schemas.openxmlformats.org/officeDocument/2006/relationships/image" Target="../media/image146.png"/><Relationship Id="rId7" Type="http://schemas.openxmlformats.org/officeDocument/2006/relationships/image" Target="../media/image73.png"/><Relationship Id="rId8" Type="http://schemas.openxmlformats.org/officeDocument/2006/relationships/image" Target="../media/image78.png"/><Relationship Id="rId30" Type="http://schemas.openxmlformats.org/officeDocument/2006/relationships/image" Target="../media/image118.png"/><Relationship Id="rId11" Type="http://schemas.openxmlformats.org/officeDocument/2006/relationships/image" Target="../media/image81.png"/><Relationship Id="rId10" Type="http://schemas.openxmlformats.org/officeDocument/2006/relationships/image" Target="../media/image77.png"/><Relationship Id="rId13" Type="http://schemas.openxmlformats.org/officeDocument/2006/relationships/image" Target="../media/image92.png"/><Relationship Id="rId12" Type="http://schemas.openxmlformats.org/officeDocument/2006/relationships/image" Target="../media/image76.png"/><Relationship Id="rId15" Type="http://schemas.openxmlformats.org/officeDocument/2006/relationships/image" Target="../media/image83.png"/><Relationship Id="rId14" Type="http://schemas.openxmlformats.org/officeDocument/2006/relationships/image" Target="../media/image86.png"/><Relationship Id="rId17" Type="http://schemas.openxmlformats.org/officeDocument/2006/relationships/image" Target="../media/image75.png"/><Relationship Id="rId16" Type="http://schemas.openxmlformats.org/officeDocument/2006/relationships/image" Target="../media/image80.png"/><Relationship Id="rId19" Type="http://schemas.openxmlformats.org/officeDocument/2006/relationships/image" Target="../media/image91.png"/><Relationship Id="rId18" Type="http://schemas.openxmlformats.org/officeDocument/2006/relationships/image" Target="../media/image8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00.png"/><Relationship Id="rId9"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30.png"/><Relationship Id="rId7" Type="http://schemas.openxmlformats.org/officeDocument/2006/relationships/image" Target="../media/image109.png"/><Relationship Id="rId8" Type="http://schemas.openxmlformats.org/officeDocument/2006/relationships/image" Target="../media/image12.png"/><Relationship Id="rId11" Type="http://schemas.openxmlformats.org/officeDocument/2006/relationships/image" Target="../media/image116.png"/><Relationship Id="rId10" Type="http://schemas.openxmlformats.org/officeDocument/2006/relationships/image" Target="../media/image75.png"/><Relationship Id="rId13" Type="http://schemas.openxmlformats.org/officeDocument/2006/relationships/image" Target="../media/image150.png"/><Relationship Id="rId12" Type="http://schemas.openxmlformats.org/officeDocument/2006/relationships/image" Target="../media/image104.png"/><Relationship Id="rId15" Type="http://schemas.openxmlformats.org/officeDocument/2006/relationships/image" Target="../media/image112.png"/><Relationship Id="rId14" Type="http://schemas.openxmlformats.org/officeDocument/2006/relationships/image" Target="../media/image123.png"/><Relationship Id="rId16" Type="http://schemas.openxmlformats.org/officeDocument/2006/relationships/image" Target="../media/image10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5.png"/><Relationship Id="rId9" Type="http://schemas.openxmlformats.org/officeDocument/2006/relationships/image" Target="../media/image122.png"/><Relationship Id="rId5" Type="http://schemas.openxmlformats.org/officeDocument/2006/relationships/image" Target="../media/image12.png"/><Relationship Id="rId6" Type="http://schemas.openxmlformats.org/officeDocument/2006/relationships/image" Target="../media/image147.png"/><Relationship Id="rId7" Type="http://schemas.openxmlformats.org/officeDocument/2006/relationships/image" Target="../media/image114.png"/><Relationship Id="rId8" Type="http://schemas.openxmlformats.org/officeDocument/2006/relationships/image" Target="../media/image128.png"/><Relationship Id="rId11" Type="http://schemas.openxmlformats.org/officeDocument/2006/relationships/image" Target="../media/image134.png"/><Relationship Id="rId10" Type="http://schemas.openxmlformats.org/officeDocument/2006/relationships/image" Target="../media/image14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33.png"/><Relationship Id="rId9" Type="http://schemas.openxmlformats.org/officeDocument/2006/relationships/image" Target="../media/image129.png"/><Relationship Id="rId5" Type="http://schemas.openxmlformats.org/officeDocument/2006/relationships/image" Target="../media/image12.png"/><Relationship Id="rId6" Type="http://schemas.openxmlformats.org/officeDocument/2006/relationships/image" Target="../media/image132.png"/><Relationship Id="rId7" Type="http://schemas.openxmlformats.org/officeDocument/2006/relationships/image" Target="../media/image75.png"/><Relationship Id="rId8" Type="http://schemas.openxmlformats.org/officeDocument/2006/relationships/image" Target="../media/image121.png"/><Relationship Id="rId11" Type="http://schemas.openxmlformats.org/officeDocument/2006/relationships/image" Target="../media/image124.png"/><Relationship Id="rId10" Type="http://schemas.openxmlformats.org/officeDocument/2006/relationships/image" Target="../media/image125.png"/><Relationship Id="rId13" Type="http://schemas.openxmlformats.org/officeDocument/2006/relationships/image" Target="../media/image126.png"/><Relationship Id="rId12" Type="http://schemas.openxmlformats.org/officeDocument/2006/relationships/image" Target="../media/image19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36.png"/><Relationship Id="rId9" Type="http://schemas.openxmlformats.org/officeDocument/2006/relationships/image" Target="../media/image142.png"/><Relationship Id="rId5" Type="http://schemas.openxmlformats.org/officeDocument/2006/relationships/image" Target="../media/image135.png"/><Relationship Id="rId6" Type="http://schemas.openxmlformats.org/officeDocument/2006/relationships/image" Target="../media/image12.png"/><Relationship Id="rId7" Type="http://schemas.openxmlformats.org/officeDocument/2006/relationships/image" Target="../media/image127.png"/><Relationship Id="rId8" Type="http://schemas.openxmlformats.org/officeDocument/2006/relationships/image" Target="../media/image154.png"/><Relationship Id="rId11" Type="http://schemas.openxmlformats.org/officeDocument/2006/relationships/image" Target="../media/image144.png"/><Relationship Id="rId10" Type="http://schemas.openxmlformats.org/officeDocument/2006/relationships/image" Target="../media/image137.png"/><Relationship Id="rId12" Type="http://schemas.openxmlformats.org/officeDocument/2006/relationships/image" Target="../media/image1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2.png"/><Relationship Id="rId9" Type="http://schemas.openxmlformats.org/officeDocument/2006/relationships/image" Target="../media/image157.png"/><Relationship Id="rId5" Type="http://schemas.openxmlformats.org/officeDocument/2006/relationships/image" Target="../media/image140.png"/><Relationship Id="rId6" Type="http://schemas.openxmlformats.org/officeDocument/2006/relationships/image" Target="../media/image138.png"/><Relationship Id="rId7" Type="http://schemas.openxmlformats.org/officeDocument/2006/relationships/image" Target="../media/image200.png"/><Relationship Id="rId8" Type="http://schemas.openxmlformats.org/officeDocument/2006/relationships/image" Target="../media/image141.png"/><Relationship Id="rId10" Type="http://schemas.openxmlformats.org/officeDocument/2006/relationships/image" Target="../media/image1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152.png"/><Relationship Id="rId5" Type="http://schemas.openxmlformats.org/officeDocument/2006/relationships/image" Target="../media/image75.png"/><Relationship Id="rId6" Type="http://schemas.openxmlformats.org/officeDocument/2006/relationships/image" Target="../media/image153.png"/><Relationship Id="rId7" Type="http://schemas.openxmlformats.org/officeDocument/2006/relationships/image" Target="../media/image149.png"/><Relationship Id="rId8" Type="http://schemas.openxmlformats.org/officeDocument/2006/relationships/image" Target="../media/image151.png"/><Relationship Id="rId10" Type="http://schemas.openxmlformats.org/officeDocument/2006/relationships/image" Target="../media/image18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56.png"/><Relationship Id="rId9" Type="http://schemas.openxmlformats.org/officeDocument/2006/relationships/image" Target="../media/image12.png"/><Relationship Id="rId5" Type="http://schemas.openxmlformats.org/officeDocument/2006/relationships/image" Target="../media/image169.png"/><Relationship Id="rId6" Type="http://schemas.openxmlformats.org/officeDocument/2006/relationships/image" Target="../media/image160.png"/><Relationship Id="rId7" Type="http://schemas.openxmlformats.org/officeDocument/2006/relationships/image" Target="../media/image159.png"/><Relationship Id="rId8" Type="http://schemas.openxmlformats.org/officeDocument/2006/relationships/image" Target="../media/image158.png"/><Relationship Id="rId11" Type="http://schemas.openxmlformats.org/officeDocument/2006/relationships/image" Target="../media/image161.png"/><Relationship Id="rId10" Type="http://schemas.openxmlformats.org/officeDocument/2006/relationships/image" Target="../media/image155.png"/><Relationship Id="rId13" Type="http://schemas.openxmlformats.org/officeDocument/2006/relationships/image" Target="../media/image162.png"/><Relationship Id="rId12" Type="http://schemas.openxmlformats.org/officeDocument/2006/relationships/image" Target="../media/image75.png"/><Relationship Id="rId15" Type="http://schemas.openxmlformats.org/officeDocument/2006/relationships/image" Target="../media/image163.png"/><Relationship Id="rId14" Type="http://schemas.openxmlformats.org/officeDocument/2006/relationships/image" Target="../media/image168.png"/><Relationship Id="rId17" Type="http://schemas.openxmlformats.org/officeDocument/2006/relationships/image" Target="../media/image170.png"/><Relationship Id="rId16" Type="http://schemas.openxmlformats.org/officeDocument/2006/relationships/image" Target="../media/image16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167.png"/><Relationship Id="rId9" Type="http://schemas.openxmlformats.org/officeDocument/2006/relationships/image" Target="../media/image165.png"/><Relationship Id="rId5" Type="http://schemas.openxmlformats.org/officeDocument/2006/relationships/image" Target="../media/image189.png"/><Relationship Id="rId6" Type="http://schemas.openxmlformats.org/officeDocument/2006/relationships/image" Target="../media/image196.png"/><Relationship Id="rId7" Type="http://schemas.openxmlformats.org/officeDocument/2006/relationships/image" Target="../media/image171.png"/><Relationship Id="rId8" Type="http://schemas.openxmlformats.org/officeDocument/2006/relationships/image" Target="../media/image166.png"/><Relationship Id="rId11" Type="http://schemas.openxmlformats.org/officeDocument/2006/relationships/image" Target="../media/image12.png"/><Relationship Id="rId10" Type="http://schemas.openxmlformats.org/officeDocument/2006/relationships/image" Target="../media/image197.png"/><Relationship Id="rId13" Type="http://schemas.openxmlformats.org/officeDocument/2006/relationships/image" Target="../media/image181.png"/><Relationship Id="rId12" Type="http://schemas.openxmlformats.org/officeDocument/2006/relationships/image" Target="../media/image199.png"/><Relationship Id="rId15" Type="http://schemas.openxmlformats.org/officeDocument/2006/relationships/image" Target="../media/image177.png"/><Relationship Id="rId14" Type="http://schemas.openxmlformats.org/officeDocument/2006/relationships/image" Target="../media/image176.png"/><Relationship Id="rId17" Type="http://schemas.openxmlformats.org/officeDocument/2006/relationships/image" Target="../media/image172.png"/><Relationship Id="rId16" Type="http://schemas.openxmlformats.org/officeDocument/2006/relationships/image" Target="../media/image186.png"/><Relationship Id="rId18" Type="http://schemas.openxmlformats.org/officeDocument/2006/relationships/image" Target="../media/image19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 Id="rId4" Type="http://schemas.openxmlformats.org/officeDocument/2006/relationships/image" Target="../media/image174.png"/><Relationship Id="rId5"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179.png"/><Relationship Id="rId5" Type="http://schemas.openxmlformats.org/officeDocument/2006/relationships/image" Target="../media/image183.png"/><Relationship Id="rId6" Type="http://schemas.openxmlformats.org/officeDocument/2006/relationships/image" Target="../media/image180.png"/><Relationship Id="rId7" Type="http://schemas.openxmlformats.org/officeDocument/2006/relationships/image" Target="../media/image178.png"/><Relationship Id="rId8"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0.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188.png"/><Relationship Id="rId5" Type="http://schemas.openxmlformats.org/officeDocument/2006/relationships/image" Target="../media/image195.png"/><Relationship Id="rId6" Type="http://schemas.openxmlformats.org/officeDocument/2006/relationships/image" Target="../media/image190.png"/><Relationship Id="rId7" Type="http://schemas.openxmlformats.org/officeDocument/2006/relationships/image" Target="../media/image184.png"/><Relationship Id="rId8" Type="http://schemas.openxmlformats.org/officeDocument/2006/relationships/image" Target="../media/image19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19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90.png"/><Relationship Id="rId5" Type="http://schemas.openxmlformats.org/officeDocument/2006/relationships/image" Target="../media/image19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3"/>
          <p:cNvSpPr txBox="1"/>
          <p:nvPr/>
        </p:nvSpPr>
        <p:spPr>
          <a:xfrm>
            <a:off x="952500" y="1524000"/>
            <a:ext cx="5143500" cy="400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1" sz="900">
              <a:solidFill>
                <a:srgbClr val="4F46E5"/>
              </a:solidFill>
              <a:highlight>
                <a:srgbClr val="EEF2FF"/>
              </a:highlight>
              <a:latin typeface="JetBrains Mono"/>
              <a:ea typeface="JetBrains Mono"/>
              <a:cs typeface="JetBrains Mono"/>
              <a:sym typeface="JetBrains Mono"/>
            </a:endParaRPr>
          </a:p>
          <a:p>
            <a:pPr indent="0" lvl="0" marL="0" rtl="0" algn="l">
              <a:spcBef>
                <a:spcPts val="2100"/>
              </a:spcBef>
              <a:spcAft>
                <a:spcPts val="0"/>
              </a:spcAft>
              <a:buNone/>
            </a:pPr>
            <a:r>
              <a:rPr b="0" lang="en-US" sz="6400">
                <a:solidFill>
                  <a:srgbClr val="0F172A"/>
                </a:solidFill>
                <a:latin typeface="Plus Jakarta Sans ExtraBold"/>
                <a:ea typeface="Plus Jakarta Sans ExtraBold"/>
                <a:cs typeface="Plus Jakarta Sans ExtraBold"/>
                <a:sym typeface="Plus Jakarta Sans ExtraBold"/>
              </a:rPr>
              <a:t>Devin AI </a:t>
            </a:r>
            <a:endParaRPr b="0" sz="64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900"/>
              </a:spcBef>
              <a:spcAft>
                <a:spcPts val="0"/>
              </a:spcAft>
              <a:buNone/>
            </a:pPr>
            <a:r>
              <a:rPr b="1" lang="en-US" sz="2200">
                <a:solidFill>
                  <a:srgbClr val="1E293B"/>
                </a:solidFill>
                <a:latin typeface="Plus Jakarta Sans"/>
                <a:ea typeface="Plus Jakarta Sans"/>
                <a:cs typeface="Plus Jakarta Sans"/>
                <a:sym typeface="Plus Jakarta Sans"/>
              </a:rPr>
              <a:t>The Autonomous Software Engineering Agent</a:t>
            </a:r>
            <a:endParaRPr b="1" sz="2200">
              <a:solidFill>
                <a:srgbClr val="1E293B"/>
              </a:solidFill>
              <a:latin typeface="Plus Jakarta Sans"/>
              <a:ea typeface="Plus Jakarta Sans"/>
              <a:cs typeface="Plus Jakarta Sans"/>
              <a:sym typeface="Plus Jakarta Sans"/>
            </a:endParaRPr>
          </a:p>
          <a:p>
            <a:pPr indent="0" lvl="0" marL="0" rtl="0" algn="l">
              <a:spcBef>
                <a:spcPts val="1500"/>
              </a:spcBef>
              <a:spcAft>
                <a:spcPts val="0"/>
              </a:spcAft>
              <a:buNone/>
            </a:pPr>
            <a:r>
              <a:rPr b="0" lang="en-US" sz="1350">
                <a:solidFill>
                  <a:srgbClr val="475569"/>
                </a:solidFill>
                <a:latin typeface="Plus Jakarta Sans"/>
                <a:ea typeface="Plus Jakarta Sans"/>
                <a:cs typeface="Plus Jakarta Sans"/>
                <a:sym typeface="Plus Jakarta Sans"/>
              </a:rPr>
              <a:t>Complete Architectural Deep-Dive, Enterprise Adoption Models, and Core Operational Best Practices for Engineering Leaders.</a:t>
            </a:r>
            <a:endParaRPr b="0" sz="1350">
              <a:solidFill>
                <a:srgbClr val="475569"/>
              </a:solidFill>
              <a:latin typeface="Plus Jakarta Sans"/>
              <a:ea typeface="Plus Jakarta Sans"/>
              <a:cs typeface="Plus Jakarta Sans"/>
              <a:sym typeface="Plus Jakarta Sans"/>
            </a:endParaRPr>
          </a:p>
        </p:txBody>
      </p:sp>
      <p:grpSp>
        <p:nvGrpSpPr>
          <p:cNvPr id="85" name="Google Shape;85;p13"/>
          <p:cNvGrpSpPr/>
          <p:nvPr/>
        </p:nvGrpSpPr>
        <p:grpSpPr>
          <a:xfrm>
            <a:off x="6858000" y="1524000"/>
            <a:ext cx="4381500" cy="1047900"/>
            <a:chOff x="0" y="0"/>
            <a:chExt cx="4381500" cy="1047900"/>
          </a:xfrm>
        </p:grpSpPr>
        <p:sp>
          <p:nvSpPr>
            <p:cNvPr id="86" name="Google Shape;86;p13"/>
            <p:cNvSpPr/>
            <p:nvPr/>
          </p:nvSpPr>
          <p:spPr>
            <a:xfrm>
              <a:off x="0" y="0"/>
              <a:ext cx="43815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3"/>
            <p:cNvSpPr/>
            <p:nvPr/>
          </p:nvSpPr>
          <p:spPr>
            <a:xfrm>
              <a:off x="0" y="0"/>
              <a:ext cx="57300" cy="104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3"/>
            <p:cNvSpPr txBox="1"/>
            <p:nvPr/>
          </p:nvSpPr>
          <p:spPr>
            <a:xfrm>
              <a:off x="285750" y="0"/>
              <a:ext cx="3810000" cy="10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2800">
                  <a:solidFill>
                    <a:srgbClr val="2563EB"/>
                  </a:solidFill>
                  <a:latin typeface="Material Icons"/>
                  <a:ea typeface="Material Icons"/>
                  <a:cs typeface="Material Icons"/>
                  <a:sym typeface="Material Icons"/>
                </a:rPr>
                <a:t>layers</a:t>
              </a:r>
              <a:endParaRPr>
                <a:latin typeface="Plus Jakarta Sans"/>
                <a:ea typeface="Plus Jakarta Sans"/>
                <a:cs typeface="Plus Jakarta Sans"/>
                <a:sym typeface="Plus Jakarta Sans"/>
              </a:endParaRPr>
            </a:p>
            <a:p>
              <a:pPr indent="0" lvl="0" marL="0" rtl="0" algn="ctr">
                <a:spcBef>
                  <a:spcPts val="0"/>
                </a:spcBef>
                <a:spcAft>
                  <a:spcPts val="0"/>
                </a:spcAft>
                <a:buNone/>
              </a:pPr>
              <a:r>
                <a:rPr b="1" lang="en-US" sz="1400">
                  <a:solidFill>
                    <a:srgbClr val="0F172A"/>
                  </a:solidFill>
                  <a:latin typeface="Plus Jakarta Sans"/>
                  <a:ea typeface="Plus Jakarta Sans"/>
                  <a:cs typeface="Plus Jakarta Sans"/>
                  <a:sym typeface="Plus Jakarta Sans"/>
                </a:rPr>
                <a:t>PLATFORM DEPTH</a:t>
              </a:r>
              <a:endParaRPr b="1" sz="1400">
                <a:solidFill>
                  <a:srgbClr val="0F172A"/>
                </a:solidFill>
                <a:latin typeface="Plus Jakarta Sans"/>
                <a:ea typeface="Plus Jakarta Sans"/>
                <a:cs typeface="Plus Jakarta Sans"/>
                <a:sym typeface="Plus Jakarta Sans"/>
              </a:endParaRPr>
            </a:p>
            <a:p>
              <a:pPr indent="0" lvl="0" marL="0" rtl="0" algn="ctr">
                <a:spcBef>
                  <a:spcPts val="300"/>
                </a:spcBef>
                <a:spcAft>
                  <a:spcPts val="0"/>
                </a:spcAft>
                <a:buNone/>
              </a:pPr>
              <a:r>
                <a:rPr b="0" lang="en-US" sz="1050">
                  <a:solidFill>
                    <a:srgbClr val="475569"/>
                  </a:solidFill>
                  <a:latin typeface="Plus Jakarta Sans"/>
                  <a:ea typeface="Plus Jakarta Sans"/>
                  <a:cs typeface="Plus Jakarta Sans"/>
                  <a:sym typeface="Plus Jakarta Sans"/>
                </a:rPr>
                <a:t>Deep architectural integration &amp; VM sandboxing.</a:t>
              </a:r>
              <a:endParaRPr b="0" sz="1050">
                <a:solidFill>
                  <a:srgbClr val="475569"/>
                </a:solidFill>
                <a:latin typeface="Plus Jakarta Sans"/>
                <a:ea typeface="Plus Jakarta Sans"/>
                <a:cs typeface="Plus Jakarta Sans"/>
                <a:sym typeface="Plus Jakarta Sans"/>
              </a:endParaRPr>
            </a:p>
          </p:txBody>
        </p:sp>
      </p:grpSp>
      <p:grpSp>
        <p:nvGrpSpPr>
          <p:cNvPr id="89" name="Google Shape;89;p13"/>
          <p:cNvGrpSpPr/>
          <p:nvPr/>
        </p:nvGrpSpPr>
        <p:grpSpPr>
          <a:xfrm>
            <a:off x="6858000" y="2762250"/>
            <a:ext cx="4381500" cy="1047900"/>
            <a:chOff x="0" y="0"/>
            <a:chExt cx="4381500" cy="1047900"/>
          </a:xfrm>
        </p:grpSpPr>
        <p:sp>
          <p:nvSpPr>
            <p:cNvPr id="90" name="Google Shape;90;p13"/>
            <p:cNvSpPr/>
            <p:nvPr/>
          </p:nvSpPr>
          <p:spPr>
            <a:xfrm>
              <a:off x="0" y="0"/>
              <a:ext cx="43815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1" name="Google Shape;91;p13"/>
            <p:cNvSpPr/>
            <p:nvPr/>
          </p:nvSpPr>
          <p:spPr>
            <a:xfrm>
              <a:off x="0" y="0"/>
              <a:ext cx="57300" cy="10479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3"/>
            <p:cNvSpPr txBox="1"/>
            <p:nvPr/>
          </p:nvSpPr>
          <p:spPr>
            <a:xfrm>
              <a:off x="285750" y="0"/>
              <a:ext cx="3810000" cy="10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2800">
                  <a:solidFill>
                    <a:srgbClr val="7C3AED"/>
                  </a:solidFill>
                  <a:latin typeface="Material Icons"/>
                  <a:ea typeface="Material Icons"/>
                  <a:cs typeface="Material Icons"/>
                  <a:sym typeface="Material Icons"/>
                </a:rPr>
                <a:t>security</a:t>
              </a:r>
              <a:endParaRPr>
                <a:latin typeface="Plus Jakarta Sans"/>
                <a:ea typeface="Plus Jakarta Sans"/>
                <a:cs typeface="Plus Jakarta Sans"/>
                <a:sym typeface="Plus Jakarta Sans"/>
              </a:endParaRPr>
            </a:p>
            <a:p>
              <a:pPr indent="0" lvl="0" marL="0" rtl="0" algn="ctr">
                <a:spcBef>
                  <a:spcPts val="0"/>
                </a:spcBef>
                <a:spcAft>
                  <a:spcPts val="0"/>
                </a:spcAft>
                <a:buNone/>
              </a:pPr>
              <a:r>
                <a:rPr b="1" lang="en-US" sz="1400">
                  <a:solidFill>
                    <a:srgbClr val="0F172A"/>
                  </a:solidFill>
                  <a:latin typeface="Plus Jakarta Sans"/>
                  <a:ea typeface="Plus Jakarta Sans"/>
                  <a:cs typeface="Plus Jakarta Sans"/>
                  <a:sym typeface="Plus Jakarta Sans"/>
                </a:rPr>
                <a:t>GOVERNANCE</a:t>
              </a:r>
              <a:endParaRPr b="1" sz="1400">
                <a:solidFill>
                  <a:srgbClr val="0F172A"/>
                </a:solidFill>
                <a:latin typeface="Plus Jakarta Sans"/>
                <a:ea typeface="Plus Jakarta Sans"/>
                <a:cs typeface="Plus Jakarta Sans"/>
                <a:sym typeface="Plus Jakarta Sans"/>
              </a:endParaRPr>
            </a:p>
            <a:p>
              <a:pPr indent="0" lvl="0" marL="0" rtl="0" algn="ctr">
                <a:spcBef>
                  <a:spcPts val="300"/>
                </a:spcBef>
                <a:spcAft>
                  <a:spcPts val="0"/>
                </a:spcAft>
                <a:buNone/>
              </a:pPr>
              <a:r>
                <a:rPr b="0" lang="en-US" sz="1050">
                  <a:solidFill>
                    <a:srgbClr val="475569"/>
                  </a:solidFill>
                  <a:latin typeface="Plus Jakarta Sans"/>
                  <a:ea typeface="Plus Jakarta Sans"/>
                  <a:cs typeface="Plus Jakarta Sans"/>
                  <a:sym typeface="Plus Jakarta Sans"/>
                </a:rPr>
                <a:t>Enterprise RBAC, SSO, policy controls, and auditing.</a:t>
              </a:r>
              <a:endParaRPr b="0" sz="1050">
                <a:solidFill>
                  <a:srgbClr val="475569"/>
                </a:solidFill>
                <a:latin typeface="Plus Jakarta Sans"/>
                <a:ea typeface="Plus Jakarta Sans"/>
                <a:cs typeface="Plus Jakarta Sans"/>
                <a:sym typeface="Plus Jakarta Sans"/>
              </a:endParaRPr>
            </a:p>
          </p:txBody>
        </p:sp>
      </p:grpSp>
      <p:grpSp>
        <p:nvGrpSpPr>
          <p:cNvPr id="93" name="Google Shape;93;p13"/>
          <p:cNvGrpSpPr/>
          <p:nvPr/>
        </p:nvGrpSpPr>
        <p:grpSpPr>
          <a:xfrm>
            <a:off x="6858000" y="4000500"/>
            <a:ext cx="4381500" cy="1047900"/>
            <a:chOff x="0" y="0"/>
            <a:chExt cx="4381500" cy="1047900"/>
          </a:xfrm>
        </p:grpSpPr>
        <p:sp>
          <p:nvSpPr>
            <p:cNvPr id="94" name="Google Shape;94;p13"/>
            <p:cNvSpPr/>
            <p:nvPr/>
          </p:nvSpPr>
          <p:spPr>
            <a:xfrm>
              <a:off x="0" y="0"/>
              <a:ext cx="4381500" cy="1047900"/>
            </a:xfrm>
            <a:prstGeom prst="roundRect">
              <a:avLst>
                <a:gd fmla="val 1090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3"/>
            <p:cNvSpPr/>
            <p:nvPr/>
          </p:nvSpPr>
          <p:spPr>
            <a:xfrm>
              <a:off x="0" y="0"/>
              <a:ext cx="57300" cy="10479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3"/>
            <p:cNvSpPr txBox="1"/>
            <p:nvPr/>
          </p:nvSpPr>
          <p:spPr>
            <a:xfrm>
              <a:off x="285750" y="0"/>
              <a:ext cx="3810000" cy="1047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US" sz="2800">
                  <a:solidFill>
                    <a:srgbClr val="0D9488"/>
                  </a:solidFill>
                  <a:latin typeface="Material Icons"/>
                  <a:ea typeface="Material Icons"/>
                  <a:cs typeface="Material Icons"/>
                  <a:sym typeface="Material Icons"/>
                </a:rPr>
                <a:t>verified</a:t>
              </a:r>
              <a:endParaRPr>
                <a:latin typeface="Plus Jakarta Sans"/>
                <a:ea typeface="Plus Jakarta Sans"/>
                <a:cs typeface="Plus Jakarta Sans"/>
                <a:sym typeface="Plus Jakarta Sans"/>
              </a:endParaRPr>
            </a:p>
            <a:p>
              <a:pPr indent="0" lvl="0" marL="0" rtl="0" algn="ctr">
                <a:spcBef>
                  <a:spcPts val="0"/>
                </a:spcBef>
                <a:spcAft>
                  <a:spcPts val="0"/>
                </a:spcAft>
                <a:buNone/>
              </a:pPr>
              <a:r>
                <a:rPr b="1" lang="en-US" sz="1400">
                  <a:solidFill>
                    <a:srgbClr val="0F172A"/>
                  </a:solidFill>
                  <a:latin typeface="Plus Jakarta Sans"/>
                  <a:ea typeface="Plus Jakarta Sans"/>
                  <a:cs typeface="Plus Jakarta Sans"/>
                  <a:sym typeface="Plus Jakarta Sans"/>
                </a:rPr>
                <a:t>BEST PRACTICES</a:t>
              </a:r>
              <a:endParaRPr b="1" sz="1400">
                <a:solidFill>
                  <a:srgbClr val="0F172A"/>
                </a:solidFill>
                <a:latin typeface="Plus Jakarta Sans"/>
                <a:ea typeface="Plus Jakarta Sans"/>
                <a:cs typeface="Plus Jakarta Sans"/>
                <a:sym typeface="Plus Jakarta Sans"/>
              </a:endParaRPr>
            </a:p>
            <a:p>
              <a:pPr indent="0" lvl="0" marL="0" rtl="0" algn="ctr">
                <a:spcBef>
                  <a:spcPts val="300"/>
                </a:spcBef>
                <a:spcAft>
                  <a:spcPts val="0"/>
                </a:spcAft>
                <a:buNone/>
              </a:pPr>
              <a:r>
                <a:rPr b="0" lang="en-US" sz="1050">
                  <a:solidFill>
                    <a:srgbClr val="475569"/>
                  </a:solidFill>
                  <a:latin typeface="Plus Jakarta Sans"/>
                  <a:ea typeface="Plus Jakarta Sans"/>
                  <a:cs typeface="Plus Jakarta Sans"/>
                  <a:sym typeface="Plus Jakarta Sans"/>
                </a:rPr>
                <a:t>Asynchronous pipelines and team-scaling plays.</a:t>
              </a:r>
              <a:endParaRPr b="0" sz="1050">
                <a:solidFill>
                  <a:srgbClr val="475569"/>
                </a:solidFill>
                <a:latin typeface="Plus Jakarta Sans"/>
                <a:ea typeface="Plus Jakarta Sans"/>
                <a:cs typeface="Plus Jakarta Sans"/>
                <a:sym typeface="Plus Jakarta Sans"/>
              </a:endParaRPr>
            </a:p>
          </p:txBody>
        </p:sp>
      </p:grpSp>
      <p:pic>
        <p:nvPicPr>
          <p:cNvPr id="97" name="Google Shape;97;p13"/>
          <p:cNvPicPr preferRelativeResize="0"/>
          <p:nvPr/>
        </p:nvPicPr>
        <p:blipFill>
          <a:blip r:embed="rId4">
            <a:alphaModFix/>
          </a:blip>
          <a:stretch>
            <a:fillRect/>
          </a:stretch>
        </p:blipFill>
        <p:spPr>
          <a:xfrm>
            <a:off x="4850724" y="2025799"/>
            <a:ext cx="911650" cy="911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grpSp>
        <p:nvGrpSpPr>
          <p:cNvPr id="102" name="Google Shape;102;p14"/>
          <p:cNvGrpSpPr/>
          <p:nvPr/>
        </p:nvGrpSpPr>
        <p:grpSpPr>
          <a:xfrm>
            <a:off x="762000" y="476250"/>
            <a:ext cx="10668000" cy="533475"/>
            <a:chOff x="0" y="0"/>
            <a:chExt cx="10668000" cy="533475"/>
          </a:xfrm>
        </p:grpSpPr>
        <p:sp>
          <p:nvSpPr>
            <p:cNvPr id="103" name="Google Shape;103;p14"/>
            <p:cNvSpPr txBox="1"/>
            <p:nvPr/>
          </p:nvSpPr>
          <p:spPr>
            <a:xfrm>
              <a:off x="0" y="0"/>
              <a:ext cx="10668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What is Devin AI?</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104" name="Google Shape;104;p14"/>
            <p:cNvSpPr/>
            <p:nvPr/>
          </p:nvSpPr>
          <p:spPr>
            <a:xfrm>
              <a:off x="0" y="523875"/>
              <a:ext cx="10668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05" name="Google Shape;105;p14"/>
          <p:cNvGrpSpPr/>
          <p:nvPr/>
        </p:nvGrpSpPr>
        <p:grpSpPr>
          <a:xfrm>
            <a:off x="762000" y="1285875"/>
            <a:ext cx="5905500" cy="4048275"/>
            <a:chOff x="0" y="0"/>
            <a:chExt cx="5905500" cy="4048275"/>
          </a:xfrm>
        </p:grpSpPr>
        <p:sp>
          <p:nvSpPr>
            <p:cNvPr id="106" name="Google Shape;106;p14"/>
            <p:cNvSpPr txBox="1"/>
            <p:nvPr/>
          </p:nvSpPr>
          <p:spPr>
            <a:xfrm>
              <a:off x="0" y="0"/>
              <a:ext cx="5905500" cy="666900"/>
            </a:xfrm>
            <a:prstGeom prst="rect">
              <a:avLst/>
            </a:prstGeom>
            <a:noFill/>
            <a:ln>
              <a:noFill/>
            </a:ln>
          </p:spPr>
          <p:txBody>
            <a:bodyPr anchorCtr="0" anchor="t" bIns="0" lIns="142875" spcFirstLastPara="1" rIns="0" wrap="square" tIns="0">
              <a:noAutofit/>
            </a:bodyPr>
            <a:lstStyle/>
            <a:p>
              <a:pPr indent="0" lvl="0" marL="0" rtl="0" algn="l">
                <a:spcBef>
                  <a:spcPts val="0"/>
                </a:spcBef>
                <a:spcAft>
                  <a:spcPts val="0"/>
                </a:spcAft>
                <a:buNone/>
              </a:pPr>
              <a:r>
                <a:rPr b="0" lang="en-US" sz="1250">
                  <a:solidFill>
                    <a:srgbClr val="1E293B"/>
                  </a:solidFill>
                  <a:latin typeface="Plus Jakarta Sans SemiBold"/>
                  <a:ea typeface="Plus Jakarta Sans SemiBold"/>
                  <a:cs typeface="Plus Jakarta Sans SemiBold"/>
                  <a:sym typeface="Plus Jakarta Sans SemiBold"/>
                </a:rPr>
                <a:t>An autonomous software engineering agent — built by Cognition — operating as a virtualized engineer inside an isolated machine environment.</a:t>
              </a:r>
              <a:endParaRPr b="0" sz="1250">
                <a:solidFill>
                  <a:srgbClr val="1E293B"/>
                </a:solidFill>
                <a:latin typeface="Plus Jakarta Sans SemiBold"/>
                <a:ea typeface="Plus Jakarta Sans SemiBold"/>
                <a:cs typeface="Plus Jakarta Sans SemiBold"/>
                <a:sym typeface="Plus Jakarta Sans SemiBold"/>
              </a:endParaRPr>
            </a:p>
          </p:txBody>
        </p:sp>
        <p:grpSp>
          <p:nvGrpSpPr>
            <p:cNvPr id="107" name="Google Shape;107;p14"/>
            <p:cNvGrpSpPr/>
            <p:nvPr/>
          </p:nvGrpSpPr>
          <p:grpSpPr>
            <a:xfrm>
              <a:off x="0" y="904875"/>
              <a:ext cx="5905500" cy="904800"/>
              <a:chOff x="0" y="0"/>
              <a:chExt cx="5905500" cy="904800"/>
            </a:xfrm>
          </p:grpSpPr>
          <p:sp>
            <p:nvSpPr>
              <p:cNvPr id="108" name="Google Shape;108;p14"/>
              <p:cNvSpPr/>
              <p:nvPr/>
            </p:nvSpPr>
            <p:spPr>
              <a:xfrm>
                <a:off x="0" y="0"/>
                <a:ext cx="5905500" cy="904800"/>
              </a:xfrm>
              <a:prstGeom prst="roundRect">
                <a:avLst>
                  <a:gd fmla="val 84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4"/>
              <p:cNvSpPr txBox="1"/>
              <p:nvPr/>
            </p:nvSpPr>
            <p:spPr>
              <a:xfrm>
                <a:off x="190500" y="177927"/>
                <a:ext cx="4287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2563EB"/>
                    </a:solidFill>
                    <a:latin typeface="Material Icons"/>
                    <a:ea typeface="Material Icons"/>
                    <a:cs typeface="Material Icons"/>
                    <a:sym typeface="Material Icons"/>
                  </a:rPr>
                  <a:t>terminal</a:t>
                </a:r>
                <a:endParaRPr sz="2400">
                  <a:solidFill>
                    <a:srgbClr val="2563EB"/>
                  </a:solidFill>
                  <a:latin typeface="Material Icons"/>
                  <a:ea typeface="Material Icons"/>
                  <a:cs typeface="Material Icons"/>
                  <a:sym typeface="Material Icons"/>
                </a:endParaRPr>
              </a:p>
            </p:txBody>
          </p:sp>
          <p:sp>
            <p:nvSpPr>
              <p:cNvPr id="110" name="Google Shape;110;p14"/>
              <p:cNvSpPr txBox="1"/>
              <p:nvPr/>
            </p:nvSpPr>
            <p:spPr>
              <a:xfrm>
                <a:off x="714375" y="142875"/>
                <a:ext cx="50007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Plus Jakarta Sans"/>
                    <a:ea typeface="Plus Jakarta Sans"/>
                    <a:cs typeface="Plus Jakarta Sans"/>
                    <a:sym typeface="Plus Jakarta Sans"/>
                  </a:rPr>
                  <a:t>Runtime Engine</a:t>
                </a:r>
                <a:endParaRPr b="1" sz="115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Full Ubuntu VM with workspace browser, secure IDE, terminal integration, and execution sandboxing.</a:t>
                </a:r>
                <a:endParaRPr b="0" sz="950">
                  <a:solidFill>
                    <a:srgbClr val="475569"/>
                  </a:solidFill>
                  <a:latin typeface="Plus Jakarta Sans"/>
                  <a:ea typeface="Plus Jakarta Sans"/>
                  <a:cs typeface="Plus Jakarta Sans"/>
                  <a:sym typeface="Plus Jakarta Sans"/>
                </a:endParaRPr>
              </a:p>
            </p:txBody>
          </p:sp>
        </p:grpSp>
        <p:grpSp>
          <p:nvGrpSpPr>
            <p:cNvPr id="111" name="Google Shape;111;p14"/>
            <p:cNvGrpSpPr/>
            <p:nvPr/>
          </p:nvGrpSpPr>
          <p:grpSpPr>
            <a:xfrm>
              <a:off x="0" y="1952625"/>
              <a:ext cx="5905500" cy="904800"/>
              <a:chOff x="0" y="0"/>
              <a:chExt cx="5905500" cy="904800"/>
            </a:xfrm>
          </p:grpSpPr>
          <p:sp>
            <p:nvSpPr>
              <p:cNvPr id="112" name="Google Shape;112;p14"/>
              <p:cNvSpPr/>
              <p:nvPr/>
            </p:nvSpPr>
            <p:spPr>
              <a:xfrm>
                <a:off x="0" y="0"/>
                <a:ext cx="5905500" cy="904800"/>
              </a:xfrm>
              <a:prstGeom prst="roundRect">
                <a:avLst>
                  <a:gd fmla="val 842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4"/>
              <p:cNvSpPr txBox="1"/>
              <p:nvPr/>
            </p:nvSpPr>
            <p:spPr>
              <a:xfrm>
                <a:off x="190500" y="177927"/>
                <a:ext cx="4287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400">
                    <a:solidFill>
                      <a:srgbClr val="4F46E5"/>
                    </a:solidFill>
                    <a:latin typeface="Material Icons"/>
                    <a:ea typeface="Material Icons"/>
                    <a:cs typeface="Material Icons"/>
                    <a:sym typeface="Material Icons"/>
                  </a:rPr>
                  <a:t>psychology</a:t>
                </a:r>
                <a:endParaRPr sz="2400">
                  <a:solidFill>
                    <a:srgbClr val="4F46E5"/>
                  </a:solidFill>
                  <a:latin typeface="Material Icons"/>
                  <a:ea typeface="Material Icons"/>
                  <a:cs typeface="Material Icons"/>
                  <a:sym typeface="Material Icons"/>
                </a:endParaRPr>
              </a:p>
            </p:txBody>
          </p:sp>
          <p:sp>
            <p:nvSpPr>
              <p:cNvPr id="114" name="Google Shape;114;p14"/>
              <p:cNvSpPr txBox="1"/>
              <p:nvPr/>
            </p:nvSpPr>
            <p:spPr>
              <a:xfrm>
                <a:off x="714375" y="142875"/>
                <a:ext cx="5000700" cy="619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50">
                    <a:solidFill>
                      <a:srgbClr val="0F172A"/>
                    </a:solidFill>
                    <a:latin typeface="Plus Jakarta Sans"/>
                    <a:ea typeface="Plus Jakarta Sans"/>
                    <a:cs typeface="Plus Jakarta Sans"/>
                    <a:sym typeface="Plus Jakarta Sans"/>
                  </a:rPr>
                  <a:t>Memory Fabrics</a:t>
                </a:r>
                <a:endParaRPr b="1" sz="115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Grows with use. Utilizes custom Knowledge repositories, user Skills, and Playbook modules.</a:t>
                </a:r>
                <a:endParaRPr b="0" sz="950">
                  <a:solidFill>
                    <a:srgbClr val="475569"/>
                  </a:solidFill>
                  <a:latin typeface="Plus Jakarta Sans"/>
                  <a:ea typeface="Plus Jakarta Sans"/>
                  <a:cs typeface="Plus Jakarta Sans"/>
                  <a:sym typeface="Plus Jakarta Sans"/>
                </a:endParaRPr>
              </a:p>
            </p:txBody>
          </p:sp>
        </p:grpSp>
        <p:grpSp>
          <p:nvGrpSpPr>
            <p:cNvPr id="115" name="Google Shape;115;p14"/>
            <p:cNvGrpSpPr/>
            <p:nvPr/>
          </p:nvGrpSpPr>
          <p:grpSpPr>
            <a:xfrm>
              <a:off x="0" y="3000375"/>
              <a:ext cx="5905500" cy="1047900"/>
              <a:chOff x="0" y="0"/>
              <a:chExt cx="5905500" cy="1047900"/>
            </a:xfrm>
          </p:grpSpPr>
          <p:sp>
            <p:nvSpPr>
              <p:cNvPr id="116" name="Google Shape;116;p14"/>
              <p:cNvSpPr/>
              <p:nvPr/>
            </p:nvSpPr>
            <p:spPr>
              <a:xfrm>
                <a:off x="0" y="0"/>
                <a:ext cx="5905500" cy="1047900"/>
              </a:xfrm>
              <a:prstGeom prst="roundRect">
                <a:avLst>
                  <a:gd fmla="val 7272"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4"/>
              <p:cNvSpPr txBox="1"/>
              <p:nvPr/>
            </p:nvSpPr>
            <p:spPr>
              <a:xfrm>
                <a:off x="190500" y="142875"/>
                <a:ext cx="5524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2563EB"/>
                    </a:solidFill>
                    <a:latin typeface="Plus Jakarta Sans"/>
                    <a:ea typeface="Plus Jakarta Sans"/>
                    <a:cs typeface="Plus Jakarta Sans"/>
                    <a:sym typeface="Plus Jakarta Sans"/>
                  </a:rPr>
                  <a:t>Key Distinction</a:t>
                </a:r>
                <a:endParaRPr b="1" sz="1000">
                  <a:solidFill>
                    <a:srgbClr val="2563EB"/>
                  </a:solidFill>
                  <a:latin typeface="Plus Jakarta Sans"/>
                  <a:ea typeface="Plus Jakarta Sans"/>
                  <a:cs typeface="Plus Jakarta Sans"/>
                  <a:sym typeface="Plus Jakarta Sans"/>
                </a:endParaRPr>
              </a:p>
              <a:p>
                <a:pPr indent="0" lvl="0" marL="0" rtl="0" algn="l">
                  <a:spcBef>
                    <a:spcPts val="450"/>
                  </a:spcBef>
                  <a:spcAft>
                    <a:spcPts val="0"/>
                  </a:spcAft>
                  <a:buNone/>
                </a:pPr>
                <a:r>
                  <a:rPr b="0" lang="en-US" sz="950">
                    <a:solidFill>
                      <a:srgbClr val="1E293B"/>
                    </a:solidFill>
                    <a:latin typeface="Plus Jakarta Sans"/>
                    <a:ea typeface="Plus Jakarta Sans"/>
                    <a:cs typeface="Plus Jakarta Sans"/>
                    <a:sym typeface="Plus Jakarta Sans"/>
                  </a:rPr>
                  <a:t>Devin is not a suggestion engine. It is an agent that takes a task, reasons about it, executes it autonomously, and delivers a result — typically a pull request.</a:t>
                </a:r>
                <a:endParaRPr b="0" sz="950">
                  <a:solidFill>
                    <a:srgbClr val="1E293B"/>
                  </a:solidFill>
                  <a:latin typeface="Plus Jakarta Sans"/>
                  <a:ea typeface="Plus Jakarta Sans"/>
                  <a:cs typeface="Plus Jakarta Sans"/>
                  <a:sym typeface="Plus Jakarta Sans"/>
                </a:endParaRPr>
              </a:p>
            </p:txBody>
          </p:sp>
        </p:grpSp>
      </p:grpSp>
      <p:grpSp>
        <p:nvGrpSpPr>
          <p:cNvPr id="118" name="Google Shape;118;p14"/>
          <p:cNvGrpSpPr/>
          <p:nvPr/>
        </p:nvGrpSpPr>
        <p:grpSpPr>
          <a:xfrm>
            <a:off x="7048500" y="1285875"/>
            <a:ext cx="4381500" cy="4048200"/>
            <a:chOff x="0" y="0"/>
            <a:chExt cx="4381500" cy="4048200"/>
          </a:xfrm>
        </p:grpSpPr>
        <p:sp>
          <p:nvSpPr>
            <p:cNvPr id="119" name="Google Shape;119;p14"/>
            <p:cNvSpPr/>
            <p:nvPr/>
          </p:nvSpPr>
          <p:spPr>
            <a:xfrm>
              <a:off x="0" y="0"/>
              <a:ext cx="4381500" cy="4048200"/>
            </a:xfrm>
            <a:prstGeom prst="roundRect">
              <a:avLst>
                <a:gd fmla="val 2823" name="adj"/>
              </a:avLst>
            </a:prstGeom>
            <a:solidFill>
              <a:srgbClr val="0F172A"/>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4"/>
            <p:cNvSpPr/>
            <p:nvPr/>
          </p:nvSpPr>
          <p:spPr>
            <a:xfrm>
              <a:off x="171450" y="171450"/>
              <a:ext cx="114300" cy="114300"/>
            </a:xfrm>
            <a:prstGeom prst="ellipse">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4"/>
            <p:cNvSpPr/>
            <p:nvPr/>
          </p:nvSpPr>
          <p:spPr>
            <a:xfrm>
              <a:off x="361950" y="171450"/>
              <a:ext cx="114300" cy="114300"/>
            </a:xfrm>
            <a:prstGeom prst="ellipse">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4"/>
            <p:cNvSpPr/>
            <p:nvPr/>
          </p:nvSpPr>
          <p:spPr>
            <a:xfrm>
              <a:off x="552450" y="171450"/>
              <a:ext cx="114300" cy="114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4"/>
            <p:cNvSpPr txBox="1"/>
            <p:nvPr/>
          </p:nvSpPr>
          <p:spPr>
            <a:xfrm>
              <a:off x="190500" y="523875"/>
              <a:ext cx="4000500" cy="33339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lang="en-US" sz="950">
                  <a:solidFill>
                    <a:srgbClr val="64748B"/>
                  </a:solidFill>
                  <a:latin typeface="JetBrains Mono"/>
                  <a:ea typeface="JetBrains Mono"/>
                  <a:cs typeface="JetBrains Mono"/>
                  <a:sym typeface="JetBrains Mono"/>
                </a:rPr>
                <a:t>// Devin Runtime VM Snapshot</a:t>
              </a:r>
              <a:endParaRPr sz="950">
                <a:solidFill>
                  <a:srgbClr val="64748B"/>
                </a:solidFill>
                <a:latin typeface="JetBrains Mono"/>
                <a:ea typeface="JetBrains Mono"/>
                <a:cs typeface="JetBrains Mono"/>
                <a:sym typeface="JetBrains Mono"/>
              </a:endParaRPr>
            </a:p>
            <a:p>
              <a:pPr indent="0" lvl="0" marL="0" rtl="0" algn="l">
                <a:spcBef>
                  <a:spcPts val="1125"/>
                </a:spcBef>
                <a:spcAft>
                  <a:spcPts val="0"/>
                </a:spcAft>
                <a:buNone/>
              </a:pPr>
              <a:r>
                <a:rPr lang="en-US" sz="950">
                  <a:solidFill>
                    <a:srgbClr val="F472B6"/>
                  </a:solidFill>
                  <a:latin typeface="JetBrains Mono"/>
                  <a:ea typeface="JetBrains Mono"/>
                  <a:cs typeface="JetBrains Mono"/>
                  <a:sym typeface="JetBrains Mono"/>
                </a:rPr>
                <a:t>$</a:t>
              </a:r>
              <a:r>
                <a:rPr lang="en-US" sz="950">
                  <a:solidFill>
                    <a:srgbClr val="CBD5E1"/>
                  </a:solidFill>
                  <a:latin typeface="JetBrains Mono"/>
                  <a:ea typeface="JetBrains Mono"/>
                  <a:cs typeface="JetBrains Mono"/>
                  <a:sym typeface="JetBrains Mono"/>
                </a:rPr>
                <a:t> </a:t>
              </a:r>
              <a:r>
                <a:rPr lang="en-US" sz="950">
                  <a:solidFill>
                    <a:srgbClr val="38BDF8"/>
                  </a:solidFill>
                  <a:latin typeface="JetBrains Mono"/>
                  <a:ea typeface="JetBrains Mono"/>
                  <a:cs typeface="JetBrains Mono"/>
                  <a:sym typeface="JetBrains Mono"/>
                </a:rPr>
                <a:t>devin run "deploy-service"</a:t>
              </a:r>
              <a:endParaRPr sz="950">
                <a:solidFill>
                  <a:srgbClr val="CBD5E1"/>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38BDF8"/>
                  </a:solidFill>
                  <a:latin typeface="JetBrains Mono"/>
                  <a:ea typeface="JetBrains Mono"/>
                  <a:cs typeface="JetBrains Mono"/>
                  <a:sym typeface="JetBrains Mono"/>
                </a:rPr>
                <a:t>&gt; Loading base workspace snapshot...</a:t>
              </a:r>
              <a:endParaRPr sz="950">
                <a:solidFill>
                  <a:srgbClr val="38BDF8"/>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4ADE80"/>
                  </a:solidFill>
                  <a:latin typeface="JetBrains Mono"/>
                  <a:ea typeface="JetBrains Mono"/>
                  <a:cs typeface="JetBrains Mono"/>
                  <a:sym typeface="JetBrains Mono"/>
                </a:rPr>
                <a:t>&gt; Cloned repo: payment-service-v2</a:t>
              </a:r>
              <a:endParaRPr sz="950">
                <a:solidFill>
                  <a:srgbClr val="4ADE80"/>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94A3B8"/>
                  </a:solidFill>
                  <a:latin typeface="JetBrains Mono"/>
                  <a:ea typeface="JetBrains Mono"/>
                  <a:cs typeface="JetBrains Mono"/>
                  <a:sym typeface="JetBrains Mono"/>
                </a:rPr>
                <a:t>&gt; Running tests: 42 passed, 0 failed</a:t>
              </a:r>
              <a:endParaRPr sz="950">
                <a:solidFill>
                  <a:srgbClr val="94A3B8"/>
                </a:solidFill>
                <a:latin typeface="JetBrains Mono"/>
                <a:ea typeface="JetBrains Mono"/>
                <a:cs typeface="JetBrains Mono"/>
                <a:sym typeface="JetBrains Mono"/>
              </a:endParaRPr>
            </a:p>
            <a:p>
              <a:pPr indent="0" lvl="0" marL="0" rtl="0" algn="l">
                <a:spcBef>
                  <a:spcPts val="900"/>
                </a:spcBef>
                <a:spcAft>
                  <a:spcPts val="0"/>
                </a:spcAft>
                <a:buNone/>
              </a:pPr>
              <a:r>
                <a:rPr lang="en-US" sz="950">
                  <a:solidFill>
                    <a:srgbClr val="38BDF8"/>
                  </a:solidFill>
                  <a:latin typeface="JetBrains Mono"/>
                  <a:ea typeface="JetBrains Mono"/>
                  <a:cs typeface="JetBrains Mono"/>
                  <a:sym typeface="JetBrains Mono"/>
                </a:rPr>
                <a:t>&gt; Pull request created successfully!</a:t>
              </a:r>
              <a:endParaRPr sz="950">
                <a:solidFill>
                  <a:srgbClr val="38BDF8"/>
                </a:solidFill>
                <a:latin typeface="JetBrains Mono"/>
                <a:ea typeface="JetBrains Mono"/>
                <a:cs typeface="JetBrains Mono"/>
                <a:sym typeface="JetBrains Mon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pic>
        <p:nvPicPr>
          <p:cNvPr descr="image.png" id="128" name="Google Shape;128;p15"/>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29" name="Google Shape;129;p15"/>
          <p:cNvGrpSpPr/>
          <p:nvPr/>
        </p:nvGrpSpPr>
        <p:grpSpPr>
          <a:xfrm>
            <a:off x="762000" y="1428750"/>
            <a:ext cx="3238500" cy="4381500"/>
            <a:chOff x="0" y="0"/>
            <a:chExt cx="3238500" cy="4381500"/>
          </a:xfrm>
        </p:grpSpPr>
        <p:sp>
          <p:nvSpPr>
            <p:cNvPr id="130" name="Google Shape;130;p15"/>
            <p:cNvSpPr/>
            <p:nvPr/>
          </p:nvSpPr>
          <p:spPr>
            <a:xfrm>
              <a:off x="0" y="0"/>
              <a:ext cx="3238500" cy="4381500"/>
            </a:xfrm>
            <a:prstGeom prst="roundRect">
              <a:avLst>
                <a:gd fmla="val 470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5"/>
            <p:cNvSpPr/>
            <p:nvPr/>
          </p:nvSpPr>
          <p:spPr>
            <a:xfrm>
              <a:off x="0" y="0"/>
              <a:ext cx="57300" cy="4381500"/>
            </a:xfrm>
            <a:prstGeom prst="roundRect">
              <a:avLst>
                <a:gd fmla="val 50000" name="adj"/>
              </a:avLst>
            </a:pr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2" name="Google Shape;132;p15"/>
            <p:cNvGrpSpPr/>
            <p:nvPr/>
          </p:nvGrpSpPr>
          <p:grpSpPr>
            <a:xfrm>
              <a:off x="285750" y="285750"/>
              <a:ext cx="1524000" cy="266700"/>
              <a:chOff x="0" y="0"/>
              <a:chExt cx="1524000" cy="266700"/>
            </a:xfrm>
          </p:grpSpPr>
          <p:sp>
            <p:nvSpPr>
              <p:cNvPr id="133" name="Google Shape;133;p15"/>
              <p:cNvSpPr/>
              <p:nvPr/>
            </p:nvSpPr>
            <p:spPr>
              <a:xfrm>
                <a:off x="0" y="0"/>
                <a:ext cx="1524000" cy="266700"/>
              </a:xfrm>
              <a:prstGeom prst="roundRect">
                <a:avLst>
                  <a:gd fmla="val 50000" name="adj"/>
                </a:avLst>
              </a:prstGeom>
              <a:solidFill>
                <a:srgbClr val="FEE2E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5"/>
              <p:cNvSpPr txBox="1"/>
              <p:nvPr/>
            </p:nvSpPr>
            <p:spPr>
              <a:xfrm>
                <a:off x="0" y="0"/>
                <a:ext cx="1524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EF4444"/>
                    </a:solidFill>
                    <a:latin typeface="JetBrains Mono"/>
                    <a:ea typeface="JetBrains Mono"/>
                    <a:cs typeface="JetBrains Mono"/>
                    <a:sym typeface="JetBrains Mono"/>
                  </a:rPr>
                  <a:t>THE BACKLOG DRAIN</a:t>
                </a:r>
                <a:endParaRPr b="1" sz="850">
                  <a:solidFill>
                    <a:srgbClr val="EF4444"/>
                  </a:solidFill>
                  <a:latin typeface="JetBrains Mono"/>
                  <a:ea typeface="JetBrains Mono"/>
                  <a:cs typeface="JetBrains Mono"/>
                  <a:sym typeface="JetBrains Mono"/>
                </a:endParaRPr>
              </a:p>
            </p:txBody>
          </p:sp>
        </p:grpSp>
        <p:sp>
          <p:nvSpPr>
            <p:cNvPr id="135" name="Google Shape;135;p15"/>
            <p:cNvSpPr txBox="1"/>
            <p:nvPr/>
          </p:nvSpPr>
          <p:spPr>
            <a:xfrm>
              <a:off x="285750" y="762000"/>
              <a:ext cx="2667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EF4444"/>
                  </a:solidFill>
                  <a:latin typeface="Material Icons"/>
                  <a:ea typeface="Material Icons"/>
                  <a:cs typeface="Material Icons"/>
                  <a:sym typeface="Material Icons"/>
                </a:rPr>
                <a:t>warning</a:t>
              </a:r>
              <a:r>
                <a:rPr b="1" lang="en-US" sz="1200">
                  <a:solidFill>
                    <a:srgbClr val="0F172A"/>
                  </a:solidFill>
                  <a:latin typeface="Plus Jakarta Sans"/>
                  <a:ea typeface="Plus Jakarta Sans"/>
                  <a:cs typeface="Plus Jakarta Sans"/>
                  <a:sym typeface="Plus Jakarta Sans"/>
                </a:rPr>
                <a:t>The Problem</a:t>
              </a:r>
              <a:endParaRPr b="1" sz="12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Engineering backlogs grow faster than teams can clear them. Context-switching costs productivity.</a:t>
              </a:r>
              <a:endParaRPr b="0" sz="1050">
                <a:solidFill>
                  <a:srgbClr val="475569"/>
                </a:solidFill>
                <a:latin typeface="Plus Jakarta Sans"/>
                <a:ea typeface="Plus Jakarta Sans"/>
                <a:cs typeface="Plus Jakarta Sans"/>
                <a:sym typeface="Plus Jakarta Sans"/>
              </a:endParaRPr>
            </a:p>
            <a:p>
              <a:pPr indent="0" lvl="0" marL="0" rtl="0" algn="l">
                <a:spcBef>
                  <a:spcPts val="2250"/>
                </a:spcBef>
                <a:spcAft>
                  <a:spcPts val="0"/>
                </a:spcAft>
                <a:buNone/>
              </a:pPr>
              <a:r>
                <a:rPr b="1" lang="en-US" sz="1600">
                  <a:solidFill>
                    <a:srgbClr val="2563EB"/>
                  </a:solidFill>
                  <a:latin typeface="Material Icons"/>
                  <a:ea typeface="Material Icons"/>
                  <a:cs typeface="Material Icons"/>
                  <a:sym typeface="Material Icons"/>
                </a:rPr>
                <a:t>auto_awesome</a:t>
              </a:r>
              <a:r>
                <a:rPr b="1" lang="en-US" sz="1200">
                  <a:solidFill>
                    <a:srgbClr val="2563EB"/>
                  </a:solidFill>
                  <a:latin typeface="Plus Jakarta Sans"/>
                  <a:ea typeface="Plus Jakarta Sans"/>
                  <a:cs typeface="Plus Jakarta Sans"/>
                  <a:sym typeface="Plus Jakarta Sans"/>
                </a:rPr>
                <a:t>Devin's Solution</a:t>
              </a:r>
              <a:endParaRPr b="1" sz="1200">
                <a:solidFill>
                  <a:srgbClr val="2563EB"/>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Handles high-volume, repetitive, well-defined tasks in parallel so engineers focus on high-complexity work.</a:t>
              </a:r>
              <a:endParaRPr b="0" sz="1050">
                <a:solidFill>
                  <a:srgbClr val="475569"/>
                </a:solidFill>
                <a:latin typeface="Plus Jakarta Sans"/>
                <a:ea typeface="Plus Jakarta Sans"/>
                <a:cs typeface="Plus Jakarta Sans"/>
                <a:sym typeface="Plus Jakarta Sans"/>
              </a:endParaRPr>
            </a:p>
          </p:txBody>
        </p:sp>
      </p:grpSp>
      <p:grpSp>
        <p:nvGrpSpPr>
          <p:cNvPr id="136" name="Google Shape;136;p15"/>
          <p:cNvGrpSpPr/>
          <p:nvPr/>
        </p:nvGrpSpPr>
        <p:grpSpPr>
          <a:xfrm>
            <a:off x="4476750" y="1428750"/>
            <a:ext cx="3238500" cy="4381500"/>
            <a:chOff x="0" y="0"/>
            <a:chExt cx="3238500" cy="4381500"/>
          </a:xfrm>
        </p:grpSpPr>
        <p:sp>
          <p:nvSpPr>
            <p:cNvPr id="137" name="Google Shape;137;p15"/>
            <p:cNvSpPr/>
            <p:nvPr/>
          </p:nvSpPr>
          <p:spPr>
            <a:xfrm>
              <a:off x="0" y="0"/>
              <a:ext cx="3238500" cy="4381500"/>
            </a:xfrm>
            <a:prstGeom prst="roundRect">
              <a:avLst>
                <a:gd fmla="val 470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5"/>
            <p:cNvSpPr/>
            <p:nvPr/>
          </p:nvSpPr>
          <p:spPr>
            <a:xfrm>
              <a:off x="0" y="0"/>
              <a:ext cx="57300" cy="4381500"/>
            </a:xfrm>
            <a:prstGeom prst="roundRect">
              <a:avLst>
                <a:gd fmla="val 50000" name="adj"/>
              </a:avLst>
            </a:prstGeom>
            <a:solidFill>
              <a:srgbClr val="8B5C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9" name="Google Shape;139;p15"/>
            <p:cNvGrpSpPr/>
            <p:nvPr/>
          </p:nvGrpSpPr>
          <p:grpSpPr>
            <a:xfrm>
              <a:off x="285750" y="285750"/>
              <a:ext cx="1714500" cy="266700"/>
              <a:chOff x="0" y="0"/>
              <a:chExt cx="1714500" cy="266700"/>
            </a:xfrm>
          </p:grpSpPr>
          <p:sp>
            <p:nvSpPr>
              <p:cNvPr id="140" name="Google Shape;140;p15"/>
              <p:cNvSpPr/>
              <p:nvPr/>
            </p:nvSpPr>
            <p:spPr>
              <a:xfrm>
                <a:off x="0" y="0"/>
                <a:ext cx="1714500" cy="266700"/>
              </a:xfrm>
              <a:prstGeom prst="roundRect">
                <a:avLst>
                  <a:gd fmla="val 50000" name="adj"/>
                </a:avLst>
              </a:prstGeom>
              <a:solidFill>
                <a:srgbClr val="F5F3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5"/>
              <p:cNvSpPr txBox="1"/>
              <p:nvPr/>
            </p:nvSpPr>
            <p:spPr>
              <a:xfrm>
                <a:off x="0" y="0"/>
                <a:ext cx="17145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8B5CF6"/>
                    </a:solidFill>
                    <a:latin typeface="JetBrains Mono"/>
                    <a:ea typeface="JetBrains Mono"/>
                    <a:cs typeface="JetBrains Mono"/>
                    <a:sym typeface="JetBrains Mono"/>
                  </a:rPr>
                  <a:t>MODERNIZATION OVERHEAD</a:t>
                </a:r>
                <a:endParaRPr b="1" sz="850">
                  <a:solidFill>
                    <a:srgbClr val="8B5CF6"/>
                  </a:solidFill>
                  <a:latin typeface="JetBrains Mono"/>
                  <a:ea typeface="JetBrains Mono"/>
                  <a:cs typeface="JetBrains Mono"/>
                  <a:sym typeface="JetBrains Mono"/>
                </a:endParaRPr>
              </a:p>
            </p:txBody>
          </p:sp>
        </p:grpSp>
        <p:sp>
          <p:nvSpPr>
            <p:cNvPr id="142" name="Google Shape;142;p15"/>
            <p:cNvSpPr txBox="1"/>
            <p:nvPr/>
          </p:nvSpPr>
          <p:spPr>
            <a:xfrm>
              <a:off x="285750" y="762000"/>
              <a:ext cx="2667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8B5CF6"/>
                  </a:solidFill>
                  <a:latin typeface="Material Icons"/>
                  <a:ea typeface="Material Icons"/>
                  <a:cs typeface="Material Icons"/>
                  <a:sym typeface="Material Icons"/>
                </a:rPr>
                <a:t>trending_down</a:t>
              </a:r>
              <a:r>
                <a:rPr b="1" lang="en-US" sz="1200">
                  <a:solidFill>
                    <a:srgbClr val="0F172A"/>
                  </a:solidFill>
                  <a:latin typeface="Plus Jakarta Sans"/>
                  <a:ea typeface="Plus Jakarta Sans"/>
                  <a:cs typeface="Plus Jakarta Sans"/>
                  <a:sym typeface="Plus Jakarta Sans"/>
                </a:rPr>
                <a:t>The Problem</a:t>
              </a:r>
              <a:endParaRPr b="1" sz="12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Migrations, refactors, and updates are expensive. Onboarding to large codebases is slow.</a:t>
              </a:r>
              <a:endParaRPr b="0" sz="1050">
                <a:solidFill>
                  <a:srgbClr val="475569"/>
                </a:solidFill>
                <a:latin typeface="Plus Jakarta Sans"/>
                <a:ea typeface="Plus Jakarta Sans"/>
                <a:cs typeface="Plus Jakarta Sans"/>
                <a:sym typeface="Plus Jakarta Sans"/>
              </a:endParaRPr>
            </a:p>
            <a:p>
              <a:pPr indent="0" lvl="0" marL="0" rtl="0" algn="l">
                <a:spcBef>
                  <a:spcPts val="2250"/>
                </a:spcBef>
                <a:spcAft>
                  <a:spcPts val="0"/>
                </a:spcAft>
                <a:buNone/>
              </a:pPr>
              <a:r>
                <a:rPr b="1" lang="en-US" sz="1600">
                  <a:solidFill>
                    <a:srgbClr val="2563EB"/>
                  </a:solidFill>
                  <a:latin typeface="Material Icons"/>
                  <a:ea typeface="Material Icons"/>
                  <a:cs typeface="Material Icons"/>
                  <a:sym typeface="Material Icons"/>
                </a:rPr>
                <a:t>auto_awesome</a:t>
              </a:r>
              <a:r>
                <a:rPr b="1" lang="en-US" sz="1200">
                  <a:solidFill>
                    <a:srgbClr val="2563EB"/>
                  </a:solidFill>
                  <a:latin typeface="Plus Jakarta Sans"/>
                  <a:ea typeface="Plus Jakarta Sans"/>
                  <a:cs typeface="Plus Jakarta Sans"/>
                  <a:sym typeface="Plus Jakarta Sans"/>
                </a:rPr>
                <a:t>Devin's Solution</a:t>
              </a:r>
              <a:endParaRPr b="1" sz="1200">
                <a:solidFill>
                  <a:srgbClr val="2563EB"/>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Indexes repos and uses Knowledge to operate immediately, executing isolated, incremental slices at scale.</a:t>
              </a:r>
              <a:endParaRPr b="0" sz="1050">
                <a:solidFill>
                  <a:srgbClr val="475569"/>
                </a:solidFill>
                <a:latin typeface="Plus Jakarta Sans"/>
                <a:ea typeface="Plus Jakarta Sans"/>
                <a:cs typeface="Plus Jakarta Sans"/>
                <a:sym typeface="Plus Jakarta Sans"/>
              </a:endParaRPr>
            </a:p>
          </p:txBody>
        </p:sp>
      </p:grpSp>
      <p:grpSp>
        <p:nvGrpSpPr>
          <p:cNvPr id="143" name="Google Shape;143;p15"/>
          <p:cNvGrpSpPr/>
          <p:nvPr/>
        </p:nvGrpSpPr>
        <p:grpSpPr>
          <a:xfrm>
            <a:off x="8191500" y="1428750"/>
            <a:ext cx="3238500" cy="4381500"/>
            <a:chOff x="0" y="0"/>
            <a:chExt cx="3238500" cy="4381500"/>
          </a:xfrm>
        </p:grpSpPr>
        <p:sp>
          <p:nvSpPr>
            <p:cNvPr id="144" name="Google Shape;144;p15"/>
            <p:cNvSpPr/>
            <p:nvPr/>
          </p:nvSpPr>
          <p:spPr>
            <a:xfrm>
              <a:off x="0" y="0"/>
              <a:ext cx="3238500" cy="4381500"/>
            </a:xfrm>
            <a:prstGeom prst="roundRect">
              <a:avLst>
                <a:gd fmla="val 470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5"/>
            <p:cNvSpPr/>
            <p:nvPr/>
          </p:nvSpPr>
          <p:spPr>
            <a:xfrm>
              <a:off x="0" y="0"/>
              <a:ext cx="57300" cy="4381500"/>
            </a:xfrm>
            <a:prstGeom prst="roundRect">
              <a:avLst>
                <a:gd fmla="val 50000" name="adj"/>
              </a:avLst>
            </a:prstGeom>
            <a:solidFill>
              <a:srgbClr val="14B8A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6" name="Google Shape;146;p15"/>
            <p:cNvGrpSpPr/>
            <p:nvPr/>
          </p:nvGrpSpPr>
          <p:grpSpPr>
            <a:xfrm>
              <a:off x="285750" y="285750"/>
              <a:ext cx="1524000" cy="266700"/>
              <a:chOff x="0" y="0"/>
              <a:chExt cx="1524000" cy="266700"/>
            </a:xfrm>
          </p:grpSpPr>
          <p:sp>
            <p:nvSpPr>
              <p:cNvPr id="147" name="Google Shape;147;p15"/>
              <p:cNvSpPr/>
              <p:nvPr/>
            </p:nvSpPr>
            <p:spPr>
              <a:xfrm>
                <a:off x="0" y="0"/>
                <a:ext cx="1524000" cy="266700"/>
              </a:xfrm>
              <a:prstGeom prst="roundRect">
                <a:avLst>
                  <a:gd fmla="val 50000" name="adj"/>
                </a:avLst>
              </a:prstGeom>
              <a:solidFill>
                <a:srgbClr val="CCFB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5"/>
              <p:cNvSpPr txBox="1"/>
              <p:nvPr/>
            </p:nvSpPr>
            <p:spPr>
              <a:xfrm>
                <a:off x="0" y="0"/>
                <a:ext cx="1524000" cy="266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14B8A6"/>
                    </a:solidFill>
                    <a:latin typeface="JetBrains Mono"/>
                    <a:ea typeface="JetBrains Mono"/>
                    <a:cs typeface="JetBrains Mono"/>
                    <a:sym typeface="JetBrains Mono"/>
                  </a:rPr>
                  <a:t>REVIEW &amp; AUTOMATE</a:t>
                </a:r>
                <a:endParaRPr b="1" sz="850">
                  <a:solidFill>
                    <a:srgbClr val="14B8A6"/>
                  </a:solidFill>
                  <a:latin typeface="JetBrains Mono"/>
                  <a:ea typeface="JetBrains Mono"/>
                  <a:cs typeface="JetBrains Mono"/>
                  <a:sym typeface="JetBrains Mono"/>
                </a:endParaRPr>
              </a:p>
            </p:txBody>
          </p:sp>
        </p:grpSp>
        <p:sp>
          <p:nvSpPr>
            <p:cNvPr id="149" name="Google Shape;149;p15"/>
            <p:cNvSpPr txBox="1"/>
            <p:nvPr/>
          </p:nvSpPr>
          <p:spPr>
            <a:xfrm>
              <a:off x="285750" y="762000"/>
              <a:ext cx="2667000" cy="3333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4B8A6"/>
                  </a:solidFill>
                  <a:latin typeface="Material Icons"/>
                  <a:ea typeface="Material Icons"/>
                  <a:cs typeface="Material Icons"/>
                  <a:sym typeface="Material Icons"/>
                </a:rPr>
                <a:t>hourglass_empty</a:t>
              </a:r>
              <a:r>
                <a:rPr b="1" lang="en-US" sz="1200">
                  <a:solidFill>
                    <a:srgbClr val="0F172A"/>
                  </a:solidFill>
                  <a:latin typeface="Plus Jakarta Sans"/>
                  <a:ea typeface="Plus Jakarta Sans"/>
                  <a:cs typeface="Plus Jakarta Sans"/>
                  <a:sym typeface="Plus Jakarta Sans"/>
                </a:rPr>
                <a:t>The Problem</a:t>
              </a:r>
              <a:endParaRPr b="1" sz="1200">
                <a:solidFill>
                  <a:srgbClr val="0F172A"/>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Code review bottlenecks slow delivery. Repetitive workflows (CI fixes) consume senior time.</a:t>
              </a:r>
              <a:endParaRPr b="0" sz="1050">
                <a:solidFill>
                  <a:srgbClr val="475569"/>
                </a:solidFill>
                <a:latin typeface="Plus Jakarta Sans"/>
                <a:ea typeface="Plus Jakarta Sans"/>
                <a:cs typeface="Plus Jakarta Sans"/>
                <a:sym typeface="Plus Jakarta Sans"/>
              </a:endParaRPr>
            </a:p>
            <a:p>
              <a:pPr indent="0" lvl="0" marL="0" rtl="0" algn="l">
                <a:spcBef>
                  <a:spcPts val="2250"/>
                </a:spcBef>
                <a:spcAft>
                  <a:spcPts val="0"/>
                </a:spcAft>
                <a:buNone/>
              </a:pPr>
              <a:r>
                <a:rPr b="1" lang="en-US" sz="1600">
                  <a:solidFill>
                    <a:srgbClr val="2563EB"/>
                  </a:solidFill>
                  <a:latin typeface="Material Icons"/>
                  <a:ea typeface="Material Icons"/>
                  <a:cs typeface="Material Icons"/>
                  <a:sym typeface="Material Icons"/>
                </a:rPr>
                <a:t>auto_awesome</a:t>
              </a:r>
              <a:r>
                <a:rPr b="1" lang="en-US" sz="1200">
                  <a:solidFill>
                    <a:srgbClr val="2563EB"/>
                  </a:solidFill>
                  <a:latin typeface="Plus Jakarta Sans"/>
                  <a:ea typeface="Plus Jakarta Sans"/>
                  <a:cs typeface="Plus Jakarta Sans"/>
                  <a:sym typeface="Plus Jakarta Sans"/>
                </a:rPr>
                <a:t>Devin's Solution</a:t>
              </a:r>
              <a:endParaRPr b="1" sz="1200">
                <a:solidFill>
                  <a:srgbClr val="2563EB"/>
                </a:solidFill>
                <a:latin typeface="Plus Jakarta Sans"/>
                <a:ea typeface="Plus Jakarta Sans"/>
                <a:cs typeface="Plus Jakarta Sans"/>
                <a:sym typeface="Plus Jakarta Sans"/>
              </a:endParaRPr>
            </a:p>
            <a:p>
              <a:pPr indent="0" lvl="0" marL="0" rtl="0" algn="l">
                <a:spcBef>
                  <a:spcPts val="600"/>
                </a:spcBef>
                <a:spcAft>
                  <a:spcPts val="0"/>
                </a:spcAft>
                <a:buNone/>
              </a:pPr>
              <a:r>
                <a:rPr b="0" lang="en-US" sz="1050">
                  <a:solidFill>
                    <a:srgbClr val="475569"/>
                  </a:solidFill>
                  <a:latin typeface="Plus Jakarta Sans"/>
                  <a:ea typeface="Plus Jakarta Sans"/>
                  <a:cs typeface="Plus Jakarta Sans"/>
                  <a:sym typeface="Plus Jakarta Sans"/>
                </a:rPr>
                <a:t>Devin Review provides auto-PR scans, and Automations trigger Devin on events without human intervention.</a:t>
              </a:r>
              <a:endParaRPr b="0" sz="1050">
                <a:solidFill>
                  <a:srgbClr val="475569"/>
                </a:solidFill>
                <a:latin typeface="Plus Jakarta Sans"/>
                <a:ea typeface="Plus Jakarta Sans"/>
                <a:cs typeface="Plus Jakarta Sans"/>
                <a:sym typeface="Plus Jakarta Sans"/>
              </a:endParaRPr>
            </a:p>
          </p:txBody>
        </p:sp>
      </p:grpSp>
      <p:sp>
        <p:nvSpPr>
          <p:cNvPr id="150" name="Google Shape;150;p15"/>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The Strategic Need for Devin</a:t>
            </a:r>
            <a:endParaRPr/>
          </a:p>
        </p:txBody>
      </p:sp>
      <p:sp>
        <p:nvSpPr>
          <p:cNvPr id="151" name="Google Shape;151;p15"/>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pic>
        <p:nvPicPr>
          <p:cNvPr descr="image.png" id="156" name="Google Shape;156;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7" name="Google Shape;157;p16"/>
          <p:cNvPicPr preferRelativeResize="0"/>
          <p:nvPr/>
        </p:nvPicPr>
        <p:blipFill rotWithShape="1">
          <a:blip r:embed="rId4">
            <a:alphaModFix/>
          </a:blip>
          <a:srcRect b="0" l="0" r="0" t="0"/>
          <a:stretch/>
        </p:blipFill>
        <p:spPr>
          <a:xfrm>
            <a:off x="571500" y="2281237"/>
            <a:ext cx="5919787" cy="542925"/>
          </a:xfrm>
          <a:prstGeom prst="rect">
            <a:avLst/>
          </a:prstGeom>
          <a:noFill/>
          <a:ln>
            <a:noFill/>
          </a:ln>
        </p:spPr>
      </p:pic>
      <p:pic>
        <p:nvPicPr>
          <p:cNvPr descr="image.png" id="158" name="Google Shape;158;p16"/>
          <p:cNvPicPr preferRelativeResize="0"/>
          <p:nvPr/>
        </p:nvPicPr>
        <p:blipFill rotWithShape="1">
          <a:blip r:embed="rId5">
            <a:alphaModFix/>
          </a:blip>
          <a:srcRect b="0" l="0" r="0" t="0"/>
          <a:stretch/>
        </p:blipFill>
        <p:spPr>
          <a:xfrm>
            <a:off x="571500" y="3071812"/>
            <a:ext cx="5919787" cy="542925"/>
          </a:xfrm>
          <a:prstGeom prst="rect">
            <a:avLst/>
          </a:prstGeom>
          <a:noFill/>
          <a:ln>
            <a:noFill/>
          </a:ln>
        </p:spPr>
      </p:pic>
      <p:pic>
        <p:nvPicPr>
          <p:cNvPr descr="image.png" id="159" name="Google Shape;159;p16"/>
          <p:cNvPicPr preferRelativeResize="0"/>
          <p:nvPr/>
        </p:nvPicPr>
        <p:blipFill rotWithShape="1">
          <a:blip r:embed="rId6">
            <a:alphaModFix/>
          </a:blip>
          <a:srcRect b="0" l="0" r="0" t="0"/>
          <a:stretch/>
        </p:blipFill>
        <p:spPr>
          <a:xfrm>
            <a:off x="571500" y="3862387"/>
            <a:ext cx="5919787" cy="733425"/>
          </a:xfrm>
          <a:prstGeom prst="rect">
            <a:avLst/>
          </a:prstGeom>
          <a:noFill/>
          <a:ln>
            <a:noFill/>
          </a:ln>
        </p:spPr>
      </p:pic>
      <p:pic>
        <p:nvPicPr>
          <p:cNvPr descr="image.png" id="160" name="Google Shape;160;p16"/>
          <p:cNvPicPr preferRelativeResize="0"/>
          <p:nvPr/>
        </p:nvPicPr>
        <p:blipFill rotWithShape="1">
          <a:blip r:embed="rId7">
            <a:alphaModFix/>
          </a:blip>
          <a:srcRect b="0" l="0" r="0" t="0"/>
          <a:stretch/>
        </p:blipFill>
        <p:spPr>
          <a:xfrm>
            <a:off x="571500" y="4843462"/>
            <a:ext cx="5919787" cy="390525"/>
          </a:xfrm>
          <a:prstGeom prst="rect">
            <a:avLst/>
          </a:prstGeom>
          <a:noFill/>
          <a:ln>
            <a:noFill/>
          </a:ln>
        </p:spPr>
      </p:pic>
      <p:pic>
        <p:nvPicPr>
          <p:cNvPr descr="image.png" id="161" name="Google Shape;161;p16"/>
          <p:cNvPicPr preferRelativeResize="0"/>
          <p:nvPr/>
        </p:nvPicPr>
        <p:blipFill rotWithShape="1">
          <a:blip r:embed="rId8">
            <a:alphaModFix/>
          </a:blip>
          <a:srcRect b="0" l="0" r="0" t="0"/>
          <a:stretch/>
        </p:blipFill>
        <p:spPr>
          <a:xfrm>
            <a:off x="6777037" y="3042642"/>
            <a:ext cx="4843462" cy="1744265"/>
          </a:xfrm>
          <a:prstGeom prst="rect">
            <a:avLst/>
          </a:prstGeom>
          <a:noFill/>
          <a:ln>
            <a:noFill/>
          </a:ln>
        </p:spPr>
      </p:pic>
      <p:pic>
        <p:nvPicPr>
          <p:cNvPr descr="image.png" id="162" name="Google Shape;162;p16"/>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163" name="Google Shape;163;p16"/>
          <p:cNvSpPr txBox="1"/>
          <p:nvPr/>
        </p:nvSpPr>
        <p:spPr>
          <a:xfrm>
            <a:off x="6777037" y="2728317"/>
            <a:ext cx="508563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Core Architectural Principles</a:t>
            </a:r>
            <a:endParaRPr/>
          </a:p>
        </p:txBody>
      </p:sp>
      <p:sp>
        <p:nvSpPr>
          <p:cNvPr id="164" name="Google Shape;164;p16"/>
          <p:cNvSpPr txBox="1"/>
          <p:nvPr/>
        </p:nvSpPr>
        <p:spPr>
          <a:xfrm>
            <a:off x="723900" y="2386012"/>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2563EB"/>
                </a:solidFill>
                <a:latin typeface="JetBrains Mono"/>
                <a:ea typeface="JetBrains Mono"/>
                <a:cs typeface="JetBrains Mono"/>
                <a:sym typeface="JetBrains Mono"/>
              </a:rPr>
              <a:t>01. INTERACTION LAYER</a:t>
            </a:r>
            <a:endParaRPr/>
          </a:p>
        </p:txBody>
      </p:sp>
      <p:pic>
        <p:nvPicPr>
          <p:cNvPr descr="image.png" id="165" name="Google Shape;165;p16"/>
          <p:cNvPicPr preferRelativeResize="0"/>
          <p:nvPr/>
        </p:nvPicPr>
        <p:blipFill rotWithShape="1">
          <a:blip r:embed="rId10">
            <a:alphaModFix/>
          </a:blip>
          <a:srcRect b="0" l="0" r="0" t="0"/>
          <a:stretch/>
        </p:blipFill>
        <p:spPr>
          <a:xfrm>
            <a:off x="3488531" y="2890837"/>
            <a:ext cx="85725" cy="114300"/>
          </a:xfrm>
          <a:prstGeom prst="rect">
            <a:avLst/>
          </a:prstGeom>
          <a:noFill/>
          <a:ln>
            <a:noFill/>
          </a:ln>
        </p:spPr>
      </p:pic>
      <p:sp>
        <p:nvSpPr>
          <p:cNvPr id="166" name="Google Shape;166;p16"/>
          <p:cNvSpPr txBox="1"/>
          <p:nvPr/>
        </p:nvSpPr>
        <p:spPr>
          <a:xfrm>
            <a:off x="723900" y="3176587"/>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7C3AED"/>
                </a:solidFill>
                <a:latin typeface="JetBrains Mono"/>
                <a:ea typeface="JetBrains Mono"/>
                <a:cs typeface="JetBrains Mono"/>
                <a:sym typeface="JetBrains Mono"/>
              </a:rPr>
              <a:t>02. ORGANIZATIONAL MEMORY LAYER</a:t>
            </a:r>
            <a:endParaRPr/>
          </a:p>
        </p:txBody>
      </p:sp>
      <p:pic>
        <p:nvPicPr>
          <p:cNvPr descr="image.png" id="167" name="Google Shape;167;p16"/>
          <p:cNvPicPr preferRelativeResize="0"/>
          <p:nvPr/>
        </p:nvPicPr>
        <p:blipFill rotWithShape="1">
          <a:blip r:embed="rId10">
            <a:alphaModFix/>
          </a:blip>
          <a:srcRect b="0" l="0" r="0" t="0"/>
          <a:stretch/>
        </p:blipFill>
        <p:spPr>
          <a:xfrm>
            <a:off x="3488531" y="3681412"/>
            <a:ext cx="85725" cy="114300"/>
          </a:xfrm>
          <a:prstGeom prst="rect">
            <a:avLst/>
          </a:prstGeom>
          <a:noFill/>
          <a:ln>
            <a:noFill/>
          </a:ln>
        </p:spPr>
      </p:pic>
      <p:sp>
        <p:nvSpPr>
          <p:cNvPr id="168" name="Google Shape;168;p16"/>
          <p:cNvSpPr txBox="1"/>
          <p:nvPr/>
        </p:nvSpPr>
        <p:spPr>
          <a:xfrm>
            <a:off x="723900" y="3967162"/>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50" u="none" cap="none" strike="noStrike">
                <a:solidFill>
                  <a:srgbClr val="0D9488"/>
                </a:solidFill>
                <a:latin typeface="JetBrains Mono"/>
                <a:ea typeface="JetBrains Mono"/>
                <a:cs typeface="JetBrains Mono"/>
                <a:sym typeface="JetBrains Mono"/>
              </a:rPr>
              <a:t>03. ENVIRONMENT &amp; INTEGRATION LAYERS</a:t>
            </a:r>
            <a:endParaRPr/>
          </a:p>
        </p:txBody>
      </p:sp>
      <p:pic>
        <p:nvPicPr>
          <p:cNvPr descr="image.png" id="169" name="Google Shape;169;p16"/>
          <p:cNvPicPr preferRelativeResize="0"/>
          <p:nvPr/>
        </p:nvPicPr>
        <p:blipFill rotWithShape="1">
          <a:blip r:embed="rId10">
            <a:alphaModFix/>
          </a:blip>
          <a:srcRect b="0" l="0" r="0" t="0"/>
          <a:stretch/>
        </p:blipFill>
        <p:spPr>
          <a:xfrm>
            <a:off x="3488531" y="4662487"/>
            <a:ext cx="85725" cy="114300"/>
          </a:xfrm>
          <a:prstGeom prst="rect">
            <a:avLst/>
          </a:prstGeom>
          <a:noFill/>
          <a:ln>
            <a:noFill/>
          </a:ln>
        </p:spPr>
      </p:pic>
      <p:sp>
        <p:nvSpPr>
          <p:cNvPr id="170" name="Google Shape;170;p16"/>
          <p:cNvSpPr txBox="1"/>
          <p:nvPr/>
        </p:nvSpPr>
        <p:spPr>
          <a:xfrm>
            <a:off x="723900" y="4929187"/>
            <a:ext cx="5614987" cy="952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75" u="none" cap="none" strike="noStrike">
                <a:solidFill>
                  <a:srgbClr val="475569"/>
                </a:solidFill>
                <a:latin typeface="JetBrains Mono"/>
                <a:ea typeface="JetBrains Mono"/>
                <a:cs typeface="JetBrains Mono"/>
                <a:sym typeface="JetBrains Mono"/>
              </a:rPr>
              <a:t>04. ENTERPRISE GOVERNANCE LAYER</a:t>
            </a:r>
            <a:endParaRPr/>
          </a:p>
        </p:txBody>
      </p:sp>
      <p:sp>
        <p:nvSpPr>
          <p:cNvPr id="171" name="Google Shape;171;p16"/>
          <p:cNvSpPr txBox="1"/>
          <p:nvPr/>
        </p:nvSpPr>
        <p:spPr>
          <a:xfrm>
            <a:off x="723900" y="5043487"/>
            <a:ext cx="5614987" cy="1047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RBAC • SSO/IdP Group Mapping • ACU Budgets • IP Access Lists • Audit Trails</a:t>
            </a:r>
            <a:endParaRPr/>
          </a:p>
        </p:txBody>
      </p:sp>
      <p:sp>
        <p:nvSpPr>
          <p:cNvPr id="172" name="Google Shape;172;p16"/>
          <p:cNvSpPr txBox="1"/>
          <p:nvPr/>
        </p:nvSpPr>
        <p:spPr>
          <a:xfrm>
            <a:off x="6958012" y="3166467"/>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1. Isolation</a:t>
            </a:r>
            <a:r>
              <a:rPr b="0" i="0" lang="en-US" sz="900" u="none" cap="none" strike="noStrike">
                <a:solidFill>
                  <a:srgbClr val="475569"/>
                </a:solidFill>
                <a:latin typeface="Plus Jakarta Sans"/>
                <a:ea typeface="Plus Jakarta Sans"/>
                <a:cs typeface="Plus Jakarta Sans"/>
                <a:sym typeface="Plus Jakarta Sans"/>
              </a:rPr>
              <a:t> — Every session boots from a clean snapshot; changes don't persist back to base images.</a:t>
            </a:r>
            <a:endParaRPr/>
          </a:p>
        </p:txBody>
      </p:sp>
      <p:sp>
        <p:nvSpPr>
          <p:cNvPr id="173" name="Google Shape;173;p16"/>
          <p:cNvSpPr txBox="1"/>
          <p:nvPr/>
        </p:nvSpPr>
        <p:spPr>
          <a:xfrm>
            <a:off x="6958012" y="3554908"/>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2. Layered Memory</a:t>
            </a:r>
            <a:r>
              <a:rPr b="0" i="0" lang="en-US" sz="900" u="none" cap="none" strike="noStrike">
                <a:solidFill>
                  <a:srgbClr val="475569"/>
                </a:solidFill>
                <a:latin typeface="Plus Jakarta Sans"/>
                <a:ea typeface="Plus Jakarta Sans"/>
                <a:cs typeface="Plus Jakarta Sans"/>
                <a:sym typeface="Plus Jakarta Sans"/>
              </a:rPr>
              <a:t> — Knowledge, Skills, and Playbooks provide persistent organizational context over time.</a:t>
            </a:r>
            <a:endParaRPr/>
          </a:p>
        </p:txBody>
      </p:sp>
      <p:sp>
        <p:nvSpPr>
          <p:cNvPr id="174" name="Google Shape;174;p16"/>
          <p:cNvSpPr txBox="1"/>
          <p:nvPr/>
        </p:nvSpPr>
        <p:spPr>
          <a:xfrm>
            <a:off x="6958012" y="3943350"/>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3. Event-driven Flow</a:t>
            </a:r>
            <a:r>
              <a:rPr b="0" i="0" lang="en-US" sz="900" u="none" cap="none" strike="noStrike">
                <a:solidFill>
                  <a:srgbClr val="475569"/>
                </a:solidFill>
                <a:latin typeface="Plus Jakarta Sans"/>
                <a:ea typeface="Plus Jakarta Sans"/>
                <a:cs typeface="Plus Jakarta Sans"/>
                <a:sym typeface="Plus Jakarta Sans"/>
              </a:rPr>
              <a:t> — Automations seamlessly bind external check failures or triggers to live sessions.</a:t>
            </a:r>
            <a:endParaRPr/>
          </a:p>
        </p:txBody>
      </p:sp>
      <p:sp>
        <p:nvSpPr>
          <p:cNvPr id="175" name="Google Shape;175;p16"/>
          <p:cNvSpPr txBox="1"/>
          <p:nvPr/>
        </p:nvSpPr>
        <p:spPr>
          <a:xfrm>
            <a:off x="6958012" y="4331791"/>
            <a:ext cx="4481512" cy="331291"/>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4. Hierarchical Governance</a:t>
            </a:r>
            <a:r>
              <a:rPr b="0" i="0" lang="en-US" sz="900" u="none" cap="none" strike="noStrike">
                <a:solidFill>
                  <a:srgbClr val="475569"/>
                </a:solidFill>
                <a:latin typeface="Plus Jakarta Sans"/>
                <a:ea typeface="Plus Jakarta Sans"/>
                <a:cs typeface="Plus Jakarta Sans"/>
                <a:sym typeface="Plus Jakarta Sans"/>
              </a:rPr>
              <a:t> — Structured additive layers: Enterprise → Organization → Repository blueprints.</a:t>
            </a:r>
            <a:endParaRPr/>
          </a:p>
        </p:txBody>
      </p:sp>
      <p:pic>
        <p:nvPicPr>
          <p:cNvPr descr="image.png" id="176" name="Google Shape;176;p16"/>
          <p:cNvPicPr preferRelativeResize="0"/>
          <p:nvPr/>
        </p:nvPicPr>
        <p:blipFill rotWithShape="1">
          <a:blip r:embed="rId11">
            <a:alphaModFix/>
          </a:blip>
          <a:srcRect b="0" l="0" r="0" t="0"/>
          <a:stretch/>
        </p:blipFill>
        <p:spPr>
          <a:xfrm>
            <a:off x="1417290" y="2528887"/>
            <a:ext cx="1314598" cy="190500"/>
          </a:xfrm>
          <a:prstGeom prst="rect">
            <a:avLst/>
          </a:prstGeom>
          <a:noFill/>
          <a:ln>
            <a:noFill/>
          </a:ln>
        </p:spPr>
      </p:pic>
      <p:pic>
        <p:nvPicPr>
          <p:cNvPr descr="image.png" id="177" name="Google Shape;177;p16"/>
          <p:cNvPicPr preferRelativeResize="0"/>
          <p:nvPr/>
        </p:nvPicPr>
        <p:blipFill rotWithShape="1">
          <a:blip r:embed="rId12">
            <a:alphaModFix/>
          </a:blip>
          <a:srcRect b="0" l="0" r="0" t="0"/>
          <a:stretch/>
        </p:blipFill>
        <p:spPr>
          <a:xfrm>
            <a:off x="2808089" y="2528887"/>
            <a:ext cx="1213544" cy="190500"/>
          </a:xfrm>
          <a:prstGeom prst="rect">
            <a:avLst/>
          </a:prstGeom>
          <a:noFill/>
          <a:ln>
            <a:noFill/>
          </a:ln>
        </p:spPr>
      </p:pic>
      <p:pic>
        <p:nvPicPr>
          <p:cNvPr descr="image.png" id="178" name="Google Shape;178;p16"/>
          <p:cNvPicPr preferRelativeResize="0"/>
          <p:nvPr/>
        </p:nvPicPr>
        <p:blipFill rotWithShape="1">
          <a:blip r:embed="rId13">
            <a:alphaModFix/>
          </a:blip>
          <a:srcRect b="0" l="0" r="0" t="0"/>
          <a:stretch/>
        </p:blipFill>
        <p:spPr>
          <a:xfrm>
            <a:off x="4097833" y="2528887"/>
            <a:ext cx="1547663" cy="190500"/>
          </a:xfrm>
          <a:prstGeom prst="rect">
            <a:avLst/>
          </a:prstGeom>
          <a:noFill/>
          <a:ln>
            <a:noFill/>
          </a:ln>
        </p:spPr>
      </p:pic>
      <p:pic>
        <p:nvPicPr>
          <p:cNvPr descr="image.png" id="179" name="Google Shape;179;p16"/>
          <p:cNvPicPr preferRelativeResize="0"/>
          <p:nvPr/>
        </p:nvPicPr>
        <p:blipFill rotWithShape="1">
          <a:blip r:embed="rId14">
            <a:alphaModFix/>
          </a:blip>
          <a:srcRect b="0" l="0" r="0" t="0"/>
          <a:stretch/>
        </p:blipFill>
        <p:spPr>
          <a:xfrm>
            <a:off x="2075557" y="3319462"/>
            <a:ext cx="730299" cy="190500"/>
          </a:xfrm>
          <a:prstGeom prst="rect">
            <a:avLst/>
          </a:prstGeom>
          <a:noFill/>
          <a:ln>
            <a:noFill/>
          </a:ln>
        </p:spPr>
      </p:pic>
      <p:pic>
        <p:nvPicPr>
          <p:cNvPr descr="image.png" id="180" name="Google Shape;180;p16"/>
          <p:cNvPicPr preferRelativeResize="0"/>
          <p:nvPr/>
        </p:nvPicPr>
        <p:blipFill rotWithShape="1">
          <a:blip r:embed="rId15">
            <a:alphaModFix/>
          </a:blip>
          <a:srcRect b="0" l="0" r="0" t="0"/>
          <a:stretch/>
        </p:blipFill>
        <p:spPr>
          <a:xfrm>
            <a:off x="2882056" y="3319462"/>
            <a:ext cx="445293" cy="190500"/>
          </a:xfrm>
          <a:prstGeom prst="rect">
            <a:avLst/>
          </a:prstGeom>
          <a:noFill/>
          <a:ln>
            <a:noFill/>
          </a:ln>
        </p:spPr>
      </p:pic>
      <p:pic>
        <p:nvPicPr>
          <p:cNvPr descr="image.png" id="181" name="Google Shape;181;p16"/>
          <p:cNvPicPr preferRelativeResize="0"/>
          <p:nvPr/>
        </p:nvPicPr>
        <p:blipFill rotWithShape="1">
          <a:blip r:embed="rId16">
            <a:alphaModFix/>
          </a:blip>
          <a:srcRect b="0" l="0" r="0" t="0"/>
          <a:stretch/>
        </p:blipFill>
        <p:spPr>
          <a:xfrm>
            <a:off x="3403550" y="3319462"/>
            <a:ext cx="695622" cy="190500"/>
          </a:xfrm>
          <a:prstGeom prst="rect">
            <a:avLst/>
          </a:prstGeom>
          <a:noFill/>
          <a:ln>
            <a:noFill/>
          </a:ln>
        </p:spPr>
      </p:pic>
      <p:pic>
        <p:nvPicPr>
          <p:cNvPr descr="image.png" id="182" name="Google Shape;182;p16"/>
          <p:cNvPicPr preferRelativeResize="0"/>
          <p:nvPr/>
        </p:nvPicPr>
        <p:blipFill rotWithShape="1">
          <a:blip r:embed="rId17">
            <a:alphaModFix/>
          </a:blip>
          <a:srcRect b="0" l="0" r="0" t="0"/>
          <a:stretch/>
        </p:blipFill>
        <p:spPr>
          <a:xfrm>
            <a:off x="4175373" y="3319462"/>
            <a:ext cx="811857" cy="190500"/>
          </a:xfrm>
          <a:prstGeom prst="rect">
            <a:avLst/>
          </a:prstGeom>
          <a:noFill/>
          <a:ln>
            <a:noFill/>
          </a:ln>
        </p:spPr>
      </p:pic>
      <p:pic>
        <p:nvPicPr>
          <p:cNvPr descr="image.png" id="183" name="Google Shape;183;p16"/>
          <p:cNvPicPr preferRelativeResize="0"/>
          <p:nvPr/>
        </p:nvPicPr>
        <p:blipFill rotWithShape="1">
          <a:blip r:embed="rId18">
            <a:alphaModFix/>
          </a:blip>
          <a:srcRect b="0" l="0" r="0" t="0"/>
          <a:stretch/>
        </p:blipFill>
        <p:spPr>
          <a:xfrm>
            <a:off x="2133748" y="4110037"/>
            <a:ext cx="835074" cy="190500"/>
          </a:xfrm>
          <a:prstGeom prst="rect">
            <a:avLst/>
          </a:prstGeom>
          <a:noFill/>
          <a:ln>
            <a:noFill/>
          </a:ln>
        </p:spPr>
      </p:pic>
      <p:pic>
        <p:nvPicPr>
          <p:cNvPr descr="image.png" id="184" name="Google Shape;184;p16"/>
          <p:cNvPicPr preferRelativeResize="0"/>
          <p:nvPr/>
        </p:nvPicPr>
        <p:blipFill rotWithShape="1">
          <a:blip r:embed="rId19">
            <a:alphaModFix/>
          </a:blip>
          <a:srcRect b="0" l="0" r="0" t="0"/>
          <a:stretch/>
        </p:blipFill>
        <p:spPr>
          <a:xfrm>
            <a:off x="3045023" y="4110037"/>
            <a:ext cx="491728" cy="190500"/>
          </a:xfrm>
          <a:prstGeom prst="rect">
            <a:avLst/>
          </a:prstGeom>
          <a:noFill/>
          <a:ln>
            <a:noFill/>
          </a:ln>
        </p:spPr>
      </p:pic>
      <p:pic>
        <p:nvPicPr>
          <p:cNvPr descr="image.png" id="185" name="Google Shape;185;p16"/>
          <p:cNvPicPr preferRelativeResize="0"/>
          <p:nvPr/>
        </p:nvPicPr>
        <p:blipFill rotWithShape="1">
          <a:blip r:embed="rId20">
            <a:alphaModFix/>
          </a:blip>
          <a:srcRect b="0" l="0" r="0" t="0"/>
          <a:stretch/>
        </p:blipFill>
        <p:spPr>
          <a:xfrm>
            <a:off x="3612951" y="4110037"/>
            <a:ext cx="550217" cy="190500"/>
          </a:xfrm>
          <a:prstGeom prst="rect">
            <a:avLst/>
          </a:prstGeom>
          <a:noFill/>
          <a:ln>
            <a:noFill/>
          </a:ln>
        </p:spPr>
      </p:pic>
      <p:pic>
        <p:nvPicPr>
          <p:cNvPr descr="image.png" id="186" name="Google Shape;186;p16"/>
          <p:cNvPicPr preferRelativeResize="0"/>
          <p:nvPr/>
        </p:nvPicPr>
        <p:blipFill rotWithShape="1">
          <a:blip r:embed="rId21">
            <a:alphaModFix/>
          </a:blip>
          <a:srcRect b="0" l="0" r="0" t="0"/>
          <a:stretch/>
        </p:blipFill>
        <p:spPr>
          <a:xfrm>
            <a:off x="4239369" y="4110037"/>
            <a:ext cx="689669" cy="190500"/>
          </a:xfrm>
          <a:prstGeom prst="rect">
            <a:avLst/>
          </a:prstGeom>
          <a:noFill/>
          <a:ln>
            <a:noFill/>
          </a:ln>
        </p:spPr>
      </p:pic>
      <p:pic>
        <p:nvPicPr>
          <p:cNvPr descr="image.png" id="187" name="Google Shape;187;p16"/>
          <p:cNvPicPr preferRelativeResize="0"/>
          <p:nvPr/>
        </p:nvPicPr>
        <p:blipFill rotWithShape="1">
          <a:blip r:embed="rId22">
            <a:alphaModFix/>
          </a:blip>
          <a:srcRect b="0" l="0" r="0" t="0"/>
          <a:stretch/>
        </p:blipFill>
        <p:spPr>
          <a:xfrm>
            <a:off x="2367111" y="4348162"/>
            <a:ext cx="410765" cy="142875"/>
          </a:xfrm>
          <a:prstGeom prst="rect">
            <a:avLst/>
          </a:prstGeom>
          <a:noFill/>
          <a:ln>
            <a:noFill/>
          </a:ln>
        </p:spPr>
      </p:pic>
      <p:pic>
        <p:nvPicPr>
          <p:cNvPr descr="image.png" id="188" name="Google Shape;188;p16"/>
          <p:cNvPicPr preferRelativeResize="0"/>
          <p:nvPr/>
        </p:nvPicPr>
        <p:blipFill rotWithShape="1">
          <a:blip r:embed="rId23">
            <a:alphaModFix/>
          </a:blip>
          <a:srcRect b="0" l="0" r="0" t="0"/>
          <a:stretch/>
        </p:blipFill>
        <p:spPr>
          <a:xfrm>
            <a:off x="2835026" y="4348162"/>
            <a:ext cx="394989" cy="142875"/>
          </a:xfrm>
          <a:prstGeom prst="rect">
            <a:avLst/>
          </a:prstGeom>
          <a:noFill/>
          <a:ln>
            <a:noFill/>
          </a:ln>
        </p:spPr>
      </p:pic>
      <p:pic>
        <p:nvPicPr>
          <p:cNvPr descr="image.png" id="189" name="Google Shape;189;p16"/>
          <p:cNvPicPr preferRelativeResize="0"/>
          <p:nvPr/>
        </p:nvPicPr>
        <p:blipFill rotWithShape="1">
          <a:blip r:embed="rId24">
            <a:alphaModFix/>
          </a:blip>
          <a:srcRect b="0" l="0" r="0" t="0"/>
          <a:stretch/>
        </p:blipFill>
        <p:spPr>
          <a:xfrm>
            <a:off x="3287166" y="4348162"/>
            <a:ext cx="347216" cy="142875"/>
          </a:xfrm>
          <a:prstGeom prst="rect">
            <a:avLst/>
          </a:prstGeom>
          <a:noFill/>
          <a:ln>
            <a:noFill/>
          </a:ln>
        </p:spPr>
      </p:pic>
      <p:pic>
        <p:nvPicPr>
          <p:cNvPr descr="image.png" id="190" name="Google Shape;190;p16"/>
          <p:cNvPicPr preferRelativeResize="0"/>
          <p:nvPr/>
        </p:nvPicPr>
        <p:blipFill rotWithShape="1">
          <a:blip r:embed="rId25">
            <a:alphaModFix/>
          </a:blip>
          <a:srcRect b="0" l="0" r="0" t="0"/>
          <a:stretch/>
        </p:blipFill>
        <p:spPr>
          <a:xfrm>
            <a:off x="3691532" y="4348162"/>
            <a:ext cx="267890" cy="142875"/>
          </a:xfrm>
          <a:prstGeom prst="rect">
            <a:avLst/>
          </a:prstGeom>
          <a:noFill/>
          <a:ln>
            <a:noFill/>
          </a:ln>
        </p:spPr>
      </p:pic>
      <p:pic>
        <p:nvPicPr>
          <p:cNvPr descr="image.png" id="191" name="Google Shape;191;p16"/>
          <p:cNvPicPr preferRelativeResize="0"/>
          <p:nvPr/>
        </p:nvPicPr>
        <p:blipFill rotWithShape="1">
          <a:blip r:embed="rId26">
            <a:alphaModFix/>
          </a:blip>
          <a:srcRect b="0" l="0" r="0" t="0"/>
          <a:stretch/>
        </p:blipFill>
        <p:spPr>
          <a:xfrm>
            <a:off x="4016573" y="4348162"/>
            <a:ext cx="678953" cy="142875"/>
          </a:xfrm>
          <a:prstGeom prst="rect">
            <a:avLst/>
          </a:prstGeom>
          <a:noFill/>
          <a:ln>
            <a:noFill/>
          </a:ln>
        </p:spPr>
      </p:pic>
      <p:sp>
        <p:nvSpPr>
          <p:cNvPr id="192" name="Google Shape;192;p16"/>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High-Level Architecture Blueprint</a:t>
            </a:r>
            <a:endParaRPr/>
          </a:p>
        </p:txBody>
      </p:sp>
      <p:sp>
        <p:nvSpPr>
          <p:cNvPr id="193" name="Google Shape;193;p16"/>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pic>
        <p:nvPicPr>
          <p:cNvPr descr="image.png" id="198" name="Google Shape;198;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9" name="Google Shape;199;p17"/>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The Devin Workflow Horizon</a:t>
            </a:r>
            <a:endParaRPr/>
          </a:p>
        </p:txBody>
      </p:sp>
      <p:grpSp>
        <p:nvGrpSpPr>
          <p:cNvPr id="200" name="Google Shape;200;p17"/>
          <p:cNvGrpSpPr/>
          <p:nvPr/>
        </p:nvGrpSpPr>
        <p:grpSpPr>
          <a:xfrm>
            <a:off x="571500" y="1238250"/>
            <a:ext cx="2476500" cy="2857500"/>
            <a:chOff x="0" y="0"/>
            <a:chExt cx="2476500" cy="2857500"/>
          </a:xfrm>
        </p:grpSpPr>
        <p:sp>
          <p:nvSpPr>
            <p:cNvPr id="201" name="Google Shape;201;p17"/>
            <p:cNvSpPr/>
            <p:nvPr/>
          </p:nvSpPr>
          <p:spPr>
            <a:xfrm>
              <a:off x="0" y="0"/>
              <a:ext cx="2476500" cy="2857500"/>
            </a:xfrm>
            <a:prstGeom prst="roundRect">
              <a:avLst>
                <a:gd fmla="val 4615"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7"/>
            <p:cNvSpPr/>
            <p:nvPr/>
          </p:nvSpPr>
          <p:spPr>
            <a:xfrm>
              <a:off x="0" y="0"/>
              <a:ext cx="57300" cy="2857500"/>
            </a:xfrm>
            <a:prstGeom prst="roundRect">
              <a:avLst>
                <a:gd fmla="val 50000" name="adj"/>
              </a:avLst>
            </a:prstGeom>
            <a:solidFill>
              <a:srgbClr val="64748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3" name="Google Shape;203;p17"/>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475569"/>
                  </a:solidFill>
                  <a:latin typeface="Plus Jakarta Sans"/>
                  <a:ea typeface="Plus Jakarta Sans"/>
                  <a:cs typeface="Plus Jakarta Sans"/>
                  <a:sym typeface="Plus Jakarta Sans"/>
                </a:rPr>
                <a:t>ENGINEER / SYSTEM</a:t>
              </a:r>
              <a:endParaRPr b="1" sz="1050">
                <a:solidFill>
                  <a:srgbClr val="475569"/>
                </a:solidFill>
                <a:latin typeface="Plus Jakarta Sans"/>
                <a:ea typeface="Plus Jakarta Sans"/>
                <a:cs typeface="Plus Jakarta Sans"/>
                <a:sym typeface="Plus Jakarta Sans"/>
              </a:endParaRPr>
            </a:p>
          </p:txBody>
        </p:sp>
        <p:grpSp>
          <p:nvGrpSpPr>
            <p:cNvPr id="204" name="Google Shape;204;p17"/>
            <p:cNvGrpSpPr/>
            <p:nvPr/>
          </p:nvGrpSpPr>
          <p:grpSpPr>
            <a:xfrm>
              <a:off x="190500" y="666750"/>
              <a:ext cx="2095500" cy="571500"/>
              <a:chOff x="0" y="0"/>
              <a:chExt cx="2095500" cy="571500"/>
            </a:xfrm>
          </p:grpSpPr>
          <p:sp>
            <p:nvSpPr>
              <p:cNvPr id="205" name="Google Shape;205;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64748B"/>
                    </a:solidFill>
                    <a:latin typeface="Material Icons"/>
                    <a:ea typeface="Material Icons"/>
                    <a:cs typeface="Material Icons"/>
                    <a:sym typeface="Material Icons"/>
                  </a:rPr>
                  <a:t>play_circle</a:t>
                </a:r>
                <a:endParaRPr sz="2000">
                  <a:solidFill>
                    <a:srgbClr val="64748B"/>
                  </a:solidFill>
                  <a:latin typeface="Material Icons"/>
                  <a:ea typeface="Material Icons"/>
                  <a:cs typeface="Material Icons"/>
                  <a:sym typeface="Material Icons"/>
                </a:endParaRPr>
              </a:p>
            </p:txBody>
          </p:sp>
          <p:sp>
            <p:nvSpPr>
              <p:cNvPr id="206" name="Google Shape;206;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Task / Question triggers flow</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07" name="Google Shape;207;p17"/>
            <p:cNvGrpSpPr/>
            <p:nvPr/>
          </p:nvGrpSpPr>
          <p:grpSpPr>
            <a:xfrm>
              <a:off x="190500" y="1524000"/>
              <a:ext cx="2095500" cy="571500"/>
              <a:chOff x="0" y="0"/>
              <a:chExt cx="2095500" cy="571500"/>
            </a:xfrm>
          </p:grpSpPr>
          <p:sp>
            <p:nvSpPr>
              <p:cNvPr id="208" name="Google Shape;208;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64748B"/>
                    </a:solidFill>
                    <a:latin typeface="Material Icons"/>
                    <a:ea typeface="Material Icons"/>
                    <a:cs typeface="Material Icons"/>
                    <a:sym typeface="Material Icons"/>
                  </a:rPr>
                  <a:t>launch</a:t>
                </a:r>
                <a:endParaRPr sz="2000">
                  <a:solidFill>
                    <a:srgbClr val="64748B"/>
                  </a:solidFill>
                  <a:latin typeface="Material Icons"/>
                  <a:ea typeface="Material Icons"/>
                  <a:cs typeface="Material Icons"/>
                  <a:sym typeface="Material Icons"/>
                </a:endParaRPr>
              </a:p>
            </p:txBody>
          </p:sp>
          <p:sp>
            <p:nvSpPr>
              <p:cNvPr id="209" name="Google Shape;209;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Issues Start Session action</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10" name="Google Shape;210;p17"/>
          <p:cNvGrpSpPr/>
          <p:nvPr/>
        </p:nvGrpSpPr>
        <p:grpSpPr>
          <a:xfrm>
            <a:off x="3429000" y="1238250"/>
            <a:ext cx="2476500" cy="2857500"/>
            <a:chOff x="0" y="0"/>
            <a:chExt cx="2476500" cy="2857500"/>
          </a:xfrm>
        </p:grpSpPr>
        <p:sp>
          <p:nvSpPr>
            <p:cNvPr id="211" name="Google Shape;211;p17"/>
            <p:cNvSpPr/>
            <p:nvPr/>
          </p:nvSpPr>
          <p:spPr>
            <a:xfrm>
              <a:off x="0" y="0"/>
              <a:ext cx="2476500" cy="2857500"/>
            </a:xfrm>
            <a:prstGeom prst="roundRect">
              <a:avLst>
                <a:gd fmla="val 4615" name="adj"/>
              </a:avLst>
            </a:prstGeom>
            <a:solidFill>
              <a:srgbClr val="EFF6FF"/>
            </a:solidFill>
            <a:ln cap="flat" cmpd="sng" w="14300">
              <a:solidFill>
                <a:srgbClr val="DBEA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7"/>
            <p:cNvSpPr/>
            <p:nvPr/>
          </p:nvSpPr>
          <p:spPr>
            <a:xfrm>
              <a:off x="0" y="0"/>
              <a:ext cx="57300" cy="28575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7"/>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1D4ED8"/>
                  </a:solidFill>
                  <a:latin typeface="Plus Jakarta Sans"/>
                  <a:ea typeface="Plus Jakarta Sans"/>
                  <a:cs typeface="Plus Jakarta Sans"/>
                  <a:sym typeface="Plus Jakarta Sans"/>
                </a:rPr>
                <a:t>ASK DEVIN (Q&amp;A)</a:t>
              </a:r>
              <a:endParaRPr b="1" sz="1050">
                <a:solidFill>
                  <a:srgbClr val="1D4ED8"/>
                </a:solidFill>
                <a:latin typeface="Plus Jakarta Sans"/>
                <a:ea typeface="Plus Jakarta Sans"/>
                <a:cs typeface="Plus Jakarta Sans"/>
                <a:sym typeface="Plus Jakarta Sans"/>
              </a:endParaRPr>
            </a:p>
          </p:txBody>
        </p:sp>
        <p:grpSp>
          <p:nvGrpSpPr>
            <p:cNvPr id="214" name="Google Shape;214;p17"/>
            <p:cNvGrpSpPr/>
            <p:nvPr/>
          </p:nvGrpSpPr>
          <p:grpSpPr>
            <a:xfrm>
              <a:off x="190500" y="666750"/>
              <a:ext cx="2095500" cy="571500"/>
              <a:chOff x="0" y="0"/>
              <a:chExt cx="2095500" cy="571500"/>
            </a:xfrm>
          </p:grpSpPr>
          <p:sp>
            <p:nvSpPr>
              <p:cNvPr id="215" name="Google Shape;215;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search</a:t>
                </a:r>
                <a:endParaRPr sz="2000">
                  <a:solidFill>
                    <a:srgbClr val="2563EB"/>
                  </a:solidFill>
                  <a:latin typeface="Material Icons"/>
                  <a:ea typeface="Material Icons"/>
                  <a:cs typeface="Material Icons"/>
                  <a:sym typeface="Material Icons"/>
                </a:endParaRPr>
              </a:p>
            </p:txBody>
          </p:sp>
          <p:sp>
            <p:nvSpPr>
              <p:cNvPr id="216" name="Google Shape;216;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Searches workspace indexes</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17" name="Google Shape;217;p17"/>
            <p:cNvGrpSpPr/>
            <p:nvPr/>
          </p:nvGrpSpPr>
          <p:grpSpPr>
            <a:xfrm>
              <a:off x="190500" y="1524000"/>
              <a:ext cx="2095500" cy="571500"/>
              <a:chOff x="0" y="0"/>
              <a:chExt cx="2095500" cy="571500"/>
            </a:xfrm>
          </p:grpSpPr>
          <p:sp>
            <p:nvSpPr>
              <p:cNvPr id="218" name="Google Shape;218;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question_answer</a:t>
                </a:r>
                <a:endParaRPr sz="2000">
                  <a:solidFill>
                    <a:srgbClr val="2563EB"/>
                  </a:solidFill>
                  <a:latin typeface="Material Icons"/>
                  <a:ea typeface="Material Icons"/>
                  <a:cs typeface="Material Icons"/>
                  <a:sym typeface="Material Icons"/>
                </a:endParaRPr>
              </a:p>
            </p:txBody>
          </p:sp>
          <p:sp>
            <p:nvSpPr>
              <p:cNvPr id="219" name="Google Shape;219;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Returns cited code answers</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20" name="Google Shape;220;p17"/>
          <p:cNvGrpSpPr/>
          <p:nvPr/>
        </p:nvGrpSpPr>
        <p:grpSpPr>
          <a:xfrm>
            <a:off x="6286500" y="1238250"/>
            <a:ext cx="2476500" cy="2857500"/>
            <a:chOff x="0" y="0"/>
            <a:chExt cx="2476500" cy="2857500"/>
          </a:xfrm>
        </p:grpSpPr>
        <p:sp>
          <p:nvSpPr>
            <p:cNvPr id="221" name="Google Shape;221;p17"/>
            <p:cNvSpPr/>
            <p:nvPr/>
          </p:nvSpPr>
          <p:spPr>
            <a:xfrm>
              <a:off x="0" y="0"/>
              <a:ext cx="2476500" cy="2857500"/>
            </a:xfrm>
            <a:prstGeom prst="roundRect">
              <a:avLst>
                <a:gd fmla="val 4615" name="adj"/>
              </a:avLst>
            </a:prstGeom>
            <a:solidFill>
              <a:srgbClr val="F5F3FF"/>
            </a:solidFill>
            <a:ln cap="flat" cmpd="sng" w="14300">
              <a:solidFill>
                <a:srgbClr val="EDE9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7"/>
            <p:cNvSpPr/>
            <p:nvPr/>
          </p:nvSpPr>
          <p:spPr>
            <a:xfrm>
              <a:off x="0" y="0"/>
              <a:ext cx="57300" cy="28575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7"/>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6D28D9"/>
                  </a:solidFill>
                  <a:latin typeface="Plus Jakarta Sans"/>
                  <a:ea typeface="Plus Jakarta Sans"/>
                  <a:cs typeface="Plus Jakarta Sans"/>
                  <a:sym typeface="Plus Jakarta Sans"/>
                </a:rPr>
                <a:t>DEVIN SESSIONS (VM)</a:t>
              </a:r>
              <a:endParaRPr b="1" sz="1050">
                <a:solidFill>
                  <a:srgbClr val="6D28D9"/>
                </a:solidFill>
                <a:latin typeface="Plus Jakarta Sans"/>
                <a:ea typeface="Plus Jakarta Sans"/>
                <a:cs typeface="Plus Jakarta Sans"/>
                <a:sym typeface="Plus Jakarta Sans"/>
              </a:endParaRPr>
            </a:p>
          </p:txBody>
        </p:sp>
        <p:grpSp>
          <p:nvGrpSpPr>
            <p:cNvPr id="224" name="Google Shape;224;p17"/>
            <p:cNvGrpSpPr/>
            <p:nvPr/>
          </p:nvGrpSpPr>
          <p:grpSpPr>
            <a:xfrm>
              <a:off x="190500" y="666750"/>
              <a:ext cx="2095500" cy="571500"/>
              <a:chOff x="0" y="0"/>
              <a:chExt cx="2095500" cy="571500"/>
            </a:xfrm>
          </p:grpSpPr>
          <p:sp>
            <p:nvSpPr>
              <p:cNvPr id="225" name="Google Shape;225;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7C3AED"/>
                    </a:solidFill>
                    <a:latin typeface="Material Icons"/>
                    <a:ea typeface="Material Icons"/>
                    <a:cs typeface="Material Icons"/>
                    <a:sym typeface="Material Icons"/>
                  </a:rPr>
                  <a:t>layers</a:t>
                </a:r>
                <a:endParaRPr sz="2000">
                  <a:solidFill>
                    <a:srgbClr val="7C3AED"/>
                  </a:solidFill>
                  <a:latin typeface="Material Icons"/>
                  <a:ea typeface="Material Icons"/>
                  <a:cs typeface="Material Icons"/>
                  <a:sym typeface="Material Icons"/>
                </a:endParaRPr>
              </a:p>
            </p:txBody>
          </p:sp>
          <p:sp>
            <p:nvSpPr>
              <p:cNvPr id="226" name="Google Shape;226;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Boots fresh container snapshot</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27" name="Google Shape;227;p17"/>
            <p:cNvGrpSpPr/>
            <p:nvPr/>
          </p:nvGrpSpPr>
          <p:grpSpPr>
            <a:xfrm>
              <a:off x="190500" y="1524000"/>
              <a:ext cx="2095500" cy="571500"/>
              <a:chOff x="0" y="0"/>
              <a:chExt cx="2095500" cy="571500"/>
            </a:xfrm>
          </p:grpSpPr>
          <p:sp>
            <p:nvSpPr>
              <p:cNvPr id="228" name="Google Shape;228;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7C3AED"/>
                    </a:solidFill>
                    <a:latin typeface="Material Icons"/>
                    <a:ea typeface="Material Icons"/>
                    <a:cs typeface="Material Icons"/>
                    <a:sym typeface="Material Icons"/>
                  </a:rPr>
                  <a:t>sync</a:t>
                </a:r>
                <a:endParaRPr sz="2000">
                  <a:solidFill>
                    <a:srgbClr val="7C3AED"/>
                  </a:solidFill>
                  <a:latin typeface="Material Icons"/>
                  <a:ea typeface="Material Icons"/>
                  <a:cs typeface="Material Icons"/>
                  <a:sym typeface="Material Icons"/>
                </a:endParaRPr>
              </a:p>
            </p:txBody>
          </p:sp>
          <p:sp>
            <p:nvSpPr>
              <p:cNvPr id="229" name="Google Shape;229;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Runs loop: Code → Test → Lint</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30" name="Google Shape;230;p17"/>
          <p:cNvGrpSpPr/>
          <p:nvPr/>
        </p:nvGrpSpPr>
        <p:grpSpPr>
          <a:xfrm>
            <a:off x="9144000" y="1238250"/>
            <a:ext cx="2476500" cy="2857500"/>
            <a:chOff x="0" y="0"/>
            <a:chExt cx="2476500" cy="2857500"/>
          </a:xfrm>
        </p:grpSpPr>
        <p:sp>
          <p:nvSpPr>
            <p:cNvPr id="231" name="Google Shape;231;p17"/>
            <p:cNvSpPr/>
            <p:nvPr/>
          </p:nvSpPr>
          <p:spPr>
            <a:xfrm>
              <a:off x="0" y="0"/>
              <a:ext cx="2476500" cy="2857500"/>
            </a:xfrm>
            <a:prstGeom prst="roundRect">
              <a:avLst>
                <a:gd fmla="val 4615" name="adj"/>
              </a:avLst>
            </a:prstGeom>
            <a:solidFill>
              <a:srgbClr val="F0FDFA"/>
            </a:solidFill>
            <a:ln cap="flat" cmpd="sng" w="14300">
              <a:solidFill>
                <a:srgbClr val="CCFB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17"/>
            <p:cNvSpPr/>
            <p:nvPr/>
          </p:nvSpPr>
          <p:spPr>
            <a:xfrm>
              <a:off x="0" y="0"/>
              <a:ext cx="57300" cy="28575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7"/>
            <p:cNvSpPr txBox="1"/>
            <p:nvPr/>
          </p:nvSpPr>
          <p:spPr>
            <a:xfrm>
              <a:off x="190500" y="190500"/>
              <a:ext cx="20955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50">
                  <a:solidFill>
                    <a:srgbClr val="0F766E"/>
                  </a:solidFill>
                  <a:latin typeface="Plus Jakarta Sans"/>
                  <a:ea typeface="Plus Jakarta Sans"/>
                  <a:cs typeface="Plus Jakarta Sans"/>
                  <a:sym typeface="Plus Jakarta Sans"/>
                </a:rPr>
                <a:t>VCS (GITHUB / GITLAB)</a:t>
              </a:r>
              <a:endParaRPr b="1" sz="1050">
                <a:solidFill>
                  <a:srgbClr val="0F766E"/>
                </a:solidFill>
                <a:latin typeface="Plus Jakarta Sans"/>
                <a:ea typeface="Plus Jakarta Sans"/>
                <a:cs typeface="Plus Jakarta Sans"/>
                <a:sym typeface="Plus Jakarta Sans"/>
              </a:endParaRPr>
            </a:p>
          </p:txBody>
        </p:sp>
        <p:grpSp>
          <p:nvGrpSpPr>
            <p:cNvPr id="234" name="Google Shape;234;p17"/>
            <p:cNvGrpSpPr/>
            <p:nvPr/>
          </p:nvGrpSpPr>
          <p:grpSpPr>
            <a:xfrm>
              <a:off x="190500" y="666750"/>
              <a:ext cx="2095500" cy="571500"/>
              <a:chOff x="0" y="0"/>
              <a:chExt cx="2095500" cy="571500"/>
            </a:xfrm>
          </p:grpSpPr>
          <p:sp>
            <p:nvSpPr>
              <p:cNvPr id="235" name="Google Shape;235;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0D9488"/>
                    </a:solidFill>
                    <a:latin typeface="Material Icons"/>
                    <a:ea typeface="Material Icons"/>
                    <a:cs typeface="Material Icons"/>
                    <a:sym typeface="Material Icons"/>
                  </a:rPr>
                  <a:t>inventory_2</a:t>
                </a:r>
                <a:endParaRPr sz="2000">
                  <a:solidFill>
                    <a:srgbClr val="0D9488"/>
                  </a:solidFill>
                  <a:latin typeface="Material Icons"/>
                  <a:ea typeface="Material Icons"/>
                  <a:cs typeface="Material Icons"/>
                  <a:sym typeface="Material Icons"/>
                </a:endParaRPr>
              </a:p>
            </p:txBody>
          </p:sp>
          <p:sp>
            <p:nvSpPr>
              <p:cNvPr id="236" name="Google Shape;236;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Receives newly created PR</a:t>
                </a:r>
                <a:endParaRPr b="0" sz="950">
                  <a:solidFill>
                    <a:srgbClr val="1E293B"/>
                  </a:solidFill>
                  <a:latin typeface="Plus Jakarta Sans Medium"/>
                  <a:ea typeface="Plus Jakarta Sans Medium"/>
                  <a:cs typeface="Plus Jakarta Sans Medium"/>
                  <a:sym typeface="Plus Jakarta Sans Medium"/>
                </a:endParaRPr>
              </a:p>
            </p:txBody>
          </p:sp>
        </p:grpSp>
        <p:grpSp>
          <p:nvGrpSpPr>
            <p:cNvPr id="237" name="Google Shape;237;p17"/>
            <p:cNvGrpSpPr/>
            <p:nvPr/>
          </p:nvGrpSpPr>
          <p:grpSpPr>
            <a:xfrm>
              <a:off x="190500" y="1524000"/>
              <a:ext cx="2095500" cy="571500"/>
              <a:chOff x="0" y="0"/>
              <a:chExt cx="2095500" cy="571500"/>
            </a:xfrm>
          </p:grpSpPr>
          <p:sp>
            <p:nvSpPr>
              <p:cNvPr id="238" name="Google Shape;238;p17"/>
              <p:cNvSpPr txBox="1"/>
              <p:nvPr/>
            </p:nvSpPr>
            <p:spPr>
              <a:xfrm>
                <a:off x="0" y="2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0D9488"/>
                    </a:solidFill>
                    <a:latin typeface="Material Icons"/>
                    <a:ea typeface="Material Icons"/>
                    <a:cs typeface="Material Icons"/>
                    <a:sym typeface="Material Icons"/>
                  </a:rPr>
                  <a:t>rate_review</a:t>
                </a:r>
                <a:endParaRPr sz="2000">
                  <a:solidFill>
                    <a:srgbClr val="0D9488"/>
                  </a:solidFill>
                  <a:latin typeface="Material Icons"/>
                  <a:ea typeface="Material Icons"/>
                  <a:cs typeface="Material Icons"/>
                  <a:sym typeface="Material Icons"/>
                </a:endParaRPr>
              </a:p>
            </p:txBody>
          </p:sp>
          <p:sp>
            <p:nvSpPr>
              <p:cNvPr id="239" name="Google Shape;239;p17"/>
              <p:cNvSpPr txBox="1"/>
              <p:nvPr/>
            </p:nvSpPr>
            <p:spPr>
              <a:xfrm>
                <a:off x="381000" y="0"/>
                <a:ext cx="1714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950">
                    <a:solidFill>
                      <a:srgbClr val="1E293B"/>
                    </a:solidFill>
                    <a:latin typeface="Plus Jakarta Sans Medium"/>
                    <a:ea typeface="Plus Jakarta Sans Medium"/>
                    <a:cs typeface="Plus Jakarta Sans Medium"/>
                    <a:sym typeface="Plus Jakarta Sans Medium"/>
                  </a:rPr>
                  <a:t>Devin Review scans diff maps</a:t>
                </a:r>
                <a:endParaRPr b="0" sz="950">
                  <a:solidFill>
                    <a:srgbClr val="1E293B"/>
                  </a:solidFill>
                  <a:latin typeface="Plus Jakarta Sans Medium"/>
                  <a:ea typeface="Plus Jakarta Sans Medium"/>
                  <a:cs typeface="Plus Jakarta Sans Medium"/>
                  <a:sym typeface="Plus Jakarta Sans Medium"/>
                </a:endParaRPr>
              </a:p>
            </p:txBody>
          </p:sp>
        </p:grpSp>
      </p:grpSp>
      <p:grpSp>
        <p:nvGrpSpPr>
          <p:cNvPr id="240" name="Google Shape;240;p17"/>
          <p:cNvGrpSpPr/>
          <p:nvPr/>
        </p:nvGrpSpPr>
        <p:grpSpPr>
          <a:xfrm>
            <a:off x="571500" y="4381500"/>
            <a:ext cx="11049000" cy="1143000"/>
            <a:chOff x="0" y="0"/>
            <a:chExt cx="11049000" cy="1143000"/>
          </a:xfrm>
        </p:grpSpPr>
        <p:sp>
          <p:nvSpPr>
            <p:cNvPr id="241" name="Google Shape;241;p17"/>
            <p:cNvSpPr/>
            <p:nvPr/>
          </p:nvSpPr>
          <p:spPr>
            <a:xfrm>
              <a:off x="0" y="0"/>
              <a:ext cx="11049000" cy="1143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2" name="Google Shape;242;p17"/>
            <p:cNvSpPr txBox="1"/>
            <p:nvPr/>
          </p:nvSpPr>
          <p:spPr>
            <a:xfrm>
              <a:off x="228600" y="190500"/>
              <a:ext cx="8191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0F172A"/>
                  </a:solidFill>
                  <a:latin typeface="Plus Jakarta Sans"/>
                  <a:ea typeface="Plus Jakarta Sans"/>
                  <a:cs typeface="Plus Jakarta Sans"/>
                  <a:sym typeface="Plus Jakarta Sans"/>
                </a:rPr>
                <a:t>Asynchronous Pipelines</a:t>
              </a:r>
              <a:endParaRPr b="1" sz="1000">
                <a:solidFill>
                  <a:srgbClr val="0F172A"/>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Engineers kick off multiple isolated sessions at the start of the day and return to draft PRs waiting for review. The session status is visible directly inside Slack, Jira, or the Ask Devin conversation to prevent context-switching overhead.</a:t>
              </a:r>
              <a:endParaRPr b="0" sz="950">
                <a:solidFill>
                  <a:srgbClr val="334155"/>
                </a:solidFill>
                <a:latin typeface="Plus Jakarta Sans"/>
                <a:ea typeface="Plus Jakarta Sans"/>
                <a:cs typeface="Plus Jakarta Sans"/>
                <a:sym typeface="Plus Jakarta Sans"/>
              </a:endParaRPr>
            </a:p>
          </p:txBody>
        </p:sp>
        <p:grpSp>
          <p:nvGrpSpPr>
            <p:cNvPr id="243" name="Google Shape;243;p17"/>
            <p:cNvGrpSpPr/>
            <p:nvPr/>
          </p:nvGrpSpPr>
          <p:grpSpPr>
            <a:xfrm>
              <a:off x="8953500" y="409575"/>
              <a:ext cx="1866900" cy="324000"/>
              <a:chOff x="0" y="0"/>
              <a:chExt cx="1866900" cy="324000"/>
            </a:xfrm>
          </p:grpSpPr>
          <p:sp>
            <p:nvSpPr>
              <p:cNvPr id="244" name="Google Shape;244;p17"/>
              <p:cNvSpPr/>
              <p:nvPr/>
            </p:nvSpPr>
            <p:spPr>
              <a:xfrm>
                <a:off x="0" y="0"/>
                <a:ext cx="1866900" cy="324000"/>
              </a:xfrm>
              <a:prstGeom prst="roundRect">
                <a:avLst>
                  <a:gd fmla="val 50000" name="adj"/>
                </a:avLst>
              </a:prstGeom>
              <a:solidFill>
                <a:srgbClr val="F5F3FF"/>
              </a:solidFill>
              <a:ln cap="flat" cmpd="sng" w="14300">
                <a:solidFill>
                  <a:srgbClr val="DDD6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7"/>
              <p:cNvSpPr txBox="1"/>
              <p:nvPr/>
            </p:nvSpPr>
            <p:spPr>
              <a:xfrm>
                <a:off x="0" y="0"/>
                <a:ext cx="1866900" cy="324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00">
                    <a:solidFill>
                      <a:srgbClr val="6D28D9"/>
                    </a:solidFill>
                    <a:latin typeface="JetBrains Mono"/>
                    <a:ea typeface="JetBrains Mono"/>
                    <a:cs typeface="JetBrains Mono"/>
                    <a:sym typeface="JetBrains Mono"/>
                  </a:rPr>
                  <a:t>ASYNC FLOW COMPLETE</a:t>
                </a:r>
                <a:endParaRPr b="1" sz="800">
                  <a:solidFill>
                    <a:srgbClr val="6D28D9"/>
                  </a:solidFill>
                  <a:latin typeface="JetBrains Mono"/>
                  <a:ea typeface="JetBrains Mono"/>
                  <a:cs typeface="JetBrains Mono"/>
                  <a:sym typeface="JetBrains Mono"/>
                </a:endParaRPr>
              </a:p>
            </p:txBody>
          </p:sp>
        </p:grpSp>
      </p:grpSp>
      <p:sp>
        <p:nvSpPr>
          <p:cNvPr id="246" name="Google Shape;246;p17"/>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pic>
        <p:nvPicPr>
          <p:cNvPr descr="image.png" id="251" name="Google Shape;25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2" name="Google Shape;252;p18"/>
          <p:cNvPicPr preferRelativeResize="0"/>
          <p:nvPr/>
        </p:nvPicPr>
        <p:blipFill rotWithShape="1">
          <a:blip r:embed="rId4">
            <a:alphaModFix/>
          </a:blip>
          <a:srcRect b="0" l="0" r="0" t="0"/>
          <a:stretch/>
        </p:blipFill>
        <p:spPr>
          <a:xfrm>
            <a:off x="571500" y="1038225"/>
            <a:ext cx="3587650" cy="1632346"/>
          </a:xfrm>
          <a:prstGeom prst="rect">
            <a:avLst/>
          </a:prstGeom>
          <a:noFill/>
          <a:ln>
            <a:noFill/>
          </a:ln>
        </p:spPr>
      </p:pic>
      <p:pic>
        <p:nvPicPr>
          <p:cNvPr descr="image.png" id="253" name="Google Shape;253;p18"/>
          <p:cNvPicPr preferRelativeResize="0"/>
          <p:nvPr/>
        </p:nvPicPr>
        <p:blipFill rotWithShape="1">
          <a:blip r:embed="rId5">
            <a:alphaModFix/>
          </a:blip>
          <a:srcRect b="0" l="0" r="0" t="0"/>
          <a:stretch/>
        </p:blipFill>
        <p:spPr>
          <a:xfrm>
            <a:off x="4302025" y="1038225"/>
            <a:ext cx="3587799" cy="1632346"/>
          </a:xfrm>
          <a:prstGeom prst="rect">
            <a:avLst/>
          </a:prstGeom>
          <a:noFill/>
          <a:ln>
            <a:noFill/>
          </a:ln>
        </p:spPr>
      </p:pic>
      <p:pic>
        <p:nvPicPr>
          <p:cNvPr descr="image.png" id="254" name="Google Shape;254;p18"/>
          <p:cNvPicPr preferRelativeResize="0"/>
          <p:nvPr/>
        </p:nvPicPr>
        <p:blipFill rotWithShape="1">
          <a:blip r:embed="rId6">
            <a:alphaModFix/>
          </a:blip>
          <a:srcRect b="0" l="0" r="0" t="0"/>
          <a:stretch/>
        </p:blipFill>
        <p:spPr>
          <a:xfrm>
            <a:off x="8032700" y="1038225"/>
            <a:ext cx="3587650" cy="1632346"/>
          </a:xfrm>
          <a:prstGeom prst="rect">
            <a:avLst/>
          </a:prstGeom>
          <a:noFill/>
          <a:ln>
            <a:noFill/>
          </a:ln>
        </p:spPr>
      </p:pic>
      <p:pic>
        <p:nvPicPr>
          <p:cNvPr descr="image.png" id="255" name="Google Shape;255;p18"/>
          <p:cNvPicPr preferRelativeResize="0"/>
          <p:nvPr/>
        </p:nvPicPr>
        <p:blipFill rotWithShape="1">
          <a:blip r:embed="rId7">
            <a:alphaModFix/>
          </a:blip>
          <a:srcRect b="0" l="0" r="0" t="0"/>
          <a:stretch/>
        </p:blipFill>
        <p:spPr>
          <a:xfrm>
            <a:off x="571500" y="2813446"/>
            <a:ext cx="3587650" cy="1632346"/>
          </a:xfrm>
          <a:prstGeom prst="rect">
            <a:avLst/>
          </a:prstGeom>
          <a:noFill/>
          <a:ln>
            <a:noFill/>
          </a:ln>
        </p:spPr>
      </p:pic>
      <p:pic>
        <p:nvPicPr>
          <p:cNvPr descr="image.png" id="256" name="Google Shape;256;p18"/>
          <p:cNvPicPr preferRelativeResize="0"/>
          <p:nvPr/>
        </p:nvPicPr>
        <p:blipFill rotWithShape="1">
          <a:blip r:embed="rId8">
            <a:alphaModFix/>
          </a:blip>
          <a:srcRect b="0" l="0" r="0" t="0"/>
          <a:stretch/>
        </p:blipFill>
        <p:spPr>
          <a:xfrm>
            <a:off x="4302025" y="2813446"/>
            <a:ext cx="3587799" cy="1632346"/>
          </a:xfrm>
          <a:prstGeom prst="rect">
            <a:avLst/>
          </a:prstGeom>
          <a:noFill/>
          <a:ln>
            <a:noFill/>
          </a:ln>
        </p:spPr>
      </p:pic>
      <p:pic>
        <p:nvPicPr>
          <p:cNvPr descr="image.png" id="257" name="Google Shape;257;p18"/>
          <p:cNvPicPr preferRelativeResize="0"/>
          <p:nvPr/>
        </p:nvPicPr>
        <p:blipFill rotWithShape="1">
          <a:blip r:embed="rId7">
            <a:alphaModFix/>
          </a:blip>
          <a:srcRect b="0" l="0" r="0" t="0"/>
          <a:stretch/>
        </p:blipFill>
        <p:spPr>
          <a:xfrm>
            <a:off x="8032700" y="2813446"/>
            <a:ext cx="3587650" cy="1632346"/>
          </a:xfrm>
          <a:prstGeom prst="rect">
            <a:avLst/>
          </a:prstGeom>
          <a:noFill/>
          <a:ln>
            <a:noFill/>
          </a:ln>
        </p:spPr>
      </p:pic>
      <p:pic>
        <p:nvPicPr>
          <p:cNvPr descr="image.png" id="258" name="Google Shape;258;p18"/>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259" name="Google Shape;259;p18"/>
          <p:cNvSpPr txBox="1"/>
          <p:nvPr/>
        </p:nvSpPr>
        <p:spPr>
          <a:xfrm>
            <a:off x="942975" y="1181100"/>
            <a:ext cx="3226965"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Plus Jakarta Sans"/>
                <a:ea typeface="Plus Jakarta Sans"/>
                <a:cs typeface="Plus Jakarta Sans"/>
                <a:sym typeface="Plus Jakarta Sans"/>
              </a:rPr>
              <a:t>INTERACTION</a:t>
            </a:r>
            <a:endParaRPr/>
          </a:p>
        </p:txBody>
      </p:sp>
      <p:sp>
        <p:nvSpPr>
          <p:cNvPr id="260" name="Google Shape;260;p18"/>
          <p:cNvSpPr/>
          <p:nvPr/>
        </p:nvSpPr>
        <p:spPr>
          <a:xfrm>
            <a:off x="714375" y="1371600"/>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18"/>
          <p:cNvSpPr txBox="1"/>
          <p:nvPr/>
        </p:nvSpPr>
        <p:spPr>
          <a:xfrm>
            <a:off x="4673500" y="1181100"/>
            <a:ext cx="3227122"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7C3AED"/>
                </a:solidFill>
                <a:latin typeface="Plus Jakarta Sans"/>
                <a:ea typeface="Plus Jakarta Sans"/>
                <a:cs typeface="Plus Jakarta Sans"/>
                <a:sym typeface="Plus Jakarta Sans"/>
              </a:rPr>
              <a:t>MEMORY</a:t>
            </a:r>
            <a:endParaRPr/>
          </a:p>
        </p:txBody>
      </p:sp>
      <p:sp>
        <p:nvSpPr>
          <p:cNvPr id="262" name="Google Shape;262;p18"/>
          <p:cNvSpPr/>
          <p:nvPr/>
        </p:nvSpPr>
        <p:spPr>
          <a:xfrm>
            <a:off x="4444900" y="1371600"/>
            <a:ext cx="330204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18"/>
          <p:cNvSpPr txBox="1"/>
          <p:nvPr/>
        </p:nvSpPr>
        <p:spPr>
          <a:xfrm>
            <a:off x="8442275" y="1181100"/>
            <a:ext cx="3186960"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EXECUTION</a:t>
            </a:r>
            <a:endParaRPr/>
          </a:p>
        </p:txBody>
      </p:sp>
      <p:sp>
        <p:nvSpPr>
          <p:cNvPr id="264" name="Google Shape;264;p18"/>
          <p:cNvSpPr/>
          <p:nvPr/>
        </p:nvSpPr>
        <p:spPr>
          <a:xfrm>
            <a:off x="8175575" y="1371600"/>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5" name="Google Shape;265;p18"/>
          <p:cNvSpPr txBox="1"/>
          <p:nvPr/>
        </p:nvSpPr>
        <p:spPr>
          <a:xfrm>
            <a:off x="923925" y="2956321"/>
            <a:ext cx="3246968"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EA580C"/>
                </a:solidFill>
                <a:latin typeface="Plus Jakarta Sans"/>
                <a:ea typeface="Plus Jakarta Sans"/>
                <a:cs typeface="Plus Jakarta Sans"/>
                <a:sym typeface="Plus Jakarta Sans"/>
              </a:rPr>
              <a:t>AUTOMATION</a:t>
            </a:r>
            <a:endParaRPr/>
          </a:p>
        </p:txBody>
      </p:sp>
      <p:sp>
        <p:nvSpPr>
          <p:cNvPr id="266" name="Google Shape;266;p18"/>
          <p:cNvSpPr/>
          <p:nvPr/>
        </p:nvSpPr>
        <p:spPr>
          <a:xfrm>
            <a:off x="714375" y="3146821"/>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18"/>
          <p:cNvSpPr txBox="1"/>
          <p:nvPr/>
        </p:nvSpPr>
        <p:spPr>
          <a:xfrm>
            <a:off x="4673500" y="2956321"/>
            <a:ext cx="3227122"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475569"/>
                </a:solidFill>
                <a:latin typeface="Plus Jakarta Sans"/>
                <a:ea typeface="Plus Jakarta Sans"/>
                <a:cs typeface="Plus Jakarta Sans"/>
                <a:sym typeface="Plus Jakarta Sans"/>
              </a:rPr>
              <a:t>GOVERNANCE</a:t>
            </a:r>
            <a:endParaRPr/>
          </a:p>
        </p:txBody>
      </p:sp>
      <p:sp>
        <p:nvSpPr>
          <p:cNvPr id="268" name="Google Shape;268;p18"/>
          <p:cNvSpPr/>
          <p:nvPr/>
        </p:nvSpPr>
        <p:spPr>
          <a:xfrm>
            <a:off x="4444900" y="3146821"/>
            <a:ext cx="330204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18"/>
          <p:cNvSpPr txBox="1"/>
          <p:nvPr/>
        </p:nvSpPr>
        <p:spPr>
          <a:xfrm>
            <a:off x="8375600" y="2956321"/>
            <a:ext cx="3256969"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2563EB"/>
                </a:solidFill>
                <a:latin typeface="Plus Jakarta Sans"/>
                <a:ea typeface="Plus Jakarta Sans"/>
                <a:cs typeface="Plus Jakarta Sans"/>
                <a:sym typeface="Plus Jakarta Sans"/>
              </a:rPr>
              <a:t>INTEGRATIONS</a:t>
            </a:r>
            <a:endParaRPr/>
          </a:p>
        </p:txBody>
      </p:sp>
      <p:sp>
        <p:nvSpPr>
          <p:cNvPr id="270" name="Google Shape;270;p18"/>
          <p:cNvSpPr/>
          <p:nvPr/>
        </p:nvSpPr>
        <p:spPr>
          <a:xfrm>
            <a:off x="8175575" y="3146821"/>
            <a:ext cx="330190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71" name="Google Shape;271;p18"/>
          <p:cNvPicPr preferRelativeResize="0"/>
          <p:nvPr/>
        </p:nvPicPr>
        <p:blipFill rotWithShape="1">
          <a:blip r:embed="rId10">
            <a:alphaModFix/>
          </a:blip>
          <a:srcRect b="0" l="0" r="0" t="0"/>
          <a:stretch/>
        </p:blipFill>
        <p:spPr>
          <a:xfrm>
            <a:off x="714375" y="1190625"/>
            <a:ext cx="133350" cy="133350"/>
          </a:xfrm>
          <a:prstGeom prst="rect">
            <a:avLst/>
          </a:prstGeom>
          <a:noFill/>
          <a:ln>
            <a:noFill/>
          </a:ln>
        </p:spPr>
      </p:pic>
      <p:sp>
        <p:nvSpPr>
          <p:cNvPr id="272" name="Google Shape;272;p18"/>
          <p:cNvSpPr txBox="1"/>
          <p:nvPr/>
        </p:nvSpPr>
        <p:spPr>
          <a:xfrm>
            <a:off x="942975" y="147637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Ask Devin:</a:t>
            </a:r>
            <a:r>
              <a:rPr b="0" i="0" lang="en-US" sz="1050" u="none" cap="none" strike="noStrike">
                <a:solidFill>
                  <a:srgbClr val="334155"/>
                </a:solidFill>
                <a:latin typeface="Plus Jakarta Sans"/>
                <a:ea typeface="Plus Jakarta Sans"/>
                <a:cs typeface="Plus Jakarta Sans"/>
                <a:sym typeface="Plus Jakarta Sans"/>
              </a:rPr>
              <a:t> Codebase Q&amp;A / Plans</a:t>
            </a:r>
            <a:endParaRPr/>
          </a:p>
        </p:txBody>
      </p:sp>
      <p:sp>
        <p:nvSpPr>
          <p:cNvPr id="273" name="Google Shape;273;p18"/>
          <p:cNvSpPr txBox="1"/>
          <p:nvPr/>
        </p:nvSpPr>
        <p:spPr>
          <a:xfrm>
            <a:off x="942975" y="173920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Devin Review:</a:t>
            </a:r>
            <a:r>
              <a:rPr b="0" i="0" lang="en-US" sz="1050" u="none" cap="none" strike="noStrike">
                <a:solidFill>
                  <a:srgbClr val="334155"/>
                </a:solidFill>
                <a:latin typeface="Plus Jakarta Sans"/>
                <a:ea typeface="Plus Jakarta Sans"/>
                <a:cs typeface="Plus Jakarta Sans"/>
                <a:sym typeface="Plus Jakarta Sans"/>
              </a:rPr>
              <a:t> Automated PR scans</a:t>
            </a:r>
            <a:endParaRPr/>
          </a:p>
        </p:txBody>
      </p:sp>
      <p:sp>
        <p:nvSpPr>
          <p:cNvPr id="274" name="Google Shape;274;p18"/>
          <p:cNvSpPr txBox="1"/>
          <p:nvPr/>
        </p:nvSpPr>
        <p:spPr>
          <a:xfrm>
            <a:off x="942975" y="200203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Slash Commands / Chat:</a:t>
            </a:r>
            <a:r>
              <a:rPr b="0" i="0" lang="en-US" sz="1050" u="none" cap="none" strike="noStrike">
                <a:solidFill>
                  <a:srgbClr val="334155"/>
                </a:solidFill>
                <a:latin typeface="Plus Jakarta Sans"/>
                <a:ea typeface="Plus Jakarta Sans"/>
                <a:cs typeface="Plus Jakarta Sans"/>
                <a:sym typeface="Plus Jakarta Sans"/>
              </a:rPr>
              <a:t> Quick controls</a:t>
            </a:r>
            <a:endParaRPr/>
          </a:p>
        </p:txBody>
      </p:sp>
      <p:sp>
        <p:nvSpPr>
          <p:cNvPr id="275" name="Google Shape;275;p18"/>
          <p:cNvSpPr txBox="1"/>
          <p:nvPr/>
        </p:nvSpPr>
        <p:spPr>
          <a:xfrm>
            <a:off x="942975" y="226486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Slack &amp; Teams Links:</a:t>
            </a:r>
            <a:r>
              <a:rPr b="0" i="0" lang="en-US" sz="1050" u="none" cap="none" strike="noStrike">
                <a:solidFill>
                  <a:srgbClr val="334155"/>
                </a:solidFill>
                <a:latin typeface="Plus Jakarta Sans"/>
                <a:ea typeface="Plus Jakarta Sans"/>
                <a:cs typeface="Plus Jakarta Sans"/>
                <a:sym typeface="Plus Jakarta Sans"/>
              </a:rPr>
              <a:t> Team updates</a:t>
            </a:r>
            <a:endParaRPr/>
          </a:p>
        </p:txBody>
      </p:sp>
      <p:pic>
        <p:nvPicPr>
          <p:cNvPr descr="image.png" id="276" name="Google Shape;276;p18"/>
          <p:cNvPicPr preferRelativeResize="0"/>
          <p:nvPr/>
        </p:nvPicPr>
        <p:blipFill rotWithShape="1">
          <a:blip r:embed="rId11">
            <a:alphaModFix/>
          </a:blip>
          <a:srcRect b="0" l="0" r="0" t="0"/>
          <a:stretch/>
        </p:blipFill>
        <p:spPr>
          <a:xfrm>
            <a:off x="4444900" y="1190625"/>
            <a:ext cx="133350" cy="133350"/>
          </a:xfrm>
          <a:prstGeom prst="rect">
            <a:avLst/>
          </a:prstGeom>
          <a:noFill/>
          <a:ln>
            <a:noFill/>
          </a:ln>
        </p:spPr>
      </p:pic>
      <p:sp>
        <p:nvSpPr>
          <p:cNvPr id="277" name="Google Shape;277;p18"/>
          <p:cNvSpPr txBox="1"/>
          <p:nvPr/>
        </p:nvSpPr>
        <p:spPr>
          <a:xfrm>
            <a:off x="4673500" y="1476375"/>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Knowledge:</a:t>
            </a:r>
            <a:r>
              <a:rPr b="0" i="0" lang="en-US" sz="1050" u="none" cap="none" strike="noStrike">
                <a:solidFill>
                  <a:srgbClr val="334155"/>
                </a:solidFill>
                <a:latin typeface="Plus Jakarta Sans"/>
                <a:ea typeface="Plus Jakarta Sans"/>
                <a:cs typeface="Plus Jakarta Sans"/>
                <a:sym typeface="Plus Jakarta Sans"/>
              </a:rPr>
              <a:t> Global &amp; team standards</a:t>
            </a:r>
            <a:endParaRPr/>
          </a:p>
        </p:txBody>
      </p:sp>
      <p:sp>
        <p:nvSpPr>
          <p:cNvPr id="278" name="Google Shape;278;p18"/>
          <p:cNvSpPr txBox="1"/>
          <p:nvPr/>
        </p:nvSpPr>
        <p:spPr>
          <a:xfrm>
            <a:off x="4673500" y="1739205"/>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Skills:</a:t>
            </a:r>
            <a:r>
              <a:rPr b="0" i="0" lang="en-US" sz="1050" u="none" cap="none" strike="noStrike">
                <a:solidFill>
                  <a:srgbClr val="334155"/>
                </a:solidFill>
                <a:latin typeface="Plus Jakarta Sans"/>
                <a:ea typeface="Plus Jakarta Sans"/>
                <a:cs typeface="Plus Jakarta Sans"/>
                <a:sym typeface="Plus Jakarta Sans"/>
              </a:rPr>
              <a:t> Executable `.md` scripts</a:t>
            </a:r>
            <a:endParaRPr/>
          </a:p>
        </p:txBody>
      </p:sp>
      <p:sp>
        <p:nvSpPr>
          <p:cNvPr id="279" name="Google Shape;279;p18"/>
          <p:cNvSpPr txBox="1"/>
          <p:nvPr/>
        </p:nvSpPr>
        <p:spPr>
          <a:xfrm>
            <a:off x="4673500" y="2002035"/>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Playbooks:</a:t>
            </a:r>
            <a:r>
              <a:rPr b="0" i="0" lang="en-US" sz="1050" u="none" cap="none" strike="noStrike">
                <a:solidFill>
                  <a:srgbClr val="334155"/>
                </a:solidFill>
                <a:latin typeface="Plus Jakarta Sans"/>
                <a:ea typeface="Plus Jakarta Sans"/>
                <a:cs typeface="Plus Jakarta Sans"/>
                <a:sym typeface="Plus Jakarta Sans"/>
              </a:rPr>
              <a:t> Reusable prompt templates</a:t>
            </a:r>
            <a:endParaRPr/>
          </a:p>
        </p:txBody>
      </p:sp>
      <p:sp>
        <p:nvSpPr>
          <p:cNvPr id="280" name="Google Shape;280;p18"/>
          <p:cNvSpPr txBox="1"/>
          <p:nvPr/>
        </p:nvSpPr>
        <p:spPr>
          <a:xfrm>
            <a:off x="4673500" y="2264866"/>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AGENTS.md:</a:t>
            </a:r>
            <a:r>
              <a:rPr b="0" i="0" lang="en-US" sz="1050" u="none" cap="none" strike="noStrike">
                <a:solidFill>
                  <a:srgbClr val="334155"/>
                </a:solidFill>
                <a:latin typeface="Plus Jakarta Sans"/>
                <a:ea typeface="Plus Jakarta Sans"/>
                <a:cs typeface="Plus Jakarta Sans"/>
                <a:sym typeface="Plus Jakarta Sans"/>
              </a:rPr>
              <a:t> Project instructions</a:t>
            </a:r>
            <a:endParaRPr/>
          </a:p>
        </p:txBody>
      </p:sp>
      <p:pic>
        <p:nvPicPr>
          <p:cNvPr descr="image.png" id="281" name="Google Shape;281;p18"/>
          <p:cNvPicPr preferRelativeResize="0"/>
          <p:nvPr/>
        </p:nvPicPr>
        <p:blipFill rotWithShape="1">
          <a:blip r:embed="rId12">
            <a:alphaModFix/>
          </a:blip>
          <a:srcRect b="0" l="0" r="0" t="0"/>
          <a:stretch/>
        </p:blipFill>
        <p:spPr>
          <a:xfrm>
            <a:off x="8175575" y="1190625"/>
            <a:ext cx="171450" cy="133350"/>
          </a:xfrm>
          <a:prstGeom prst="rect">
            <a:avLst/>
          </a:prstGeom>
          <a:noFill/>
          <a:ln>
            <a:noFill/>
          </a:ln>
        </p:spPr>
      </p:pic>
      <p:sp>
        <p:nvSpPr>
          <p:cNvPr id="282" name="Google Shape;282;p18"/>
          <p:cNvSpPr txBox="1"/>
          <p:nvPr/>
        </p:nvSpPr>
        <p:spPr>
          <a:xfrm>
            <a:off x="8404175" y="147637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Sessions:</a:t>
            </a:r>
            <a:r>
              <a:rPr b="0" i="0" lang="en-US" sz="1050" u="none" cap="none" strike="noStrike">
                <a:solidFill>
                  <a:srgbClr val="334155"/>
                </a:solidFill>
                <a:latin typeface="Plus Jakarta Sans"/>
                <a:ea typeface="Plus Jakarta Sans"/>
                <a:cs typeface="Plus Jakarta Sans"/>
                <a:sym typeface="Plus Jakarta Sans"/>
              </a:rPr>
              <a:t> Sandboxed VM Linux runs</a:t>
            </a:r>
            <a:endParaRPr/>
          </a:p>
        </p:txBody>
      </p:sp>
      <p:sp>
        <p:nvSpPr>
          <p:cNvPr id="283" name="Google Shape;283;p18"/>
          <p:cNvSpPr txBox="1"/>
          <p:nvPr/>
        </p:nvSpPr>
        <p:spPr>
          <a:xfrm>
            <a:off x="8404175" y="173920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Blueprints:</a:t>
            </a:r>
            <a:r>
              <a:rPr b="0" i="0" lang="en-US" sz="1050" u="none" cap="none" strike="noStrike">
                <a:solidFill>
                  <a:srgbClr val="334155"/>
                </a:solidFill>
                <a:latin typeface="Plus Jakarta Sans"/>
                <a:ea typeface="Plus Jakarta Sans"/>
                <a:cs typeface="Plus Jakarta Sans"/>
                <a:sym typeface="Plus Jakarta Sans"/>
              </a:rPr>
              <a:t> Custom Docker env layers</a:t>
            </a:r>
            <a:endParaRPr/>
          </a:p>
        </p:txBody>
      </p:sp>
      <p:sp>
        <p:nvSpPr>
          <p:cNvPr id="284" name="Google Shape;284;p18"/>
          <p:cNvSpPr txBox="1"/>
          <p:nvPr/>
        </p:nvSpPr>
        <p:spPr>
          <a:xfrm>
            <a:off x="8404175" y="2002035"/>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IDE:</a:t>
            </a:r>
            <a:r>
              <a:rPr b="0" i="0" lang="en-US" sz="1050" u="none" cap="none" strike="noStrike">
                <a:solidFill>
                  <a:srgbClr val="334155"/>
                </a:solidFill>
                <a:latin typeface="Plus Jakarta Sans"/>
                <a:ea typeface="Plus Jakarta Sans"/>
                <a:cs typeface="Plus Jakarta Sans"/>
                <a:sym typeface="Plus Jakarta Sans"/>
              </a:rPr>
              <a:t> Built-in workspace editor</a:t>
            </a:r>
            <a:endParaRPr/>
          </a:p>
        </p:txBody>
      </p:sp>
      <p:sp>
        <p:nvSpPr>
          <p:cNvPr id="285" name="Google Shape;285;p18"/>
          <p:cNvSpPr txBox="1"/>
          <p:nvPr/>
        </p:nvSpPr>
        <p:spPr>
          <a:xfrm>
            <a:off x="8404175" y="226486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Browser:</a:t>
            </a:r>
            <a:r>
              <a:rPr b="0" i="0" lang="en-US" sz="1050" u="none" cap="none" strike="noStrike">
                <a:solidFill>
                  <a:srgbClr val="334155"/>
                </a:solidFill>
                <a:latin typeface="Plus Jakarta Sans"/>
                <a:ea typeface="Plus Jakarta Sans"/>
                <a:cs typeface="Plus Jakarta Sans"/>
                <a:sym typeface="Plus Jakarta Sans"/>
              </a:rPr>
              <a:t> Web interface rendering</a:t>
            </a:r>
            <a:endParaRPr/>
          </a:p>
        </p:txBody>
      </p:sp>
      <p:pic>
        <p:nvPicPr>
          <p:cNvPr descr="image.png" id="286" name="Google Shape;286;p18"/>
          <p:cNvPicPr preferRelativeResize="0"/>
          <p:nvPr/>
        </p:nvPicPr>
        <p:blipFill rotWithShape="1">
          <a:blip r:embed="rId13">
            <a:alphaModFix/>
          </a:blip>
          <a:srcRect b="0" l="0" r="0" t="0"/>
          <a:stretch/>
        </p:blipFill>
        <p:spPr>
          <a:xfrm>
            <a:off x="714375" y="2965846"/>
            <a:ext cx="114300" cy="133350"/>
          </a:xfrm>
          <a:prstGeom prst="rect">
            <a:avLst/>
          </a:prstGeom>
          <a:noFill/>
          <a:ln>
            <a:noFill/>
          </a:ln>
        </p:spPr>
      </p:pic>
      <p:sp>
        <p:nvSpPr>
          <p:cNvPr id="287" name="Google Shape;287;p18"/>
          <p:cNvSpPr txBox="1"/>
          <p:nvPr/>
        </p:nvSpPr>
        <p:spPr>
          <a:xfrm>
            <a:off x="942975" y="325159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Automations:</a:t>
            </a:r>
            <a:r>
              <a:rPr b="0" i="0" lang="en-US" sz="1050" u="none" cap="none" strike="noStrike">
                <a:solidFill>
                  <a:srgbClr val="334155"/>
                </a:solidFill>
                <a:latin typeface="Plus Jakarta Sans"/>
                <a:ea typeface="Plus Jakarta Sans"/>
                <a:cs typeface="Plus Jakarta Sans"/>
                <a:sym typeface="Plus Jakarta Sans"/>
              </a:rPr>
              <a:t> Trigger-action models</a:t>
            </a:r>
            <a:endParaRPr/>
          </a:p>
        </p:txBody>
      </p:sp>
      <p:sp>
        <p:nvSpPr>
          <p:cNvPr id="288" name="Google Shape;288;p18"/>
          <p:cNvSpPr txBox="1"/>
          <p:nvPr/>
        </p:nvSpPr>
        <p:spPr>
          <a:xfrm>
            <a:off x="942975" y="351442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Schedules:</a:t>
            </a:r>
            <a:r>
              <a:rPr b="0" i="0" lang="en-US" sz="1050" u="none" cap="none" strike="noStrike">
                <a:solidFill>
                  <a:srgbClr val="334155"/>
                </a:solidFill>
                <a:latin typeface="Plus Jakarta Sans"/>
                <a:ea typeface="Plus Jakarta Sans"/>
                <a:cs typeface="Plus Jakarta Sans"/>
                <a:sym typeface="Plus Jakarta Sans"/>
              </a:rPr>
              <a:t> Regular cron sessions</a:t>
            </a:r>
            <a:endParaRPr/>
          </a:p>
        </p:txBody>
      </p:sp>
      <p:sp>
        <p:nvSpPr>
          <p:cNvPr id="289" name="Google Shape;289;p18"/>
          <p:cNvSpPr txBox="1"/>
          <p:nvPr/>
        </p:nvSpPr>
        <p:spPr>
          <a:xfrm>
            <a:off x="942975" y="377725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Auto-Triage:</a:t>
            </a:r>
            <a:r>
              <a:rPr b="0" i="0" lang="en-US" sz="1050" u="none" cap="none" strike="noStrike">
                <a:solidFill>
                  <a:srgbClr val="334155"/>
                </a:solidFill>
                <a:latin typeface="Plus Jakarta Sans"/>
                <a:ea typeface="Plus Jakarta Sans"/>
                <a:cs typeface="Plus Jakarta Sans"/>
                <a:sym typeface="Plus Jakarta Sans"/>
              </a:rPr>
              <a:t> Log anomaly sweeps</a:t>
            </a:r>
            <a:endParaRPr/>
          </a:p>
        </p:txBody>
      </p:sp>
      <p:sp>
        <p:nvSpPr>
          <p:cNvPr id="290" name="Google Shape;290;p18"/>
          <p:cNvSpPr txBox="1"/>
          <p:nvPr/>
        </p:nvSpPr>
        <p:spPr>
          <a:xfrm>
            <a:off x="942975" y="4040088"/>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Managed Devins:</a:t>
            </a:r>
            <a:r>
              <a:rPr b="0" i="0" lang="en-US" sz="1050" u="none" cap="none" strike="noStrike">
                <a:solidFill>
                  <a:srgbClr val="334155"/>
                </a:solidFill>
                <a:latin typeface="Plus Jakarta Sans"/>
                <a:ea typeface="Plus Jakarta Sans"/>
                <a:cs typeface="Plus Jakarta Sans"/>
                <a:sym typeface="Plus Jakarta Sans"/>
              </a:rPr>
              <a:t> Parallel sub-agents</a:t>
            </a:r>
            <a:endParaRPr/>
          </a:p>
        </p:txBody>
      </p:sp>
      <p:pic>
        <p:nvPicPr>
          <p:cNvPr descr="image.png" id="291" name="Google Shape;291;p18"/>
          <p:cNvPicPr preferRelativeResize="0"/>
          <p:nvPr/>
        </p:nvPicPr>
        <p:blipFill rotWithShape="1">
          <a:blip r:embed="rId14">
            <a:alphaModFix/>
          </a:blip>
          <a:srcRect b="0" l="0" r="0" t="0"/>
          <a:stretch/>
        </p:blipFill>
        <p:spPr>
          <a:xfrm>
            <a:off x="4444900" y="2965846"/>
            <a:ext cx="133350" cy="133350"/>
          </a:xfrm>
          <a:prstGeom prst="rect">
            <a:avLst/>
          </a:prstGeom>
          <a:noFill/>
          <a:ln>
            <a:noFill/>
          </a:ln>
        </p:spPr>
      </p:pic>
      <p:sp>
        <p:nvSpPr>
          <p:cNvPr id="292" name="Google Shape;292;p18"/>
          <p:cNvSpPr txBox="1"/>
          <p:nvPr/>
        </p:nvSpPr>
        <p:spPr>
          <a:xfrm>
            <a:off x="4673500" y="3251596"/>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RBAC Roles:</a:t>
            </a:r>
            <a:r>
              <a:rPr b="0" i="0" lang="en-US" sz="1050" u="none" cap="none" strike="noStrike">
                <a:solidFill>
                  <a:srgbClr val="334155"/>
                </a:solidFill>
                <a:latin typeface="Plus Jakarta Sans"/>
                <a:ea typeface="Plus Jakarta Sans"/>
                <a:cs typeface="Plus Jakarta Sans"/>
                <a:sym typeface="Plus Jakarta Sans"/>
              </a:rPr>
              <a:t> Action configurations</a:t>
            </a:r>
            <a:endParaRPr/>
          </a:p>
        </p:txBody>
      </p:sp>
      <p:sp>
        <p:nvSpPr>
          <p:cNvPr id="293" name="Google Shape;293;p18"/>
          <p:cNvSpPr txBox="1"/>
          <p:nvPr/>
        </p:nvSpPr>
        <p:spPr>
          <a:xfrm>
            <a:off x="4673500" y="3514427"/>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SSO Integrations:</a:t>
            </a:r>
            <a:r>
              <a:rPr b="0" i="0" lang="en-US" sz="1050" u="none" cap="none" strike="noStrike">
                <a:solidFill>
                  <a:srgbClr val="334155"/>
                </a:solidFill>
                <a:latin typeface="Plus Jakarta Sans"/>
                <a:ea typeface="Plus Jakarta Sans"/>
                <a:cs typeface="Plus Jakarta Sans"/>
                <a:sym typeface="Plus Jakarta Sans"/>
              </a:rPr>
              <a:t> Identity syncs</a:t>
            </a:r>
            <a:endParaRPr/>
          </a:p>
        </p:txBody>
      </p:sp>
      <p:sp>
        <p:nvSpPr>
          <p:cNvPr id="294" name="Google Shape;294;p18"/>
          <p:cNvSpPr txBox="1"/>
          <p:nvPr/>
        </p:nvSpPr>
        <p:spPr>
          <a:xfrm>
            <a:off x="4673500" y="3777257"/>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ACU Budgets:</a:t>
            </a:r>
            <a:r>
              <a:rPr b="0" i="0" lang="en-US" sz="1050" u="none" cap="none" strike="noStrike">
                <a:solidFill>
                  <a:srgbClr val="334155"/>
                </a:solidFill>
                <a:latin typeface="Plus Jakarta Sans"/>
                <a:ea typeface="Plus Jakarta Sans"/>
                <a:cs typeface="Plus Jakarta Sans"/>
                <a:sym typeface="Plus Jakarta Sans"/>
              </a:rPr>
              <a:t> Cost controls</a:t>
            </a:r>
            <a:endParaRPr/>
          </a:p>
        </p:txBody>
      </p:sp>
      <p:sp>
        <p:nvSpPr>
          <p:cNvPr id="295" name="Google Shape;295;p18"/>
          <p:cNvSpPr txBox="1"/>
          <p:nvPr/>
        </p:nvSpPr>
        <p:spPr>
          <a:xfrm>
            <a:off x="4673500" y="4040088"/>
            <a:ext cx="3073449"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IP Lists:</a:t>
            </a:r>
            <a:r>
              <a:rPr b="0" i="0" lang="en-US" sz="1050" u="none" cap="none" strike="noStrike">
                <a:solidFill>
                  <a:srgbClr val="334155"/>
                </a:solidFill>
                <a:latin typeface="Plus Jakarta Sans"/>
                <a:ea typeface="Plus Jakarta Sans"/>
                <a:cs typeface="Plus Jakarta Sans"/>
                <a:sym typeface="Plus Jakarta Sans"/>
              </a:rPr>
              <a:t> Virtual private networking</a:t>
            </a:r>
            <a:endParaRPr/>
          </a:p>
        </p:txBody>
      </p:sp>
      <p:pic>
        <p:nvPicPr>
          <p:cNvPr descr="image.png" id="296" name="Google Shape;296;p18"/>
          <p:cNvPicPr preferRelativeResize="0"/>
          <p:nvPr/>
        </p:nvPicPr>
        <p:blipFill rotWithShape="1">
          <a:blip r:embed="rId15">
            <a:alphaModFix/>
          </a:blip>
          <a:srcRect b="0" l="0" r="0" t="0"/>
          <a:stretch/>
        </p:blipFill>
        <p:spPr>
          <a:xfrm>
            <a:off x="8175575" y="2965846"/>
            <a:ext cx="104775" cy="133350"/>
          </a:xfrm>
          <a:prstGeom prst="rect">
            <a:avLst/>
          </a:prstGeom>
          <a:noFill/>
          <a:ln>
            <a:noFill/>
          </a:ln>
        </p:spPr>
      </p:pic>
      <p:sp>
        <p:nvSpPr>
          <p:cNvPr id="297" name="Google Shape;297;p18"/>
          <p:cNvSpPr txBox="1"/>
          <p:nvPr/>
        </p:nvSpPr>
        <p:spPr>
          <a:xfrm>
            <a:off x="8404175" y="3251596"/>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VCS Hooks:</a:t>
            </a:r>
            <a:r>
              <a:rPr b="0" i="0" lang="en-US" sz="1050" u="none" cap="none" strike="noStrike">
                <a:solidFill>
                  <a:srgbClr val="334155"/>
                </a:solidFill>
                <a:latin typeface="Plus Jakarta Sans"/>
                <a:ea typeface="Plus Jakarta Sans"/>
                <a:cs typeface="Plus Jakarta Sans"/>
                <a:sym typeface="Plus Jakarta Sans"/>
              </a:rPr>
              <a:t> GitHub, GitLab server links</a:t>
            </a:r>
            <a:endParaRPr/>
          </a:p>
        </p:txBody>
      </p:sp>
      <p:sp>
        <p:nvSpPr>
          <p:cNvPr id="298" name="Google Shape;298;p18"/>
          <p:cNvSpPr txBox="1"/>
          <p:nvPr/>
        </p:nvSpPr>
        <p:spPr>
          <a:xfrm>
            <a:off x="8404175" y="351442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PMS:</a:t>
            </a:r>
            <a:r>
              <a:rPr b="0" i="0" lang="en-US" sz="1050" u="none" cap="none" strike="noStrike">
                <a:solidFill>
                  <a:srgbClr val="334155"/>
                </a:solidFill>
                <a:latin typeface="Plus Jakarta Sans"/>
                <a:ea typeface="Plus Jakarta Sans"/>
                <a:cs typeface="Plus Jakarta Sans"/>
                <a:sym typeface="Plus Jakarta Sans"/>
              </a:rPr>
              <a:t> Jira &amp; Linear issue mounts</a:t>
            </a:r>
            <a:endParaRPr/>
          </a:p>
        </p:txBody>
      </p:sp>
      <p:sp>
        <p:nvSpPr>
          <p:cNvPr id="299" name="Google Shape;299;p18"/>
          <p:cNvSpPr txBox="1"/>
          <p:nvPr/>
        </p:nvSpPr>
        <p:spPr>
          <a:xfrm>
            <a:off x="8404175" y="3777257"/>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MCP Transports:</a:t>
            </a:r>
            <a:r>
              <a:rPr b="0" i="0" lang="en-US" sz="1050" u="none" cap="none" strike="noStrike">
                <a:solidFill>
                  <a:srgbClr val="334155"/>
                </a:solidFill>
                <a:latin typeface="Plus Jakarta Sans"/>
                <a:ea typeface="Plus Jakarta Sans"/>
                <a:cs typeface="Plus Jakarta Sans"/>
                <a:sym typeface="Plus Jakarta Sans"/>
              </a:rPr>
              <a:t> Standard protocol hubs</a:t>
            </a:r>
            <a:endParaRPr/>
          </a:p>
        </p:txBody>
      </p:sp>
      <p:sp>
        <p:nvSpPr>
          <p:cNvPr id="300" name="Google Shape;300;p18"/>
          <p:cNvSpPr txBox="1"/>
          <p:nvPr/>
        </p:nvSpPr>
        <p:spPr>
          <a:xfrm>
            <a:off x="8404175" y="4040088"/>
            <a:ext cx="30733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Devin API:</a:t>
            </a:r>
            <a:r>
              <a:rPr b="0" i="0" lang="en-US" sz="1050" u="none" cap="none" strike="noStrike">
                <a:solidFill>
                  <a:srgbClr val="334155"/>
                </a:solidFill>
                <a:latin typeface="Plus Jakarta Sans"/>
                <a:ea typeface="Plus Jakarta Sans"/>
                <a:cs typeface="Plus Jakarta Sans"/>
                <a:sym typeface="Plus Jakarta Sans"/>
              </a:rPr>
              <a:t> Programmatic triggers</a:t>
            </a:r>
            <a:endParaRPr/>
          </a:p>
        </p:txBody>
      </p:sp>
      <p:pic>
        <p:nvPicPr>
          <p:cNvPr descr="image.png" id="301" name="Google Shape;301;p18"/>
          <p:cNvPicPr preferRelativeResize="0"/>
          <p:nvPr/>
        </p:nvPicPr>
        <p:blipFill rotWithShape="1">
          <a:blip r:embed="rId16">
            <a:alphaModFix/>
          </a:blip>
          <a:srcRect b="0" l="0" r="0" t="0"/>
          <a:stretch/>
        </p:blipFill>
        <p:spPr>
          <a:xfrm>
            <a:off x="714375" y="1500187"/>
            <a:ext cx="85725" cy="142875"/>
          </a:xfrm>
          <a:prstGeom prst="rect">
            <a:avLst/>
          </a:prstGeom>
          <a:noFill/>
          <a:ln>
            <a:noFill/>
          </a:ln>
        </p:spPr>
      </p:pic>
      <p:pic>
        <p:nvPicPr>
          <p:cNvPr descr="image.png" id="302" name="Google Shape;302;p18"/>
          <p:cNvPicPr preferRelativeResize="0"/>
          <p:nvPr/>
        </p:nvPicPr>
        <p:blipFill rotWithShape="1">
          <a:blip r:embed="rId17">
            <a:alphaModFix/>
          </a:blip>
          <a:srcRect b="0" l="0" r="0" t="0"/>
          <a:stretch/>
        </p:blipFill>
        <p:spPr>
          <a:xfrm>
            <a:off x="714375" y="1763017"/>
            <a:ext cx="133350" cy="142875"/>
          </a:xfrm>
          <a:prstGeom prst="rect">
            <a:avLst/>
          </a:prstGeom>
          <a:noFill/>
          <a:ln>
            <a:noFill/>
          </a:ln>
        </p:spPr>
      </p:pic>
      <p:pic>
        <p:nvPicPr>
          <p:cNvPr descr="image.png" id="303" name="Google Shape;303;p18"/>
          <p:cNvPicPr preferRelativeResize="0"/>
          <p:nvPr/>
        </p:nvPicPr>
        <p:blipFill rotWithShape="1">
          <a:blip r:embed="rId18">
            <a:alphaModFix/>
          </a:blip>
          <a:srcRect b="0" l="0" r="0" t="0"/>
          <a:stretch/>
        </p:blipFill>
        <p:spPr>
          <a:xfrm>
            <a:off x="714375" y="2025848"/>
            <a:ext cx="152400" cy="142875"/>
          </a:xfrm>
          <a:prstGeom prst="rect">
            <a:avLst/>
          </a:prstGeom>
          <a:noFill/>
          <a:ln>
            <a:noFill/>
          </a:ln>
        </p:spPr>
      </p:pic>
      <p:pic>
        <p:nvPicPr>
          <p:cNvPr descr="image.png" id="304" name="Google Shape;304;p18"/>
          <p:cNvPicPr preferRelativeResize="0"/>
          <p:nvPr/>
        </p:nvPicPr>
        <p:blipFill rotWithShape="1">
          <a:blip r:embed="rId19">
            <a:alphaModFix/>
          </a:blip>
          <a:srcRect b="0" l="0" r="0" t="0"/>
          <a:stretch/>
        </p:blipFill>
        <p:spPr>
          <a:xfrm>
            <a:off x="714375" y="2288678"/>
            <a:ext cx="171450" cy="142875"/>
          </a:xfrm>
          <a:prstGeom prst="rect">
            <a:avLst/>
          </a:prstGeom>
          <a:noFill/>
          <a:ln>
            <a:noFill/>
          </a:ln>
        </p:spPr>
      </p:pic>
      <p:pic>
        <p:nvPicPr>
          <p:cNvPr descr="image.png" id="305" name="Google Shape;305;p18"/>
          <p:cNvPicPr preferRelativeResize="0"/>
          <p:nvPr/>
        </p:nvPicPr>
        <p:blipFill rotWithShape="1">
          <a:blip r:embed="rId20">
            <a:alphaModFix/>
          </a:blip>
          <a:srcRect b="0" l="0" r="0" t="0"/>
          <a:stretch/>
        </p:blipFill>
        <p:spPr>
          <a:xfrm>
            <a:off x="4444900" y="1500187"/>
            <a:ext cx="85725" cy="142875"/>
          </a:xfrm>
          <a:prstGeom prst="rect">
            <a:avLst/>
          </a:prstGeom>
          <a:noFill/>
          <a:ln>
            <a:noFill/>
          </a:ln>
        </p:spPr>
      </p:pic>
      <p:pic>
        <p:nvPicPr>
          <p:cNvPr descr="image.png" id="306" name="Google Shape;306;p18"/>
          <p:cNvPicPr preferRelativeResize="0"/>
          <p:nvPr/>
        </p:nvPicPr>
        <p:blipFill rotWithShape="1">
          <a:blip r:embed="rId20">
            <a:alphaModFix/>
          </a:blip>
          <a:srcRect b="0" l="0" r="0" t="0"/>
          <a:stretch/>
        </p:blipFill>
        <p:spPr>
          <a:xfrm>
            <a:off x="4444900" y="1763017"/>
            <a:ext cx="85725" cy="142875"/>
          </a:xfrm>
          <a:prstGeom prst="rect">
            <a:avLst/>
          </a:prstGeom>
          <a:noFill/>
          <a:ln>
            <a:noFill/>
          </a:ln>
        </p:spPr>
      </p:pic>
      <p:pic>
        <p:nvPicPr>
          <p:cNvPr descr="image.png" id="307" name="Google Shape;307;p18"/>
          <p:cNvPicPr preferRelativeResize="0"/>
          <p:nvPr/>
        </p:nvPicPr>
        <p:blipFill rotWithShape="1">
          <a:blip r:embed="rId20">
            <a:alphaModFix/>
          </a:blip>
          <a:srcRect b="0" l="0" r="0" t="0"/>
          <a:stretch/>
        </p:blipFill>
        <p:spPr>
          <a:xfrm>
            <a:off x="4444900" y="2025848"/>
            <a:ext cx="85725" cy="142875"/>
          </a:xfrm>
          <a:prstGeom prst="rect">
            <a:avLst/>
          </a:prstGeom>
          <a:noFill/>
          <a:ln>
            <a:noFill/>
          </a:ln>
        </p:spPr>
      </p:pic>
      <p:pic>
        <p:nvPicPr>
          <p:cNvPr descr="image.png" id="308" name="Google Shape;308;p18"/>
          <p:cNvPicPr preferRelativeResize="0"/>
          <p:nvPr/>
        </p:nvPicPr>
        <p:blipFill rotWithShape="1">
          <a:blip r:embed="rId20">
            <a:alphaModFix/>
          </a:blip>
          <a:srcRect b="0" l="0" r="0" t="0"/>
          <a:stretch/>
        </p:blipFill>
        <p:spPr>
          <a:xfrm>
            <a:off x="4444900" y="2288678"/>
            <a:ext cx="85725" cy="142875"/>
          </a:xfrm>
          <a:prstGeom prst="rect">
            <a:avLst/>
          </a:prstGeom>
          <a:noFill/>
          <a:ln>
            <a:noFill/>
          </a:ln>
        </p:spPr>
      </p:pic>
      <p:pic>
        <p:nvPicPr>
          <p:cNvPr descr="image.png" id="309" name="Google Shape;309;p18"/>
          <p:cNvPicPr preferRelativeResize="0"/>
          <p:nvPr/>
        </p:nvPicPr>
        <p:blipFill rotWithShape="1">
          <a:blip r:embed="rId21">
            <a:alphaModFix/>
          </a:blip>
          <a:srcRect b="0" l="0" r="0" t="0"/>
          <a:stretch/>
        </p:blipFill>
        <p:spPr>
          <a:xfrm>
            <a:off x="8175575" y="1500187"/>
            <a:ext cx="85725" cy="142875"/>
          </a:xfrm>
          <a:prstGeom prst="rect">
            <a:avLst/>
          </a:prstGeom>
          <a:noFill/>
          <a:ln>
            <a:noFill/>
          </a:ln>
        </p:spPr>
      </p:pic>
      <p:pic>
        <p:nvPicPr>
          <p:cNvPr descr="image.png" id="310" name="Google Shape;310;p18"/>
          <p:cNvPicPr preferRelativeResize="0"/>
          <p:nvPr/>
        </p:nvPicPr>
        <p:blipFill rotWithShape="1">
          <a:blip r:embed="rId21">
            <a:alphaModFix/>
          </a:blip>
          <a:srcRect b="0" l="0" r="0" t="0"/>
          <a:stretch/>
        </p:blipFill>
        <p:spPr>
          <a:xfrm>
            <a:off x="8175575" y="1763017"/>
            <a:ext cx="85725" cy="142875"/>
          </a:xfrm>
          <a:prstGeom prst="rect">
            <a:avLst/>
          </a:prstGeom>
          <a:noFill/>
          <a:ln>
            <a:noFill/>
          </a:ln>
        </p:spPr>
      </p:pic>
      <p:pic>
        <p:nvPicPr>
          <p:cNvPr descr="image.png" id="311" name="Google Shape;311;p18"/>
          <p:cNvPicPr preferRelativeResize="0"/>
          <p:nvPr/>
        </p:nvPicPr>
        <p:blipFill rotWithShape="1">
          <a:blip r:embed="rId21">
            <a:alphaModFix/>
          </a:blip>
          <a:srcRect b="0" l="0" r="0" t="0"/>
          <a:stretch/>
        </p:blipFill>
        <p:spPr>
          <a:xfrm>
            <a:off x="8175575" y="2025848"/>
            <a:ext cx="85725" cy="142875"/>
          </a:xfrm>
          <a:prstGeom prst="rect">
            <a:avLst/>
          </a:prstGeom>
          <a:noFill/>
          <a:ln>
            <a:noFill/>
          </a:ln>
        </p:spPr>
      </p:pic>
      <p:pic>
        <p:nvPicPr>
          <p:cNvPr descr="image.png" id="312" name="Google Shape;312;p18"/>
          <p:cNvPicPr preferRelativeResize="0"/>
          <p:nvPr/>
        </p:nvPicPr>
        <p:blipFill rotWithShape="1">
          <a:blip r:embed="rId21">
            <a:alphaModFix/>
          </a:blip>
          <a:srcRect b="0" l="0" r="0" t="0"/>
          <a:stretch/>
        </p:blipFill>
        <p:spPr>
          <a:xfrm>
            <a:off x="8175575" y="2288678"/>
            <a:ext cx="85725" cy="142875"/>
          </a:xfrm>
          <a:prstGeom prst="rect">
            <a:avLst/>
          </a:prstGeom>
          <a:noFill/>
          <a:ln>
            <a:noFill/>
          </a:ln>
        </p:spPr>
      </p:pic>
      <p:pic>
        <p:nvPicPr>
          <p:cNvPr descr="image.png" id="313" name="Google Shape;313;p18"/>
          <p:cNvPicPr preferRelativeResize="0"/>
          <p:nvPr/>
        </p:nvPicPr>
        <p:blipFill rotWithShape="1">
          <a:blip r:embed="rId22">
            <a:alphaModFix/>
          </a:blip>
          <a:srcRect b="0" l="0" r="0" t="0"/>
          <a:stretch/>
        </p:blipFill>
        <p:spPr>
          <a:xfrm>
            <a:off x="714375" y="3275409"/>
            <a:ext cx="85725" cy="142875"/>
          </a:xfrm>
          <a:prstGeom prst="rect">
            <a:avLst/>
          </a:prstGeom>
          <a:noFill/>
          <a:ln>
            <a:noFill/>
          </a:ln>
        </p:spPr>
      </p:pic>
      <p:pic>
        <p:nvPicPr>
          <p:cNvPr descr="image.png" id="314" name="Google Shape;314;p18"/>
          <p:cNvPicPr preferRelativeResize="0"/>
          <p:nvPr/>
        </p:nvPicPr>
        <p:blipFill rotWithShape="1">
          <a:blip r:embed="rId22">
            <a:alphaModFix/>
          </a:blip>
          <a:srcRect b="0" l="0" r="0" t="0"/>
          <a:stretch/>
        </p:blipFill>
        <p:spPr>
          <a:xfrm>
            <a:off x="714375" y="3538239"/>
            <a:ext cx="85725" cy="142875"/>
          </a:xfrm>
          <a:prstGeom prst="rect">
            <a:avLst/>
          </a:prstGeom>
          <a:noFill/>
          <a:ln>
            <a:noFill/>
          </a:ln>
        </p:spPr>
      </p:pic>
      <p:pic>
        <p:nvPicPr>
          <p:cNvPr descr="image.png" id="315" name="Google Shape;315;p18"/>
          <p:cNvPicPr preferRelativeResize="0"/>
          <p:nvPr/>
        </p:nvPicPr>
        <p:blipFill rotWithShape="1">
          <a:blip r:embed="rId22">
            <a:alphaModFix/>
          </a:blip>
          <a:srcRect b="0" l="0" r="0" t="0"/>
          <a:stretch/>
        </p:blipFill>
        <p:spPr>
          <a:xfrm>
            <a:off x="714375" y="4063900"/>
            <a:ext cx="85725" cy="142875"/>
          </a:xfrm>
          <a:prstGeom prst="rect">
            <a:avLst/>
          </a:prstGeom>
          <a:noFill/>
          <a:ln>
            <a:noFill/>
          </a:ln>
        </p:spPr>
      </p:pic>
      <p:pic>
        <p:nvPicPr>
          <p:cNvPr descr="image.png" id="316" name="Google Shape;316;p18"/>
          <p:cNvPicPr preferRelativeResize="0"/>
          <p:nvPr/>
        </p:nvPicPr>
        <p:blipFill rotWithShape="1">
          <a:blip r:embed="rId23">
            <a:alphaModFix/>
          </a:blip>
          <a:srcRect b="0" l="0" r="0" t="0"/>
          <a:stretch/>
        </p:blipFill>
        <p:spPr>
          <a:xfrm>
            <a:off x="4444900" y="3275409"/>
            <a:ext cx="85725" cy="142875"/>
          </a:xfrm>
          <a:prstGeom prst="rect">
            <a:avLst/>
          </a:prstGeom>
          <a:noFill/>
          <a:ln>
            <a:noFill/>
          </a:ln>
        </p:spPr>
      </p:pic>
      <p:pic>
        <p:nvPicPr>
          <p:cNvPr descr="image.png" id="317" name="Google Shape;317;p18"/>
          <p:cNvPicPr preferRelativeResize="0"/>
          <p:nvPr/>
        </p:nvPicPr>
        <p:blipFill rotWithShape="1">
          <a:blip r:embed="rId23">
            <a:alphaModFix/>
          </a:blip>
          <a:srcRect b="0" l="0" r="0" t="0"/>
          <a:stretch/>
        </p:blipFill>
        <p:spPr>
          <a:xfrm>
            <a:off x="4444900" y="3538239"/>
            <a:ext cx="85725" cy="142875"/>
          </a:xfrm>
          <a:prstGeom prst="rect">
            <a:avLst/>
          </a:prstGeom>
          <a:noFill/>
          <a:ln>
            <a:noFill/>
          </a:ln>
        </p:spPr>
      </p:pic>
      <p:pic>
        <p:nvPicPr>
          <p:cNvPr descr="image.png" id="318" name="Google Shape;318;p18"/>
          <p:cNvPicPr preferRelativeResize="0"/>
          <p:nvPr/>
        </p:nvPicPr>
        <p:blipFill rotWithShape="1">
          <a:blip r:embed="rId23">
            <a:alphaModFix/>
          </a:blip>
          <a:srcRect b="0" l="0" r="0" t="0"/>
          <a:stretch/>
        </p:blipFill>
        <p:spPr>
          <a:xfrm>
            <a:off x="4444900" y="3801070"/>
            <a:ext cx="85725" cy="142875"/>
          </a:xfrm>
          <a:prstGeom prst="rect">
            <a:avLst/>
          </a:prstGeom>
          <a:noFill/>
          <a:ln>
            <a:noFill/>
          </a:ln>
        </p:spPr>
      </p:pic>
      <p:pic>
        <p:nvPicPr>
          <p:cNvPr descr="image.png" id="319" name="Google Shape;319;p18"/>
          <p:cNvPicPr preferRelativeResize="0"/>
          <p:nvPr/>
        </p:nvPicPr>
        <p:blipFill rotWithShape="1">
          <a:blip r:embed="rId23">
            <a:alphaModFix/>
          </a:blip>
          <a:srcRect b="0" l="0" r="0" t="0"/>
          <a:stretch/>
        </p:blipFill>
        <p:spPr>
          <a:xfrm>
            <a:off x="4444900" y="4063900"/>
            <a:ext cx="85725" cy="142875"/>
          </a:xfrm>
          <a:prstGeom prst="rect">
            <a:avLst/>
          </a:prstGeom>
          <a:noFill/>
          <a:ln>
            <a:noFill/>
          </a:ln>
        </p:spPr>
      </p:pic>
      <p:pic>
        <p:nvPicPr>
          <p:cNvPr descr="image.png" id="320" name="Google Shape;320;p18"/>
          <p:cNvPicPr preferRelativeResize="0"/>
          <p:nvPr/>
        </p:nvPicPr>
        <p:blipFill rotWithShape="1">
          <a:blip r:embed="rId16">
            <a:alphaModFix/>
          </a:blip>
          <a:srcRect b="0" l="0" r="0" t="0"/>
          <a:stretch/>
        </p:blipFill>
        <p:spPr>
          <a:xfrm>
            <a:off x="8175575" y="3275409"/>
            <a:ext cx="85725" cy="142875"/>
          </a:xfrm>
          <a:prstGeom prst="rect">
            <a:avLst/>
          </a:prstGeom>
          <a:noFill/>
          <a:ln>
            <a:noFill/>
          </a:ln>
        </p:spPr>
      </p:pic>
      <p:pic>
        <p:nvPicPr>
          <p:cNvPr descr="image.png" id="321" name="Google Shape;321;p18"/>
          <p:cNvPicPr preferRelativeResize="0"/>
          <p:nvPr/>
        </p:nvPicPr>
        <p:blipFill rotWithShape="1">
          <a:blip r:embed="rId16">
            <a:alphaModFix/>
          </a:blip>
          <a:srcRect b="0" l="0" r="0" t="0"/>
          <a:stretch/>
        </p:blipFill>
        <p:spPr>
          <a:xfrm>
            <a:off x="8175575" y="3538239"/>
            <a:ext cx="85725" cy="142875"/>
          </a:xfrm>
          <a:prstGeom prst="rect">
            <a:avLst/>
          </a:prstGeom>
          <a:noFill/>
          <a:ln>
            <a:noFill/>
          </a:ln>
        </p:spPr>
      </p:pic>
      <p:pic>
        <p:nvPicPr>
          <p:cNvPr descr="image.png" id="322" name="Google Shape;322;p18"/>
          <p:cNvPicPr preferRelativeResize="0"/>
          <p:nvPr/>
        </p:nvPicPr>
        <p:blipFill rotWithShape="1">
          <a:blip r:embed="rId16">
            <a:alphaModFix/>
          </a:blip>
          <a:srcRect b="0" l="0" r="0" t="0"/>
          <a:stretch/>
        </p:blipFill>
        <p:spPr>
          <a:xfrm>
            <a:off x="8175575" y="3801070"/>
            <a:ext cx="85725" cy="142875"/>
          </a:xfrm>
          <a:prstGeom prst="rect">
            <a:avLst/>
          </a:prstGeom>
          <a:noFill/>
          <a:ln>
            <a:noFill/>
          </a:ln>
        </p:spPr>
      </p:pic>
      <p:pic>
        <p:nvPicPr>
          <p:cNvPr descr="image.png" id="323" name="Google Shape;323;p18"/>
          <p:cNvPicPr preferRelativeResize="0"/>
          <p:nvPr/>
        </p:nvPicPr>
        <p:blipFill rotWithShape="1">
          <a:blip r:embed="rId16">
            <a:alphaModFix/>
          </a:blip>
          <a:srcRect b="0" l="0" r="0" t="0"/>
          <a:stretch/>
        </p:blipFill>
        <p:spPr>
          <a:xfrm>
            <a:off x="8175575" y="4063900"/>
            <a:ext cx="85725" cy="142875"/>
          </a:xfrm>
          <a:prstGeom prst="rect">
            <a:avLst/>
          </a:prstGeom>
          <a:noFill/>
          <a:ln>
            <a:noFill/>
          </a:ln>
        </p:spPr>
      </p:pic>
      <p:sp>
        <p:nvSpPr>
          <p:cNvPr id="324" name="Google Shape;324;p18"/>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Devin Core Feature Ecosystem</a:t>
            </a:r>
            <a:endParaRPr/>
          </a:p>
        </p:txBody>
      </p:sp>
      <p:sp>
        <p:nvSpPr>
          <p:cNvPr id="325" name="Google Shape;325;p18"/>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pic>
        <p:nvPicPr>
          <p:cNvPr id="330" name="Google Shape;33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31" name="Google Shape;331;p19"/>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grpSp>
        <p:nvGrpSpPr>
          <p:cNvPr id="332" name="Google Shape;332;p19"/>
          <p:cNvGrpSpPr/>
          <p:nvPr/>
        </p:nvGrpSpPr>
        <p:grpSpPr>
          <a:xfrm>
            <a:off x="571500" y="1143000"/>
            <a:ext cx="5334000" cy="2286000"/>
            <a:chOff x="571500" y="1143000"/>
            <a:chExt cx="5334000" cy="2286000"/>
          </a:xfrm>
        </p:grpSpPr>
        <p:sp>
          <p:nvSpPr>
            <p:cNvPr id="333" name="Google Shape;333;p19"/>
            <p:cNvSpPr/>
            <p:nvPr/>
          </p:nvSpPr>
          <p:spPr>
            <a:xfrm>
              <a:off x="571500" y="11430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19"/>
            <p:cNvSpPr/>
            <p:nvPr/>
          </p:nvSpPr>
          <p:spPr>
            <a:xfrm>
              <a:off x="571500" y="1143000"/>
              <a:ext cx="57300" cy="22860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19"/>
            <p:cNvSpPr txBox="1"/>
            <p:nvPr/>
          </p:nvSpPr>
          <p:spPr>
            <a:xfrm>
              <a:off x="809625" y="13627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2563EB"/>
                  </a:solidFill>
                  <a:latin typeface="Material Icons"/>
                  <a:ea typeface="Material Icons"/>
                  <a:cs typeface="Material Icons"/>
                  <a:sym typeface="Material Icons"/>
                </a:rPr>
                <a:t>construction</a:t>
              </a:r>
              <a:endParaRPr sz="2000">
                <a:solidFill>
                  <a:srgbClr val="2563EB"/>
                </a:solidFill>
                <a:latin typeface="Material Icons"/>
                <a:ea typeface="Material Icons"/>
                <a:cs typeface="Material Icons"/>
                <a:sym typeface="Material Icons"/>
              </a:endParaRPr>
            </a:p>
          </p:txBody>
        </p:sp>
        <p:sp>
          <p:nvSpPr>
            <p:cNvPr id="336" name="Google Shape;336;p19"/>
            <p:cNvSpPr txBox="1"/>
            <p:nvPr/>
          </p:nvSpPr>
          <p:spPr>
            <a:xfrm>
              <a:off x="1190625" y="13335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2563EB"/>
                  </a:solidFill>
                  <a:latin typeface="Plus Jakarta Sans"/>
                  <a:ea typeface="Plus Jakarta Sans"/>
                  <a:cs typeface="Plus Jakarta Sans"/>
                  <a:sym typeface="Plus Jakarta Sans"/>
                </a:rPr>
                <a:t>1. Skills</a:t>
              </a:r>
              <a:endParaRPr b="1" sz="1300">
                <a:solidFill>
                  <a:srgbClr val="2563EB"/>
                </a:solidFill>
                <a:latin typeface="Plus Jakarta Sans"/>
                <a:ea typeface="Plus Jakarta Sans"/>
                <a:cs typeface="Plus Jakarta Sans"/>
                <a:sym typeface="Plus Jakarta Sans"/>
              </a:endParaRPr>
            </a:p>
          </p:txBody>
        </p:sp>
        <p:sp>
          <p:nvSpPr>
            <p:cNvPr id="337" name="Google Shape;337;p19"/>
            <p:cNvSpPr txBox="1"/>
            <p:nvPr/>
          </p:nvSpPr>
          <p:spPr>
            <a:xfrm>
              <a:off x="809625" y="1714500"/>
              <a:ext cx="485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a:t>
              </a:r>
              <a:r>
                <a:rPr lang="en-US" sz="850">
                  <a:solidFill>
                    <a:srgbClr val="475569"/>
                  </a:solidFill>
                  <a:latin typeface="Arial"/>
                  <a:ea typeface="Arial"/>
                  <a:cs typeface="Arial"/>
                  <a:sym typeface="Arial"/>
                </a:rPr>
                <a:t>SKILL.md</a:t>
              </a:r>
              <a:r>
                <a:rPr lang="en-US" sz="950">
                  <a:solidFill>
                    <a:srgbClr val="475569"/>
                  </a:solidFill>
                  <a:latin typeface="Plus Jakarta Sans"/>
                  <a:ea typeface="Plus Jakarta Sans"/>
                  <a:cs typeface="Plus Jakarta Sans"/>
                  <a:sym typeface="Plus Jakarta Sans"/>
                </a:rPr>
                <a:t> files committed to your repo that teach Devin reusable, step-by-step procedures. Devin auto-discovers them.</a:t>
              </a:r>
              <a:endParaRPr sz="950">
                <a:solidFill>
                  <a:srgbClr val="475569"/>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850">
                  <a:solidFill>
                    <a:srgbClr val="1E293B"/>
                  </a:solidFill>
                  <a:latin typeface="Plus Jakarta Sans"/>
                  <a:ea typeface="Plus Jakarta Sans"/>
                  <a:cs typeface="Plus Jakarta Sans"/>
                  <a:sym typeface="Plus Jakarta Sans"/>
                </a:rPr>
                <a:t>Example use:</a:t>
              </a:r>
              <a:r>
                <a:rPr lang="en-US" sz="850">
                  <a:solidFill>
                    <a:srgbClr val="475569"/>
                  </a:solidFill>
                  <a:latin typeface="Plus Jakarta Sans"/>
                  <a:ea typeface="Plus Jakarta Sans"/>
                  <a:cs typeface="Plus Jakarta Sans"/>
                  <a:sym typeface="Plus Jakarta Sans"/>
                </a:rPr>
                <a:t> A </a:t>
              </a:r>
              <a:r>
                <a:rPr lang="en-US" sz="800">
                  <a:solidFill>
                    <a:srgbClr val="475569"/>
                  </a:solidFill>
                  <a:latin typeface="Arial"/>
                  <a:ea typeface="Arial"/>
                  <a:cs typeface="Arial"/>
                  <a:sym typeface="Arial"/>
                </a:rPr>
                <a:t>test-before-pr</a:t>
              </a:r>
              <a:r>
                <a:rPr lang="en-US" sz="850">
                  <a:solidFill>
                    <a:srgbClr val="475569"/>
                  </a:solidFill>
                  <a:latin typeface="Plus Jakarta Sans"/>
                  <a:ea typeface="Plus Jakarta Sans"/>
                  <a:cs typeface="Plus Jakarta Sans"/>
                  <a:sym typeface="Plus Jakarta Sans"/>
                </a:rPr>
                <a:t> skill that tells Devin to run </a:t>
              </a:r>
              <a:r>
                <a:rPr lang="en-US" sz="800">
                  <a:solidFill>
                    <a:srgbClr val="475569"/>
                  </a:solidFill>
                  <a:latin typeface="Arial"/>
                  <a:ea typeface="Arial"/>
                  <a:cs typeface="Arial"/>
                  <a:sym typeface="Arial"/>
                </a:rPr>
                <a:t>npm install</a:t>
              </a:r>
              <a:r>
                <a:rPr lang="en-US" sz="850">
                  <a:solidFill>
                    <a:srgbClr val="475569"/>
                  </a:solidFill>
                  <a:latin typeface="Plus Jakarta Sans"/>
                  <a:ea typeface="Plus Jakarta Sans"/>
                  <a:cs typeface="Plus Jakarta Sans"/>
                  <a:sym typeface="Plus Jakarta Sans"/>
                </a:rPr>
                <a:t>, start the dev server, run </a:t>
              </a:r>
              <a:r>
                <a:rPr lang="en-US" sz="800">
                  <a:solidFill>
                    <a:srgbClr val="475569"/>
                  </a:solidFill>
                  <a:latin typeface="Arial"/>
                  <a:ea typeface="Arial"/>
                  <a:cs typeface="Arial"/>
                  <a:sym typeface="Arial"/>
                </a:rPr>
                <a:t>npm test</a:t>
              </a:r>
              <a:r>
                <a:rPr lang="en-US" sz="850">
                  <a:solidFill>
                    <a:srgbClr val="475569"/>
                  </a:solidFill>
                  <a:latin typeface="Plus Jakarta Sans"/>
                  <a:ea typeface="Plus Jakarta Sans"/>
                  <a:cs typeface="Plus Jakarta Sans"/>
                  <a:sym typeface="Plus Jakarta Sans"/>
                </a:rPr>
                <a:t>, and include screenshots before opening any PR. Invoke with </a:t>
              </a:r>
              <a:r>
                <a:rPr lang="en-US" sz="800">
                  <a:solidFill>
                    <a:srgbClr val="475569"/>
                  </a:solidFill>
                  <a:latin typeface="Arial"/>
                  <a:ea typeface="Arial"/>
                  <a:cs typeface="Arial"/>
                  <a:sym typeface="Arial"/>
                </a:rPr>
                <a:t>@skills:deploy staging</a:t>
              </a:r>
              <a:r>
                <a:rPr lang="en-US" sz="850">
                  <a:solidFill>
                    <a:srgbClr val="475569"/>
                  </a:solidFill>
                  <a:latin typeface="Plus Jakarta Sans"/>
                  <a:ea typeface="Plus Jakarta Sans"/>
                  <a:cs typeface="Plus Jakarta Sans"/>
                  <a:sym typeface="Plus Jakarta Sans"/>
                </a:rPr>
                <a:t>.</a:t>
              </a:r>
              <a:endParaRPr sz="85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US" sz="850">
                  <a:solidFill>
                    <a:srgbClr val="1E293B"/>
                  </a:solidFill>
                  <a:latin typeface="Plus Jakarta Sans"/>
                  <a:ea typeface="Plus Jakarta Sans"/>
                  <a:cs typeface="Plus Jakarta Sans"/>
                  <a:sym typeface="Plus Jakarta Sans"/>
                </a:rPr>
                <a:t>Best for: Repeatable workflows like testing, deploying, or investigating code — things that should be done the same way every time.</a:t>
              </a:r>
              <a:endParaRPr b="1" sz="850">
                <a:solidFill>
                  <a:srgbClr val="1E293B"/>
                </a:solidFill>
                <a:latin typeface="Plus Jakarta Sans"/>
                <a:ea typeface="Plus Jakarta Sans"/>
                <a:cs typeface="Plus Jakarta Sans"/>
                <a:sym typeface="Plus Jakarta Sans"/>
              </a:endParaRPr>
            </a:p>
          </p:txBody>
        </p:sp>
      </p:grpSp>
      <p:grpSp>
        <p:nvGrpSpPr>
          <p:cNvPr id="338" name="Google Shape;338;p19"/>
          <p:cNvGrpSpPr/>
          <p:nvPr/>
        </p:nvGrpSpPr>
        <p:grpSpPr>
          <a:xfrm>
            <a:off x="6286500" y="1143000"/>
            <a:ext cx="5334000" cy="2286000"/>
            <a:chOff x="6286500" y="1143000"/>
            <a:chExt cx="5334000" cy="2286000"/>
          </a:xfrm>
        </p:grpSpPr>
        <p:sp>
          <p:nvSpPr>
            <p:cNvPr id="339" name="Google Shape;339;p19"/>
            <p:cNvSpPr/>
            <p:nvPr/>
          </p:nvSpPr>
          <p:spPr>
            <a:xfrm>
              <a:off x="6286500" y="11430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19"/>
            <p:cNvSpPr/>
            <p:nvPr/>
          </p:nvSpPr>
          <p:spPr>
            <a:xfrm>
              <a:off x="6286500" y="1143000"/>
              <a:ext cx="57300" cy="22860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19"/>
            <p:cNvSpPr txBox="1"/>
            <p:nvPr/>
          </p:nvSpPr>
          <p:spPr>
            <a:xfrm>
              <a:off x="6524625" y="13627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7C3AED"/>
                  </a:solidFill>
                  <a:latin typeface="Material Icons"/>
                  <a:ea typeface="Material Icons"/>
                  <a:cs typeface="Material Icons"/>
                  <a:sym typeface="Material Icons"/>
                </a:rPr>
                <a:t>gavel</a:t>
              </a:r>
              <a:endParaRPr sz="2000">
                <a:solidFill>
                  <a:srgbClr val="7C3AED"/>
                </a:solidFill>
                <a:latin typeface="Material Icons"/>
                <a:ea typeface="Material Icons"/>
                <a:cs typeface="Material Icons"/>
                <a:sym typeface="Material Icons"/>
              </a:endParaRPr>
            </a:p>
          </p:txBody>
        </p:sp>
        <p:sp>
          <p:nvSpPr>
            <p:cNvPr id="342" name="Google Shape;342;p19"/>
            <p:cNvSpPr txBox="1"/>
            <p:nvPr/>
          </p:nvSpPr>
          <p:spPr>
            <a:xfrm>
              <a:off x="6905625" y="13335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7C3AED"/>
                  </a:solidFill>
                  <a:latin typeface="Plus Jakarta Sans"/>
                  <a:ea typeface="Plus Jakarta Sans"/>
                  <a:cs typeface="Plus Jakarta Sans"/>
                  <a:sym typeface="Plus Jakarta Sans"/>
                </a:rPr>
                <a:t>2. Rules (AGENTS.md)</a:t>
              </a:r>
              <a:endParaRPr b="1" sz="1300">
                <a:solidFill>
                  <a:srgbClr val="7C3AED"/>
                </a:solidFill>
                <a:latin typeface="Plus Jakarta Sans"/>
                <a:ea typeface="Plus Jakarta Sans"/>
                <a:cs typeface="Plus Jakarta Sans"/>
                <a:sym typeface="Plus Jakarta Sans"/>
              </a:endParaRPr>
            </a:p>
          </p:txBody>
        </p:sp>
        <p:sp>
          <p:nvSpPr>
            <p:cNvPr id="343" name="Google Shape;343;p19"/>
            <p:cNvSpPr txBox="1"/>
            <p:nvPr/>
          </p:nvSpPr>
          <p:spPr>
            <a:xfrm>
              <a:off x="6524625" y="1666875"/>
              <a:ext cx="48579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Always-on instructions injected into every session. Place an </a:t>
              </a:r>
              <a:r>
                <a:rPr lang="en-US" sz="850">
                  <a:solidFill>
                    <a:srgbClr val="475569"/>
                  </a:solidFill>
                  <a:latin typeface="Arial"/>
                  <a:ea typeface="Arial"/>
                  <a:cs typeface="Arial"/>
                  <a:sym typeface="Arial"/>
                </a:rPr>
                <a:t>AGENTS.md</a:t>
              </a:r>
              <a:r>
                <a:rPr lang="en-US" sz="950">
                  <a:solidFill>
                    <a:srgbClr val="475569"/>
                  </a:solidFill>
                  <a:latin typeface="Plus Jakarta Sans"/>
                  <a:ea typeface="Plus Jakarta Sans"/>
                  <a:cs typeface="Plus Jakarta Sans"/>
                  <a:sym typeface="Plus Jakarta Sans"/>
                </a:rPr>
                <a:t> at your project root (or globally at </a:t>
              </a:r>
              <a:r>
                <a:rPr lang="en-US" sz="850">
                  <a:solidFill>
                    <a:srgbClr val="475569"/>
                  </a:solidFill>
                  <a:latin typeface="Arial"/>
                  <a:ea typeface="Arial"/>
                  <a:cs typeface="Arial"/>
                  <a:sym typeface="Arial"/>
                </a:rPr>
                <a:t>~/.config/devin/AGENTS.md</a:t>
              </a:r>
              <a:r>
                <a:rPr lang="en-US" sz="950">
                  <a:solidFill>
                    <a:srgbClr val="475569"/>
                  </a:solidFill>
                  <a:latin typeface="Plus Jakarta Sans"/>
                  <a:ea typeface="Plus Jakarta Sans"/>
                  <a:cs typeface="Plus Jakarta Sans"/>
                  <a:sym typeface="Plus Jakarta Sans"/>
                </a:rPr>
                <a:t>).</a:t>
              </a:r>
              <a:endParaRPr sz="950">
                <a:solidFill>
                  <a:srgbClr val="475569"/>
                </a:solidFill>
                <a:latin typeface="Plus Jakarta Sans"/>
                <a:ea typeface="Plus Jakarta Sans"/>
                <a:cs typeface="Plus Jakarta Sans"/>
                <a:sym typeface="Plus Jakarta Sans"/>
              </a:endParaRPr>
            </a:p>
          </p:txBody>
        </p:sp>
        <p:sp>
          <p:nvSpPr>
            <p:cNvPr id="344" name="Google Shape;344;p19"/>
            <p:cNvSpPr txBox="1"/>
            <p:nvPr/>
          </p:nvSpPr>
          <p:spPr>
            <a:xfrm>
              <a:off x="6524625" y="2762250"/>
              <a:ext cx="4857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1E293B"/>
                  </a:solidFill>
                  <a:latin typeface="Plus Jakarta Sans"/>
                  <a:ea typeface="Plus Jakarta Sans"/>
                  <a:cs typeface="Plus Jakarta Sans"/>
                  <a:sym typeface="Plus Jakarta Sans"/>
                </a:rPr>
                <a:t>Best for: Coding standards, guidelines, preferred libraries. Keep small — use Skills instead when possible.</a:t>
              </a:r>
              <a:endParaRPr b="1" sz="850">
                <a:solidFill>
                  <a:srgbClr val="1E293B"/>
                </a:solidFill>
                <a:latin typeface="Plus Jakarta Sans"/>
                <a:ea typeface="Plus Jakarta Sans"/>
                <a:cs typeface="Plus Jakarta Sans"/>
                <a:sym typeface="Plus Jakarta Sans"/>
              </a:endParaRPr>
            </a:p>
          </p:txBody>
        </p:sp>
      </p:grpSp>
      <p:pic>
        <p:nvPicPr>
          <p:cNvPr id="345" name="Google Shape;345;p19"/>
          <p:cNvPicPr preferRelativeResize="0"/>
          <p:nvPr/>
        </p:nvPicPr>
        <p:blipFill rotWithShape="1">
          <a:blip r:embed="rId5">
            <a:alphaModFix/>
          </a:blip>
          <a:srcRect b="990" l="0" r="0" t="990"/>
          <a:stretch/>
        </p:blipFill>
        <p:spPr>
          <a:xfrm>
            <a:off x="6524625" y="2114550"/>
            <a:ext cx="4857900" cy="552600"/>
          </a:xfrm>
          <a:prstGeom prst="rect">
            <a:avLst/>
          </a:prstGeom>
          <a:noFill/>
          <a:ln>
            <a:noFill/>
          </a:ln>
        </p:spPr>
      </p:pic>
      <p:grpSp>
        <p:nvGrpSpPr>
          <p:cNvPr id="346" name="Google Shape;346;p19"/>
          <p:cNvGrpSpPr/>
          <p:nvPr/>
        </p:nvGrpSpPr>
        <p:grpSpPr>
          <a:xfrm>
            <a:off x="571500" y="3619500"/>
            <a:ext cx="5334000" cy="2286000"/>
            <a:chOff x="571500" y="3619500"/>
            <a:chExt cx="5334000" cy="2286000"/>
          </a:xfrm>
        </p:grpSpPr>
        <p:sp>
          <p:nvSpPr>
            <p:cNvPr id="347" name="Google Shape;347;p19"/>
            <p:cNvSpPr/>
            <p:nvPr/>
          </p:nvSpPr>
          <p:spPr>
            <a:xfrm>
              <a:off x="571500" y="36195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19"/>
            <p:cNvSpPr/>
            <p:nvPr/>
          </p:nvSpPr>
          <p:spPr>
            <a:xfrm>
              <a:off x="571500" y="3619500"/>
              <a:ext cx="57300" cy="22860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19"/>
            <p:cNvSpPr txBox="1"/>
            <p:nvPr/>
          </p:nvSpPr>
          <p:spPr>
            <a:xfrm>
              <a:off x="809625" y="383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0D9488"/>
                  </a:solidFill>
                  <a:latin typeface="Material Icons"/>
                  <a:ea typeface="Material Icons"/>
                  <a:cs typeface="Material Icons"/>
                  <a:sym typeface="Material Icons"/>
                </a:rPr>
                <a:t>psychology</a:t>
              </a:r>
              <a:endParaRPr sz="2000">
                <a:solidFill>
                  <a:srgbClr val="0D9488"/>
                </a:solidFill>
                <a:latin typeface="Material Icons"/>
                <a:ea typeface="Material Icons"/>
                <a:cs typeface="Material Icons"/>
                <a:sym typeface="Material Icons"/>
              </a:endParaRPr>
            </a:p>
          </p:txBody>
        </p:sp>
        <p:sp>
          <p:nvSpPr>
            <p:cNvPr id="350" name="Google Shape;350;p19"/>
            <p:cNvSpPr txBox="1"/>
            <p:nvPr/>
          </p:nvSpPr>
          <p:spPr>
            <a:xfrm>
              <a:off x="1190625" y="38100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0D9488"/>
                  </a:solidFill>
                  <a:latin typeface="Plus Jakarta Sans"/>
                  <a:ea typeface="Plus Jakarta Sans"/>
                  <a:cs typeface="Plus Jakarta Sans"/>
                  <a:sym typeface="Plus Jakarta Sans"/>
                </a:rPr>
                <a:t>3. Knowledge</a:t>
              </a:r>
              <a:endParaRPr b="1" sz="1300">
                <a:solidFill>
                  <a:srgbClr val="0D9488"/>
                </a:solidFill>
                <a:latin typeface="Plus Jakarta Sans"/>
                <a:ea typeface="Plus Jakarta Sans"/>
                <a:cs typeface="Plus Jakarta Sans"/>
                <a:sym typeface="Plus Jakarta Sans"/>
              </a:endParaRPr>
            </a:p>
          </p:txBody>
        </p:sp>
        <p:sp>
          <p:nvSpPr>
            <p:cNvPr id="351" name="Google Shape;351;p19"/>
            <p:cNvSpPr txBox="1"/>
            <p:nvPr/>
          </p:nvSpPr>
          <p:spPr>
            <a:xfrm>
              <a:off x="809625" y="4191000"/>
              <a:ext cx="485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Tips, facts, and context Devin automatically recalls when relevant across all sessions. Created in Settings &gt; Knowledge.</a:t>
              </a:r>
              <a:endParaRPr sz="950">
                <a:solidFill>
                  <a:srgbClr val="475569"/>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850">
                  <a:solidFill>
                    <a:srgbClr val="1E293B"/>
                  </a:solidFill>
                  <a:latin typeface="Plus Jakarta Sans"/>
                  <a:ea typeface="Plus Jakarta Sans"/>
                  <a:cs typeface="Plus Jakarta Sans"/>
                  <a:sym typeface="Plus Jakarta Sans"/>
                </a:rPr>
                <a:t>Example:</a:t>
              </a:r>
              <a:r>
                <a:rPr lang="en-US" sz="850">
                  <a:solidFill>
                    <a:srgbClr val="475569"/>
                  </a:solidFill>
                  <a:latin typeface="Plus Jakarta Sans"/>
                  <a:ea typeface="Plus Jakarta Sans"/>
                  <a:cs typeface="Plus Jakarta Sans"/>
                  <a:sym typeface="Plus Jakarta Sans"/>
                </a:rPr>
                <a:t> A knowledge item triggered by "deployment" containing your internal deployment checklist or a known bug fix. You can also pin it to a specific repo so it's always active there.</a:t>
              </a:r>
              <a:endParaRPr sz="85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US" sz="850">
                  <a:solidFill>
                    <a:srgbClr val="1E293B"/>
                  </a:solidFill>
                  <a:latin typeface="Plus Jakarta Sans"/>
                  <a:ea typeface="Plus Jakarta Sans"/>
                  <a:cs typeface="Plus Jakarta Sans"/>
                  <a:sym typeface="Plus Jakarta Sans"/>
                </a:rPr>
                <a:t>Best for: Common bugs + solutions, code conformance practices, proprietary internal tools. Split into small, focused items.</a:t>
              </a:r>
              <a:endParaRPr b="1" sz="850">
                <a:solidFill>
                  <a:srgbClr val="1E293B"/>
                </a:solidFill>
                <a:latin typeface="Plus Jakarta Sans"/>
                <a:ea typeface="Plus Jakarta Sans"/>
                <a:cs typeface="Plus Jakarta Sans"/>
                <a:sym typeface="Plus Jakarta Sans"/>
              </a:endParaRPr>
            </a:p>
          </p:txBody>
        </p:sp>
      </p:grpSp>
      <p:grpSp>
        <p:nvGrpSpPr>
          <p:cNvPr id="352" name="Google Shape;352;p19"/>
          <p:cNvGrpSpPr/>
          <p:nvPr/>
        </p:nvGrpSpPr>
        <p:grpSpPr>
          <a:xfrm>
            <a:off x="6286500" y="3619500"/>
            <a:ext cx="5334000" cy="2286000"/>
            <a:chOff x="6286500" y="3619500"/>
            <a:chExt cx="5334000" cy="2286000"/>
          </a:xfrm>
        </p:grpSpPr>
        <p:sp>
          <p:nvSpPr>
            <p:cNvPr id="353" name="Google Shape;353;p19"/>
            <p:cNvSpPr/>
            <p:nvPr/>
          </p:nvSpPr>
          <p:spPr>
            <a:xfrm>
              <a:off x="6286500" y="3619500"/>
              <a:ext cx="5334000" cy="2286000"/>
            </a:xfrm>
            <a:prstGeom prst="roundRect">
              <a:avLst>
                <a:gd fmla="val 5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19"/>
            <p:cNvSpPr/>
            <p:nvPr/>
          </p:nvSpPr>
          <p:spPr>
            <a:xfrm>
              <a:off x="6286500" y="3619500"/>
              <a:ext cx="57300" cy="2286000"/>
            </a:xfrm>
            <a:prstGeom prst="roundRect">
              <a:avLst>
                <a:gd fmla="val 5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19"/>
            <p:cNvSpPr txBox="1"/>
            <p:nvPr/>
          </p:nvSpPr>
          <p:spPr>
            <a:xfrm>
              <a:off x="6524625" y="3839210"/>
              <a:ext cx="285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EA580C"/>
                  </a:solidFill>
                  <a:latin typeface="Material Icons"/>
                  <a:ea typeface="Material Icons"/>
                  <a:cs typeface="Material Icons"/>
                  <a:sym typeface="Material Icons"/>
                </a:rPr>
                <a:t>menu_book</a:t>
              </a:r>
              <a:endParaRPr sz="2000">
                <a:solidFill>
                  <a:srgbClr val="EA580C"/>
                </a:solidFill>
                <a:latin typeface="Material Icons"/>
                <a:ea typeface="Material Icons"/>
                <a:cs typeface="Material Icons"/>
                <a:sym typeface="Material Icons"/>
              </a:endParaRPr>
            </a:p>
          </p:txBody>
        </p:sp>
        <p:sp>
          <p:nvSpPr>
            <p:cNvPr id="356" name="Google Shape;356;p19"/>
            <p:cNvSpPr txBox="1"/>
            <p:nvPr/>
          </p:nvSpPr>
          <p:spPr>
            <a:xfrm>
              <a:off x="6905625" y="3810000"/>
              <a:ext cx="3810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300">
                  <a:solidFill>
                    <a:srgbClr val="EA580C"/>
                  </a:solidFill>
                  <a:latin typeface="Plus Jakarta Sans"/>
                  <a:ea typeface="Plus Jakarta Sans"/>
                  <a:cs typeface="Plus Jakarta Sans"/>
                  <a:sym typeface="Plus Jakarta Sans"/>
                </a:rPr>
                <a:t>4. Playbooks</a:t>
              </a:r>
              <a:endParaRPr b="1" sz="1300">
                <a:solidFill>
                  <a:srgbClr val="EA580C"/>
                </a:solidFill>
                <a:latin typeface="Plus Jakarta Sans"/>
                <a:ea typeface="Plus Jakarta Sans"/>
                <a:cs typeface="Plus Jakarta Sans"/>
                <a:sym typeface="Plus Jakarta Sans"/>
              </a:endParaRPr>
            </a:p>
          </p:txBody>
        </p:sp>
        <p:sp>
          <p:nvSpPr>
            <p:cNvPr id="357" name="Google Shape;357;p19"/>
            <p:cNvSpPr txBox="1"/>
            <p:nvPr/>
          </p:nvSpPr>
          <p:spPr>
            <a:xfrm>
              <a:off x="6524625" y="4191000"/>
              <a:ext cx="4857900" cy="1619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50">
                  <a:solidFill>
                    <a:srgbClr val="1E293B"/>
                  </a:solidFill>
                  <a:latin typeface="Plus Jakarta Sans"/>
                  <a:ea typeface="Plus Jakarta Sans"/>
                  <a:cs typeface="Plus Jakarta Sans"/>
                  <a:sym typeface="Plus Jakarta Sans"/>
                </a:rPr>
                <a:t>What:</a:t>
              </a:r>
              <a:r>
                <a:rPr lang="en-US" sz="950">
                  <a:solidFill>
                    <a:srgbClr val="475569"/>
                  </a:solidFill>
                  <a:latin typeface="Plus Jakarta Sans"/>
                  <a:ea typeface="Plus Jakarta Sans"/>
                  <a:cs typeface="Plus Jakarta Sans"/>
                  <a:sym typeface="Plus Jakarta Sans"/>
                </a:rPr>
                <a:t> Reusable prompt templates (like a custom system prompt) attached to sessions for repeated tasks.</a:t>
              </a:r>
              <a:endParaRPr sz="950">
                <a:solidFill>
                  <a:srgbClr val="475569"/>
                </a:solidFill>
                <a:latin typeface="Plus Jakarta Sans"/>
                <a:ea typeface="Plus Jakarta Sans"/>
                <a:cs typeface="Plus Jakarta Sans"/>
                <a:sym typeface="Plus Jakarta Sans"/>
              </a:endParaRPr>
            </a:p>
            <a:p>
              <a:pPr indent="0" lvl="0" marL="0" rtl="0" algn="l">
                <a:spcBef>
                  <a:spcPts val="600"/>
                </a:spcBef>
                <a:spcAft>
                  <a:spcPts val="0"/>
                </a:spcAft>
                <a:buNone/>
              </a:pPr>
              <a:r>
                <a:rPr b="1" lang="en-US" sz="850">
                  <a:solidFill>
                    <a:srgbClr val="1E293B"/>
                  </a:solidFill>
                  <a:latin typeface="Plus Jakarta Sans"/>
                  <a:ea typeface="Plus Jakarta Sans"/>
                  <a:cs typeface="Plus Jakarta Sans"/>
                  <a:sym typeface="Plus Jakarta Sans"/>
                </a:rPr>
                <a:t>Example:</a:t>
              </a:r>
              <a:r>
                <a:rPr lang="en-US" sz="850">
                  <a:solidFill>
                    <a:srgbClr val="475569"/>
                  </a:solidFill>
                  <a:latin typeface="Plus Jakarta Sans"/>
                  <a:ea typeface="Plus Jakarta Sans"/>
                  <a:cs typeface="Plus Jakarta Sans"/>
                  <a:sym typeface="Plus Jakarta Sans"/>
                </a:rPr>
                <a:t> A playbook for "Integrate Stripe into a new module" with sections: </a:t>
              </a:r>
              <a:r>
                <a:rPr b="0" lang="en-US" sz="850">
                  <a:solidFill>
                    <a:srgbClr val="EA580C"/>
                  </a:solidFill>
                  <a:latin typeface="Plus Jakarta Sans SemiBold"/>
                  <a:ea typeface="Plus Jakarta Sans SemiBold"/>
                  <a:cs typeface="Plus Jakarta Sans SemiBold"/>
                  <a:sym typeface="Plus Jakarta Sans SemiBold"/>
                </a:rPr>
                <a:t>Procedure</a:t>
              </a:r>
              <a:r>
                <a:rPr lang="en-US" sz="850">
                  <a:solidFill>
                    <a:srgbClr val="475569"/>
                  </a:solidFill>
                  <a:latin typeface="Plus Jakarta Sans"/>
                  <a:ea typeface="Plus Jakarta Sans"/>
                  <a:cs typeface="Plus Jakarta Sans"/>
                  <a:sym typeface="Plus Jakarta Sans"/>
                </a:rPr>
                <a:t> (step-by-step), </a:t>
              </a:r>
              <a:r>
                <a:rPr b="0" lang="en-US" sz="850">
                  <a:solidFill>
                    <a:srgbClr val="EA580C"/>
                  </a:solidFill>
                  <a:latin typeface="Plus Jakarta Sans SemiBold"/>
                  <a:ea typeface="Plus Jakarta Sans SemiBold"/>
                  <a:cs typeface="Plus Jakarta Sans SemiBold"/>
                  <a:sym typeface="Plus Jakarta Sans SemiBold"/>
                </a:rPr>
                <a:t>Specifications</a:t>
              </a:r>
              <a:r>
                <a:rPr lang="en-US" sz="850">
                  <a:solidFill>
                    <a:srgbClr val="475569"/>
                  </a:solidFill>
                  <a:latin typeface="Plus Jakarta Sans"/>
                  <a:ea typeface="Plus Jakarta Sans"/>
                  <a:cs typeface="Plus Jakarta Sans"/>
                  <a:sym typeface="Plus Jakarta Sans"/>
                </a:rPr>
                <a:t>, </a:t>
              </a:r>
              <a:r>
                <a:rPr b="0" lang="en-US" sz="850">
                  <a:solidFill>
                    <a:srgbClr val="EA580C"/>
                  </a:solidFill>
                  <a:latin typeface="Plus Jakarta Sans SemiBold"/>
                  <a:ea typeface="Plus Jakarta Sans SemiBold"/>
                  <a:cs typeface="Plus Jakarta Sans SemiBold"/>
                  <a:sym typeface="Plus Jakarta Sans SemiBold"/>
                </a:rPr>
                <a:t>Advice</a:t>
              </a:r>
              <a:r>
                <a:rPr lang="en-US" sz="850">
                  <a:solidFill>
                    <a:srgbClr val="475569"/>
                  </a:solidFill>
                  <a:latin typeface="Plus Jakarta Sans"/>
                  <a:ea typeface="Plus Jakarta Sans"/>
                  <a:cs typeface="Plus Jakarta Sans"/>
                  <a:sym typeface="Plus Jakarta Sans"/>
                </a:rPr>
                <a:t>, </a:t>
              </a:r>
              <a:r>
                <a:rPr b="0" lang="en-US" sz="850">
                  <a:solidFill>
                    <a:srgbClr val="EA580C"/>
                  </a:solidFill>
                  <a:latin typeface="Plus Jakarta Sans SemiBold"/>
                  <a:ea typeface="Plus Jakarta Sans SemiBold"/>
                  <a:cs typeface="Plus Jakarta Sans SemiBold"/>
                  <a:sym typeface="Plus Jakarta Sans SemiBold"/>
                </a:rPr>
                <a:t>Forbidden Actions</a:t>
              </a:r>
              <a:r>
                <a:rPr lang="en-US" sz="850">
                  <a:solidFill>
                    <a:srgbClr val="475569"/>
                  </a:solidFill>
                  <a:latin typeface="Plus Jakarta Sans"/>
                  <a:ea typeface="Plus Jakarta Sans"/>
                  <a:cs typeface="Plus Jakarta Sans"/>
                  <a:sym typeface="Plus Jakarta Sans"/>
                </a:rPr>
                <a:t>, and </a:t>
              </a:r>
              <a:r>
                <a:rPr b="0" lang="en-US" sz="850">
                  <a:solidFill>
                    <a:srgbClr val="EA580C"/>
                  </a:solidFill>
                  <a:latin typeface="Plus Jakarta Sans SemiBold"/>
                  <a:ea typeface="Plus Jakarta Sans SemiBold"/>
                  <a:cs typeface="Plus Jakarta Sans SemiBold"/>
                  <a:sym typeface="Plus Jakarta Sans SemiBold"/>
                </a:rPr>
                <a:t>Required from User</a:t>
              </a:r>
              <a:r>
                <a:rPr lang="en-US" sz="850">
                  <a:solidFill>
                    <a:srgbClr val="475569"/>
                  </a:solidFill>
                  <a:latin typeface="Plus Jakarta Sans"/>
                  <a:ea typeface="Plus Jakarta Sans"/>
                  <a:cs typeface="Plus Jakarta Sans"/>
                  <a:sym typeface="Plus Jakarta Sans"/>
                </a:rPr>
                <a:t>.</a:t>
              </a:r>
              <a:endParaRPr sz="850">
                <a:solidFill>
                  <a:srgbClr val="475569"/>
                </a:solidFill>
                <a:latin typeface="Plus Jakarta Sans"/>
                <a:ea typeface="Plus Jakarta Sans"/>
                <a:cs typeface="Plus Jakarta Sans"/>
                <a:sym typeface="Plus Jakarta Sans"/>
              </a:endParaRPr>
            </a:p>
            <a:p>
              <a:pPr indent="0" lvl="0" marL="0" rtl="0" algn="l">
                <a:spcBef>
                  <a:spcPts val="750"/>
                </a:spcBef>
                <a:spcAft>
                  <a:spcPts val="0"/>
                </a:spcAft>
                <a:buNone/>
              </a:pPr>
              <a:r>
                <a:rPr b="1" lang="en-US" sz="850">
                  <a:solidFill>
                    <a:srgbClr val="1E293B"/>
                  </a:solidFill>
                  <a:latin typeface="Plus Jakarta Sans"/>
                  <a:ea typeface="Plus Jakarta Sans"/>
                  <a:cs typeface="Plus Jakarta Sans"/>
                  <a:sym typeface="Plus Jakarta Sans"/>
                </a:rPr>
                <a:t>Best for: Multi-step tasks your team runs repeatedly. Assign a macro like </a:t>
              </a:r>
              <a:r>
                <a:rPr b="1" lang="en-US" sz="800">
                  <a:solidFill>
                    <a:srgbClr val="1E293B"/>
                  </a:solidFill>
                  <a:latin typeface="Arial"/>
                  <a:ea typeface="Arial"/>
                  <a:cs typeface="Arial"/>
                  <a:sym typeface="Arial"/>
                </a:rPr>
                <a:t>!stripe-integration</a:t>
              </a:r>
              <a:r>
                <a:rPr b="1" lang="en-US" sz="850">
                  <a:solidFill>
                    <a:srgbClr val="1E293B"/>
                  </a:solidFill>
                  <a:latin typeface="Plus Jakarta Sans"/>
                  <a:ea typeface="Plus Jakarta Sans"/>
                  <a:cs typeface="Plus Jakarta Sans"/>
                  <a:sym typeface="Plus Jakarta Sans"/>
                </a:rPr>
                <a:t> to attach it quickly.</a:t>
              </a:r>
              <a:endParaRPr b="1" sz="850">
                <a:solidFill>
                  <a:srgbClr val="1E293B"/>
                </a:solidFill>
                <a:latin typeface="Plus Jakarta Sans"/>
                <a:ea typeface="Plus Jakarta Sans"/>
                <a:cs typeface="Plus Jakarta Sans"/>
                <a:sym typeface="Plus Jakarta Sans"/>
              </a:endParaRPr>
            </a:p>
          </p:txBody>
        </p:sp>
      </p:grpSp>
      <p:sp>
        <p:nvSpPr>
          <p:cNvPr id="358" name="Google Shape;358;p19"/>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Core Tooling Blueprint (Part 1)</a:t>
            </a:r>
            <a:endParaRPr/>
          </a:p>
        </p:txBody>
      </p:sp>
      <p:sp>
        <p:nvSpPr>
          <p:cNvPr id="359" name="Google Shape;359;p19"/>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3" name="Shape 363"/>
        <p:cNvGrpSpPr/>
        <p:nvPr/>
      </p:nvGrpSpPr>
      <p:grpSpPr>
        <a:xfrm>
          <a:off x="0" y="0"/>
          <a:ext cx="0" cy="0"/>
          <a:chOff x="0" y="0"/>
          <a:chExt cx="0" cy="0"/>
        </a:xfrm>
      </p:grpSpPr>
      <p:pic>
        <p:nvPicPr>
          <p:cNvPr descr="image.png" id="364" name="Google Shape;364;p20"/>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365" name="Google Shape;365;p20"/>
          <p:cNvGrpSpPr/>
          <p:nvPr/>
        </p:nvGrpSpPr>
        <p:grpSpPr>
          <a:xfrm>
            <a:off x="571500" y="1238250"/>
            <a:ext cx="3429000" cy="4857900"/>
            <a:chOff x="0" y="0"/>
            <a:chExt cx="3429000" cy="4857900"/>
          </a:xfrm>
        </p:grpSpPr>
        <p:sp>
          <p:nvSpPr>
            <p:cNvPr id="366" name="Google Shape;366;p20"/>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7" name="Google Shape;367;p20"/>
            <p:cNvSpPr/>
            <p:nvPr/>
          </p:nvSpPr>
          <p:spPr>
            <a:xfrm>
              <a:off x="0" y="0"/>
              <a:ext cx="57300" cy="485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8" name="Google Shape;368;p20"/>
            <p:cNvSpPr txBox="1"/>
            <p:nvPr/>
          </p:nvSpPr>
          <p:spPr>
            <a:xfrm>
              <a:off x="228600" y="228600"/>
              <a:ext cx="2971800" cy="438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2563EB"/>
                  </a:solidFill>
                  <a:latin typeface="Material Icons"/>
                  <a:ea typeface="Material Icons"/>
                  <a:cs typeface="Material Icons"/>
                  <a:sym typeface="Material Icons"/>
                </a:rPr>
                <a:t>forum</a:t>
              </a:r>
              <a:r>
                <a:rPr b="0" lang="en-US" sz="1600">
                  <a:solidFill>
                    <a:srgbClr val="2563EB"/>
                  </a:solidFill>
                  <a:latin typeface="Plus Jakarta Sans ExtraBold"/>
                  <a:ea typeface="Plus Jakarta Sans ExtraBold"/>
                  <a:cs typeface="Plus Jakarta Sans ExtraBold"/>
                  <a:sym typeface="Plus Jakarta Sans ExtraBold"/>
                </a:rPr>
                <a:t>5. Ask Devin</a:t>
              </a:r>
              <a:endParaRPr>
                <a:latin typeface="Plus Jakarta Sans"/>
                <a:ea typeface="Plus Jakarta Sans"/>
                <a:cs typeface="Plus Jakarta Sans"/>
                <a:sym typeface="Plus Jakarta Sans"/>
              </a:endParaRPr>
            </a:p>
            <a:p>
              <a:pPr indent="0" lvl="0" marL="0" rtl="0" algn="l">
                <a:spcBef>
                  <a:spcPts val="1200"/>
                </a:spcBef>
                <a:spcAft>
                  <a:spcPts val="0"/>
                </a:spcAft>
                <a:buNone/>
              </a:pPr>
              <a:r>
                <a:rPr b="1" lang="en-US" sz="1000">
                  <a:solidFill>
                    <a:srgbClr val="475569"/>
                  </a:solidFill>
                  <a:latin typeface="Plus Jakarta Sans"/>
                  <a:ea typeface="Plus Jakarta Sans"/>
                  <a:cs typeface="Plus Jakarta Sans"/>
                  <a:sym typeface="Plus Jakarta Sans"/>
                </a:rPr>
                <a:t>What: </a:t>
              </a:r>
              <a:r>
                <a:rPr b="0" lang="en-US" sz="1000">
                  <a:solidFill>
                    <a:srgbClr val="64748B"/>
                  </a:solidFill>
                  <a:latin typeface="Plus Jakarta Sans"/>
                  <a:ea typeface="Plus Jakarta Sans"/>
                  <a:cs typeface="Plus Jakarta Sans"/>
                  <a:sym typeface="Plus Jakarta Sans"/>
                </a:rPr>
                <a:t>An AI assistant that searches your indexed codebase to answer questions and plan tasks before starting a session.</a:t>
              </a:r>
              <a:endParaRPr b="1" sz="1000">
                <a:solidFill>
                  <a:srgbClr val="475569"/>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950">
                  <a:solidFill>
                    <a:srgbClr val="1E293B"/>
                  </a:solidFill>
                  <a:highlight>
                    <a:srgbClr val="F8FAFC"/>
                  </a:highlight>
                  <a:latin typeface="Plus Jakarta Sans"/>
                  <a:ea typeface="Plus Jakarta Sans"/>
                  <a:cs typeface="Plus Jakarta Sans"/>
                  <a:sym typeface="Plus Jakarta Sans"/>
                </a:rPr>
                <a:t>Workflow:</a:t>
              </a:r>
              <a:endParaRPr b="1" sz="950">
                <a:solidFill>
                  <a:srgbClr val="1E293B"/>
                </a:solidFill>
                <a:highlight>
                  <a:srgbClr val="F8FAFC"/>
                </a:highlight>
                <a:latin typeface="Plus Jakarta Sans"/>
                <a:ea typeface="Plus Jakarta Sans"/>
                <a:cs typeface="Plus Jakarta Sans"/>
                <a:sym typeface="Plus Jakarta Sans"/>
              </a:endParaRPr>
            </a:p>
            <a:p>
              <a:pPr indent="-285750" lvl="0" marL="457200" rtl="0" algn="l">
                <a:spcBef>
                  <a:spcPts val="600"/>
                </a:spcBef>
                <a:spcAft>
                  <a:spcPts val="0"/>
                </a:spcAft>
                <a:buClr>
                  <a:srgbClr val="475569"/>
                </a:buClr>
                <a:buSzPts val="900"/>
                <a:buFont typeface="Plus Jakarta Sans"/>
                <a:buAutoNum type="arabicPeriod"/>
              </a:pPr>
              <a:r>
                <a:rPr b="0" lang="en-US" sz="900">
                  <a:solidFill>
                    <a:srgbClr val="475569"/>
                  </a:solidFill>
                  <a:highlight>
                    <a:srgbClr val="F8FAFC"/>
                  </a:highlight>
                  <a:latin typeface="Plus Jakarta Sans Medium"/>
                  <a:ea typeface="Plus Jakarta Sans Medium"/>
                  <a:cs typeface="Plus Jakarta Sans Medium"/>
                  <a:sym typeface="Plus Jakarta Sans Medium"/>
                </a:rPr>
                <a:t>Index your repo</a:t>
              </a:r>
              <a:endParaRPr b="0" sz="900">
                <a:solidFill>
                  <a:srgbClr val="475569"/>
                </a:solidFill>
                <a:highlight>
                  <a:srgbClr val="F8FAFC"/>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475569"/>
                </a:buClr>
                <a:buSzPts val="900"/>
                <a:buFont typeface="Plus Jakarta Sans"/>
                <a:buAutoNum type="arabicPeriod"/>
              </a:pPr>
              <a:r>
                <a:rPr b="0" lang="en-US" sz="900">
                  <a:solidFill>
                    <a:srgbClr val="475569"/>
                  </a:solidFill>
                  <a:highlight>
                    <a:srgbClr val="F8FAFC"/>
                  </a:highlight>
                  <a:latin typeface="Plus Jakarta Sans Medium"/>
                  <a:ea typeface="Plus Jakarta Sans Medium"/>
                  <a:cs typeface="Plus Jakarta Sans Medium"/>
                  <a:sym typeface="Plus Jakarta Sans Medium"/>
                </a:rPr>
                <a:t>Ask architecture questions</a:t>
              </a:r>
              <a:endParaRPr b="0" sz="900">
                <a:solidFill>
                  <a:srgbClr val="475569"/>
                </a:solidFill>
                <a:highlight>
                  <a:srgbClr val="F8FAFC"/>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475569"/>
                </a:buClr>
                <a:buSzPts val="900"/>
                <a:buFont typeface="Plus Jakarta Sans"/>
                <a:buAutoNum type="arabicPeriod"/>
              </a:pPr>
              <a:r>
                <a:rPr b="0" lang="en-US" sz="900">
                  <a:solidFill>
                    <a:srgbClr val="475569"/>
                  </a:solidFill>
                  <a:highlight>
                    <a:srgbClr val="F8FAFC"/>
                  </a:highlight>
                  <a:latin typeface="Plus Jakarta Sans Medium"/>
                  <a:ea typeface="Plus Jakarta Sans Medium"/>
                  <a:cs typeface="Plus Jakarta Sans Medium"/>
                  <a:sym typeface="Plus Jakarta Sans Medium"/>
                </a:rPr>
                <a:t>Switch to </a:t>
              </a:r>
              <a:r>
                <a:rPr b="1" lang="en-US" sz="900">
                  <a:solidFill>
                    <a:srgbClr val="2563EB"/>
                  </a:solidFill>
                  <a:highlight>
                    <a:srgbClr val="F8FAFC"/>
                  </a:highlight>
                  <a:latin typeface="Plus Jakarta Sans"/>
                  <a:ea typeface="Plus Jakarta Sans"/>
                  <a:cs typeface="Plus Jakarta Sans"/>
                  <a:sym typeface="Plus Jakarta Sans"/>
                </a:rPr>
                <a:t>Plan mode</a:t>
              </a:r>
              <a:endParaRPr b="0" sz="900">
                <a:solidFill>
                  <a:srgbClr val="475569"/>
                </a:solidFill>
                <a:highlight>
                  <a:srgbClr val="F8FAFC"/>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475569"/>
                </a:buClr>
                <a:buSzPts val="900"/>
                <a:buFont typeface="Plus Jakarta Sans"/>
                <a:buAutoNum type="arabicPeriod"/>
              </a:pPr>
              <a:r>
                <a:rPr b="0" lang="en-US" sz="900">
                  <a:solidFill>
                    <a:srgbClr val="475569"/>
                  </a:solidFill>
                  <a:highlight>
                    <a:srgbClr val="F8FAFC"/>
                  </a:highlight>
                  <a:latin typeface="Plus Jakarta Sans Medium"/>
                  <a:ea typeface="Plus Jakarta Sans Medium"/>
                  <a:cs typeface="Plus Jakarta Sans Medium"/>
                  <a:sym typeface="Plus Jakarta Sans Medium"/>
                </a:rPr>
                <a:t>Launch a session directly</a:t>
              </a:r>
              <a:endParaRPr b="0" sz="900">
                <a:solidFill>
                  <a:srgbClr val="475569"/>
                </a:solidFill>
                <a:highlight>
                  <a:srgbClr val="F8FAFC"/>
                </a:highlight>
                <a:latin typeface="Plus Jakarta Sans Medium"/>
                <a:ea typeface="Plus Jakarta Sans Medium"/>
                <a:cs typeface="Plus Jakarta Sans Medium"/>
                <a:sym typeface="Plus Jakarta Sans Medium"/>
              </a:endParaRPr>
            </a:p>
            <a:p>
              <a:pPr indent="0" lvl="0" marL="0" rtl="0" algn="l">
                <a:spcBef>
                  <a:spcPts val="1200"/>
                </a:spcBef>
                <a:spcAft>
                  <a:spcPts val="0"/>
                </a:spcAft>
                <a:buNone/>
              </a:pPr>
              <a:r>
                <a:rPr b="1" lang="en-US" sz="950">
                  <a:solidFill>
                    <a:srgbClr val="1E293B"/>
                  </a:solidFill>
                  <a:latin typeface="Plus Jakarta Sans"/>
                  <a:ea typeface="Plus Jakarta Sans"/>
                  <a:cs typeface="Plus Jakarta Sans"/>
                  <a:sym typeface="Plus Jakarta Sans"/>
                </a:rPr>
                <a:t>Best for:</a:t>
              </a:r>
              <a:endParaRPr b="1" sz="95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Onboarding, planning features, and exploring unfamiliar codebases.</a:t>
              </a:r>
              <a:endParaRPr b="0" sz="950">
                <a:solidFill>
                  <a:srgbClr val="475569"/>
                </a:solidFill>
                <a:latin typeface="Plus Jakarta Sans"/>
                <a:ea typeface="Plus Jakarta Sans"/>
                <a:cs typeface="Plus Jakarta Sans"/>
                <a:sym typeface="Plus Jakarta Sans"/>
              </a:endParaRPr>
            </a:p>
          </p:txBody>
        </p:sp>
      </p:grpSp>
      <p:grpSp>
        <p:nvGrpSpPr>
          <p:cNvPr id="369" name="Google Shape;369;p20"/>
          <p:cNvGrpSpPr/>
          <p:nvPr/>
        </p:nvGrpSpPr>
        <p:grpSpPr>
          <a:xfrm>
            <a:off x="4381500" y="1238250"/>
            <a:ext cx="3429000" cy="4857900"/>
            <a:chOff x="0" y="0"/>
            <a:chExt cx="3429000" cy="4857900"/>
          </a:xfrm>
        </p:grpSpPr>
        <p:sp>
          <p:nvSpPr>
            <p:cNvPr id="370" name="Google Shape;370;p20"/>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1" name="Google Shape;371;p20"/>
            <p:cNvSpPr/>
            <p:nvPr/>
          </p:nvSpPr>
          <p:spPr>
            <a:xfrm>
              <a:off x="0" y="0"/>
              <a:ext cx="57300" cy="4857900"/>
            </a:xfrm>
            <a:prstGeom prst="roundRect">
              <a:avLst>
                <a:gd fmla="val 50000" name="adj"/>
              </a:avLst>
            </a:prstGeom>
            <a:solidFill>
              <a:srgbClr val="16A34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20"/>
            <p:cNvSpPr txBox="1"/>
            <p:nvPr/>
          </p:nvSpPr>
          <p:spPr>
            <a:xfrm>
              <a:off x="228600" y="228600"/>
              <a:ext cx="2971800" cy="438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16A34A"/>
                  </a:solidFill>
                  <a:latin typeface="Material Icons"/>
                  <a:ea typeface="Material Icons"/>
                  <a:cs typeface="Material Icons"/>
                  <a:sym typeface="Material Icons"/>
                </a:rPr>
                <a:t>import_contacts</a:t>
              </a:r>
              <a:r>
                <a:rPr b="0" lang="en-US" sz="1600">
                  <a:solidFill>
                    <a:srgbClr val="16A34A"/>
                  </a:solidFill>
                  <a:latin typeface="Plus Jakarta Sans ExtraBold"/>
                  <a:ea typeface="Plus Jakarta Sans ExtraBold"/>
                  <a:cs typeface="Plus Jakarta Sans ExtraBold"/>
                  <a:sym typeface="Plus Jakarta Sans ExtraBold"/>
                </a:rPr>
                <a:t>6. DeepWiki</a:t>
              </a:r>
              <a:endParaRPr>
                <a:latin typeface="Plus Jakarta Sans"/>
                <a:ea typeface="Plus Jakarta Sans"/>
                <a:cs typeface="Plus Jakarta Sans"/>
                <a:sym typeface="Plus Jakarta Sans"/>
              </a:endParaRPr>
            </a:p>
            <a:p>
              <a:pPr indent="0" lvl="0" marL="0" rtl="0" algn="l">
                <a:spcBef>
                  <a:spcPts val="1200"/>
                </a:spcBef>
                <a:spcAft>
                  <a:spcPts val="0"/>
                </a:spcAft>
                <a:buNone/>
              </a:pPr>
              <a:r>
                <a:rPr b="1" lang="en-US" sz="1000">
                  <a:solidFill>
                    <a:srgbClr val="475569"/>
                  </a:solidFill>
                  <a:latin typeface="Plus Jakarta Sans"/>
                  <a:ea typeface="Plus Jakarta Sans"/>
                  <a:cs typeface="Plus Jakarta Sans"/>
                  <a:sym typeface="Plus Jakarta Sans"/>
                </a:rPr>
                <a:t>What: </a:t>
              </a:r>
              <a:r>
                <a:rPr b="0" lang="en-US" sz="1000">
                  <a:solidFill>
                    <a:srgbClr val="64748B"/>
                  </a:solidFill>
                  <a:latin typeface="Plus Jakarta Sans"/>
                  <a:ea typeface="Plus Jakarta Sans"/>
                  <a:cs typeface="Plus Jakarta Sans"/>
                  <a:sym typeface="Plus Jakarta Sans"/>
                </a:rPr>
                <a:t>Auto-generated wiki with architecture diagrams, source links, and summaries for your repos. Powers Ask Devin's answers.</a:t>
              </a:r>
              <a:endParaRPr b="1" sz="1000">
                <a:solidFill>
                  <a:srgbClr val="475569"/>
                </a:solidFill>
                <a:latin typeface="Plus Jakarta Sans"/>
                <a:ea typeface="Plus Jakarta Sans"/>
                <a:cs typeface="Plus Jakarta Sans"/>
                <a:sym typeface="Plus Jakarta Sans"/>
              </a:endParaRPr>
            </a:p>
            <a:p>
              <a:pPr indent="0" lvl="0" marL="0" rtl="0" algn="l">
                <a:spcBef>
                  <a:spcPts val="1050"/>
                </a:spcBef>
                <a:spcAft>
                  <a:spcPts val="0"/>
                </a:spcAft>
                <a:buNone/>
              </a:pPr>
              <a:r>
                <a:rPr lang="en-US" sz="850">
                  <a:solidFill>
                    <a:srgbClr val="94A3B8"/>
                  </a:solidFill>
                  <a:highlight>
                    <a:srgbClr val="0F172A"/>
                  </a:highlight>
                  <a:latin typeface="Arial"/>
                  <a:ea typeface="Arial"/>
                  <a:cs typeface="Arial"/>
                  <a:sym typeface="Arial"/>
                </a:rPr>
                <a:t>{</a:t>
              </a:r>
              <a:endParaRPr sz="850">
                <a:solidFill>
                  <a:srgbClr val="94A3B8"/>
                </a:solidFill>
                <a:highlight>
                  <a:srgbClr val="0F172A"/>
                </a:highlight>
                <a:latin typeface="Arial"/>
                <a:ea typeface="Arial"/>
                <a:cs typeface="Arial"/>
                <a:sym typeface="Arial"/>
              </a:endParaRPr>
            </a:p>
            <a:p>
              <a:pPr indent="0" lvl="0" marL="0" rtl="0" algn="l">
                <a:spcBef>
                  <a:spcPts val="0"/>
                </a:spcBef>
                <a:spcAft>
                  <a:spcPts val="0"/>
                </a:spcAft>
                <a:buNone/>
              </a:pPr>
              <a:r>
                <a:rPr lang="en-US" sz="850">
                  <a:solidFill>
                    <a:srgbClr val="F472B6"/>
                  </a:solidFill>
                  <a:highlight>
                    <a:srgbClr val="0F172A"/>
                  </a:highlight>
                  <a:latin typeface="Arial"/>
                  <a:ea typeface="Arial"/>
                  <a:cs typeface="Arial"/>
                  <a:sym typeface="Arial"/>
                </a:rPr>
                <a:t>"repo_notes"</a:t>
              </a:r>
              <a:r>
                <a:rPr lang="en-US" sz="850">
                  <a:solidFill>
                    <a:srgbClr val="38BDF8"/>
                  </a:solidFill>
                  <a:highlight>
                    <a:srgbClr val="0F172A"/>
                  </a:highlight>
                  <a:latin typeface="Arial"/>
                  <a:ea typeface="Arial"/>
                  <a:cs typeface="Arial"/>
                  <a:sym typeface="Arial"/>
                </a:rPr>
                <a:t>: [{</a:t>
              </a:r>
              <a:r>
                <a:rPr lang="en-US" sz="850">
                  <a:solidFill>
                    <a:srgbClr val="F472B6"/>
                  </a:solidFill>
                  <a:highlight>
                    <a:srgbClr val="0F172A"/>
                  </a:highlight>
                  <a:latin typeface="Arial"/>
                  <a:ea typeface="Arial"/>
                  <a:cs typeface="Arial"/>
                  <a:sym typeface="Arial"/>
                </a:rPr>
                <a:t>"content"</a:t>
              </a:r>
              <a:r>
                <a:rPr lang="en-US" sz="850">
                  <a:solidFill>
                    <a:srgbClr val="38BDF8"/>
                  </a:solidFill>
                  <a:highlight>
                    <a:srgbClr val="0F172A"/>
                  </a:highlight>
                  <a:latin typeface="Arial"/>
                  <a:ea typeface="Arial"/>
                  <a:cs typeface="Arial"/>
                  <a:sym typeface="Arial"/>
                </a:rPr>
                <a:t>: </a:t>
              </a:r>
              <a:r>
                <a:rPr lang="en-US" sz="850">
                  <a:solidFill>
                    <a:srgbClr val="34D399"/>
                  </a:solidFill>
                  <a:highlight>
                    <a:srgbClr val="0F172A"/>
                  </a:highlight>
                  <a:latin typeface="Arial"/>
                  <a:ea typeface="Arial"/>
                  <a:cs typeface="Arial"/>
                  <a:sym typeface="Arial"/>
                </a:rPr>
                <a:t>"Prioritize cui/"</a:t>
              </a:r>
              <a:r>
                <a:rPr lang="en-US" sz="850">
                  <a:solidFill>
                    <a:srgbClr val="38BDF8"/>
                  </a:solidFill>
                  <a:highlight>
                    <a:srgbClr val="0F172A"/>
                  </a:highlight>
                  <a:latin typeface="Arial"/>
                  <a:ea typeface="Arial"/>
                  <a:cs typeface="Arial"/>
                  <a:sym typeface="Arial"/>
                </a:rPr>
                <a:t>}],</a:t>
              </a:r>
              <a:endParaRPr sz="850">
                <a:solidFill>
                  <a:srgbClr val="38BDF8"/>
                </a:solidFill>
                <a:highlight>
                  <a:srgbClr val="0F172A"/>
                </a:highlight>
                <a:latin typeface="Arial"/>
                <a:ea typeface="Arial"/>
                <a:cs typeface="Arial"/>
                <a:sym typeface="Arial"/>
              </a:endParaRPr>
            </a:p>
            <a:p>
              <a:pPr indent="0" lvl="0" marL="0" rtl="0" algn="l">
                <a:spcBef>
                  <a:spcPts val="0"/>
                </a:spcBef>
                <a:spcAft>
                  <a:spcPts val="0"/>
                </a:spcAft>
                <a:buNone/>
              </a:pPr>
              <a:r>
                <a:rPr lang="en-US" sz="850">
                  <a:solidFill>
                    <a:srgbClr val="F472B6"/>
                  </a:solidFill>
                  <a:highlight>
                    <a:srgbClr val="0F172A"/>
                  </a:highlight>
                  <a:latin typeface="Arial"/>
                  <a:ea typeface="Arial"/>
                  <a:cs typeface="Arial"/>
                  <a:sym typeface="Arial"/>
                </a:rPr>
                <a:t>"pages"</a:t>
              </a:r>
              <a:r>
                <a:rPr lang="en-US" sz="850">
                  <a:solidFill>
                    <a:srgbClr val="38BDF8"/>
                  </a:solidFill>
                  <a:highlight>
                    <a:srgbClr val="0F172A"/>
                  </a:highlight>
                  <a:latin typeface="Arial"/>
                  <a:ea typeface="Arial"/>
                  <a:cs typeface="Arial"/>
                  <a:sym typeface="Arial"/>
                </a:rPr>
                <a:t>: [{</a:t>
              </a:r>
              <a:r>
                <a:rPr lang="en-US" sz="850">
                  <a:solidFill>
                    <a:srgbClr val="F472B6"/>
                  </a:solidFill>
                  <a:highlight>
                    <a:srgbClr val="0F172A"/>
                  </a:highlight>
                  <a:latin typeface="Arial"/>
                  <a:ea typeface="Arial"/>
                  <a:cs typeface="Arial"/>
                  <a:sym typeface="Arial"/>
                </a:rPr>
                <a:t>"title"</a:t>
              </a:r>
              <a:r>
                <a:rPr lang="en-US" sz="850">
                  <a:solidFill>
                    <a:srgbClr val="38BDF8"/>
                  </a:solidFill>
                  <a:highlight>
                    <a:srgbClr val="0F172A"/>
                  </a:highlight>
                  <a:latin typeface="Arial"/>
                  <a:ea typeface="Arial"/>
                  <a:cs typeface="Arial"/>
                  <a:sym typeface="Arial"/>
                </a:rPr>
                <a:t>: </a:t>
              </a:r>
              <a:r>
                <a:rPr lang="en-US" sz="850">
                  <a:solidFill>
                    <a:srgbClr val="34D399"/>
                  </a:solidFill>
                  <a:highlight>
                    <a:srgbClr val="0F172A"/>
                  </a:highlight>
                  <a:latin typeface="Arial"/>
                  <a:ea typeface="Arial"/>
                  <a:cs typeface="Arial"/>
                  <a:sym typeface="Arial"/>
                </a:rPr>
                <a:t>"Auth"</a:t>
              </a:r>
              <a:r>
                <a:rPr lang="en-US" sz="850">
                  <a:solidFill>
                    <a:srgbClr val="38BDF8"/>
                  </a:solidFill>
                  <a:highlight>
                    <a:srgbClr val="0F172A"/>
                  </a:highlight>
                  <a:latin typeface="Arial"/>
                  <a:ea typeface="Arial"/>
                  <a:cs typeface="Arial"/>
                  <a:sym typeface="Arial"/>
                </a:rPr>
                <a:t>}]</a:t>
              </a:r>
              <a:endParaRPr sz="850">
                <a:solidFill>
                  <a:srgbClr val="38BDF8"/>
                </a:solidFill>
                <a:highlight>
                  <a:srgbClr val="0F172A"/>
                </a:highlight>
                <a:latin typeface="Arial"/>
                <a:ea typeface="Arial"/>
                <a:cs typeface="Arial"/>
                <a:sym typeface="Arial"/>
              </a:endParaRPr>
            </a:p>
            <a:p>
              <a:pPr indent="0" lvl="0" marL="0" rtl="0" algn="l">
                <a:spcBef>
                  <a:spcPts val="0"/>
                </a:spcBef>
                <a:spcAft>
                  <a:spcPts val="0"/>
                </a:spcAft>
                <a:buNone/>
              </a:pPr>
              <a:r>
                <a:rPr lang="en-US" sz="850">
                  <a:solidFill>
                    <a:srgbClr val="94A3B8"/>
                  </a:solidFill>
                  <a:highlight>
                    <a:srgbClr val="0F172A"/>
                  </a:highlight>
                  <a:latin typeface="Arial"/>
                  <a:ea typeface="Arial"/>
                  <a:cs typeface="Arial"/>
                  <a:sym typeface="Arial"/>
                </a:rPr>
                <a:t>}</a:t>
              </a:r>
              <a:endParaRPr sz="850">
                <a:solidFill>
                  <a:srgbClr val="94A3B8"/>
                </a:solidFill>
                <a:highlight>
                  <a:srgbClr val="0F172A"/>
                </a:highlight>
                <a:latin typeface="Arial"/>
                <a:ea typeface="Arial"/>
                <a:cs typeface="Arial"/>
                <a:sym typeface="Arial"/>
              </a:endParaRPr>
            </a:p>
            <a:p>
              <a:pPr indent="0" lvl="0" marL="0" rtl="0" algn="l">
                <a:spcBef>
                  <a:spcPts val="1200"/>
                </a:spcBef>
                <a:spcAft>
                  <a:spcPts val="0"/>
                </a:spcAft>
                <a:buNone/>
              </a:pPr>
              <a:r>
                <a:rPr b="1" lang="en-US" sz="950">
                  <a:solidFill>
                    <a:srgbClr val="1E293B"/>
                  </a:solidFill>
                  <a:latin typeface="Plus Jakarta Sans"/>
                  <a:ea typeface="Plus Jakarta Sans"/>
                  <a:cs typeface="Plus Jakarta Sans"/>
                  <a:sym typeface="Plus Jakarta Sans"/>
                </a:rPr>
                <a:t>Best for:</a:t>
              </a:r>
              <a:endParaRPr b="1" sz="95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Large or unfamiliar codebases. Available free for public repos at deepwiki.com.</a:t>
              </a:r>
              <a:endParaRPr b="0" sz="950">
                <a:solidFill>
                  <a:srgbClr val="475569"/>
                </a:solidFill>
                <a:latin typeface="Plus Jakarta Sans"/>
                <a:ea typeface="Plus Jakarta Sans"/>
                <a:cs typeface="Plus Jakarta Sans"/>
                <a:sym typeface="Plus Jakarta Sans"/>
              </a:endParaRPr>
            </a:p>
          </p:txBody>
        </p:sp>
      </p:grpSp>
      <p:grpSp>
        <p:nvGrpSpPr>
          <p:cNvPr id="373" name="Google Shape;373;p20"/>
          <p:cNvGrpSpPr/>
          <p:nvPr/>
        </p:nvGrpSpPr>
        <p:grpSpPr>
          <a:xfrm>
            <a:off x="8191500" y="1238250"/>
            <a:ext cx="3429000" cy="4857900"/>
            <a:chOff x="0" y="0"/>
            <a:chExt cx="3429000" cy="4857900"/>
          </a:xfrm>
        </p:grpSpPr>
        <p:sp>
          <p:nvSpPr>
            <p:cNvPr id="374" name="Google Shape;374;p20"/>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0"/>
            <p:cNvSpPr/>
            <p:nvPr/>
          </p:nvSpPr>
          <p:spPr>
            <a:xfrm>
              <a:off x="0" y="0"/>
              <a:ext cx="57300" cy="4857900"/>
            </a:xfrm>
            <a:prstGeom prst="roundRect">
              <a:avLst>
                <a:gd fmla="val 50000" name="adj"/>
              </a:avLst>
            </a:prstGeom>
            <a:solidFill>
              <a:srgbClr val="E11D4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0"/>
            <p:cNvSpPr txBox="1"/>
            <p:nvPr/>
          </p:nvSpPr>
          <p:spPr>
            <a:xfrm>
              <a:off x="228600" y="228600"/>
              <a:ext cx="2971800" cy="438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1800">
                  <a:solidFill>
                    <a:srgbClr val="E11D48"/>
                  </a:solidFill>
                  <a:latin typeface="Material Icons"/>
                  <a:ea typeface="Material Icons"/>
                  <a:cs typeface="Material Icons"/>
                  <a:sym typeface="Material Icons"/>
                </a:rPr>
                <a:t>terminal</a:t>
              </a:r>
              <a:r>
                <a:rPr b="0" lang="en-US" sz="1600">
                  <a:solidFill>
                    <a:srgbClr val="E11D48"/>
                  </a:solidFill>
                  <a:latin typeface="Plus Jakarta Sans ExtraBold"/>
                  <a:ea typeface="Plus Jakarta Sans ExtraBold"/>
                  <a:cs typeface="Plus Jakarta Sans ExtraBold"/>
                  <a:sym typeface="Plus Jakarta Sans ExtraBold"/>
                </a:rPr>
                <a:t>7. Sessions</a:t>
              </a:r>
              <a:endParaRPr>
                <a:latin typeface="Plus Jakarta Sans"/>
                <a:ea typeface="Plus Jakarta Sans"/>
                <a:cs typeface="Plus Jakarta Sans"/>
                <a:sym typeface="Plus Jakarta Sans"/>
              </a:endParaRPr>
            </a:p>
            <a:p>
              <a:pPr indent="0" lvl="0" marL="0" rtl="0" algn="l">
                <a:spcBef>
                  <a:spcPts val="1200"/>
                </a:spcBef>
                <a:spcAft>
                  <a:spcPts val="0"/>
                </a:spcAft>
                <a:buNone/>
              </a:pPr>
              <a:r>
                <a:rPr b="1" lang="en-US" sz="1000">
                  <a:solidFill>
                    <a:srgbClr val="475569"/>
                  </a:solidFill>
                  <a:latin typeface="Plus Jakarta Sans"/>
                  <a:ea typeface="Plus Jakarta Sans"/>
                  <a:cs typeface="Plus Jakarta Sans"/>
                  <a:sym typeface="Plus Jakarta Sans"/>
                </a:rPr>
                <a:t>What: </a:t>
              </a:r>
              <a:r>
                <a:rPr b="0" lang="en-US" sz="1000">
                  <a:solidFill>
                    <a:srgbClr val="64748B"/>
                  </a:solidFill>
                  <a:latin typeface="Plus Jakarta Sans"/>
                  <a:ea typeface="Plus Jakarta Sans"/>
                  <a:cs typeface="Plus Jakarta Sans"/>
                  <a:sym typeface="Plus Jakarta Sans"/>
                </a:rPr>
                <a:t>Individual Devin work units where it autonomously codes, tests, and opens PRs. Each session should be isolated and atomic.</a:t>
              </a:r>
              <a:endParaRPr b="1" sz="1000">
                <a:solidFill>
                  <a:srgbClr val="475569"/>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950">
                  <a:solidFill>
                    <a:srgbClr val="9F1239"/>
                  </a:solidFill>
                  <a:highlight>
                    <a:srgbClr val="FFF1F2"/>
                  </a:highlight>
                  <a:latin typeface="Plus Jakarta Sans"/>
                  <a:ea typeface="Plus Jakarta Sans"/>
                  <a:cs typeface="Plus Jakarta Sans"/>
                  <a:sym typeface="Plus Jakarta Sans"/>
                </a:rPr>
                <a:t>Best Practices:</a:t>
              </a:r>
              <a:endParaRPr b="1" sz="950">
                <a:solidFill>
                  <a:srgbClr val="9F1239"/>
                </a:solidFill>
                <a:highlight>
                  <a:srgbClr val="FFF1F2"/>
                </a:highlight>
                <a:latin typeface="Plus Jakarta Sans"/>
                <a:ea typeface="Plus Jakarta Sans"/>
                <a:cs typeface="Plus Jakarta Sans"/>
                <a:sym typeface="Plus Jakarta Sans"/>
              </a:endParaRPr>
            </a:p>
            <a:p>
              <a:pPr indent="-285750" lvl="0" marL="457200" rtl="0" algn="l">
                <a:spcBef>
                  <a:spcPts val="600"/>
                </a:spcBef>
                <a:spcAft>
                  <a:spcPts val="0"/>
                </a:spcAft>
                <a:buClr>
                  <a:srgbClr val="9F1239"/>
                </a:buClr>
                <a:buSzPts val="900"/>
                <a:buFont typeface="Plus Jakarta Sans"/>
                <a:buChar char="●"/>
              </a:pPr>
              <a:r>
                <a:rPr b="0" lang="en-US" sz="900">
                  <a:solidFill>
                    <a:srgbClr val="9F1239"/>
                  </a:solidFill>
                  <a:highlight>
                    <a:srgbClr val="FFF1F2"/>
                  </a:highlight>
                  <a:latin typeface="Plus Jakarta Sans Medium"/>
                  <a:ea typeface="Plus Jakarta Sans Medium"/>
                  <a:cs typeface="Plus Jakarta Sans Medium"/>
                  <a:sym typeface="Plus Jakarta Sans Medium"/>
                </a:rPr>
                <a:t>Keep sessions under </a:t>
              </a:r>
              <a:r>
                <a:rPr b="0" lang="en-US" sz="900">
                  <a:solidFill>
                    <a:srgbClr val="9F1239"/>
                  </a:solidFill>
                  <a:highlight>
                    <a:srgbClr val="FFF1F2"/>
                  </a:highlight>
                  <a:latin typeface="Plus Jakarta Sans ExtraBold"/>
                  <a:ea typeface="Plus Jakarta Sans ExtraBold"/>
                  <a:cs typeface="Plus Jakarta Sans ExtraBold"/>
                  <a:sym typeface="Plus Jakarta Sans ExtraBold"/>
                </a:rPr>
                <a:t>90 minutes</a:t>
              </a:r>
              <a:endParaRPr b="0" sz="900">
                <a:solidFill>
                  <a:srgbClr val="9F1239"/>
                </a:solidFill>
                <a:highlight>
                  <a:srgbClr val="FFF1F2"/>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9F1239"/>
                </a:buClr>
                <a:buSzPts val="900"/>
                <a:buFont typeface="Plus Jakarta Sans"/>
                <a:buChar char="●"/>
              </a:pPr>
              <a:r>
                <a:rPr b="0" lang="en-US" sz="900">
                  <a:solidFill>
                    <a:srgbClr val="9F1239"/>
                  </a:solidFill>
                  <a:highlight>
                    <a:srgbClr val="FFF1F2"/>
                  </a:highlight>
                  <a:latin typeface="Plus Jakarta Sans Medium"/>
                  <a:ea typeface="Plus Jakarta Sans Medium"/>
                  <a:cs typeface="Plus Jakarta Sans Medium"/>
                  <a:sym typeface="Plus Jakarta Sans Medium"/>
                </a:rPr>
                <a:t>Provide clear verification checks</a:t>
              </a:r>
              <a:endParaRPr b="0" sz="900">
                <a:solidFill>
                  <a:srgbClr val="9F1239"/>
                </a:solidFill>
                <a:highlight>
                  <a:srgbClr val="FFF1F2"/>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9F1239"/>
                </a:buClr>
                <a:buSzPts val="900"/>
                <a:buFont typeface="Plus Jakarta Sans"/>
                <a:buChar char="●"/>
              </a:pPr>
              <a:r>
                <a:rPr b="0" lang="en-US" sz="900">
                  <a:solidFill>
                    <a:srgbClr val="9F1239"/>
                  </a:solidFill>
                  <a:highlight>
                    <a:srgbClr val="FFF1F2"/>
                  </a:highlight>
                  <a:latin typeface="Plus Jakarta Sans Medium"/>
                  <a:ea typeface="Plus Jakarta Sans Medium"/>
                  <a:cs typeface="Plus Jakarta Sans Medium"/>
                  <a:sym typeface="Plus Jakarta Sans Medium"/>
                </a:rPr>
                <a:t>Run multiple sessions in parallel</a:t>
              </a:r>
              <a:endParaRPr b="0" sz="900">
                <a:solidFill>
                  <a:srgbClr val="9F1239"/>
                </a:solidFill>
                <a:highlight>
                  <a:srgbClr val="FFF1F2"/>
                </a:highlight>
                <a:latin typeface="Plus Jakarta Sans Medium"/>
                <a:ea typeface="Plus Jakarta Sans Medium"/>
                <a:cs typeface="Plus Jakarta Sans Medium"/>
                <a:sym typeface="Plus Jakarta Sans Medium"/>
              </a:endParaRPr>
            </a:p>
            <a:p>
              <a:pPr indent="-285750" lvl="0" marL="457200" rtl="0" algn="l">
                <a:spcBef>
                  <a:spcPts val="450"/>
                </a:spcBef>
                <a:spcAft>
                  <a:spcPts val="0"/>
                </a:spcAft>
                <a:buClr>
                  <a:srgbClr val="9F1239"/>
                </a:buClr>
                <a:buSzPts val="900"/>
                <a:buFont typeface="Plus Jakarta Sans"/>
                <a:buChar char="●"/>
              </a:pPr>
              <a:r>
                <a:rPr b="0" lang="en-US" sz="900">
                  <a:solidFill>
                    <a:srgbClr val="9F1239"/>
                  </a:solidFill>
                  <a:highlight>
                    <a:srgbClr val="FFF1F2"/>
                  </a:highlight>
                  <a:latin typeface="Plus Jakarta Sans Medium"/>
                  <a:ea typeface="Plus Jakarta Sans Medium"/>
                  <a:cs typeface="Plus Jakarta Sans Medium"/>
                  <a:sym typeface="Plus Jakarta Sans Medium"/>
                </a:rPr>
                <a:t>Start from Ask Devin for context</a:t>
              </a:r>
              <a:endParaRPr b="0" sz="900">
                <a:solidFill>
                  <a:srgbClr val="9F1239"/>
                </a:solidFill>
                <a:highlight>
                  <a:srgbClr val="FFF1F2"/>
                </a:highlight>
                <a:latin typeface="Plus Jakarta Sans Medium"/>
                <a:ea typeface="Plus Jakarta Sans Medium"/>
                <a:cs typeface="Plus Jakarta Sans Medium"/>
                <a:sym typeface="Plus Jakarta Sans Medium"/>
              </a:endParaRPr>
            </a:p>
            <a:p>
              <a:pPr indent="0" lvl="0" marL="0" rtl="0" algn="l">
                <a:spcBef>
                  <a:spcPts val="1200"/>
                </a:spcBef>
                <a:spcAft>
                  <a:spcPts val="0"/>
                </a:spcAft>
                <a:buNone/>
              </a:pPr>
              <a:r>
                <a:rPr b="1" lang="en-US" sz="950">
                  <a:solidFill>
                    <a:srgbClr val="1E293B"/>
                  </a:solidFill>
                  <a:latin typeface="Plus Jakarta Sans"/>
                  <a:ea typeface="Plus Jakarta Sans"/>
                  <a:cs typeface="Plus Jakarta Sans"/>
                  <a:sym typeface="Plus Jakarta Sans"/>
                </a:rPr>
                <a:t>Best for:</a:t>
              </a:r>
              <a:endParaRPr b="1" sz="95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475569"/>
                  </a:solidFill>
                  <a:latin typeface="Plus Jakarta Sans"/>
                  <a:ea typeface="Plus Jakarta Sans"/>
                  <a:cs typeface="Plus Jakarta Sans"/>
                  <a:sym typeface="Plus Jakarta Sans"/>
                </a:rPr>
                <a:t>Isolated slices of implementation and focused software development tasks.</a:t>
              </a:r>
              <a:endParaRPr b="0" sz="950">
                <a:solidFill>
                  <a:srgbClr val="475569"/>
                </a:solidFill>
                <a:latin typeface="Plus Jakarta Sans"/>
                <a:ea typeface="Plus Jakarta Sans"/>
                <a:cs typeface="Plus Jakarta Sans"/>
                <a:sym typeface="Plus Jakarta Sans"/>
              </a:endParaRPr>
            </a:p>
          </p:txBody>
        </p:sp>
      </p:grpSp>
      <p:pic>
        <p:nvPicPr>
          <p:cNvPr descr="image.png" id="377" name="Google Shape;377;p20"/>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378" name="Google Shape;378;p20"/>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Core Tooling Blueprint (Part 2)</a:t>
            </a:r>
            <a:endParaRPr/>
          </a:p>
        </p:txBody>
      </p:sp>
      <p:sp>
        <p:nvSpPr>
          <p:cNvPr id="379" name="Google Shape;379;p20"/>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3" name="Shape 383"/>
        <p:cNvGrpSpPr/>
        <p:nvPr/>
      </p:nvGrpSpPr>
      <p:grpSpPr>
        <a:xfrm>
          <a:off x="0" y="0"/>
          <a:ext cx="0" cy="0"/>
          <a:chOff x="0" y="0"/>
          <a:chExt cx="0" cy="0"/>
        </a:xfrm>
      </p:grpSpPr>
      <p:sp>
        <p:nvSpPr>
          <p:cNvPr id="384" name="Google Shape;384;p21"/>
          <p:cNvSpPr/>
          <p:nvPr/>
        </p:nvSpPr>
        <p:spPr>
          <a:xfrm>
            <a:off x="571500" y="3524250"/>
            <a:ext cx="11049000" cy="2476500"/>
          </a:xfrm>
          <a:prstGeom prst="roundRect">
            <a:avLst>
              <a:gd fmla="val 6153"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85" name="Google Shape;385;p21"/>
          <p:cNvPicPr preferRelativeResize="0"/>
          <p:nvPr/>
        </p:nvPicPr>
        <p:blipFill rotWithShape="1">
          <a:blip r:embed="rId4">
            <a:alphaModFix/>
          </a:blip>
          <a:srcRect b="15079" l="0" r="0" t="15079"/>
          <a:stretch/>
        </p:blipFill>
        <p:spPr>
          <a:xfrm>
            <a:off x="1795463" y="2181225"/>
            <a:ext cx="8601000" cy="19200"/>
          </a:xfrm>
          <a:prstGeom prst="rect">
            <a:avLst/>
          </a:prstGeom>
          <a:noFill/>
          <a:ln>
            <a:noFill/>
          </a:ln>
        </p:spPr>
      </p:pic>
      <p:pic>
        <p:nvPicPr>
          <p:cNvPr descr="image.png" id="386" name="Google Shape;386;p21"/>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387" name="Google Shape;387;p21"/>
          <p:cNvSpPr txBox="1"/>
          <p:nvPr/>
        </p:nvSpPr>
        <p:spPr>
          <a:xfrm>
            <a:off x="952500" y="3762375"/>
            <a:ext cx="10287000" cy="669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i="1" lang="en-US" sz="1450">
                <a:solidFill>
                  <a:srgbClr val="1E293B"/>
                </a:solidFill>
                <a:latin typeface="Plus Jakarta Sans SemiBold"/>
                <a:ea typeface="Plus Jakarta Sans SemiBold"/>
                <a:cs typeface="Plus Jakarta Sans SemiBold"/>
                <a:sym typeface="Plus Jakarta Sans SemiBold"/>
              </a:rPr>
              <a:t>"DeepWiki indexes your repo → Ask Devin explores + plans → Session executes with a Playbook attached → Skills guide repeatable steps → Knowledge provides always-relevant context → Rules enforce project standards throughout."</a:t>
            </a:r>
            <a:endParaRPr b="0" i="1" sz="1450">
              <a:solidFill>
                <a:srgbClr val="1E293B"/>
              </a:solidFill>
              <a:latin typeface="Plus Jakarta Sans SemiBold"/>
              <a:ea typeface="Plus Jakarta Sans SemiBold"/>
              <a:cs typeface="Plus Jakarta Sans SemiBold"/>
              <a:sym typeface="Plus Jakarta Sans SemiBold"/>
            </a:endParaRPr>
          </a:p>
        </p:txBody>
      </p:sp>
      <p:pic>
        <p:nvPicPr>
          <p:cNvPr id="388" name="Google Shape;388;p21"/>
          <p:cNvPicPr preferRelativeResize="0"/>
          <p:nvPr/>
        </p:nvPicPr>
        <p:blipFill rotWithShape="1">
          <a:blip r:embed="rId6">
            <a:alphaModFix/>
          </a:blip>
          <a:srcRect b="0" l="0" r="0" t="0"/>
          <a:stretch/>
        </p:blipFill>
        <p:spPr>
          <a:xfrm>
            <a:off x="1414463" y="1809750"/>
            <a:ext cx="762000" cy="762000"/>
          </a:xfrm>
          <a:prstGeom prst="rect">
            <a:avLst/>
          </a:prstGeom>
          <a:noFill/>
          <a:ln>
            <a:noFill/>
          </a:ln>
        </p:spPr>
      </p:pic>
      <p:sp>
        <p:nvSpPr>
          <p:cNvPr id="389" name="Google Shape;389;p21"/>
          <p:cNvSpPr txBox="1"/>
          <p:nvPr/>
        </p:nvSpPr>
        <p:spPr>
          <a:xfrm>
            <a:off x="1095375"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1. DeepWiki</a:t>
            </a:r>
            <a:endParaRPr b="1" sz="1150">
              <a:solidFill>
                <a:srgbClr val="0F172A"/>
              </a:solidFill>
              <a:latin typeface="Plus Jakarta Sans"/>
              <a:ea typeface="Plus Jakarta Sans"/>
              <a:cs typeface="Plus Jakarta Sans"/>
              <a:sym typeface="Plus Jakarta Sans"/>
            </a:endParaRPr>
          </a:p>
        </p:txBody>
      </p:sp>
      <p:sp>
        <p:nvSpPr>
          <p:cNvPr id="390" name="Google Shape;390;p21"/>
          <p:cNvSpPr txBox="1"/>
          <p:nvPr/>
        </p:nvSpPr>
        <p:spPr>
          <a:xfrm>
            <a:off x="1095375"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Indexes Repo</a:t>
            </a:r>
            <a:endParaRPr b="0" sz="950">
              <a:solidFill>
                <a:srgbClr val="64748B"/>
              </a:solidFill>
              <a:latin typeface="Plus Jakarta Sans Medium"/>
              <a:ea typeface="Plus Jakarta Sans Medium"/>
              <a:cs typeface="Plus Jakarta Sans Medium"/>
              <a:sym typeface="Plus Jakarta Sans Medium"/>
            </a:endParaRPr>
          </a:p>
        </p:txBody>
      </p:sp>
      <p:pic>
        <p:nvPicPr>
          <p:cNvPr id="391" name="Google Shape;391;p21"/>
          <p:cNvPicPr preferRelativeResize="0"/>
          <p:nvPr/>
        </p:nvPicPr>
        <p:blipFill rotWithShape="1">
          <a:blip r:embed="rId7">
            <a:alphaModFix/>
          </a:blip>
          <a:srcRect b="0" l="0" r="0" t="0"/>
          <a:stretch/>
        </p:blipFill>
        <p:spPr>
          <a:xfrm>
            <a:off x="3134678" y="1809750"/>
            <a:ext cx="762000" cy="762000"/>
          </a:xfrm>
          <a:prstGeom prst="rect">
            <a:avLst/>
          </a:prstGeom>
          <a:noFill/>
          <a:ln>
            <a:noFill/>
          </a:ln>
        </p:spPr>
      </p:pic>
      <p:sp>
        <p:nvSpPr>
          <p:cNvPr id="392" name="Google Shape;392;p21"/>
          <p:cNvSpPr txBox="1"/>
          <p:nvPr/>
        </p:nvSpPr>
        <p:spPr>
          <a:xfrm>
            <a:off x="2815590"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2. Ask Devin</a:t>
            </a:r>
            <a:endParaRPr b="1" sz="1150">
              <a:solidFill>
                <a:srgbClr val="0F172A"/>
              </a:solidFill>
              <a:latin typeface="Plus Jakarta Sans"/>
              <a:ea typeface="Plus Jakarta Sans"/>
              <a:cs typeface="Plus Jakarta Sans"/>
              <a:sym typeface="Plus Jakarta Sans"/>
            </a:endParaRPr>
          </a:p>
        </p:txBody>
      </p:sp>
      <p:sp>
        <p:nvSpPr>
          <p:cNvPr id="393" name="Google Shape;393;p21"/>
          <p:cNvSpPr txBox="1"/>
          <p:nvPr/>
        </p:nvSpPr>
        <p:spPr>
          <a:xfrm>
            <a:off x="2815590"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Explores &amp; Plans</a:t>
            </a:r>
            <a:endParaRPr b="0" sz="950">
              <a:solidFill>
                <a:srgbClr val="64748B"/>
              </a:solidFill>
              <a:latin typeface="Plus Jakarta Sans Medium"/>
              <a:ea typeface="Plus Jakarta Sans Medium"/>
              <a:cs typeface="Plus Jakarta Sans Medium"/>
              <a:sym typeface="Plus Jakarta Sans Medium"/>
            </a:endParaRPr>
          </a:p>
        </p:txBody>
      </p:sp>
      <p:pic>
        <p:nvPicPr>
          <p:cNvPr id="394" name="Google Shape;394;p21"/>
          <p:cNvPicPr preferRelativeResize="0"/>
          <p:nvPr/>
        </p:nvPicPr>
        <p:blipFill rotWithShape="1">
          <a:blip r:embed="rId8">
            <a:alphaModFix/>
          </a:blip>
          <a:srcRect b="0" l="0" r="0" t="0"/>
          <a:stretch/>
        </p:blipFill>
        <p:spPr>
          <a:xfrm>
            <a:off x="4854893" y="1809750"/>
            <a:ext cx="762000" cy="762000"/>
          </a:xfrm>
          <a:prstGeom prst="rect">
            <a:avLst/>
          </a:prstGeom>
          <a:noFill/>
          <a:ln>
            <a:noFill/>
          </a:ln>
        </p:spPr>
      </p:pic>
      <p:sp>
        <p:nvSpPr>
          <p:cNvPr id="395" name="Google Shape;395;p21"/>
          <p:cNvSpPr txBox="1"/>
          <p:nvPr/>
        </p:nvSpPr>
        <p:spPr>
          <a:xfrm>
            <a:off x="4535805"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3. Session</a:t>
            </a:r>
            <a:endParaRPr b="1" sz="1150">
              <a:solidFill>
                <a:srgbClr val="0F172A"/>
              </a:solidFill>
              <a:latin typeface="Plus Jakarta Sans"/>
              <a:ea typeface="Plus Jakarta Sans"/>
              <a:cs typeface="Plus Jakarta Sans"/>
              <a:sym typeface="Plus Jakarta Sans"/>
            </a:endParaRPr>
          </a:p>
        </p:txBody>
      </p:sp>
      <p:sp>
        <p:nvSpPr>
          <p:cNvPr id="396" name="Google Shape;396;p21"/>
          <p:cNvSpPr txBox="1"/>
          <p:nvPr/>
        </p:nvSpPr>
        <p:spPr>
          <a:xfrm>
            <a:off x="4535805"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Executes Task</a:t>
            </a:r>
            <a:endParaRPr b="0" sz="950">
              <a:solidFill>
                <a:srgbClr val="64748B"/>
              </a:solidFill>
              <a:latin typeface="Plus Jakarta Sans Medium"/>
              <a:ea typeface="Plus Jakarta Sans Medium"/>
              <a:cs typeface="Plus Jakarta Sans Medium"/>
              <a:sym typeface="Plus Jakarta Sans Medium"/>
            </a:endParaRPr>
          </a:p>
        </p:txBody>
      </p:sp>
      <p:pic>
        <p:nvPicPr>
          <p:cNvPr id="397" name="Google Shape;397;p21"/>
          <p:cNvPicPr preferRelativeResize="0"/>
          <p:nvPr/>
        </p:nvPicPr>
        <p:blipFill rotWithShape="1">
          <a:blip r:embed="rId9">
            <a:alphaModFix/>
          </a:blip>
          <a:srcRect b="0" l="0" r="0" t="0"/>
          <a:stretch/>
        </p:blipFill>
        <p:spPr>
          <a:xfrm>
            <a:off x="6575108" y="1809750"/>
            <a:ext cx="762000" cy="762000"/>
          </a:xfrm>
          <a:prstGeom prst="rect">
            <a:avLst/>
          </a:prstGeom>
          <a:noFill/>
          <a:ln>
            <a:noFill/>
          </a:ln>
        </p:spPr>
      </p:pic>
      <p:sp>
        <p:nvSpPr>
          <p:cNvPr id="398" name="Google Shape;398;p21"/>
          <p:cNvSpPr txBox="1"/>
          <p:nvPr/>
        </p:nvSpPr>
        <p:spPr>
          <a:xfrm>
            <a:off x="6256020"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4. Playbook</a:t>
            </a:r>
            <a:endParaRPr b="1" sz="1150">
              <a:solidFill>
                <a:srgbClr val="0F172A"/>
              </a:solidFill>
              <a:latin typeface="Plus Jakarta Sans"/>
              <a:ea typeface="Plus Jakarta Sans"/>
              <a:cs typeface="Plus Jakarta Sans"/>
              <a:sym typeface="Plus Jakarta Sans"/>
            </a:endParaRPr>
          </a:p>
        </p:txBody>
      </p:sp>
      <p:sp>
        <p:nvSpPr>
          <p:cNvPr id="399" name="Google Shape;399;p21"/>
          <p:cNvSpPr txBox="1"/>
          <p:nvPr/>
        </p:nvSpPr>
        <p:spPr>
          <a:xfrm>
            <a:off x="6256020"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Sets Blueprint</a:t>
            </a:r>
            <a:endParaRPr b="0" sz="950">
              <a:solidFill>
                <a:srgbClr val="64748B"/>
              </a:solidFill>
              <a:latin typeface="Plus Jakarta Sans Medium"/>
              <a:ea typeface="Plus Jakarta Sans Medium"/>
              <a:cs typeface="Plus Jakarta Sans Medium"/>
              <a:sym typeface="Plus Jakarta Sans Medium"/>
            </a:endParaRPr>
          </a:p>
        </p:txBody>
      </p:sp>
      <p:pic>
        <p:nvPicPr>
          <p:cNvPr id="400" name="Google Shape;400;p21"/>
          <p:cNvPicPr preferRelativeResize="0"/>
          <p:nvPr/>
        </p:nvPicPr>
        <p:blipFill rotWithShape="1">
          <a:blip r:embed="rId10">
            <a:alphaModFix/>
          </a:blip>
          <a:srcRect b="0" l="0" r="0" t="0"/>
          <a:stretch/>
        </p:blipFill>
        <p:spPr>
          <a:xfrm>
            <a:off x="8295323" y="1809750"/>
            <a:ext cx="762000" cy="762000"/>
          </a:xfrm>
          <a:prstGeom prst="rect">
            <a:avLst/>
          </a:prstGeom>
          <a:noFill/>
          <a:ln>
            <a:noFill/>
          </a:ln>
        </p:spPr>
      </p:pic>
      <p:sp>
        <p:nvSpPr>
          <p:cNvPr id="401" name="Google Shape;401;p21"/>
          <p:cNvSpPr txBox="1"/>
          <p:nvPr/>
        </p:nvSpPr>
        <p:spPr>
          <a:xfrm>
            <a:off x="7976235"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5. Skills</a:t>
            </a:r>
            <a:endParaRPr b="1" sz="1150">
              <a:solidFill>
                <a:srgbClr val="0F172A"/>
              </a:solidFill>
              <a:latin typeface="Plus Jakarta Sans"/>
              <a:ea typeface="Plus Jakarta Sans"/>
              <a:cs typeface="Plus Jakarta Sans"/>
              <a:sym typeface="Plus Jakarta Sans"/>
            </a:endParaRPr>
          </a:p>
        </p:txBody>
      </p:sp>
      <p:sp>
        <p:nvSpPr>
          <p:cNvPr id="402" name="Google Shape;402;p21"/>
          <p:cNvSpPr txBox="1"/>
          <p:nvPr/>
        </p:nvSpPr>
        <p:spPr>
          <a:xfrm>
            <a:off x="7976235"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Guides Flow</a:t>
            </a:r>
            <a:endParaRPr b="0" sz="950">
              <a:solidFill>
                <a:srgbClr val="64748B"/>
              </a:solidFill>
              <a:latin typeface="Plus Jakarta Sans Medium"/>
              <a:ea typeface="Plus Jakarta Sans Medium"/>
              <a:cs typeface="Plus Jakarta Sans Medium"/>
              <a:sym typeface="Plus Jakarta Sans Medium"/>
            </a:endParaRPr>
          </a:p>
        </p:txBody>
      </p:sp>
      <p:pic>
        <p:nvPicPr>
          <p:cNvPr id="403" name="Google Shape;403;p21"/>
          <p:cNvPicPr preferRelativeResize="0"/>
          <p:nvPr/>
        </p:nvPicPr>
        <p:blipFill rotWithShape="1">
          <a:blip r:embed="rId11">
            <a:alphaModFix/>
          </a:blip>
          <a:srcRect b="0" l="0" r="0" t="0"/>
          <a:stretch/>
        </p:blipFill>
        <p:spPr>
          <a:xfrm>
            <a:off x="10015538" y="1809750"/>
            <a:ext cx="762000" cy="762000"/>
          </a:xfrm>
          <a:prstGeom prst="rect">
            <a:avLst/>
          </a:prstGeom>
          <a:noFill/>
          <a:ln>
            <a:noFill/>
          </a:ln>
        </p:spPr>
      </p:pic>
      <p:sp>
        <p:nvSpPr>
          <p:cNvPr id="404" name="Google Shape;404;p21"/>
          <p:cNvSpPr txBox="1"/>
          <p:nvPr/>
        </p:nvSpPr>
        <p:spPr>
          <a:xfrm>
            <a:off x="9696450" y="2714625"/>
            <a:ext cx="1400100" cy="1770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1150">
                <a:solidFill>
                  <a:srgbClr val="0F172A"/>
                </a:solidFill>
                <a:latin typeface="Plus Jakarta Sans"/>
                <a:ea typeface="Plus Jakarta Sans"/>
                <a:cs typeface="Plus Jakarta Sans"/>
                <a:sym typeface="Plus Jakarta Sans"/>
              </a:rPr>
              <a:t>6. Rules</a:t>
            </a:r>
            <a:endParaRPr b="1" sz="1150">
              <a:solidFill>
                <a:srgbClr val="0F172A"/>
              </a:solidFill>
              <a:latin typeface="Plus Jakarta Sans"/>
              <a:ea typeface="Plus Jakarta Sans"/>
              <a:cs typeface="Plus Jakarta Sans"/>
              <a:sym typeface="Plus Jakarta Sans"/>
            </a:endParaRPr>
          </a:p>
        </p:txBody>
      </p:sp>
      <p:sp>
        <p:nvSpPr>
          <p:cNvPr id="405" name="Google Shape;405;p21"/>
          <p:cNvSpPr txBox="1"/>
          <p:nvPr/>
        </p:nvSpPr>
        <p:spPr>
          <a:xfrm>
            <a:off x="9696450" y="2943225"/>
            <a:ext cx="1400100" cy="1461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950">
                <a:solidFill>
                  <a:srgbClr val="64748B"/>
                </a:solidFill>
                <a:latin typeface="Plus Jakarta Sans Medium"/>
                <a:ea typeface="Plus Jakarta Sans Medium"/>
                <a:cs typeface="Plus Jakarta Sans Medium"/>
                <a:sym typeface="Plus Jakarta Sans Medium"/>
              </a:rPr>
              <a:t>Enforces Standard</a:t>
            </a:r>
            <a:endParaRPr b="0" sz="950">
              <a:solidFill>
                <a:srgbClr val="64748B"/>
              </a:solidFill>
              <a:latin typeface="Plus Jakarta Sans Medium"/>
              <a:ea typeface="Plus Jakarta Sans Medium"/>
              <a:cs typeface="Plus Jakarta Sans Medium"/>
              <a:sym typeface="Plus Jakarta Sans Medium"/>
            </a:endParaRPr>
          </a:p>
        </p:txBody>
      </p:sp>
      <p:pic>
        <p:nvPicPr>
          <p:cNvPr id="406" name="Google Shape;406;p21"/>
          <p:cNvPicPr preferRelativeResize="0"/>
          <p:nvPr/>
        </p:nvPicPr>
        <p:blipFill rotWithShape="1">
          <a:blip r:embed="rId12">
            <a:alphaModFix/>
          </a:blip>
          <a:srcRect b="10248" l="0" r="0" t="10248"/>
          <a:stretch/>
        </p:blipFill>
        <p:spPr>
          <a:xfrm>
            <a:off x="2352675" y="4714875"/>
            <a:ext cx="1005900" cy="295200"/>
          </a:xfrm>
          <a:prstGeom prst="rect">
            <a:avLst/>
          </a:prstGeom>
          <a:noFill/>
          <a:ln>
            <a:noFill/>
          </a:ln>
        </p:spPr>
      </p:pic>
      <p:pic>
        <p:nvPicPr>
          <p:cNvPr id="407" name="Google Shape;407;p21"/>
          <p:cNvPicPr preferRelativeResize="0"/>
          <p:nvPr/>
        </p:nvPicPr>
        <p:blipFill rotWithShape="1">
          <a:blip r:embed="rId13">
            <a:alphaModFix/>
          </a:blip>
          <a:srcRect b="8506" l="0" r="0" t="8506"/>
          <a:stretch/>
        </p:blipFill>
        <p:spPr>
          <a:xfrm>
            <a:off x="3543300" y="4714875"/>
            <a:ext cx="1260300" cy="295200"/>
          </a:xfrm>
          <a:prstGeom prst="rect">
            <a:avLst/>
          </a:prstGeom>
          <a:noFill/>
          <a:ln>
            <a:noFill/>
          </a:ln>
        </p:spPr>
      </p:pic>
      <p:pic>
        <p:nvPicPr>
          <p:cNvPr id="408" name="Google Shape;408;p21"/>
          <p:cNvPicPr preferRelativeResize="0"/>
          <p:nvPr/>
        </p:nvPicPr>
        <p:blipFill rotWithShape="1">
          <a:blip r:embed="rId14">
            <a:alphaModFix/>
          </a:blip>
          <a:srcRect b="5932" l="0" r="0" t="5932"/>
          <a:stretch/>
        </p:blipFill>
        <p:spPr>
          <a:xfrm>
            <a:off x="4991100" y="4714875"/>
            <a:ext cx="2024100" cy="295200"/>
          </a:xfrm>
          <a:prstGeom prst="rect">
            <a:avLst/>
          </a:prstGeom>
          <a:noFill/>
          <a:ln>
            <a:noFill/>
          </a:ln>
        </p:spPr>
      </p:pic>
      <p:pic>
        <p:nvPicPr>
          <p:cNvPr id="409" name="Google Shape;409;p21"/>
          <p:cNvPicPr preferRelativeResize="0"/>
          <p:nvPr/>
        </p:nvPicPr>
        <p:blipFill rotWithShape="1">
          <a:blip r:embed="rId15">
            <a:alphaModFix/>
          </a:blip>
          <a:srcRect b="8506" l="0" r="0" t="8506"/>
          <a:stretch/>
        </p:blipFill>
        <p:spPr>
          <a:xfrm>
            <a:off x="7200900" y="4714875"/>
            <a:ext cx="1260300" cy="295200"/>
          </a:xfrm>
          <a:prstGeom prst="rect">
            <a:avLst/>
          </a:prstGeom>
          <a:noFill/>
          <a:ln>
            <a:noFill/>
          </a:ln>
        </p:spPr>
      </p:pic>
      <p:pic>
        <p:nvPicPr>
          <p:cNvPr id="410" name="Google Shape;410;p21"/>
          <p:cNvPicPr preferRelativeResize="0"/>
          <p:nvPr/>
        </p:nvPicPr>
        <p:blipFill rotWithShape="1">
          <a:blip r:embed="rId16">
            <a:alphaModFix/>
          </a:blip>
          <a:srcRect b="9177" l="0" r="0" t="9177"/>
          <a:stretch/>
        </p:blipFill>
        <p:spPr>
          <a:xfrm>
            <a:off x="8648700" y="4714875"/>
            <a:ext cx="1175400" cy="295200"/>
          </a:xfrm>
          <a:prstGeom prst="rect">
            <a:avLst/>
          </a:prstGeom>
          <a:noFill/>
          <a:ln>
            <a:noFill/>
          </a:ln>
        </p:spPr>
      </p:pic>
      <p:pic>
        <p:nvPicPr>
          <p:cNvPr id="411" name="Google Shape;411;p21"/>
          <p:cNvPicPr preferRelativeResize="0"/>
          <p:nvPr/>
        </p:nvPicPr>
        <p:blipFill rotWithShape="1">
          <a:blip r:embed="rId17">
            <a:alphaModFix/>
          </a:blip>
          <a:srcRect b="0" l="80" r="80" t="0"/>
          <a:stretch/>
        </p:blipFill>
        <p:spPr>
          <a:xfrm>
            <a:off x="1643063" y="2052638"/>
            <a:ext cx="304800" cy="276300"/>
          </a:xfrm>
          <a:prstGeom prst="rect">
            <a:avLst/>
          </a:prstGeom>
          <a:noFill/>
          <a:ln>
            <a:noFill/>
          </a:ln>
        </p:spPr>
      </p:pic>
      <p:pic>
        <p:nvPicPr>
          <p:cNvPr id="412" name="Google Shape;412;p21"/>
          <p:cNvPicPr preferRelativeResize="0"/>
          <p:nvPr/>
        </p:nvPicPr>
        <p:blipFill rotWithShape="1">
          <a:blip r:embed="rId18">
            <a:alphaModFix/>
          </a:blip>
          <a:srcRect b="0" l="6325" r="6316" t="0"/>
          <a:stretch/>
        </p:blipFill>
        <p:spPr>
          <a:xfrm>
            <a:off x="3363278" y="2052638"/>
            <a:ext cx="304800" cy="276300"/>
          </a:xfrm>
          <a:prstGeom prst="rect">
            <a:avLst/>
          </a:prstGeom>
          <a:noFill/>
          <a:ln>
            <a:noFill/>
          </a:ln>
        </p:spPr>
      </p:pic>
      <p:pic>
        <p:nvPicPr>
          <p:cNvPr id="413" name="Google Shape;413;p21"/>
          <p:cNvPicPr preferRelativeResize="0"/>
          <p:nvPr/>
        </p:nvPicPr>
        <p:blipFill rotWithShape="1">
          <a:blip r:embed="rId19">
            <a:alphaModFix/>
          </a:blip>
          <a:srcRect b="0" l="6325" r="6316" t="0"/>
          <a:stretch/>
        </p:blipFill>
        <p:spPr>
          <a:xfrm>
            <a:off x="5083493" y="2052638"/>
            <a:ext cx="304800" cy="276300"/>
          </a:xfrm>
          <a:prstGeom prst="rect">
            <a:avLst/>
          </a:prstGeom>
          <a:noFill/>
          <a:ln>
            <a:noFill/>
          </a:ln>
        </p:spPr>
      </p:pic>
      <p:pic>
        <p:nvPicPr>
          <p:cNvPr id="414" name="Google Shape;414;p21"/>
          <p:cNvPicPr preferRelativeResize="0"/>
          <p:nvPr/>
        </p:nvPicPr>
        <p:blipFill rotWithShape="1">
          <a:blip r:embed="rId20">
            <a:alphaModFix/>
          </a:blip>
          <a:srcRect b="14223" l="0" r="0" t="14231"/>
          <a:stretch/>
        </p:blipFill>
        <p:spPr>
          <a:xfrm>
            <a:off x="6803708" y="2052638"/>
            <a:ext cx="304800" cy="276300"/>
          </a:xfrm>
          <a:prstGeom prst="rect">
            <a:avLst/>
          </a:prstGeom>
          <a:noFill/>
          <a:ln>
            <a:noFill/>
          </a:ln>
        </p:spPr>
      </p:pic>
      <p:pic>
        <p:nvPicPr>
          <p:cNvPr id="415" name="Google Shape;415;p21"/>
          <p:cNvPicPr preferRelativeResize="0"/>
          <p:nvPr/>
        </p:nvPicPr>
        <p:blipFill rotWithShape="1">
          <a:blip r:embed="rId21">
            <a:alphaModFix/>
          </a:blip>
          <a:srcRect b="4686" l="0" r="0" t="4686"/>
          <a:stretch/>
        </p:blipFill>
        <p:spPr>
          <a:xfrm>
            <a:off x="8523923" y="2052638"/>
            <a:ext cx="304800" cy="276300"/>
          </a:xfrm>
          <a:prstGeom prst="rect">
            <a:avLst/>
          </a:prstGeom>
          <a:noFill/>
          <a:ln>
            <a:noFill/>
          </a:ln>
        </p:spPr>
      </p:pic>
      <p:pic>
        <p:nvPicPr>
          <p:cNvPr id="416" name="Google Shape;416;p21"/>
          <p:cNvPicPr preferRelativeResize="0"/>
          <p:nvPr/>
        </p:nvPicPr>
        <p:blipFill rotWithShape="1">
          <a:blip r:embed="rId22">
            <a:alphaModFix/>
          </a:blip>
          <a:srcRect b="0" l="6325" r="6316" t="0"/>
          <a:stretch/>
        </p:blipFill>
        <p:spPr>
          <a:xfrm>
            <a:off x="10244138" y="2052638"/>
            <a:ext cx="304800" cy="276300"/>
          </a:xfrm>
          <a:prstGeom prst="rect">
            <a:avLst/>
          </a:prstGeom>
          <a:noFill/>
          <a:ln>
            <a:noFill/>
          </a:ln>
        </p:spPr>
      </p:pic>
      <p:pic>
        <p:nvPicPr>
          <p:cNvPr id="417" name="Google Shape;417;p21"/>
          <p:cNvPicPr preferRelativeResize="0"/>
          <p:nvPr/>
        </p:nvPicPr>
        <p:blipFill rotWithShape="1">
          <a:blip r:embed="rId23">
            <a:alphaModFix/>
          </a:blip>
          <a:srcRect b="651" l="0" r="0" t="661"/>
          <a:stretch/>
        </p:blipFill>
        <p:spPr>
          <a:xfrm>
            <a:off x="2466975" y="4791075"/>
            <a:ext cx="180900" cy="142800"/>
          </a:xfrm>
          <a:prstGeom prst="rect">
            <a:avLst/>
          </a:prstGeom>
          <a:noFill/>
          <a:ln>
            <a:noFill/>
          </a:ln>
        </p:spPr>
      </p:pic>
      <p:pic>
        <p:nvPicPr>
          <p:cNvPr id="418" name="Google Shape;418;p21"/>
          <p:cNvPicPr preferRelativeResize="0"/>
          <p:nvPr/>
        </p:nvPicPr>
        <p:blipFill rotWithShape="1">
          <a:blip r:embed="rId24">
            <a:alphaModFix/>
          </a:blip>
          <a:srcRect b="651" l="0" r="0" t="661"/>
          <a:stretch/>
        </p:blipFill>
        <p:spPr>
          <a:xfrm>
            <a:off x="3657600" y="4791075"/>
            <a:ext cx="180900" cy="142800"/>
          </a:xfrm>
          <a:prstGeom prst="rect">
            <a:avLst/>
          </a:prstGeom>
          <a:noFill/>
          <a:ln>
            <a:noFill/>
          </a:ln>
        </p:spPr>
      </p:pic>
      <p:pic>
        <p:nvPicPr>
          <p:cNvPr id="419" name="Google Shape;419;p21"/>
          <p:cNvPicPr preferRelativeResize="0"/>
          <p:nvPr/>
        </p:nvPicPr>
        <p:blipFill rotWithShape="1">
          <a:blip r:embed="rId25">
            <a:alphaModFix/>
          </a:blip>
          <a:srcRect b="651" l="0" r="0" t="661"/>
          <a:stretch/>
        </p:blipFill>
        <p:spPr>
          <a:xfrm>
            <a:off x="5105400" y="4791075"/>
            <a:ext cx="180900" cy="142800"/>
          </a:xfrm>
          <a:prstGeom prst="rect">
            <a:avLst/>
          </a:prstGeom>
          <a:noFill/>
          <a:ln>
            <a:noFill/>
          </a:ln>
        </p:spPr>
      </p:pic>
      <p:pic>
        <p:nvPicPr>
          <p:cNvPr id="420" name="Google Shape;420;p21"/>
          <p:cNvPicPr preferRelativeResize="0"/>
          <p:nvPr/>
        </p:nvPicPr>
        <p:blipFill rotWithShape="1">
          <a:blip r:embed="rId26">
            <a:alphaModFix/>
          </a:blip>
          <a:srcRect b="651" l="0" r="0" t="661"/>
          <a:stretch/>
        </p:blipFill>
        <p:spPr>
          <a:xfrm>
            <a:off x="7315200" y="4791075"/>
            <a:ext cx="180900" cy="142800"/>
          </a:xfrm>
          <a:prstGeom prst="rect">
            <a:avLst/>
          </a:prstGeom>
          <a:noFill/>
          <a:ln>
            <a:noFill/>
          </a:ln>
        </p:spPr>
      </p:pic>
      <p:pic>
        <p:nvPicPr>
          <p:cNvPr id="421" name="Google Shape;421;p21"/>
          <p:cNvPicPr preferRelativeResize="0"/>
          <p:nvPr/>
        </p:nvPicPr>
        <p:blipFill rotWithShape="1">
          <a:blip r:embed="rId27">
            <a:alphaModFix/>
          </a:blip>
          <a:srcRect b="651" l="0" r="0" t="661"/>
          <a:stretch/>
        </p:blipFill>
        <p:spPr>
          <a:xfrm>
            <a:off x="8763000" y="4791075"/>
            <a:ext cx="180900" cy="142800"/>
          </a:xfrm>
          <a:prstGeom prst="rect">
            <a:avLst/>
          </a:prstGeom>
          <a:noFill/>
          <a:ln>
            <a:noFill/>
          </a:ln>
        </p:spPr>
      </p:pic>
      <p:sp>
        <p:nvSpPr>
          <p:cNvPr id="422" name="Google Shape;422;p21"/>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How They Work Together</a:t>
            </a:r>
            <a:endParaRPr/>
          </a:p>
        </p:txBody>
      </p:sp>
      <p:sp>
        <p:nvSpPr>
          <p:cNvPr id="423" name="Google Shape;423;p21"/>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pic>
        <p:nvPicPr>
          <p:cNvPr descr="image.png" id="428" name="Google Shape;428;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29" name="Google Shape;429;p22"/>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grpSp>
        <p:nvGrpSpPr>
          <p:cNvPr id="430" name="Google Shape;430;p22"/>
          <p:cNvGrpSpPr/>
          <p:nvPr/>
        </p:nvGrpSpPr>
        <p:grpSpPr>
          <a:xfrm>
            <a:off x="571500" y="1238250"/>
            <a:ext cx="3429000" cy="4857900"/>
            <a:chOff x="0" y="0"/>
            <a:chExt cx="3429000" cy="4857900"/>
          </a:xfrm>
        </p:grpSpPr>
        <p:sp>
          <p:nvSpPr>
            <p:cNvPr id="431" name="Google Shape;431;p22"/>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2" name="Google Shape;432;p22"/>
            <p:cNvSpPr/>
            <p:nvPr/>
          </p:nvSpPr>
          <p:spPr>
            <a:xfrm>
              <a:off x="0" y="0"/>
              <a:ext cx="57300" cy="48579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3" name="Google Shape;433;p22"/>
            <p:cNvSpPr txBox="1"/>
            <p:nvPr/>
          </p:nvSpPr>
          <p:spPr>
            <a:xfrm>
              <a:off x="228600" y="228600"/>
              <a:ext cx="2971800" cy="43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2563EB"/>
                  </a:solidFill>
                  <a:latin typeface="Plus Jakarta Sans ExtraBold"/>
                  <a:ea typeface="Plus Jakarta Sans ExtraBold"/>
                  <a:cs typeface="Plus Jakarta Sans ExtraBold"/>
                  <a:sym typeface="Plus Jakarta Sans ExtraBold"/>
                </a:rPr>
                <a:t>Overview &amp; Use Case</a:t>
              </a:r>
              <a:endParaRPr b="0" sz="14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PURPOSE</a:t>
              </a:r>
              <a:endParaRPr b="1" sz="850">
                <a:solidFill>
                  <a:srgbClr val="475569"/>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Provide a fast, codebase-grounded Q&amp;A and task planning interface before committing to a full agent session.</a:t>
              </a:r>
              <a:endParaRPr b="0" sz="950">
                <a:solidFill>
                  <a:srgbClr val="334155"/>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WHY IT EXISTS</a:t>
              </a:r>
              <a:endParaRPr b="1" sz="850">
                <a:solidFill>
                  <a:srgbClr val="475569"/>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Engineers waste time exploring unfamiliar codebases. Ask Devin indexes repositories and answers questions with precise code citations.</a:t>
              </a:r>
              <a:endParaRPr b="0" sz="950">
                <a:solidFill>
                  <a:srgbClr val="334155"/>
                </a:solidFill>
                <a:latin typeface="Plus Jakarta Sans"/>
                <a:ea typeface="Plus Jakarta Sans"/>
                <a:cs typeface="Plus Jakarta Sans"/>
                <a:sym typeface="Plus Jakarta Sans"/>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ENTERPRISE USE CASE</a:t>
              </a:r>
              <a:endParaRPr b="1" sz="850">
                <a:solidFill>
                  <a:srgbClr val="475569"/>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A new engineer joins a team with a 500k-line codebase. Instead of spending days reading code, they use Ask Devin to understand the authentication flow, data model, and service boundaries in hours.</a:t>
              </a:r>
              <a:endParaRPr b="0" sz="950">
                <a:solidFill>
                  <a:srgbClr val="334155"/>
                </a:solidFill>
                <a:latin typeface="Plus Jakarta Sans"/>
                <a:ea typeface="Plus Jakarta Sans"/>
                <a:cs typeface="Plus Jakarta Sans"/>
                <a:sym typeface="Plus Jakarta Sans"/>
              </a:endParaRPr>
            </a:p>
          </p:txBody>
        </p:sp>
      </p:grpSp>
      <p:grpSp>
        <p:nvGrpSpPr>
          <p:cNvPr id="434" name="Google Shape;434;p22"/>
          <p:cNvGrpSpPr/>
          <p:nvPr/>
        </p:nvGrpSpPr>
        <p:grpSpPr>
          <a:xfrm>
            <a:off x="4381500" y="1238250"/>
            <a:ext cx="3429000" cy="4857900"/>
            <a:chOff x="0" y="0"/>
            <a:chExt cx="3429000" cy="4857900"/>
          </a:xfrm>
        </p:grpSpPr>
        <p:sp>
          <p:nvSpPr>
            <p:cNvPr id="435" name="Google Shape;435;p22"/>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6" name="Google Shape;436;p22"/>
            <p:cNvSpPr/>
            <p:nvPr/>
          </p:nvSpPr>
          <p:spPr>
            <a:xfrm>
              <a:off x="0" y="0"/>
              <a:ext cx="57300" cy="48579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22"/>
            <p:cNvSpPr txBox="1"/>
            <p:nvPr/>
          </p:nvSpPr>
          <p:spPr>
            <a:xfrm>
              <a:off x="228600" y="228600"/>
              <a:ext cx="2971800" cy="43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7C3AED"/>
                  </a:solidFill>
                  <a:latin typeface="Plus Jakarta Sans ExtraBold"/>
                  <a:ea typeface="Plus Jakarta Sans ExtraBold"/>
                  <a:cs typeface="Plus Jakarta Sans ExtraBold"/>
                  <a:sym typeface="Plus Jakarta Sans ExtraBold"/>
                </a:rPr>
                <a:t>How It Works: Modes</a:t>
              </a:r>
              <a:endParaRPr b="0" sz="1400">
                <a:solidFill>
                  <a:srgbClr val="7C3AED"/>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0" lang="en-US" sz="950">
                  <a:solidFill>
                    <a:srgbClr val="475569"/>
                  </a:solidFill>
                  <a:highlight>
                    <a:srgbClr val="F8FAFC"/>
                  </a:highlight>
                  <a:latin typeface="Plus Jakarta Sans"/>
                  <a:ea typeface="Plus Jakarta Sans"/>
                  <a:cs typeface="Plus Jakarta Sans"/>
                  <a:sym typeface="Plus Jakarta Sans"/>
                </a:rPr>
                <a:t>Repositories are automatically indexed after connection. Ask Devin uses advanced code search to produce answers grounded in actual code, not general knowledge.</a:t>
              </a:r>
              <a:endParaRPr b="0" sz="950">
                <a:solidFill>
                  <a:srgbClr val="475569"/>
                </a:solidFill>
                <a:highlight>
                  <a:srgbClr val="F8FAFC"/>
                </a:highlight>
                <a:latin typeface="Plus Jakarta Sans"/>
                <a:ea typeface="Plus Jakarta Sans"/>
                <a:cs typeface="Plus Jakarta Sans"/>
                <a:sym typeface="Plus Jakarta Sans"/>
              </a:endParaRPr>
            </a:p>
            <a:p>
              <a:pPr indent="0" lvl="0" marL="0" rtl="0" algn="l">
                <a:spcBef>
                  <a:spcPts val="1200"/>
                </a:spcBef>
                <a:spcAft>
                  <a:spcPts val="0"/>
                </a:spcAft>
                <a:buNone/>
              </a:pPr>
              <a:r>
                <a:rPr b="1" lang="en-US" sz="1100">
                  <a:solidFill>
                    <a:srgbClr val="1E293B"/>
                  </a:solidFill>
                  <a:latin typeface="Plus Jakarta Sans"/>
                  <a:ea typeface="Plus Jakarta Sans"/>
                  <a:cs typeface="Plus Jakarta Sans"/>
                  <a:sym typeface="Plus Jakarta Sans"/>
                </a:rPr>
                <a:t>Ask Mode</a:t>
              </a:r>
              <a:endParaRPr b="1" sz="110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64748B"/>
                  </a:solidFill>
                  <a:latin typeface="Plus Jakarta Sans"/>
                  <a:ea typeface="Plus Jakarta Sans"/>
                  <a:cs typeface="Plus Jakarta Sans"/>
                  <a:sym typeface="Plus Jakarta Sans"/>
                </a:rPr>
                <a:t>Answer questions about architecture, dependencies, and functions.</a:t>
              </a:r>
              <a:endParaRPr b="0" sz="950">
                <a:solidFill>
                  <a:srgbClr val="64748B"/>
                </a:solidFill>
                <a:latin typeface="Plus Jakarta Sans"/>
                <a:ea typeface="Plus Jakarta Sans"/>
                <a:cs typeface="Plus Jakarta Sans"/>
                <a:sym typeface="Plus Jakarta Sans"/>
              </a:endParaRPr>
            </a:p>
            <a:p>
              <a:pPr indent="0" lvl="0" marL="0" rtl="0" algn="l">
                <a:spcBef>
                  <a:spcPts val="1200"/>
                </a:spcBef>
                <a:spcAft>
                  <a:spcPts val="0"/>
                </a:spcAft>
                <a:buNone/>
              </a:pPr>
              <a:r>
                <a:rPr b="1" lang="en-US" sz="1100">
                  <a:solidFill>
                    <a:srgbClr val="1E293B"/>
                  </a:solidFill>
                  <a:latin typeface="Plus Jakarta Sans"/>
                  <a:ea typeface="Plus Jakarta Sans"/>
                  <a:cs typeface="Plus Jakarta Sans"/>
                  <a:sym typeface="Plus Jakarta Sans"/>
                </a:rPr>
                <a:t>Plan Mode</a:t>
              </a:r>
              <a:endParaRPr b="1" sz="1100">
                <a:solidFill>
                  <a:srgbClr val="1E293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64748B"/>
                  </a:solidFill>
                  <a:latin typeface="Plus Jakarta Sans"/>
                  <a:ea typeface="Plus Jakarta Sans"/>
                  <a:cs typeface="Plus Jakarta Sans"/>
                  <a:sym typeface="Plus Jakarta Sans"/>
                </a:rPr>
                <a:t>Scope a task, break it down, and generate a context-rich prompt ready for an agent session.</a:t>
              </a:r>
              <a:endParaRPr b="0" sz="950">
                <a:solidFill>
                  <a:srgbClr val="64748B"/>
                </a:solidFill>
                <a:latin typeface="Plus Jakarta Sans"/>
                <a:ea typeface="Plus Jakarta Sans"/>
                <a:cs typeface="Plus Jakarta Sans"/>
                <a:sym typeface="Plus Jakarta Sans"/>
              </a:endParaRPr>
            </a:p>
          </p:txBody>
        </p:sp>
      </p:grpSp>
      <p:grpSp>
        <p:nvGrpSpPr>
          <p:cNvPr id="438" name="Google Shape;438;p22"/>
          <p:cNvGrpSpPr/>
          <p:nvPr/>
        </p:nvGrpSpPr>
        <p:grpSpPr>
          <a:xfrm>
            <a:off x="8191500" y="1238250"/>
            <a:ext cx="3429000" cy="4857900"/>
            <a:chOff x="0" y="0"/>
            <a:chExt cx="3429000" cy="4857900"/>
          </a:xfrm>
        </p:grpSpPr>
        <p:sp>
          <p:nvSpPr>
            <p:cNvPr id="439" name="Google Shape;439;p22"/>
            <p:cNvSpPr/>
            <p:nvPr/>
          </p:nvSpPr>
          <p:spPr>
            <a:xfrm>
              <a:off x="0" y="0"/>
              <a:ext cx="3429000" cy="4857900"/>
            </a:xfrm>
            <a:prstGeom prst="roundRect">
              <a:avLst>
                <a:gd fmla="val 3333"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22"/>
            <p:cNvSpPr/>
            <p:nvPr/>
          </p:nvSpPr>
          <p:spPr>
            <a:xfrm>
              <a:off x="0" y="0"/>
              <a:ext cx="57300" cy="48579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1" name="Google Shape;441;p22"/>
            <p:cNvSpPr txBox="1"/>
            <p:nvPr/>
          </p:nvSpPr>
          <p:spPr>
            <a:xfrm>
              <a:off x="228600" y="228600"/>
              <a:ext cx="2971800" cy="4381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0D9488"/>
                  </a:solidFill>
                  <a:latin typeface="Plus Jakarta Sans ExtraBold"/>
                  <a:ea typeface="Plus Jakarta Sans ExtraBold"/>
                  <a:cs typeface="Plus Jakarta Sans ExtraBold"/>
                  <a:sym typeface="Plus Jakarta Sans ExtraBold"/>
                </a:rPr>
                <a:t>Benefits &amp; Practices</a:t>
              </a:r>
              <a:endParaRPr b="0" sz="14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lang="en-US" sz="850">
                  <a:solidFill>
                    <a:srgbClr val="0D9488"/>
                  </a:solidFill>
                  <a:latin typeface="Plus Jakarta Sans"/>
                  <a:ea typeface="Plus Jakarta Sans"/>
                  <a:cs typeface="Plus Jakarta Sans"/>
                  <a:sym typeface="Plus Jakarta Sans"/>
                </a:rPr>
                <a:t>ADVANTAGES</a:t>
              </a:r>
              <a:endParaRPr b="0" sz="850">
                <a:solidFill>
                  <a:srgbClr val="0D9488"/>
                </a:solidFill>
                <a:latin typeface="Plus Jakarta Sans ExtraBold"/>
                <a:ea typeface="Plus Jakarta Sans ExtraBold"/>
                <a:cs typeface="Plus Jakarta Sans ExtraBold"/>
                <a:sym typeface="Plus Jakarta Sans ExtraBold"/>
              </a:endParaRPr>
            </a:p>
            <a:p>
              <a:pPr indent="-317500" lvl="0" marL="457200" rtl="0" algn="l">
                <a:spcBef>
                  <a:spcPts val="300"/>
                </a:spcBef>
                <a:spcAft>
                  <a:spcPts val="0"/>
                </a:spcAft>
                <a:buClr>
                  <a:srgbClr val="0D9488"/>
                </a:buClr>
                <a:buSzPts val="1400"/>
                <a:buFont typeface="Plus Jakarta Sans"/>
                <a:buChar char="●"/>
              </a:pPr>
              <a:r>
                <a:rPr b="0" lang="en-US" sz="950">
                  <a:solidFill>
                    <a:srgbClr val="334155"/>
                  </a:solidFill>
                  <a:latin typeface="Plus Jakarta Sans"/>
                  <a:ea typeface="Plus Jakarta Sans"/>
                  <a:cs typeface="Plus Jakarta Sans"/>
                  <a:sym typeface="Plus Jakarta Sans"/>
                </a:rPr>
                <a:t>Answers are cited — claims link to specific files &amp; lines</a:t>
              </a:r>
              <a:endParaRPr b="0" sz="1400">
                <a:solidFill>
                  <a:srgbClr val="0D9488"/>
                </a:solidFill>
                <a:latin typeface="Plus Jakarta Sans ExtraBold"/>
                <a:ea typeface="Plus Jakarta Sans ExtraBold"/>
                <a:cs typeface="Plus Jakarta Sans ExtraBold"/>
                <a:sym typeface="Plus Jakarta Sans ExtraBold"/>
              </a:endParaRPr>
            </a:p>
            <a:p>
              <a:pPr indent="-317500" lvl="0" marL="457200" rtl="0" algn="l">
                <a:spcBef>
                  <a:spcPts val="300"/>
                </a:spcBef>
                <a:spcAft>
                  <a:spcPts val="0"/>
                </a:spcAft>
                <a:buClr>
                  <a:srgbClr val="0D9488"/>
                </a:buClr>
                <a:buSzPts val="1400"/>
                <a:buFont typeface="Plus Jakarta Sans"/>
                <a:buChar char="●"/>
              </a:pPr>
              <a:r>
                <a:rPr b="0" lang="en-US" sz="950">
                  <a:solidFill>
                    <a:srgbClr val="334155"/>
                  </a:solidFill>
                  <a:latin typeface="Plus Jakarta Sans"/>
                  <a:ea typeface="Plus Jakarta Sans"/>
                  <a:cs typeface="Plus Jakarta Sans"/>
                  <a:sym typeface="Plus Jakarta Sans"/>
                </a:rPr>
                <a:t>Session status is visible directly in conversation</a:t>
              </a:r>
              <a:endParaRPr b="0" sz="1400">
                <a:solidFill>
                  <a:srgbClr val="0D9488"/>
                </a:solidFill>
                <a:latin typeface="Plus Jakarta Sans ExtraBold"/>
                <a:ea typeface="Plus Jakarta Sans ExtraBold"/>
                <a:cs typeface="Plus Jakarta Sans ExtraBold"/>
                <a:sym typeface="Plus Jakarta Sans ExtraBold"/>
              </a:endParaRPr>
            </a:p>
            <a:p>
              <a:pPr indent="-317500" lvl="0" marL="457200" rtl="0" algn="l">
                <a:spcBef>
                  <a:spcPts val="300"/>
                </a:spcBef>
                <a:spcAft>
                  <a:spcPts val="0"/>
                </a:spcAft>
                <a:buClr>
                  <a:srgbClr val="0D9488"/>
                </a:buClr>
                <a:buSzPts val="1400"/>
                <a:buFont typeface="Plus Jakarta Sans"/>
                <a:buChar char="●"/>
              </a:pPr>
              <a:r>
                <a:rPr b="0" lang="en-US" sz="950">
                  <a:solidFill>
                    <a:srgbClr val="334155"/>
                  </a:solidFill>
                  <a:latin typeface="Plus Jakarta Sans"/>
                  <a:ea typeface="Plus Jakarta Sans"/>
                  <a:cs typeface="Plus Jakarta Sans"/>
                  <a:sym typeface="Plus Jakarta Sans"/>
                </a:rPr>
                <a:t>Pre-loads context to improve session quality</a:t>
              </a:r>
              <a:endParaRPr b="0" sz="14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lang="en-US" sz="850">
                  <a:solidFill>
                    <a:srgbClr val="EF4444"/>
                  </a:solidFill>
                  <a:latin typeface="Plus Jakarta Sans"/>
                  <a:ea typeface="Plus Jakarta Sans"/>
                  <a:cs typeface="Plus Jakarta Sans"/>
                  <a:sym typeface="Plus Jakarta Sans"/>
                </a:rPr>
                <a:t>LIMITATIONS</a:t>
              </a:r>
              <a:endParaRPr b="0" sz="8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300"/>
                </a:spcBef>
                <a:spcAft>
                  <a:spcPts val="0"/>
                </a:spcAft>
                <a:buNone/>
              </a:pPr>
              <a:r>
                <a:rPr b="0" lang="en-US" sz="950">
                  <a:solidFill>
                    <a:srgbClr val="334155"/>
                  </a:solidFill>
                  <a:latin typeface="Plus Jakarta Sans"/>
                  <a:ea typeface="Plus Jakarta Sans"/>
                  <a:cs typeface="Plus Jakarta Sans"/>
                  <a:sym typeface="Plus Jakarta Sans"/>
                </a:rPr>
                <a:t>Ask Devin is a read-only interface — it does not execute code or make changes.</a:t>
              </a:r>
              <a:endParaRPr b="0" sz="9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1050"/>
                </a:spcBef>
                <a:spcAft>
                  <a:spcPts val="0"/>
                </a:spcAft>
                <a:buNone/>
              </a:pPr>
              <a:r>
                <a:rPr b="1" lang="en-US" sz="850">
                  <a:solidFill>
                    <a:srgbClr val="475569"/>
                  </a:solidFill>
                  <a:latin typeface="Plus Jakarta Sans"/>
                  <a:ea typeface="Plus Jakarta Sans"/>
                  <a:cs typeface="Plus Jakarta Sans"/>
                  <a:sym typeface="Plus Jakarta Sans"/>
                </a:rPr>
                <a:t>BEST PRACTICES</a:t>
              </a:r>
              <a:endParaRPr b="0" sz="8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100">
                  <a:solidFill>
                    <a:srgbClr val="0D9488"/>
                  </a:solidFill>
                  <a:latin typeface="Material Icons"/>
                  <a:ea typeface="Material Icons"/>
                  <a:cs typeface="Material Icons"/>
                  <a:sym typeface="Material Icons"/>
                </a:rPr>
                <a:t>architecture</a:t>
              </a:r>
              <a:r>
                <a:rPr b="0" lang="en-US" sz="950">
                  <a:solidFill>
                    <a:srgbClr val="334155"/>
                  </a:solidFill>
                  <a:latin typeface="Plus Jakarta Sans"/>
                  <a:ea typeface="Plus Jakarta Sans"/>
                  <a:cs typeface="Plus Jakarta Sans"/>
                  <a:sym typeface="Plus Jakarta Sans"/>
                </a:rPr>
                <a:t>Always use Ask Devin to plan before complex tasks</a:t>
              </a:r>
              <a:endParaRPr b="0" sz="9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100">
                  <a:solidFill>
                    <a:srgbClr val="0D9488"/>
                  </a:solidFill>
                  <a:latin typeface="Material Icons"/>
                  <a:ea typeface="Material Icons"/>
                  <a:cs typeface="Material Icons"/>
                  <a:sym typeface="Material Icons"/>
                </a:rPr>
                <a:t>terminal</a:t>
              </a:r>
              <a:r>
                <a:rPr b="0" lang="en-US" sz="950">
                  <a:solidFill>
                    <a:srgbClr val="334155"/>
                  </a:solidFill>
                  <a:latin typeface="Plus Jakarta Sans"/>
                  <a:ea typeface="Plus Jakarta Sans"/>
                  <a:cs typeface="Plus Jakarta Sans"/>
                  <a:sym typeface="Plus Jakarta Sans"/>
                </a:rPr>
                <a:t>Use Plan mode to generate session prompts</a:t>
              </a:r>
              <a:endParaRPr b="0" sz="95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300"/>
                </a:spcAft>
                <a:buNone/>
              </a:pPr>
              <a:r>
                <a:rPr b="0" lang="en-US" sz="1100">
                  <a:solidFill>
                    <a:srgbClr val="0D9488"/>
                  </a:solidFill>
                  <a:latin typeface="Material Icons"/>
                  <a:ea typeface="Material Icons"/>
                  <a:cs typeface="Material Icons"/>
                  <a:sym typeface="Material Icons"/>
                </a:rPr>
                <a:t>folder_open</a:t>
              </a:r>
              <a:r>
                <a:rPr b="0" lang="en-US" sz="950">
                  <a:solidFill>
                    <a:srgbClr val="334155"/>
                  </a:solidFill>
                  <a:latin typeface="Plus Jakarta Sans"/>
                  <a:ea typeface="Plus Jakarta Sans"/>
                  <a:cs typeface="Plus Jakarta Sans"/>
                  <a:sym typeface="Plus Jakarta Sans"/>
                </a:rPr>
                <a:t>Index all repositories before onboarding</a:t>
              </a:r>
              <a:endParaRPr b="0" sz="950">
                <a:solidFill>
                  <a:srgbClr val="0D9488"/>
                </a:solidFill>
                <a:latin typeface="Plus Jakarta Sans ExtraBold"/>
                <a:ea typeface="Plus Jakarta Sans ExtraBold"/>
                <a:cs typeface="Plus Jakarta Sans ExtraBold"/>
                <a:sym typeface="Plus Jakarta Sans ExtraBold"/>
              </a:endParaRPr>
            </a:p>
          </p:txBody>
        </p:sp>
      </p:grpSp>
      <p:sp>
        <p:nvSpPr>
          <p:cNvPr id="442" name="Google Shape;442;p22"/>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Ask Devin</a:t>
            </a:r>
            <a:endParaRPr/>
          </a:p>
        </p:txBody>
      </p:sp>
      <p:sp>
        <p:nvSpPr>
          <p:cNvPr id="443" name="Google Shape;443;p22"/>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pic>
        <p:nvPicPr>
          <p:cNvPr descr="image.png" id="448" name="Google Shape;448;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49" name="Google Shape;449;p23"/>
          <p:cNvPicPr preferRelativeResize="0"/>
          <p:nvPr/>
        </p:nvPicPr>
        <p:blipFill rotWithShape="1">
          <a:blip r:embed="rId4">
            <a:alphaModFix/>
          </a:blip>
          <a:srcRect b="0" l="0" r="0" t="0"/>
          <a:stretch/>
        </p:blipFill>
        <p:spPr>
          <a:xfrm>
            <a:off x="7005637" y="1544389"/>
            <a:ext cx="4614862" cy="4175670"/>
          </a:xfrm>
          <a:prstGeom prst="rect">
            <a:avLst/>
          </a:prstGeom>
          <a:noFill/>
          <a:ln>
            <a:noFill/>
          </a:ln>
        </p:spPr>
      </p:pic>
      <p:pic>
        <p:nvPicPr>
          <p:cNvPr descr="image.png" id="450" name="Google Shape;450;p23"/>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451" name="Google Shape;451;p23"/>
          <p:cNvSpPr txBox="1"/>
          <p:nvPr/>
        </p:nvSpPr>
        <p:spPr>
          <a:xfrm>
            <a:off x="571500" y="1544389"/>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452" name="Google Shape;452;p23"/>
          <p:cNvSpPr txBox="1"/>
          <p:nvPr/>
        </p:nvSpPr>
        <p:spPr>
          <a:xfrm>
            <a:off x="571500" y="1715244"/>
            <a:ext cx="6195900" cy="1617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core execution unit — an isolated, autonomous agent run inside a Linux VM.</a:t>
            </a:r>
            <a:endParaRPr/>
          </a:p>
        </p:txBody>
      </p:sp>
      <p:sp>
        <p:nvSpPr>
          <p:cNvPr id="453" name="Google Shape;453;p23"/>
          <p:cNvSpPr txBox="1"/>
          <p:nvPr/>
        </p:nvSpPr>
        <p:spPr>
          <a:xfrm>
            <a:off x="571500" y="1984771"/>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454" name="Google Shape;454;p23"/>
          <p:cNvSpPr txBox="1"/>
          <p:nvPr/>
        </p:nvSpPr>
        <p:spPr>
          <a:xfrm>
            <a:off x="571500" y="2155626"/>
            <a:ext cx="6195900" cy="3960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task Devin executes happens inside a session. Sessions provide isolation, reproducibility, and a clean audit trail.</a:t>
            </a:r>
            <a:endParaRPr/>
          </a:p>
        </p:txBody>
      </p:sp>
      <p:sp>
        <p:nvSpPr>
          <p:cNvPr id="455" name="Google Shape;455;p23"/>
          <p:cNvSpPr txBox="1"/>
          <p:nvPr/>
        </p:nvSpPr>
        <p:spPr>
          <a:xfrm>
            <a:off x="571500" y="2618482"/>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456" name="Google Shape;456;p23"/>
          <p:cNvSpPr txBox="1"/>
          <p:nvPr/>
        </p:nvSpPr>
        <p:spPr>
          <a:xfrm>
            <a:off x="571500" y="3840658"/>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457" name="Google Shape;457;p23"/>
          <p:cNvSpPr txBox="1"/>
          <p:nvPr/>
        </p:nvSpPr>
        <p:spPr>
          <a:xfrm>
            <a:off x="571500" y="4011513"/>
            <a:ext cx="6195900" cy="3960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CI check fails on a PR. An Automation triggers a Devin session automatically. Devin boots, reads the failure, fixes the code, runs tests, and pushes a fix — without human intervention.</a:t>
            </a:r>
            <a:endParaRPr/>
          </a:p>
        </p:txBody>
      </p:sp>
      <p:sp>
        <p:nvSpPr>
          <p:cNvPr id="458" name="Google Shape;458;p23"/>
          <p:cNvSpPr txBox="1"/>
          <p:nvPr/>
        </p:nvSpPr>
        <p:spPr>
          <a:xfrm>
            <a:off x="571500" y="5011340"/>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459" name="Google Shape;459;p23"/>
          <p:cNvSpPr txBox="1"/>
          <p:nvPr/>
        </p:nvSpPr>
        <p:spPr>
          <a:xfrm>
            <a:off x="7158037" y="1696789"/>
            <a:ext cx="4310100" cy="138600"/>
          </a:xfrm>
          <a:prstGeom prst="rect">
            <a:avLst/>
          </a:prstGeom>
          <a:noFill/>
          <a:ln>
            <a:noFill/>
          </a:ln>
        </p:spPr>
        <p:txBody>
          <a:bodyPr anchorCtr="0" anchor="t" bIns="0" lIns="114300"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VISUAL SESSION LIFECYCLE</a:t>
            </a:r>
            <a:endParaRPr/>
          </a:p>
        </p:txBody>
      </p:sp>
      <p:sp>
        <p:nvSpPr>
          <p:cNvPr id="460" name="Google Shape;460;p23"/>
          <p:cNvSpPr txBox="1"/>
          <p:nvPr/>
        </p:nvSpPr>
        <p:spPr>
          <a:xfrm>
            <a:off x="800100" y="2789336"/>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Every session boots from a </a:t>
            </a:r>
            <a:r>
              <a:rPr b="1" i="0" lang="en-US" sz="1050" u="none" cap="none" strike="noStrike">
                <a:solidFill>
                  <a:srgbClr val="334155"/>
                </a:solidFill>
                <a:latin typeface="Plus Jakarta Sans"/>
                <a:ea typeface="Plus Jakarta Sans"/>
                <a:cs typeface="Plus Jakarta Sans"/>
                <a:sym typeface="Plus Jakarta Sans"/>
              </a:rPr>
              <a:t>snapshot</a:t>
            </a:r>
            <a:r>
              <a:rPr b="0" i="0" lang="en-US" sz="1050" u="none" cap="none" strike="noStrike">
                <a:solidFill>
                  <a:srgbClr val="334155"/>
                </a:solidFill>
                <a:latin typeface="Plus Jakarta Sans"/>
                <a:ea typeface="Plus Jakarta Sans"/>
                <a:cs typeface="Plus Jakarta Sans"/>
                <a:sym typeface="Plus Jakarta Sans"/>
              </a:rPr>
              <a:t> — a frozen, bootable image of the environment</a:t>
            </a:r>
            <a:endParaRPr/>
          </a:p>
        </p:txBody>
      </p:sp>
      <p:sp>
        <p:nvSpPr>
          <p:cNvPr id="461" name="Google Shape;461;p23"/>
          <p:cNvSpPr txBox="1"/>
          <p:nvPr/>
        </p:nvSpPr>
        <p:spPr>
          <a:xfrm>
            <a:off x="800100" y="3052167"/>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snapshot contains cloned repos, installed dependencies, configured tools, and secrets</a:t>
            </a:r>
            <a:endParaRPr/>
          </a:p>
        </p:txBody>
      </p:sp>
      <p:sp>
        <p:nvSpPr>
          <p:cNvPr id="462" name="Google Shape;462;p23"/>
          <p:cNvSpPr txBox="1"/>
          <p:nvPr/>
        </p:nvSpPr>
        <p:spPr>
          <a:xfrm>
            <a:off x="800100" y="3314997"/>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Session changes do not persist back to the snapshot — every session starts clean</a:t>
            </a:r>
            <a:endParaRPr/>
          </a:p>
        </p:txBody>
      </p:sp>
      <p:sp>
        <p:nvSpPr>
          <p:cNvPr id="463" name="Google Shape;463;p23"/>
          <p:cNvSpPr txBox="1"/>
          <p:nvPr/>
        </p:nvSpPr>
        <p:spPr>
          <a:xfrm>
            <a:off x="800100" y="3577828"/>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Sessions have a full timeline of events, accessible for analysis</a:t>
            </a:r>
            <a:endParaRPr/>
          </a:p>
        </p:txBody>
      </p:sp>
      <p:sp>
        <p:nvSpPr>
          <p:cNvPr id="464" name="Google Shape;464;p23"/>
          <p:cNvSpPr txBox="1"/>
          <p:nvPr/>
        </p:nvSpPr>
        <p:spPr>
          <a:xfrm>
            <a:off x="800100" y="5182195"/>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Keep tasks scoped to under 90 minutes of equivalent manual engineering work</a:t>
            </a:r>
            <a:endParaRPr/>
          </a:p>
        </p:txBody>
      </p:sp>
      <p:sp>
        <p:nvSpPr>
          <p:cNvPr id="465" name="Google Shape;465;p23"/>
          <p:cNvSpPr txBox="1"/>
          <p:nvPr/>
        </p:nvSpPr>
        <p:spPr>
          <a:xfrm>
            <a:off x="800100" y="5445025"/>
            <a:ext cx="59673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Ensure the snapshot is correctly configured — this is the single highest-leverage setup investment</a:t>
            </a:r>
            <a:endParaRPr/>
          </a:p>
        </p:txBody>
      </p:sp>
      <p:sp>
        <p:nvSpPr>
          <p:cNvPr id="466" name="Google Shape;466;p23"/>
          <p:cNvSpPr txBox="1"/>
          <p:nvPr/>
        </p:nvSpPr>
        <p:spPr>
          <a:xfrm>
            <a:off x="800100" y="5707856"/>
            <a:ext cx="59673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session insights to analyze why sessions succeed or fail</a:t>
            </a:r>
            <a:endParaRPr/>
          </a:p>
        </p:txBody>
      </p:sp>
      <p:pic>
        <p:nvPicPr>
          <p:cNvPr descr="image.png" id="467" name="Google Shape;467;p23"/>
          <p:cNvPicPr preferRelativeResize="0"/>
          <p:nvPr/>
        </p:nvPicPr>
        <p:blipFill rotWithShape="1">
          <a:blip r:embed="rId6">
            <a:alphaModFix/>
          </a:blip>
          <a:srcRect b="0" l="0" r="0" t="0"/>
          <a:stretch/>
        </p:blipFill>
        <p:spPr>
          <a:xfrm>
            <a:off x="8428136" y="1715839"/>
            <a:ext cx="114300" cy="114300"/>
          </a:xfrm>
          <a:prstGeom prst="rect">
            <a:avLst/>
          </a:prstGeom>
          <a:noFill/>
          <a:ln>
            <a:noFill/>
          </a:ln>
        </p:spPr>
      </p:pic>
      <p:sp>
        <p:nvSpPr>
          <p:cNvPr id="468" name="Google Shape;468;p23"/>
          <p:cNvSpPr/>
          <p:nvPr/>
        </p:nvSpPr>
        <p:spPr>
          <a:xfrm>
            <a:off x="7291387" y="2071985"/>
            <a:ext cx="14400" cy="33813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23"/>
          <p:cNvSpPr txBox="1"/>
          <p:nvPr/>
        </p:nvSpPr>
        <p:spPr>
          <a:xfrm>
            <a:off x="571500" y="4474368"/>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ADVANTAGES:</a:t>
            </a:r>
            <a:endParaRPr/>
          </a:p>
        </p:txBody>
      </p:sp>
      <p:sp>
        <p:nvSpPr>
          <p:cNvPr id="470" name="Google Shape;470;p23"/>
          <p:cNvSpPr txBox="1"/>
          <p:nvPr/>
        </p:nvSpPr>
        <p:spPr>
          <a:xfrm>
            <a:off x="571500" y="4631531"/>
            <a:ext cx="3050400" cy="3111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Full isolation, reproducible state, complete audit trail, parallel execution</a:t>
            </a:r>
            <a:endParaRPr/>
          </a:p>
        </p:txBody>
      </p:sp>
      <p:sp>
        <p:nvSpPr>
          <p:cNvPr id="471" name="Google Shape;471;p23"/>
          <p:cNvSpPr txBox="1"/>
          <p:nvPr/>
        </p:nvSpPr>
        <p:spPr>
          <a:xfrm>
            <a:off x="3717131" y="4474368"/>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F4444"/>
                </a:solidFill>
                <a:latin typeface="Plus Jakarta Sans"/>
                <a:ea typeface="Plus Jakarta Sans"/>
                <a:cs typeface="Plus Jakarta Sans"/>
                <a:sym typeface="Plus Jakarta Sans"/>
              </a:rPr>
              <a:t>LIMITATIONS:</a:t>
            </a:r>
            <a:endParaRPr/>
          </a:p>
        </p:txBody>
      </p:sp>
      <p:sp>
        <p:nvSpPr>
          <p:cNvPr id="472" name="Google Shape;472;p23"/>
          <p:cNvSpPr txBox="1"/>
          <p:nvPr/>
        </p:nvSpPr>
        <p:spPr>
          <a:xfrm>
            <a:off x="3717131" y="4631531"/>
            <a:ext cx="3050400" cy="3111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0" i="0" lang="en-US" sz="825" u="none" cap="none" strike="noStrike">
                <a:solidFill>
                  <a:srgbClr val="334155"/>
                </a:solidFill>
                <a:latin typeface="Plus Jakarta Sans"/>
                <a:ea typeface="Plus Jakarta Sans"/>
                <a:cs typeface="Plus Jakarta Sans"/>
                <a:sym typeface="Plus Jakarta Sans"/>
              </a:rPr>
              <a:t>Sessions do not share state with each other; coordination requires the Managed Devins pattern</a:t>
            </a:r>
            <a:endParaRPr/>
          </a:p>
        </p:txBody>
      </p:sp>
      <p:pic>
        <p:nvPicPr>
          <p:cNvPr descr="image.png" id="473" name="Google Shape;473;p23"/>
          <p:cNvPicPr preferRelativeResize="0"/>
          <p:nvPr/>
        </p:nvPicPr>
        <p:blipFill rotWithShape="1">
          <a:blip r:embed="rId7">
            <a:alphaModFix/>
          </a:blip>
          <a:srcRect b="0" l="0" r="0" t="0"/>
          <a:stretch/>
        </p:blipFill>
        <p:spPr>
          <a:xfrm>
            <a:off x="7158037" y="1957685"/>
            <a:ext cx="266700" cy="266700"/>
          </a:xfrm>
          <a:prstGeom prst="rect">
            <a:avLst/>
          </a:prstGeom>
          <a:noFill/>
          <a:ln>
            <a:noFill/>
          </a:ln>
        </p:spPr>
      </p:pic>
      <p:pic>
        <p:nvPicPr>
          <p:cNvPr descr="image.png" id="474" name="Google Shape;474;p23"/>
          <p:cNvPicPr preferRelativeResize="0"/>
          <p:nvPr/>
        </p:nvPicPr>
        <p:blipFill rotWithShape="1">
          <a:blip r:embed="rId8">
            <a:alphaModFix/>
          </a:blip>
          <a:srcRect b="0" l="0" r="0" t="0"/>
          <a:stretch/>
        </p:blipFill>
        <p:spPr>
          <a:xfrm>
            <a:off x="7158037" y="2324397"/>
            <a:ext cx="266700" cy="266700"/>
          </a:xfrm>
          <a:prstGeom prst="rect">
            <a:avLst/>
          </a:prstGeom>
          <a:noFill/>
          <a:ln>
            <a:noFill/>
          </a:ln>
        </p:spPr>
      </p:pic>
      <p:pic>
        <p:nvPicPr>
          <p:cNvPr descr="image.png" id="475" name="Google Shape;475;p23"/>
          <p:cNvPicPr preferRelativeResize="0"/>
          <p:nvPr/>
        </p:nvPicPr>
        <p:blipFill rotWithShape="1">
          <a:blip r:embed="rId9">
            <a:alphaModFix/>
          </a:blip>
          <a:srcRect b="0" l="0" r="0" t="0"/>
          <a:stretch/>
        </p:blipFill>
        <p:spPr>
          <a:xfrm>
            <a:off x="7158037" y="2691110"/>
            <a:ext cx="266700" cy="266700"/>
          </a:xfrm>
          <a:prstGeom prst="rect">
            <a:avLst/>
          </a:prstGeom>
          <a:noFill/>
          <a:ln>
            <a:noFill/>
          </a:ln>
        </p:spPr>
      </p:pic>
      <p:pic>
        <p:nvPicPr>
          <p:cNvPr descr="image.png" id="476" name="Google Shape;476;p23"/>
          <p:cNvPicPr preferRelativeResize="0"/>
          <p:nvPr/>
        </p:nvPicPr>
        <p:blipFill rotWithShape="1">
          <a:blip r:embed="rId10">
            <a:alphaModFix/>
          </a:blip>
          <a:srcRect b="0" l="0" r="0" t="0"/>
          <a:stretch/>
        </p:blipFill>
        <p:spPr>
          <a:xfrm>
            <a:off x="7158037" y="3057822"/>
            <a:ext cx="266700" cy="266700"/>
          </a:xfrm>
          <a:prstGeom prst="rect">
            <a:avLst/>
          </a:prstGeom>
          <a:noFill/>
          <a:ln>
            <a:noFill/>
          </a:ln>
        </p:spPr>
      </p:pic>
      <p:pic>
        <p:nvPicPr>
          <p:cNvPr descr="image.png" id="477" name="Google Shape;477;p23"/>
          <p:cNvPicPr preferRelativeResize="0"/>
          <p:nvPr/>
        </p:nvPicPr>
        <p:blipFill rotWithShape="1">
          <a:blip r:embed="rId11">
            <a:alphaModFix/>
          </a:blip>
          <a:srcRect b="0" l="0" r="0" t="0"/>
          <a:stretch/>
        </p:blipFill>
        <p:spPr>
          <a:xfrm>
            <a:off x="7158037" y="3424535"/>
            <a:ext cx="266700" cy="266700"/>
          </a:xfrm>
          <a:prstGeom prst="rect">
            <a:avLst/>
          </a:prstGeom>
          <a:noFill/>
          <a:ln>
            <a:noFill/>
          </a:ln>
        </p:spPr>
      </p:pic>
      <p:pic>
        <p:nvPicPr>
          <p:cNvPr descr="image.png" id="478" name="Google Shape;478;p23"/>
          <p:cNvPicPr preferRelativeResize="0"/>
          <p:nvPr/>
        </p:nvPicPr>
        <p:blipFill rotWithShape="1">
          <a:blip r:embed="rId12">
            <a:alphaModFix/>
          </a:blip>
          <a:srcRect b="0" l="0" r="0" t="0"/>
          <a:stretch/>
        </p:blipFill>
        <p:spPr>
          <a:xfrm>
            <a:off x="7158037" y="3791247"/>
            <a:ext cx="266700" cy="266700"/>
          </a:xfrm>
          <a:prstGeom prst="rect">
            <a:avLst/>
          </a:prstGeom>
          <a:noFill/>
          <a:ln>
            <a:noFill/>
          </a:ln>
        </p:spPr>
      </p:pic>
      <p:pic>
        <p:nvPicPr>
          <p:cNvPr descr="image.png" id="479" name="Google Shape;479;p23"/>
          <p:cNvPicPr preferRelativeResize="0"/>
          <p:nvPr/>
        </p:nvPicPr>
        <p:blipFill rotWithShape="1">
          <a:blip r:embed="rId13">
            <a:alphaModFix/>
          </a:blip>
          <a:srcRect b="0" l="0" r="0" t="0"/>
          <a:stretch/>
        </p:blipFill>
        <p:spPr>
          <a:xfrm>
            <a:off x="7158037" y="4157960"/>
            <a:ext cx="266700" cy="266700"/>
          </a:xfrm>
          <a:prstGeom prst="rect">
            <a:avLst/>
          </a:prstGeom>
          <a:noFill/>
          <a:ln>
            <a:noFill/>
          </a:ln>
        </p:spPr>
      </p:pic>
      <p:pic>
        <p:nvPicPr>
          <p:cNvPr descr="image.png" id="480" name="Google Shape;480;p23"/>
          <p:cNvPicPr preferRelativeResize="0"/>
          <p:nvPr/>
        </p:nvPicPr>
        <p:blipFill rotWithShape="1">
          <a:blip r:embed="rId14">
            <a:alphaModFix/>
          </a:blip>
          <a:srcRect b="0" l="0" r="0" t="0"/>
          <a:stretch/>
        </p:blipFill>
        <p:spPr>
          <a:xfrm>
            <a:off x="7158037" y="4524672"/>
            <a:ext cx="266700" cy="266700"/>
          </a:xfrm>
          <a:prstGeom prst="rect">
            <a:avLst/>
          </a:prstGeom>
          <a:noFill/>
          <a:ln>
            <a:noFill/>
          </a:ln>
        </p:spPr>
      </p:pic>
      <p:pic>
        <p:nvPicPr>
          <p:cNvPr descr="image.png" id="481" name="Google Shape;481;p23"/>
          <p:cNvPicPr preferRelativeResize="0"/>
          <p:nvPr/>
        </p:nvPicPr>
        <p:blipFill rotWithShape="1">
          <a:blip r:embed="rId15">
            <a:alphaModFix/>
          </a:blip>
          <a:srcRect b="0" l="0" r="0" t="0"/>
          <a:stretch/>
        </p:blipFill>
        <p:spPr>
          <a:xfrm>
            <a:off x="7158037" y="4891385"/>
            <a:ext cx="266700" cy="266700"/>
          </a:xfrm>
          <a:prstGeom prst="rect">
            <a:avLst/>
          </a:prstGeom>
          <a:noFill/>
          <a:ln>
            <a:noFill/>
          </a:ln>
        </p:spPr>
      </p:pic>
      <p:pic>
        <p:nvPicPr>
          <p:cNvPr descr="image.png" id="482" name="Google Shape;482;p23"/>
          <p:cNvPicPr preferRelativeResize="0"/>
          <p:nvPr/>
        </p:nvPicPr>
        <p:blipFill rotWithShape="1">
          <a:blip r:embed="rId16">
            <a:alphaModFix/>
          </a:blip>
          <a:srcRect b="0" l="0" r="0" t="0"/>
          <a:stretch/>
        </p:blipFill>
        <p:spPr>
          <a:xfrm>
            <a:off x="7158037" y="5258097"/>
            <a:ext cx="266700" cy="266700"/>
          </a:xfrm>
          <a:prstGeom prst="rect">
            <a:avLst/>
          </a:prstGeom>
          <a:noFill/>
          <a:ln>
            <a:noFill/>
          </a:ln>
        </p:spPr>
      </p:pic>
      <p:pic>
        <p:nvPicPr>
          <p:cNvPr descr="image.png" id="483" name="Google Shape;483;p23"/>
          <p:cNvPicPr preferRelativeResize="0"/>
          <p:nvPr/>
        </p:nvPicPr>
        <p:blipFill rotWithShape="1">
          <a:blip r:embed="rId17">
            <a:alphaModFix/>
          </a:blip>
          <a:srcRect b="0" l="0" r="0" t="0"/>
          <a:stretch/>
        </p:blipFill>
        <p:spPr>
          <a:xfrm>
            <a:off x="571500" y="2817911"/>
            <a:ext cx="57150" cy="95250"/>
          </a:xfrm>
          <a:prstGeom prst="rect">
            <a:avLst/>
          </a:prstGeom>
          <a:noFill/>
          <a:ln>
            <a:noFill/>
          </a:ln>
        </p:spPr>
      </p:pic>
      <p:pic>
        <p:nvPicPr>
          <p:cNvPr descr="image.png" id="484" name="Google Shape;484;p23"/>
          <p:cNvPicPr preferRelativeResize="0"/>
          <p:nvPr/>
        </p:nvPicPr>
        <p:blipFill rotWithShape="1">
          <a:blip r:embed="rId17">
            <a:alphaModFix/>
          </a:blip>
          <a:srcRect b="0" l="0" r="0" t="0"/>
          <a:stretch/>
        </p:blipFill>
        <p:spPr>
          <a:xfrm>
            <a:off x="571500" y="3080742"/>
            <a:ext cx="57150" cy="95250"/>
          </a:xfrm>
          <a:prstGeom prst="rect">
            <a:avLst/>
          </a:prstGeom>
          <a:noFill/>
          <a:ln>
            <a:noFill/>
          </a:ln>
        </p:spPr>
      </p:pic>
      <p:pic>
        <p:nvPicPr>
          <p:cNvPr descr="image.png" id="485" name="Google Shape;485;p23"/>
          <p:cNvPicPr preferRelativeResize="0"/>
          <p:nvPr/>
        </p:nvPicPr>
        <p:blipFill rotWithShape="1">
          <a:blip r:embed="rId17">
            <a:alphaModFix/>
          </a:blip>
          <a:srcRect b="0" l="0" r="0" t="0"/>
          <a:stretch/>
        </p:blipFill>
        <p:spPr>
          <a:xfrm>
            <a:off x="571500" y="3343572"/>
            <a:ext cx="57150" cy="95250"/>
          </a:xfrm>
          <a:prstGeom prst="rect">
            <a:avLst/>
          </a:prstGeom>
          <a:noFill/>
          <a:ln>
            <a:noFill/>
          </a:ln>
        </p:spPr>
      </p:pic>
      <p:pic>
        <p:nvPicPr>
          <p:cNvPr descr="image.png" id="486" name="Google Shape;486;p23"/>
          <p:cNvPicPr preferRelativeResize="0"/>
          <p:nvPr/>
        </p:nvPicPr>
        <p:blipFill rotWithShape="1">
          <a:blip r:embed="rId17">
            <a:alphaModFix/>
          </a:blip>
          <a:srcRect b="0" l="0" r="0" t="0"/>
          <a:stretch/>
        </p:blipFill>
        <p:spPr>
          <a:xfrm>
            <a:off x="571500" y="3606403"/>
            <a:ext cx="57150" cy="95250"/>
          </a:xfrm>
          <a:prstGeom prst="rect">
            <a:avLst/>
          </a:prstGeom>
          <a:noFill/>
          <a:ln>
            <a:noFill/>
          </a:ln>
        </p:spPr>
      </p:pic>
      <p:pic>
        <p:nvPicPr>
          <p:cNvPr descr="image.png" id="487" name="Google Shape;487;p23"/>
          <p:cNvPicPr preferRelativeResize="0"/>
          <p:nvPr/>
        </p:nvPicPr>
        <p:blipFill rotWithShape="1">
          <a:blip r:embed="rId18">
            <a:alphaModFix/>
          </a:blip>
          <a:srcRect b="0" l="0" r="0" t="0"/>
          <a:stretch/>
        </p:blipFill>
        <p:spPr>
          <a:xfrm>
            <a:off x="571500" y="5206007"/>
            <a:ext cx="133350" cy="142875"/>
          </a:xfrm>
          <a:prstGeom prst="rect">
            <a:avLst/>
          </a:prstGeom>
          <a:noFill/>
          <a:ln>
            <a:noFill/>
          </a:ln>
        </p:spPr>
      </p:pic>
      <p:pic>
        <p:nvPicPr>
          <p:cNvPr descr="image.png" id="488" name="Google Shape;488;p23"/>
          <p:cNvPicPr preferRelativeResize="0"/>
          <p:nvPr/>
        </p:nvPicPr>
        <p:blipFill rotWithShape="1">
          <a:blip r:embed="rId19">
            <a:alphaModFix/>
          </a:blip>
          <a:srcRect b="0" l="0" r="0" t="0"/>
          <a:stretch/>
        </p:blipFill>
        <p:spPr>
          <a:xfrm>
            <a:off x="571500" y="5468838"/>
            <a:ext cx="133350" cy="142875"/>
          </a:xfrm>
          <a:prstGeom prst="rect">
            <a:avLst/>
          </a:prstGeom>
          <a:noFill/>
          <a:ln>
            <a:noFill/>
          </a:ln>
        </p:spPr>
      </p:pic>
      <p:pic>
        <p:nvPicPr>
          <p:cNvPr descr="image.png" id="489" name="Google Shape;489;p23"/>
          <p:cNvPicPr preferRelativeResize="0"/>
          <p:nvPr/>
        </p:nvPicPr>
        <p:blipFill rotWithShape="1">
          <a:blip r:embed="rId20">
            <a:alphaModFix/>
          </a:blip>
          <a:srcRect b="0" l="0" r="0" t="0"/>
          <a:stretch/>
        </p:blipFill>
        <p:spPr>
          <a:xfrm>
            <a:off x="571500" y="5731668"/>
            <a:ext cx="133350" cy="142875"/>
          </a:xfrm>
          <a:prstGeom prst="rect">
            <a:avLst/>
          </a:prstGeom>
          <a:noFill/>
          <a:ln>
            <a:noFill/>
          </a:ln>
        </p:spPr>
      </p:pic>
      <p:pic>
        <p:nvPicPr>
          <p:cNvPr descr="image.png" id="490" name="Google Shape;490;p23"/>
          <p:cNvPicPr preferRelativeResize="0"/>
          <p:nvPr/>
        </p:nvPicPr>
        <p:blipFill rotWithShape="1">
          <a:blip r:embed="rId21">
            <a:alphaModFix/>
          </a:blip>
          <a:srcRect b="0" l="0" r="0" t="0"/>
          <a:stretch/>
        </p:blipFill>
        <p:spPr>
          <a:xfrm>
            <a:off x="7243762" y="2038647"/>
            <a:ext cx="95250" cy="104775"/>
          </a:xfrm>
          <a:prstGeom prst="rect">
            <a:avLst/>
          </a:prstGeom>
          <a:noFill/>
          <a:ln>
            <a:noFill/>
          </a:ln>
        </p:spPr>
      </p:pic>
      <p:pic>
        <p:nvPicPr>
          <p:cNvPr descr="image.png" id="491" name="Google Shape;491;p23"/>
          <p:cNvPicPr preferRelativeResize="0"/>
          <p:nvPr/>
        </p:nvPicPr>
        <p:blipFill rotWithShape="1">
          <a:blip r:embed="rId22">
            <a:alphaModFix/>
          </a:blip>
          <a:srcRect b="0" l="0" r="0" t="0"/>
          <a:stretch/>
        </p:blipFill>
        <p:spPr>
          <a:xfrm>
            <a:off x="7239000" y="2405360"/>
            <a:ext cx="104775" cy="104775"/>
          </a:xfrm>
          <a:prstGeom prst="rect">
            <a:avLst/>
          </a:prstGeom>
          <a:noFill/>
          <a:ln>
            <a:noFill/>
          </a:ln>
        </p:spPr>
      </p:pic>
      <p:pic>
        <p:nvPicPr>
          <p:cNvPr descr="image.png" id="492" name="Google Shape;492;p23"/>
          <p:cNvPicPr preferRelativeResize="0"/>
          <p:nvPr/>
        </p:nvPicPr>
        <p:blipFill rotWithShape="1">
          <a:blip r:embed="rId23">
            <a:alphaModFix/>
          </a:blip>
          <a:srcRect b="0" l="0" r="0" t="0"/>
          <a:stretch/>
        </p:blipFill>
        <p:spPr>
          <a:xfrm>
            <a:off x="7239000" y="2772072"/>
            <a:ext cx="104775" cy="104775"/>
          </a:xfrm>
          <a:prstGeom prst="rect">
            <a:avLst/>
          </a:prstGeom>
          <a:noFill/>
          <a:ln>
            <a:noFill/>
          </a:ln>
        </p:spPr>
      </p:pic>
      <p:pic>
        <p:nvPicPr>
          <p:cNvPr descr="image.png" id="493" name="Google Shape;493;p23"/>
          <p:cNvPicPr preferRelativeResize="0"/>
          <p:nvPr/>
        </p:nvPicPr>
        <p:blipFill rotWithShape="1">
          <a:blip r:embed="rId24">
            <a:alphaModFix/>
          </a:blip>
          <a:srcRect b="0" l="0" r="0" t="0"/>
          <a:stretch/>
        </p:blipFill>
        <p:spPr>
          <a:xfrm>
            <a:off x="7239000" y="3138785"/>
            <a:ext cx="104775" cy="104775"/>
          </a:xfrm>
          <a:prstGeom prst="rect">
            <a:avLst/>
          </a:prstGeom>
          <a:noFill/>
          <a:ln>
            <a:noFill/>
          </a:ln>
        </p:spPr>
      </p:pic>
      <p:pic>
        <p:nvPicPr>
          <p:cNvPr descr="image.png" id="494" name="Google Shape;494;p23"/>
          <p:cNvPicPr preferRelativeResize="0"/>
          <p:nvPr/>
        </p:nvPicPr>
        <p:blipFill rotWithShape="1">
          <a:blip r:embed="rId25">
            <a:alphaModFix/>
          </a:blip>
          <a:srcRect b="0" l="0" r="0" t="0"/>
          <a:stretch/>
        </p:blipFill>
        <p:spPr>
          <a:xfrm>
            <a:off x="7253287" y="3505497"/>
            <a:ext cx="76200" cy="104775"/>
          </a:xfrm>
          <a:prstGeom prst="rect">
            <a:avLst/>
          </a:prstGeom>
          <a:noFill/>
          <a:ln>
            <a:noFill/>
          </a:ln>
        </p:spPr>
      </p:pic>
      <p:pic>
        <p:nvPicPr>
          <p:cNvPr descr="image.png" id="495" name="Google Shape;495;p23"/>
          <p:cNvPicPr preferRelativeResize="0"/>
          <p:nvPr/>
        </p:nvPicPr>
        <p:blipFill rotWithShape="1">
          <a:blip r:embed="rId26">
            <a:alphaModFix/>
          </a:blip>
          <a:srcRect b="0" l="0" r="0" t="0"/>
          <a:stretch/>
        </p:blipFill>
        <p:spPr>
          <a:xfrm>
            <a:off x="7234237" y="3872210"/>
            <a:ext cx="114300" cy="104775"/>
          </a:xfrm>
          <a:prstGeom prst="rect">
            <a:avLst/>
          </a:prstGeom>
          <a:noFill/>
          <a:ln>
            <a:noFill/>
          </a:ln>
        </p:spPr>
      </p:pic>
      <p:pic>
        <p:nvPicPr>
          <p:cNvPr descr="image.png" id="496" name="Google Shape;496;p23"/>
          <p:cNvPicPr preferRelativeResize="0"/>
          <p:nvPr/>
        </p:nvPicPr>
        <p:blipFill rotWithShape="1">
          <a:blip r:embed="rId27">
            <a:alphaModFix/>
          </a:blip>
          <a:srcRect b="0" l="0" r="0" t="0"/>
          <a:stretch/>
        </p:blipFill>
        <p:spPr>
          <a:xfrm>
            <a:off x="7234237" y="4238922"/>
            <a:ext cx="114300" cy="104775"/>
          </a:xfrm>
          <a:prstGeom prst="rect">
            <a:avLst/>
          </a:prstGeom>
          <a:noFill/>
          <a:ln>
            <a:noFill/>
          </a:ln>
        </p:spPr>
      </p:pic>
      <p:pic>
        <p:nvPicPr>
          <p:cNvPr descr="image.png" id="497" name="Google Shape;497;p23"/>
          <p:cNvPicPr preferRelativeResize="0"/>
          <p:nvPr/>
        </p:nvPicPr>
        <p:blipFill rotWithShape="1">
          <a:blip r:embed="rId28">
            <a:alphaModFix/>
          </a:blip>
          <a:srcRect b="0" l="0" r="0" t="0"/>
          <a:stretch/>
        </p:blipFill>
        <p:spPr>
          <a:xfrm>
            <a:off x="7243762" y="4605635"/>
            <a:ext cx="95250" cy="104775"/>
          </a:xfrm>
          <a:prstGeom prst="rect">
            <a:avLst/>
          </a:prstGeom>
          <a:noFill/>
          <a:ln>
            <a:noFill/>
          </a:ln>
        </p:spPr>
      </p:pic>
      <p:pic>
        <p:nvPicPr>
          <p:cNvPr descr="image.png" id="498" name="Google Shape;498;p23"/>
          <p:cNvPicPr preferRelativeResize="0"/>
          <p:nvPr/>
        </p:nvPicPr>
        <p:blipFill rotWithShape="1">
          <a:blip r:embed="rId29">
            <a:alphaModFix/>
          </a:blip>
          <a:srcRect b="0" l="0" r="0" t="0"/>
          <a:stretch/>
        </p:blipFill>
        <p:spPr>
          <a:xfrm>
            <a:off x="7239000" y="4972347"/>
            <a:ext cx="104775" cy="104775"/>
          </a:xfrm>
          <a:prstGeom prst="rect">
            <a:avLst/>
          </a:prstGeom>
          <a:noFill/>
          <a:ln>
            <a:noFill/>
          </a:ln>
        </p:spPr>
      </p:pic>
      <p:pic>
        <p:nvPicPr>
          <p:cNvPr descr="image.png" id="499" name="Google Shape;499;p23"/>
          <p:cNvPicPr preferRelativeResize="0"/>
          <p:nvPr/>
        </p:nvPicPr>
        <p:blipFill rotWithShape="1">
          <a:blip r:embed="rId30">
            <a:alphaModFix/>
          </a:blip>
          <a:srcRect b="0" l="0" r="0" t="0"/>
          <a:stretch/>
        </p:blipFill>
        <p:spPr>
          <a:xfrm>
            <a:off x="7253287" y="5339060"/>
            <a:ext cx="76200" cy="104775"/>
          </a:xfrm>
          <a:prstGeom prst="rect">
            <a:avLst/>
          </a:prstGeom>
          <a:noFill/>
          <a:ln>
            <a:noFill/>
          </a:ln>
        </p:spPr>
      </p:pic>
      <p:sp>
        <p:nvSpPr>
          <p:cNvPr id="500" name="Google Shape;500;p23"/>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Sessions</a:t>
            </a:r>
            <a:endParaRPr/>
          </a:p>
        </p:txBody>
      </p:sp>
      <p:sp>
        <p:nvSpPr>
          <p:cNvPr id="501" name="Google Shape;501;p23"/>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2" name="Google Shape;502;p23"/>
          <p:cNvSpPr txBox="1"/>
          <p:nvPr/>
        </p:nvSpPr>
        <p:spPr>
          <a:xfrm>
            <a:off x="7519988" y="1995783"/>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Trigger</a:t>
            </a:r>
            <a:endParaRPr b="1" sz="733">
              <a:solidFill>
                <a:srgbClr val="0F172A"/>
              </a:solidFill>
              <a:latin typeface="Plus Jakarta Sans"/>
              <a:ea typeface="Plus Jakarta Sans"/>
              <a:cs typeface="Plus Jakarta Sans"/>
              <a:sym typeface="Plus Jakarta Sans"/>
            </a:endParaRPr>
          </a:p>
        </p:txBody>
      </p:sp>
      <p:sp>
        <p:nvSpPr>
          <p:cNvPr id="503" name="Google Shape;503;p23"/>
          <p:cNvSpPr txBox="1"/>
          <p:nvPr/>
        </p:nvSpPr>
        <p:spPr>
          <a:xfrm>
            <a:off x="7519988" y="2129133"/>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Manual / Automation / API</a:t>
            </a:r>
            <a:endParaRPr b="0" sz="750">
              <a:solidFill>
                <a:srgbClr val="475569"/>
              </a:solidFill>
              <a:latin typeface="Plus Jakarta Sans"/>
              <a:ea typeface="Plus Jakarta Sans"/>
              <a:cs typeface="Plus Jakarta Sans"/>
              <a:sym typeface="Plus Jakarta Sans"/>
            </a:endParaRPr>
          </a:p>
        </p:txBody>
      </p:sp>
      <p:sp>
        <p:nvSpPr>
          <p:cNvPr id="504" name="Google Shape;504;p23"/>
          <p:cNvSpPr txBox="1"/>
          <p:nvPr/>
        </p:nvSpPr>
        <p:spPr>
          <a:xfrm>
            <a:off x="7519988" y="2362495"/>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Boot Snapshot</a:t>
            </a:r>
            <a:endParaRPr b="1" sz="733">
              <a:solidFill>
                <a:srgbClr val="0F172A"/>
              </a:solidFill>
              <a:latin typeface="Plus Jakarta Sans"/>
              <a:ea typeface="Plus Jakarta Sans"/>
              <a:cs typeface="Plus Jakarta Sans"/>
              <a:sym typeface="Plus Jakarta Sans"/>
            </a:endParaRPr>
          </a:p>
        </p:txBody>
      </p:sp>
      <p:sp>
        <p:nvSpPr>
          <p:cNvPr id="505" name="Google Shape;505;p23"/>
          <p:cNvSpPr txBox="1"/>
          <p:nvPr/>
        </p:nvSpPr>
        <p:spPr>
          <a:xfrm>
            <a:off x="7519988" y="2495845"/>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Starts a clean VM container layer</a:t>
            </a:r>
            <a:endParaRPr b="0" sz="750">
              <a:solidFill>
                <a:srgbClr val="475569"/>
              </a:solidFill>
              <a:latin typeface="Plus Jakarta Sans"/>
              <a:ea typeface="Plus Jakarta Sans"/>
              <a:cs typeface="Plus Jakarta Sans"/>
              <a:sym typeface="Plus Jakarta Sans"/>
            </a:endParaRPr>
          </a:p>
        </p:txBody>
      </p:sp>
      <p:sp>
        <p:nvSpPr>
          <p:cNvPr id="506" name="Google Shape;506;p23"/>
          <p:cNvSpPr txBox="1"/>
          <p:nvPr/>
        </p:nvSpPr>
        <p:spPr>
          <a:xfrm>
            <a:off x="7519988" y="2729208"/>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Load Knowledge</a:t>
            </a:r>
            <a:endParaRPr b="1" sz="733">
              <a:solidFill>
                <a:srgbClr val="0F172A"/>
              </a:solidFill>
              <a:latin typeface="Plus Jakarta Sans"/>
              <a:ea typeface="Plus Jakarta Sans"/>
              <a:cs typeface="Plus Jakarta Sans"/>
              <a:sym typeface="Plus Jakarta Sans"/>
            </a:endParaRPr>
          </a:p>
        </p:txBody>
      </p:sp>
      <p:sp>
        <p:nvSpPr>
          <p:cNvPr id="507" name="Google Shape;507;p23"/>
          <p:cNvSpPr txBox="1"/>
          <p:nvPr/>
        </p:nvSpPr>
        <p:spPr>
          <a:xfrm>
            <a:off x="7519988" y="2862558"/>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Triggered context auto-retrieved</a:t>
            </a:r>
            <a:endParaRPr b="0" sz="750">
              <a:solidFill>
                <a:srgbClr val="475569"/>
              </a:solidFill>
              <a:latin typeface="Plus Jakarta Sans"/>
              <a:ea typeface="Plus Jakarta Sans"/>
              <a:cs typeface="Plus Jakarta Sans"/>
              <a:sym typeface="Plus Jakarta Sans"/>
            </a:endParaRPr>
          </a:p>
        </p:txBody>
      </p:sp>
      <p:sp>
        <p:nvSpPr>
          <p:cNvPr id="508" name="Google Shape;508;p23"/>
          <p:cNvSpPr txBox="1"/>
          <p:nvPr/>
        </p:nvSpPr>
        <p:spPr>
          <a:xfrm>
            <a:off x="7519988" y="3095920"/>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Load Skills</a:t>
            </a:r>
            <a:endParaRPr b="1" sz="733">
              <a:solidFill>
                <a:srgbClr val="0F172A"/>
              </a:solidFill>
              <a:latin typeface="Plus Jakarta Sans"/>
              <a:ea typeface="Plus Jakarta Sans"/>
              <a:cs typeface="Plus Jakarta Sans"/>
              <a:sym typeface="Plus Jakarta Sans"/>
            </a:endParaRPr>
          </a:p>
        </p:txBody>
      </p:sp>
      <p:sp>
        <p:nvSpPr>
          <p:cNvPr id="509" name="Google Shape;509;p23"/>
          <p:cNvSpPr txBox="1"/>
          <p:nvPr/>
        </p:nvSpPr>
        <p:spPr>
          <a:xfrm>
            <a:off x="7519988" y="3229270"/>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Discovers `.agents/skills` structures</a:t>
            </a:r>
            <a:endParaRPr b="0" sz="750">
              <a:solidFill>
                <a:srgbClr val="475569"/>
              </a:solidFill>
              <a:latin typeface="Plus Jakarta Sans"/>
              <a:ea typeface="Plus Jakarta Sans"/>
              <a:cs typeface="Plus Jakarta Sans"/>
              <a:sym typeface="Plus Jakarta Sans"/>
            </a:endParaRPr>
          </a:p>
        </p:txBody>
      </p:sp>
      <p:sp>
        <p:nvSpPr>
          <p:cNvPr id="510" name="Google Shape;510;p23"/>
          <p:cNvSpPr txBox="1"/>
          <p:nvPr/>
        </p:nvSpPr>
        <p:spPr>
          <a:xfrm>
            <a:off x="7519988" y="3462633"/>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Apply Playbook</a:t>
            </a:r>
            <a:endParaRPr b="1" sz="733">
              <a:solidFill>
                <a:srgbClr val="0F172A"/>
              </a:solidFill>
              <a:latin typeface="Plus Jakarta Sans"/>
              <a:ea typeface="Plus Jakarta Sans"/>
              <a:cs typeface="Plus Jakarta Sans"/>
              <a:sym typeface="Plus Jakarta Sans"/>
            </a:endParaRPr>
          </a:p>
        </p:txBody>
      </p:sp>
      <p:sp>
        <p:nvSpPr>
          <p:cNvPr id="511" name="Google Shape;511;p23"/>
          <p:cNvSpPr txBox="1"/>
          <p:nvPr/>
        </p:nvSpPr>
        <p:spPr>
          <a:xfrm>
            <a:off x="7519988" y="3595983"/>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Enforces systematic procedural templates</a:t>
            </a:r>
            <a:endParaRPr b="0" sz="750">
              <a:solidFill>
                <a:srgbClr val="475569"/>
              </a:solidFill>
              <a:latin typeface="Plus Jakarta Sans"/>
              <a:ea typeface="Plus Jakarta Sans"/>
              <a:cs typeface="Plus Jakarta Sans"/>
              <a:sym typeface="Plus Jakarta Sans"/>
            </a:endParaRPr>
          </a:p>
        </p:txBody>
      </p:sp>
      <p:sp>
        <p:nvSpPr>
          <p:cNvPr id="512" name="Google Shape;512;p23"/>
          <p:cNvSpPr txBox="1"/>
          <p:nvPr/>
        </p:nvSpPr>
        <p:spPr>
          <a:xfrm>
            <a:off x="7519988" y="3829345"/>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Plan Task</a:t>
            </a:r>
            <a:endParaRPr b="1" sz="733">
              <a:solidFill>
                <a:srgbClr val="0F172A"/>
              </a:solidFill>
              <a:latin typeface="Plus Jakarta Sans"/>
              <a:ea typeface="Plus Jakarta Sans"/>
              <a:cs typeface="Plus Jakarta Sans"/>
              <a:sym typeface="Plus Jakarta Sans"/>
            </a:endParaRPr>
          </a:p>
        </p:txBody>
      </p:sp>
      <p:sp>
        <p:nvSpPr>
          <p:cNvPr id="513" name="Google Shape;513;p23"/>
          <p:cNvSpPr txBox="1"/>
          <p:nvPr/>
        </p:nvSpPr>
        <p:spPr>
          <a:xfrm>
            <a:off x="7519988" y="3962695"/>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Scoping dependencies &amp; paths</a:t>
            </a:r>
            <a:endParaRPr b="0" sz="750">
              <a:solidFill>
                <a:srgbClr val="475569"/>
              </a:solidFill>
              <a:latin typeface="Plus Jakarta Sans"/>
              <a:ea typeface="Plus Jakarta Sans"/>
              <a:cs typeface="Plus Jakarta Sans"/>
              <a:sym typeface="Plus Jakarta Sans"/>
            </a:endParaRPr>
          </a:p>
        </p:txBody>
      </p:sp>
      <p:sp>
        <p:nvSpPr>
          <p:cNvPr id="514" name="Google Shape;514;p23"/>
          <p:cNvSpPr txBox="1"/>
          <p:nvPr/>
        </p:nvSpPr>
        <p:spPr>
          <a:xfrm>
            <a:off x="7519988" y="4196058"/>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Execute</a:t>
            </a:r>
            <a:endParaRPr b="1" sz="733">
              <a:solidFill>
                <a:srgbClr val="0F172A"/>
              </a:solidFill>
              <a:latin typeface="Plus Jakarta Sans"/>
              <a:ea typeface="Plus Jakarta Sans"/>
              <a:cs typeface="Plus Jakarta Sans"/>
              <a:sym typeface="Plus Jakarta Sans"/>
            </a:endParaRPr>
          </a:p>
        </p:txBody>
      </p:sp>
      <p:sp>
        <p:nvSpPr>
          <p:cNvPr id="515" name="Google Shape;515;p23"/>
          <p:cNvSpPr txBox="1"/>
          <p:nvPr/>
        </p:nvSpPr>
        <p:spPr>
          <a:xfrm>
            <a:off x="7519988" y="4329408"/>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Writes code, runs terminal, browses web</a:t>
            </a:r>
            <a:endParaRPr b="0" sz="750">
              <a:solidFill>
                <a:srgbClr val="475569"/>
              </a:solidFill>
              <a:latin typeface="Plus Jakarta Sans"/>
              <a:ea typeface="Plus Jakarta Sans"/>
              <a:cs typeface="Plus Jakarta Sans"/>
              <a:sym typeface="Plus Jakarta Sans"/>
            </a:endParaRPr>
          </a:p>
        </p:txBody>
      </p:sp>
      <p:sp>
        <p:nvSpPr>
          <p:cNvPr id="516" name="Google Shape;516;p23"/>
          <p:cNvSpPr txBox="1"/>
          <p:nvPr/>
        </p:nvSpPr>
        <p:spPr>
          <a:xfrm>
            <a:off x="7519988" y="4562770"/>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F172A"/>
                </a:solidFill>
                <a:latin typeface="Plus Jakarta Sans"/>
                <a:ea typeface="Plus Jakarta Sans"/>
                <a:cs typeface="Plus Jakarta Sans"/>
                <a:sym typeface="Plus Jakarta Sans"/>
              </a:rPr>
              <a:t>Verify</a:t>
            </a:r>
            <a:endParaRPr b="1" sz="733">
              <a:solidFill>
                <a:srgbClr val="0F172A"/>
              </a:solidFill>
              <a:latin typeface="Plus Jakarta Sans"/>
              <a:ea typeface="Plus Jakarta Sans"/>
              <a:cs typeface="Plus Jakarta Sans"/>
              <a:sym typeface="Plus Jakarta Sans"/>
            </a:endParaRPr>
          </a:p>
        </p:txBody>
      </p:sp>
      <p:sp>
        <p:nvSpPr>
          <p:cNvPr id="517" name="Google Shape;517;p23"/>
          <p:cNvSpPr txBox="1"/>
          <p:nvPr/>
        </p:nvSpPr>
        <p:spPr>
          <a:xfrm>
            <a:off x="7519988" y="4696120"/>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Executes lints &amp; validation checks</a:t>
            </a:r>
            <a:endParaRPr b="0" sz="750">
              <a:solidFill>
                <a:srgbClr val="475569"/>
              </a:solidFill>
              <a:latin typeface="Plus Jakarta Sans"/>
              <a:ea typeface="Plus Jakarta Sans"/>
              <a:cs typeface="Plus Jakarta Sans"/>
              <a:sym typeface="Plus Jakarta Sans"/>
            </a:endParaRPr>
          </a:p>
        </p:txBody>
      </p:sp>
      <p:sp>
        <p:nvSpPr>
          <p:cNvPr id="518" name="Google Shape;518;p23"/>
          <p:cNvSpPr txBox="1"/>
          <p:nvPr/>
        </p:nvSpPr>
        <p:spPr>
          <a:xfrm>
            <a:off x="7519988" y="4929483"/>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D9488"/>
                </a:solidFill>
                <a:latin typeface="Plus Jakarta Sans"/>
                <a:ea typeface="Plus Jakarta Sans"/>
                <a:cs typeface="Plus Jakarta Sans"/>
                <a:sym typeface="Plus Jakarta Sans"/>
              </a:rPr>
              <a:t>Create PR</a:t>
            </a:r>
            <a:endParaRPr b="1" sz="733">
              <a:solidFill>
                <a:srgbClr val="0D9488"/>
              </a:solidFill>
              <a:latin typeface="Plus Jakarta Sans"/>
              <a:ea typeface="Plus Jakarta Sans"/>
              <a:cs typeface="Plus Jakarta Sans"/>
              <a:sym typeface="Plus Jakarta Sans"/>
            </a:endParaRPr>
          </a:p>
        </p:txBody>
      </p:sp>
      <p:sp>
        <p:nvSpPr>
          <p:cNvPr id="519" name="Google Shape;519;p23"/>
          <p:cNvSpPr txBox="1"/>
          <p:nvPr/>
        </p:nvSpPr>
        <p:spPr>
          <a:xfrm>
            <a:off x="7519988" y="5062833"/>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Delivers pull requests to code platforms</a:t>
            </a:r>
            <a:endParaRPr b="0" sz="750">
              <a:solidFill>
                <a:srgbClr val="475569"/>
              </a:solidFill>
              <a:latin typeface="Plus Jakarta Sans"/>
              <a:ea typeface="Plus Jakarta Sans"/>
              <a:cs typeface="Plus Jakarta Sans"/>
              <a:sym typeface="Plus Jakarta Sans"/>
            </a:endParaRPr>
          </a:p>
        </p:txBody>
      </p:sp>
      <p:sp>
        <p:nvSpPr>
          <p:cNvPr id="520" name="Google Shape;520;p23"/>
          <p:cNvSpPr txBox="1"/>
          <p:nvPr/>
        </p:nvSpPr>
        <p:spPr>
          <a:xfrm>
            <a:off x="7519988" y="5296195"/>
            <a:ext cx="3619500" cy="112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33">
                <a:solidFill>
                  <a:srgbClr val="0D9488"/>
                </a:solidFill>
                <a:latin typeface="Plus Jakarta Sans"/>
                <a:ea typeface="Plus Jakarta Sans"/>
                <a:cs typeface="Plus Jakarta Sans"/>
                <a:sym typeface="Plus Jakarta Sans"/>
              </a:rPr>
              <a:t>Sleep / Complete</a:t>
            </a:r>
            <a:endParaRPr b="1" sz="733">
              <a:solidFill>
                <a:srgbClr val="0D9488"/>
              </a:solidFill>
              <a:latin typeface="Plus Jakarta Sans"/>
              <a:ea typeface="Plus Jakarta Sans"/>
              <a:cs typeface="Plus Jakarta Sans"/>
              <a:sym typeface="Plus Jakarta Sans"/>
            </a:endParaRPr>
          </a:p>
        </p:txBody>
      </p:sp>
      <p:sp>
        <p:nvSpPr>
          <p:cNvPr id="521" name="Google Shape;521;p23"/>
          <p:cNvSpPr txBox="1"/>
          <p:nvPr/>
        </p:nvSpPr>
        <p:spPr>
          <a:xfrm>
            <a:off x="7519988" y="5429545"/>
            <a:ext cx="36195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750">
                <a:solidFill>
                  <a:srgbClr val="475569"/>
                </a:solidFill>
                <a:latin typeface="Plus Jakarta Sans"/>
                <a:ea typeface="Plus Jakarta Sans"/>
                <a:cs typeface="Plus Jakarta Sans"/>
                <a:sym typeface="Plus Jakarta Sans"/>
              </a:rPr>
              <a:t>Enters archive / standby lifecycle</a:t>
            </a:r>
            <a:endParaRPr b="0" sz="750">
              <a:solidFill>
                <a:srgbClr val="475569"/>
              </a:solidFill>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5" name="Shape 525"/>
        <p:cNvGrpSpPr/>
        <p:nvPr/>
      </p:nvGrpSpPr>
      <p:grpSpPr>
        <a:xfrm>
          <a:off x="0" y="0"/>
          <a:ext cx="0" cy="0"/>
          <a:chOff x="0" y="0"/>
          <a:chExt cx="0" cy="0"/>
        </a:xfrm>
      </p:grpSpPr>
      <p:pic>
        <p:nvPicPr>
          <p:cNvPr descr="image.png" id="526" name="Google Shape;526;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27" name="Google Shape;527;p24"/>
          <p:cNvPicPr preferRelativeResize="0"/>
          <p:nvPr/>
        </p:nvPicPr>
        <p:blipFill rotWithShape="1">
          <a:blip r:embed="rId4">
            <a:alphaModFix/>
          </a:blip>
          <a:srcRect b="0" l="0" r="0" t="0"/>
          <a:stretch/>
        </p:blipFill>
        <p:spPr>
          <a:xfrm>
            <a:off x="7005637" y="1294060"/>
            <a:ext cx="4567237" cy="495448"/>
          </a:xfrm>
          <a:prstGeom prst="rect">
            <a:avLst/>
          </a:prstGeom>
          <a:noFill/>
          <a:ln>
            <a:noFill/>
          </a:ln>
        </p:spPr>
      </p:pic>
      <p:pic>
        <p:nvPicPr>
          <p:cNvPr descr="image.png" id="528" name="Google Shape;528;p24"/>
          <p:cNvPicPr preferRelativeResize="0"/>
          <p:nvPr/>
        </p:nvPicPr>
        <p:blipFill rotWithShape="1">
          <a:blip r:embed="rId5">
            <a:alphaModFix/>
          </a:blip>
          <a:srcRect b="0" l="0" r="0" t="0"/>
          <a:stretch/>
        </p:blipFill>
        <p:spPr>
          <a:xfrm>
            <a:off x="7005637" y="1846659"/>
            <a:ext cx="4567237" cy="495448"/>
          </a:xfrm>
          <a:prstGeom prst="rect">
            <a:avLst/>
          </a:prstGeom>
          <a:noFill/>
          <a:ln>
            <a:noFill/>
          </a:ln>
        </p:spPr>
      </p:pic>
      <p:pic>
        <p:nvPicPr>
          <p:cNvPr descr="image.png" id="529" name="Google Shape;529;p24"/>
          <p:cNvPicPr preferRelativeResize="0"/>
          <p:nvPr/>
        </p:nvPicPr>
        <p:blipFill rotWithShape="1">
          <a:blip r:embed="rId6">
            <a:alphaModFix/>
          </a:blip>
          <a:srcRect b="0" l="0" r="0" t="0"/>
          <a:stretch/>
        </p:blipFill>
        <p:spPr>
          <a:xfrm>
            <a:off x="7005637" y="2399258"/>
            <a:ext cx="4567237" cy="495448"/>
          </a:xfrm>
          <a:prstGeom prst="rect">
            <a:avLst/>
          </a:prstGeom>
          <a:noFill/>
          <a:ln>
            <a:noFill/>
          </a:ln>
        </p:spPr>
      </p:pic>
      <p:pic>
        <p:nvPicPr>
          <p:cNvPr descr="image.png" id="530" name="Google Shape;530;p24"/>
          <p:cNvPicPr preferRelativeResize="0"/>
          <p:nvPr/>
        </p:nvPicPr>
        <p:blipFill rotWithShape="1">
          <a:blip r:embed="rId7">
            <a:alphaModFix/>
          </a:blip>
          <a:srcRect b="0" l="0" r="0" t="0"/>
          <a:stretch/>
        </p:blipFill>
        <p:spPr>
          <a:xfrm>
            <a:off x="7005637" y="2951857"/>
            <a:ext cx="4567237" cy="495448"/>
          </a:xfrm>
          <a:prstGeom prst="rect">
            <a:avLst/>
          </a:prstGeom>
          <a:noFill/>
          <a:ln>
            <a:noFill/>
          </a:ln>
        </p:spPr>
      </p:pic>
      <p:pic>
        <p:nvPicPr>
          <p:cNvPr descr="image.png" id="531" name="Google Shape;531;p24"/>
          <p:cNvPicPr preferRelativeResize="0"/>
          <p:nvPr/>
        </p:nvPicPr>
        <p:blipFill rotWithShape="1">
          <a:blip r:embed="rId8">
            <a:alphaModFix/>
          </a:blip>
          <a:srcRect b="0" l="0" r="0" t="0"/>
          <a:stretch/>
        </p:blipFill>
        <p:spPr>
          <a:xfrm>
            <a:off x="571500" y="457200"/>
            <a:ext cx="823168" cy="200025"/>
          </a:xfrm>
          <a:prstGeom prst="rect">
            <a:avLst/>
          </a:prstGeom>
          <a:noFill/>
          <a:ln>
            <a:noFill/>
          </a:ln>
        </p:spPr>
      </p:pic>
      <p:sp>
        <p:nvSpPr>
          <p:cNvPr id="532" name="Google Shape;532;p24"/>
          <p:cNvSpPr txBox="1"/>
          <p:nvPr/>
        </p:nvSpPr>
        <p:spPr>
          <a:xfrm>
            <a:off x="571500" y="1052214"/>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533" name="Google Shape;533;p24"/>
          <p:cNvSpPr txBox="1"/>
          <p:nvPr/>
        </p:nvSpPr>
        <p:spPr>
          <a:xfrm>
            <a:off x="571500" y="1223069"/>
            <a:ext cx="6195900" cy="1617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Provide persistent, organization-wide context that Devin automatically retrieves during sessions.</a:t>
            </a:r>
            <a:endParaRPr/>
          </a:p>
        </p:txBody>
      </p:sp>
      <p:sp>
        <p:nvSpPr>
          <p:cNvPr id="534" name="Google Shape;534;p24"/>
          <p:cNvSpPr txBox="1"/>
          <p:nvPr/>
        </p:nvSpPr>
        <p:spPr>
          <a:xfrm>
            <a:off x="571500" y="1492597"/>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535" name="Google Shape;535;p24"/>
          <p:cNvSpPr txBox="1"/>
          <p:nvPr/>
        </p:nvSpPr>
        <p:spPr>
          <a:xfrm>
            <a:off x="571500" y="1663451"/>
            <a:ext cx="6195900" cy="630300"/>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Just like onboarding a new engineer, Devin needs institutional context — coding standards, deployment workflows, proprietary tool usage, PR conventions. Knowledge is the mechanism for transferring this context once and having it available in every future session.</a:t>
            </a:r>
            <a:endParaRPr/>
          </a:p>
        </p:txBody>
      </p:sp>
      <p:sp>
        <p:nvSpPr>
          <p:cNvPr id="536" name="Google Shape;536;p24"/>
          <p:cNvSpPr txBox="1"/>
          <p:nvPr/>
        </p:nvSpPr>
        <p:spPr>
          <a:xfrm>
            <a:off x="571500" y="2319635"/>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537" name="Google Shape;537;p24"/>
          <p:cNvSpPr txBox="1"/>
          <p:nvPr/>
        </p:nvSpPr>
        <p:spPr>
          <a:xfrm>
            <a:off x="571500" y="4781550"/>
            <a:ext cx="6195900" cy="126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825">
                <a:solidFill>
                  <a:srgbClr val="2563EB"/>
                </a:solidFill>
                <a:latin typeface="Plus Jakarta Sans"/>
                <a:ea typeface="Plus Jakarta Sans"/>
                <a:cs typeface="Plus Jakarta Sans"/>
                <a:sym typeface="Plus Jakarta Sans"/>
              </a:rPr>
              <a:t>ENTERPRISE USE CASE:</a:t>
            </a:r>
            <a:endParaRPr b="1" sz="825">
              <a:solidFill>
                <a:srgbClr val="2563EB"/>
              </a:solidFill>
              <a:latin typeface="Plus Jakarta Sans"/>
              <a:ea typeface="Plus Jakarta Sans"/>
              <a:cs typeface="Plus Jakarta Sans"/>
              <a:sym typeface="Plus Jakarta Sans"/>
            </a:endParaRPr>
          </a:p>
        </p:txBody>
      </p:sp>
      <p:sp>
        <p:nvSpPr>
          <p:cNvPr id="538" name="Google Shape;538;p24"/>
          <p:cNvSpPr txBox="1"/>
          <p:nvPr/>
        </p:nvSpPr>
        <p:spPr>
          <a:xfrm>
            <a:off x="571500" y="4933950"/>
            <a:ext cx="61959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An enterprise has a company-wide coding standard for error handling. An Enterprise Knowledge item captures this. Every Devin session across all teams automatically applies it without engineers needing to repeat it in every prompt.</a:t>
            </a:r>
            <a:endParaRPr b="0" sz="1050">
              <a:solidFill>
                <a:srgbClr val="334155"/>
              </a:solidFill>
              <a:latin typeface="Plus Jakarta Sans"/>
              <a:ea typeface="Plus Jakarta Sans"/>
              <a:cs typeface="Plus Jakarta Sans"/>
              <a:sym typeface="Plus Jakarta Sans"/>
            </a:endParaRPr>
          </a:p>
        </p:txBody>
      </p:sp>
      <p:sp>
        <p:nvSpPr>
          <p:cNvPr id="539" name="Google Shape;539;p24"/>
          <p:cNvSpPr txBox="1"/>
          <p:nvPr/>
        </p:nvSpPr>
        <p:spPr>
          <a:xfrm>
            <a:off x="571500" y="550545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0D9488"/>
                </a:solidFill>
                <a:latin typeface="Plus Jakarta Sans"/>
                <a:ea typeface="Plus Jakarta Sans"/>
                <a:cs typeface="Plus Jakarta Sans"/>
                <a:sym typeface="Plus Jakarta Sans"/>
              </a:rPr>
              <a:t>ADVANTAGES:</a:t>
            </a:r>
            <a:endParaRPr b="1" sz="750">
              <a:solidFill>
                <a:srgbClr val="0D9488"/>
              </a:solidFill>
              <a:latin typeface="Plus Jakarta Sans"/>
              <a:ea typeface="Plus Jakarta Sans"/>
              <a:cs typeface="Plus Jakarta Sans"/>
              <a:sym typeface="Plus Jakarta Sans"/>
            </a:endParaRPr>
          </a:p>
        </p:txBody>
      </p:sp>
      <p:sp>
        <p:nvSpPr>
          <p:cNvPr id="540" name="Google Shape;540;p24"/>
          <p:cNvSpPr txBox="1"/>
          <p:nvPr/>
        </p:nvSpPr>
        <p:spPr>
          <a:xfrm>
            <a:off x="571500" y="5657850"/>
            <a:ext cx="61959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Accumulates over time; shared across the organization; reduces prompt repetition; auto-suggested</a:t>
            </a:r>
            <a:endParaRPr b="0" sz="971">
              <a:solidFill>
                <a:srgbClr val="334155"/>
              </a:solidFill>
              <a:latin typeface="Plus Jakarta Sans"/>
              <a:ea typeface="Plus Jakarta Sans"/>
              <a:cs typeface="Plus Jakarta Sans"/>
              <a:sym typeface="Plus Jakarta Sans"/>
            </a:endParaRPr>
          </a:p>
        </p:txBody>
      </p:sp>
      <p:sp>
        <p:nvSpPr>
          <p:cNvPr id="541" name="Google Shape;541;p24"/>
          <p:cNvSpPr txBox="1"/>
          <p:nvPr/>
        </p:nvSpPr>
        <p:spPr>
          <a:xfrm>
            <a:off x="571500" y="594360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EF4444"/>
                </a:solidFill>
                <a:latin typeface="Plus Jakarta Sans"/>
                <a:ea typeface="Plus Jakarta Sans"/>
                <a:cs typeface="Plus Jakarta Sans"/>
                <a:sym typeface="Plus Jakarta Sans"/>
              </a:rPr>
              <a:t>LIMITATIONS:</a:t>
            </a:r>
            <a:endParaRPr b="1" sz="750">
              <a:solidFill>
                <a:srgbClr val="EF4444"/>
              </a:solidFill>
              <a:latin typeface="Plus Jakarta Sans"/>
              <a:ea typeface="Plus Jakarta Sans"/>
              <a:cs typeface="Plus Jakarta Sans"/>
              <a:sym typeface="Plus Jakarta Sans"/>
            </a:endParaRPr>
          </a:p>
        </p:txBody>
      </p:sp>
      <p:sp>
        <p:nvSpPr>
          <p:cNvPr id="542" name="Google Shape;542;p24"/>
          <p:cNvSpPr txBox="1"/>
          <p:nvPr/>
        </p:nvSpPr>
        <p:spPr>
          <a:xfrm>
            <a:off x="571500" y="6096000"/>
            <a:ext cx="61959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Knowledge is retrieved based on relevance — overly broad triggers may cause irrelevant retrieval; overly narrow triggers may cause missed retrieval</a:t>
            </a:r>
            <a:endParaRPr b="0" sz="1050">
              <a:solidFill>
                <a:srgbClr val="334155"/>
              </a:solidFill>
              <a:latin typeface="Plus Jakarta Sans"/>
              <a:ea typeface="Plus Jakarta Sans"/>
              <a:cs typeface="Plus Jakarta Sans"/>
              <a:sym typeface="Plus Jakarta Sans"/>
            </a:endParaRPr>
          </a:p>
        </p:txBody>
      </p:sp>
      <p:sp>
        <p:nvSpPr>
          <p:cNvPr id="543" name="Google Shape;543;p24"/>
          <p:cNvSpPr txBox="1"/>
          <p:nvPr/>
        </p:nvSpPr>
        <p:spPr>
          <a:xfrm>
            <a:off x="7005637" y="1052214"/>
            <a:ext cx="4567200" cy="138600"/>
          </a:xfrm>
          <a:prstGeom prst="rect">
            <a:avLst/>
          </a:prstGeom>
          <a:noFill/>
          <a:ln>
            <a:noFill/>
          </a:ln>
        </p:spPr>
        <p:txBody>
          <a:bodyPr anchorCtr="0" anchor="t" bIns="0" lIns="133350"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SCOPE HIERARCHY MAP</a:t>
            </a:r>
            <a:endParaRPr/>
          </a:p>
        </p:txBody>
      </p:sp>
      <p:sp>
        <p:nvSpPr>
          <p:cNvPr id="544" name="Google Shape;544;p24"/>
          <p:cNvSpPr txBox="1"/>
          <p:nvPr/>
        </p:nvSpPr>
        <p:spPr>
          <a:xfrm>
            <a:off x="7005637" y="3561605"/>
            <a:ext cx="45672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545" name="Google Shape;545;p24"/>
          <p:cNvSpPr txBox="1"/>
          <p:nvPr/>
        </p:nvSpPr>
        <p:spPr>
          <a:xfrm>
            <a:off x="800100" y="24860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Knowledge items have a </a:t>
            </a:r>
            <a:r>
              <a:rPr b="1" lang="en-US" sz="1050">
                <a:solidFill>
                  <a:srgbClr val="334155"/>
                </a:solidFill>
                <a:latin typeface="Plus Jakarta Sans"/>
                <a:ea typeface="Plus Jakarta Sans"/>
                <a:cs typeface="Plus Jakarta Sans"/>
                <a:sym typeface="Plus Jakarta Sans"/>
              </a:rPr>
              <a:t>trigger description</a:t>
            </a:r>
            <a:r>
              <a:rPr b="0" lang="en-US" sz="1050">
                <a:solidFill>
                  <a:srgbClr val="334155"/>
                </a:solidFill>
                <a:latin typeface="Plus Jakarta Sans"/>
                <a:ea typeface="Plus Jakarta Sans"/>
                <a:cs typeface="Plus Jakarta Sans"/>
                <a:sym typeface="Plus Jakarta Sans"/>
              </a:rPr>
              <a:t> — a phrase or sentence that tells Devin when to retrieve the item</a:t>
            </a:r>
            <a:endParaRPr b="0" sz="1050">
              <a:solidFill>
                <a:srgbClr val="334155"/>
              </a:solidFill>
              <a:latin typeface="Plus Jakarta Sans"/>
              <a:ea typeface="Plus Jakarta Sans"/>
              <a:cs typeface="Plus Jakarta Sans"/>
              <a:sym typeface="Plus Jakarta Sans"/>
            </a:endParaRPr>
          </a:p>
        </p:txBody>
      </p:sp>
      <p:sp>
        <p:nvSpPr>
          <p:cNvPr id="546" name="Google Shape;546;p24"/>
          <p:cNvSpPr txBox="1"/>
          <p:nvPr/>
        </p:nvSpPr>
        <p:spPr>
          <a:xfrm>
            <a:off x="800100" y="29051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Devin retrieves Knowledge </a:t>
            </a:r>
            <a:r>
              <a:rPr b="1" lang="en-US" sz="1050">
                <a:solidFill>
                  <a:srgbClr val="334155"/>
                </a:solidFill>
                <a:latin typeface="Plus Jakarta Sans"/>
                <a:ea typeface="Plus Jakarta Sans"/>
                <a:cs typeface="Plus Jakarta Sans"/>
                <a:sym typeface="Plus Jakarta Sans"/>
              </a:rPr>
              <a:t>automatically</a:t>
            </a:r>
            <a:r>
              <a:rPr b="0" lang="en-US" sz="1050">
                <a:solidFill>
                  <a:srgbClr val="334155"/>
                </a:solidFill>
                <a:latin typeface="Plus Jakarta Sans"/>
                <a:ea typeface="Plus Jakarta Sans"/>
                <a:cs typeface="Plus Jakarta Sans"/>
                <a:sym typeface="Plus Jakarta Sans"/>
              </a:rPr>
              <a:t> when its current work is related to the trigger — not all at once, not all at the beginning</a:t>
            </a:r>
            <a:endParaRPr b="0" sz="1050">
              <a:solidFill>
                <a:srgbClr val="334155"/>
              </a:solidFill>
              <a:latin typeface="Plus Jakarta Sans"/>
              <a:ea typeface="Plus Jakarta Sans"/>
              <a:cs typeface="Plus Jakarta Sans"/>
              <a:sym typeface="Plus Jakarta Sans"/>
            </a:endParaRPr>
          </a:p>
        </p:txBody>
      </p:sp>
      <p:sp>
        <p:nvSpPr>
          <p:cNvPr id="547" name="Google Shape;547;p24"/>
          <p:cNvSpPr txBox="1"/>
          <p:nvPr/>
        </p:nvSpPr>
        <p:spPr>
          <a:xfrm>
            <a:off x="800100" y="3324225"/>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Knowledge can be </a:t>
            </a:r>
            <a:r>
              <a:rPr b="1" lang="en-US" sz="1050">
                <a:solidFill>
                  <a:srgbClr val="334155"/>
                </a:solidFill>
                <a:latin typeface="Plus Jakarta Sans"/>
                <a:ea typeface="Plus Jakarta Sans"/>
                <a:cs typeface="Plus Jakarta Sans"/>
                <a:sym typeface="Plus Jakarta Sans"/>
              </a:rPr>
              <a:t>pinned to a specific repo</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all repos</a:t>
            </a:r>
            <a:r>
              <a:rPr b="0" lang="en-US" sz="1050">
                <a:solidFill>
                  <a:srgbClr val="334155"/>
                </a:solidFill>
                <a:latin typeface="Plus Jakarta Sans"/>
                <a:ea typeface="Plus Jakarta Sans"/>
                <a:cs typeface="Plus Jakarta Sans"/>
                <a:sym typeface="Plus Jakarta Sans"/>
              </a:rPr>
              <a:t>, or </a:t>
            </a:r>
            <a:r>
              <a:rPr b="1" lang="en-US" sz="1050">
                <a:solidFill>
                  <a:srgbClr val="334155"/>
                </a:solidFill>
                <a:latin typeface="Plus Jakarta Sans"/>
                <a:ea typeface="Plus Jakarta Sans"/>
                <a:cs typeface="Plus Jakarta Sans"/>
                <a:sym typeface="Plus Jakarta Sans"/>
              </a:rPr>
              <a:t>no repo</a:t>
            </a:r>
            <a:r>
              <a:rPr b="0" lang="en-US" sz="1050">
                <a:solidFill>
                  <a:srgbClr val="334155"/>
                </a:solidFill>
                <a:latin typeface="Plus Jakarta Sans"/>
                <a:ea typeface="Plus Jakarta Sans"/>
                <a:cs typeface="Plus Jakarta Sans"/>
                <a:sym typeface="Plus Jakarta Sans"/>
              </a:rPr>
              <a:t> (trigger-only)</a:t>
            </a:r>
            <a:endParaRPr b="0" sz="1050">
              <a:solidFill>
                <a:srgbClr val="334155"/>
              </a:solidFill>
              <a:latin typeface="Plus Jakarta Sans"/>
              <a:ea typeface="Plus Jakarta Sans"/>
              <a:cs typeface="Plus Jakarta Sans"/>
              <a:sym typeface="Plus Jakarta Sans"/>
            </a:endParaRPr>
          </a:p>
        </p:txBody>
      </p:sp>
      <p:sp>
        <p:nvSpPr>
          <p:cNvPr id="548" name="Google Shape;548;p24"/>
          <p:cNvSpPr txBox="1"/>
          <p:nvPr/>
        </p:nvSpPr>
        <p:spPr>
          <a:xfrm>
            <a:off x="800100" y="3552825"/>
            <a:ext cx="59673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Knowledge is organized in </a:t>
            </a:r>
            <a:r>
              <a:rPr b="1" lang="en-US" sz="971">
                <a:solidFill>
                  <a:srgbClr val="334155"/>
                </a:solidFill>
                <a:latin typeface="Plus Jakarta Sans"/>
                <a:ea typeface="Plus Jakarta Sans"/>
                <a:cs typeface="Plus Jakarta Sans"/>
                <a:sym typeface="Plus Jakarta Sans"/>
              </a:rPr>
              <a:t>folders</a:t>
            </a:r>
            <a:r>
              <a:rPr b="0" lang="en-US" sz="971">
                <a:solidFill>
                  <a:srgbClr val="334155"/>
                </a:solidFill>
                <a:latin typeface="Plus Jakarta Sans"/>
                <a:ea typeface="Plus Jakarta Sans"/>
                <a:cs typeface="Plus Jakarta Sans"/>
                <a:sym typeface="Plus Jakarta Sans"/>
              </a:rPr>
              <a:t> with nested hierarchy, bulk enable/disable, and auto-organize</a:t>
            </a:r>
            <a:endParaRPr b="0" sz="971">
              <a:solidFill>
                <a:srgbClr val="334155"/>
              </a:solidFill>
              <a:latin typeface="Plus Jakarta Sans"/>
              <a:ea typeface="Plus Jakarta Sans"/>
              <a:cs typeface="Plus Jakarta Sans"/>
              <a:sym typeface="Plus Jakarta Sans"/>
            </a:endParaRPr>
          </a:p>
        </p:txBody>
      </p:sp>
      <p:sp>
        <p:nvSpPr>
          <p:cNvPr id="549" name="Google Shape;549;p24"/>
          <p:cNvSpPr txBox="1"/>
          <p:nvPr/>
        </p:nvSpPr>
        <p:spPr>
          <a:xfrm>
            <a:off x="800100" y="392430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Devin </a:t>
            </a:r>
            <a:r>
              <a:rPr b="1" lang="en-US" sz="1050">
                <a:solidFill>
                  <a:srgbClr val="334155"/>
                </a:solidFill>
                <a:latin typeface="Plus Jakarta Sans"/>
                <a:ea typeface="Plus Jakarta Sans"/>
                <a:cs typeface="Plus Jakarta Sans"/>
                <a:sym typeface="Plus Jakarta Sans"/>
              </a:rPr>
              <a:t>suggests new Knowledge</a:t>
            </a:r>
            <a:r>
              <a:rPr b="0" lang="en-US" sz="1050">
                <a:solidFill>
                  <a:srgbClr val="334155"/>
                </a:solidFill>
                <a:latin typeface="Plus Jakarta Sans"/>
                <a:ea typeface="Plus Jakarta Sans"/>
                <a:cs typeface="Plus Jakarta Sans"/>
                <a:sym typeface="Plus Jakarta Sans"/>
              </a:rPr>
              <a:t> based on session feedback — engineers review and approve</a:t>
            </a:r>
            <a:endParaRPr b="0" sz="1050">
              <a:solidFill>
                <a:srgbClr val="334155"/>
              </a:solidFill>
              <a:latin typeface="Plus Jakarta Sans"/>
              <a:ea typeface="Plus Jakarta Sans"/>
              <a:cs typeface="Plus Jakarta Sans"/>
              <a:sym typeface="Plus Jakarta Sans"/>
            </a:endParaRPr>
          </a:p>
        </p:txBody>
      </p:sp>
      <p:sp>
        <p:nvSpPr>
          <p:cNvPr id="550" name="Google Shape;550;p24"/>
          <p:cNvSpPr txBox="1"/>
          <p:nvPr/>
        </p:nvSpPr>
        <p:spPr>
          <a:xfrm>
            <a:off x="800100" y="429577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Enterprise Knowledge applies </a:t>
            </a:r>
            <a:r>
              <a:rPr b="1" lang="en-US" sz="1050">
                <a:solidFill>
                  <a:srgbClr val="334155"/>
                </a:solidFill>
                <a:latin typeface="Plus Jakarta Sans"/>
                <a:ea typeface="Plus Jakarta Sans"/>
                <a:cs typeface="Plus Jakarta Sans"/>
                <a:sym typeface="Plus Jakarta Sans"/>
              </a:rPr>
              <a:t>across all organizations</a:t>
            </a:r>
            <a:r>
              <a:rPr b="0" lang="en-US" sz="1050">
                <a:solidFill>
                  <a:srgbClr val="334155"/>
                </a:solidFill>
                <a:latin typeface="Plus Jakarta Sans"/>
                <a:ea typeface="Plus Jakarta Sans"/>
                <a:cs typeface="Plus Jakarta Sans"/>
                <a:sym typeface="Plus Jakarta Sans"/>
              </a:rPr>
              <a:t> in an enterprise; Organization Knowledge applies within one org</a:t>
            </a:r>
            <a:endParaRPr b="0" sz="1050">
              <a:solidFill>
                <a:srgbClr val="334155"/>
              </a:solidFill>
              <a:latin typeface="Plus Jakarta Sans"/>
              <a:ea typeface="Plus Jakarta Sans"/>
              <a:cs typeface="Plus Jakarta Sans"/>
              <a:sym typeface="Plus Jakarta Sans"/>
            </a:endParaRPr>
          </a:p>
        </p:txBody>
      </p:sp>
      <p:pic>
        <p:nvPicPr>
          <p:cNvPr descr="image.png" id="551" name="Google Shape;551;p24"/>
          <p:cNvPicPr preferRelativeResize="0"/>
          <p:nvPr/>
        </p:nvPicPr>
        <p:blipFill rotWithShape="1">
          <a:blip r:embed="rId9">
            <a:alphaModFix/>
          </a:blip>
          <a:srcRect b="0" l="0" r="0" t="0"/>
          <a:stretch/>
        </p:blipFill>
        <p:spPr>
          <a:xfrm>
            <a:off x="8509099" y="1071264"/>
            <a:ext cx="133350" cy="114300"/>
          </a:xfrm>
          <a:prstGeom prst="rect">
            <a:avLst/>
          </a:prstGeom>
          <a:noFill/>
          <a:ln>
            <a:noFill/>
          </a:ln>
        </p:spPr>
      </p:pic>
      <p:sp>
        <p:nvSpPr>
          <p:cNvPr id="552" name="Google Shape;552;p24"/>
          <p:cNvSpPr txBox="1"/>
          <p:nvPr/>
        </p:nvSpPr>
        <p:spPr>
          <a:xfrm>
            <a:off x="7234237" y="3751510"/>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Create specific, targeted Knowledge items — one workflow or action per item</a:t>
            </a:r>
            <a:endParaRPr/>
          </a:p>
        </p:txBody>
      </p:sp>
      <p:sp>
        <p:nvSpPr>
          <p:cNvPr id="553" name="Google Shape;553;p24"/>
          <p:cNvSpPr txBox="1"/>
          <p:nvPr/>
        </p:nvSpPr>
        <p:spPr>
          <a:xfrm>
            <a:off x="7234237" y="4200971"/>
            <a:ext cx="43386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Make trigger descriptions highly relevant to the content</a:t>
            </a:r>
            <a:endParaRPr/>
          </a:p>
        </p:txBody>
      </p:sp>
      <p:sp>
        <p:nvSpPr>
          <p:cNvPr id="554" name="Google Shape;554;p24"/>
          <p:cNvSpPr txBox="1"/>
          <p:nvPr/>
        </p:nvSpPr>
        <p:spPr>
          <a:xfrm>
            <a:off x="7234237" y="4463801"/>
            <a:ext cx="43386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folders to organize by team, project, or workflow</a:t>
            </a:r>
            <a:endParaRPr/>
          </a:p>
        </p:txBody>
      </p:sp>
      <p:sp>
        <p:nvSpPr>
          <p:cNvPr id="555" name="Google Shape;555;p24"/>
          <p:cNvSpPr txBox="1"/>
          <p:nvPr/>
        </p:nvSpPr>
        <p:spPr>
          <a:xfrm>
            <a:off x="7234237" y="4726632"/>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Regularly review and update Knowledge — stale Knowledge degrades quality</a:t>
            </a:r>
            <a:endParaRPr/>
          </a:p>
        </p:txBody>
      </p:sp>
      <p:sp>
        <p:nvSpPr>
          <p:cNvPr id="556" name="Google Shape;556;p24"/>
          <p:cNvSpPr txBox="1"/>
          <p:nvPr/>
        </p:nvSpPr>
        <p:spPr>
          <a:xfrm>
            <a:off x="7234237" y="5176093"/>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Promote high-value Organization Knowledge to Enterprise Knowledge</a:t>
            </a:r>
            <a:endParaRPr/>
          </a:p>
        </p:txBody>
      </p:sp>
      <p:sp>
        <p:nvSpPr>
          <p:cNvPr id="557" name="Google Shape;557;p24"/>
          <p:cNvSpPr txBox="1"/>
          <p:nvPr/>
        </p:nvSpPr>
        <p:spPr>
          <a:xfrm>
            <a:off x="7234237" y="5438923"/>
            <a:ext cx="4338600" cy="1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macros (`!deploy-checklist`) for frequently referenced items</a:t>
            </a:r>
            <a:endParaRPr/>
          </a:p>
        </p:txBody>
      </p:sp>
      <p:sp>
        <p:nvSpPr>
          <p:cNvPr id="558" name="Google Shape;558;p24"/>
          <p:cNvSpPr txBox="1"/>
          <p:nvPr/>
        </p:nvSpPr>
        <p:spPr>
          <a:xfrm>
            <a:off x="8736062" y="1408360"/>
            <a:ext cx="11061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Knowledge</a:t>
            </a:r>
            <a:endParaRPr/>
          </a:p>
        </p:txBody>
      </p:sp>
      <p:sp>
        <p:nvSpPr>
          <p:cNvPr id="559" name="Google Shape;559;p24"/>
          <p:cNvSpPr txBox="1"/>
          <p:nvPr/>
        </p:nvSpPr>
        <p:spPr>
          <a:xfrm>
            <a:off x="7110412" y="1546621"/>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All organizations, all repositories</a:t>
            </a:r>
            <a:endParaRPr/>
          </a:p>
        </p:txBody>
      </p:sp>
      <p:sp>
        <p:nvSpPr>
          <p:cNvPr id="560" name="Google Shape;560;p24"/>
          <p:cNvSpPr txBox="1"/>
          <p:nvPr/>
        </p:nvSpPr>
        <p:spPr>
          <a:xfrm>
            <a:off x="8675042" y="1960959"/>
            <a:ext cx="12282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7C3AED"/>
                </a:solidFill>
                <a:latin typeface="Plus Jakarta Sans"/>
                <a:ea typeface="Plus Jakarta Sans"/>
                <a:cs typeface="Plus Jakarta Sans"/>
                <a:sym typeface="Plus Jakarta Sans"/>
              </a:rPr>
              <a:t>Organization Knowledge</a:t>
            </a:r>
            <a:endParaRPr/>
          </a:p>
        </p:txBody>
      </p:sp>
      <p:sp>
        <p:nvSpPr>
          <p:cNvPr id="561" name="Google Shape;561;p24"/>
          <p:cNvSpPr txBox="1"/>
          <p:nvPr/>
        </p:nvSpPr>
        <p:spPr>
          <a:xfrm>
            <a:off x="7110412" y="2099220"/>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One organization, all repositories</a:t>
            </a:r>
            <a:endParaRPr/>
          </a:p>
        </p:txBody>
      </p:sp>
      <p:sp>
        <p:nvSpPr>
          <p:cNvPr id="562" name="Google Shape;562;p24"/>
          <p:cNvSpPr txBox="1"/>
          <p:nvPr/>
        </p:nvSpPr>
        <p:spPr>
          <a:xfrm>
            <a:off x="8675042" y="2513558"/>
            <a:ext cx="12282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Repo-pinned Knowledge</a:t>
            </a:r>
            <a:endParaRPr/>
          </a:p>
        </p:txBody>
      </p:sp>
      <p:sp>
        <p:nvSpPr>
          <p:cNvPr id="563" name="Google Shape;563;p24"/>
          <p:cNvSpPr txBox="1"/>
          <p:nvPr/>
        </p:nvSpPr>
        <p:spPr>
          <a:xfrm>
            <a:off x="7110412" y="2651819"/>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One specific repository</a:t>
            </a:r>
            <a:endParaRPr/>
          </a:p>
        </p:txBody>
      </p:sp>
      <p:sp>
        <p:nvSpPr>
          <p:cNvPr id="564" name="Google Shape;564;p24"/>
          <p:cNvSpPr txBox="1"/>
          <p:nvPr/>
        </p:nvSpPr>
        <p:spPr>
          <a:xfrm>
            <a:off x="8692455" y="3066157"/>
            <a:ext cx="1193400" cy="298200"/>
          </a:xfrm>
          <a:prstGeom prst="rect">
            <a:avLst/>
          </a:prstGeom>
          <a:noFill/>
          <a:ln>
            <a:noFill/>
          </a:ln>
        </p:spPr>
        <p:txBody>
          <a:bodyPr anchorCtr="0" anchor="t" bIns="0" lIns="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475569"/>
                </a:solidFill>
                <a:latin typeface="Plus Jakarta Sans"/>
                <a:ea typeface="Plus Jakarta Sans"/>
                <a:cs typeface="Plus Jakarta Sans"/>
                <a:sym typeface="Plus Jakarta Sans"/>
              </a:rPr>
              <a:t>Trigger-only Knowledge</a:t>
            </a:r>
            <a:endParaRPr/>
          </a:p>
        </p:txBody>
      </p:sp>
      <p:sp>
        <p:nvSpPr>
          <p:cNvPr id="565" name="Google Shape;565;p24"/>
          <p:cNvSpPr txBox="1"/>
          <p:nvPr/>
        </p:nvSpPr>
        <p:spPr>
          <a:xfrm>
            <a:off x="7110412" y="3204418"/>
            <a:ext cx="4357800" cy="115500"/>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Retrieved when contextually relevant</a:t>
            </a:r>
            <a:endParaRPr/>
          </a:p>
        </p:txBody>
      </p:sp>
      <p:pic>
        <p:nvPicPr>
          <p:cNvPr id="566" name="Google Shape;566;p24"/>
          <p:cNvPicPr preferRelativeResize="0"/>
          <p:nvPr/>
        </p:nvPicPr>
        <p:blipFill rotWithShape="1">
          <a:blip r:embed="rId10">
            <a:alphaModFix/>
          </a:blip>
          <a:srcRect b="0" l="0" r="0" t="0"/>
          <a:stretch/>
        </p:blipFill>
        <p:spPr>
          <a:xfrm>
            <a:off x="571500" y="2514600"/>
            <a:ext cx="57300" cy="95400"/>
          </a:xfrm>
          <a:prstGeom prst="rect">
            <a:avLst/>
          </a:prstGeom>
          <a:noFill/>
          <a:ln>
            <a:noFill/>
          </a:ln>
        </p:spPr>
      </p:pic>
      <p:pic>
        <p:nvPicPr>
          <p:cNvPr id="567" name="Google Shape;567;p24"/>
          <p:cNvPicPr preferRelativeResize="0"/>
          <p:nvPr/>
        </p:nvPicPr>
        <p:blipFill rotWithShape="1">
          <a:blip r:embed="rId10">
            <a:alphaModFix/>
          </a:blip>
          <a:srcRect b="0" l="0" r="0" t="0"/>
          <a:stretch/>
        </p:blipFill>
        <p:spPr>
          <a:xfrm>
            <a:off x="571500" y="2933700"/>
            <a:ext cx="57300" cy="95400"/>
          </a:xfrm>
          <a:prstGeom prst="rect">
            <a:avLst/>
          </a:prstGeom>
          <a:noFill/>
          <a:ln>
            <a:noFill/>
          </a:ln>
        </p:spPr>
      </p:pic>
      <p:pic>
        <p:nvPicPr>
          <p:cNvPr id="568" name="Google Shape;568;p24"/>
          <p:cNvPicPr preferRelativeResize="0"/>
          <p:nvPr/>
        </p:nvPicPr>
        <p:blipFill rotWithShape="1">
          <a:blip r:embed="rId10">
            <a:alphaModFix/>
          </a:blip>
          <a:srcRect b="0" l="0" r="0" t="0"/>
          <a:stretch/>
        </p:blipFill>
        <p:spPr>
          <a:xfrm>
            <a:off x="571500" y="3352800"/>
            <a:ext cx="57300" cy="95400"/>
          </a:xfrm>
          <a:prstGeom prst="rect">
            <a:avLst/>
          </a:prstGeom>
          <a:noFill/>
          <a:ln>
            <a:noFill/>
          </a:ln>
        </p:spPr>
      </p:pic>
      <p:pic>
        <p:nvPicPr>
          <p:cNvPr id="569" name="Google Shape;569;p24"/>
          <p:cNvPicPr preferRelativeResize="0"/>
          <p:nvPr/>
        </p:nvPicPr>
        <p:blipFill rotWithShape="1">
          <a:blip r:embed="rId10">
            <a:alphaModFix/>
          </a:blip>
          <a:srcRect b="0" l="0" r="0" t="0"/>
          <a:stretch/>
        </p:blipFill>
        <p:spPr>
          <a:xfrm>
            <a:off x="571500" y="3581400"/>
            <a:ext cx="57300" cy="95400"/>
          </a:xfrm>
          <a:prstGeom prst="rect">
            <a:avLst/>
          </a:prstGeom>
          <a:noFill/>
          <a:ln>
            <a:noFill/>
          </a:ln>
        </p:spPr>
      </p:pic>
      <p:pic>
        <p:nvPicPr>
          <p:cNvPr id="570" name="Google Shape;570;p24"/>
          <p:cNvPicPr preferRelativeResize="0"/>
          <p:nvPr/>
        </p:nvPicPr>
        <p:blipFill rotWithShape="1">
          <a:blip r:embed="rId10">
            <a:alphaModFix/>
          </a:blip>
          <a:srcRect b="0" l="0" r="0" t="0"/>
          <a:stretch/>
        </p:blipFill>
        <p:spPr>
          <a:xfrm>
            <a:off x="571500" y="3952875"/>
            <a:ext cx="57300" cy="95400"/>
          </a:xfrm>
          <a:prstGeom prst="rect">
            <a:avLst/>
          </a:prstGeom>
          <a:noFill/>
          <a:ln>
            <a:noFill/>
          </a:ln>
        </p:spPr>
      </p:pic>
      <p:pic>
        <p:nvPicPr>
          <p:cNvPr id="571" name="Google Shape;571;p24"/>
          <p:cNvPicPr preferRelativeResize="0"/>
          <p:nvPr/>
        </p:nvPicPr>
        <p:blipFill rotWithShape="1">
          <a:blip r:embed="rId10">
            <a:alphaModFix/>
          </a:blip>
          <a:srcRect b="0" l="0" r="0" t="0"/>
          <a:stretch/>
        </p:blipFill>
        <p:spPr>
          <a:xfrm>
            <a:off x="571500" y="4324350"/>
            <a:ext cx="57300" cy="95400"/>
          </a:xfrm>
          <a:prstGeom prst="rect">
            <a:avLst/>
          </a:prstGeom>
          <a:noFill/>
          <a:ln>
            <a:noFill/>
          </a:ln>
        </p:spPr>
      </p:pic>
      <p:pic>
        <p:nvPicPr>
          <p:cNvPr descr="image.png" id="572" name="Google Shape;572;p24"/>
          <p:cNvPicPr preferRelativeResize="0"/>
          <p:nvPr/>
        </p:nvPicPr>
        <p:blipFill rotWithShape="1">
          <a:blip r:embed="rId11">
            <a:alphaModFix/>
          </a:blip>
          <a:srcRect b="0" l="0" r="0" t="0"/>
          <a:stretch/>
        </p:blipFill>
        <p:spPr>
          <a:xfrm>
            <a:off x="7005637" y="3775323"/>
            <a:ext cx="133350" cy="142875"/>
          </a:xfrm>
          <a:prstGeom prst="rect">
            <a:avLst/>
          </a:prstGeom>
          <a:noFill/>
          <a:ln>
            <a:noFill/>
          </a:ln>
        </p:spPr>
      </p:pic>
      <p:pic>
        <p:nvPicPr>
          <p:cNvPr descr="image.png" id="573" name="Google Shape;573;p24"/>
          <p:cNvPicPr preferRelativeResize="0"/>
          <p:nvPr/>
        </p:nvPicPr>
        <p:blipFill rotWithShape="1">
          <a:blip r:embed="rId12">
            <a:alphaModFix/>
          </a:blip>
          <a:srcRect b="0" l="0" r="0" t="0"/>
          <a:stretch/>
        </p:blipFill>
        <p:spPr>
          <a:xfrm>
            <a:off x="7005637" y="4224783"/>
            <a:ext cx="114300" cy="142875"/>
          </a:xfrm>
          <a:prstGeom prst="rect">
            <a:avLst/>
          </a:prstGeom>
          <a:noFill/>
          <a:ln>
            <a:noFill/>
          </a:ln>
        </p:spPr>
      </p:pic>
      <p:pic>
        <p:nvPicPr>
          <p:cNvPr descr="image.png" id="574" name="Google Shape;574;p24"/>
          <p:cNvPicPr preferRelativeResize="0"/>
          <p:nvPr/>
        </p:nvPicPr>
        <p:blipFill rotWithShape="1">
          <a:blip r:embed="rId13">
            <a:alphaModFix/>
          </a:blip>
          <a:srcRect b="0" l="0" r="0" t="0"/>
          <a:stretch/>
        </p:blipFill>
        <p:spPr>
          <a:xfrm>
            <a:off x="7005637" y="4487614"/>
            <a:ext cx="152400" cy="142875"/>
          </a:xfrm>
          <a:prstGeom prst="rect">
            <a:avLst/>
          </a:prstGeom>
          <a:noFill/>
          <a:ln>
            <a:noFill/>
          </a:ln>
        </p:spPr>
      </p:pic>
      <p:pic>
        <p:nvPicPr>
          <p:cNvPr descr="image.png" id="575" name="Google Shape;575;p24"/>
          <p:cNvPicPr preferRelativeResize="0"/>
          <p:nvPr/>
        </p:nvPicPr>
        <p:blipFill rotWithShape="1">
          <a:blip r:embed="rId14">
            <a:alphaModFix/>
          </a:blip>
          <a:srcRect b="0" l="0" r="0" t="0"/>
          <a:stretch/>
        </p:blipFill>
        <p:spPr>
          <a:xfrm>
            <a:off x="7005637" y="4750444"/>
            <a:ext cx="133350" cy="142875"/>
          </a:xfrm>
          <a:prstGeom prst="rect">
            <a:avLst/>
          </a:prstGeom>
          <a:noFill/>
          <a:ln>
            <a:noFill/>
          </a:ln>
        </p:spPr>
      </p:pic>
      <p:pic>
        <p:nvPicPr>
          <p:cNvPr descr="image.png" id="576" name="Google Shape;576;p24"/>
          <p:cNvPicPr preferRelativeResize="0"/>
          <p:nvPr/>
        </p:nvPicPr>
        <p:blipFill rotWithShape="1">
          <a:blip r:embed="rId15">
            <a:alphaModFix/>
          </a:blip>
          <a:srcRect b="0" l="0" r="0" t="0"/>
          <a:stretch/>
        </p:blipFill>
        <p:spPr>
          <a:xfrm>
            <a:off x="7005637" y="5199905"/>
            <a:ext cx="133350" cy="142875"/>
          </a:xfrm>
          <a:prstGeom prst="rect">
            <a:avLst/>
          </a:prstGeom>
          <a:noFill/>
          <a:ln>
            <a:noFill/>
          </a:ln>
        </p:spPr>
      </p:pic>
      <p:pic>
        <p:nvPicPr>
          <p:cNvPr descr="image.png" id="577" name="Google Shape;577;p24"/>
          <p:cNvPicPr preferRelativeResize="0"/>
          <p:nvPr/>
        </p:nvPicPr>
        <p:blipFill rotWithShape="1">
          <a:blip r:embed="rId16">
            <a:alphaModFix/>
          </a:blip>
          <a:srcRect b="0" l="0" r="0" t="0"/>
          <a:stretch/>
        </p:blipFill>
        <p:spPr>
          <a:xfrm>
            <a:off x="7005637" y="5462736"/>
            <a:ext cx="171450" cy="142875"/>
          </a:xfrm>
          <a:prstGeom prst="rect">
            <a:avLst/>
          </a:prstGeom>
          <a:noFill/>
          <a:ln>
            <a:noFill/>
          </a:ln>
        </p:spPr>
      </p:pic>
      <p:sp>
        <p:nvSpPr>
          <p:cNvPr id="578" name="Google Shape;578;p24"/>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Knowledge</a:t>
            </a:r>
            <a:endParaRPr/>
          </a:p>
        </p:txBody>
      </p:sp>
      <p:sp>
        <p:nvSpPr>
          <p:cNvPr id="579" name="Google Shape;579;p24"/>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3" name="Shape 583"/>
        <p:cNvGrpSpPr/>
        <p:nvPr/>
      </p:nvGrpSpPr>
      <p:grpSpPr>
        <a:xfrm>
          <a:off x="0" y="0"/>
          <a:ext cx="0" cy="0"/>
          <a:chOff x="0" y="0"/>
          <a:chExt cx="0" cy="0"/>
        </a:xfrm>
      </p:grpSpPr>
      <p:pic>
        <p:nvPicPr>
          <p:cNvPr descr="image.png" id="584" name="Google Shape;584;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85" name="Google Shape;585;p25"/>
          <p:cNvPicPr preferRelativeResize="0"/>
          <p:nvPr/>
        </p:nvPicPr>
        <p:blipFill rotWithShape="1">
          <a:blip r:embed="rId4">
            <a:alphaModFix/>
          </a:blip>
          <a:srcRect b="0" l="0" r="0" t="0"/>
          <a:stretch/>
        </p:blipFill>
        <p:spPr>
          <a:xfrm>
            <a:off x="7005637" y="1570136"/>
            <a:ext cx="4567237" cy="2217539"/>
          </a:xfrm>
          <a:prstGeom prst="rect">
            <a:avLst/>
          </a:prstGeom>
          <a:noFill/>
          <a:ln>
            <a:noFill/>
          </a:ln>
        </p:spPr>
      </p:pic>
      <p:pic>
        <p:nvPicPr>
          <p:cNvPr descr="image.png" id="586" name="Google Shape;586;p25"/>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587" name="Google Shape;587;p25"/>
          <p:cNvSpPr txBox="1"/>
          <p:nvPr/>
        </p:nvSpPr>
        <p:spPr>
          <a:xfrm>
            <a:off x="571500" y="104775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PURPOSE:</a:t>
            </a:r>
            <a:endParaRPr b="1" sz="750">
              <a:solidFill>
                <a:srgbClr val="2563EB"/>
              </a:solidFill>
              <a:latin typeface="Plus Jakarta Sans"/>
              <a:ea typeface="Plus Jakarta Sans"/>
              <a:cs typeface="Plus Jakarta Sans"/>
              <a:sym typeface="Plus Jakarta Sans"/>
            </a:endParaRPr>
          </a:p>
        </p:txBody>
      </p:sp>
      <p:sp>
        <p:nvSpPr>
          <p:cNvPr id="588" name="Google Shape;588;p25"/>
          <p:cNvSpPr txBox="1"/>
          <p:nvPr/>
        </p:nvSpPr>
        <p:spPr>
          <a:xfrm>
            <a:off x="571500" y="1219200"/>
            <a:ext cx="61959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Teach Devin reusable, step-by-step procedures that it follows consistently every time.</a:t>
            </a:r>
            <a:endParaRPr b="0" sz="1050">
              <a:solidFill>
                <a:srgbClr val="334155"/>
              </a:solidFill>
              <a:latin typeface="Plus Jakarta Sans"/>
              <a:ea typeface="Plus Jakarta Sans"/>
              <a:cs typeface="Plus Jakarta Sans"/>
              <a:sym typeface="Plus Jakarta Sans"/>
            </a:endParaRPr>
          </a:p>
        </p:txBody>
      </p:sp>
      <p:sp>
        <p:nvSpPr>
          <p:cNvPr id="589" name="Google Shape;589;p25"/>
          <p:cNvSpPr txBox="1"/>
          <p:nvPr/>
        </p:nvSpPr>
        <p:spPr>
          <a:xfrm>
            <a:off x="571500" y="146685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WHY IT EXISTS:</a:t>
            </a:r>
            <a:endParaRPr b="1" sz="750">
              <a:solidFill>
                <a:srgbClr val="2563EB"/>
              </a:solidFill>
              <a:latin typeface="Plus Jakarta Sans"/>
              <a:ea typeface="Plus Jakarta Sans"/>
              <a:cs typeface="Plus Jakarta Sans"/>
              <a:sym typeface="Plus Jakarta Sans"/>
            </a:endParaRPr>
          </a:p>
        </p:txBody>
      </p:sp>
      <p:sp>
        <p:nvSpPr>
          <p:cNvPr id="590" name="Google Shape;590;p25"/>
          <p:cNvSpPr txBox="1"/>
          <p:nvPr/>
        </p:nvSpPr>
        <p:spPr>
          <a:xfrm>
            <a:off x="571500" y="1628775"/>
            <a:ext cx="61959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Without Skills, Devin must figure out workflows from scratch every session. Skills encode procedures once — how to test, how to deploy, how to investigate — and Devin follows them reliably.</a:t>
            </a:r>
            <a:endParaRPr b="0" sz="1050">
              <a:solidFill>
                <a:srgbClr val="334155"/>
              </a:solidFill>
              <a:latin typeface="Plus Jakarta Sans"/>
              <a:ea typeface="Plus Jakarta Sans"/>
              <a:cs typeface="Plus Jakarta Sans"/>
              <a:sym typeface="Plus Jakarta Sans"/>
            </a:endParaRPr>
          </a:p>
        </p:txBody>
      </p:sp>
      <p:sp>
        <p:nvSpPr>
          <p:cNvPr id="591" name="Google Shape;591;p25"/>
          <p:cNvSpPr txBox="1"/>
          <p:nvPr/>
        </p:nvSpPr>
        <p:spPr>
          <a:xfrm>
            <a:off x="571500" y="2247900"/>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INTERNAL CONCEPT:</a:t>
            </a:r>
            <a:endParaRPr b="1" sz="750">
              <a:solidFill>
                <a:srgbClr val="2563EB"/>
              </a:solidFill>
              <a:latin typeface="Plus Jakarta Sans"/>
              <a:ea typeface="Plus Jakarta Sans"/>
              <a:cs typeface="Plus Jakarta Sans"/>
              <a:sym typeface="Plus Jakarta Sans"/>
            </a:endParaRPr>
          </a:p>
        </p:txBody>
      </p:sp>
      <p:sp>
        <p:nvSpPr>
          <p:cNvPr id="592" name="Google Shape;592;p25"/>
          <p:cNvSpPr txBox="1"/>
          <p:nvPr/>
        </p:nvSpPr>
        <p:spPr>
          <a:xfrm>
            <a:off x="571500" y="4810125"/>
            <a:ext cx="6195900" cy="1155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750">
                <a:solidFill>
                  <a:srgbClr val="2563EB"/>
                </a:solidFill>
                <a:latin typeface="Plus Jakarta Sans"/>
                <a:ea typeface="Plus Jakarta Sans"/>
                <a:cs typeface="Plus Jakarta Sans"/>
                <a:sym typeface="Plus Jakarta Sans"/>
              </a:rPr>
              <a:t>ENTERPRISE USE CASE:</a:t>
            </a:r>
            <a:endParaRPr b="1" sz="750">
              <a:solidFill>
                <a:srgbClr val="2563EB"/>
              </a:solidFill>
              <a:latin typeface="Plus Jakarta Sans"/>
              <a:ea typeface="Plus Jakarta Sans"/>
              <a:cs typeface="Plus Jakarta Sans"/>
              <a:sym typeface="Plus Jakarta Sans"/>
            </a:endParaRPr>
          </a:p>
        </p:txBody>
      </p:sp>
      <p:sp>
        <p:nvSpPr>
          <p:cNvPr id="593" name="Google Shape;593;p25"/>
          <p:cNvSpPr txBox="1"/>
          <p:nvPr/>
        </p:nvSpPr>
        <p:spPr>
          <a:xfrm>
            <a:off x="571500" y="4972050"/>
            <a:ext cx="6195900" cy="4848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Every repository has a `test-before-pr` skill. Before Devin opens any PR touching frontend code, it automatically runs the dev server, checks affected pages, runs lint and tests, and includes screenshots in the PR description — consistently, every time.</a:t>
            </a:r>
            <a:endParaRPr b="0" sz="1050">
              <a:solidFill>
                <a:srgbClr val="334155"/>
              </a:solidFill>
              <a:latin typeface="Plus Jakarta Sans"/>
              <a:ea typeface="Plus Jakarta Sans"/>
              <a:cs typeface="Plus Jakarta Sans"/>
              <a:sym typeface="Plus Jakarta Sans"/>
            </a:endParaRPr>
          </a:p>
        </p:txBody>
      </p:sp>
      <p:sp>
        <p:nvSpPr>
          <p:cNvPr id="594" name="Google Shape;594;p25"/>
          <p:cNvSpPr txBox="1"/>
          <p:nvPr/>
        </p:nvSpPr>
        <p:spPr>
          <a:xfrm>
            <a:off x="7005637" y="1361182"/>
            <a:ext cx="4567200" cy="126900"/>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SKILLS VS. PLAYBOOKS</a:t>
            </a:r>
            <a:endParaRPr/>
          </a:p>
        </p:txBody>
      </p:sp>
      <p:sp>
        <p:nvSpPr>
          <p:cNvPr id="595" name="Google Shape;595;p25"/>
          <p:cNvSpPr txBox="1"/>
          <p:nvPr/>
        </p:nvSpPr>
        <p:spPr>
          <a:xfrm>
            <a:off x="7005637" y="4385518"/>
            <a:ext cx="45672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596" name="Google Shape;596;p25"/>
          <p:cNvSpPr txBox="1"/>
          <p:nvPr/>
        </p:nvSpPr>
        <p:spPr>
          <a:xfrm>
            <a:off x="800100" y="243840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Skills are `SKILL.md` files committed to repositories at `.agents/skills/SKILL.md`</a:t>
            </a:r>
            <a:endParaRPr b="0" sz="1050">
              <a:solidFill>
                <a:srgbClr val="334155"/>
              </a:solidFill>
              <a:latin typeface="Plus Jakarta Sans"/>
              <a:ea typeface="Plus Jakarta Sans"/>
              <a:cs typeface="Plus Jakarta Sans"/>
              <a:sym typeface="Plus Jakarta Sans"/>
            </a:endParaRPr>
          </a:p>
        </p:txBody>
      </p:sp>
      <p:sp>
        <p:nvSpPr>
          <p:cNvPr id="597" name="Google Shape;597;p25"/>
          <p:cNvSpPr txBox="1"/>
          <p:nvPr/>
        </p:nvSpPr>
        <p:spPr>
          <a:xfrm>
            <a:off x="800100" y="2667000"/>
            <a:ext cx="59673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They follow the open </a:t>
            </a:r>
            <a:r>
              <a:rPr b="1" lang="en-US" sz="971">
                <a:solidFill>
                  <a:srgbClr val="334155"/>
                </a:solidFill>
                <a:latin typeface="Plus Jakarta Sans"/>
                <a:ea typeface="Plus Jakarta Sans"/>
                <a:cs typeface="Plus Jakarta Sans"/>
                <a:sym typeface="Plus Jakarta Sans"/>
              </a:rPr>
              <a:t>Agent Skills standard</a:t>
            </a:r>
            <a:r>
              <a:rPr b="0" lang="en-US" sz="971">
                <a:solidFill>
                  <a:srgbClr val="334155"/>
                </a:solidFill>
                <a:latin typeface="Plus Jakarta Sans"/>
                <a:ea typeface="Plus Jakarta Sans"/>
                <a:cs typeface="Plus Jakarta Sans"/>
                <a:sym typeface="Plus Jakarta Sans"/>
              </a:rPr>
              <a:t> (agentskills.io), making them portable across AI tools</a:t>
            </a:r>
            <a:endParaRPr b="0" sz="971">
              <a:solidFill>
                <a:srgbClr val="334155"/>
              </a:solidFill>
              <a:latin typeface="Plus Jakarta Sans"/>
              <a:ea typeface="Plus Jakarta Sans"/>
              <a:cs typeface="Plus Jakarta Sans"/>
              <a:sym typeface="Plus Jakarta Sans"/>
            </a:endParaRPr>
          </a:p>
        </p:txBody>
      </p:sp>
      <p:sp>
        <p:nvSpPr>
          <p:cNvPr id="598" name="Google Shape;598;p25"/>
          <p:cNvSpPr txBox="1"/>
          <p:nvPr/>
        </p:nvSpPr>
        <p:spPr>
          <a:xfrm>
            <a:off x="800100" y="29051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Devin discovers Skills from two sources: </a:t>
            </a:r>
            <a:r>
              <a:rPr b="1" lang="en-US" sz="1050">
                <a:solidFill>
                  <a:srgbClr val="334155"/>
                </a:solidFill>
                <a:latin typeface="Plus Jakarta Sans"/>
                <a:ea typeface="Plus Jakarta Sans"/>
                <a:cs typeface="Plus Jakarta Sans"/>
                <a:sym typeface="Plus Jakarta Sans"/>
              </a:rPr>
              <a:t>indexed repos</a:t>
            </a:r>
            <a:r>
              <a:rPr b="0" lang="en-US" sz="1050">
                <a:solidFill>
                  <a:srgbClr val="334155"/>
                </a:solidFill>
                <a:latin typeface="Plus Jakarta Sans"/>
                <a:ea typeface="Plus Jakarta Sans"/>
                <a:cs typeface="Plus Jakarta Sans"/>
                <a:sym typeface="Plus Jakarta Sans"/>
              </a:rPr>
              <a:t> (available before cloning) and </a:t>
            </a:r>
            <a:r>
              <a:rPr b="1" lang="en-US" sz="1050">
                <a:solidFill>
                  <a:srgbClr val="334155"/>
                </a:solidFill>
                <a:latin typeface="Plus Jakarta Sans"/>
                <a:ea typeface="Plus Jakarta Sans"/>
                <a:cs typeface="Plus Jakarta Sans"/>
                <a:sym typeface="Plus Jakarta Sans"/>
              </a:rPr>
              <a:t>cloned repos</a:t>
            </a:r>
            <a:r>
              <a:rPr b="0" lang="en-US" sz="1050">
                <a:solidFill>
                  <a:srgbClr val="334155"/>
                </a:solidFill>
                <a:latin typeface="Plus Jakarta Sans"/>
                <a:ea typeface="Plus Jakarta Sans"/>
                <a:cs typeface="Plus Jakarta Sans"/>
                <a:sym typeface="Plus Jakarta Sans"/>
              </a:rPr>
              <a:t> (disk-scanned, always latest)</a:t>
            </a:r>
            <a:endParaRPr b="0" sz="1050">
              <a:solidFill>
                <a:srgbClr val="334155"/>
              </a:solidFill>
              <a:latin typeface="Plus Jakarta Sans"/>
              <a:ea typeface="Plus Jakarta Sans"/>
              <a:cs typeface="Plus Jakarta Sans"/>
              <a:sym typeface="Plus Jakarta Sans"/>
            </a:endParaRPr>
          </a:p>
        </p:txBody>
      </p:sp>
      <p:sp>
        <p:nvSpPr>
          <p:cNvPr id="599" name="Google Shape;599;p25"/>
          <p:cNvSpPr txBox="1"/>
          <p:nvPr/>
        </p:nvSpPr>
        <p:spPr>
          <a:xfrm>
            <a:off x="800100" y="3286125"/>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When a Skill is invoked, its body is injected into Devin's context as a system-level instruction — Devin actively follows the steps</a:t>
            </a:r>
            <a:endParaRPr b="0" sz="1050">
              <a:solidFill>
                <a:srgbClr val="334155"/>
              </a:solidFill>
              <a:latin typeface="Plus Jakarta Sans"/>
              <a:ea typeface="Plus Jakarta Sans"/>
              <a:cs typeface="Plus Jakarta Sans"/>
              <a:sym typeface="Plus Jakarta Sans"/>
            </a:endParaRPr>
          </a:p>
        </p:txBody>
      </p:sp>
      <p:sp>
        <p:nvSpPr>
          <p:cNvPr id="600" name="Google Shape;600;p25"/>
          <p:cNvSpPr txBox="1"/>
          <p:nvPr/>
        </p:nvSpPr>
        <p:spPr>
          <a:xfrm>
            <a:off x="800100" y="3667125"/>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Skills support </a:t>
            </a:r>
            <a:r>
              <a:rPr b="1" lang="en-US" sz="1050">
                <a:solidFill>
                  <a:srgbClr val="334155"/>
                </a:solidFill>
                <a:latin typeface="Plus Jakarta Sans"/>
                <a:ea typeface="Plus Jakarta Sans"/>
                <a:cs typeface="Plus Jakarta Sans"/>
                <a:sym typeface="Plus Jakarta Sans"/>
              </a:rPr>
              <a:t>dynamic content injection</a:t>
            </a:r>
            <a:r>
              <a:rPr b="0" lang="en-US" sz="1050">
                <a:solidFill>
                  <a:srgbClr val="334155"/>
                </a:solidFill>
                <a:latin typeface="Plus Jakarta Sans"/>
                <a:ea typeface="Plus Jakarta Sans"/>
                <a:cs typeface="Plus Jakarta Sans"/>
                <a:sym typeface="Plus Jakarta Sans"/>
              </a:rPr>
              <a:t> (live git info, branch names, environment data)</a:t>
            </a:r>
            <a:endParaRPr b="0" sz="1050">
              <a:solidFill>
                <a:srgbClr val="334155"/>
              </a:solidFill>
              <a:latin typeface="Plus Jakarta Sans"/>
              <a:ea typeface="Plus Jakarta Sans"/>
              <a:cs typeface="Plus Jakarta Sans"/>
              <a:sym typeface="Plus Jakarta Sans"/>
            </a:endParaRPr>
          </a:p>
        </p:txBody>
      </p:sp>
      <p:sp>
        <p:nvSpPr>
          <p:cNvPr id="601" name="Google Shape;601;p25"/>
          <p:cNvSpPr txBox="1"/>
          <p:nvPr/>
        </p:nvSpPr>
        <p:spPr>
          <a:xfrm>
            <a:off x="800100" y="390525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Skills support </a:t>
            </a:r>
            <a:r>
              <a:rPr b="1" lang="en-US" sz="1050">
                <a:solidFill>
                  <a:srgbClr val="334155"/>
                </a:solidFill>
                <a:latin typeface="Plus Jakarta Sans"/>
                <a:ea typeface="Plus Jakarta Sans"/>
                <a:cs typeface="Plus Jakarta Sans"/>
                <a:sym typeface="Plus Jakarta Sans"/>
              </a:rPr>
              <a:t>argument passing</a:t>
            </a:r>
            <a:r>
              <a:rPr b="0" lang="en-US" sz="1050">
                <a:solidFill>
                  <a:srgbClr val="334155"/>
                </a:solidFill>
                <a:latin typeface="Plus Jakarta Sans"/>
                <a:ea typeface="Plus Jakarta Sans"/>
                <a:cs typeface="Plus Jakarta Sans"/>
                <a:sym typeface="Plus Jakarta Sans"/>
              </a:rPr>
              <a:t> (`@skills:deploy staging`)</a:t>
            </a:r>
            <a:endParaRPr b="0" sz="1050">
              <a:solidFill>
                <a:srgbClr val="334155"/>
              </a:solidFill>
              <a:latin typeface="Plus Jakarta Sans"/>
              <a:ea typeface="Plus Jakarta Sans"/>
              <a:cs typeface="Plus Jakarta Sans"/>
              <a:sym typeface="Plus Jakarta Sans"/>
            </a:endParaRPr>
          </a:p>
        </p:txBody>
      </p:sp>
      <p:sp>
        <p:nvSpPr>
          <p:cNvPr id="602" name="Google Shape;602;p25"/>
          <p:cNvSpPr txBox="1"/>
          <p:nvPr/>
        </p:nvSpPr>
        <p:spPr>
          <a:xfrm>
            <a:off x="800100" y="4143375"/>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The `triggers` field controls whether Devin auto-invokes or waits for explicit invocation</a:t>
            </a:r>
            <a:endParaRPr b="0" sz="1050">
              <a:solidFill>
                <a:srgbClr val="334155"/>
              </a:solidFill>
              <a:latin typeface="Plus Jakarta Sans"/>
              <a:ea typeface="Plus Jakarta Sans"/>
              <a:cs typeface="Plus Jakarta Sans"/>
              <a:sym typeface="Plus Jakarta Sans"/>
            </a:endParaRPr>
          </a:p>
        </p:txBody>
      </p:sp>
      <p:sp>
        <p:nvSpPr>
          <p:cNvPr id="603" name="Google Shape;603;p25"/>
          <p:cNvSpPr txBox="1"/>
          <p:nvPr/>
        </p:nvSpPr>
        <p:spPr>
          <a:xfrm>
            <a:off x="800100" y="4381500"/>
            <a:ext cx="59673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The `allowed-tools` field restricts which tools Devin can use during the skill (e.g., read-only investigation)</a:t>
            </a:r>
            <a:endParaRPr b="0" sz="1050">
              <a:solidFill>
                <a:srgbClr val="334155"/>
              </a:solidFill>
              <a:latin typeface="Plus Jakarta Sans"/>
              <a:ea typeface="Plus Jakarta Sans"/>
              <a:cs typeface="Plus Jakarta Sans"/>
              <a:sym typeface="Plus Jakarta Sans"/>
            </a:endParaRPr>
          </a:p>
        </p:txBody>
      </p:sp>
      <p:pic>
        <p:nvPicPr>
          <p:cNvPr descr="image.png" id="604" name="Google Shape;604;p25"/>
          <p:cNvPicPr preferRelativeResize="0"/>
          <p:nvPr/>
        </p:nvPicPr>
        <p:blipFill rotWithShape="1">
          <a:blip r:embed="rId6">
            <a:alphaModFix/>
          </a:blip>
          <a:srcRect b="0" l="0" r="0" t="0"/>
          <a:stretch/>
        </p:blipFill>
        <p:spPr>
          <a:xfrm>
            <a:off x="8581132" y="1380232"/>
            <a:ext cx="133350" cy="104775"/>
          </a:xfrm>
          <a:prstGeom prst="rect">
            <a:avLst/>
          </a:prstGeom>
          <a:noFill/>
          <a:ln>
            <a:noFill/>
          </a:ln>
        </p:spPr>
      </p:pic>
      <p:graphicFrame>
        <p:nvGraphicFramePr>
          <p:cNvPr id="605" name="Google Shape;605;p25"/>
          <p:cNvGraphicFramePr/>
          <p:nvPr/>
        </p:nvGraphicFramePr>
        <p:xfrm>
          <a:off x="7015162" y="1579661"/>
          <a:ext cx="3000000" cy="3000000"/>
        </p:xfrm>
        <a:graphic>
          <a:graphicData uri="http://schemas.openxmlformats.org/drawingml/2006/table">
            <a:tbl>
              <a:tblPr bandRow="1" firstRow="1">
                <a:noFill/>
                <a:tableStyleId>{E657498C-50AF-47E2-8EDF-F8D5E4E2C3A4}</a:tableStyleId>
              </a:tblPr>
              <a:tblGrid>
                <a:gridCol w="838350"/>
                <a:gridCol w="1920925"/>
                <a:gridCol w="1788925"/>
              </a:tblGrid>
              <a:tr h="43970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Criteria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Skills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Playbooks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Location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 repo as `SKILL.md` (vcs-tracked)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 Devin web app UI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Trigger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Auto-discovered or `@skills:name`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Manually attached to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Scope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Repo-scoped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Org-wide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3970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Best For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Testing, deployments, workflows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Task prompts, onboarding guides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606" name="Google Shape;606;p25"/>
          <p:cNvSpPr txBox="1"/>
          <p:nvPr/>
        </p:nvSpPr>
        <p:spPr>
          <a:xfrm>
            <a:off x="7234237" y="4542680"/>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Commit Skills to repos for all repeatable workflows: testing, deployment, investigation</a:t>
            </a:r>
            <a:endParaRPr/>
          </a:p>
        </p:txBody>
      </p:sp>
      <p:sp>
        <p:nvSpPr>
          <p:cNvPr id="607" name="Google Shape;607;p25"/>
          <p:cNvSpPr txBox="1"/>
          <p:nvPr/>
        </p:nvSpPr>
        <p:spPr>
          <a:xfrm>
            <a:off x="7234237" y="4992141"/>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`triggers: ["user"]` for sensitive Skills (e.g., production deployment) to prevent auto-invocation</a:t>
            </a:r>
            <a:endParaRPr/>
          </a:p>
        </p:txBody>
      </p:sp>
      <p:sp>
        <p:nvSpPr>
          <p:cNvPr id="608" name="Google Shape;608;p25"/>
          <p:cNvSpPr txBox="1"/>
          <p:nvPr/>
        </p:nvSpPr>
        <p:spPr>
          <a:xfrm>
            <a:off x="7234237" y="5441602"/>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`allowed-tools` to restrict Skills to read-only for investigation tasks</a:t>
            </a:r>
            <a:endParaRPr/>
          </a:p>
        </p:txBody>
      </p:sp>
      <p:sp>
        <p:nvSpPr>
          <p:cNvPr id="609" name="Google Shape;609;p25"/>
          <p:cNvSpPr txBox="1"/>
          <p:nvPr/>
        </p:nvSpPr>
        <p:spPr>
          <a:xfrm>
            <a:off x="7234237" y="5704433"/>
            <a:ext cx="4338600" cy="3879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Let Devin suggest Skills — after it learns how to test or run your app, accept the suggestion</a:t>
            </a:r>
            <a:endParaRPr/>
          </a:p>
        </p:txBody>
      </p:sp>
      <p:sp>
        <p:nvSpPr>
          <p:cNvPr id="610" name="Google Shape;610;p25"/>
          <p:cNvSpPr/>
          <p:nvPr/>
        </p:nvSpPr>
        <p:spPr>
          <a:xfrm>
            <a:off x="7015162" y="1893986"/>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1" name="Google Shape;611;p25"/>
          <p:cNvSpPr/>
          <p:nvPr/>
        </p:nvSpPr>
        <p:spPr>
          <a:xfrm>
            <a:off x="7853511" y="1893986"/>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2" name="Google Shape;612;p25"/>
          <p:cNvSpPr/>
          <p:nvPr/>
        </p:nvSpPr>
        <p:spPr>
          <a:xfrm>
            <a:off x="9774435" y="1893986"/>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13" name="Google Shape;613;p25"/>
          <p:cNvSpPr txBox="1"/>
          <p:nvPr/>
        </p:nvSpPr>
        <p:spPr>
          <a:xfrm>
            <a:off x="7005637" y="3882925"/>
            <a:ext cx="2245500" cy="109500"/>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614" name="Google Shape;614;p25"/>
          <p:cNvSpPr txBox="1"/>
          <p:nvPr/>
        </p:nvSpPr>
        <p:spPr>
          <a:xfrm>
            <a:off x="7005637" y="4033093"/>
            <a:ext cx="2245500" cy="2829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Version-controlled; portable; auto-suggested; dynamic contexts</a:t>
            </a:r>
            <a:endParaRPr/>
          </a:p>
        </p:txBody>
      </p:sp>
      <p:sp>
        <p:nvSpPr>
          <p:cNvPr id="615" name="Google Shape;615;p25"/>
          <p:cNvSpPr txBox="1"/>
          <p:nvPr/>
        </p:nvSpPr>
        <p:spPr>
          <a:xfrm>
            <a:off x="9327356" y="3882925"/>
            <a:ext cx="2245500" cy="109500"/>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616" name="Google Shape;616;p25"/>
          <p:cNvSpPr txBox="1"/>
          <p:nvPr/>
        </p:nvSpPr>
        <p:spPr>
          <a:xfrm>
            <a:off x="9327356" y="4033093"/>
            <a:ext cx="2245500" cy="2829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One Skill active at a time; skills repo required for org-wide workaround</a:t>
            </a:r>
            <a:endParaRPr/>
          </a:p>
        </p:txBody>
      </p:sp>
      <p:pic>
        <p:nvPicPr>
          <p:cNvPr id="617" name="Google Shape;617;p25"/>
          <p:cNvPicPr preferRelativeResize="0"/>
          <p:nvPr/>
        </p:nvPicPr>
        <p:blipFill rotWithShape="1">
          <a:blip r:embed="rId7">
            <a:alphaModFix/>
          </a:blip>
          <a:srcRect b="0" l="0" r="0" t="0"/>
          <a:stretch/>
        </p:blipFill>
        <p:spPr>
          <a:xfrm>
            <a:off x="571500" y="2466975"/>
            <a:ext cx="57300" cy="85800"/>
          </a:xfrm>
          <a:prstGeom prst="rect">
            <a:avLst/>
          </a:prstGeom>
          <a:noFill/>
          <a:ln>
            <a:noFill/>
          </a:ln>
        </p:spPr>
      </p:pic>
      <p:pic>
        <p:nvPicPr>
          <p:cNvPr id="618" name="Google Shape;618;p25"/>
          <p:cNvPicPr preferRelativeResize="0"/>
          <p:nvPr/>
        </p:nvPicPr>
        <p:blipFill rotWithShape="1">
          <a:blip r:embed="rId7">
            <a:alphaModFix/>
          </a:blip>
          <a:srcRect b="0" l="0" r="0" t="0"/>
          <a:stretch/>
        </p:blipFill>
        <p:spPr>
          <a:xfrm>
            <a:off x="571500" y="2695575"/>
            <a:ext cx="57300" cy="85800"/>
          </a:xfrm>
          <a:prstGeom prst="rect">
            <a:avLst/>
          </a:prstGeom>
          <a:noFill/>
          <a:ln>
            <a:noFill/>
          </a:ln>
        </p:spPr>
      </p:pic>
      <p:pic>
        <p:nvPicPr>
          <p:cNvPr id="619" name="Google Shape;619;p25"/>
          <p:cNvPicPr preferRelativeResize="0"/>
          <p:nvPr/>
        </p:nvPicPr>
        <p:blipFill rotWithShape="1">
          <a:blip r:embed="rId7">
            <a:alphaModFix/>
          </a:blip>
          <a:srcRect b="0" l="0" r="0" t="0"/>
          <a:stretch/>
        </p:blipFill>
        <p:spPr>
          <a:xfrm>
            <a:off x="571500" y="2933700"/>
            <a:ext cx="57300" cy="85800"/>
          </a:xfrm>
          <a:prstGeom prst="rect">
            <a:avLst/>
          </a:prstGeom>
          <a:noFill/>
          <a:ln>
            <a:noFill/>
          </a:ln>
        </p:spPr>
      </p:pic>
      <p:pic>
        <p:nvPicPr>
          <p:cNvPr id="620" name="Google Shape;620;p25"/>
          <p:cNvPicPr preferRelativeResize="0"/>
          <p:nvPr/>
        </p:nvPicPr>
        <p:blipFill rotWithShape="1">
          <a:blip r:embed="rId7">
            <a:alphaModFix/>
          </a:blip>
          <a:srcRect b="0" l="0" r="0" t="0"/>
          <a:stretch/>
        </p:blipFill>
        <p:spPr>
          <a:xfrm>
            <a:off x="571500" y="3314700"/>
            <a:ext cx="57300" cy="85800"/>
          </a:xfrm>
          <a:prstGeom prst="rect">
            <a:avLst/>
          </a:prstGeom>
          <a:noFill/>
          <a:ln>
            <a:noFill/>
          </a:ln>
        </p:spPr>
      </p:pic>
      <p:pic>
        <p:nvPicPr>
          <p:cNvPr id="621" name="Google Shape;621;p25"/>
          <p:cNvPicPr preferRelativeResize="0"/>
          <p:nvPr/>
        </p:nvPicPr>
        <p:blipFill rotWithShape="1">
          <a:blip r:embed="rId7">
            <a:alphaModFix/>
          </a:blip>
          <a:srcRect b="0" l="0" r="0" t="0"/>
          <a:stretch/>
        </p:blipFill>
        <p:spPr>
          <a:xfrm>
            <a:off x="571500" y="3695700"/>
            <a:ext cx="57300" cy="85800"/>
          </a:xfrm>
          <a:prstGeom prst="rect">
            <a:avLst/>
          </a:prstGeom>
          <a:noFill/>
          <a:ln>
            <a:noFill/>
          </a:ln>
        </p:spPr>
      </p:pic>
      <p:pic>
        <p:nvPicPr>
          <p:cNvPr id="622" name="Google Shape;622;p25"/>
          <p:cNvPicPr preferRelativeResize="0"/>
          <p:nvPr/>
        </p:nvPicPr>
        <p:blipFill rotWithShape="1">
          <a:blip r:embed="rId7">
            <a:alphaModFix/>
          </a:blip>
          <a:srcRect b="0" l="0" r="0" t="0"/>
          <a:stretch/>
        </p:blipFill>
        <p:spPr>
          <a:xfrm>
            <a:off x="571500" y="3933825"/>
            <a:ext cx="57300" cy="85800"/>
          </a:xfrm>
          <a:prstGeom prst="rect">
            <a:avLst/>
          </a:prstGeom>
          <a:noFill/>
          <a:ln>
            <a:noFill/>
          </a:ln>
        </p:spPr>
      </p:pic>
      <p:pic>
        <p:nvPicPr>
          <p:cNvPr id="623" name="Google Shape;623;p25"/>
          <p:cNvPicPr preferRelativeResize="0"/>
          <p:nvPr/>
        </p:nvPicPr>
        <p:blipFill rotWithShape="1">
          <a:blip r:embed="rId7">
            <a:alphaModFix/>
          </a:blip>
          <a:srcRect b="0" l="0" r="0" t="0"/>
          <a:stretch/>
        </p:blipFill>
        <p:spPr>
          <a:xfrm>
            <a:off x="571500" y="4171950"/>
            <a:ext cx="57300" cy="85800"/>
          </a:xfrm>
          <a:prstGeom prst="rect">
            <a:avLst/>
          </a:prstGeom>
          <a:noFill/>
          <a:ln>
            <a:noFill/>
          </a:ln>
        </p:spPr>
      </p:pic>
      <p:pic>
        <p:nvPicPr>
          <p:cNvPr id="624" name="Google Shape;624;p25"/>
          <p:cNvPicPr preferRelativeResize="0"/>
          <p:nvPr/>
        </p:nvPicPr>
        <p:blipFill rotWithShape="1">
          <a:blip r:embed="rId7">
            <a:alphaModFix/>
          </a:blip>
          <a:srcRect b="0" l="0" r="0" t="0"/>
          <a:stretch/>
        </p:blipFill>
        <p:spPr>
          <a:xfrm>
            <a:off x="571500" y="4410075"/>
            <a:ext cx="57300" cy="85800"/>
          </a:xfrm>
          <a:prstGeom prst="rect">
            <a:avLst/>
          </a:prstGeom>
          <a:noFill/>
          <a:ln>
            <a:noFill/>
          </a:ln>
        </p:spPr>
      </p:pic>
      <p:sp>
        <p:nvSpPr>
          <p:cNvPr id="625" name="Google Shape;625;p25"/>
          <p:cNvSpPr/>
          <p:nvPr/>
        </p:nvSpPr>
        <p:spPr>
          <a:xfrm>
            <a:off x="7015162" y="2402383"/>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6" name="Google Shape;626;p25"/>
          <p:cNvSpPr/>
          <p:nvPr/>
        </p:nvSpPr>
        <p:spPr>
          <a:xfrm>
            <a:off x="7853511" y="2402383"/>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7" name="Google Shape;627;p25"/>
          <p:cNvSpPr/>
          <p:nvPr/>
        </p:nvSpPr>
        <p:spPr>
          <a:xfrm>
            <a:off x="9774435" y="2402383"/>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8" name="Google Shape;628;p25"/>
          <p:cNvSpPr/>
          <p:nvPr/>
        </p:nvSpPr>
        <p:spPr>
          <a:xfrm>
            <a:off x="7015162" y="2910780"/>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29" name="Google Shape;629;p25"/>
          <p:cNvSpPr/>
          <p:nvPr/>
        </p:nvSpPr>
        <p:spPr>
          <a:xfrm>
            <a:off x="7853511" y="2910780"/>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0" name="Google Shape;630;p25"/>
          <p:cNvSpPr/>
          <p:nvPr/>
        </p:nvSpPr>
        <p:spPr>
          <a:xfrm>
            <a:off x="9774435" y="2910780"/>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25"/>
          <p:cNvSpPr/>
          <p:nvPr/>
        </p:nvSpPr>
        <p:spPr>
          <a:xfrm>
            <a:off x="7015162" y="3264991"/>
            <a:ext cx="8382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2" name="Google Shape;632;p25"/>
          <p:cNvSpPr/>
          <p:nvPr/>
        </p:nvSpPr>
        <p:spPr>
          <a:xfrm>
            <a:off x="7853511" y="3264991"/>
            <a:ext cx="1920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3" name="Google Shape;633;p25"/>
          <p:cNvSpPr/>
          <p:nvPr/>
        </p:nvSpPr>
        <p:spPr>
          <a:xfrm>
            <a:off x="9774435" y="3264991"/>
            <a:ext cx="17889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634" name="Google Shape;634;p25"/>
          <p:cNvPicPr preferRelativeResize="0"/>
          <p:nvPr/>
        </p:nvPicPr>
        <p:blipFill rotWithShape="1">
          <a:blip r:embed="rId8">
            <a:alphaModFix/>
          </a:blip>
          <a:srcRect b="0" l="0" r="0" t="0"/>
          <a:stretch/>
        </p:blipFill>
        <p:spPr>
          <a:xfrm>
            <a:off x="7005637" y="4566493"/>
            <a:ext cx="171450" cy="142875"/>
          </a:xfrm>
          <a:prstGeom prst="rect">
            <a:avLst/>
          </a:prstGeom>
          <a:noFill/>
          <a:ln>
            <a:noFill/>
          </a:ln>
        </p:spPr>
      </p:pic>
      <p:pic>
        <p:nvPicPr>
          <p:cNvPr descr="image.png" id="635" name="Google Shape;635;p25"/>
          <p:cNvPicPr preferRelativeResize="0"/>
          <p:nvPr/>
        </p:nvPicPr>
        <p:blipFill rotWithShape="1">
          <a:blip r:embed="rId9">
            <a:alphaModFix/>
          </a:blip>
          <a:srcRect b="0" l="0" r="0" t="0"/>
          <a:stretch/>
        </p:blipFill>
        <p:spPr>
          <a:xfrm>
            <a:off x="7005637" y="5015954"/>
            <a:ext cx="171450" cy="142875"/>
          </a:xfrm>
          <a:prstGeom prst="rect">
            <a:avLst/>
          </a:prstGeom>
          <a:noFill/>
          <a:ln>
            <a:noFill/>
          </a:ln>
        </p:spPr>
      </p:pic>
      <p:pic>
        <p:nvPicPr>
          <p:cNvPr descr="image.png" id="636" name="Google Shape;636;p25"/>
          <p:cNvPicPr preferRelativeResize="0"/>
          <p:nvPr/>
        </p:nvPicPr>
        <p:blipFill rotWithShape="1">
          <a:blip r:embed="rId10">
            <a:alphaModFix/>
          </a:blip>
          <a:srcRect b="0" l="0" r="0" t="0"/>
          <a:stretch/>
        </p:blipFill>
        <p:spPr>
          <a:xfrm>
            <a:off x="7005637" y="5465415"/>
            <a:ext cx="171450" cy="142875"/>
          </a:xfrm>
          <a:prstGeom prst="rect">
            <a:avLst/>
          </a:prstGeom>
          <a:noFill/>
          <a:ln>
            <a:noFill/>
          </a:ln>
        </p:spPr>
      </p:pic>
      <p:pic>
        <p:nvPicPr>
          <p:cNvPr descr="image.png" id="637" name="Google Shape;637;p25"/>
          <p:cNvPicPr preferRelativeResize="0"/>
          <p:nvPr/>
        </p:nvPicPr>
        <p:blipFill rotWithShape="1">
          <a:blip r:embed="rId11">
            <a:alphaModFix/>
          </a:blip>
          <a:srcRect b="0" l="0" r="0" t="0"/>
          <a:stretch/>
        </p:blipFill>
        <p:spPr>
          <a:xfrm>
            <a:off x="7005637" y="5728245"/>
            <a:ext cx="152400" cy="142875"/>
          </a:xfrm>
          <a:prstGeom prst="rect">
            <a:avLst/>
          </a:prstGeom>
          <a:noFill/>
          <a:ln>
            <a:noFill/>
          </a:ln>
        </p:spPr>
      </p:pic>
      <p:sp>
        <p:nvSpPr>
          <p:cNvPr id="638" name="Google Shape;638;p25"/>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Agent Skills</a:t>
            </a:r>
            <a:endParaRPr/>
          </a:p>
        </p:txBody>
      </p:sp>
      <p:sp>
        <p:nvSpPr>
          <p:cNvPr id="639" name="Google Shape;639;p25"/>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pic>
        <p:nvPicPr>
          <p:cNvPr descr="image.png" id="644" name="Google Shape;644;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45" name="Google Shape;645;p26"/>
          <p:cNvPicPr preferRelativeResize="0"/>
          <p:nvPr/>
        </p:nvPicPr>
        <p:blipFill rotWithShape="1">
          <a:blip r:embed="rId4">
            <a:alphaModFix/>
          </a:blip>
          <a:srcRect b="0" l="0" r="0" t="0"/>
          <a:stretch/>
        </p:blipFill>
        <p:spPr>
          <a:xfrm>
            <a:off x="7005637" y="1299120"/>
            <a:ext cx="4567237" cy="3086100"/>
          </a:xfrm>
          <a:prstGeom prst="rect">
            <a:avLst/>
          </a:prstGeom>
          <a:noFill/>
          <a:ln>
            <a:noFill/>
          </a:ln>
        </p:spPr>
      </p:pic>
      <p:pic>
        <p:nvPicPr>
          <p:cNvPr descr="image.png" id="646" name="Google Shape;646;p26"/>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647" name="Google Shape;647;p26"/>
          <p:cNvSpPr txBox="1"/>
          <p:nvPr/>
        </p:nvSpPr>
        <p:spPr>
          <a:xfrm>
            <a:off x="571500" y="1038225"/>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648" name="Google Shape;648;p26"/>
          <p:cNvSpPr txBox="1"/>
          <p:nvPr/>
        </p:nvSpPr>
        <p:spPr>
          <a:xfrm>
            <a:off x="571500" y="1209075"/>
            <a:ext cx="61959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Reusable prompt templates for standardized, repeatable task patterns across your organization.</a:t>
            </a:r>
            <a:endParaRPr b="0" sz="1050">
              <a:solidFill>
                <a:srgbClr val="334155"/>
              </a:solidFill>
              <a:latin typeface="Plus Jakarta Sans"/>
              <a:ea typeface="Plus Jakarta Sans"/>
              <a:cs typeface="Plus Jakarta Sans"/>
              <a:sym typeface="Plus Jakarta Sans"/>
            </a:endParaRPr>
          </a:p>
        </p:txBody>
      </p:sp>
      <p:sp>
        <p:nvSpPr>
          <p:cNvPr id="649" name="Google Shape;649;p26"/>
          <p:cNvSpPr txBox="1"/>
          <p:nvPr/>
        </p:nvSpPr>
        <p:spPr>
          <a:xfrm>
            <a:off x="571500" y="1478607"/>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650" name="Google Shape;650;p26"/>
          <p:cNvSpPr txBox="1"/>
          <p:nvPr/>
        </p:nvSpPr>
        <p:spPr>
          <a:xfrm>
            <a:off x="571500" y="1649463"/>
            <a:ext cx="61959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Standardizes approaches, encodes best practices, and lets anyone replicate successful workflows across repos and teams.</a:t>
            </a:r>
            <a:endParaRPr b="0" sz="1050">
              <a:solidFill>
                <a:srgbClr val="334155"/>
              </a:solidFill>
              <a:latin typeface="Plus Jakarta Sans"/>
              <a:ea typeface="Plus Jakarta Sans"/>
              <a:cs typeface="Plus Jakarta Sans"/>
              <a:sym typeface="Plus Jakarta Sans"/>
            </a:endParaRPr>
          </a:p>
        </p:txBody>
      </p:sp>
      <p:sp>
        <p:nvSpPr>
          <p:cNvPr id="651" name="Google Shape;651;p26"/>
          <p:cNvSpPr txBox="1"/>
          <p:nvPr/>
        </p:nvSpPr>
        <p:spPr>
          <a:xfrm>
            <a:off x="571500" y="2112317"/>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652" name="Google Shape;652;p26"/>
          <p:cNvSpPr txBox="1"/>
          <p:nvPr/>
        </p:nvSpPr>
        <p:spPr>
          <a:xfrm>
            <a:off x="571500" y="4233416"/>
            <a:ext cx="6195900" cy="126900"/>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653" name="Google Shape;653;p26"/>
          <p:cNvSpPr txBox="1"/>
          <p:nvPr/>
        </p:nvSpPr>
        <p:spPr>
          <a:xfrm>
            <a:off x="571500" y="4404274"/>
            <a:ext cx="6195900" cy="323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Migrated 10 services REST-to-GraphQL -&gt; saved as Playbook -&gt; Devin automates the next 40 migrations identically.</a:t>
            </a:r>
            <a:endParaRPr b="0" sz="1050">
              <a:solidFill>
                <a:srgbClr val="334155"/>
              </a:solidFill>
              <a:latin typeface="Plus Jakarta Sans"/>
              <a:ea typeface="Plus Jakarta Sans"/>
              <a:cs typeface="Plus Jakarta Sans"/>
              <a:sym typeface="Plus Jakarta Sans"/>
            </a:endParaRPr>
          </a:p>
        </p:txBody>
      </p:sp>
      <p:sp>
        <p:nvSpPr>
          <p:cNvPr id="654" name="Google Shape;654;p26"/>
          <p:cNvSpPr txBox="1"/>
          <p:nvPr/>
        </p:nvSpPr>
        <p:spPr>
          <a:xfrm>
            <a:off x="7005638" y="4429125"/>
            <a:ext cx="4567200" cy="126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825">
                <a:solidFill>
                  <a:srgbClr val="0D9488"/>
                </a:solidFill>
                <a:latin typeface="Plus Jakarta Sans"/>
                <a:ea typeface="Plus Jakarta Sans"/>
                <a:cs typeface="Plus Jakarta Sans"/>
                <a:sym typeface="Plus Jakarta Sans"/>
              </a:rPr>
              <a:t>BEST PRACTICES:</a:t>
            </a:r>
            <a:endParaRPr b="1" sz="825">
              <a:solidFill>
                <a:srgbClr val="0D9488"/>
              </a:solidFill>
              <a:latin typeface="Plus Jakarta Sans"/>
              <a:ea typeface="Plus Jakarta Sans"/>
              <a:cs typeface="Plus Jakarta Sans"/>
              <a:sym typeface="Plus Jakarta Sans"/>
            </a:endParaRPr>
          </a:p>
        </p:txBody>
      </p:sp>
      <p:sp>
        <p:nvSpPr>
          <p:cNvPr id="655" name="Google Shape;655;p26"/>
          <p:cNvSpPr txBox="1"/>
          <p:nvPr/>
        </p:nvSpPr>
        <p:spPr>
          <a:xfrm>
            <a:off x="7005637" y="1038225"/>
            <a:ext cx="4567200" cy="138600"/>
          </a:xfrm>
          <a:prstGeom prst="rect">
            <a:avLst/>
          </a:prstGeom>
          <a:noFill/>
          <a:ln>
            <a:noFill/>
          </a:ln>
        </p:spPr>
        <p:txBody>
          <a:bodyPr anchorCtr="0" anchor="t" bIns="0" lIns="85725"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PLAYBOOK STRUCTURE TEMPLATE</a:t>
            </a:r>
            <a:endParaRPr/>
          </a:p>
        </p:txBody>
      </p:sp>
      <p:sp>
        <p:nvSpPr>
          <p:cNvPr id="656" name="Google Shape;656;p26"/>
          <p:cNvSpPr txBox="1"/>
          <p:nvPr/>
        </p:nvSpPr>
        <p:spPr>
          <a:xfrm>
            <a:off x="800100" y="2283171"/>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Structured sections: </a:t>
            </a:r>
            <a:r>
              <a:rPr b="1" lang="en-US" sz="1050">
                <a:solidFill>
                  <a:srgbClr val="334155"/>
                </a:solidFill>
                <a:latin typeface="Plus Jakarta Sans"/>
                <a:ea typeface="Plus Jakarta Sans"/>
                <a:cs typeface="Plus Jakarta Sans"/>
                <a:sym typeface="Plus Jakarta Sans"/>
              </a:rPr>
              <a:t>Procedure</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Specifications</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Advice</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Forbidden Actions</a:t>
            </a:r>
            <a:r>
              <a:rPr b="0" lang="en-US" sz="1050">
                <a:solidFill>
                  <a:srgbClr val="334155"/>
                </a:solidFill>
                <a:latin typeface="Plus Jakarta Sans"/>
                <a:ea typeface="Plus Jakarta Sans"/>
                <a:cs typeface="Plus Jakarta Sans"/>
                <a:sym typeface="Plus Jakarta Sans"/>
              </a:rPr>
              <a:t>, </a:t>
            </a:r>
            <a:r>
              <a:rPr b="1" lang="en-US" sz="1050">
                <a:solidFill>
                  <a:srgbClr val="334155"/>
                </a:solidFill>
                <a:latin typeface="Plus Jakarta Sans"/>
                <a:ea typeface="Plus Jakarta Sans"/>
                <a:cs typeface="Plus Jakarta Sans"/>
                <a:sym typeface="Plus Jakarta Sans"/>
              </a:rPr>
              <a:t>User Inputs</a:t>
            </a:r>
            <a:r>
              <a:rPr b="0" lang="en-US" sz="1050">
                <a:solidFill>
                  <a:srgbClr val="334155"/>
                </a:solidFill>
                <a:latin typeface="Plus Jakarta Sans"/>
                <a:ea typeface="Plus Jakarta Sans"/>
                <a:cs typeface="Plus Jakarta Sans"/>
                <a:sym typeface="Plus Jakarta Sans"/>
              </a:rPr>
              <a:t>.</a:t>
            </a:r>
            <a:endParaRPr b="0" sz="1050">
              <a:solidFill>
                <a:srgbClr val="334155"/>
              </a:solidFill>
              <a:latin typeface="Plus Jakarta Sans"/>
              <a:ea typeface="Plus Jakarta Sans"/>
              <a:cs typeface="Plus Jakarta Sans"/>
              <a:sym typeface="Plus Jakarta Sans"/>
            </a:endParaRPr>
          </a:p>
        </p:txBody>
      </p:sp>
      <p:sp>
        <p:nvSpPr>
          <p:cNvPr id="657" name="Google Shape;657;p26"/>
          <p:cNvSpPr txBox="1"/>
          <p:nvPr/>
        </p:nvSpPr>
        <p:spPr>
          <a:xfrm>
            <a:off x="800100" y="2732637"/>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Attached at session start via UI, macro, or `.devin.md` file.</a:t>
            </a:r>
            <a:endParaRPr b="0" sz="1050">
              <a:solidFill>
                <a:srgbClr val="334155"/>
              </a:solidFill>
              <a:latin typeface="Plus Jakarta Sans"/>
              <a:ea typeface="Plus Jakarta Sans"/>
              <a:cs typeface="Plus Jakarta Sans"/>
              <a:sym typeface="Plus Jakarta Sans"/>
            </a:endParaRPr>
          </a:p>
        </p:txBody>
      </p:sp>
      <p:sp>
        <p:nvSpPr>
          <p:cNvPr id="658" name="Google Shape;658;p26"/>
          <p:cNvSpPr txBox="1"/>
          <p:nvPr/>
        </p:nvSpPr>
        <p:spPr>
          <a:xfrm>
            <a:off x="800100" y="2995460"/>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Version history allows safe edits with seamless rollback support.</a:t>
            </a:r>
            <a:endParaRPr b="0" sz="1050">
              <a:solidFill>
                <a:srgbClr val="334155"/>
              </a:solidFill>
              <a:latin typeface="Plus Jakarta Sans"/>
              <a:ea typeface="Plus Jakarta Sans"/>
              <a:cs typeface="Plus Jakarta Sans"/>
              <a:sym typeface="Plus Jakarta Sans"/>
            </a:endParaRPr>
          </a:p>
        </p:txBody>
      </p:sp>
      <p:sp>
        <p:nvSpPr>
          <p:cNvPr id="659" name="Google Shape;659;p26"/>
          <p:cNvSpPr txBox="1"/>
          <p:nvPr/>
        </p:nvSpPr>
        <p:spPr>
          <a:xfrm>
            <a:off x="800100" y="3258293"/>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Shared enterprise-wide across all organizations in an enterprise.</a:t>
            </a:r>
            <a:endParaRPr b="0" sz="1050">
              <a:solidFill>
                <a:srgbClr val="334155"/>
              </a:solidFill>
              <a:latin typeface="Plus Jakarta Sans"/>
              <a:ea typeface="Plus Jakarta Sans"/>
              <a:cs typeface="Plus Jakarta Sans"/>
              <a:sym typeface="Plus Jakarta Sans"/>
            </a:endParaRPr>
          </a:p>
        </p:txBody>
      </p:sp>
      <p:sp>
        <p:nvSpPr>
          <p:cNvPr id="660" name="Google Shape;660;p26"/>
          <p:cNvSpPr txBox="1"/>
          <p:nvPr/>
        </p:nvSpPr>
        <p:spPr>
          <a:xfrm>
            <a:off x="800100" y="3521126"/>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Auto-generated from successful sessions using Devin run analysis.</a:t>
            </a:r>
            <a:endParaRPr b="0" sz="1050">
              <a:solidFill>
                <a:srgbClr val="334155"/>
              </a:solidFill>
              <a:latin typeface="Plus Jakarta Sans"/>
              <a:ea typeface="Plus Jakarta Sans"/>
              <a:cs typeface="Plus Jakarta Sans"/>
              <a:sym typeface="Plus Jakarta Sans"/>
            </a:endParaRPr>
          </a:p>
        </p:txBody>
      </p:sp>
      <p:sp>
        <p:nvSpPr>
          <p:cNvPr id="661" name="Google Shape;661;p26"/>
          <p:cNvSpPr txBox="1"/>
          <p:nvPr/>
        </p:nvSpPr>
        <p:spPr>
          <a:xfrm>
            <a:off x="800100" y="3970582"/>
            <a:ext cx="59673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Macros (`!data-tutorial`) allow rapid, prompt-level attachment.</a:t>
            </a:r>
            <a:endParaRPr b="0" sz="1050">
              <a:solidFill>
                <a:srgbClr val="334155"/>
              </a:solidFill>
              <a:latin typeface="Plus Jakarta Sans"/>
              <a:ea typeface="Plus Jakarta Sans"/>
              <a:cs typeface="Plus Jakarta Sans"/>
              <a:sym typeface="Plus Jakarta Sans"/>
            </a:endParaRPr>
          </a:p>
        </p:txBody>
      </p:sp>
      <p:sp>
        <p:nvSpPr>
          <p:cNvPr id="662" name="Google Shape;662;p26"/>
          <p:cNvSpPr txBox="1"/>
          <p:nvPr/>
        </p:nvSpPr>
        <p:spPr>
          <a:xfrm>
            <a:off x="7234238" y="4648200"/>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Write single-step procedures using imperative verbs.</a:t>
            </a:r>
            <a:endParaRPr b="0" sz="1050">
              <a:solidFill>
                <a:srgbClr val="334155"/>
              </a:solidFill>
              <a:latin typeface="Plus Jakarta Sans"/>
              <a:ea typeface="Plus Jakarta Sans"/>
              <a:cs typeface="Plus Jakarta Sans"/>
              <a:sym typeface="Plus Jakarta Sans"/>
            </a:endParaRPr>
          </a:p>
        </p:txBody>
      </p:sp>
      <p:sp>
        <p:nvSpPr>
          <p:cNvPr id="663" name="Google Shape;663;p26"/>
          <p:cNvSpPr txBox="1"/>
          <p:nvPr/>
        </p:nvSpPr>
        <p:spPr>
          <a:xfrm>
            <a:off x="7234238" y="4981575"/>
            <a:ext cx="4338600" cy="149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971">
                <a:solidFill>
                  <a:srgbClr val="334155"/>
                </a:solidFill>
                <a:latin typeface="Plus Jakarta Sans"/>
                <a:ea typeface="Plus Jakarta Sans"/>
                <a:cs typeface="Plus Jakarta Sans"/>
                <a:sym typeface="Plus Jakarta Sans"/>
              </a:rPr>
              <a:t>Ensure steps are Mutually Exclusive and Collectively Exhaustive (MECE).</a:t>
            </a:r>
            <a:endParaRPr b="0" sz="971">
              <a:solidFill>
                <a:srgbClr val="334155"/>
              </a:solidFill>
              <a:latin typeface="Plus Jakarta Sans"/>
              <a:ea typeface="Plus Jakarta Sans"/>
              <a:cs typeface="Plus Jakarta Sans"/>
              <a:sym typeface="Plus Jakarta Sans"/>
            </a:endParaRPr>
          </a:p>
        </p:txBody>
      </p:sp>
      <p:sp>
        <p:nvSpPr>
          <p:cNvPr id="664" name="Google Shape;664;p26"/>
          <p:cNvSpPr txBox="1"/>
          <p:nvPr/>
        </p:nvSpPr>
        <p:spPr>
          <a:xfrm>
            <a:off x="7234238" y="5314950"/>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Provide explicit before/after examples in Advice sections.</a:t>
            </a:r>
            <a:endParaRPr b="0" sz="1050">
              <a:solidFill>
                <a:srgbClr val="334155"/>
              </a:solidFill>
              <a:latin typeface="Plus Jakarta Sans"/>
              <a:ea typeface="Plus Jakarta Sans"/>
              <a:cs typeface="Plus Jakarta Sans"/>
              <a:sym typeface="Plus Jakarta Sans"/>
            </a:endParaRPr>
          </a:p>
        </p:txBody>
      </p:sp>
      <p:sp>
        <p:nvSpPr>
          <p:cNvPr id="665" name="Google Shape;665;p26"/>
          <p:cNvSpPr txBox="1"/>
          <p:nvPr/>
        </p:nvSpPr>
        <p:spPr>
          <a:xfrm>
            <a:off x="7234238" y="5648325"/>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Run 2+ Devins in parallel to identify workflow errors rapidly.</a:t>
            </a:r>
            <a:endParaRPr b="0" sz="1050">
              <a:solidFill>
                <a:srgbClr val="334155"/>
              </a:solidFill>
              <a:latin typeface="Plus Jakarta Sans"/>
              <a:ea typeface="Plus Jakarta Sans"/>
              <a:cs typeface="Plus Jakarta Sans"/>
              <a:sym typeface="Plus Jakarta Sans"/>
            </a:endParaRPr>
          </a:p>
        </p:txBody>
      </p:sp>
      <p:sp>
        <p:nvSpPr>
          <p:cNvPr id="666" name="Google Shape;666;p26"/>
          <p:cNvSpPr txBox="1"/>
          <p:nvPr/>
        </p:nvSpPr>
        <p:spPr>
          <a:xfrm>
            <a:off x="7234238" y="5981700"/>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Iterate playbooks mid-session to refine subsequent runs.</a:t>
            </a:r>
            <a:endParaRPr b="0" sz="1050">
              <a:solidFill>
                <a:srgbClr val="334155"/>
              </a:solidFill>
              <a:latin typeface="Plus Jakarta Sans"/>
              <a:ea typeface="Plus Jakarta Sans"/>
              <a:cs typeface="Plus Jakarta Sans"/>
              <a:sym typeface="Plus Jakarta Sans"/>
            </a:endParaRPr>
          </a:p>
        </p:txBody>
      </p:sp>
      <p:sp>
        <p:nvSpPr>
          <p:cNvPr id="667" name="Google Shape;667;p26"/>
          <p:cNvSpPr txBox="1"/>
          <p:nvPr/>
        </p:nvSpPr>
        <p:spPr>
          <a:xfrm>
            <a:off x="7234238" y="6315075"/>
            <a:ext cx="4338600" cy="1617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1050">
                <a:solidFill>
                  <a:srgbClr val="334155"/>
                </a:solidFill>
                <a:latin typeface="Plus Jakarta Sans"/>
                <a:ea typeface="Plus Jakarta Sans"/>
                <a:cs typeface="Plus Jakarta Sans"/>
                <a:sym typeface="Plus Jakarta Sans"/>
              </a:rPr>
              <a:t>Enforce Enterprise Playbooks to maintain company standards.</a:t>
            </a:r>
            <a:endParaRPr b="0" sz="1050">
              <a:solidFill>
                <a:srgbClr val="334155"/>
              </a:solidFill>
              <a:latin typeface="Plus Jakarta Sans"/>
              <a:ea typeface="Plus Jakarta Sans"/>
              <a:cs typeface="Plus Jakarta Sans"/>
              <a:sym typeface="Plus Jakarta Sans"/>
            </a:endParaRPr>
          </a:p>
        </p:txBody>
      </p:sp>
      <p:pic>
        <p:nvPicPr>
          <p:cNvPr descr="image.png" id="668" name="Google Shape;668;p26"/>
          <p:cNvPicPr preferRelativeResize="0"/>
          <p:nvPr/>
        </p:nvPicPr>
        <p:blipFill rotWithShape="1">
          <a:blip r:embed="rId6">
            <a:alphaModFix/>
          </a:blip>
          <a:srcRect b="0" l="0" r="0" t="0"/>
          <a:stretch/>
        </p:blipFill>
        <p:spPr>
          <a:xfrm>
            <a:off x="8223944" y="1057275"/>
            <a:ext cx="85725" cy="114300"/>
          </a:xfrm>
          <a:prstGeom prst="rect">
            <a:avLst/>
          </a:prstGeom>
          <a:noFill/>
          <a:ln>
            <a:noFill/>
          </a:ln>
        </p:spPr>
      </p:pic>
      <p:sp>
        <p:nvSpPr>
          <p:cNvPr id="669" name="Google Shape;669;p26"/>
          <p:cNvSpPr txBox="1"/>
          <p:nvPr/>
        </p:nvSpPr>
        <p:spPr>
          <a:xfrm>
            <a:off x="7167562" y="1470570"/>
            <a:ext cx="914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2E8F0"/>
                </a:solidFill>
                <a:latin typeface="JetBrains Mono"/>
                <a:ea typeface="JetBrains Mono"/>
                <a:cs typeface="JetBrains Mono"/>
                <a:sym typeface="JetBrains Mono"/>
              </a:rPr>
              <a:t>Playbook: [Name]</a:t>
            </a:r>
            <a:endParaRPr/>
          </a:p>
        </p:txBody>
      </p:sp>
      <p:sp>
        <p:nvSpPr>
          <p:cNvPr id="670" name="Google Shape;670;p26"/>
          <p:cNvSpPr txBox="1"/>
          <p:nvPr/>
        </p:nvSpPr>
        <p:spPr>
          <a:xfrm>
            <a:off x="7167562" y="1746795"/>
            <a:ext cx="6288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Overview</a:t>
            </a:r>
            <a:endParaRPr/>
          </a:p>
        </p:txBody>
      </p:sp>
      <p:sp>
        <p:nvSpPr>
          <p:cNvPr id="671" name="Google Shape;671;p26"/>
          <p:cNvSpPr txBox="1"/>
          <p:nvPr/>
        </p:nvSpPr>
        <p:spPr>
          <a:xfrm>
            <a:off x="7167562" y="2161133"/>
            <a:ext cx="14862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What's Needed From User</a:t>
            </a:r>
            <a:endParaRPr/>
          </a:p>
        </p:txBody>
      </p:sp>
      <p:sp>
        <p:nvSpPr>
          <p:cNvPr id="672" name="Google Shape;672;p26"/>
          <p:cNvSpPr txBox="1"/>
          <p:nvPr/>
        </p:nvSpPr>
        <p:spPr>
          <a:xfrm>
            <a:off x="7167562" y="2575470"/>
            <a:ext cx="6858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Procedure</a:t>
            </a:r>
            <a:endParaRPr/>
          </a:p>
        </p:txBody>
      </p:sp>
      <p:sp>
        <p:nvSpPr>
          <p:cNvPr id="673" name="Google Shape;673;p26"/>
          <p:cNvSpPr txBox="1"/>
          <p:nvPr/>
        </p:nvSpPr>
        <p:spPr>
          <a:xfrm>
            <a:off x="7167562" y="3127920"/>
            <a:ext cx="9717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Specifications</a:t>
            </a:r>
            <a:endParaRPr/>
          </a:p>
        </p:txBody>
      </p:sp>
      <p:sp>
        <p:nvSpPr>
          <p:cNvPr id="674" name="Google Shape;674;p26"/>
          <p:cNvSpPr txBox="1"/>
          <p:nvPr/>
        </p:nvSpPr>
        <p:spPr>
          <a:xfrm>
            <a:off x="7167562" y="3542258"/>
            <a:ext cx="12576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8BDF8"/>
                </a:solidFill>
                <a:latin typeface="JetBrains Mono"/>
                <a:ea typeface="JetBrains Mono"/>
                <a:cs typeface="JetBrains Mono"/>
                <a:sym typeface="JetBrains Mono"/>
              </a:rPr>
              <a:t>## Advice and Pointers</a:t>
            </a:r>
            <a:endParaRPr/>
          </a:p>
        </p:txBody>
      </p:sp>
      <p:sp>
        <p:nvSpPr>
          <p:cNvPr id="675" name="Google Shape;675;p26"/>
          <p:cNvSpPr txBox="1"/>
          <p:nvPr/>
        </p:nvSpPr>
        <p:spPr>
          <a:xfrm>
            <a:off x="7167562" y="3956595"/>
            <a:ext cx="11433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F472B6"/>
                </a:solidFill>
                <a:latin typeface="JetBrains Mono"/>
                <a:ea typeface="JetBrains Mono"/>
                <a:cs typeface="JetBrains Mono"/>
                <a:sym typeface="JetBrains Mono"/>
              </a:rPr>
              <a:t>## Forbidden Actions</a:t>
            </a:r>
            <a:endParaRPr/>
          </a:p>
        </p:txBody>
      </p:sp>
      <p:sp>
        <p:nvSpPr>
          <p:cNvPr id="676" name="Google Shape;676;p26"/>
          <p:cNvSpPr txBox="1"/>
          <p:nvPr/>
        </p:nvSpPr>
        <p:spPr>
          <a:xfrm>
            <a:off x="571500" y="5060453"/>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ADVANTAGES:</a:t>
            </a:r>
            <a:endParaRPr/>
          </a:p>
        </p:txBody>
      </p:sp>
      <p:sp>
        <p:nvSpPr>
          <p:cNvPr id="677" name="Google Shape;677;p26"/>
          <p:cNvSpPr txBox="1"/>
          <p:nvPr/>
        </p:nvSpPr>
        <p:spPr>
          <a:xfrm>
            <a:off x="571500" y="5217614"/>
            <a:ext cx="3050400" cy="2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825">
                <a:solidFill>
                  <a:srgbClr val="334155"/>
                </a:solidFill>
                <a:latin typeface="Plus Jakarta Sans"/>
                <a:ea typeface="Plus Jakarta Sans"/>
                <a:cs typeface="Plus Jakarta Sans"/>
                <a:sym typeface="Plus Jakarta Sans"/>
              </a:rPr>
              <a:t>Org-wide sharing, version history, session auto-conversion, Community Gallery</a:t>
            </a:r>
            <a:endParaRPr b="0" sz="825">
              <a:solidFill>
                <a:srgbClr val="334155"/>
              </a:solidFill>
              <a:latin typeface="Plus Jakarta Sans"/>
              <a:ea typeface="Plus Jakarta Sans"/>
              <a:cs typeface="Plus Jakarta Sans"/>
              <a:sym typeface="Plus Jakarta Sans"/>
            </a:endParaRPr>
          </a:p>
        </p:txBody>
      </p:sp>
      <p:sp>
        <p:nvSpPr>
          <p:cNvPr id="678" name="Google Shape;678;p26"/>
          <p:cNvSpPr txBox="1"/>
          <p:nvPr/>
        </p:nvSpPr>
        <p:spPr>
          <a:xfrm>
            <a:off x="3717131" y="5060453"/>
            <a:ext cx="3050400" cy="115500"/>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EF4444"/>
                </a:solidFill>
                <a:latin typeface="Plus Jakarta Sans"/>
                <a:ea typeface="Plus Jakarta Sans"/>
                <a:cs typeface="Plus Jakarta Sans"/>
                <a:sym typeface="Plus Jakarta Sans"/>
              </a:rPr>
              <a:t>LIMITATIONS:</a:t>
            </a:r>
            <a:endParaRPr/>
          </a:p>
        </p:txBody>
      </p:sp>
      <p:sp>
        <p:nvSpPr>
          <p:cNvPr id="679" name="Google Shape;679;p26"/>
          <p:cNvSpPr txBox="1"/>
          <p:nvPr/>
        </p:nvSpPr>
        <p:spPr>
          <a:xfrm>
            <a:off x="3717131" y="5217614"/>
            <a:ext cx="3050400" cy="254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825">
                <a:solidFill>
                  <a:srgbClr val="334155"/>
                </a:solidFill>
                <a:latin typeface="Plus Jakarta Sans"/>
                <a:ea typeface="Plus Jakarta Sans"/>
                <a:cs typeface="Plus Jakarta Sans"/>
                <a:sym typeface="Plus Jakarta Sans"/>
              </a:rPr>
              <a:t>Requires basic prompt engineering; iterative refinement is necessary</a:t>
            </a:r>
            <a:endParaRPr b="0" sz="825">
              <a:solidFill>
                <a:srgbClr val="334155"/>
              </a:solidFill>
              <a:latin typeface="Plus Jakarta Sans"/>
              <a:ea typeface="Plus Jakarta Sans"/>
              <a:cs typeface="Plus Jakarta Sans"/>
              <a:sym typeface="Plus Jakarta Sans"/>
            </a:endParaRPr>
          </a:p>
        </p:txBody>
      </p:sp>
      <p:pic>
        <p:nvPicPr>
          <p:cNvPr descr="image.png" id="680" name="Google Shape;680;p26"/>
          <p:cNvPicPr preferRelativeResize="0"/>
          <p:nvPr/>
        </p:nvPicPr>
        <p:blipFill rotWithShape="1">
          <a:blip r:embed="rId7">
            <a:alphaModFix/>
          </a:blip>
          <a:srcRect b="0" l="0" r="0" t="0"/>
          <a:stretch/>
        </p:blipFill>
        <p:spPr>
          <a:xfrm>
            <a:off x="571500" y="2311747"/>
            <a:ext cx="57150" cy="95250"/>
          </a:xfrm>
          <a:prstGeom prst="rect">
            <a:avLst/>
          </a:prstGeom>
          <a:noFill/>
          <a:ln>
            <a:noFill/>
          </a:ln>
        </p:spPr>
      </p:pic>
      <p:pic>
        <p:nvPicPr>
          <p:cNvPr descr="image.png" id="681" name="Google Shape;681;p26"/>
          <p:cNvPicPr preferRelativeResize="0"/>
          <p:nvPr/>
        </p:nvPicPr>
        <p:blipFill rotWithShape="1">
          <a:blip r:embed="rId7">
            <a:alphaModFix/>
          </a:blip>
          <a:srcRect b="0" l="0" r="0" t="0"/>
          <a:stretch/>
        </p:blipFill>
        <p:spPr>
          <a:xfrm>
            <a:off x="571500" y="2761208"/>
            <a:ext cx="57150" cy="95250"/>
          </a:xfrm>
          <a:prstGeom prst="rect">
            <a:avLst/>
          </a:prstGeom>
          <a:noFill/>
          <a:ln>
            <a:noFill/>
          </a:ln>
        </p:spPr>
      </p:pic>
      <p:pic>
        <p:nvPicPr>
          <p:cNvPr descr="image.png" id="682" name="Google Shape;682;p26"/>
          <p:cNvPicPr preferRelativeResize="0"/>
          <p:nvPr/>
        </p:nvPicPr>
        <p:blipFill rotWithShape="1">
          <a:blip r:embed="rId7">
            <a:alphaModFix/>
          </a:blip>
          <a:srcRect b="0" l="0" r="0" t="0"/>
          <a:stretch/>
        </p:blipFill>
        <p:spPr>
          <a:xfrm>
            <a:off x="571500" y="3024038"/>
            <a:ext cx="57150" cy="95250"/>
          </a:xfrm>
          <a:prstGeom prst="rect">
            <a:avLst/>
          </a:prstGeom>
          <a:noFill/>
          <a:ln>
            <a:noFill/>
          </a:ln>
        </p:spPr>
      </p:pic>
      <p:pic>
        <p:nvPicPr>
          <p:cNvPr descr="image.png" id="683" name="Google Shape;683;p26"/>
          <p:cNvPicPr preferRelativeResize="0"/>
          <p:nvPr/>
        </p:nvPicPr>
        <p:blipFill rotWithShape="1">
          <a:blip r:embed="rId7">
            <a:alphaModFix/>
          </a:blip>
          <a:srcRect b="0" l="0" r="0" t="0"/>
          <a:stretch/>
        </p:blipFill>
        <p:spPr>
          <a:xfrm>
            <a:off x="571500" y="3286869"/>
            <a:ext cx="57150" cy="95250"/>
          </a:xfrm>
          <a:prstGeom prst="rect">
            <a:avLst/>
          </a:prstGeom>
          <a:noFill/>
          <a:ln>
            <a:noFill/>
          </a:ln>
        </p:spPr>
      </p:pic>
      <p:pic>
        <p:nvPicPr>
          <p:cNvPr descr="image.png" id="684" name="Google Shape;684;p26"/>
          <p:cNvPicPr preferRelativeResize="0"/>
          <p:nvPr/>
        </p:nvPicPr>
        <p:blipFill rotWithShape="1">
          <a:blip r:embed="rId7">
            <a:alphaModFix/>
          </a:blip>
          <a:srcRect b="0" l="0" r="0" t="0"/>
          <a:stretch/>
        </p:blipFill>
        <p:spPr>
          <a:xfrm>
            <a:off x="571500" y="3549699"/>
            <a:ext cx="57150" cy="95250"/>
          </a:xfrm>
          <a:prstGeom prst="rect">
            <a:avLst/>
          </a:prstGeom>
          <a:noFill/>
          <a:ln>
            <a:noFill/>
          </a:ln>
        </p:spPr>
      </p:pic>
      <p:pic>
        <p:nvPicPr>
          <p:cNvPr descr="image.png" id="685" name="Google Shape;685;p26"/>
          <p:cNvPicPr preferRelativeResize="0"/>
          <p:nvPr/>
        </p:nvPicPr>
        <p:blipFill rotWithShape="1">
          <a:blip r:embed="rId7">
            <a:alphaModFix/>
          </a:blip>
          <a:srcRect b="0" l="0" r="0" t="0"/>
          <a:stretch/>
        </p:blipFill>
        <p:spPr>
          <a:xfrm>
            <a:off x="571500" y="3999160"/>
            <a:ext cx="57150" cy="95250"/>
          </a:xfrm>
          <a:prstGeom prst="rect">
            <a:avLst/>
          </a:prstGeom>
          <a:noFill/>
          <a:ln>
            <a:noFill/>
          </a:ln>
        </p:spPr>
      </p:pic>
      <p:pic>
        <p:nvPicPr>
          <p:cNvPr id="686" name="Google Shape;686;p26"/>
          <p:cNvPicPr preferRelativeResize="0"/>
          <p:nvPr/>
        </p:nvPicPr>
        <p:blipFill rotWithShape="1">
          <a:blip r:embed="rId8">
            <a:alphaModFix/>
          </a:blip>
          <a:srcRect b="0" l="0" r="0" t="0"/>
          <a:stretch/>
        </p:blipFill>
        <p:spPr>
          <a:xfrm>
            <a:off x="7005638" y="4667250"/>
            <a:ext cx="133500" cy="142800"/>
          </a:xfrm>
          <a:prstGeom prst="rect">
            <a:avLst/>
          </a:prstGeom>
          <a:noFill/>
          <a:ln>
            <a:noFill/>
          </a:ln>
        </p:spPr>
      </p:pic>
      <p:pic>
        <p:nvPicPr>
          <p:cNvPr id="687" name="Google Shape;687;p26"/>
          <p:cNvPicPr preferRelativeResize="0"/>
          <p:nvPr/>
        </p:nvPicPr>
        <p:blipFill rotWithShape="1">
          <a:blip r:embed="rId9">
            <a:alphaModFix/>
          </a:blip>
          <a:srcRect b="0" l="0" r="0" t="0"/>
          <a:stretch/>
        </p:blipFill>
        <p:spPr>
          <a:xfrm>
            <a:off x="7005638" y="5000625"/>
            <a:ext cx="133500" cy="142800"/>
          </a:xfrm>
          <a:prstGeom prst="rect">
            <a:avLst/>
          </a:prstGeom>
          <a:noFill/>
          <a:ln>
            <a:noFill/>
          </a:ln>
        </p:spPr>
      </p:pic>
      <p:pic>
        <p:nvPicPr>
          <p:cNvPr id="688" name="Google Shape;688;p26"/>
          <p:cNvPicPr preferRelativeResize="0"/>
          <p:nvPr/>
        </p:nvPicPr>
        <p:blipFill rotWithShape="1">
          <a:blip r:embed="rId10">
            <a:alphaModFix/>
          </a:blip>
          <a:srcRect b="0" l="0" r="0" t="0"/>
          <a:stretch/>
        </p:blipFill>
        <p:spPr>
          <a:xfrm>
            <a:off x="7005638" y="5334000"/>
            <a:ext cx="171600" cy="142800"/>
          </a:xfrm>
          <a:prstGeom prst="rect">
            <a:avLst/>
          </a:prstGeom>
          <a:noFill/>
          <a:ln>
            <a:noFill/>
          </a:ln>
        </p:spPr>
      </p:pic>
      <p:pic>
        <p:nvPicPr>
          <p:cNvPr id="689" name="Google Shape;689;p26"/>
          <p:cNvPicPr preferRelativeResize="0"/>
          <p:nvPr/>
        </p:nvPicPr>
        <p:blipFill rotWithShape="1">
          <a:blip r:embed="rId11">
            <a:alphaModFix/>
          </a:blip>
          <a:srcRect b="0" l="0" r="0" t="0"/>
          <a:stretch/>
        </p:blipFill>
        <p:spPr>
          <a:xfrm>
            <a:off x="7005638" y="5667375"/>
            <a:ext cx="171600" cy="142800"/>
          </a:xfrm>
          <a:prstGeom prst="rect">
            <a:avLst/>
          </a:prstGeom>
          <a:noFill/>
          <a:ln>
            <a:noFill/>
          </a:ln>
        </p:spPr>
      </p:pic>
      <p:pic>
        <p:nvPicPr>
          <p:cNvPr id="690" name="Google Shape;690;p26"/>
          <p:cNvPicPr preferRelativeResize="0"/>
          <p:nvPr/>
        </p:nvPicPr>
        <p:blipFill rotWithShape="1">
          <a:blip r:embed="rId12">
            <a:alphaModFix/>
          </a:blip>
          <a:srcRect b="0" l="0" r="0" t="0"/>
          <a:stretch/>
        </p:blipFill>
        <p:spPr>
          <a:xfrm>
            <a:off x="7005638" y="6000750"/>
            <a:ext cx="133500" cy="142800"/>
          </a:xfrm>
          <a:prstGeom prst="rect">
            <a:avLst/>
          </a:prstGeom>
          <a:noFill/>
          <a:ln>
            <a:noFill/>
          </a:ln>
        </p:spPr>
      </p:pic>
      <p:pic>
        <p:nvPicPr>
          <p:cNvPr id="691" name="Google Shape;691;p26"/>
          <p:cNvPicPr preferRelativeResize="0"/>
          <p:nvPr/>
        </p:nvPicPr>
        <p:blipFill rotWithShape="1">
          <a:blip r:embed="rId13">
            <a:alphaModFix/>
          </a:blip>
          <a:srcRect b="0" l="0" r="0" t="0"/>
          <a:stretch/>
        </p:blipFill>
        <p:spPr>
          <a:xfrm>
            <a:off x="7005638" y="6334125"/>
            <a:ext cx="133500" cy="142800"/>
          </a:xfrm>
          <a:prstGeom prst="rect">
            <a:avLst/>
          </a:prstGeom>
          <a:noFill/>
          <a:ln>
            <a:noFill/>
          </a:ln>
        </p:spPr>
      </p:pic>
      <p:sp>
        <p:nvSpPr>
          <p:cNvPr id="692" name="Google Shape;692;p26"/>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Playbooks</a:t>
            </a:r>
            <a:endParaRPr/>
          </a:p>
        </p:txBody>
      </p:sp>
      <p:sp>
        <p:nvSpPr>
          <p:cNvPr id="693" name="Google Shape;693;p26"/>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7" name="Shape 697"/>
        <p:cNvGrpSpPr/>
        <p:nvPr/>
      </p:nvGrpSpPr>
      <p:grpSpPr>
        <a:xfrm>
          <a:off x="0" y="0"/>
          <a:ext cx="0" cy="0"/>
          <a:chOff x="0" y="0"/>
          <a:chExt cx="0" cy="0"/>
        </a:xfrm>
      </p:grpSpPr>
      <p:pic>
        <p:nvPicPr>
          <p:cNvPr descr="image.png" id="698" name="Google Shape;698;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99" name="Google Shape;699;p27"/>
          <p:cNvPicPr preferRelativeResize="0"/>
          <p:nvPr/>
        </p:nvPicPr>
        <p:blipFill rotWithShape="1">
          <a:blip r:embed="rId4">
            <a:alphaModFix/>
          </a:blip>
          <a:srcRect b="0" l="0" r="0" t="0"/>
          <a:stretch/>
        </p:blipFill>
        <p:spPr>
          <a:xfrm>
            <a:off x="7005637" y="1777900"/>
            <a:ext cx="4567237" cy="2109192"/>
          </a:xfrm>
          <a:prstGeom prst="rect">
            <a:avLst/>
          </a:prstGeom>
          <a:noFill/>
          <a:ln>
            <a:noFill/>
          </a:ln>
        </p:spPr>
      </p:pic>
      <p:pic>
        <p:nvPicPr>
          <p:cNvPr descr="image.png" id="700" name="Google Shape;700;p27"/>
          <p:cNvPicPr preferRelativeResize="0"/>
          <p:nvPr/>
        </p:nvPicPr>
        <p:blipFill rotWithShape="1">
          <a:blip r:embed="rId5">
            <a:alphaModFix/>
          </a:blip>
          <a:srcRect b="0" l="0" r="0" t="0"/>
          <a:stretch/>
        </p:blipFill>
        <p:spPr>
          <a:xfrm>
            <a:off x="7005637" y="4172247"/>
            <a:ext cx="4567237" cy="1754981"/>
          </a:xfrm>
          <a:prstGeom prst="rect">
            <a:avLst/>
          </a:prstGeom>
          <a:noFill/>
          <a:ln>
            <a:noFill/>
          </a:ln>
        </p:spPr>
      </p:pic>
      <p:pic>
        <p:nvPicPr>
          <p:cNvPr descr="image.png" id="701" name="Google Shape;701;p27"/>
          <p:cNvPicPr preferRelativeResize="0"/>
          <p:nvPr/>
        </p:nvPicPr>
        <p:blipFill rotWithShape="1">
          <a:blip r:embed="rId6">
            <a:alphaModFix/>
          </a:blip>
          <a:srcRect b="0" l="0" r="0" t="0"/>
          <a:stretch/>
        </p:blipFill>
        <p:spPr>
          <a:xfrm>
            <a:off x="571500" y="457200"/>
            <a:ext cx="823168" cy="200025"/>
          </a:xfrm>
          <a:prstGeom prst="rect">
            <a:avLst/>
          </a:prstGeom>
          <a:noFill/>
          <a:ln>
            <a:noFill/>
          </a:ln>
        </p:spPr>
      </p:pic>
      <p:sp>
        <p:nvSpPr>
          <p:cNvPr id="702" name="Google Shape;702;p27"/>
          <p:cNvSpPr txBox="1"/>
          <p:nvPr/>
        </p:nvSpPr>
        <p:spPr>
          <a:xfrm>
            <a:off x="571500" y="1587996"/>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PURPOSE:</a:t>
            </a:r>
            <a:endParaRPr/>
          </a:p>
        </p:txBody>
      </p:sp>
      <p:sp>
        <p:nvSpPr>
          <p:cNvPr id="703" name="Google Shape;703;p27"/>
          <p:cNvSpPr txBox="1"/>
          <p:nvPr/>
        </p:nvSpPr>
        <p:spPr>
          <a:xfrm>
            <a:off x="571500" y="1745158"/>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Wire external events to Devin sessions automatically — no human trigger required.</a:t>
            </a:r>
            <a:endParaRPr/>
          </a:p>
        </p:txBody>
      </p:sp>
      <p:sp>
        <p:nvSpPr>
          <p:cNvPr id="704" name="Google Shape;704;p27"/>
          <p:cNvSpPr txBox="1"/>
          <p:nvPr/>
        </p:nvSpPr>
        <p:spPr>
          <a:xfrm>
            <a:off x="571500" y="1995636"/>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WHY IT EXISTS:</a:t>
            </a:r>
            <a:endParaRPr/>
          </a:p>
        </p:txBody>
      </p:sp>
      <p:sp>
        <p:nvSpPr>
          <p:cNvPr id="705" name="Google Shape;705;p27"/>
          <p:cNvSpPr txBox="1"/>
          <p:nvPr/>
        </p:nvSpPr>
        <p:spPr>
          <a:xfrm>
            <a:off x="571500" y="2152798"/>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highest-value use of Devin is when it operates without requiring an engineer to manually start it. Automations enable event-driven, always-on engineering workflows.</a:t>
            </a:r>
            <a:endParaRPr/>
          </a:p>
        </p:txBody>
      </p:sp>
      <p:sp>
        <p:nvSpPr>
          <p:cNvPr id="706" name="Google Shape;706;p27"/>
          <p:cNvSpPr txBox="1"/>
          <p:nvPr/>
        </p:nvSpPr>
        <p:spPr>
          <a:xfrm>
            <a:off x="571500" y="2596604"/>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INTERNAL CONCEPT:</a:t>
            </a:r>
            <a:endParaRPr/>
          </a:p>
        </p:txBody>
      </p:sp>
      <p:sp>
        <p:nvSpPr>
          <p:cNvPr id="707" name="Google Shape;707;p27"/>
          <p:cNvSpPr txBox="1"/>
          <p:nvPr/>
        </p:nvSpPr>
        <p:spPr>
          <a:xfrm>
            <a:off x="571500" y="2753766"/>
            <a:ext cx="6196012" cy="773310"/>
          </a:xfrm>
          <a:prstGeom prst="rect">
            <a:avLst/>
          </a:prstGeom>
          <a:noFill/>
          <a:ln>
            <a:noFill/>
          </a:ln>
        </p:spPr>
        <p:txBody>
          <a:bodyPr anchorCtr="0" anchor="t" bIns="0" lIns="0" spcFirstLastPara="1" rIns="0" wrap="square" tIns="0">
            <a:spAutoFit/>
          </a:bodyPr>
          <a:lstStyle/>
          <a:p>
            <a:pPr indent="0" lvl="0" marL="0" marR="0" rtl="0" algn="l">
              <a:lnSpc>
                <a:spcPct val="84555"/>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An Automation has three parts:</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Trigger</a:t>
            </a:r>
            <a:r>
              <a:rPr b="0" i="0" lang="en-US" sz="1050" u="none" cap="none" strike="noStrike">
                <a:solidFill>
                  <a:srgbClr val="334155"/>
                </a:solidFill>
                <a:latin typeface="Plus Jakarta Sans"/>
                <a:ea typeface="Plus Jakarta Sans"/>
                <a:cs typeface="Plus Jakarta Sans"/>
                <a:sym typeface="Plus Jakarta Sans"/>
              </a:rPr>
              <a:t> — The event that fires it (Slack message, GitHub CI failure, Linear label, schedule, webhook)</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Conditions</a:t>
            </a:r>
            <a:r>
              <a:rPr b="0" i="0" lang="en-US" sz="1050" u="none" cap="none" strike="noStrike">
                <a:solidFill>
                  <a:srgbClr val="334155"/>
                </a:solidFill>
                <a:latin typeface="Plus Jakarta Sans"/>
                <a:ea typeface="Plus Jakarta Sans"/>
                <a:cs typeface="Plus Jakarta Sans"/>
                <a:sym typeface="Plus Jakarta Sans"/>
              </a:rPr>
              <a:t> — Optional filters (only fire for `bug` label, only for a specific repo)</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334155"/>
                </a:solidFill>
                <a:latin typeface="Plus Jakarta Sans"/>
                <a:ea typeface="Plus Jakarta Sans"/>
                <a:cs typeface="Plus Jakarta Sans"/>
                <a:sym typeface="Plus Jakarta Sans"/>
              </a:rPr>
              <a:t> - </a:t>
            </a:r>
            <a:r>
              <a:rPr b="1" i="0" lang="en-US" sz="1050" u="none" cap="none" strike="noStrike">
                <a:solidFill>
                  <a:srgbClr val="334155"/>
                </a:solidFill>
                <a:latin typeface="Plus Jakarta Sans"/>
                <a:ea typeface="Plus Jakarta Sans"/>
                <a:cs typeface="Plus Jakarta Sans"/>
                <a:sym typeface="Plus Jakarta Sans"/>
              </a:rPr>
              <a:t>Action</a:t>
            </a:r>
            <a:r>
              <a:rPr b="0" i="0" lang="en-US" sz="1050" u="none" cap="none" strike="noStrike">
                <a:solidFill>
                  <a:srgbClr val="334155"/>
                </a:solidFill>
                <a:latin typeface="Plus Jakarta Sans"/>
                <a:ea typeface="Plus Jakarta Sans"/>
                <a:cs typeface="Plus Jakarta Sans"/>
                <a:sym typeface="Plus Jakarta Sans"/>
              </a:rPr>
              <a:t> — What Devin does (start session, message session, triage monitor, email notification)</a:t>
            </a:r>
            <a:endParaRPr/>
          </a:p>
        </p:txBody>
      </p:sp>
      <p:sp>
        <p:nvSpPr>
          <p:cNvPr id="708" name="Google Shape;708;p27"/>
          <p:cNvSpPr txBox="1"/>
          <p:nvPr/>
        </p:nvSpPr>
        <p:spPr>
          <a:xfrm>
            <a:off x="571500" y="3584227"/>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2563EB"/>
                </a:solidFill>
                <a:latin typeface="Plus Jakarta Sans"/>
                <a:ea typeface="Plus Jakarta Sans"/>
                <a:cs typeface="Plus Jakarta Sans"/>
                <a:sym typeface="Plus Jakarta Sans"/>
              </a:rPr>
              <a:t>ENTERPRISE USE CASE:</a:t>
            </a:r>
            <a:endParaRPr/>
          </a:p>
        </p:txBody>
      </p:sp>
      <p:sp>
        <p:nvSpPr>
          <p:cNvPr id="709" name="Google Shape;709;p27"/>
          <p:cNvSpPr txBox="1"/>
          <p:nvPr/>
        </p:nvSpPr>
        <p:spPr>
          <a:xfrm>
            <a:off x="571500" y="3741390"/>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GitHub CI check fails. An Automation fires. Devin boots, reads the failure log, fixes the code, runs tests, and pushes a fix to the same branch — all without any engineer being paged.</a:t>
            </a:r>
            <a:endParaRPr/>
          </a:p>
        </p:txBody>
      </p:sp>
      <p:sp>
        <p:nvSpPr>
          <p:cNvPr id="710" name="Google Shape;710;p27"/>
          <p:cNvSpPr txBox="1"/>
          <p:nvPr/>
        </p:nvSpPr>
        <p:spPr>
          <a:xfrm>
            <a:off x="571500" y="4530625"/>
            <a:ext cx="6196012"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1" i="0" lang="en-US" sz="750" u="none" cap="none" strike="noStrike">
                <a:solidFill>
                  <a:srgbClr val="0D9488"/>
                </a:solidFill>
                <a:latin typeface="Plus Jakarta Sans"/>
                <a:ea typeface="Plus Jakarta Sans"/>
                <a:cs typeface="Plus Jakarta Sans"/>
                <a:sym typeface="Plus Jakarta Sans"/>
              </a:rPr>
              <a:t>BEST PRACTICES:</a:t>
            </a:r>
            <a:endParaRPr/>
          </a:p>
        </p:txBody>
      </p:sp>
      <p:sp>
        <p:nvSpPr>
          <p:cNvPr id="711" name="Google Shape;711;p27"/>
          <p:cNvSpPr txBox="1"/>
          <p:nvPr/>
        </p:nvSpPr>
        <p:spPr>
          <a:xfrm>
            <a:off x="7005637" y="1587996"/>
            <a:ext cx="4567237" cy="151804"/>
          </a:xfrm>
          <a:prstGeom prst="rect">
            <a:avLst/>
          </a:prstGeom>
          <a:noFill/>
          <a:ln>
            <a:noFill/>
          </a:ln>
        </p:spPr>
        <p:txBody>
          <a:bodyPr anchorCtr="0" anchor="t" bIns="0" lIns="952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TRIGGER SOURCES</a:t>
            </a:r>
            <a:endParaRPr/>
          </a:p>
        </p:txBody>
      </p:sp>
      <p:sp>
        <p:nvSpPr>
          <p:cNvPr id="712" name="Google Shape;712;p27"/>
          <p:cNvSpPr txBox="1"/>
          <p:nvPr/>
        </p:nvSpPr>
        <p:spPr>
          <a:xfrm>
            <a:off x="7005637" y="3982342"/>
            <a:ext cx="4567237" cy="151804"/>
          </a:xfrm>
          <a:prstGeom prst="rect">
            <a:avLst/>
          </a:prstGeom>
          <a:noFill/>
          <a:ln>
            <a:noFill/>
          </a:ln>
        </p:spPr>
        <p:txBody>
          <a:bodyPr anchorCtr="0" anchor="t" bIns="0" lIns="133350" spcFirstLastPara="1" rIns="0" wrap="square" tIns="0">
            <a:spAutoFit/>
          </a:bodyPr>
          <a:lstStyle/>
          <a:p>
            <a:pPr indent="0" lvl="0" marL="0" marR="0" rtl="0" algn="ctr">
              <a:lnSpc>
                <a:spcPct val="144969"/>
              </a:lnSpc>
              <a:spcBef>
                <a:spcPts val="0"/>
              </a:spcBef>
              <a:spcAft>
                <a:spcPts val="0"/>
              </a:spcAft>
              <a:buNone/>
            </a:pPr>
            <a:r>
              <a:rPr b="1" i="0" lang="en-US" sz="825" u="none" cap="none" strike="noStrike">
                <a:solidFill>
                  <a:srgbClr val="0F172A"/>
                </a:solidFill>
                <a:latin typeface="Plus Jakarta Sans"/>
                <a:ea typeface="Plus Jakarta Sans"/>
                <a:cs typeface="Plus Jakarta Sans"/>
                <a:sym typeface="Plus Jakarta Sans"/>
              </a:rPr>
              <a:t>ACTION TYPES</a:t>
            </a:r>
            <a:endParaRPr/>
          </a:p>
        </p:txBody>
      </p:sp>
      <p:sp>
        <p:nvSpPr>
          <p:cNvPr id="713" name="Google Shape;713;p27"/>
          <p:cNvSpPr txBox="1"/>
          <p:nvPr/>
        </p:nvSpPr>
        <p:spPr>
          <a:xfrm>
            <a:off x="800100" y="468778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Start with high-value, low-risk automations (CI fix, issue triage) before production workflows</a:t>
            </a:r>
            <a:endParaRPr/>
          </a:p>
        </p:txBody>
      </p:sp>
      <p:sp>
        <p:nvSpPr>
          <p:cNvPr id="714" name="Google Shape;714;p27"/>
          <p:cNvSpPr txBox="1"/>
          <p:nvPr/>
        </p:nvSpPr>
        <p:spPr>
          <a:xfrm>
            <a:off x="800100" y="4950618"/>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conditions to narrow triggers — avoid firing on every event</a:t>
            </a:r>
            <a:endParaRPr/>
          </a:p>
        </p:txBody>
      </p:sp>
      <p:sp>
        <p:nvSpPr>
          <p:cNvPr id="715" name="Google Shape;715;p27"/>
          <p:cNvSpPr txBox="1"/>
          <p:nvPr/>
        </p:nvSpPr>
        <p:spPr>
          <a:xfrm>
            <a:off x="800100" y="5213449"/>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Set ACU limits on automated sessions to control cost</a:t>
            </a:r>
            <a:endParaRPr/>
          </a:p>
        </p:txBody>
      </p:sp>
      <p:sp>
        <p:nvSpPr>
          <p:cNvPr id="716" name="Google Shape;716;p27"/>
          <p:cNvSpPr txBox="1"/>
          <p:nvPr/>
        </p:nvSpPr>
        <p:spPr>
          <a:xfrm>
            <a:off x="800100" y="5476279"/>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the Triage Devin action for high-volume Slack channels (e.g., `#customer-bugs`)</a:t>
            </a:r>
            <a:endParaRPr/>
          </a:p>
        </p:txBody>
      </p:sp>
      <p:pic>
        <p:nvPicPr>
          <p:cNvPr descr="image.png" id="717" name="Google Shape;717;p27"/>
          <p:cNvPicPr preferRelativeResize="0"/>
          <p:nvPr/>
        </p:nvPicPr>
        <p:blipFill rotWithShape="1">
          <a:blip r:embed="rId7">
            <a:alphaModFix/>
          </a:blip>
          <a:srcRect b="0" l="0" r="0" t="0"/>
          <a:stretch/>
        </p:blipFill>
        <p:spPr>
          <a:xfrm>
            <a:off x="8714779" y="1607046"/>
            <a:ext cx="95250" cy="104775"/>
          </a:xfrm>
          <a:prstGeom prst="rect">
            <a:avLst/>
          </a:prstGeom>
          <a:noFill/>
          <a:ln>
            <a:noFill/>
          </a:ln>
        </p:spPr>
      </p:pic>
      <p:graphicFrame>
        <p:nvGraphicFramePr>
          <p:cNvPr id="718" name="Google Shape;718;p27"/>
          <p:cNvGraphicFramePr/>
          <p:nvPr/>
        </p:nvGraphicFramePr>
        <p:xfrm>
          <a:off x="7015162" y="1787425"/>
          <a:ext cx="3000000" cy="3000000"/>
        </p:xfrm>
        <a:graphic>
          <a:graphicData uri="http://schemas.openxmlformats.org/drawingml/2006/table">
            <a:tbl>
              <a:tblPr bandRow="1" firstRow="1">
                <a:noFill/>
                <a:tableStyleId>{E657498C-50AF-47E2-8EDF-F8D5E4E2C3A4}</a:tableStyleId>
              </a:tblPr>
              <a:tblGrid>
                <a:gridCol w="883600"/>
                <a:gridCol w="1882675"/>
                <a:gridCol w="1781925"/>
              </a:tblGrid>
              <a:tr h="34835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Source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Event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Example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Slack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Message, Emoji Reaction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Triage bugs in `#incidents`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GitHub</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Comment, PR, CI Fail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Auto-fix failing checks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Linear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Issue Label / Status Change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Implement assigned task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Schedule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Cron or One-time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Daily dependency audit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83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Webhook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Incoming HTTP POST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Datadog/Sentry alerts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descr="image.png" id="719" name="Google Shape;719;p27"/>
          <p:cNvPicPr preferRelativeResize="0"/>
          <p:nvPr/>
        </p:nvPicPr>
        <p:blipFill rotWithShape="1">
          <a:blip r:embed="rId8">
            <a:alphaModFix/>
          </a:blip>
          <a:srcRect b="0" l="0" r="0" t="0"/>
          <a:stretch/>
        </p:blipFill>
        <p:spPr>
          <a:xfrm>
            <a:off x="8822828" y="4001392"/>
            <a:ext cx="133350" cy="104775"/>
          </a:xfrm>
          <a:prstGeom prst="rect">
            <a:avLst/>
          </a:prstGeom>
          <a:noFill/>
          <a:ln>
            <a:noFill/>
          </a:ln>
        </p:spPr>
      </p:pic>
      <p:graphicFrame>
        <p:nvGraphicFramePr>
          <p:cNvPr id="720" name="Google Shape;720;p27"/>
          <p:cNvGraphicFramePr/>
          <p:nvPr/>
        </p:nvGraphicFramePr>
        <p:xfrm>
          <a:off x="7015162" y="4181772"/>
          <a:ext cx="3000000" cy="3000000"/>
        </p:xfrm>
        <a:graphic>
          <a:graphicData uri="http://schemas.openxmlformats.org/drawingml/2006/table">
            <a:tbl>
              <a:tblPr bandRow="1" firstRow="1">
                <a:noFill/>
                <a:tableStyleId>{E657498C-50AF-47E2-8EDF-F8D5E4E2C3A4}</a:tableStyleId>
              </a:tblPr>
              <a:tblGrid>
                <a:gridCol w="1585175"/>
                <a:gridCol w="2963025"/>
              </a:tblGrid>
              <a:tr h="347175">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Action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Description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Start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Creates new session with event context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Message session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Sends input data to running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Triage Devin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Watches channel, spawns sub-sessions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47175">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Email notify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Sends run, success, or fail alerts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721" name="Google Shape;721;p27"/>
          <p:cNvSpPr txBox="1"/>
          <p:nvPr/>
        </p:nvSpPr>
        <p:spPr>
          <a:xfrm>
            <a:off x="571500" y="4185195"/>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0D9488"/>
                </a:solidFill>
                <a:latin typeface="Plus Jakarta Sans"/>
                <a:ea typeface="Plus Jakarta Sans"/>
                <a:cs typeface="Plus Jakarta Sans"/>
                <a:sym typeface="Plus Jakarta Sans"/>
              </a:rPr>
              <a:t>ADVANTAGES:</a:t>
            </a:r>
            <a:endParaRPr/>
          </a:p>
        </p:txBody>
      </p:sp>
      <p:sp>
        <p:nvSpPr>
          <p:cNvPr id="722" name="Google Shape;722;p27"/>
          <p:cNvSpPr txBox="1"/>
          <p:nvPr/>
        </p:nvSpPr>
        <p:spPr>
          <a:xfrm>
            <a:off x="571500" y="4335363"/>
            <a:ext cx="3059906"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Fully event-driven; multi-triggers; natural prompts; templates</a:t>
            </a:r>
            <a:endParaRPr/>
          </a:p>
        </p:txBody>
      </p:sp>
      <p:sp>
        <p:nvSpPr>
          <p:cNvPr id="723" name="Google Shape;723;p27"/>
          <p:cNvSpPr txBox="1"/>
          <p:nvPr/>
        </p:nvSpPr>
        <p:spPr>
          <a:xfrm>
            <a:off x="3707606" y="4185195"/>
            <a:ext cx="3059906" cy="131117"/>
          </a:xfrm>
          <a:prstGeom prst="rect">
            <a:avLst/>
          </a:prstGeom>
          <a:noFill/>
          <a:ln>
            <a:noFill/>
          </a:ln>
        </p:spPr>
        <p:txBody>
          <a:bodyPr anchorCtr="0" anchor="t" bIns="0" lIns="0" spcFirstLastPara="1" rIns="0" wrap="square" tIns="0">
            <a:spAutoFit/>
          </a:bodyPr>
          <a:lstStyle/>
          <a:p>
            <a:pPr indent="0" lvl="0" marL="0" marR="0" rtl="0" algn="l">
              <a:lnSpc>
                <a:spcPct val="145084"/>
              </a:lnSpc>
              <a:spcBef>
                <a:spcPts val="0"/>
              </a:spcBef>
              <a:spcAft>
                <a:spcPts val="0"/>
              </a:spcAft>
              <a:buNone/>
            </a:pPr>
            <a:r>
              <a:rPr b="1" i="0" lang="en-US" sz="712" u="none" cap="none" strike="noStrike">
                <a:solidFill>
                  <a:srgbClr val="EF4444"/>
                </a:solidFill>
                <a:latin typeface="Plus Jakarta Sans"/>
                <a:ea typeface="Plus Jakarta Sans"/>
                <a:cs typeface="Plus Jakarta Sans"/>
                <a:sym typeface="Plus Jakarta Sans"/>
              </a:rPr>
              <a:t>LIMITATIONS:</a:t>
            </a:r>
            <a:endParaRPr/>
          </a:p>
        </p:txBody>
      </p:sp>
      <p:sp>
        <p:nvSpPr>
          <p:cNvPr id="724" name="Google Shape;724;p27"/>
          <p:cNvSpPr txBox="1"/>
          <p:nvPr/>
        </p:nvSpPr>
        <p:spPr>
          <a:xfrm>
            <a:off x="3707606" y="4335363"/>
            <a:ext cx="3059906" cy="138112"/>
          </a:xfrm>
          <a:prstGeom prst="rect">
            <a:avLst/>
          </a:prstGeom>
          <a:noFill/>
          <a:ln>
            <a:noFill/>
          </a:ln>
        </p:spPr>
        <p:txBody>
          <a:bodyPr anchorCtr="0" anchor="t" bIns="0" lIns="0" spcFirstLastPara="1" rIns="0" wrap="square" tIns="0">
            <a:spAutoFit/>
          </a:bodyPr>
          <a:lstStyle/>
          <a:p>
            <a:pPr indent="0" lvl="0" marL="0" marR="0" rtl="0" algn="l">
              <a:lnSpc>
                <a:spcPct val="144933"/>
              </a:lnSpc>
              <a:spcBef>
                <a:spcPts val="0"/>
              </a:spcBef>
              <a:spcAft>
                <a:spcPts val="0"/>
              </a:spcAft>
              <a:buNone/>
            </a:pPr>
            <a:r>
              <a:rPr b="0" i="0" lang="en-US" sz="750" u="none" cap="none" strike="noStrike">
                <a:solidFill>
                  <a:srgbClr val="334155"/>
                </a:solidFill>
                <a:latin typeface="Plus Jakarta Sans"/>
                <a:ea typeface="Plus Jakarta Sans"/>
                <a:cs typeface="Plus Jakarta Sans"/>
                <a:sym typeface="Plus Jakarta Sans"/>
              </a:rPr>
              <a:t>VCS private repos restriction; Slack channel joins required</a:t>
            </a:r>
            <a:endParaRPr/>
          </a:p>
        </p:txBody>
      </p:sp>
      <p:sp>
        <p:nvSpPr>
          <p:cNvPr id="725" name="Google Shape;725;p27"/>
          <p:cNvSpPr/>
          <p:nvPr/>
        </p:nvSpPr>
        <p:spPr>
          <a:xfrm>
            <a:off x="7015162" y="2101750"/>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6" name="Google Shape;726;p27"/>
          <p:cNvSpPr/>
          <p:nvPr/>
        </p:nvSpPr>
        <p:spPr>
          <a:xfrm>
            <a:off x="7898755" y="2101750"/>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7" name="Google Shape;727;p27"/>
          <p:cNvSpPr/>
          <p:nvPr/>
        </p:nvSpPr>
        <p:spPr>
          <a:xfrm>
            <a:off x="9781430" y="2101750"/>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8" name="Google Shape;728;p27"/>
          <p:cNvSpPr/>
          <p:nvPr/>
        </p:nvSpPr>
        <p:spPr>
          <a:xfrm>
            <a:off x="7015162" y="4496097"/>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29" name="Google Shape;729;p27"/>
          <p:cNvSpPr/>
          <p:nvPr/>
        </p:nvSpPr>
        <p:spPr>
          <a:xfrm>
            <a:off x="8600330" y="4496097"/>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730" name="Google Shape;730;p27"/>
          <p:cNvPicPr preferRelativeResize="0"/>
          <p:nvPr/>
        </p:nvPicPr>
        <p:blipFill rotWithShape="1">
          <a:blip r:embed="rId9">
            <a:alphaModFix/>
          </a:blip>
          <a:srcRect b="0" l="0" r="0" t="0"/>
          <a:stretch/>
        </p:blipFill>
        <p:spPr>
          <a:xfrm>
            <a:off x="571500" y="4711600"/>
            <a:ext cx="133350" cy="142875"/>
          </a:xfrm>
          <a:prstGeom prst="rect">
            <a:avLst/>
          </a:prstGeom>
          <a:noFill/>
          <a:ln>
            <a:noFill/>
          </a:ln>
        </p:spPr>
      </p:pic>
      <p:pic>
        <p:nvPicPr>
          <p:cNvPr descr="image.png" id="731" name="Google Shape;731;p27"/>
          <p:cNvPicPr preferRelativeResize="0"/>
          <p:nvPr/>
        </p:nvPicPr>
        <p:blipFill rotWithShape="1">
          <a:blip r:embed="rId10">
            <a:alphaModFix/>
          </a:blip>
          <a:srcRect b="0" l="0" r="0" t="0"/>
          <a:stretch/>
        </p:blipFill>
        <p:spPr>
          <a:xfrm>
            <a:off x="571500" y="4974431"/>
            <a:ext cx="133350" cy="142875"/>
          </a:xfrm>
          <a:prstGeom prst="rect">
            <a:avLst/>
          </a:prstGeom>
          <a:noFill/>
          <a:ln>
            <a:noFill/>
          </a:ln>
        </p:spPr>
      </p:pic>
      <p:pic>
        <p:nvPicPr>
          <p:cNvPr descr="image.png" id="732" name="Google Shape;732;p27"/>
          <p:cNvPicPr preferRelativeResize="0"/>
          <p:nvPr/>
        </p:nvPicPr>
        <p:blipFill rotWithShape="1">
          <a:blip r:embed="rId11">
            <a:alphaModFix/>
          </a:blip>
          <a:srcRect b="0" l="0" r="0" t="0"/>
          <a:stretch/>
        </p:blipFill>
        <p:spPr>
          <a:xfrm>
            <a:off x="571500" y="5237261"/>
            <a:ext cx="133350" cy="142875"/>
          </a:xfrm>
          <a:prstGeom prst="rect">
            <a:avLst/>
          </a:prstGeom>
          <a:noFill/>
          <a:ln>
            <a:noFill/>
          </a:ln>
        </p:spPr>
      </p:pic>
      <p:pic>
        <p:nvPicPr>
          <p:cNvPr descr="image.png" id="733" name="Google Shape;733;p27"/>
          <p:cNvPicPr preferRelativeResize="0"/>
          <p:nvPr/>
        </p:nvPicPr>
        <p:blipFill rotWithShape="1">
          <a:blip r:embed="rId12">
            <a:alphaModFix/>
          </a:blip>
          <a:srcRect b="0" l="0" r="0" t="0"/>
          <a:stretch/>
        </p:blipFill>
        <p:spPr>
          <a:xfrm>
            <a:off x="571500" y="5500092"/>
            <a:ext cx="171450" cy="142875"/>
          </a:xfrm>
          <a:prstGeom prst="rect">
            <a:avLst/>
          </a:prstGeom>
          <a:noFill/>
          <a:ln>
            <a:noFill/>
          </a:ln>
        </p:spPr>
      </p:pic>
      <p:sp>
        <p:nvSpPr>
          <p:cNvPr id="734" name="Google Shape;734;p27"/>
          <p:cNvSpPr/>
          <p:nvPr/>
        </p:nvSpPr>
        <p:spPr>
          <a:xfrm>
            <a:off x="7015162" y="2455961"/>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5" name="Google Shape;735;p27"/>
          <p:cNvSpPr/>
          <p:nvPr/>
        </p:nvSpPr>
        <p:spPr>
          <a:xfrm>
            <a:off x="7898755" y="2455961"/>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6" name="Google Shape;736;p27"/>
          <p:cNvSpPr/>
          <p:nvPr/>
        </p:nvSpPr>
        <p:spPr>
          <a:xfrm>
            <a:off x="9781430" y="2455961"/>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7" name="Google Shape;737;p27"/>
          <p:cNvSpPr/>
          <p:nvPr/>
        </p:nvSpPr>
        <p:spPr>
          <a:xfrm>
            <a:off x="7015162" y="2810172"/>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8" name="Google Shape;738;p27"/>
          <p:cNvSpPr/>
          <p:nvPr/>
        </p:nvSpPr>
        <p:spPr>
          <a:xfrm>
            <a:off x="7898755" y="2810172"/>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9" name="Google Shape;739;p27"/>
          <p:cNvSpPr/>
          <p:nvPr/>
        </p:nvSpPr>
        <p:spPr>
          <a:xfrm>
            <a:off x="9781430" y="2810172"/>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0" name="Google Shape;740;p27"/>
          <p:cNvSpPr/>
          <p:nvPr/>
        </p:nvSpPr>
        <p:spPr>
          <a:xfrm>
            <a:off x="7015162" y="3164383"/>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1" name="Google Shape;741;p27"/>
          <p:cNvSpPr/>
          <p:nvPr/>
        </p:nvSpPr>
        <p:spPr>
          <a:xfrm>
            <a:off x="7898755" y="3164383"/>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2" name="Google Shape;742;p27"/>
          <p:cNvSpPr/>
          <p:nvPr/>
        </p:nvSpPr>
        <p:spPr>
          <a:xfrm>
            <a:off x="9781430" y="3164383"/>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3" name="Google Shape;743;p27"/>
          <p:cNvSpPr/>
          <p:nvPr/>
        </p:nvSpPr>
        <p:spPr>
          <a:xfrm>
            <a:off x="7015162" y="3518594"/>
            <a:ext cx="88359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4" name="Google Shape;744;p27"/>
          <p:cNvSpPr/>
          <p:nvPr/>
        </p:nvSpPr>
        <p:spPr>
          <a:xfrm>
            <a:off x="7898755" y="3518594"/>
            <a:ext cx="18826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5" name="Google Shape;745;p27"/>
          <p:cNvSpPr/>
          <p:nvPr/>
        </p:nvSpPr>
        <p:spPr>
          <a:xfrm>
            <a:off x="9781430" y="3518594"/>
            <a:ext cx="17819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6" name="Google Shape;746;p27"/>
          <p:cNvSpPr/>
          <p:nvPr/>
        </p:nvSpPr>
        <p:spPr>
          <a:xfrm>
            <a:off x="7015162" y="4850308"/>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7" name="Google Shape;747;p27"/>
          <p:cNvSpPr/>
          <p:nvPr/>
        </p:nvSpPr>
        <p:spPr>
          <a:xfrm>
            <a:off x="8600330" y="4850308"/>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8" name="Google Shape;748;p27"/>
          <p:cNvSpPr/>
          <p:nvPr/>
        </p:nvSpPr>
        <p:spPr>
          <a:xfrm>
            <a:off x="7015162" y="5204519"/>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9" name="Google Shape;749;p27"/>
          <p:cNvSpPr/>
          <p:nvPr/>
        </p:nvSpPr>
        <p:spPr>
          <a:xfrm>
            <a:off x="8600330" y="5204519"/>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0" name="Google Shape;750;p27"/>
          <p:cNvSpPr/>
          <p:nvPr/>
        </p:nvSpPr>
        <p:spPr>
          <a:xfrm>
            <a:off x="7015162" y="5558730"/>
            <a:ext cx="158516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1" name="Google Shape;751;p27"/>
          <p:cNvSpPr/>
          <p:nvPr/>
        </p:nvSpPr>
        <p:spPr>
          <a:xfrm>
            <a:off x="8600330" y="5558730"/>
            <a:ext cx="29630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52" name="Google Shape;752;p27"/>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Automations</a:t>
            </a:r>
            <a:endParaRPr/>
          </a:p>
        </p:txBody>
      </p:sp>
      <p:sp>
        <p:nvSpPr>
          <p:cNvPr id="753" name="Google Shape;753;p27"/>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7" name="Shape 757"/>
        <p:cNvGrpSpPr/>
        <p:nvPr/>
      </p:nvGrpSpPr>
      <p:grpSpPr>
        <a:xfrm>
          <a:off x="0" y="0"/>
          <a:ext cx="0" cy="0"/>
          <a:chOff x="0" y="0"/>
          <a:chExt cx="0" cy="0"/>
        </a:xfrm>
      </p:grpSpPr>
      <p:grpSp>
        <p:nvGrpSpPr>
          <p:cNvPr id="758" name="Google Shape;758;p28"/>
          <p:cNvGrpSpPr/>
          <p:nvPr/>
        </p:nvGrpSpPr>
        <p:grpSpPr>
          <a:xfrm>
            <a:off x="571500" y="381000"/>
            <a:ext cx="11049000" cy="781200"/>
            <a:chOff x="0" y="0"/>
            <a:chExt cx="11049000" cy="781200"/>
          </a:xfrm>
        </p:grpSpPr>
        <p:pic>
          <p:nvPicPr>
            <p:cNvPr id="759" name="Google Shape;759;p28"/>
            <p:cNvPicPr preferRelativeResize="0"/>
            <p:nvPr/>
          </p:nvPicPr>
          <p:blipFill rotWithShape="1">
            <a:blip r:embed="rId4">
              <a:alphaModFix/>
            </a:blip>
            <a:srcRect b="0" l="348" r="338" t="0"/>
            <a:stretch/>
          </p:blipFill>
          <p:spPr>
            <a:xfrm>
              <a:off x="0" y="0"/>
              <a:ext cx="822900" cy="200100"/>
            </a:xfrm>
            <a:prstGeom prst="rect">
              <a:avLst/>
            </a:prstGeom>
            <a:noFill/>
            <a:ln>
              <a:noFill/>
            </a:ln>
          </p:spPr>
        </p:pic>
        <p:sp>
          <p:nvSpPr>
            <p:cNvPr id="760" name="Google Shape;760;p28"/>
            <p:cNvSpPr txBox="1"/>
            <p:nvPr/>
          </p:nvSpPr>
          <p:spPr>
            <a:xfrm>
              <a:off x="0" y="285750"/>
              <a:ext cx="110490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2400">
                  <a:solidFill>
                    <a:srgbClr val="0F172A"/>
                  </a:solidFill>
                  <a:latin typeface="Plus Jakarta Sans ExtraBold"/>
                  <a:ea typeface="Plus Jakarta Sans ExtraBold"/>
                  <a:cs typeface="Plus Jakarta Sans ExtraBold"/>
                  <a:sym typeface="Plus Jakarta Sans ExtraBold"/>
                </a:rPr>
                <a:t>Environment &amp; Snapshots Setup</a:t>
              </a:r>
              <a:endParaRPr b="0" sz="2400">
                <a:solidFill>
                  <a:srgbClr val="0F172A"/>
                </a:solidFill>
                <a:latin typeface="Plus Jakarta Sans ExtraBold"/>
                <a:ea typeface="Plus Jakarta Sans ExtraBold"/>
                <a:cs typeface="Plus Jakarta Sans ExtraBold"/>
                <a:sym typeface="Plus Jakarta Sans ExtraBold"/>
              </a:endParaRPr>
            </a:p>
          </p:txBody>
        </p:sp>
        <p:sp>
          <p:nvSpPr>
            <p:cNvPr id="761" name="Google Shape;761;p28"/>
            <p:cNvSpPr/>
            <p:nvPr/>
          </p:nvSpPr>
          <p:spPr>
            <a:xfrm>
              <a:off x="0" y="762000"/>
              <a:ext cx="11049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762" name="Google Shape;762;p28"/>
          <p:cNvGrpSpPr/>
          <p:nvPr/>
        </p:nvGrpSpPr>
        <p:grpSpPr>
          <a:xfrm>
            <a:off x="571500" y="1381125"/>
            <a:ext cx="5715150" cy="5000625"/>
            <a:chOff x="0" y="0"/>
            <a:chExt cx="5715150" cy="5000625"/>
          </a:xfrm>
        </p:grpSpPr>
        <p:sp>
          <p:nvSpPr>
            <p:cNvPr id="763" name="Google Shape;763;p28"/>
            <p:cNvSpPr txBox="1"/>
            <p:nvPr/>
          </p:nvSpPr>
          <p:spPr>
            <a:xfrm>
              <a:off x="0" y="0"/>
              <a:ext cx="5715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2563EB"/>
                  </a:solidFill>
                  <a:latin typeface="Plus Jakarta Sans"/>
                  <a:ea typeface="Plus Jakarta Sans"/>
                  <a:cs typeface="Plus Jakarta Sans"/>
                  <a:sym typeface="Plus Jakarta Sans"/>
                </a:rPr>
                <a:t>PURPOSE &amp; RATIONALE</a:t>
              </a:r>
              <a:endParaRPr b="1" sz="850">
                <a:solidFill>
                  <a:srgbClr val="2563EB"/>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1150">
                  <a:solidFill>
                    <a:srgbClr val="0F172A"/>
                  </a:solidFill>
                  <a:latin typeface="Plus Jakarta Sans Medium"/>
                  <a:ea typeface="Plus Jakarta Sans Medium"/>
                  <a:cs typeface="Plus Jakarta Sans Medium"/>
                  <a:sym typeface="Plus Jakarta Sans Medium"/>
                </a:rPr>
                <a:t>Provide Devin with a pre-configured, reproducible workspace for every session.</a:t>
              </a:r>
              <a:endParaRPr b="0" sz="1150">
                <a:solidFill>
                  <a:srgbClr val="0F172A"/>
                </a:solidFill>
                <a:latin typeface="Plus Jakarta Sans Medium"/>
                <a:ea typeface="Plus Jakarta Sans Medium"/>
                <a:cs typeface="Plus Jakarta Sans Medium"/>
                <a:sym typeface="Plus Jakarta Sans Medium"/>
              </a:endParaRPr>
            </a:p>
            <a:p>
              <a:pPr indent="0" lvl="0" marL="0" rtl="0" algn="l">
                <a:spcBef>
                  <a:spcPts val="750"/>
                </a:spcBef>
                <a:spcAft>
                  <a:spcPts val="0"/>
                </a:spcAft>
                <a:buNone/>
              </a:pPr>
              <a:r>
                <a:rPr lang="en-US" sz="1000">
                  <a:solidFill>
                    <a:srgbClr val="475569"/>
                  </a:solidFill>
                  <a:highlight>
                    <a:srgbClr val="F1F5F9"/>
                  </a:highlight>
                  <a:latin typeface="Plus Jakarta Sans"/>
                  <a:ea typeface="Plus Jakarta Sans"/>
                  <a:cs typeface="Plus Jakarta Sans"/>
                  <a:sym typeface="Plus Jakarta Sans"/>
                </a:rPr>
                <a:t>Without a properly configured environment, Devin cannot build, test, or verify its work. </a:t>
              </a:r>
              <a:r>
                <a:rPr b="1" lang="en-US" sz="1000">
                  <a:solidFill>
                    <a:srgbClr val="1E40AF"/>
                  </a:solidFill>
                  <a:highlight>
                    <a:srgbClr val="F1F5F9"/>
                  </a:highlight>
                  <a:latin typeface="Plus Jakarta Sans"/>
                  <a:ea typeface="Plus Jakarta Sans"/>
                  <a:cs typeface="Plus Jakarta Sans"/>
                  <a:sym typeface="Plus Jakarta Sans"/>
                </a:rPr>
                <a:t>"The environment is the single highest-leverage thing you can do to improve Devin's effectiveness."</a:t>
              </a:r>
              <a:endParaRPr sz="1000">
                <a:solidFill>
                  <a:srgbClr val="475569"/>
                </a:solidFill>
                <a:highlight>
                  <a:srgbClr val="F1F5F9"/>
                </a:highlight>
                <a:latin typeface="Plus Jakarta Sans"/>
                <a:ea typeface="Plus Jakarta Sans"/>
                <a:cs typeface="Plus Jakarta Sans"/>
                <a:sym typeface="Plus Jakarta Sans"/>
              </a:endParaRPr>
            </a:p>
          </p:txBody>
        </p:sp>
        <p:sp>
          <p:nvSpPr>
            <p:cNvPr id="764" name="Google Shape;764;p28"/>
            <p:cNvSpPr txBox="1"/>
            <p:nvPr/>
          </p:nvSpPr>
          <p:spPr>
            <a:xfrm>
              <a:off x="0" y="1571625"/>
              <a:ext cx="5715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2563EB"/>
                  </a:solidFill>
                  <a:latin typeface="Plus Jakarta Sans"/>
                  <a:ea typeface="Plus Jakarta Sans"/>
                  <a:cs typeface="Plus Jakarta Sans"/>
                  <a:sym typeface="Plus Jakarta Sans"/>
                </a:rPr>
                <a:t>INTERNAL CONCEPT</a:t>
              </a:r>
              <a:endParaRPr b="1" sz="850">
                <a:solidFill>
                  <a:srgbClr val="2563EB"/>
                </a:solidFill>
                <a:latin typeface="Plus Jakarta Sans"/>
                <a:ea typeface="Plus Jakarta Sans"/>
                <a:cs typeface="Plus Jakarta Sans"/>
                <a:sym typeface="Plus Jakarta Sans"/>
              </a:endParaRPr>
            </a:p>
            <a:p>
              <a:pPr indent="-292100" lvl="0" marL="457200" rtl="0" algn="l">
                <a:spcBef>
                  <a:spcPts val="600"/>
                </a:spcBef>
                <a:spcAft>
                  <a:spcPts val="0"/>
                </a:spcAft>
                <a:buClr>
                  <a:srgbClr val="334155"/>
                </a:buClr>
                <a:buSzPts val="1000"/>
                <a:buFont typeface="Plus Jakarta Sans"/>
                <a:buChar char="●"/>
              </a:pPr>
              <a:r>
                <a:rPr lang="en-US" sz="1000">
                  <a:solidFill>
                    <a:srgbClr val="334155"/>
                  </a:solidFill>
                  <a:latin typeface="Plus Jakarta Sans"/>
                  <a:ea typeface="Plus Jakarta Sans"/>
                  <a:cs typeface="Plus Jakarta Sans"/>
                  <a:sym typeface="Plus Jakarta Sans"/>
                </a:rPr>
                <a:t>Devin operates inside a </a:t>
              </a:r>
              <a:r>
                <a:rPr b="1" lang="en-US" sz="1000">
                  <a:solidFill>
                    <a:srgbClr val="0F172A"/>
                  </a:solidFill>
                  <a:latin typeface="Plus Jakarta Sans"/>
                  <a:ea typeface="Plus Jakarta Sans"/>
                  <a:cs typeface="Plus Jakarta Sans"/>
                  <a:sym typeface="Plus Jakarta Sans"/>
                </a:rPr>
                <a:t>Linux-based VM (Ubuntu 22.04 x86_64)</a:t>
              </a:r>
              <a:endParaRPr sz="1000">
                <a:solidFill>
                  <a:srgbClr val="334155"/>
                </a:solidFill>
                <a:latin typeface="Plus Jakarta Sans"/>
                <a:ea typeface="Plus Jakarta Sans"/>
                <a:cs typeface="Plus Jakarta Sans"/>
                <a:sym typeface="Plus Jakarta Sans"/>
              </a:endParaRPr>
            </a:p>
            <a:p>
              <a:pPr indent="-292100" lvl="0" marL="457200" rtl="0" algn="l">
                <a:spcBef>
                  <a:spcPts val="450"/>
                </a:spcBef>
                <a:spcAft>
                  <a:spcPts val="0"/>
                </a:spcAft>
                <a:buClr>
                  <a:srgbClr val="334155"/>
                </a:buClr>
                <a:buSzPts val="1000"/>
                <a:buFont typeface="Plus Jakarta Sans"/>
                <a:buChar char="●"/>
              </a:pPr>
              <a:r>
                <a:rPr lang="en-US" sz="1000">
                  <a:solidFill>
                    <a:srgbClr val="334155"/>
                  </a:solidFill>
                  <a:latin typeface="Plus Jakarta Sans"/>
                  <a:ea typeface="Plus Jakarta Sans"/>
                  <a:cs typeface="Plus Jakarta Sans"/>
                  <a:sym typeface="Plus Jakarta Sans"/>
                </a:rPr>
                <a:t>Saved as a </a:t>
              </a:r>
              <a:r>
                <a:rPr b="1" lang="en-US" sz="1000">
                  <a:solidFill>
                    <a:srgbClr val="0F172A"/>
                  </a:solidFill>
                  <a:latin typeface="Plus Jakarta Sans"/>
                  <a:ea typeface="Plus Jakarta Sans"/>
                  <a:cs typeface="Plus Jakarta Sans"/>
                  <a:sym typeface="Plus Jakarta Sans"/>
                </a:rPr>
                <a:t>snapshot</a:t>
              </a:r>
              <a:r>
                <a:rPr lang="en-US" sz="1000">
                  <a:solidFill>
                    <a:srgbClr val="334155"/>
                  </a:solidFill>
                  <a:latin typeface="Plus Jakarta Sans"/>
                  <a:ea typeface="Plus Jakarta Sans"/>
                  <a:cs typeface="Plus Jakarta Sans"/>
                  <a:sym typeface="Plus Jakarta Sans"/>
                </a:rPr>
                <a:t> — a frozen, bootable image that resets every session</a:t>
              </a:r>
              <a:endParaRPr sz="1000">
                <a:solidFill>
                  <a:srgbClr val="334155"/>
                </a:solidFill>
                <a:latin typeface="Plus Jakarta Sans"/>
                <a:ea typeface="Plus Jakarta Sans"/>
                <a:cs typeface="Plus Jakarta Sans"/>
                <a:sym typeface="Plus Jakarta Sans"/>
              </a:endParaRPr>
            </a:p>
            <a:p>
              <a:pPr indent="-292100" lvl="0" marL="457200" rtl="0" algn="l">
                <a:spcBef>
                  <a:spcPts val="450"/>
                </a:spcBef>
                <a:spcAft>
                  <a:spcPts val="0"/>
                </a:spcAft>
                <a:buClr>
                  <a:srgbClr val="334155"/>
                </a:buClr>
                <a:buSzPts val="1000"/>
                <a:buFont typeface="Plus Jakarta Sans"/>
                <a:buChar char="●"/>
              </a:pPr>
              <a:r>
                <a:rPr lang="en-US" sz="1000">
                  <a:solidFill>
                    <a:srgbClr val="334155"/>
                  </a:solidFill>
                  <a:latin typeface="Plus Jakarta Sans"/>
                  <a:ea typeface="Plus Jakarta Sans"/>
                  <a:cs typeface="Plus Jakarta Sans"/>
                  <a:sym typeface="Plus Jakarta Sans"/>
                </a:rPr>
                <a:t>Configuration is defined via </a:t>
              </a:r>
              <a:r>
                <a:rPr b="1" lang="en-US" sz="1000">
                  <a:solidFill>
                    <a:srgbClr val="0F172A"/>
                  </a:solidFill>
                  <a:latin typeface="Plus Jakarta Sans"/>
                  <a:ea typeface="Plus Jakarta Sans"/>
                  <a:cs typeface="Plus Jakarta Sans"/>
                  <a:sym typeface="Plus Jakarta Sans"/>
                </a:rPr>
                <a:t>declarative blueprints</a:t>
              </a:r>
              <a:r>
                <a:rPr lang="en-US" sz="1000">
                  <a:solidFill>
                    <a:srgbClr val="334155"/>
                  </a:solidFill>
                  <a:latin typeface="Plus Jakarta Sans"/>
                  <a:ea typeface="Plus Jakarta Sans"/>
                  <a:cs typeface="Plus Jakarta Sans"/>
                  <a:sym typeface="Plus Jakarta Sans"/>
                </a:rPr>
                <a:t> (YAML) or an interactive wizard</a:t>
              </a:r>
              <a:endParaRPr sz="1000">
                <a:solidFill>
                  <a:srgbClr val="334155"/>
                </a:solidFill>
                <a:latin typeface="Plus Jakarta Sans"/>
                <a:ea typeface="Plus Jakarta Sans"/>
                <a:cs typeface="Plus Jakarta Sans"/>
                <a:sym typeface="Plus Jakarta Sans"/>
              </a:endParaRPr>
            </a:p>
            <a:p>
              <a:pPr indent="-292100" lvl="0" marL="457200" rtl="0" algn="l">
                <a:spcBef>
                  <a:spcPts val="450"/>
                </a:spcBef>
                <a:spcAft>
                  <a:spcPts val="0"/>
                </a:spcAft>
                <a:buClr>
                  <a:srgbClr val="334155"/>
                </a:buClr>
                <a:buSzPts val="1000"/>
                <a:buFont typeface="Plus Jakarta Sans"/>
                <a:buChar char="●"/>
              </a:pPr>
              <a:r>
                <a:rPr lang="en-US" sz="1000">
                  <a:solidFill>
                    <a:srgbClr val="334155"/>
                  </a:solidFill>
                  <a:latin typeface="Plus Jakarta Sans"/>
                  <a:ea typeface="Plus Jakarta Sans"/>
                  <a:cs typeface="Plus Jakarta Sans"/>
                  <a:sym typeface="Plus Jakarta Sans"/>
                </a:rPr>
                <a:t>The </a:t>
              </a:r>
              <a:r>
                <a:rPr b="1" lang="en-US" sz="1000">
                  <a:solidFill>
                    <a:srgbClr val="0F172A"/>
                  </a:solidFill>
                  <a:latin typeface="Plus Jakarta Sans"/>
                  <a:ea typeface="Plus Jakarta Sans"/>
                  <a:cs typeface="Plus Jakarta Sans"/>
                  <a:sym typeface="Plus Jakarta Sans"/>
                </a:rPr>
                <a:t>blueprint hierarchy</a:t>
              </a:r>
              <a:r>
                <a:rPr lang="en-US" sz="1000">
                  <a:solidFill>
                    <a:srgbClr val="334155"/>
                  </a:solidFill>
                  <a:latin typeface="Plus Jakarta Sans"/>
                  <a:ea typeface="Plus Jakarta Sans"/>
                  <a:cs typeface="Plus Jakarta Sans"/>
                  <a:sym typeface="Plus Jakarta Sans"/>
                </a:rPr>
                <a:t> is three-tiered: Enterprise → Organization → Repository</a:t>
              </a:r>
              <a:endParaRPr sz="1000">
                <a:solidFill>
                  <a:srgbClr val="334155"/>
                </a:solidFill>
                <a:latin typeface="Plus Jakarta Sans"/>
                <a:ea typeface="Plus Jakarta Sans"/>
                <a:cs typeface="Plus Jakarta Sans"/>
                <a:sym typeface="Plus Jakarta Sans"/>
              </a:endParaRPr>
            </a:p>
          </p:txBody>
        </p:sp>
        <p:grpSp>
          <p:nvGrpSpPr>
            <p:cNvPr id="765" name="Google Shape;765;p28"/>
            <p:cNvGrpSpPr/>
            <p:nvPr/>
          </p:nvGrpSpPr>
          <p:grpSpPr>
            <a:xfrm>
              <a:off x="0" y="3190875"/>
              <a:ext cx="5715000" cy="904800"/>
              <a:chOff x="0" y="0"/>
              <a:chExt cx="5715000" cy="904800"/>
            </a:xfrm>
          </p:grpSpPr>
          <p:sp>
            <p:nvSpPr>
              <p:cNvPr id="766" name="Google Shape;766;p28"/>
              <p:cNvSpPr/>
              <p:nvPr/>
            </p:nvSpPr>
            <p:spPr>
              <a:xfrm>
                <a:off x="0" y="0"/>
                <a:ext cx="5715000" cy="904800"/>
              </a:xfrm>
              <a:prstGeom prst="roundRect">
                <a:avLst>
                  <a:gd fmla="val 8421"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7" name="Google Shape;767;p28"/>
              <p:cNvSpPr txBox="1"/>
              <p:nvPr/>
            </p:nvSpPr>
            <p:spPr>
              <a:xfrm>
                <a:off x="142875" y="114300"/>
                <a:ext cx="54294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1E40AF"/>
                    </a:solidFill>
                    <a:latin typeface="Plus Jakarta Sans"/>
                    <a:ea typeface="Plus Jakarta Sans"/>
                    <a:cs typeface="Plus Jakarta Sans"/>
                    <a:sym typeface="Plus Jakarta Sans"/>
                  </a:rPr>
                  <a:t>ENTERPRISE USE CASE</a:t>
                </a:r>
                <a:endParaRPr b="1" sz="800">
                  <a:solidFill>
                    <a:srgbClr val="1E40AF"/>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50">
                    <a:solidFill>
                      <a:srgbClr val="1E3A8A"/>
                    </a:solidFill>
                    <a:latin typeface="Plus Jakarta Sans"/>
                    <a:ea typeface="Plus Jakarta Sans"/>
                    <a:cs typeface="Plus Jakarta Sans"/>
                    <a:sym typeface="Plus Jakarta Sans"/>
                  </a:rPr>
                  <a:t>An enterprise standardizes Python 3.12, Node 20, and security tools in the Enterprise Blueprint. Teams inherit this baseline at the Org level, and customize per-project at the Repo level.</a:t>
                </a:r>
                <a:endParaRPr b="0" sz="950">
                  <a:solidFill>
                    <a:srgbClr val="1E3A8A"/>
                  </a:solidFill>
                  <a:latin typeface="Plus Jakarta Sans"/>
                  <a:ea typeface="Plus Jakarta Sans"/>
                  <a:cs typeface="Plus Jakarta Sans"/>
                  <a:sym typeface="Plus Jakarta Sans"/>
                </a:endParaRPr>
              </a:p>
            </p:txBody>
          </p:sp>
        </p:grpSp>
        <p:grpSp>
          <p:nvGrpSpPr>
            <p:cNvPr id="768" name="Google Shape;768;p28"/>
            <p:cNvGrpSpPr/>
            <p:nvPr/>
          </p:nvGrpSpPr>
          <p:grpSpPr>
            <a:xfrm>
              <a:off x="0" y="4238625"/>
              <a:ext cx="2762400" cy="762000"/>
              <a:chOff x="0" y="0"/>
              <a:chExt cx="2762400" cy="762000"/>
            </a:xfrm>
          </p:grpSpPr>
          <p:sp>
            <p:nvSpPr>
              <p:cNvPr id="769" name="Google Shape;769;p28"/>
              <p:cNvSpPr/>
              <p:nvPr/>
            </p:nvSpPr>
            <p:spPr>
              <a:xfrm>
                <a:off x="0" y="0"/>
                <a:ext cx="2762400" cy="762000"/>
              </a:xfrm>
              <a:prstGeom prst="roundRect">
                <a:avLst>
                  <a:gd fmla="val 10000" name="adj"/>
                </a:avLst>
              </a:prstGeom>
              <a:solidFill>
                <a:srgbClr val="F0FDF4"/>
              </a:solidFill>
              <a:ln cap="flat" cmpd="sng" w="9525">
                <a:solidFill>
                  <a:srgbClr val="BBF7D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0" name="Google Shape;770;p28"/>
              <p:cNvSpPr txBox="1"/>
              <p:nvPr/>
            </p:nvSpPr>
            <p:spPr>
              <a:xfrm>
                <a:off x="142875" y="95250"/>
                <a:ext cx="2476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15803D"/>
                    </a:solidFill>
                    <a:latin typeface="Plus Jakarta Sans"/>
                    <a:ea typeface="Plus Jakarta Sans"/>
                    <a:cs typeface="Plus Jakarta Sans"/>
                    <a:sym typeface="Plus Jakarta Sans"/>
                  </a:rPr>
                  <a:t>ADVANTAGES</a:t>
                </a:r>
                <a:endParaRPr b="1" sz="800">
                  <a:solidFill>
                    <a:srgbClr val="15803D"/>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00">
                    <a:solidFill>
                      <a:srgbClr val="166534"/>
                    </a:solidFill>
                    <a:latin typeface="Plus Jakarta Sans"/>
                    <a:ea typeface="Plus Jakarta Sans"/>
                    <a:cs typeface="Plus Jakarta Sans"/>
                    <a:sym typeface="Plus Jakarta Sans"/>
                  </a:rPr>
                  <a:t>Reproducible workspaces, YAML blueprints, custom hierarchy, and version rollbacks.</a:t>
                </a:r>
                <a:endParaRPr b="0" sz="900">
                  <a:solidFill>
                    <a:srgbClr val="166534"/>
                  </a:solidFill>
                  <a:latin typeface="Plus Jakarta Sans"/>
                  <a:ea typeface="Plus Jakarta Sans"/>
                  <a:cs typeface="Plus Jakarta Sans"/>
                  <a:sym typeface="Plus Jakarta Sans"/>
                </a:endParaRPr>
              </a:p>
            </p:txBody>
          </p:sp>
        </p:grpSp>
        <p:grpSp>
          <p:nvGrpSpPr>
            <p:cNvPr id="771" name="Google Shape;771;p28"/>
            <p:cNvGrpSpPr/>
            <p:nvPr/>
          </p:nvGrpSpPr>
          <p:grpSpPr>
            <a:xfrm>
              <a:off x="2952750" y="4238625"/>
              <a:ext cx="2762400" cy="762000"/>
              <a:chOff x="0" y="0"/>
              <a:chExt cx="2762400" cy="762000"/>
            </a:xfrm>
          </p:grpSpPr>
          <p:sp>
            <p:nvSpPr>
              <p:cNvPr id="772" name="Google Shape;772;p28"/>
              <p:cNvSpPr/>
              <p:nvPr/>
            </p:nvSpPr>
            <p:spPr>
              <a:xfrm>
                <a:off x="0" y="0"/>
                <a:ext cx="2762400" cy="762000"/>
              </a:xfrm>
              <a:prstGeom prst="roundRect">
                <a:avLst>
                  <a:gd fmla="val 10000" name="adj"/>
                </a:avLst>
              </a:prstGeom>
              <a:solidFill>
                <a:srgbClr val="FEF2F2"/>
              </a:solidFill>
              <a:ln cap="flat" cmpd="sng" w="9525">
                <a:solidFill>
                  <a:srgbClr val="FCA5A5"/>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3" name="Google Shape;773;p28"/>
              <p:cNvSpPr txBox="1"/>
              <p:nvPr/>
            </p:nvSpPr>
            <p:spPr>
              <a:xfrm>
                <a:off x="142875" y="95250"/>
                <a:ext cx="2476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00">
                    <a:solidFill>
                      <a:srgbClr val="B91C1C"/>
                    </a:solidFill>
                    <a:latin typeface="Plus Jakarta Sans"/>
                    <a:ea typeface="Plus Jakarta Sans"/>
                    <a:cs typeface="Plus Jakarta Sans"/>
                    <a:sym typeface="Plus Jakarta Sans"/>
                  </a:rPr>
                  <a:t>LIMITATIONS</a:t>
                </a:r>
                <a:endParaRPr b="1" sz="800">
                  <a:solidFill>
                    <a:srgbClr val="B91C1C"/>
                  </a:solidFill>
                  <a:latin typeface="Plus Jakarta Sans"/>
                  <a:ea typeface="Plus Jakarta Sans"/>
                  <a:cs typeface="Plus Jakarta Sans"/>
                  <a:sym typeface="Plus Jakarta Sans"/>
                </a:endParaRPr>
              </a:p>
              <a:p>
                <a:pPr indent="0" lvl="0" marL="0" rtl="0" algn="l">
                  <a:spcBef>
                    <a:spcPts val="300"/>
                  </a:spcBef>
                  <a:spcAft>
                    <a:spcPts val="0"/>
                  </a:spcAft>
                  <a:buNone/>
                </a:pPr>
                <a:r>
                  <a:rPr b="0" lang="en-US" sz="900">
                    <a:solidFill>
                      <a:srgbClr val="991B1B"/>
                    </a:solidFill>
                    <a:latin typeface="Plus Jakarta Sans"/>
                    <a:ea typeface="Plus Jakarta Sans"/>
                    <a:cs typeface="Plus Jakarta Sans"/>
                    <a:sym typeface="Plus Jakarta Sans"/>
                  </a:rPr>
                  <a:t>One active snapshot per organization; environment change requires a rebuild.</a:t>
                </a:r>
                <a:endParaRPr b="0" sz="900">
                  <a:solidFill>
                    <a:srgbClr val="991B1B"/>
                  </a:solidFill>
                  <a:latin typeface="Plus Jakarta Sans"/>
                  <a:ea typeface="Plus Jakarta Sans"/>
                  <a:cs typeface="Plus Jakarta Sans"/>
                  <a:sym typeface="Plus Jakarta Sans"/>
                </a:endParaRPr>
              </a:p>
            </p:txBody>
          </p:sp>
        </p:grpSp>
      </p:grpSp>
      <p:grpSp>
        <p:nvGrpSpPr>
          <p:cNvPr id="774" name="Google Shape;774;p28"/>
          <p:cNvGrpSpPr/>
          <p:nvPr/>
        </p:nvGrpSpPr>
        <p:grpSpPr>
          <a:xfrm>
            <a:off x="6762750" y="1381125"/>
            <a:ext cx="4857900" cy="4762500"/>
            <a:chOff x="0" y="0"/>
            <a:chExt cx="4857900" cy="4762500"/>
          </a:xfrm>
        </p:grpSpPr>
        <p:sp>
          <p:nvSpPr>
            <p:cNvPr id="775" name="Google Shape;775;p28"/>
            <p:cNvSpPr txBox="1"/>
            <p:nvPr/>
          </p:nvSpPr>
          <p:spPr>
            <a:xfrm>
              <a:off x="0" y="0"/>
              <a:ext cx="4857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850">
                  <a:solidFill>
                    <a:srgbClr val="0F172A"/>
                  </a:solidFill>
                  <a:latin typeface="Plus Jakarta Sans"/>
                  <a:ea typeface="Plus Jakarta Sans"/>
                  <a:cs typeface="Plus Jakarta Sans"/>
                  <a:sym typeface="Plus Jakarta Sans"/>
                </a:rPr>
                <a:t>SETUP STEPS (CLASSIC WIZARD)</a:t>
              </a:r>
              <a:endParaRPr b="1" sz="850">
                <a:solidFill>
                  <a:srgbClr val="0F172A"/>
                </a:solidFill>
                <a:latin typeface="Plus Jakarta Sans"/>
                <a:ea typeface="Plus Jakarta Sans"/>
                <a:cs typeface="Plus Jakarta Sans"/>
                <a:sym typeface="Plus Jakarta Sans"/>
              </a:endParaRPr>
            </a:p>
          </p:txBody>
        </p:sp>
        <p:grpSp>
          <p:nvGrpSpPr>
            <p:cNvPr id="776" name="Google Shape;776;p28"/>
            <p:cNvGrpSpPr/>
            <p:nvPr/>
          </p:nvGrpSpPr>
          <p:grpSpPr>
            <a:xfrm>
              <a:off x="0" y="285750"/>
              <a:ext cx="4857825" cy="1562100"/>
              <a:chOff x="0" y="0"/>
              <a:chExt cx="4857825" cy="1562100"/>
            </a:xfrm>
          </p:grpSpPr>
          <p:grpSp>
            <p:nvGrpSpPr>
              <p:cNvPr id="777" name="Google Shape;777;p28"/>
              <p:cNvGrpSpPr/>
              <p:nvPr/>
            </p:nvGrpSpPr>
            <p:grpSpPr>
              <a:xfrm>
                <a:off x="0" y="0"/>
                <a:ext cx="2333700" cy="457200"/>
                <a:chOff x="0" y="0"/>
                <a:chExt cx="2333700" cy="457200"/>
              </a:xfrm>
            </p:grpSpPr>
            <p:sp>
              <p:nvSpPr>
                <p:cNvPr id="778" name="Google Shape;778;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9" name="Google Shape;779;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01</a:t>
                  </a:r>
                  <a:r>
                    <a:rPr lang="en-US" sz="950">
                      <a:solidFill>
                        <a:srgbClr val="334155"/>
                      </a:solidFill>
                      <a:latin typeface="Plus Jakarta Sans"/>
                      <a:ea typeface="Plus Jakarta Sans"/>
                      <a:cs typeface="Plus Jakarta Sans"/>
                      <a:sym typeface="Plus Jakarta Sans"/>
                    </a:rPr>
                    <a:t>Git Pull </a:t>
                  </a:r>
                  <a:r>
                    <a:rPr lang="en-US" sz="800">
                      <a:solidFill>
                        <a:srgbClr val="64748B"/>
                      </a:solidFill>
                      <a:latin typeface="Plus Jakarta Sans"/>
                      <a:ea typeface="Plus Jakarta Sans"/>
                      <a:cs typeface="Plus Jakarta Sans"/>
                      <a:sym typeface="Plus Jakarta Sans"/>
                    </a:rPr>
                    <a:t>(Startup)</a:t>
                  </a:r>
                  <a:endParaRPr sz="950">
                    <a:solidFill>
                      <a:srgbClr val="334155"/>
                    </a:solidFill>
                    <a:latin typeface="Plus Jakarta Sans"/>
                    <a:ea typeface="Plus Jakarta Sans"/>
                    <a:cs typeface="Plus Jakarta Sans"/>
                    <a:sym typeface="Plus Jakarta Sans"/>
                  </a:endParaRPr>
                </a:p>
              </p:txBody>
            </p:sp>
          </p:grpSp>
          <p:grpSp>
            <p:nvGrpSpPr>
              <p:cNvPr id="780" name="Google Shape;780;p28"/>
              <p:cNvGrpSpPr/>
              <p:nvPr/>
            </p:nvGrpSpPr>
            <p:grpSpPr>
              <a:xfrm>
                <a:off x="2524125" y="0"/>
                <a:ext cx="2333700" cy="457200"/>
                <a:chOff x="0" y="0"/>
                <a:chExt cx="2333700" cy="457200"/>
              </a:xfrm>
            </p:grpSpPr>
            <p:sp>
              <p:nvSpPr>
                <p:cNvPr id="781" name="Google Shape;781;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2" name="Google Shape;782;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02</a:t>
                  </a:r>
                  <a:r>
                    <a:rPr lang="en-US" sz="950">
                      <a:solidFill>
                        <a:srgbClr val="334155"/>
                      </a:solidFill>
                      <a:latin typeface="Plus Jakarta Sans"/>
                      <a:ea typeface="Plus Jakarta Sans"/>
                      <a:cs typeface="Plus Jakarta Sans"/>
                      <a:sym typeface="Plus Jakarta Sans"/>
                    </a:rPr>
                    <a:t>Configure Secrets</a:t>
                  </a:r>
                  <a:endParaRPr sz="950">
                    <a:solidFill>
                      <a:srgbClr val="334155"/>
                    </a:solidFill>
                    <a:latin typeface="Plus Jakarta Sans"/>
                    <a:ea typeface="Plus Jakarta Sans"/>
                    <a:cs typeface="Plus Jakarta Sans"/>
                    <a:sym typeface="Plus Jakarta Sans"/>
                  </a:endParaRPr>
                </a:p>
              </p:txBody>
            </p:sp>
          </p:grpSp>
          <p:grpSp>
            <p:nvGrpSpPr>
              <p:cNvPr id="783" name="Google Shape;783;p28"/>
              <p:cNvGrpSpPr/>
              <p:nvPr/>
            </p:nvGrpSpPr>
            <p:grpSpPr>
              <a:xfrm>
                <a:off x="0" y="552450"/>
                <a:ext cx="2333700" cy="457200"/>
                <a:chOff x="0" y="0"/>
                <a:chExt cx="2333700" cy="457200"/>
              </a:xfrm>
            </p:grpSpPr>
            <p:sp>
              <p:nvSpPr>
                <p:cNvPr id="784" name="Google Shape;784;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5" name="Google Shape;785;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03</a:t>
                  </a:r>
                  <a:r>
                    <a:rPr lang="en-US" sz="950">
                      <a:solidFill>
                        <a:srgbClr val="334155"/>
                      </a:solidFill>
                      <a:latin typeface="Plus Jakarta Sans"/>
                      <a:ea typeface="Plus Jakarta Sans"/>
                      <a:cs typeface="Plus Jakarta Sans"/>
                      <a:sym typeface="Plus Jakarta Sans"/>
                    </a:rPr>
                    <a:t>Install Deps </a:t>
                  </a:r>
                  <a:r>
                    <a:rPr lang="en-US" sz="800">
                      <a:solidFill>
                        <a:srgbClr val="64748B"/>
                      </a:solidFill>
                      <a:latin typeface="Plus Jakarta Sans"/>
                      <a:ea typeface="Plus Jakarta Sans"/>
                      <a:cs typeface="Plus Jakarta Sans"/>
                      <a:sym typeface="Plus Jakarta Sans"/>
                    </a:rPr>
                    <a:t>(Once)</a:t>
                  </a:r>
                  <a:endParaRPr sz="950">
                    <a:solidFill>
                      <a:srgbClr val="334155"/>
                    </a:solidFill>
                    <a:latin typeface="Plus Jakarta Sans"/>
                    <a:ea typeface="Plus Jakarta Sans"/>
                    <a:cs typeface="Plus Jakarta Sans"/>
                    <a:sym typeface="Plus Jakarta Sans"/>
                  </a:endParaRPr>
                </a:p>
              </p:txBody>
            </p:sp>
          </p:grpSp>
          <p:grpSp>
            <p:nvGrpSpPr>
              <p:cNvPr id="786" name="Google Shape;786;p28"/>
              <p:cNvGrpSpPr/>
              <p:nvPr/>
            </p:nvGrpSpPr>
            <p:grpSpPr>
              <a:xfrm>
                <a:off x="2524125" y="552450"/>
                <a:ext cx="2333700" cy="457200"/>
                <a:chOff x="0" y="0"/>
                <a:chExt cx="2333700" cy="457200"/>
              </a:xfrm>
            </p:grpSpPr>
            <p:sp>
              <p:nvSpPr>
                <p:cNvPr id="787" name="Google Shape;787;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8" name="Google Shape;788;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04</a:t>
                  </a:r>
                  <a:r>
                    <a:rPr lang="en-US" sz="950">
                      <a:solidFill>
                        <a:srgbClr val="334155"/>
                      </a:solidFill>
                      <a:latin typeface="Plus Jakarta Sans"/>
                      <a:ea typeface="Plus Jakarta Sans"/>
                      <a:cs typeface="Plus Jakarta Sans"/>
                      <a:sym typeface="Plus Jakarta Sans"/>
                    </a:rPr>
                    <a:t>Maintain Deps </a:t>
                  </a:r>
                  <a:r>
                    <a:rPr lang="en-US" sz="800">
                      <a:solidFill>
                        <a:srgbClr val="64748B"/>
                      </a:solidFill>
                      <a:latin typeface="Plus Jakarta Sans"/>
                      <a:ea typeface="Plus Jakarta Sans"/>
                      <a:cs typeface="Plus Jakarta Sans"/>
                      <a:sym typeface="Plus Jakarta Sans"/>
                    </a:rPr>
                    <a:t>(Run)</a:t>
                  </a:r>
                  <a:endParaRPr sz="950">
                    <a:solidFill>
                      <a:srgbClr val="334155"/>
                    </a:solidFill>
                    <a:latin typeface="Plus Jakarta Sans"/>
                    <a:ea typeface="Plus Jakarta Sans"/>
                    <a:cs typeface="Plus Jakarta Sans"/>
                    <a:sym typeface="Plus Jakarta Sans"/>
                  </a:endParaRPr>
                </a:p>
              </p:txBody>
            </p:sp>
          </p:grpSp>
          <p:grpSp>
            <p:nvGrpSpPr>
              <p:cNvPr id="789" name="Google Shape;789;p28"/>
              <p:cNvGrpSpPr/>
              <p:nvPr/>
            </p:nvGrpSpPr>
            <p:grpSpPr>
              <a:xfrm>
                <a:off x="0" y="1104900"/>
                <a:ext cx="2333700" cy="457200"/>
                <a:chOff x="0" y="0"/>
                <a:chExt cx="2333700" cy="457200"/>
              </a:xfrm>
            </p:grpSpPr>
            <p:sp>
              <p:nvSpPr>
                <p:cNvPr id="790" name="Google Shape;790;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1" name="Google Shape;791;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05</a:t>
                  </a:r>
                  <a:r>
                    <a:rPr lang="en-US" sz="950">
                      <a:solidFill>
                        <a:srgbClr val="334155"/>
                      </a:solidFill>
                      <a:latin typeface="Plus Jakarta Sans"/>
                      <a:ea typeface="Plus Jakarta Sans"/>
                      <a:cs typeface="Plus Jakarta Sans"/>
                      <a:sym typeface="Plus Jakarta Sans"/>
                    </a:rPr>
                    <a:t>Set up Lint &amp; Test</a:t>
                  </a:r>
                  <a:endParaRPr sz="950">
                    <a:solidFill>
                      <a:srgbClr val="334155"/>
                    </a:solidFill>
                    <a:latin typeface="Plus Jakarta Sans"/>
                    <a:ea typeface="Plus Jakarta Sans"/>
                    <a:cs typeface="Plus Jakarta Sans"/>
                    <a:sym typeface="Plus Jakarta Sans"/>
                  </a:endParaRPr>
                </a:p>
              </p:txBody>
            </p:sp>
          </p:grpSp>
          <p:grpSp>
            <p:nvGrpSpPr>
              <p:cNvPr id="792" name="Google Shape;792;p28"/>
              <p:cNvGrpSpPr/>
              <p:nvPr/>
            </p:nvGrpSpPr>
            <p:grpSpPr>
              <a:xfrm>
                <a:off x="2524125" y="1104900"/>
                <a:ext cx="2333700" cy="457200"/>
                <a:chOff x="0" y="0"/>
                <a:chExt cx="2333700" cy="457200"/>
              </a:xfrm>
            </p:grpSpPr>
            <p:sp>
              <p:nvSpPr>
                <p:cNvPr id="793" name="Google Shape;793;p28"/>
                <p:cNvSpPr/>
                <p:nvPr/>
              </p:nvSpPr>
              <p:spPr>
                <a:xfrm>
                  <a:off x="0" y="0"/>
                  <a:ext cx="2333700" cy="457200"/>
                </a:xfrm>
                <a:prstGeom prst="roundRect">
                  <a:avLst>
                    <a:gd fmla="val 125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4" name="Google Shape;794;p28"/>
                <p:cNvSpPr txBox="1"/>
                <p:nvPr/>
              </p:nvSpPr>
              <p:spPr>
                <a:xfrm>
                  <a:off x="95250" y="0"/>
                  <a:ext cx="2143200" cy="457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US" sz="950">
                      <a:solidFill>
                        <a:srgbClr val="2563EB"/>
                      </a:solidFill>
                      <a:latin typeface="Plus Jakarta Sans ExtraBold"/>
                      <a:ea typeface="Plus Jakarta Sans ExtraBold"/>
                      <a:cs typeface="Plus Jakarta Sans ExtraBold"/>
                      <a:sym typeface="Plus Jakarta Sans ExtraBold"/>
                    </a:rPr>
                    <a:t>06</a:t>
                  </a:r>
                  <a:r>
                    <a:rPr lang="en-US" sz="950">
                      <a:solidFill>
                        <a:srgbClr val="334155"/>
                      </a:solidFill>
                      <a:latin typeface="Plus Jakarta Sans"/>
                      <a:ea typeface="Plus Jakarta Sans"/>
                      <a:cs typeface="Plus Jakarta Sans"/>
                      <a:sym typeface="Plus Jakarta Sans"/>
                    </a:rPr>
                    <a:t>Run App &amp; Ports</a:t>
                  </a:r>
                  <a:endParaRPr sz="950">
                    <a:solidFill>
                      <a:srgbClr val="334155"/>
                    </a:solidFill>
                    <a:latin typeface="Plus Jakarta Sans"/>
                    <a:ea typeface="Plus Jakarta Sans"/>
                    <a:cs typeface="Plus Jakarta Sans"/>
                    <a:sym typeface="Plus Jakarta Sans"/>
                  </a:endParaRPr>
                </a:p>
              </p:txBody>
            </p:sp>
          </p:grpSp>
        </p:grpSp>
        <p:sp>
          <p:nvSpPr>
            <p:cNvPr id="795" name="Google Shape;795;p28"/>
            <p:cNvSpPr txBox="1"/>
            <p:nvPr/>
          </p:nvSpPr>
          <p:spPr>
            <a:xfrm>
              <a:off x="0" y="2000250"/>
              <a:ext cx="4857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850">
                  <a:solidFill>
                    <a:srgbClr val="0D9488"/>
                  </a:solidFill>
                  <a:latin typeface="Plus Jakarta Sans"/>
                  <a:ea typeface="Plus Jakarta Sans"/>
                  <a:cs typeface="Plus Jakarta Sans"/>
                  <a:sym typeface="Plus Jakarta Sans"/>
                </a:rPr>
                <a:t>BEST PRACTICES</a:t>
              </a:r>
              <a:endParaRPr b="1" sz="850">
                <a:solidFill>
                  <a:srgbClr val="0D9488"/>
                </a:solidFill>
                <a:latin typeface="Plus Jakarta Sans"/>
                <a:ea typeface="Plus Jakarta Sans"/>
                <a:cs typeface="Plus Jakarta Sans"/>
                <a:sym typeface="Plus Jakarta Sans"/>
              </a:endParaRPr>
            </a:p>
          </p:txBody>
        </p:sp>
        <p:grpSp>
          <p:nvGrpSpPr>
            <p:cNvPr id="796" name="Google Shape;796;p28"/>
            <p:cNvGrpSpPr/>
            <p:nvPr/>
          </p:nvGrpSpPr>
          <p:grpSpPr>
            <a:xfrm>
              <a:off x="0" y="2238375"/>
              <a:ext cx="4857750" cy="2524125"/>
              <a:chOff x="0" y="0"/>
              <a:chExt cx="4857750" cy="2524125"/>
            </a:xfrm>
          </p:grpSpPr>
          <p:grpSp>
            <p:nvGrpSpPr>
              <p:cNvPr id="797" name="Google Shape;797;p28"/>
              <p:cNvGrpSpPr/>
              <p:nvPr/>
            </p:nvGrpSpPr>
            <p:grpSpPr>
              <a:xfrm>
                <a:off x="0" y="0"/>
                <a:ext cx="4857750" cy="381000"/>
                <a:chOff x="0" y="0"/>
                <a:chExt cx="4857750" cy="381000"/>
              </a:xfrm>
            </p:grpSpPr>
            <p:pic>
              <p:nvPicPr>
                <p:cNvPr id="798" name="Google Shape;798;p28"/>
                <p:cNvPicPr preferRelativeResize="0"/>
                <p:nvPr/>
              </p:nvPicPr>
              <p:blipFill rotWithShape="1">
                <a:blip r:embed="rId5">
                  <a:alphaModFix/>
                </a:blip>
                <a:srcRect b="3332" l="0" r="0" t="3332"/>
                <a:stretch/>
              </p:blipFill>
              <p:spPr>
                <a:xfrm>
                  <a:off x="0" y="19050"/>
                  <a:ext cx="152400" cy="152400"/>
                </a:xfrm>
                <a:prstGeom prst="rect">
                  <a:avLst/>
                </a:prstGeom>
                <a:noFill/>
                <a:ln>
                  <a:noFill/>
                </a:ln>
              </p:spPr>
            </p:pic>
            <p:sp>
              <p:nvSpPr>
                <p:cNvPr id="799" name="Google Shape;799;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Invest in environment setup before anything else — it is the highest-leverage action</a:t>
                  </a:r>
                  <a:endParaRPr sz="950">
                    <a:solidFill>
                      <a:srgbClr val="334155"/>
                    </a:solidFill>
                    <a:latin typeface="Plus Jakarta Sans"/>
                    <a:ea typeface="Plus Jakarta Sans"/>
                    <a:cs typeface="Plus Jakarta Sans"/>
                    <a:sym typeface="Plus Jakarta Sans"/>
                  </a:endParaRPr>
                </a:p>
              </p:txBody>
            </p:sp>
          </p:grpSp>
          <p:grpSp>
            <p:nvGrpSpPr>
              <p:cNvPr id="800" name="Google Shape;800;p28"/>
              <p:cNvGrpSpPr/>
              <p:nvPr/>
            </p:nvGrpSpPr>
            <p:grpSpPr>
              <a:xfrm>
                <a:off x="0" y="428625"/>
                <a:ext cx="4857750" cy="381000"/>
                <a:chOff x="0" y="0"/>
                <a:chExt cx="4857750" cy="381000"/>
              </a:xfrm>
            </p:grpSpPr>
            <p:pic>
              <p:nvPicPr>
                <p:cNvPr id="801" name="Google Shape;801;p28"/>
                <p:cNvPicPr preferRelativeResize="0"/>
                <p:nvPr/>
              </p:nvPicPr>
              <p:blipFill rotWithShape="1">
                <a:blip r:embed="rId6">
                  <a:alphaModFix/>
                </a:blip>
                <a:srcRect b="13332" l="0" r="0" t="13332"/>
                <a:stretch/>
              </p:blipFill>
              <p:spPr>
                <a:xfrm>
                  <a:off x="0" y="19050"/>
                  <a:ext cx="152400" cy="152400"/>
                </a:xfrm>
                <a:prstGeom prst="rect">
                  <a:avLst/>
                </a:prstGeom>
                <a:noFill/>
                <a:ln>
                  <a:noFill/>
                </a:ln>
              </p:spPr>
            </p:pic>
            <p:sp>
              <p:nvSpPr>
                <p:cNvPr id="802" name="Google Shape;802;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Use declarative blueprints (YAML) for version control and reproducibility</a:t>
                  </a:r>
                  <a:endParaRPr sz="950">
                    <a:solidFill>
                      <a:srgbClr val="334155"/>
                    </a:solidFill>
                    <a:latin typeface="Plus Jakarta Sans"/>
                    <a:ea typeface="Plus Jakarta Sans"/>
                    <a:cs typeface="Plus Jakarta Sans"/>
                    <a:sym typeface="Plus Jakarta Sans"/>
                  </a:endParaRPr>
                </a:p>
              </p:txBody>
            </p:sp>
          </p:grpSp>
          <p:grpSp>
            <p:nvGrpSpPr>
              <p:cNvPr id="803" name="Google Shape;803;p28"/>
              <p:cNvGrpSpPr/>
              <p:nvPr/>
            </p:nvGrpSpPr>
            <p:grpSpPr>
              <a:xfrm>
                <a:off x="0" y="857250"/>
                <a:ext cx="4857750" cy="381000"/>
                <a:chOff x="0" y="0"/>
                <a:chExt cx="4857750" cy="381000"/>
              </a:xfrm>
            </p:grpSpPr>
            <p:pic>
              <p:nvPicPr>
                <p:cNvPr id="804" name="Google Shape;804;p28"/>
                <p:cNvPicPr preferRelativeResize="0"/>
                <p:nvPr/>
              </p:nvPicPr>
              <p:blipFill rotWithShape="1">
                <a:blip r:embed="rId7">
                  <a:alphaModFix/>
                </a:blip>
                <a:srcRect b="0" l="8333" r="8333" t="0"/>
                <a:stretch/>
              </p:blipFill>
              <p:spPr>
                <a:xfrm>
                  <a:off x="0" y="19050"/>
                  <a:ext cx="152400" cy="152400"/>
                </a:xfrm>
                <a:prstGeom prst="rect">
                  <a:avLst/>
                </a:prstGeom>
                <a:noFill/>
                <a:ln>
                  <a:noFill/>
                </a:ln>
              </p:spPr>
            </p:pic>
            <p:sp>
              <p:nvSpPr>
                <p:cNvPr id="805" name="Google Shape;805;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Use the Enterprise Blueprint for company-wide toolchain standardization</a:t>
                  </a:r>
                  <a:endParaRPr sz="950">
                    <a:solidFill>
                      <a:srgbClr val="334155"/>
                    </a:solidFill>
                    <a:latin typeface="Plus Jakarta Sans"/>
                    <a:ea typeface="Plus Jakarta Sans"/>
                    <a:cs typeface="Plus Jakarta Sans"/>
                    <a:sym typeface="Plus Jakarta Sans"/>
                  </a:endParaRPr>
                </a:p>
              </p:txBody>
            </p:sp>
          </p:grpSp>
          <p:grpSp>
            <p:nvGrpSpPr>
              <p:cNvPr id="806" name="Google Shape;806;p28"/>
              <p:cNvGrpSpPr/>
              <p:nvPr/>
            </p:nvGrpSpPr>
            <p:grpSpPr>
              <a:xfrm>
                <a:off x="0" y="1285875"/>
                <a:ext cx="4857750" cy="381000"/>
                <a:chOff x="0" y="0"/>
                <a:chExt cx="4857750" cy="381000"/>
              </a:xfrm>
            </p:grpSpPr>
            <p:pic>
              <p:nvPicPr>
                <p:cNvPr id="807" name="Google Shape;807;p28"/>
                <p:cNvPicPr preferRelativeResize="0"/>
                <p:nvPr/>
              </p:nvPicPr>
              <p:blipFill rotWithShape="1">
                <a:blip r:embed="rId8">
                  <a:alphaModFix/>
                </a:blip>
                <a:srcRect b="3332" l="0" r="0" t="3332"/>
                <a:stretch/>
              </p:blipFill>
              <p:spPr>
                <a:xfrm>
                  <a:off x="0" y="19050"/>
                  <a:ext cx="152400" cy="152400"/>
                </a:xfrm>
                <a:prstGeom prst="rect">
                  <a:avLst/>
                </a:prstGeom>
                <a:noFill/>
                <a:ln>
                  <a:noFill/>
                </a:ln>
              </p:spPr>
            </p:pic>
            <p:sp>
              <p:nvSpPr>
                <p:cNvPr id="808" name="Google Shape;808;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Store secrets in the Secrets dashboard, not in blueprints</a:t>
                  </a:r>
                  <a:endParaRPr sz="950">
                    <a:solidFill>
                      <a:srgbClr val="334155"/>
                    </a:solidFill>
                    <a:latin typeface="Plus Jakarta Sans"/>
                    <a:ea typeface="Plus Jakarta Sans"/>
                    <a:cs typeface="Plus Jakarta Sans"/>
                    <a:sym typeface="Plus Jakarta Sans"/>
                  </a:endParaRPr>
                </a:p>
              </p:txBody>
            </p:sp>
          </p:grpSp>
          <p:grpSp>
            <p:nvGrpSpPr>
              <p:cNvPr id="809" name="Google Shape;809;p28"/>
              <p:cNvGrpSpPr/>
              <p:nvPr/>
            </p:nvGrpSpPr>
            <p:grpSpPr>
              <a:xfrm>
                <a:off x="0" y="1714500"/>
                <a:ext cx="4857750" cy="381000"/>
                <a:chOff x="0" y="0"/>
                <a:chExt cx="4857750" cy="381000"/>
              </a:xfrm>
            </p:grpSpPr>
            <p:pic>
              <p:nvPicPr>
                <p:cNvPr id="810" name="Google Shape;810;p28"/>
                <p:cNvPicPr preferRelativeResize="0"/>
                <p:nvPr/>
              </p:nvPicPr>
              <p:blipFill rotWithShape="1">
                <a:blip r:embed="rId9">
                  <a:alphaModFix/>
                </a:blip>
                <a:srcRect b="3332" l="0" r="0" t="3332"/>
                <a:stretch/>
              </p:blipFill>
              <p:spPr>
                <a:xfrm>
                  <a:off x="0" y="19050"/>
                  <a:ext cx="152400" cy="152400"/>
                </a:xfrm>
                <a:prstGeom prst="rect">
                  <a:avLst/>
                </a:prstGeom>
                <a:noFill/>
                <a:ln>
                  <a:noFill/>
                </a:ln>
              </p:spPr>
            </p:pic>
            <p:sp>
              <p:nvSpPr>
                <p:cNvPr id="811" name="Google Shape;811;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Use direnv for per-repo environment variable management</a:t>
                  </a:r>
                  <a:endParaRPr sz="950">
                    <a:solidFill>
                      <a:srgbClr val="334155"/>
                    </a:solidFill>
                    <a:latin typeface="Plus Jakarta Sans"/>
                    <a:ea typeface="Plus Jakarta Sans"/>
                    <a:cs typeface="Plus Jakarta Sans"/>
                    <a:sym typeface="Plus Jakarta Sans"/>
                  </a:endParaRPr>
                </a:p>
              </p:txBody>
            </p:sp>
          </p:grpSp>
          <p:grpSp>
            <p:nvGrpSpPr>
              <p:cNvPr id="812" name="Google Shape;812;p28"/>
              <p:cNvGrpSpPr/>
              <p:nvPr/>
            </p:nvGrpSpPr>
            <p:grpSpPr>
              <a:xfrm>
                <a:off x="0" y="2143125"/>
                <a:ext cx="4857750" cy="381000"/>
                <a:chOff x="0" y="0"/>
                <a:chExt cx="4857750" cy="381000"/>
              </a:xfrm>
            </p:grpSpPr>
            <p:pic>
              <p:nvPicPr>
                <p:cNvPr id="813" name="Google Shape;813;p28"/>
                <p:cNvPicPr preferRelativeResize="0"/>
                <p:nvPr/>
              </p:nvPicPr>
              <p:blipFill rotWithShape="1">
                <a:blip r:embed="rId10">
                  <a:alphaModFix/>
                </a:blip>
                <a:srcRect b="3332" l="0" r="0" t="3332"/>
                <a:stretch/>
              </p:blipFill>
              <p:spPr>
                <a:xfrm>
                  <a:off x="0" y="19050"/>
                  <a:ext cx="152400" cy="152400"/>
                </a:xfrm>
                <a:prstGeom prst="rect">
                  <a:avLst/>
                </a:prstGeom>
                <a:noFill/>
                <a:ln>
                  <a:noFill/>
                </a:ln>
              </p:spPr>
            </p:pic>
            <p:sp>
              <p:nvSpPr>
                <p:cNvPr id="814" name="Google Shape;814;p28"/>
                <p:cNvSpPr txBox="1"/>
                <p:nvPr/>
              </p:nvSpPr>
              <p:spPr>
                <a:xfrm>
                  <a:off x="247650" y="0"/>
                  <a:ext cx="46101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950">
                      <a:solidFill>
                        <a:srgbClr val="334155"/>
                      </a:solidFill>
                      <a:latin typeface="Plus Jakarta Sans"/>
                      <a:ea typeface="Plus Jakarta Sans"/>
                      <a:cs typeface="Plus Jakarta Sans"/>
                      <a:sym typeface="Plus Jakarta Sans"/>
                    </a:rPr>
                    <a:t>Maintain snapshot version history — roll back if a setup change breaks things</a:t>
                  </a:r>
                  <a:endParaRPr sz="950">
                    <a:solidFill>
                      <a:srgbClr val="334155"/>
                    </a:solidFill>
                    <a:latin typeface="Plus Jakarta Sans"/>
                    <a:ea typeface="Plus Jakarta Sans"/>
                    <a:cs typeface="Plus Jakarta Sans"/>
                    <a:sym typeface="Plus Jakarta Sans"/>
                  </a:endParaRPr>
                </a:p>
              </p:txBody>
            </p:sp>
          </p:gr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8" name="Shape 818"/>
        <p:cNvGrpSpPr/>
        <p:nvPr/>
      </p:nvGrpSpPr>
      <p:grpSpPr>
        <a:xfrm>
          <a:off x="0" y="0"/>
          <a:ext cx="0" cy="0"/>
          <a:chOff x="0" y="0"/>
          <a:chExt cx="0" cy="0"/>
        </a:xfrm>
      </p:grpSpPr>
      <p:pic>
        <p:nvPicPr>
          <p:cNvPr descr="image.png" id="819" name="Google Shape;819;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20" name="Google Shape;820;p29"/>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821" name="Google Shape;821;p29"/>
          <p:cNvSpPr txBox="1"/>
          <p:nvPr/>
        </p:nvSpPr>
        <p:spPr>
          <a:xfrm>
            <a:off x="571500" y="1748581"/>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822" name="Google Shape;822;p29"/>
          <p:cNvSpPr txBox="1"/>
          <p:nvPr/>
        </p:nvSpPr>
        <p:spPr>
          <a:xfrm>
            <a:off x="571500" y="1919436"/>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full-service, codebase-aware code review platform for PRs.</a:t>
            </a:r>
            <a:endParaRPr/>
          </a:p>
        </p:txBody>
      </p:sp>
      <p:sp>
        <p:nvSpPr>
          <p:cNvPr id="823" name="Google Shape;823;p29"/>
          <p:cNvSpPr txBox="1"/>
          <p:nvPr/>
        </p:nvSpPr>
        <p:spPr>
          <a:xfrm>
            <a:off x="571500" y="2188964"/>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824" name="Google Shape;824;p29"/>
          <p:cNvSpPr txBox="1"/>
          <p:nvPr/>
        </p:nvSpPr>
        <p:spPr>
          <a:xfrm>
            <a:off x="571500" y="2359818"/>
            <a:ext cx="6196012" cy="386655"/>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As AI agents generate more code, the bottleneck shifts from writing to reviewing. Devin Review turns large, complex PRs into organized, analyzed, actionable reviews.</a:t>
            </a:r>
            <a:endParaRPr/>
          </a:p>
        </p:txBody>
      </p:sp>
      <p:sp>
        <p:nvSpPr>
          <p:cNvPr id="825" name="Google Shape;825;p29"/>
          <p:cNvSpPr txBox="1"/>
          <p:nvPr/>
        </p:nvSpPr>
        <p:spPr>
          <a:xfrm>
            <a:off x="571500" y="2822674"/>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826" name="Google Shape;826;p29"/>
          <p:cNvSpPr txBox="1"/>
          <p:nvPr/>
        </p:nvSpPr>
        <p:spPr>
          <a:xfrm>
            <a:off x="7005637" y="1748581"/>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7C3AED"/>
                </a:solidFill>
                <a:latin typeface="Plus Jakarta Sans"/>
                <a:ea typeface="Plus Jakarta Sans"/>
                <a:cs typeface="Plus Jakarta Sans"/>
                <a:sym typeface="Plus Jakarta Sans"/>
              </a:rPr>
              <a:t>ENTERPRISE GOVERNANCE:</a:t>
            </a:r>
            <a:endParaRPr/>
          </a:p>
        </p:txBody>
      </p:sp>
      <p:sp>
        <p:nvSpPr>
          <p:cNvPr id="827" name="Google Shape;827;p29"/>
          <p:cNvSpPr txBox="1"/>
          <p:nvPr/>
        </p:nvSpPr>
        <p:spPr>
          <a:xfrm>
            <a:off x="7005637" y="3176438"/>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828" name="Google Shape;828;p29"/>
          <p:cNvSpPr txBox="1"/>
          <p:nvPr/>
        </p:nvSpPr>
        <p:spPr>
          <a:xfrm>
            <a:off x="800100" y="2993528"/>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Devin Review is accessible at `app.devin.ai/review` or by replacing `github.com` with `devinreview.com` in any PR URL</a:t>
            </a:r>
            <a:endParaRPr/>
          </a:p>
        </p:txBody>
      </p:sp>
      <p:sp>
        <p:nvSpPr>
          <p:cNvPr id="829" name="Google Shape;829;p29"/>
          <p:cNvSpPr txBox="1"/>
          <p:nvPr/>
        </p:nvSpPr>
        <p:spPr>
          <a:xfrm>
            <a:off x="800100" y="3442989"/>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 provides: smart diff organization, copy/move detection, bug catching, security scanning, codebase-aware chat, and PR workflow actions</a:t>
            </a:r>
            <a:endParaRPr/>
          </a:p>
        </p:txBody>
      </p:sp>
      <p:sp>
        <p:nvSpPr>
          <p:cNvPr id="830" name="Google Shape;830;p29"/>
          <p:cNvSpPr txBox="1"/>
          <p:nvPr/>
        </p:nvSpPr>
        <p:spPr>
          <a:xfrm>
            <a:off x="800100" y="3892450"/>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Bug Catcher</a:t>
            </a:r>
            <a:r>
              <a:rPr b="0" i="0" lang="en-US" sz="1050" u="none" cap="none" strike="noStrike">
                <a:solidFill>
                  <a:srgbClr val="334155"/>
                </a:solidFill>
                <a:latin typeface="Plus Jakarta Sans"/>
                <a:ea typeface="Plus Jakarta Sans"/>
                <a:cs typeface="Plus Jakarta Sans"/>
                <a:sym typeface="Plus Jakarta Sans"/>
              </a:rPr>
              <a:t> classifies findings as Bugs (actionable errors) or Flags (investigate/informational)</a:t>
            </a:r>
            <a:endParaRPr/>
          </a:p>
        </p:txBody>
      </p:sp>
      <p:sp>
        <p:nvSpPr>
          <p:cNvPr id="831" name="Google Shape;831;p29"/>
          <p:cNvSpPr txBox="1"/>
          <p:nvPr/>
        </p:nvSpPr>
        <p:spPr>
          <a:xfrm>
            <a:off x="800100" y="4155281"/>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Security Scanner</a:t>
            </a:r>
            <a:r>
              <a:rPr b="0" i="0" lang="en-US" sz="1050" u="none" cap="none" strike="noStrike">
                <a:solidFill>
                  <a:srgbClr val="334155"/>
                </a:solidFill>
                <a:latin typeface="Plus Jakarta Sans"/>
                <a:ea typeface="Plus Jakarta Sans"/>
                <a:cs typeface="Plus Jakarta Sans"/>
                <a:sym typeface="Plus Jakarta Sans"/>
              </a:rPr>
              <a:t> checks for injection, auth flaws, secrets exposure, SSRF, insecure deserialization, weak cryptography, and more — with CWE classification</a:t>
            </a:r>
            <a:endParaRPr/>
          </a:p>
        </p:txBody>
      </p:sp>
      <p:sp>
        <p:nvSpPr>
          <p:cNvPr id="832" name="Google Shape;832;p29"/>
          <p:cNvSpPr txBox="1"/>
          <p:nvPr/>
        </p:nvSpPr>
        <p:spPr>
          <a:xfrm>
            <a:off x="800100" y="4604742"/>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Auto-Review</a:t>
            </a:r>
            <a:r>
              <a:rPr b="0" i="0" lang="en-US" sz="1050" u="none" cap="none" strike="noStrike">
                <a:solidFill>
                  <a:srgbClr val="334155"/>
                </a:solidFill>
                <a:latin typeface="Plus Jakarta Sans"/>
                <a:ea typeface="Plus Jakarta Sans"/>
                <a:cs typeface="Plus Jakarta Sans"/>
                <a:sym typeface="Plus Jakarta Sans"/>
              </a:rPr>
              <a:t> can trigger automatically on PR open, new commits, draft-to-ready, or reviewer assignment</a:t>
            </a:r>
            <a:endParaRPr/>
          </a:p>
        </p:txBody>
      </p:sp>
      <p:sp>
        <p:nvSpPr>
          <p:cNvPr id="833" name="Google Shape;833;p29"/>
          <p:cNvSpPr txBox="1"/>
          <p:nvPr/>
        </p:nvSpPr>
        <p:spPr>
          <a:xfrm>
            <a:off x="800100" y="5054203"/>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1050" u="none" cap="none" strike="noStrike">
                <a:solidFill>
                  <a:srgbClr val="334155"/>
                </a:solidFill>
                <a:latin typeface="Plus Jakarta Sans"/>
                <a:ea typeface="Plus Jakarta Sans"/>
                <a:cs typeface="Plus Jakarta Sans"/>
                <a:sym typeface="Plus Jakarta Sans"/>
              </a:rPr>
              <a:t>Code changes from chat</a:t>
            </a:r>
            <a:r>
              <a:rPr b="0" i="0" lang="en-US" sz="1050" u="none" cap="none" strike="noStrike">
                <a:solidFill>
                  <a:srgbClr val="334155"/>
                </a:solidFill>
                <a:latin typeface="Plus Jakarta Sans"/>
                <a:ea typeface="Plus Jakarta Sans"/>
                <a:cs typeface="Plus Jakarta Sans"/>
                <a:sym typeface="Plus Jakarta Sans"/>
              </a:rPr>
              <a:t> — ask the review agent to make edits; apply as a commit without leaving the page</a:t>
            </a:r>
            <a:endParaRPr/>
          </a:p>
        </p:txBody>
      </p:sp>
      <p:sp>
        <p:nvSpPr>
          <p:cNvPr id="834" name="Google Shape;834;p29"/>
          <p:cNvSpPr txBox="1"/>
          <p:nvPr/>
        </p:nvSpPr>
        <p:spPr>
          <a:xfrm>
            <a:off x="800100" y="5503664"/>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Supports GitHub (including Enterprise Server and Cloud) and GitLab (including Self-Managed)</a:t>
            </a:r>
            <a:endParaRPr/>
          </a:p>
        </p:txBody>
      </p:sp>
      <p:sp>
        <p:nvSpPr>
          <p:cNvPr id="835" name="Google Shape;835;p29"/>
          <p:cNvSpPr txBox="1"/>
          <p:nvPr/>
        </p:nvSpPr>
        <p:spPr>
          <a:xfrm>
            <a:off x="7234237" y="1938486"/>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ACU consumption tracked separately from sessions (does not count against per-org session limits)</a:t>
            </a:r>
            <a:endParaRPr/>
          </a:p>
        </p:txBody>
      </p:sp>
      <p:sp>
        <p:nvSpPr>
          <p:cNvPr id="836" name="Google Shape;836;p29"/>
          <p:cNvSpPr txBox="1"/>
          <p:nvPr/>
        </p:nvSpPr>
        <p:spPr>
          <a:xfrm>
            <a:off x="7234237" y="2387947"/>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Per-PR auto-review spend limits configurable by admins</a:t>
            </a:r>
            <a:endParaRPr/>
          </a:p>
        </p:txBody>
      </p:sp>
      <p:sp>
        <p:nvSpPr>
          <p:cNvPr id="837" name="Google Shape;837;p29"/>
          <p:cNvSpPr txBox="1"/>
          <p:nvPr/>
        </p:nvSpPr>
        <p:spPr>
          <a:xfrm>
            <a:off x="7234237" y="2650777"/>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Per-user and per-repository breakdown in consumption dashboard</a:t>
            </a:r>
            <a:endParaRPr/>
          </a:p>
        </p:txBody>
      </p:sp>
      <p:sp>
        <p:nvSpPr>
          <p:cNvPr id="838" name="Google Shape;838;p29"/>
          <p:cNvSpPr txBox="1"/>
          <p:nvPr/>
        </p:nvSpPr>
        <p:spPr>
          <a:xfrm>
            <a:off x="7234237" y="2913608"/>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Custom Roles control access tiers (auto-review, on-PR-creation, manual)</a:t>
            </a:r>
            <a:endParaRPr/>
          </a:p>
        </p:txBody>
      </p:sp>
      <p:sp>
        <p:nvSpPr>
          <p:cNvPr id="839" name="Google Shape;839;p29"/>
          <p:cNvSpPr txBox="1"/>
          <p:nvPr/>
        </p:nvSpPr>
        <p:spPr>
          <a:xfrm>
            <a:off x="7234237" y="3366343"/>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Enable auto-review on all repositories where Devin generates PRs</a:t>
            </a:r>
            <a:endParaRPr/>
          </a:p>
        </p:txBody>
      </p:sp>
      <p:sp>
        <p:nvSpPr>
          <p:cNvPr id="840" name="Google Shape;840;p29"/>
          <p:cNvSpPr txBox="1"/>
          <p:nvPr/>
        </p:nvSpPr>
        <p:spPr>
          <a:xfrm>
            <a:off x="7234237" y="3629173"/>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Configure `REVIEW.md` with security policies and threat models for the security scanner</a:t>
            </a:r>
            <a:endParaRPr/>
          </a:p>
        </p:txBody>
      </p:sp>
      <p:sp>
        <p:nvSpPr>
          <p:cNvPr id="841" name="Google Shape;841;p29"/>
          <p:cNvSpPr txBox="1"/>
          <p:nvPr/>
        </p:nvSpPr>
        <p:spPr>
          <a:xfrm>
            <a:off x="7234237" y="4078634"/>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the per-PR spend limit to control costs on high-churn PRs</a:t>
            </a:r>
            <a:endParaRPr/>
          </a:p>
        </p:txBody>
      </p:sp>
      <p:sp>
        <p:nvSpPr>
          <p:cNvPr id="842" name="Google Shape;842;p29"/>
          <p:cNvSpPr txBox="1"/>
          <p:nvPr/>
        </p:nvSpPr>
        <p:spPr>
          <a:xfrm>
            <a:off x="7234237" y="4341465"/>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codebase-aware chat to ask questions about the PR in context of the full codebase</a:t>
            </a:r>
            <a:endParaRPr/>
          </a:p>
        </p:txBody>
      </p:sp>
      <p:pic>
        <p:nvPicPr>
          <p:cNvPr descr="image.png" id="843" name="Google Shape;843;p29"/>
          <p:cNvPicPr preferRelativeResize="0"/>
          <p:nvPr/>
        </p:nvPicPr>
        <p:blipFill rotWithShape="1">
          <a:blip r:embed="rId5">
            <a:alphaModFix/>
          </a:blip>
          <a:srcRect b="0" l="0" r="0" t="0"/>
          <a:stretch/>
        </p:blipFill>
        <p:spPr>
          <a:xfrm>
            <a:off x="571500" y="3022103"/>
            <a:ext cx="57150" cy="95250"/>
          </a:xfrm>
          <a:prstGeom prst="rect">
            <a:avLst/>
          </a:prstGeom>
          <a:noFill/>
          <a:ln>
            <a:noFill/>
          </a:ln>
        </p:spPr>
      </p:pic>
      <p:pic>
        <p:nvPicPr>
          <p:cNvPr descr="image.png" id="844" name="Google Shape;844;p29"/>
          <p:cNvPicPr preferRelativeResize="0"/>
          <p:nvPr/>
        </p:nvPicPr>
        <p:blipFill rotWithShape="1">
          <a:blip r:embed="rId5">
            <a:alphaModFix/>
          </a:blip>
          <a:srcRect b="0" l="0" r="0" t="0"/>
          <a:stretch/>
        </p:blipFill>
        <p:spPr>
          <a:xfrm>
            <a:off x="571500" y="3471564"/>
            <a:ext cx="57150" cy="95250"/>
          </a:xfrm>
          <a:prstGeom prst="rect">
            <a:avLst/>
          </a:prstGeom>
          <a:noFill/>
          <a:ln>
            <a:noFill/>
          </a:ln>
        </p:spPr>
      </p:pic>
      <p:pic>
        <p:nvPicPr>
          <p:cNvPr descr="image.png" id="845" name="Google Shape;845;p29"/>
          <p:cNvPicPr preferRelativeResize="0"/>
          <p:nvPr/>
        </p:nvPicPr>
        <p:blipFill rotWithShape="1">
          <a:blip r:embed="rId5">
            <a:alphaModFix/>
          </a:blip>
          <a:srcRect b="0" l="0" r="0" t="0"/>
          <a:stretch/>
        </p:blipFill>
        <p:spPr>
          <a:xfrm>
            <a:off x="571500" y="3921025"/>
            <a:ext cx="57150" cy="95250"/>
          </a:xfrm>
          <a:prstGeom prst="rect">
            <a:avLst/>
          </a:prstGeom>
          <a:noFill/>
          <a:ln>
            <a:noFill/>
          </a:ln>
        </p:spPr>
      </p:pic>
      <p:pic>
        <p:nvPicPr>
          <p:cNvPr descr="image.png" id="846" name="Google Shape;846;p29"/>
          <p:cNvPicPr preferRelativeResize="0"/>
          <p:nvPr/>
        </p:nvPicPr>
        <p:blipFill rotWithShape="1">
          <a:blip r:embed="rId5">
            <a:alphaModFix/>
          </a:blip>
          <a:srcRect b="0" l="0" r="0" t="0"/>
          <a:stretch/>
        </p:blipFill>
        <p:spPr>
          <a:xfrm>
            <a:off x="571500" y="4183856"/>
            <a:ext cx="57150" cy="95250"/>
          </a:xfrm>
          <a:prstGeom prst="rect">
            <a:avLst/>
          </a:prstGeom>
          <a:noFill/>
          <a:ln>
            <a:noFill/>
          </a:ln>
        </p:spPr>
      </p:pic>
      <p:pic>
        <p:nvPicPr>
          <p:cNvPr descr="image.png" id="847" name="Google Shape;847;p29"/>
          <p:cNvPicPr preferRelativeResize="0"/>
          <p:nvPr/>
        </p:nvPicPr>
        <p:blipFill rotWithShape="1">
          <a:blip r:embed="rId5">
            <a:alphaModFix/>
          </a:blip>
          <a:srcRect b="0" l="0" r="0" t="0"/>
          <a:stretch/>
        </p:blipFill>
        <p:spPr>
          <a:xfrm>
            <a:off x="571500" y="4633317"/>
            <a:ext cx="57150" cy="95250"/>
          </a:xfrm>
          <a:prstGeom prst="rect">
            <a:avLst/>
          </a:prstGeom>
          <a:noFill/>
          <a:ln>
            <a:noFill/>
          </a:ln>
        </p:spPr>
      </p:pic>
      <p:pic>
        <p:nvPicPr>
          <p:cNvPr descr="image.png" id="848" name="Google Shape;848;p29"/>
          <p:cNvPicPr preferRelativeResize="0"/>
          <p:nvPr/>
        </p:nvPicPr>
        <p:blipFill rotWithShape="1">
          <a:blip r:embed="rId5">
            <a:alphaModFix/>
          </a:blip>
          <a:srcRect b="0" l="0" r="0" t="0"/>
          <a:stretch/>
        </p:blipFill>
        <p:spPr>
          <a:xfrm>
            <a:off x="571500" y="5082778"/>
            <a:ext cx="57150" cy="95250"/>
          </a:xfrm>
          <a:prstGeom prst="rect">
            <a:avLst/>
          </a:prstGeom>
          <a:noFill/>
          <a:ln>
            <a:noFill/>
          </a:ln>
        </p:spPr>
      </p:pic>
      <p:pic>
        <p:nvPicPr>
          <p:cNvPr descr="image.png" id="849" name="Google Shape;849;p29"/>
          <p:cNvPicPr preferRelativeResize="0"/>
          <p:nvPr/>
        </p:nvPicPr>
        <p:blipFill rotWithShape="1">
          <a:blip r:embed="rId5">
            <a:alphaModFix/>
          </a:blip>
          <a:srcRect b="0" l="0" r="0" t="0"/>
          <a:stretch/>
        </p:blipFill>
        <p:spPr>
          <a:xfrm>
            <a:off x="571500" y="5532239"/>
            <a:ext cx="57150" cy="95250"/>
          </a:xfrm>
          <a:prstGeom prst="rect">
            <a:avLst/>
          </a:prstGeom>
          <a:noFill/>
          <a:ln>
            <a:noFill/>
          </a:ln>
        </p:spPr>
      </p:pic>
      <p:pic>
        <p:nvPicPr>
          <p:cNvPr descr="image.png" id="850" name="Google Shape;850;p29"/>
          <p:cNvPicPr preferRelativeResize="0"/>
          <p:nvPr/>
        </p:nvPicPr>
        <p:blipFill rotWithShape="1">
          <a:blip r:embed="rId6">
            <a:alphaModFix/>
          </a:blip>
          <a:srcRect b="0" l="0" r="0" t="0"/>
          <a:stretch/>
        </p:blipFill>
        <p:spPr>
          <a:xfrm>
            <a:off x="7005637" y="1967061"/>
            <a:ext cx="95250" cy="95250"/>
          </a:xfrm>
          <a:prstGeom prst="rect">
            <a:avLst/>
          </a:prstGeom>
          <a:noFill/>
          <a:ln>
            <a:noFill/>
          </a:ln>
        </p:spPr>
      </p:pic>
      <p:pic>
        <p:nvPicPr>
          <p:cNvPr descr="image.png" id="851" name="Google Shape;851;p29"/>
          <p:cNvPicPr preferRelativeResize="0"/>
          <p:nvPr/>
        </p:nvPicPr>
        <p:blipFill rotWithShape="1">
          <a:blip r:embed="rId6">
            <a:alphaModFix/>
          </a:blip>
          <a:srcRect b="0" l="0" r="0" t="0"/>
          <a:stretch/>
        </p:blipFill>
        <p:spPr>
          <a:xfrm>
            <a:off x="7005637" y="2416522"/>
            <a:ext cx="95250" cy="95250"/>
          </a:xfrm>
          <a:prstGeom prst="rect">
            <a:avLst/>
          </a:prstGeom>
          <a:noFill/>
          <a:ln>
            <a:noFill/>
          </a:ln>
        </p:spPr>
      </p:pic>
      <p:pic>
        <p:nvPicPr>
          <p:cNvPr descr="image.png" id="852" name="Google Shape;852;p29"/>
          <p:cNvPicPr preferRelativeResize="0"/>
          <p:nvPr/>
        </p:nvPicPr>
        <p:blipFill rotWithShape="1">
          <a:blip r:embed="rId6">
            <a:alphaModFix/>
          </a:blip>
          <a:srcRect b="0" l="0" r="0" t="0"/>
          <a:stretch/>
        </p:blipFill>
        <p:spPr>
          <a:xfrm>
            <a:off x="7005637" y="2679352"/>
            <a:ext cx="95250" cy="95250"/>
          </a:xfrm>
          <a:prstGeom prst="rect">
            <a:avLst/>
          </a:prstGeom>
          <a:noFill/>
          <a:ln>
            <a:noFill/>
          </a:ln>
        </p:spPr>
      </p:pic>
      <p:pic>
        <p:nvPicPr>
          <p:cNvPr descr="image.png" id="853" name="Google Shape;853;p29"/>
          <p:cNvPicPr preferRelativeResize="0"/>
          <p:nvPr/>
        </p:nvPicPr>
        <p:blipFill rotWithShape="1">
          <a:blip r:embed="rId6">
            <a:alphaModFix/>
          </a:blip>
          <a:srcRect b="0" l="0" r="0" t="0"/>
          <a:stretch/>
        </p:blipFill>
        <p:spPr>
          <a:xfrm>
            <a:off x="7005637" y="2942183"/>
            <a:ext cx="95250" cy="95250"/>
          </a:xfrm>
          <a:prstGeom prst="rect">
            <a:avLst/>
          </a:prstGeom>
          <a:noFill/>
          <a:ln>
            <a:noFill/>
          </a:ln>
        </p:spPr>
      </p:pic>
      <p:pic>
        <p:nvPicPr>
          <p:cNvPr descr="image.png" id="854" name="Google Shape;854;p29"/>
          <p:cNvPicPr preferRelativeResize="0"/>
          <p:nvPr/>
        </p:nvPicPr>
        <p:blipFill rotWithShape="1">
          <a:blip r:embed="rId7">
            <a:alphaModFix/>
          </a:blip>
          <a:srcRect b="0" l="0" r="0" t="0"/>
          <a:stretch/>
        </p:blipFill>
        <p:spPr>
          <a:xfrm>
            <a:off x="7005637" y="3390155"/>
            <a:ext cx="133350" cy="142875"/>
          </a:xfrm>
          <a:prstGeom prst="rect">
            <a:avLst/>
          </a:prstGeom>
          <a:noFill/>
          <a:ln>
            <a:noFill/>
          </a:ln>
        </p:spPr>
      </p:pic>
      <p:pic>
        <p:nvPicPr>
          <p:cNvPr descr="image.png" id="855" name="Google Shape;855;p29"/>
          <p:cNvPicPr preferRelativeResize="0"/>
          <p:nvPr/>
        </p:nvPicPr>
        <p:blipFill rotWithShape="1">
          <a:blip r:embed="rId8">
            <a:alphaModFix/>
          </a:blip>
          <a:srcRect b="0" l="0" r="0" t="0"/>
          <a:stretch/>
        </p:blipFill>
        <p:spPr>
          <a:xfrm>
            <a:off x="7005637" y="3652986"/>
            <a:ext cx="133350" cy="142875"/>
          </a:xfrm>
          <a:prstGeom prst="rect">
            <a:avLst/>
          </a:prstGeom>
          <a:noFill/>
          <a:ln>
            <a:noFill/>
          </a:ln>
        </p:spPr>
      </p:pic>
      <p:pic>
        <p:nvPicPr>
          <p:cNvPr descr="image.png" id="856" name="Google Shape;856;p29"/>
          <p:cNvPicPr preferRelativeResize="0"/>
          <p:nvPr/>
        </p:nvPicPr>
        <p:blipFill rotWithShape="1">
          <a:blip r:embed="rId9">
            <a:alphaModFix/>
          </a:blip>
          <a:srcRect b="0" l="0" r="0" t="0"/>
          <a:stretch/>
        </p:blipFill>
        <p:spPr>
          <a:xfrm>
            <a:off x="7005637" y="4102447"/>
            <a:ext cx="152400" cy="142875"/>
          </a:xfrm>
          <a:prstGeom prst="rect">
            <a:avLst/>
          </a:prstGeom>
          <a:noFill/>
          <a:ln>
            <a:noFill/>
          </a:ln>
        </p:spPr>
      </p:pic>
      <p:pic>
        <p:nvPicPr>
          <p:cNvPr descr="image.png" id="857" name="Google Shape;857;p29"/>
          <p:cNvPicPr preferRelativeResize="0"/>
          <p:nvPr/>
        </p:nvPicPr>
        <p:blipFill rotWithShape="1">
          <a:blip r:embed="rId10">
            <a:alphaModFix/>
          </a:blip>
          <a:srcRect b="0" l="0" r="0" t="0"/>
          <a:stretch/>
        </p:blipFill>
        <p:spPr>
          <a:xfrm>
            <a:off x="7005637" y="4365277"/>
            <a:ext cx="171450" cy="142875"/>
          </a:xfrm>
          <a:prstGeom prst="rect">
            <a:avLst/>
          </a:prstGeom>
          <a:noFill/>
          <a:ln>
            <a:noFill/>
          </a:ln>
        </p:spPr>
      </p:pic>
      <p:sp>
        <p:nvSpPr>
          <p:cNvPr id="858" name="Google Shape;858;p29"/>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Spotlight: Devin Review</a:t>
            </a:r>
            <a:endParaRPr/>
          </a:p>
        </p:txBody>
      </p:sp>
      <p:sp>
        <p:nvSpPr>
          <p:cNvPr id="859" name="Google Shape;859;p29"/>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3" name="Shape 863"/>
        <p:cNvGrpSpPr/>
        <p:nvPr/>
      </p:nvGrpSpPr>
      <p:grpSpPr>
        <a:xfrm>
          <a:off x="0" y="0"/>
          <a:ext cx="0" cy="0"/>
          <a:chOff x="0" y="0"/>
          <a:chExt cx="0" cy="0"/>
        </a:xfrm>
      </p:grpSpPr>
      <p:pic>
        <p:nvPicPr>
          <p:cNvPr descr="image.png" id="864" name="Google Shape;864;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65" name="Google Shape;865;p30"/>
          <p:cNvPicPr preferRelativeResize="0"/>
          <p:nvPr/>
        </p:nvPicPr>
        <p:blipFill rotWithShape="1">
          <a:blip r:embed="rId4">
            <a:alphaModFix/>
          </a:blip>
          <a:srcRect b="0" l="0" r="0" t="0"/>
          <a:stretch/>
        </p:blipFill>
        <p:spPr>
          <a:xfrm>
            <a:off x="7005637" y="2116335"/>
            <a:ext cx="4567237" cy="1312812"/>
          </a:xfrm>
          <a:prstGeom prst="rect">
            <a:avLst/>
          </a:prstGeom>
          <a:noFill/>
          <a:ln>
            <a:noFill/>
          </a:ln>
        </p:spPr>
      </p:pic>
      <p:pic>
        <p:nvPicPr>
          <p:cNvPr descr="image.png" id="866" name="Google Shape;866;p30"/>
          <p:cNvPicPr preferRelativeResize="0"/>
          <p:nvPr/>
        </p:nvPicPr>
        <p:blipFill rotWithShape="1">
          <a:blip r:embed="rId5">
            <a:alphaModFix/>
          </a:blip>
          <a:srcRect b="0" l="0" r="0" t="0"/>
          <a:stretch/>
        </p:blipFill>
        <p:spPr>
          <a:xfrm>
            <a:off x="7129462" y="2240160"/>
            <a:ext cx="4319587" cy="457348"/>
          </a:xfrm>
          <a:prstGeom prst="rect">
            <a:avLst/>
          </a:prstGeom>
          <a:noFill/>
          <a:ln>
            <a:noFill/>
          </a:ln>
        </p:spPr>
      </p:pic>
      <p:pic>
        <p:nvPicPr>
          <p:cNvPr descr="image.png" id="867" name="Google Shape;867;p30"/>
          <p:cNvPicPr preferRelativeResize="0"/>
          <p:nvPr/>
        </p:nvPicPr>
        <p:blipFill rotWithShape="1">
          <a:blip r:embed="rId6">
            <a:alphaModFix/>
          </a:blip>
          <a:srcRect b="0" l="0" r="0" t="0"/>
          <a:stretch/>
        </p:blipFill>
        <p:spPr>
          <a:xfrm>
            <a:off x="7129462" y="2927895"/>
            <a:ext cx="1401812" cy="377428"/>
          </a:xfrm>
          <a:prstGeom prst="rect">
            <a:avLst/>
          </a:prstGeom>
          <a:noFill/>
          <a:ln>
            <a:noFill/>
          </a:ln>
        </p:spPr>
      </p:pic>
      <p:pic>
        <p:nvPicPr>
          <p:cNvPr descr="image.png" id="868" name="Google Shape;868;p30"/>
          <p:cNvPicPr preferRelativeResize="0"/>
          <p:nvPr/>
        </p:nvPicPr>
        <p:blipFill rotWithShape="1">
          <a:blip r:embed="rId7">
            <a:alphaModFix/>
          </a:blip>
          <a:srcRect b="0" l="0" r="0" t="0"/>
          <a:stretch/>
        </p:blipFill>
        <p:spPr>
          <a:xfrm>
            <a:off x="8588424" y="2927895"/>
            <a:ext cx="1401812" cy="377428"/>
          </a:xfrm>
          <a:prstGeom prst="rect">
            <a:avLst/>
          </a:prstGeom>
          <a:noFill/>
          <a:ln>
            <a:noFill/>
          </a:ln>
        </p:spPr>
      </p:pic>
      <p:pic>
        <p:nvPicPr>
          <p:cNvPr descr="image.png" id="869" name="Google Shape;869;p30"/>
          <p:cNvPicPr preferRelativeResize="0"/>
          <p:nvPr/>
        </p:nvPicPr>
        <p:blipFill rotWithShape="1">
          <a:blip r:embed="rId8">
            <a:alphaModFix/>
          </a:blip>
          <a:srcRect b="0" l="0" r="0" t="0"/>
          <a:stretch/>
        </p:blipFill>
        <p:spPr>
          <a:xfrm>
            <a:off x="10047386" y="2927895"/>
            <a:ext cx="1401812" cy="377428"/>
          </a:xfrm>
          <a:prstGeom prst="rect">
            <a:avLst/>
          </a:prstGeom>
          <a:noFill/>
          <a:ln>
            <a:noFill/>
          </a:ln>
        </p:spPr>
      </p:pic>
      <p:pic>
        <p:nvPicPr>
          <p:cNvPr descr="image.png" id="870" name="Google Shape;870;p30"/>
          <p:cNvPicPr preferRelativeResize="0"/>
          <p:nvPr/>
        </p:nvPicPr>
        <p:blipFill rotWithShape="1">
          <a:blip r:embed="rId9">
            <a:alphaModFix/>
          </a:blip>
          <a:srcRect b="0" l="0" r="0" t="0"/>
          <a:stretch/>
        </p:blipFill>
        <p:spPr>
          <a:xfrm>
            <a:off x="571500" y="457200"/>
            <a:ext cx="823168" cy="200025"/>
          </a:xfrm>
          <a:prstGeom prst="rect">
            <a:avLst/>
          </a:prstGeom>
          <a:noFill/>
          <a:ln>
            <a:noFill/>
          </a:ln>
        </p:spPr>
      </p:pic>
      <p:sp>
        <p:nvSpPr>
          <p:cNvPr id="871" name="Google Shape;871;p30"/>
          <p:cNvSpPr txBox="1"/>
          <p:nvPr/>
        </p:nvSpPr>
        <p:spPr>
          <a:xfrm>
            <a:off x="571500" y="187449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PURPOSE:</a:t>
            </a:r>
            <a:endParaRPr/>
          </a:p>
        </p:txBody>
      </p:sp>
      <p:sp>
        <p:nvSpPr>
          <p:cNvPr id="872" name="Google Shape;872;p30"/>
          <p:cNvSpPr txBox="1"/>
          <p:nvPr/>
        </p:nvSpPr>
        <p:spPr>
          <a:xfrm>
            <a:off x="571500" y="2045344"/>
            <a:ext cx="6196012" cy="193327"/>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Enable Devin to orchestrate teams of parallel sub-agents for large-scale work.</a:t>
            </a:r>
            <a:endParaRPr/>
          </a:p>
        </p:txBody>
      </p:sp>
      <p:sp>
        <p:nvSpPr>
          <p:cNvPr id="873" name="Google Shape;873;p30"/>
          <p:cNvSpPr txBox="1"/>
          <p:nvPr/>
        </p:nvSpPr>
        <p:spPr>
          <a:xfrm>
            <a:off x="571500" y="2314872"/>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WHY IT EXISTS:</a:t>
            </a:r>
            <a:endParaRPr/>
          </a:p>
        </p:txBody>
      </p:sp>
      <p:sp>
        <p:nvSpPr>
          <p:cNvPr id="874" name="Google Shape;874;p30"/>
          <p:cNvSpPr txBox="1"/>
          <p:nvPr/>
        </p:nvSpPr>
        <p:spPr>
          <a:xfrm>
            <a:off x="571500" y="2485727"/>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Many enterprise tasks — migrations, bulk test coverage, multi-repo refactors — are too large for a single session but are highly parallelizable. Managed Devins allow one coordinator session to spawn, monitor, and compile results from dozens of child sessions simultaneously.</a:t>
            </a:r>
            <a:endParaRPr/>
          </a:p>
        </p:txBody>
      </p:sp>
      <p:sp>
        <p:nvSpPr>
          <p:cNvPr id="875" name="Google Shape;875;p30"/>
          <p:cNvSpPr txBox="1"/>
          <p:nvPr/>
        </p:nvSpPr>
        <p:spPr>
          <a:xfrm>
            <a:off x="571500" y="3141910"/>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INTERNAL CONCEPT:</a:t>
            </a:r>
            <a:endParaRPr/>
          </a:p>
        </p:txBody>
      </p:sp>
      <p:sp>
        <p:nvSpPr>
          <p:cNvPr id="876" name="Google Shape;876;p30"/>
          <p:cNvSpPr txBox="1"/>
          <p:nvPr/>
        </p:nvSpPr>
        <p:spPr>
          <a:xfrm>
            <a:off x="571500" y="4813548"/>
            <a:ext cx="6196012"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ENTERPRISE USE CASE:</a:t>
            </a:r>
            <a:endParaRPr/>
          </a:p>
        </p:txBody>
      </p:sp>
      <p:sp>
        <p:nvSpPr>
          <p:cNvPr id="877" name="Google Shape;877;p30"/>
          <p:cNvSpPr txBox="1"/>
          <p:nvPr/>
        </p:nvSpPr>
        <p:spPr>
          <a:xfrm>
            <a:off x="571500" y="4984402"/>
            <a:ext cx="6196012" cy="579983"/>
          </a:xfrm>
          <a:prstGeom prst="rect">
            <a:avLst/>
          </a:prstGeom>
          <a:noFill/>
          <a:ln>
            <a:noFill/>
          </a:ln>
        </p:spPr>
        <p:txBody>
          <a:bodyPr anchorCtr="0" anchor="t" bIns="0" lIns="0" spcFirstLastPara="1" rIns="0" wrap="square" tIns="0">
            <a:spAutoFit/>
          </a:bodyPr>
          <a:lstStyle/>
          <a:p>
            <a:pPr indent="0" lvl="0" marL="0" marR="0" rtl="0" algn="l">
              <a:lnSpc>
                <a:spcPct val="144952"/>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team needs to migrate 500 SonarQube issues across 20 repositories. The coordinator Devin groups issues by repository and complexity, spawns parallel sessions, and produces 500 PRs — work that would take a team of engineers weeks.</a:t>
            </a:r>
            <a:endParaRPr/>
          </a:p>
        </p:txBody>
      </p:sp>
      <p:sp>
        <p:nvSpPr>
          <p:cNvPr id="878" name="Google Shape;878;p30"/>
          <p:cNvSpPr txBox="1"/>
          <p:nvPr/>
        </p:nvSpPr>
        <p:spPr>
          <a:xfrm>
            <a:off x="7005637" y="1874490"/>
            <a:ext cx="4567237" cy="165645"/>
          </a:xfrm>
          <a:prstGeom prst="rect">
            <a:avLst/>
          </a:prstGeom>
          <a:noFill/>
          <a:ln>
            <a:noFill/>
          </a:ln>
        </p:spPr>
        <p:txBody>
          <a:bodyPr anchorCtr="0" anchor="t" bIns="0" lIns="142875" spcFirstLastPara="1" rIns="0" wrap="square" tIns="0">
            <a:spAutoFit/>
          </a:bodyPr>
          <a:lstStyle/>
          <a:p>
            <a:pPr indent="0" lvl="0" marL="0" marR="0" rtl="0" algn="ctr">
              <a:lnSpc>
                <a:spcPct val="145000"/>
              </a:lnSpc>
              <a:spcBef>
                <a:spcPts val="0"/>
              </a:spcBef>
              <a:spcAft>
                <a:spcPts val="0"/>
              </a:spcAft>
              <a:buNone/>
            </a:pPr>
            <a:r>
              <a:rPr b="1" i="0" lang="en-US" sz="900" u="none" cap="none" strike="noStrike">
                <a:solidFill>
                  <a:srgbClr val="0F172A"/>
                </a:solidFill>
                <a:latin typeface="Plus Jakarta Sans"/>
                <a:ea typeface="Plus Jakarta Sans"/>
                <a:cs typeface="Plus Jakarta Sans"/>
                <a:sym typeface="Plus Jakarta Sans"/>
              </a:rPr>
              <a:t>PARALLEL ORCHESTRATION MODEL</a:t>
            </a:r>
            <a:endParaRPr/>
          </a:p>
        </p:txBody>
      </p:sp>
      <p:sp>
        <p:nvSpPr>
          <p:cNvPr id="879" name="Google Shape;879;p30"/>
          <p:cNvSpPr txBox="1"/>
          <p:nvPr/>
        </p:nvSpPr>
        <p:spPr>
          <a:xfrm>
            <a:off x="7005637" y="3543448"/>
            <a:ext cx="4567237" cy="151804"/>
          </a:xfrm>
          <a:prstGeom prst="rect">
            <a:avLst/>
          </a:prstGeom>
          <a:noFill/>
          <a:ln>
            <a:noFill/>
          </a:ln>
        </p:spPr>
        <p:txBody>
          <a:bodyPr anchorCtr="0" anchor="t" bIns="0" lIns="0" spcFirstLastPara="1" rIns="0" wrap="square" tIns="0">
            <a:spAutoFit/>
          </a:bodyPr>
          <a:lstStyle/>
          <a:p>
            <a:pPr indent="0" lvl="0" marL="0" marR="0" rtl="0" algn="l">
              <a:lnSpc>
                <a:spcPct val="144969"/>
              </a:lnSpc>
              <a:spcBef>
                <a:spcPts val="0"/>
              </a:spcBef>
              <a:spcAft>
                <a:spcPts val="0"/>
              </a:spcAft>
              <a:buNone/>
            </a:pPr>
            <a:r>
              <a:rPr b="1" i="0" lang="en-US" sz="825" u="none" cap="none" strike="noStrike">
                <a:solidFill>
                  <a:srgbClr val="0D9488"/>
                </a:solidFill>
                <a:latin typeface="Plus Jakarta Sans"/>
                <a:ea typeface="Plus Jakarta Sans"/>
                <a:cs typeface="Plus Jakarta Sans"/>
                <a:sym typeface="Plus Jakarta Sans"/>
              </a:rPr>
              <a:t>BEST PRACTICES:</a:t>
            </a:r>
            <a:endParaRPr/>
          </a:p>
        </p:txBody>
      </p:sp>
      <p:sp>
        <p:nvSpPr>
          <p:cNvPr id="880" name="Google Shape;880;p30"/>
          <p:cNvSpPr txBox="1"/>
          <p:nvPr/>
        </p:nvSpPr>
        <p:spPr>
          <a:xfrm>
            <a:off x="800100" y="331276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 coordinator Devin session breaks down a large task into independent work packages</a:t>
            </a:r>
            <a:endParaRPr/>
          </a:p>
        </p:txBody>
      </p:sp>
      <p:sp>
        <p:nvSpPr>
          <p:cNvPr id="881" name="Google Shape;881;p30"/>
          <p:cNvSpPr txBox="1"/>
          <p:nvPr/>
        </p:nvSpPr>
        <p:spPr>
          <a:xfrm>
            <a:off x="800100" y="3575595"/>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It spawns </a:t>
            </a:r>
            <a:r>
              <a:rPr b="1" i="0" lang="en-US" sz="1050" u="none" cap="none" strike="noStrike">
                <a:solidFill>
                  <a:srgbClr val="334155"/>
                </a:solidFill>
                <a:latin typeface="Plus Jakarta Sans"/>
                <a:ea typeface="Plus Jakarta Sans"/>
                <a:cs typeface="Plus Jakarta Sans"/>
                <a:sym typeface="Plus Jakarta Sans"/>
              </a:rPr>
              <a:t>managed child sessions</a:t>
            </a:r>
            <a:r>
              <a:rPr b="0" i="0" lang="en-US" sz="1050" u="none" cap="none" strike="noStrike">
                <a:solidFill>
                  <a:srgbClr val="334155"/>
                </a:solidFill>
                <a:latin typeface="Plus Jakarta Sans"/>
                <a:ea typeface="Plus Jakarta Sans"/>
                <a:cs typeface="Plus Jakarta Sans"/>
                <a:sym typeface="Plus Jakarta Sans"/>
              </a:rPr>
              <a:t>, each running in its own isolated VM</a:t>
            </a:r>
            <a:endParaRPr/>
          </a:p>
        </p:txBody>
      </p:sp>
      <p:sp>
        <p:nvSpPr>
          <p:cNvPr id="882" name="Google Shape;882;p30"/>
          <p:cNvSpPr txBox="1"/>
          <p:nvPr/>
        </p:nvSpPr>
        <p:spPr>
          <a:xfrm>
            <a:off x="800100" y="3838426"/>
            <a:ext cx="5967412"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The coordinator can: spin up sessions, message them, monitor ACU consumption, put them to sleep, terminate them, and schedule messages to itself</a:t>
            </a:r>
            <a:endParaRPr/>
          </a:p>
        </p:txBody>
      </p:sp>
      <p:sp>
        <p:nvSpPr>
          <p:cNvPr id="883" name="Google Shape;883;p30"/>
          <p:cNvSpPr txBox="1"/>
          <p:nvPr/>
        </p:nvSpPr>
        <p:spPr>
          <a:xfrm>
            <a:off x="800100" y="428788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Child sessions run in parallel — a 50-file migration can run 50 sessions simultaneously</a:t>
            </a:r>
            <a:endParaRPr/>
          </a:p>
        </p:txBody>
      </p:sp>
      <p:sp>
        <p:nvSpPr>
          <p:cNvPr id="884" name="Google Shape;884;p30"/>
          <p:cNvSpPr txBox="1"/>
          <p:nvPr/>
        </p:nvSpPr>
        <p:spPr>
          <a:xfrm>
            <a:off x="800100" y="4550717"/>
            <a:ext cx="5967412"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Results are compiled by the coordinator</a:t>
            </a:r>
            <a:endParaRPr/>
          </a:p>
        </p:txBody>
      </p:sp>
      <p:pic>
        <p:nvPicPr>
          <p:cNvPr descr="image.png" id="885" name="Google Shape;885;p30"/>
          <p:cNvPicPr preferRelativeResize="0"/>
          <p:nvPr/>
        </p:nvPicPr>
        <p:blipFill rotWithShape="1">
          <a:blip r:embed="rId10">
            <a:alphaModFix/>
          </a:blip>
          <a:srcRect b="0" l="0" r="0" t="0"/>
          <a:stretch/>
        </p:blipFill>
        <p:spPr>
          <a:xfrm>
            <a:off x="8170068" y="1893540"/>
            <a:ext cx="142875" cy="114300"/>
          </a:xfrm>
          <a:prstGeom prst="rect">
            <a:avLst/>
          </a:prstGeom>
          <a:noFill/>
          <a:ln>
            <a:noFill/>
          </a:ln>
        </p:spPr>
      </p:pic>
      <p:sp>
        <p:nvSpPr>
          <p:cNvPr id="886" name="Google Shape;886;p30"/>
          <p:cNvSpPr txBox="1"/>
          <p:nvPr/>
        </p:nvSpPr>
        <p:spPr>
          <a:xfrm>
            <a:off x="7234237" y="3733353"/>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Use parallel execution for tasks that are isolated and backwards-compatible</a:t>
            </a:r>
            <a:endParaRPr/>
          </a:p>
        </p:txBody>
      </p:sp>
      <p:sp>
        <p:nvSpPr>
          <p:cNvPr id="887" name="Google Shape;887;p30"/>
          <p:cNvSpPr txBox="1"/>
          <p:nvPr/>
        </p:nvSpPr>
        <p:spPr>
          <a:xfrm>
            <a:off x="7234237" y="4182814"/>
            <a:ext cx="4338637"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Set ACU limits on child sessions to control cost</a:t>
            </a:r>
            <a:endParaRPr/>
          </a:p>
        </p:txBody>
      </p:sp>
      <p:sp>
        <p:nvSpPr>
          <p:cNvPr id="888" name="Google Shape;888;p30"/>
          <p:cNvSpPr txBox="1"/>
          <p:nvPr/>
        </p:nvSpPr>
        <p:spPr>
          <a:xfrm>
            <a:off x="7234237" y="4445644"/>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Ensure each work package has a clear success/failure verification mechanism</a:t>
            </a:r>
            <a:endParaRPr/>
          </a:p>
        </p:txBody>
      </p:sp>
      <p:sp>
        <p:nvSpPr>
          <p:cNvPr id="889" name="Google Shape;889;p30"/>
          <p:cNvSpPr txBox="1"/>
          <p:nvPr/>
        </p:nvSpPr>
        <p:spPr>
          <a:xfrm>
            <a:off x="7234237" y="4895105"/>
            <a:ext cx="4338637" cy="37326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Review PRs from child sessions before merging — human review remains essential</a:t>
            </a:r>
            <a:endParaRPr/>
          </a:p>
        </p:txBody>
      </p:sp>
      <p:sp>
        <p:nvSpPr>
          <p:cNvPr id="890" name="Google Shape;890;p30"/>
          <p:cNvSpPr txBox="1"/>
          <p:nvPr/>
        </p:nvSpPr>
        <p:spPr>
          <a:xfrm>
            <a:off x="8657927" y="2335410"/>
            <a:ext cx="1262657" cy="114300"/>
          </a:xfrm>
          <a:prstGeom prst="rect">
            <a:avLst/>
          </a:prstGeom>
          <a:noFill/>
          <a:ln>
            <a:noFill/>
          </a:ln>
        </p:spPr>
        <p:txBody>
          <a:bodyPr anchorCtr="0" anchor="t" bIns="0" lIns="133350" spcFirstLastPara="1" rIns="0" wrap="square" tIns="0">
            <a:spAutoFit/>
          </a:bodyPr>
          <a:lstStyle/>
          <a:p>
            <a:pPr indent="0" lvl="0" marL="0" marR="0" rtl="0" algn="ctr">
              <a:lnSpc>
                <a:spcPct val="134909"/>
              </a:lnSpc>
              <a:spcBef>
                <a:spcPts val="0"/>
              </a:spcBef>
              <a:spcAft>
                <a:spcPts val="0"/>
              </a:spcAft>
              <a:buNone/>
            </a:pPr>
            <a:r>
              <a:rPr b="1" i="0" lang="en-US" sz="825" u="none" cap="none" strike="noStrike">
                <a:solidFill>
                  <a:srgbClr val="2563EB"/>
                </a:solidFill>
                <a:latin typeface="Plus Jakarta Sans"/>
                <a:ea typeface="Plus Jakarta Sans"/>
                <a:cs typeface="Plus Jakarta Sans"/>
                <a:sym typeface="Plus Jakarta Sans"/>
              </a:rPr>
              <a:t>Coordinator Devin VM</a:t>
            </a:r>
            <a:endParaRPr/>
          </a:p>
        </p:txBody>
      </p:sp>
      <p:sp>
        <p:nvSpPr>
          <p:cNvPr id="891" name="Google Shape;891;p30"/>
          <p:cNvSpPr txBox="1"/>
          <p:nvPr/>
        </p:nvSpPr>
        <p:spPr>
          <a:xfrm>
            <a:off x="7215187" y="2473672"/>
            <a:ext cx="4148137" cy="138112"/>
          </a:xfrm>
          <a:prstGeom prst="rect">
            <a:avLst/>
          </a:prstGeom>
          <a:noFill/>
          <a:ln>
            <a:noFill/>
          </a:ln>
        </p:spPr>
        <p:txBody>
          <a:bodyPr anchorCtr="0" anchor="t" bIns="0" lIns="0" spcFirstLastPara="1" rIns="0" wrap="square" tIns="0">
            <a:spAutoFit/>
          </a:bodyPr>
          <a:lstStyle/>
          <a:p>
            <a:pPr indent="0" lvl="0" marL="0" marR="0" rtl="0" algn="ctr">
              <a:lnSpc>
                <a:spcPct val="144933"/>
              </a:lnSpc>
              <a:spcBef>
                <a:spcPts val="0"/>
              </a:spcBef>
              <a:spcAft>
                <a:spcPts val="0"/>
              </a:spcAft>
              <a:buNone/>
            </a:pPr>
            <a:r>
              <a:rPr b="0" i="0" lang="en-US" sz="750" u="none" cap="none" strike="noStrike">
                <a:solidFill>
                  <a:srgbClr val="475569"/>
                </a:solidFill>
                <a:latin typeface="Plus Jakarta Sans"/>
                <a:ea typeface="Plus Jakarta Sans"/>
                <a:cs typeface="Plus Jakarta Sans"/>
                <a:sym typeface="Plus Jakarta Sans"/>
              </a:rPr>
              <a:t>Task Decomposition &amp; Analysis</a:t>
            </a:r>
            <a:endParaRPr/>
          </a:p>
        </p:txBody>
      </p:sp>
      <p:pic>
        <p:nvPicPr>
          <p:cNvPr descr="image.png" id="892" name="Google Shape;892;p30"/>
          <p:cNvPicPr preferRelativeResize="0"/>
          <p:nvPr/>
        </p:nvPicPr>
        <p:blipFill rotWithShape="1">
          <a:blip r:embed="rId11">
            <a:alphaModFix/>
          </a:blip>
          <a:srcRect b="0" l="0" r="0" t="0"/>
          <a:stretch/>
        </p:blipFill>
        <p:spPr>
          <a:xfrm>
            <a:off x="9232106" y="2754659"/>
            <a:ext cx="114300" cy="114300"/>
          </a:xfrm>
          <a:prstGeom prst="rect">
            <a:avLst/>
          </a:prstGeom>
          <a:noFill/>
          <a:ln>
            <a:noFill/>
          </a:ln>
        </p:spPr>
      </p:pic>
      <p:pic>
        <p:nvPicPr>
          <p:cNvPr descr="image.png" id="893" name="Google Shape;893;p30"/>
          <p:cNvPicPr preferRelativeResize="0"/>
          <p:nvPr/>
        </p:nvPicPr>
        <p:blipFill rotWithShape="1">
          <a:blip r:embed="rId12">
            <a:alphaModFix/>
          </a:blip>
          <a:srcRect b="0" l="0" r="0" t="0"/>
          <a:stretch/>
        </p:blipFill>
        <p:spPr>
          <a:xfrm>
            <a:off x="571500" y="3341340"/>
            <a:ext cx="57150" cy="95250"/>
          </a:xfrm>
          <a:prstGeom prst="rect">
            <a:avLst/>
          </a:prstGeom>
          <a:noFill/>
          <a:ln>
            <a:noFill/>
          </a:ln>
        </p:spPr>
      </p:pic>
      <p:pic>
        <p:nvPicPr>
          <p:cNvPr descr="image.png" id="894" name="Google Shape;894;p30"/>
          <p:cNvPicPr preferRelativeResize="0"/>
          <p:nvPr/>
        </p:nvPicPr>
        <p:blipFill rotWithShape="1">
          <a:blip r:embed="rId12">
            <a:alphaModFix/>
          </a:blip>
          <a:srcRect b="0" l="0" r="0" t="0"/>
          <a:stretch/>
        </p:blipFill>
        <p:spPr>
          <a:xfrm>
            <a:off x="571500" y="3604170"/>
            <a:ext cx="57150" cy="95250"/>
          </a:xfrm>
          <a:prstGeom prst="rect">
            <a:avLst/>
          </a:prstGeom>
          <a:noFill/>
          <a:ln>
            <a:noFill/>
          </a:ln>
        </p:spPr>
      </p:pic>
      <p:pic>
        <p:nvPicPr>
          <p:cNvPr descr="image.png" id="895" name="Google Shape;895;p30"/>
          <p:cNvPicPr preferRelativeResize="0"/>
          <p:nvPr/>
        </p:nvPicPr>
        <p:blipFill rotWithShape="1">
          <a:blip r:embed="rId12">
            <a:alphaModFix/>
          </a:blip>
          <a:srcRect b="0" l="0" r="0" t="0"/>
          <a:stretch/>
        </p:blipFill>
        <p:spPr>
          <a:xfrm>
            <a:off x="571500" y="3867001"/>
            <a:ext cx="57150" cy="95250"/>
          </a:xfrm>
          <a:prstGeom prst="rect">
            <a:avLst/>
          </a:prstGeom>
          <a:noFill/>
          <a:ln>
            <a:noFill/>
          </a:ln>
        </p:spPr>
      </p:pic>
      <p:pic>
        <p:nvPicPr>
          <p:cNvPr descr="image.png" id="896" name="Google Shape;896;p30"/>
          <p:cNvPicPr preferRelativeResize="0"/>
          <p:nvPr/>
        </p:nvPicPr>
        <p:blipFill rotWithShape="1">
          <a:blip r:embed="rId12">
            <a:alphaModFix/>
          </a:blip>
          <a:srcRect b="0" l="0" r="0" t="0"/>
          <a:stretch/>
        </p:blipFill>
        <p:spPr>
          <a:xfrm>
            <a:off x="571500" y="4316462"/>
            <a:ext cx="57150" cy="95250"/>
          </a:xfrm>
          <a:prstGeom prst="rect">
            <a:avLst/>
          </a:prstGeom>
          <a:noFill/>
          <a:ln>
            <a:noFill/>
          </a:ln>
        </p:spPr>
      </p:pic>
      <p:pic>
        <p:nvPicPr>
          <p:cNvPr descr="image.png" id="897" name="Google Shape;897;p30"/>
          <p:cNvPicPr preferRelativeResize="0"/>
          <p:nvPr/>
        </p:nvPicPr>
        <p:blipFill rotWithShape="1">
          <a:blip r:embed="rId12">
            <a:alphaModFix/>
          </a:blip>
          <a:srcRect b="0" l="0" r="0" t="0"/>
          <a:stretch/>
        </p:blipFill>
        <p:spPr>
          <a:xfrm>
            <a:off x="571500" y="4579292"/>
            <a:ext cx="57150" cy="95250"/>
          </a:xfrm>
          <a:prstGeom prst="rect">
            <a:avLst/>
          </a:prstGeom>
          <a:noFill/>
          <a:ln>
            <a:noFill/>
          </a:ln>
        </p:spPr>
      </p:pic>
      <p:pic>
        <p:nvPicPr>
          <p:cNvPr descr="image.png" id="898" name="Google Shape;898;p30"/>
          <p:cNvPicPr preferRelativeResize="0"/>
          <p:nvPr/>
        </p:nvPicPr>
        <p:blipFill rotWithShape="1">
          <a:blip r:embed="rId13">
            <a:alphaModFix/>
          </a:blip>
          <a:srcRect b="0" l="0" r="0" t="0"/>
          <a:stretch/>
        </p:blipFill>
        <p:spPr>
          <a:xfrm>
            <a:off x="8657927" y="2344935"/>
            <a:ext cx="133350" cy="104775"/>
          </a:xfrm>
          <a:prstGeom prst="rect">
            <a:avLst/>
          </a:prstGeom>
          <a:noFill/>
          <a:ln>
            <a:noFill/>
          </a:ln>
        </p:spPr>
      </p:pic>
      <p:sp>
        <p:nvSpPr>
          <p:cNvPr id="899" name="Google Shape;899;p30"/>
          <p:cNvSpPr txBox="1"/>
          <p:nvPr/>
        </p:nvSpPr>
        <p:spPr>
          <a:xfrm>
            <a:off x="7624167" y="2994570"/>
            <a:ext cx="412253" cy="104775"/>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1</a:t>
            </a:r>
            <a:endParaRPr/>
          </a:p>
        </p:txBody>
      </p:sp>
      <p:sp>
        <p:nvSpPr>
          <p:cNvPr id="900" name="Google Shape;900;p30"/>
          <p:cNvSpPr txBox="1"/>
          <p:nvPr/>
        </p:nvSpPr>
        <p:spPr>
          <a:xfrm>
            <a:off x="7196137" y="3116609"/>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A Migration</a:t>
            </a:r>
            <a:endParaRPr/>
          </a:p>
        </p:txBody>
      </p:sp>
      <p:sp>
        <p:nvSpPr>
          <p:cNvPr id="901" name="Google Shape;901;p30"/>
          <p:cNvSpPr txBox="1"/>
          <p:nvPr/>
        </p:nvSpPr>
        <p:spPr>
          <a:xfrm>
            <a:off x="9083129" y="2994570"/>
            <a:ext cx="412253" cy="104775"/>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2</a:t>
            </a:r>
            <a:endParaRPr/>
          </a:p>
        </p:txBody>
      </p:sp>
      <p:sp>
        <p:nvSpPr>
          <p:cNvPr id="902" name="Google Shape;902;p30"/>
          <p:cNvSpPr txBox="1"/>
          <p:nvPr/>
        </p:nvSpPr>
        <p:spPr>
          <a:xfrm>
            <a:off x="8655099" y="3116609"/>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B Migration</a:t>
            </a:r>
            <a:endParaRPr/>
          </a:p>
        </p:txBody>
      </p:sp>
      <p:sp>
        <p:nvSpPr>
          <p:cNvPr id="903" name="Google Shape;903;p30"/>
          <p:cNvSpPr txBox="1"/>
          <p:nvPr/>
        </p:nvSpPr>
        <p:spPr>
          <a:xfrm>
            <a:off x="10542091" y="2994570"/>
            <a:ext cx="412253" cy="104775"/>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1" i="0" lang="en-US" sz="712" u="none" cap="none" strike="noStrike">
                <a:solidFill>
                  <a:srgbClr val="7C3AED"/>
                </a:solidFill>
                <a:latin typeface="Plus Jakarta Sans"/>
                <a:ea typeface="Plus Jakarta Sans"/>
                <a:cs typeface="Plus Jakarta Sans"/>
                <a:sym typeface="Plus Jakarta Sans"/>
              </a:rPr>
              <a:t>Sub-VM 3</a:t>
            </a:r>
            <a:endParaRPr/>
          </a:p>
        </p:txBody>
      </p:sp>
      <p:sp>
        <p:nvSpPr>
          <p:cNvPr id="904" name="Google Shape;904;p30"/>
          <p:cNvSpPr txBox="1"/>
          <p:nvPr/>
        </p:nvSpPr>
        <p:spPr>
          <a:xfrm>
            <a:off x="10114061" y="3116609"/>
            <a:ext cx="1268462" cy="122039"/>
          </a:xfrm>
          <a:prstGeom prst="rect">
            <a:avLst/>
          </a:prstGeom>
          <a:noFill/>
          <a:ln>
            <a:noFill/>
          </a:ln>
        </p:spPr>
        <p:txBody>
          <a:bodyPr anchorCtr="0" anchor="t" bIns="0" lIns="0" spcFirstLastPara="1" rIns="0" wrap="square" tIns="0">
            <a:spAutoFit/>
          </a:bodyPr>
          <a:lstStyle/>
          <a:p>
            <a:pPr indent="0" lvl="0" marL="0" marR="0" rtl="0" algn="ctr">
              <a:lnSpc>
                <a:spcPct val="134971"/>
              </a:lnSpc>
              <a:spcBef>
                <a:spcPts val="0"/>
              </a:spcBef>
              <a:spcAft>
                <a:spcPts val="0"/>
              </a:spcAft>
              <a:buNone/>
            </a:pPr>
            <a:r>
              <a:rPr b="0" i="0" lang="en-US" sz="712" u="none" cap="none" strike="noStrike">
                <a:solidFill>
                  <a:srgbClr val="475569"/>
                </a:solidFill>
                <a:latin typeface="Plus Jakarta Sans"/>
                <a:ea typeface="Plus Jakarta Sans"/>
                <a:cs typeface="Plus Jakarta Sans"/>
                <a:sym typeface="Plus Jakarta Sans"/>
              </a:rPr>
              <a:t>File Z Migration</a:t>
            </a:r>
            <a:endParaRPr/>
          </a:p>
        </p:txBody>
      </p:sp>
      <p:pic>
        <p:nvPicPr>
          <p:cNvPr descr="image.png" id="905" name="Google Shape;905;p30"/>
          <p:cNvPicPr preferRelativeResize="0"/>
          <p:nvPr/>
        </p:nvPicPr>
        <p:blipFill rotWithShape="1">
          <a:blip r:embed="rId14">
            <a:alphaModFix/>
          </a:blip>
          <a:srcRect b="0" l="0" r="0" t="0"/>
          <a:stretch/>
        </p:blipFill>
        <p:spPr>
          <a:xfrm>
            <a:off x="7005637" y="3757166"/>
            <a:ext cx="171450" cy="142875"/>
          </a:xfrm>
          <a:prstGeom prst="rect">
            <a:avLst/>
          </a:prstGeom>
          <a:noFill/>
          <a:ln>
            <a:noFill/>
          </a:ln>
        </p:spPr>
      </p:pic>
      <p:pic>
        <p:nvPicPr>
          <p:cNvPr descr="image.png" id="906" name="Google Shape;906;p30"/>
          <p:cNvPicPr preferRelativeResize="0"/>
          <p:nvPr/>
        </p:nvPicPr>
        <p:blipFill rotWithShape="1">
          <a:blip r:embed="rId15">
            <a:alphaModFix/>
          </a:blip>
          <a:srcRect b="0" l="0" r="0" t="0"/>
          <a:stretch/>
        </p:blipFill>
        <p:spPr>
          <a:xfrm>
            <a:off x="7005637" y="4206626"/>
            <a:ext cx="76200" cy="142875"/>
          </a:xfrm>
          <a:prstGeom prst="rect">
            <a:avLst/>
          </a:prstGeom>
          <a:noFill/>
          <a:ln>
            <a:noFill/>
          </a:ln>
        </p:spPr>
      </p:pic>
      <p:pic>
        <p:nvPicPr>
          <p:cNvPr descr="image.png" id="907" name="Google Shape;907;p30"/>
          <p:cNvPicPr preferRelativeResize="0"/>
          <p:nvPr/>
        </p:nvPicPr>
        <p:blipFill rotWithShape="1">
          <a:blip r:embed="rId16">
            <a:alphaModFix/>
          </a:blip>
          <a:srcRect b="0" l="0" r="0" t="0"/>
          <a:stretch/>
        </p:blipFill>
        <p:spPr>
          <a:xfrm>
            <a:off x="7005637" y="4469457"/>
            <a:ext cx="114300" cy="142875"/>
          </a:xfrm>
          <a:prstGeom prst="rect">
            <a:avLst/>
          </a:prstGeom>
          <a:noFill/>
          <a:ln>
            <a:noFill/>
          </a:ln>
        </p:spPr>
      </p:pic>
      <p:pic>
        <p:nvPicPr>
          <p:cNvPr descr="image.png" id="908" name="Google Shape;908;p30"/>
          <p:cNvPicPr preferRelativeResize="0"/>
          <p:nvPr/>
        </p:nvPicPr>
        <p:blipFill rotWithShape="1">
          <a:blip r:embed="rId17">
            <a:alphaModFix/>
          </a:blip>
          <a:srcRect b="0" l="0" r="0" t="0"/>
          <a:stretch/>
        </p:blipFill>
        <p:spPr>
          <a:xfrm>
            <a:off x="7005637" y="4918918"/>
            <a:ext cx="171450" cy="142875"/>
          </a:xfrm>
          <a:prstGeom prst="rect">
            <a:avLst/>
          </a:prstGeom>
          <a:noFill/>
          <a:ln>
            <a:noFill/>
          </a:ln>
        </p:spPr>
      </p:pic>
      <p:sp>
        <p:nvSpPr>
          <p:cNvPr id="909" name="Google Shape;909;p30"/>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Managed Parallel Orchestrator</a:t>
            </a:r>
            <a:endParaRPr/>
          </a:p>
        </p:txBody>
      </p:sp>
      <p:sp>
        <p:nvSpPr>
          <p:cNvPr id="910" name="Google Shape;910;p30"/>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4" name="Shape 914"/>
        <p:cNvGrpSpPr/>
        <p:nvPr/>
      </p:nvGrpSpPr>
      <p:grpSpPr>
        <a:xfrm>
          <a:off x="0" y="0"/>
          <a:ext cx="0" cy="0"/>
          <a:chOff x="0" y="0"/>
          <a:chExt cx="0" cy="0"/>
        </a:xfrm>
      </p:grpSpPr>
      <p:pic>
        <p:nvPicPr>
          <p:cNvPr descr="image.png" id="915" name="Google Shape;915;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16" name="Google Shape;916;p31"/>
          <p:cNvPicPr preferRelativeResize="0"/>
          <p:nvPr/>
        </p:nvPicPr>
        <p:blipFill rotWithShape="1">
          <a:blip r:embed="rId4">
            <a:alphaModFix/>
          </a:blip>
          <a:srcRect b="0" l="0" r="0" t="0"/>
          <a:stretch/>
        </p:blipFill>
        <p:spPr>
          <a:xfrm>
            <a:off x="571500" y="3808958"/>
            <a:ext cx="11049000" cy="1314450"/>
          </a:xfrm>
          <a:prstGeom prst="rect">
            <a:avLst/>
          </a:prstGeom>
          <a:noFill/>
          <a:ln>
            <a:noFill/>
          </a:ln>
        </p:spPr>
      </p:pic>
      <p:pic>
        <p:nvPicPr>
          <p:cNvPr descr="image.png" id="917" name="Google Shape;917;p31"/>
          <p:cNvPicPr preferRelativeResize="0"/>
          <p:nvPr/>
        </p:nvPicPr>
        <p:blipFill rotWithShape="1">
          <a:blip r:embed="rId5">
            <a:alphaModFix/>
          </a:blip>
          <a:srcRect b="0" l="0" r="0" t="0"/>
          <a:stretch/>
        </p:blipFill>
        <p:spPr>
          <a:xfrm>
            <a:off x="571500" y="2391816"/>
            <a:ext cx="3587650" cy="1302841"/>
          </a:xfrm>
          <a:prstGeom prst="rect">
            <a:avLst/>
          </a:prstGeom>
          <a:noFill/>
          <a:ln>
            <a:noFill/>
          </a:ln>
        </p:spPr>
      </p:pic>
      <p:pic>
        <p:nvPicPr>
          <p:cNvPr descr="image.png" id="918" name="Google Shape;918;p31"/>
          <p:cNvPicPr preferRelativeResize="0"/>
          <p:nvPr/>
        </p:nvPicPr>
        <p:blipFill rotWithShape="1">
          <a:blip r:embed="rId6">
            <a:alphaModFix/>
          </a:blip>
          <a:srcRect b="0" l="0" r="0" t="0"/>
          <a:stretch/>
        </p:blipFill>
        <p:spPr>
          <a:xfrm>
            <a:off x="4302025" y="2391816"/>
            <a:ext cx="3946624" cy="1302841"/>
          </a:xfrm>
          <a:prstGeom prst="rect">
            <a:avLst/>
          </a:prstGeom>
          <a:noFill/>
          <a:ln>
            <a:noFill/>
          </a:ln>
        </p:spPr>
      </p:pic>
      <p:pic>
        <p:nvPicPr>
          <p:cNvPr descr="image.png" id="919" name="Google Shape;919;p31"/>
          <p:cNvPicPr preferRelativeResize="0"/>
          <p:nvPr/>
        </p:nvPicPr>
        <p:blipFill rotWithShape="1">
          <a:blip r:embed="rId7">
            <a:alphaModFix/>
          </a:blip>
          <a:srcRect b="0" l="0" r="0" t="0"/>
          <a:stretch/>
        </p:blipFill>
        <p:spPr>
          <a:xfrm>
            <a:off x="8391525" y="2391816"/>
            <a:ext cx="3228826" cy="1302841"/>
          </a:xfrm>
          <a:prstGeom prst="rect">
            <a:avLst/>
          </a:prstGeom>
          <a:noFill/>
          <a:ln>
            <a:noFill/>
          </a:ln>
        </p:spPr>
      </p:pic>
      <p:pic>
        <p:nvPicPr>
          <p:cNvPr descr="image.png" id="920" name="Google Shape;920;p31"/>
          <p:cNvPicPr preferRelativeResize="0"/>
          <p:nvPr/>
        </p:nvPicPr>
        <p:blipFill rotWithShape="1">
          <a:blip r:embed="rId8">
            <a:alphaModFix/>
          </a:blip>
          <a:srcRect b="0" l="0" r="0" t="0"/>
          <a:stretch/>
        </p:blipFill>
        <p:spPr>
          <a:xfrm>
            <a:off x="695325" y="2525166"/>
            <a:ext cx="1219497" cy="180975"/>
          </a:xfrm>
          <a:prstGeom prst="rect">
            <a:avLst/>
          </a:prstGeom>
          <a:noFill/>
          <a:ln>
            <a:noFill/>
          </a:ln>
        </p:spPr>
      </p:pic>
      <p:pic>
        <p:nvPicPr>
          <p:cNvPr descr="image.png" id="921" name="Google Shape;921;p31"/>
          <p:cNvPicPr preferRelativeResize="0"/>
          <p:nvPr/>
        </p:nvPicPr>
        <p:blipFill rotWithShape="1">
          <a:blip r:embed="rId9">
            <a:alphaModFix/>
          </a:blip>
          <a:srcRect b="0" l="0" r="0" t="0"/>
          <a:stretch/>
        </p:blipFill>
        <p:spPr>
          <a:xfrm>
            <a:off x="4425850" y="2525166"/>
            <a:ext cx="1505247" cy="180975"/>
          </a:xfrm>
          <a:prstGeom prst="rect">
            <a:avLst/>
          </a:prstGeom>
          <a:noFill/>
          <a:ln>
            <a:noFill/>
          </a:ln>
        </p:spPr>
      </p:pic>
      <p:pic>
        <p:nvPicPr>
          <p:cNvPr descr="image.png" id="922" name="Google Shape;922;p31"/>
          <p:cNvPicPr preferRelativeResize="0"/>
          <p:nvPr/>
        </p:nvPicPr>
        <p:blipFill rotWithShape="1">
          <a:blip r:embed="rId10">
            <a:alphaModFix/>
          </a:blip>
          <a:srcRect b="0" l="0" r="0" t="0"/>
          <a:stretch/>
        </p:blipFill>
        <p:spPr>
          <a:xfrm>
            <a:off x="8515350" y="2525166"/>
            <a:ext cx="1105048" cy="180975"/>
          </a:xfrm>
          <a:prstGeom prst="rect">
            <a:avLst/>
          </a:prstGeom>
          <a:noFill/>
          <a:ln>
            <a:noFill/>
          </a:ln>
        </p:spPr>
      </p:pic>
      <p:pic>
        <p:nvPicPr>
          <p:cNvPr descr="image.png" id="923" name="Google Shape;923;p31"/>
          <p:cNvPicPr preferRelativeResize="0"/>
          <p:nvPr/>
        </p:nvPicPr>
        <p:blipFill rotWithShape="1">
          <a:blip r:embed="rId11">
            <a:alphaModFix/>
          </a:blip>
          <a:srcRect b="0" l="0" r="0" t="0"/>
          <a:stretch/>
        </p:blipFill>
        <p:spPr>
          <a:xfrm>
            <a:off x="571500" y="457200"/>
            <a:ext cx="823168" cy="200025"/>
          </a:xfrm>
          <a:prstGeom prst="rect">
            <a:avLst/>
          </a:prstGeom>
          <a:noFill/>
          <a:ln>
            <a:noFill/>
          </a:ln>
        </p:spPr>
      </p:pic>
      <p:graphicFrame>
        <p:nvGraphicFramePr>
          <p:cNvPr id="924" name="Google Shape;924;p31"/>
          <p:cNvGraphicFramePr/>
          <p:nvPr/>
        </p:nvGraphicFramePr>
        <p:xfrm>
          <a:off x="581025" y="3818483"/>
          <a:ext cx="3000000" cy="3000000"/>
        </p:xfrm>
        <a:graphic>
          <a:graphicData uri="http://schemas.openxmlformats.org/drawingml/2006/table">
            <a:tbl>
              <a:tblPr bandRow="1" firstRow="1">
                <a:noFill/>
                <a:tableStyleId>{E657498C-50AF-47E2-8EDF-F8D5E4E2C3A4}</a:tableStyleId>
              </a:tblPr>
              <a:tblGrid>
                <a:gridCol w="1916025"/>
                <a:gridCol w="1196575"/>
                <a:gridCol w="1368925"/>
                <a:gridCol w="1481125"/>
                <a:gridCol w="5067300"/>
              </a:tblGrid>
              <a:tr h="323850">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Feature Name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Layer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Scope Level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Is Reusable?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750" u="none" cap="none" strike="noStrike">
                          <a:solidFill>
                            <a:srgbClr val="0F172A"/>
                          </a:solidFill>
                          <a:latin typeface="JetBrains Mono"/>
                          <a:ea typeface="JetBrains Mono"/>
                          <a:cs typeface="JetBrains Mono"/>
                          <a:sym typeface="JetBrains Mono"/>
                        </a:rPr>
                        <a:t>Core Interactive Connection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238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Environment/Snapshot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Foundational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Organization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(Required)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Clones repos and installs target compiler dependencies for VM sandboxes.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38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Knowledge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Memory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Org / Enterprise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(All sessions)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Automatically matching context keywords during active processes.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23850">
                <a:tc>
                  <a:txBody>
                    <a:bodyPr/>
                    <a:lstStyle/>
                    <a:p>
                      <a:pPr indent="0" lvl="0" marL="0" marR="0" rtl="0" algn="l">
                        <a:spcBef>
                          <a:spcPts val="0"/>
                        </a:spcBef>
                        <a:spcAft>
                          <a:spcPts val="0"/>
                        </a:spcAft>
                        <a:buNone/>
                      </a:pPr>
                      <a:r>
                        <a:rPr b="1" i="0" lang="en-US" sz="900" u="none" cap="none" strike="noStrike">
                          <a:solidFill>
                            <a:srgbClr val="334155"/>
                          </a:solidFill>
                          <a:latin typeface="Plus Jakarta Sans"/>
                          <a:ea typeface="Plus Jakarta Sans"/>
                          <a:cs typeface="Plus Jakarta Sans"/>
                          <a:sym typeface="Plus Jakarta Sans"/>
                        </a:rPr>
                        <a:t>Skills &amp; Playbooks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Workflow</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Repo / Org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Yes (Versioned)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900" u="none" cap="none" strike="noStrike">
                          <a:solidFill>
                            <a:srgbClr val="334155"/>
                          </a:solidFill>
                          <a:latin typeface="Plus Jakarta Sans"/>
                          <a:ea typeface="Plus Jakarta Sans"/>
                          <a:cs typeface="Plus Jakarta Sans"/>
                          <a:sym typeface="Plus Jakarta Sans"/>
                        </a:rPr>
                        <a:t>Injects explicit commands and custom postcondition checklists dynamically.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25" name="Google Shape;925;p31"/>
          <p:cNvSpPr/>
          <p:nvPr/>
        </p:nvSpPr>
        <p:spPr>
          <a:xfrm>
            <a:off x="581025" y="4108995"/>
            <a:ext cx="19160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6" name="Google Shape;926;p31"/>
          <p:cNvSpPr/>
          <p:nvPr/>
        </p:nvSpPr>
        <p:spPr>
          <a:xfrm>
            <a:off x="2497038" y="4108995"/>
            <a:ext cx="11965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7" name="Google Shape;927;p31"/>
          <p:cNvSpPr/>
          <p:nvPr/>
        </p:nvSpPr>
        <p:spPr>
          <a:xfrm>
            <a:off x="3693616" y="4108995"/>
            <a:ext cx="13689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8" name="Google Shape;928;p31"/>
          <p:cNvSpPr/>
          <p:nvPr/>
        </p:nvSpPr>
        <p:spPr>
          <a:xfrm>
            <a:off x="5062537" y="4108995"/>
            <a:ext cx="14811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9" name="Google Shape;929;p31"/>
          <p:cNvSpPr/>
          <p:nvPr/>
        </p:nvSpPr>
        <p:spPr>
          <a:xfrm>
            <a:off x="6543675" y="4108995"/>
            <a:ext cx="506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0" name="Google Shape;930;p31"/>
          <p:cNvSpPr txBox="1"/>
          <p:nvPr/>
        </p:nvSpPr>
        <p:spPr>
          <a:xfrm>
            <a:off x="923925" y="2782341"/>
            <a:ext cx="31114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Environment Blueprints &amp; Snapshots</a:t>
            </a:r>
            <a:endParaRPr/>
          </a:p>
        </p:txBody>
      </p:sp>
      <p:sp>
        <p:nvSpPr>
          <p:cNvPr id="931" name="Google Shape;931;p31"/>
          <p:cNvSpPr txBox="1"/>
          <p:nvPr/>
        </p:nvSpPr>
        <p:spPr>
          <a:xfrm>
            <a:off x="923925" y="3045172"/>
            <a:ext cx="3111400"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Cloned &amp; Indexed Repository Database</a:t>
            </a:r>
            <a:endParaRPr/>
          </a:p>
        </p:txBody>
      </p:sp>
      <p:sp>
        <p:nvSpPr>
          <p:cNvPr id="932" name="Google Shape;932;p31"/>
          <p:cNvSpPr txBox="1"/>
          <p:nvPr/>
        </p:nvSpPr>
        <p:spPr>
          <a:xfrm>
            <a:off x="4654450" y="2782341"/>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Trigger-Based Context Knowledge</a:t>
            </a:r>
            <a:endParaRPr/>
          </a:p>
        </p:txBody>
      </p:sp>
      <p:sp>
        <p:nvSpPr>
          <p:cNvPr id="933" name="Google Shape;933;p31"/>
          <p:cNvSpPr txBox="1"/>
          <p:nvPr/>
        </p:nvSpPr>
        <p:spPr>
          <a:xfrm>
            <a:off x="4654450" y="3045172"/>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Committed Skills &amp; Playbook Templates</a:t>
            </a:r>
            <a:endParaRPr/>
          </a:p>
        </p:txBody>
      </p:sp>
      <p:sp>
        <p:nvSpPr>
          <p:cNvPr id="934" name="Google Shape;934;p31"/>
          <p:cNvSpPr txBox="1"/>
          <p:nvPr/>
        </p:nvSpPr>
        <p:spPr>
          <a:xfrm>
            <a:off x="4654450" y="3308002"/>
            <a:ext cx="3470374"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AGENTS.md Repository Rules</a:t>
            </a:r>
            <a:endParaRPr/>
          </a:p>
        </p:txBody>
      </p:sp>
      <p:sp>
        <p:nvSpPr>
          <p:cNvPr id="935" name="Google Shape;935;p31"/>
          <p:cNvSpPr txBox="1"/>
          <p:nvPr/>
        </p:nvSpPr>
        <p:spPr>
          <a:xfrm>
            <a:off x="8743950" y="2782341"/>
            <a:ext cx="2752576"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Webhooks &amp; Scheduled CRON Runs</a:t>
            </a:r>
            <a:endParaRPr/>
          </a:p>
        </p:txBody>
      </p:sp>
      <p:sp>
        <p:nvSpPr>
          <p:cNvPr id="936" name="Google Shape;936;p31"/>
          <p:cNvSpPr txBox="1"/>
          <p:nvPr/>
        </p:nvSpPr>
        <p:spPr>
          <a:xfrm>
            <a:off x="8743950" y="3045172"/>
            <a:ext cx="2752576" cy="18663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050" u="none" cap="none" strike="noStrike">
                <a:solidFill>
                  <a:srgbClr val="334155"/>
                </a:solidFill>
                <a:latin typeface="Plus Jakarta Sans"/>
                <a:ea typeface="Plus Jakarta Sans"/>
                <a:cs typeface="Plus Jakarta Sans"/>
                <a:sym typeface="Plus Jakarta Sans"/>
              </a:rPr>
              <a:t>Managed Parallel Coordinator Flows</a:t>
            </a:r>
            <a:endParaRPr/>
          </a:p>
        </p:txBody>
      </p:sp>
      <p:sp>
        <p:nvSpPr>
          <p:cNvPr id="937" name="Google Shape;937;p31"/>
          <p:cNvSpPr/>
          <p:nvPr/>
        </p:nvSpPr>
        <p:spPr>
          <a:xfrm>
            <a:off x="581025" y="4442370"/>
            <a:ext cx="19160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8" name="Google Shape;938;p31"/>
          <p:cNvSpPr/>
          <p:nvPr/>
        </p:nvSpPr>
        <p:spPr>
          <a:xfrm>
            <a:off x="2497038" y="4442370"/>
            <a:ext cx="11965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9" name="Google Shape;939;p31"/>
          <p:cNvSpPr/>
          <p:nvPr/>
        </p:nvSpPr>
        <p:spPr>
          <a:xfrm>
            <a:off x="3693616" y="4442370"/>
            <a:ext cx="13689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0" name="Google Shape;940;p31"/>
          <p:cNvSpPr/>
          <p:nvPr/>
        </p:nvSpPr>
        <p:spPr>
          <a:xfrm>
            <a:off x="5062537" y="4442370"/>
            <a:ext cx="14811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1" name="Google Shape;941;p31"/>
          <p:cNvSpPr/>
          <p:nvPr/>
        </p:nvSpPr>
        <p:spPr>
          <a:xfrm>
            <a:off x="6543675" y="4442370"/>
            <a:ext cx="506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2" name="Google Shape;942;p31"/>
          <p:cNvSpPr/>
          <p:nvPr/>
        </p:nvSpPr>
        <p:spPr>
          <a:xfrm>
            <a:off x="581025" y="4775745"/>
            <a:ext cx="191601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3" name="Google Shape;943;p31"/>
          <p:cNvSpPr/>
          <p:nvPr/>
        </p:nvSpPr>
        <p:spPr>
          <a:xfrm>
            <a:off x="2497038" y="4775745"/>
            <a:ext cx="11965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4" name="Google Shape;944;p31"/>
          <p:cNvSpPr/>
          <p:nvPr/>
        </p:nvSpPr>
        <p:spPr>
          <a:xfrm>
            <a:off x="3693616" y="4775745"/>
            <a:ext cx="136892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5" name="Google Shape;945;p31"/>
          <p:cNvSpPr/>
          <p:nvPr/>
        </p:nvSpPr>
        <p:spPr>
          <a:xfrm>
            <a:off x="5062537" y="4775745"/>
            <a:ext cx="1481137"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6" name="Google Shape;946;p31"/>
          <p:cNvSpPr/>
          <p:nvPr/>
        </p:nvSpPr>
        <p:spPr>
          <a:xfrm>
            <a:off x="6543675" y="4775745"/>
            <a:ext cx="50673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947" name="Google Shape;947;p31"/>
          <p:cNvPicPr preferRelativeResize="0"/>
          <p:nvPr/>
        </p:nvPicPr>
        <p:blipFill rotWithShape="1">
          <a:blip r:embed="rId12">
            <a:alphaModFix/>
          </a:blip>
          <a:srcRect b="0" l="0" r="0" t="0"/>
          <a:stretch/>
        </p:blipFill>
        <p:spPr>
          <a:xfrm>
            <a:off x="695325" y="2806154"/>
            <a:ext cx="133350" cy="142875"/>
          </a:xfrm>
          <a:prstGeom prst="rect">
            <a:avLst/>
          </a:prstGeom>
          <a:noFill/>
          <a:ln>
            <a:noFill/>
          </a:ln>
        </p:spPr>
      </p:pic>
      <p:pic>
        <p:nvPicPr>
          <p:cNvPr descr="image.png" id="948" name="Google Shape;948;p31"/>
          <p:cNvPicPr preferRelativeResize="0"/>
          <p:nvPr/>
        </p:nvPicPr>
        <p:blipFill rotWithShape="1">
          <a:blip r:embed="rId13">
            <a:alphaModFix/>
          </a:blip>
          <a:srcRect b="0" l="0" r="0" t="0"/>
          <a:stretch/>
        </p:blipFill>
        <p:spPr>
          <a:xfrm>
            <a:off x="695325" y="3068984"/>
            <a:ext cx="114300" cy="142875"/>
          </a:xfrm>
          <a:prstGeom prst="rect">
            <a:avLst/>
          </a:prstGeom>
          <a:noFill/>
          <a:ln>
            <a:noFill/>
          </a:ln>
        </p:spPr>
      </p:pic>
      <p:pic>
        <p:nvPicPr>
          <p:cNvPr descr="image.png" id="949" name="Google Shape;949;p31"/>
          <p:cNvPicPr preferRelativeResize="0"/>
          <p:nvPr/>
        </p:nvPicPr>
        <p:blipFill rotWithShape="1">
          <a:blip r:embed="rId14">
            <a:alphaModFix/>
          </a:blip>
          <a:srcRect b="0" l="0" r="0" t="0"/>
          <a:stretch/>
        </p:blipFill>
        <p:spPr>
          <a:xfrm>
            <a:off x="4425850" y="2806154"/>
            <a:ext cx="133350" cy="142875"/>
          </a:xfrm>
          <a:prstGeom prst="rect">
            <a:avLst/>
          </a:prstGeom>
          <a:noFill/>
          <a:ln>
            <a:noFill/>
          </a:ln>
        </p:spPr>
      </p:pic>
      <p:pic>
        <p:nvPicPr>
          <p:cNvPr descr="image.png" id="950" name="Google Shape;950;p31"/>
          <p:cNvPicPr preferRelativeResize="0"/>
          <p:nvPr/>
        </p:nvPicPr>
        <p:blipFill rotWithShape="1">
          <a:blip r:embed="rId15">
            <a:alphaModFix/>
          </a:blip>
          <a:srcRect b="0" l="0" r="0" t="0"/>
          <a:stretch/>
        </p:blipFill>
        <p:spPr>
          <a:xfrm>
            <a:off x="4425850" y="3068984"/>
            <a:ext cx="133350" cy="142875"/>
          </a:xfrm>
          <a:prstGeom prst="rect">
            <a:avLst/>
          </a:prstGeom>
          <a:noFill/>
          <a:ln>
            <a:noFill/>
          </a:ln>
        </p:spPr>
      </p:pic>
      <p:pic>
        <p:nvPicPr>
          <p:cNvPr descr="image.png" id="951" name="Google Shape;951;p31"/>
          <p:cNvPicPr preferRelativeResize="0"/>
          <p:nvPr/>
        </p:nvPicPr>
        <p:blipFill rotWithShape="1">
          <a:blip r:embed="rId16">
            <a:alphaModFix/>
          </a:blip>
          <a:srcRect b="0" l="0" r="0" t="0"/>
          <a:stretch/>
        </p:blipFill>
        <p:spPr>
          <a:xfrm>
            <a:off x="4425850" y="3331815"/>
            <a:ext cx="104775" cy="142875"/>
          </a:xfrm>
          <a:prstGeom prst="rect">
            <a:avLst/>
          </a:prstGeom>
          <a:noFill/>
          <a:ln>
            <a:noFill/>
          </a:ln>
        </p:spPr>
      </p:pic>
      <p:pic>
        <p:nvPicPr>
          <p:cNvPr descr="image.png" id="952" name="Google Shape;952;p31"/>
          <p:cNvPicPr preferRelativeResize="0"/>
          <p:nvPr/>
        </p:nvPicPr>
        <p:blipFill rotWithShape="1">
          <a:blip r:embed="rId17">
            <a:alphaModFix/>
          </a:blip>
          <a:srcRect b="0" l="0" r="0" t="0"/>
          <a:stretch/>
        </p:blipFill>
        <p:spPr>
          <a:xfrm>
            <a:off x="8515350" y="2806154"/>
            <a:ext cx="171450" cy="142875"/>
          </a:xfrm>
          <a:prstGeom prst="rect">
            <a:avLst/>
          </a:prstGeom>
          <a:noFill/>
          <a:ln>
            <a:noFill/>
          </a:ln>
        </p:spPr>
      </p:pic>
      <p:pic>
        <p:nvPicPr>
          <p:cNvPr descr="image.png" id="953" name="Google Shape;953;p31"/>
          <p:cNvPicPr preferRelativeResize="0"/>
          <p:nvPr/>
        </p:nvPicPr>
        <p:blipFill rotWithShape="1">
          <a:blip r:embed="rId18">
            <a:alphaModFix/>
          </a:blip>
          <a:srcRect b="0" l="0" r="0" t="0"/>
          <a:stretch/>
        </p:blipFill>
        <p:spPr>
          <a:xfrm>
            <a:off x="8515350" y="3068984"/>
            <a:ext cx="133350" cy="142875"/>
          </a:xfrm>
          <a:prstGeom prst="rect">
            <a:avLst/>
          </a:prstGeom>
          <a:noFill/>
          <a:ln>
            <a:noFill/>
          </a:ln>
        </p:spPr>
      </p:pic>
      <p:sp>
        <p:nvSpPr>
          <p:cNvPr id="954" name="Google Shape;954;p31"/>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Feature Integration Fabric</a:t>
            </a:r>
            <a:endParaRPr/>
          </a:p>
        </p:txBody>
      </p:sp>
      <p:sp>
        <p:nvSpPr>
          <p:cNvPr id="955" name="Google Shape;955;p31"/>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9" name="Shape 959"/>
        <p:cNvGrpSpPr/>
        <p:nvPr/>
      </p:nvGrpSpPr>
      <p:grpSpPr>
        <a:xfrm>
          <a:off x="0" y="0"/>
          <a:ext cx="0" cy="0"/>
          <a:chOff x="0" y="0"/>
          <a:chExt cx="0" cy="0"/>
        </a:xfrm>
      </p:grpSpPr>
      <p:pic>
        <p:nvPicPr>
          <p:cNvPr descr="image.png" id="960" name="Google Shape;960;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961" name="Google Shape;961;p32"/>
          <p:cNvPicPr preferRelativeResize="0"/>
          <p:nvPr/>
        </p:nvPicPr>
        <p:blipFill rotWithShape="1">
          <a:blip r:embed="rId4">
            <a:alphaModFix/>
          </a:blip>
          <a:srcRect b="0" l="0" r="0" t="0"/>
          <a:stretch/>
        </p:blipFill>
        <p:spPr>
          <a:xfrm>
            <a:off x="1571625" y="1981200"/>
            <a:ext cx="7543800" cy="38100"/>
          </a:xfrm>
          <a:prstGeom prst="rect">
            <a:avLst/>
          </a:prstGeom>
          <a:noFill/>
          <a:ln>
            <a:noFill/>
          </a:ln>
        </p:spPr>
      </p:pic>
      <p:grpSp>
        <p:nvGrpSpPr>
          <p:cNvPr id="962" name="Google Shape;962;p32"/>
          <p:cNvGrpSpPr/>
          <p:nvPr/>
        </p:nvGrpSpPr>
        <p:grpSpPr>
          <a:xfrm>
            <a:off x="571500" y="1809750"/>
            <a:ext cx="2000100" cy="3619500"/>
            <a:chOff x="571500" y="1809750"/>
            <a:chExt cx="2000100" cy="3619500"/>
          </a:xfrm>
        </p:grpSpPr>
        <p:sp>
          <p:nvSpPr>
            <p:cNvPr id="963" name="Google Shape;963;p32"/>
            <p:cNvSpPr/>
            <p:nvPr/>
          </p:nvSpPr>
          <p:spPr>
            <a:xfrm>
              <a:off x="571500"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4" name="Google Shape;964;p32"/>
            <p:cNvSpPr/>
            <p:nvPr/>
          </p:nvSpPr>
          <p:spPr>
            <a:xfrm>
              <a:off x="571500" y="2381250"/>
              <a:ext cx="20001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5" name="Google Shape;965;p32"/>
            <p:cNvSpPr/>
            <p:nvPr/>
          </p:nvSpPr>
          <p:spPr>
            <a:xfrm>
              <a:off x="1381125" y="1809750"/>
              <a:ext cx="381000" cy="3810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6" name="Google Shape;966;p32"/>
            <p:cNvSpPr txBox="1"/>
            <p:nvPr/>
          </p:nvSpPr>
          <p:spPr>
            <a:xfrm>
              <a:off x="1381125"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01</a:t>
              </a:r>
              <a:endParaRPr b="1" sz="1000">
                <a:solidFill>
                  <a:srgbClr val="FFFFFF"/>
                </a:solidFill>
                <a:latin typeface="JetBrains Mono"/>
                <a:ea typeface="JetBrains Mono"/>
                <a:cs typeface="JetBrains Mono"/>
                <a:sym typeface="JetBrains Mono"/>
              </a:endParaRPr>
            </a:p>
          </p:txBody>
        </p:sp>
        <p:sp>
          <p:nvSpPr>
            <p:cNvPr id="967" name="Google Shape;967;p32"/>
            <p:cNvSpPr txBox="1"/>
            <p:nvPr/>
          </p:nvSpPr>
          <p:spPr>
            <a:xfrm>
              <a:off x="723900"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2563EB"/>
                  </a:solidFill>
                  <a:latin typeface="JetBrains Mono"/>
                  <a:ea typeface="JetBrains Mono"/>
                  <a:cs typeface="JetBrains Mono"/>
                  <a:sym typeface="JetBrains Mono"/>
                </a:rPr>
                <a:t>BOOT &amp; LOAD</a:t>
              </a:r>
              <a:endParaRPr b="1" sz="1100">
                <a:solidFill>
                  <a:srgbClr val="2563EB"/>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Manual or API trigger boots Ubuntu container, mapping custom knowledge parameters.</a:t>
              </a:r>
              <a:endParaRPr b="0" sz="1000">
                <a:solidFill>
                  <a:srgbClr val="475569"/>
                </a:solidFill>
                <a:latin typeface="Plus Jakarta Sans"/>
                <a:ea typeface="Plus Jakarta Sans"/>
                <a:cs typeface="Plus Jakarta Sans"/>
                <a:sym typeface="Plus Jakarta Sans"/>
              </a:endParaRPr>
            </a:p>
          </p:txBody>
        </p:sp>
      </p:grpSp>
      <p:grpSp>
        <p:nvGrpSpPr>
          <p:cNvPr id="968" name="Google Shape;968;p32"/>
          <p:cNvGrpSpPr/>
          <p:nvPr/>
        </p:nvGrpSpPr>
        <p:grpSpPr>
          <a:xfrm>
            <a:off x="2833688" y="1809750"/>
            <a:ext cx="2000100" cy="3619500"/>
            <a:chOff x="2833688" y="1809750"/>
            <a:chExt cx="2000100" cy="3619500"/>
          </a:xfrm>
        </p:grpSpPr>
        <p:sp>
          <p:nvSpPr>
            <p:cNvPr id="969" name="Google Shape;969;p32"/>
            <p:cNvSpPr/>
            <p:nvPr/>
          </p:nvSpPr>
          <p:spPr>
            <a:xfrm>
              <a:off x="2833688"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0" name="Google Shape;970;p32"/>
            <p:cNvSpPr/>
            <p:nvPr/>
          </p:nvSpPr>
          <p:spPr>
            <a:xfrm>
              <a:off x="2833688" y="2381250"/>
              <a:ext cx="2000100" cy="57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1" name="Google Shape;971;p32"/>
            <p:cNvSpPr/>
            <p:nvPr/>
          </p:nvSpPr>
          <p:spPr>
            <a:xfrm>
              <a:off x="3643313" y="1809750"/>
              <a:ext cx="381000" cy="381000"/>
            </a:xfrm>
            <a:prstGeom prst="ellipse">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2" name="Google Shape;972;p32"/>
            <p:cNvSpPr txBox="1"/>
            <p:nvPr/>
          </p:nvSpPr>
          <p:spPr>
            <a:xfrm>
              <a:off x="3643313"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02</a:t>
              </a:r>
              <a:endParaRPr b="1" sz="1000">
                <a:solidFill>
                  <a:srgbClr val="FFFFFF"/>
                </a:solidFill>
                <a:latin typeface="JetBrains Mono"/>
                <a:ea typeface="JetBrains Mono"/>
                <a:cs typeface="JetBrains Mono"/>
                <a:sym typeface="JetBrains Mono"/>
              </a:endParaRPr>
            </a:p>
          </p:txBody>
        </p:sp>
        <p:sp>
          <p:nvSpPr>
            <p:cNvPr id="973" name="Google Shape;973;p32"/>
            <p:cNvSpPr txBox="1"/>
            <p:nvPr/>
          </p:nvSpPr>
          <p:spPr>
            <a:xfrm>
              <a:off x="2986088"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7C3AED"/>
                  </a:solidFill>
                  <a:latin typeface="JetBrains Mono"/>
                  <a:ea typeface="JetBrains Mono"/>
                  <a:cs typeface="JetBrains Mono"/>
                  <a:sym typeface="JetBrains Mono"/>
                </a:rPr>
                <a:t>AGENTS PROTOCOL</a:t>
              </a:r>
              <a:endParaRPr b="1" sz="1100">
                <a:solidFill>
                  <a:srgbClr val="7C3AED"/>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Discovers Skills, processes active Playbooks, and parses repository rules files.</a:t>
              </a:r>
              <a:endParaRPr b="0" sz="1000">
                <a:solidFill>
                  <a:srgbClr val="475569"/>
                </a:solidFill>
                <a:latin typeface="Plus Jakarta Sans"/>
                <a:ea typeface="Plus Jakarta Sans"/>
                <a:cs typeface="Plus Jakarta Sans"/>
                <a:sym typeface="Plus Jakarta Sans"/>
              </a:endParaRPr>
            </a:p>
          </p:txBody>
        </p:sp>
      </p:grpSp>
      <p:grpSp>
        <p:nvGrpSpPr>
          <p:cNvPr id="974" name="Google Shape;974;p32"/>
          <p:cNvGrpSpPr/>
          <p:nvPr/>
        </p:nvGrpSpPr>
        <p:grpSpPr>
          <a:xfrm>
            <a:off x="5095875" y="1809750"/>
            <a:ext cx="2000100" cy="3619500"/>
            <a:chOff x="5095875" y="1809750"/>
            <a:chExt cx="2000100" cy="3619500"/>
          </a:xfrm>
        </p:grpSpPr>
        <p:sp>
          <p:nvSpPr>
            <p:cNvPr id="975" name="Google Shape;975;p32"/>
            <p:cNvSpPr/>
            <p:nvPr/>
          </p:nvSpPr>
          <p:spPr>
            <a:xfrm>
              <a:off x="5095875"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6" name="Google Shape;976;p32"/>
            <p:cNvSpPr/>
            <p:nvPr/>
          </p:nvSpPr>
          <p:spPr>
            <a:xfrm>
              <a:off x="5095875" y="2381250"/>
              <a:ext cx="20001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7" name="Google Shape;977;p32"/>
            <p:cNvSpPr/>
            <p:nvPr/>
          </p:nvSpPr>
          <p:spPr>
            <a:xfrm>
              <a:off x="5905500" y="1809750"/>
              <a:ext cx="381000" cy="3810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8" name="Google Shape;978;p32"/>
            <p:cNvSpPr txBox="1"/>
            <p:nvPr/>
          </p:nvSpPr>
          <p:spPr>
            <a:xfrm>
              <a:off x="5905500"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03</a:t>
              </a:r>
              <a:endParaRPr b="1" sz="1000">
                <a:solidFill>
                  <a:srgbClr val="FFFFFF"/>
                </a:solidFill>
                <a:latin typeface="JetBrains Mono"/>
                <a:ea typeface="JetBrains Mono"/>
                <a:cs typeface="JetBrains Mono"/>
                <a:sym typeface="JetBrains Mono"/>
              </a:endParaRPr>
            </a:p>
          </p:txBody>
        </p:sp>
        <p:sp>
          <p:nvSpPr>
            <p:cNvPr id="979" name="Google Shape;979;p32"/>
            <p:cNvSpPr txBox="1"/>
            <p:nvPr/>
          </p:nvSpPr>
          <p:spPr>
            <a:xfrm>
              <a:off x="5248275"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D9488"/>
                  </a:solidFill>
                  <a:latin typeface="JetBrains Mono"/>
                  <a:ea typeface="JetBrains Mono"/>
                  <a:cs typeface="JetBrains Mono"/>
                  <a:sym typeface="JetBrains Mono"/>
                </a:rPr>
                <a:t>REASONING &amp; PLAN</a:t>
              </a:r>
              <a:endParaRPr b="1" sz="1100">
                <a:solidFill>
                  <a:srgbClr val="0D9488"/>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Deconstructs objectives, scopes directory trees, and maps specific dependencies.</a:t>
              </a:r>
              <a:endParaRPr b="0" sz="1000">
                <a:solidFill>
                  <a:srgbClr val="475569"/>
                </a:solidFill>
                <a:latin typeface="Plus Jakarta Sans"/>
                <a:ea typeface="Plus Jakarta Sans"/>
                <a:cs typeface="Plus Jakarta Sans"/>
                <a:sym typeface="Plus Jakarta Sans"/>
              </a:endParaRPr>
            </a:p>
          </p:txBody>
        </p:sp>
      </p:grpSp>
      <p:grpSp>
        <p:nvGrpSpPr>
          <p:cNvPr id="980" name="Google Shape;980;p32"/>
          <p:cNvGrpSpPr/>
          <p:nvPr/>
        </p:nvGrpSpPr>
        <p:grpSpPr>
          <a:xfrm>
            <a:off x="7358063" y="1809750"/>
            <a:ext cx="2000100" cy="3619500"/>
            <a:chOff x="7358063" y="1809750"/>
            <a:chExt cx="2000100" cy="3619500"/>
          </a:xfrm>
        </p:grpSpPr>
        <p:sp>
          <p:nvSpPr>
            <p:cNvPr id="981" name="Google Shape;981;p32"/>
            <p:cNvSpPr/>
            <p:nvPr/>
          </p:nvSpPr>
          <p:spPr>
            <a:xfrm>
              <a:off x="7358063"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2" name="Google Shape;982;p32"/>
            <p:cNvSpPr/>
            <p:nvPr/>
          </p:nvSpPr>
          <p:spPr>
            <a:xfrm>
              <a:off x="7358063" y="2381250"/>
              <a:ext cx="2000100" cy="57300"/>
            </a:xfrm>
            <a:prstGeom prst="roundRect">
              <a:avLst>
                <a:gd fmla="val 5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3" name="Google Shape;983;p32"/>
            <p:cNvSpPr/>
            <p:nvPr/>
          </p:nvSpPr>
          <p:spPr>
            <a:xfrm>
              <a:off x="8167688" y="1809750"/>
              <a:ext cx="381000" cy="381000"/>
            </a:xfrm>
            <a:prstGeom prst="ellipse">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4" name="Google Shape;984;p32"/>
            <p:cNvSpPr txBox="1"/>
            <p:nvPr/>
          </p:nvSpPr>
          <p:spPr>
            <a:xfrm>
              <a:off x="8167688"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04</a:t>
              </a:r>
              <a:endParaRPr b="1" sz="1000">
                <a:solidFill>
                  <a:srgbClr val="FFFFFF"/>
                </a:solidFill>
                <a:latin typeface="JetBrains Mono"/>
                <a:ea typeface="JetBrains Mono"/>
                <a:cs typeface="JetBrains Mono"/>
                <a:sym typeface="JetBrains Mono"/>
              </a:endParaRPr>
            </a:p>
          </p:txBody>
        </p:sp>
        <p:sp>
          <p:nvSpPr>
            <p:cNvPr id="985" name="Google Shape;985;p32"/>
            <p:cNvSpPr txBox="1"/>
            <p:nvPr/>
          </p:nvSpPr>
          <p:spPr>
            <a:xfrm>
              <a:off x="7510463"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EA580C"/>
                  </a:solidFill>
                  <a:latin typeface="JetBrains Mono"/>
                  <a:ea typeface="JetBrains Mono"/>
                  <a:cs typeface="JetBrains Mono"/>
                  <a:sym typeface="JetBrains Mono"/>
                </a:rPr>
                <a:t>WRITE &amp; VERIFY</a:t>
              </a:r>
              <a:endParaRPr b="1" sz="1100">
                <a:solidFill>
                  <a:srgbClr val="EA580C"/>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Executes code inside Workspace IDE. Verifies via local compilers, linters, and test suites.</a:t>
              </a:r>
              <a:endParaRPr b="0" sz="1000">
                <a:solidFill>
                  <a:srgbClr val="475569"/>
                </a:solidFill>
                <a:latin typeface="Plus Jakarta Sans"/>
                <a:ea typeface="Plus Jakarta Sans"/>
                <a:cs typeface="Plus Jakarta Sans"/>
                <a:sym typeface="Plus Jakarta Sans"/>
              </a:endParaRPr>
            </a:p>
          </p:txBody>
        </p:sp>
      </p:grpSp>
      <p:grpSp>
        <p:nvGrpSpPr>
          <p:cNvPr id="986" name="Google Shape;986;p32"/>
          <p:cNvGrpSpPr/>
          <p:nvPr/>
        </p:nvGrpSpPr>
        <p:grpSpPr>
          <a:xfrm>
            <a:off x="9620250" y="1809750"/>
            <a:ext cx="2000100" cy="3619500"/>
            <a:chOff x="9620250" y="1809750"/>
            <a:chExt cx="2000100" cy="3619500"/>
          </a:xfrm>
        </p:grpSpPr>
        <p:sp>
          <p:nvSpPr>
            <p:cNvPr id="987" name="Google Shape;987;p32"/>
            <p:cNvSpPr/>
            <p:nvPr/>
          </p:nvSpPr>
          <p:spPr>
            <a:xfrm>
              <a:off x="9620250" y="2381250"/>
              <a:ext cx="2000100" cy="3048000"/>
            </a:xfrm>
            <a:prstGeom prst="roundRect">
              <a:avLst>
                <a:gd fmla="val 7619"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8" name="Google Shape;988;p32"/>
            <p:cNvSpPr/>
            <p:nvPr/>
          </p:nvSpPr>
          <p:spPr>
            <a:xfrm>
              <a:off x="9620250" y="2381250"/>
              <a:ext cx="2000100" cy="57300"/>
            </a:xfrm>
            <a:prstGeom prst="roundRect">
              <a:avLst>
                <a:gd fmla="val 50000" name="adj"/>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9" name="Google Shape;989;p32"/>
            <p:cNvSpPr/>
            <p:nvPr/>
          </p:nvSpPr>
          <p:spPr>
            <a:xfrm>
              <a:off x="10429875" y="1809750"/>
              <a:ext cx="381000" cy="381000"/>
            </a:xfrm>
            <a:prstGeom prst="ellipse">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0" name="Google Shape;990;p32"/>
            <p:cNvSpPr txBox="1"/>
            <p:nvPr/>
          </p:nvSpPr>
          <p:spPr>
            <a:xfrm>
              <a:off x="10429875" y="1809750"/>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000">
                  <a:solidFill>
                    <a:srgbClr val="FFFFFF"/>
                  </a:solidFill>
                  <a:latin typeface="JetBrains Mono"/>
                  <a:ea typeface="JetBrains Mono"/>
                  <a:cs typeface="JetBrains Mono"/>
                  <a:sym typeface="JetBrains Mono"/>
                </a:rPr>
                <a:t>05</a:t>
              </a:r>
              <a:endParaRPr b="1" sz="1000">
                <a:solidFill>
                  <a:srgbClr val="FFFFFF"/>
                </a:solidFill>
                <a:latin typeface="JetBrains Mono"/>
                <a:ea typeface="JetBrains Mono"/>
                <a:cs typeface="JetBrains Mono"/>
                <a:sym typeface="JetBrains Mono"/>
              </a:endParaRPr>
            </a:p>
          </p:txBody>
        </p:sp>
        <p:sp>
          <p:nvSpPr>
            <p:cNvPr id="991" name="Google Shape;991;p32"/>
            <p:cNvSpPr txBox="1"/>
            <p:nvPr/>
          </p:nvSpPr>
          <p:spPr>
            <a:xfrm>
              <a:off x="9772650" y="2628900"/>
              <a:ext cx="16956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172A"/>
                  </a:solidFill>
                  <a:latin typeface="JetBrains Mono"/>
                  <a:ea typeface="JetBrains Mono"/>
                  <a:cs typeface="JetBrains Mono"/>
                  <a:sym typeface="JetBrains Mono"/>
                </a:rPr>
                <a:t>PR DEPLOYMENT</a:t>
              </a:r>
              <a:endParaRPr b="1" sz="1100">
                <a:solidFill>
                  <a:srgbClr val="0F172A"/>
                </a:solidFill>
                <a:latin typeface="JetBrains Mono"/>
                <a:ea typeface="JetBrains Mono"/>
                <a:cs typeface="JetBrains Mono"/>
                <a:sym typeface="JetBrains Mono"/>
              </a:endParaRPr>
            </a:p>
            <a:p>
              <a:pPr indent="0" lvl="0" marL="0" rtl="0" algn="l">
                <a:spcBef>
                  <a:spcPts val="900"/>
                </a:spcBef>
                <a:spcAft>
                  <a:spcPts val="0"/>
                </a:spcAft>
                <a:buNone/>
              </a:pPr>
              <a:r>
                <a:rPr b="0" lang="en-US" sz="1000">
                  <a:solidFill>
                    <a:srgbClr val="475569"/>
                  </a:solidFill>
                  <a:latin typeface="Plus Jakarta Sans"/>
                  <a:ea typeface="Plus Jakarta Sans"/>
                  <a:cs typeface="Plus Jakarta Sans"/>
                  <a:sym typeface="Plus Jakarta Sans"/>
                </a:rPr>
                <a:t>Pushes code, structures branch PR, suggests code lessons, and pauses for review.</a:t>
              </a:r>
              <a:endParaRPr b="0" sz="1000">
                <a:solidFill>
                  <a:srgbClr val="475569"/>
                </a:solidFill>
                <a:latin typeface="Plus Jakarta Sans"/>
                <a:ea typeface="Plus Jakarta Sans"/>
                <a:cs typeface="Plus Jakarta Sans"/>
                <a:sym typeface="Plus Jakarta Sans"/>
              </a:endParaRPr>
            </a:p>
          </p:txBody>
        </p:sp>
      </p:grpSp>
      <p:pic>
        <p:nvPicPr>
          <p:cNvPr descr="image.png" id="992" name="Google Shape;992;p32"/>
          <p:cNvPicPr preferRelativeResize="0"/>
          <p:nvPr/>
        </p:nvPicPr>
        <p:blipFill rotWithShape="1">
          <a:blip r:embed="rId5">
            <a:alphaModFix/>
          </a:blip>
          <a:srcRect b="0" l="0" r="0" t="0"/>
          <a:stretch/>
        </p:blipFill>
        <p:spPr>
          <a:xfrm>
            <a:off x="571500" y="457200"/>
            <a:ext cx="823168" cy="200025"/>
          </a:xfrm>
          <a:prstGeom prst="rect">
            <a:avLst/>
          </a:prstGeom>
          <a:noFill/>
          <a:ln>
            <a:noFill/>
          </a:ln>
        </p:spPr>
      </p:pic>
      <p:sp>
        <p:nvSpPr>
          <p:cNvPr id="993" name="Google Shape;993;p32"/>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Detailed Session Lifecycle Pipeline</a:t>
            </a:r>
            <a:endParaRPr/>
          </a:p>
        </p:txBody>
      </p:sp>
      <p:sp>
        <p:nvSpPr>
          <p:cNvPr id="994" name="Google Shape;994;p32"/>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8" name="Shape 998"/>
        <p:cNvGrpSpPr/>
        <p:nvPr/>
      </p:nvGrpSpPr>
      <p:grpSpPr>
        <a:xfrm>
          <a:off x="0" y="0"/>
          <a:ext cx="0" cy="0"/>
          <a:chOff x="0" y="0"/>
          <a:chExt cx="0" cy="0"/>
        </a:xfrm>
      </p:grpSpPr>
      <p:pic>
        <p:nvPicPr>
          <p:cNvPr descr="image.png" id="999" name="Google Shape;999;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00" name="Google Shape;1000;p33"/>
          <p:cNvPicPr preferRelativeResize="0"/>
          <p:nvPr/>
        </p:nvPicPr>
        <p:blipFill rotWithShape="1">
          <a:blip r:embed="rId4">
            <a:alphaModFix/>
          </a:blip>
          <a:srcRect b="0" l="0" r="0" t="0"/>
          <a:stretch/>
        </p:blipFill>
        <p:spPr>
          <a:xfrm>
            <a:off x="571500" y="3169146"/>
            <a:ext cx="2655093" cy="1176932"/>
          </a:xfrm>
          <a:prstGeom prst="rect">
            <a:avLst/>
          </a:prstGeom>
          <a:noFill/>
          <a:ln>
            <a:noFill/>
          </a:ln>
        </p:spPr>
      </p:pic>
      <p:pic>
        <p:nvPicPr>
          <p:cNvPr descr="image.png" id="1001" name="Google Shape;1001;p33"/>
          <p:cNvPicPr preferRelativeResize="0"/>
          <p:nvPr/>
        </p:nvPicPr>
        <p:blipFill rotWithShape="1">
          <a:blip r:embed="rId5">
            <a:alphaModFix/>
          </a:blip>
          <a:srcRect b="0" l="0" r="0" t="0"/>
          <a:stretch/>
        </p:blipFill>
        <p:spPr>
          <a:xfrm>
            <a:off x="3369468" y="3169146"/>
            <a:ext cx="2655093" cy="1176932"/>
          </a:xfrm>
          <a:prstGeom prst="rect">
            <a:avLst/>
          </a:prstGeom>
          <a:noFill/>
          <a:ln>
            <a:noFill/>
          </a:ln>
        </p:spPr>
      </p:pic>
      <p:pic>
        <p:nvPicPr>
          <p:cNvPr descr="image.png" id="1002" name="Google Shape;1002;p33"/>
          <p:cNvPicPr preferRelativeResize="0"/>
          <p:nvPr/>
        </p:nvPicPr>
        <p:blipFill rotWithShape="1">
          <a:blip r:embed="rId6">
            <a:alphaModFix/>
          </a:blip>
          <a:srcRect b="0" l="0" r="0" t="0"/>
          <a:stretch/>
        </p:blipFill>
        <p:spPr>
          <a:xfrm>
            <a:off x="6167437" y="3169146"/>
            <a:ext cx="2655093" cy="1176932"/>
          </a:xfrm>
          <a:prstGeom prst="rect">
            <a:avLst/>
          </a:prstGeom>
          <a:noFill/>
          <a:ln>
            <a:noFill/>
          </a:ln>
        </p:spPr>
      </p:pic>
      <p:pic>
        <p:nvPicPr>
          <p:cNvPr descr="image.png" id="1003" name="Google Shape;1003;p33"/>
          <p:cNvPicPr preferRelativeResize="0"/>
          <p:nvPr/>
        </p:nvPicPr>
        <p:blipFill rotWithShape="1">
          <a:blip r:embed="rId7">
            <a:alphaModFix/>
          </a:blip>
          <a:srcRect b="0" l="0" r="0" t="0"/>
          <a:stretch/>
        </p:blipFill>
        <p:spPr>
          <a:xfrm>
            <a:off x="8965406" y="3169146"/>
            <a:ext cx="2655093" cy="1176932"/>
          </a:xfrm>
          <a:prstGeom prst="rect">
            <a:avLst/>
          </a:prstGeom>
          <a:noFill/>
          <a:ln>
            <a:noFill/>
          </a:ln>
        </p:spPr>
      </p:pic>
      <p:pic>
        <p:nvPicPr>
          <p:cNvPr descr="image.png" id="1004" name="Google Shape;1004;p33"/>
          <p:cNvPicPr preferRelativeResize="0"/>
          <p:nvPr/>
        </p:nvPicPr>
        <p:blipFill rotWithShape="1">
          <a:blip r:embed="rId8">
            <a:alphaModFix/>
          </a:blip>
          <a:srcRect b="0" l="0" r="0" t="0"/>
          <a:stretch/>
        </p:blipFill>
        <p:spPr>
          <a:xfrm>
            <a:off x="571500" y="457200"/>
            <a:ext cx="823168" cy="200025"/>
          </a:xfrm>
          <a:prstGeom prst="rect">
            <a:avLst/>
          </a:prstGeom>
          <a:noFill/>
          <a:ln>
            <a:noFill/>
          </a:ln>
        </p:spPr>
      </p:pic>
      <p:sp>
        <p:nvSpPr>
          <p:cNvPr id="1005" name="Google Shape;1005;p33"/>
          <p:cNvSpPr txBox="1"/>
          <p:nvPr/>
        </p:nvSpPr>
        <p:spPr>
          <a:xfrm>
            <a:off x="723900"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2563EB"/>
                </a:solidFill>
                <a:latin typeface="JetBrains Mono"/>
                <a:ea typeface="JetBrains Mono"/>
                <a:cs typeface="JetBrains Mono"/>
                <a:sym typeface="JetBrains Mono"/>
              </a:rPr>
              <a:t>01. CREATION</a:t>
            </a:r>
            <a:endParaRPr/>
          </a:p>
        </p:txBody>
      </p:sp>
      <p:sp>
        <p:nvSpPr>
          <p:cNvPr id="1006" name="Google Shape;1006;p33"/>
          <p:cNvSpPr txBox="1"/>
          <p:nvPr/>
        </p:nvSpPr>
        <p:spPr>
          <a:xfrm>
            <a:off x="723900" y="3531096"/>
            <a:ext cx="2350293" cy="662582"/>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Engineers upload instructions manually, or let Devin extract parameters directly from repository READMEs and successful sessions.</a:t>
            </a:r>
            <a:endParaRPr/>
          </a:p>
        </p:txBody>
      </p:sp>
      <p:sp>
        <p:nvSpPr>
          <p:cNvPr id="1007" name="Google Shape;1007;p33"/>
          <p:cNvSpPr txBox="1"/>
          <p:nvPr/>
        </p:nvSpPr>
        <p:spPr>
          <a:xfrm>
            <a:off x="3521868"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7C3AED"/>
                </a:solidFill>
                <a:latin typeface="JetBrains Mono"/>
                <a:ea typeface="JetBrains Mono"/>
                <a:cs typeface="JetBrains Mono"/>
                <a:sym typeface="JetBrains Mono"/>
              </a:rPr>
              <a:t>02. INDEXING</a:t>
            </a:r>
            <a:endParaRPr/>
          </a:p>
        </p:txBody>
      </p:sp>
      <p:sp>
        <p:nvSpPr>
          <p:cNvPr id="1008" name="Google Shape;1008;p33"/>
          <p:cNvSpPr txBox="1"/>
          <p:nvPr/>
        </p:nvSpPr>
        <p:spPr>
          <a:xfrm>
            <a:off x="3521868" y="353109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Associates folders with explicit regex trigger descriptions. Restricts access scopes to specific code repositories.</a:t>
            </a:r>
            <a:endParaRPr/>
          </a:p>
        </p:txBody>
      </p:sp>
      <p:sp>
        <p:nvSpPr>
          <p:cNvPr id="1009" name="Google Shape;1009;p33"/>
          <p:cNvSpPr txBox="1"/>
          <p:nvPr/>
        </p:nvSpPr>
        <p:spPr>
          <a:xfrm>
            <a:off x="6319837"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0D9488"/>
                </a:solidFill>
                <a:latin typeface="JetBrains Mono"/>
                <a:ea typeface="JetBrains Mono"/>
                <a:cs typeface="JetBrains Mono"/>
                <a:sym typeface="JetBrains Mono"/>
              </a:rPr>
              <a:t>03. FETCH</a:t>
            </a:r>
            <a:endParaRPr/>
          </a:p>
        </p:txBody>
      </p:sp>
      <p:sp>
        <p:nvSpPr>
          <p:cNvPr id="1010" name="Google Shape;1010;p33"/>
          <p:cNvSpPr txBox="1"/>
          <p:nvPr/>
        </p:nvSpPr>
        <p:spPr>
          <a:xfrm>
            <a:off x="6319837" y="353109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Dynamically feeds specific instructions to active VM sessions when workspace search criteria are contextually matched.</a:t>
            </a:r>
            <a:endParaRPr/>
          </a:p>
        </p:txBody>
      </p:sp>
      <p:sp>
        <p:nvSpPr>
          <p:cNvPr id="1011" name="Google Shape;1011;p33"/>
          <p:cNvSpPr txBox="1"/>
          <p:nvPr/>
        </p:nvSpPr>
        <p:spPr>
          <a:xfrm>
            <a:off x="9117806" y="3350121"/>
            <a:ext cx="2350293" cy="1238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825" u="none" cap="none" strike="noStrike">
                <a:solidFill>
                  <a:srgbClr val="EA580C"/>
                </a:solidFill>
                <a:latin typeface="JetBrains Mono"/>
                <a:ea typeface="JetBrains Mono"/>
                <a:cs typeface="JetBrains Mono"/>
                <a:sym typeface="JetBrains Mono"/>
              </a:rPr>
              <a:t>04. DISTRIBUTION</a:t>
            </a:r>
            <a:endParaRPr/>
          </a:p>
        </p:txBody>
      </p:sp>
      <p:sp>
        <p:nvSpPr>
          <p:cNvPr id="1012" name="Google Shape;1012;p33"/>
          <p:cNvSpPr txBox="1"/>
          <p:nvPr/>
        </p:nvSpPr>
        <p:spPr>
          <a:xfrm>
            <a:off x="9117806" y="3531096"/>
            <a:ext cx="2350293" cy="496937"/>
          </a:xfrm>
          <a:prstGeom prst="rect">
            <a:avLst/>
          </a:prstGeom>
          <a:noFill/>
          <a:ln>
            <a:noFill/>
          </a:ln>
        </p:spPr>
        <p:txBody>
          <a:bodyPr anchorCtr="0" anchor="t" bIns="0" lIns="0" spcFirstLastPara="1" rIns="0" wrap="square" tIns="0">
            <a:spAutoFit/>
          </a:bodyPr>
          <a:lstStyle/>
          <a:p>
            <a:pPr indent="0" lvl="0" marL="0" marR="0" rtl="0" algn="l">
              <a:lnSpc>
                <a:spcPct val="145000"/>
              </a:lnSpc>
              <a:spcBef>
                <a:spcPts val="0"/>
              </a:spcBef>
              <a:spcAft>
                <a:spcPts val="0"/>
              </a:spcAft>
              <a:buNone/>
            </a:pPr>
            <a:r>
              <a:rPr b="0" i="0" lang="en-US" sz="900" u="none" cap="none" strike="noStrike">
                <a:solidFill>
                  <a:srgbClr val="475569"/>
                </a:solidFill>
                <a:latin typeface="Plus Jakarta Sans"/>
                <a:ea typeface="Plus Jakarta Sans"/>
                <a:cs typeface="Plus Jakarta Sans"/>
                <a:sym typeface="Plus Jakarta Sans"/>
              </a:rPr>
              <a:t>Synchronizes custom checklists globally. Propagates verified group-level criteria to secure enterprise environments.</a:t>
            </a:r>
            <a:endParaRPr/>
          </a:p>
        </p:txBody>
      </p:sp>
      <p:sp>
        <p:nvSpPr>
          <p:cNvPr id="1013" name="Google Shape;1013;p33"/>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Knowledge Lifecycle Pipeline</a:t>
            </a:r>
            <a:endParaRPr/>
          </a:p>
        </p:txBody>
      </p:sp>
      <p:sp>
        <p:nvSpPr>
          <p:cNvPr id="1014" name="Google Shape;1014;p33"/>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8" name="Shape 1018"/>
        <p:cNvGrpSpPr/>
        <p:nvPr/>
      </p:nvGrpSpPr>
      <p:grpSpPr>
        <a:xfrm>
          <a:off x="0" y="0"/>
          <a:ext cx="0" cy="0"/>
          <a:chOff x="0" y="0"/>
          <a:chExt cx="0" cy="0"/>
        </a:xfrm>
      </p:grpSpPr>
      <p:pic>
        <p:nvPicPr>
          <p:cNvPr descr="image.png" id="1019" name="Google Shape;1019;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20" name="Google Shape;1020;p34"/>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021" name="Google Shape;1021;p34"/>
          <p:cNvSpPr txBox="1"/>
          <p:nvPr/>
        </p:nvSpPr>
        <p:spPr>
          <a:xfrm>
            <a:off x="571500" y="381000"/>
            <a:ext cx="11049000" cy="3702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0" lang="en-US" sz="2405">
                <a:solidFill>
                  <a:srgbClr val="0F172A"/>
                </a:solidFill>
                <a:latin typeface="Plus Jakarta Sans ExtraBold"/>
                <a:ea typeface="Plus Jakarta Sans ExtraBold"/>
                <a:cs typeface="Plus Jakarta Sans ExtraBold"/>
                <a:sym typeface="Plus Jakarta Sans ExtraBold"/>
              </a:rPr>
              <a:t>Integration Architecture</a:t>
            </a:r>
            <a:endParaRPr b="0" sz="2405">
              <a:solidFill>
                <a:srgbClr val="0F172A"/>
              </a:solidFill>
              <a:latin typeface="Plus Jakarta Sans ExtraBold"/>
              <a:ea typeface="Plus Jakarta Sans ExtraBold"/>
              <a:cs typeface="Plus Jakarta Sans ExtraBold"/>
              <a:sym typeface="Plus Jakarta Sans ExtraBold"/>
            </a:endParaRPr>
          </a:p>
        </p:txBody>
      </p:sp>
      <p:sp>
        <p:nvSpPr>
          <p:cNvPr id="1022" name="Google Shape;1022;p34"/>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nvGrpSpPr>
          <p:cNvPr id="1023" name="Google Shape;1023;p34"/>
          <p:cNvGrpSpPr/>
          <p:nvPr/>
        </p:nvGrpSpPr>
        <p:grpSpPr>
          <a:xfrm>
            <a:off x="571500" y="1238250"/>
            <a:ext cx="5238900" cy="4953000"/>
            <a:chOff x="0" y="0"/>
            <a:chExt cx="5238900" cy="4953000"/>
          </a:xfrm>
        </p:grpSpPr>
        <p:sp>
          <p:nvSpPr>
            <p:cNvPr id="1024" name="Google Shape;1024;p34"/>
            <p:cNvSpPr/>
            <p:nvPr/>
          </p:nvSpPr>
          <p:spPr>
            <a:xfrm>
              <a:off x="0" y="0"/>
              <a:ext cx="5238900" cy="4953000"/>
            </a:xfrm>
            <a:prstGeom prst="roundRect">
              <a:avLst>
                <a:gd fmla="val 3076"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5" name="Google Shape;1025;p34"/>
            <p:cNvSpPr/>
            <p:nvPr/>
          </p:nvSpPr>
          <p:spPr>
            <a:xfrm>
              <a:off x="0" y="0"/>
              <a:ext cx="5238900" cy="762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26" name="Google Shape;1026;p34"/>
            <p:cNvGrpSpPr/>
            <p:nvPr/>
          </p:nvGrpSpPr>
          <p:grpSpPr>
            <a:xfrm>
              <a:off x="285750" y="381000"/>
              <a:ext cx="4667400" cy="1047900"/>
              <a:chOff x="0" y="0"/>
              <a:chExt cx="4667400" cy="1047900"/>
            </a:xfrm>
          </p:grpSpPr>
          <p:sp>
            <p:nvSpPr>
              <p:cNvPr id="1027" name="Google Shape;1027;p34"/>
              <p:cNvSpPr/>
              <p:nvPr/>
            </p:nvSpPr>
            <p:spPr>
              <a:xfrm>
                <a:off x="0" y="0"/>
                <a:ext cx="4667400" cy="1047900"/>
              </a:xfrm>
              <a:prstGeom prst="roundRect">
                <a:avLst>
                  <a:gd fmla="val 10909" name="adj"/>
                </a:avLst>
              </a:prstGeom>
              <a:solidFill>
                <a:srgbClr val="EFF6FF"/>
              </a:solidFill>
              <a:ln cap="flat" cmpd="sng" w="143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8" name="Google Shape;1028;p34"/>
              <p:cNvSpPr txBox="1"/>
              <p:nvPr/>
            </p:nvSpPr>
            <p:spPr>
              <a:xfrm>
                <a:off x="0" y="0"/>
                <a:ext cx="4667400" cy="10479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0" lang="en-US" sz="1200">
                    <a:solidFill>
                      <a:srgbClr val="2563EB"/>
                    </a:solidFill>
                    <a:latin typeface="Plus Jakarta Sans ExtraBold"/>
                    <a:ea typeface="Plus Jakarta Sans ExtraBold"/>
                    <a:cs typeface="Plus Jakarta Sans ExtraBold"/>
                    <a:sym typeface="Plus Jakarta Sans ExtraBold"/>
                  </a:rPr>
                  <a:t>VCS &amp; COMMUNICATIONS (NATIVE)</a:t>
                </a:r>
                <a:endParaRPr b="0" sz="12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450"/>
                  </a:spcBef>
                  <a:spcAft>
                    <a:spcPts val="0"/>
                  </a:spcAft>
                  <a:buNone/>
                </a:pPr>
                <a:r>
                  <a:rPr b="0" lang="en-US" sz="1000">
                    <a:solidFill>
                      <a:srgbClr val="1E40AF"/>
                    </a:solidFill>
                    <a:latin typeface="Plus Jakarta Sans SemiBold"/>
                    <a:ea typeface="Plus Jakarta Sans SemiBold"/>
                    <a:cs typeface="Plus Jakarta Sans SemiBold"/>
                    <a:sym typeface="Plus Jakarta Sans SemiBold"/>
                  </a:rPr>
                  <a:t>GitHub Enterprise / GitLab / Slack / MS Teams</a:t>
                </a:r>
                <a:endParaRPr b="0" sz="1000">
                  <a:solidFill>
                    <a:srgbClr val="1E40AF"/>
                  </a:solidFill>
                  <a:latin typeface="Plus Jakarta Sans SemiBold"/>
                  <a:ea typeface="Plus Jakarta Sans SemiBold"/>
                  <a:cs typeface="Plus Jakarta Sans SemiBold"/>
                  <a:sym typeface="Plus Jakarta Sans SemiBold"/>
                </a:endParaRPr>
              </a:p>
            </p:txBody>
          </p:sp>
        </p:grpSp>
        <p:sp>
          <p:nvSpPr>
            <p:cNvPr id="1029" name="Google Shape;1029;p34"/>
            <p:cNvSpPr txBox="1"/>
            <p:nvPr/>
          </p:nvSpPr>
          <p:spPr>
            <a:xfrm>
              <a:off x="2505075" y="1553210"/>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94A3B8"/>
                  </a:solidFill>
                  <a:latin typeface="Material Icons"/>
                  <a:ea typeface="Material Icons"/>
                  <a:cs typeface="Material Icons"/>
                  <a:sym typeface="Material Icons"/>
                </a:rPr>
                <a:t>swap_vert</a:t>
              </a:r>
              <a:endParaRPr sz="2000">
                <a:solidFill>
                  <a:srgbClr val="94A3B8"/>
                </a:solidFill>
                <a:latin typeface="Material Icons"/>
                <a:ea typeface="Material Icons"/>
                <a:cs typeface="Material Icons"/>
                <a:sym typeface="Material Icons"/>
              </a:endParaRPr>
            </a:p>
          </p:txBody>
        </p:sp>
        <p:grpSp>
          <p:nvGrpSpPr>
            <p:cNvPr id="1030" name="Google Shape;1030;p34"/>
            <p:cNvGrpSpPr/>
            <p:nvPr/>
          </p:nvGrpSpPr>
          <p:grpSpPr>
            <a:xfrm>
              <a:off x="285750" y="1857375"/>
              <a:ext cx="4667400" cy="1143000"/>
              <a:chOff x="0" y="0"/>
              <a:chExt cx="4667400" cy="1143000"/>
            </a:xfrm>
          </p:grpSpPr>
          <p:sp>
            <p:nvSpPr>
              <p:cNvPr id="1031" name="Google Shape;1031;p34"/>
              <p:cNvSpPr/>
              <p:nvPr/>
            </p:nvSpPr>
            <p:spPr>
              <a:xfrm>
                <a:off x="0" y="0"/>
                <a:ext cx="4667400" cy="1143000"/>
              </a:xfrm>
              <a:prstGeom prst="roundRect">
                <a:avLst>
                  <a:gd fmla="val 10000" name="adj"/>
                </a:avLst>
              </a:prstGeom>
              <a:solidFill>
                <a:srgbClr val="FFFFFF"/>
              </a:solidFill>
              <a:ln cap="flat" cmpd="sng" w="23825">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2" name="Google Shape;1032;p34"/>
              <p:cNvSpPr txBox="1"/>
              <p:nvPr/>
            </p:nvSpPr>
            <p:spPr>
              <a:xfrm>
                <a:off x="0" y="0"/>
                <a:ext cx="4667400" cy="11430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0" lang="en-US" sz="1800">
                    <a:solidFill>
                      <a:srgbClr val="2563EB"/>
                    </a:solidFill>
                    <a:latin typeface="Material Icons"/>
                    <a:ea typeface="Material Icons"/>
                    <a:cs typeface="Material Icons"/>
                    <a:sym typeface="Material Icons"/>
                  </a:rPr>
                  <a:t>smart_toy</a:t>
                </a:r>
                <a:r>
                  <a:rPr b="0" lang="en-US" sz="1300">
                    <a:solidFill>
                      <a:srgbClr val="2563EB"/>
                    </a:solidFill>
                    <a:latin typeface="Plus Jakarta Sans ExtraBold"/>
                    <a:ea typeface="Plus Jakarta Sans ExtraBold"/>
                    <a:cs typeface="Plus Jakarta Sans ExtraBold"/>
                    <a:sym typeface="Plus Jakarta Sans ExtraBold"/>
                  </a:rPr>
                  <a:t>DEVIN AGENT PLATFORM</a:t>
                </a:r>
                <a:endParaRPr b="0" sz="13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950">
                    <a:solidFill>
                      <a:srgbClr val="64748B"/>
                    </a:solidFill>
                    <a:latin typeface="JetBrains Mono Medium"/>
                    <a:ea typeface="JetBrains Mono Medium"/>
                    <a:cs typeface="JetBrains Mono Medium"/>
                    <a:sym typeface="JetBrains Mono Medium"/>
                  </a:rPr>
                  <a:t>Bridges Webhooks, Automations, &amp; MCP Links</a:t>
                </a:r>
                <a:endParaRPr b="0" sz="950">
                  <a:solidFill>
                    <a:srgbClr val="64748B"/>
                  </a:solidFill>
                  <a:latin typeface="JetBrains Mono Medium"/>
                  <a:ea typeface="JetBrains Mono Medium"/>
                  <a:cs typeface="JetBrains Mono Medium"/>
                  <a:sym typeface="JetBrains Mono Medium"/>
                </a:endParaRPr>
              </a:p>
            </p:txBody>
          </p:sp>
        </p:grpSp>
        <p:sp>
          <p:nvSpPr>
            <p:cNvPr id="1033" name="Google Shape;1033;p34"/>
            <p:cNvSpPr txBox="1"/>
            <p:nvPr/>
          </p:nvSpPr>
          <p:spPr>
            <a:xfrm>
              <a:off x="2505075" y="3124835"/>
              <a:ext cx="2286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2000">
                  <a:solidFill>
                    <a:srgbClr val="94A3B8"/>
                  </a:solidFill>
                  <a:latin typeface="Material Icons"/>
                  <a:ea typeface="Material Icons"/>
                  <a:cs typeface="Material Icons"/>
                  <a:sym typeface="Material Icons"/>
                </a:rPr>
                <a:t>swap_vert</a:t>
              </a:r>
              <a:endParaRPr sz="2000">
                <a:solidFill>
                  <a:srgbClr val="94A3B8"/>
                </a:solidFill>
                <a:latin typeface="Material Icons"/>
                <a:ea typeface="Material Icons"/>
                <a:cs typeface="Material Icons"/>
                <a:sym typeface="Material Icons"/>
              </a:endParaRPr>
            </a:p>
          </p:txBody>
        </p:sp>
        <p:grpSp>
          <p:nvGrpSpPr>
            <p:cNvPr id="1034" name="Google Shape;1034;p34"/>
            <p:cNvGrpSpPr/>
            <p:nvPr/>
          </p:nvGrpSpPr>
          <p:grpSpPr>
            <a:xfrm>
              <a:off x="285750" y="3429000"/>
              <a:ext cx="4667400" cy="1143000"/>
              <a:chOff x="0" y="0"/>
              <a:chExt cx="4667400" cy="1143000"/>
            </a:xfrm>
          </p:grpSpPr>
          <p:sp>
            <p:nvSpPr>
              <p:cNvPr id="1035" name="Google Shape;1035;p34"/>
              <p:cNvSpPr/>
              <p:nvPr/>
            </p:nvSpPr>
            <p:spPr>
              <a:xfrm>
                <a:off x="0" y="0"/>
                <a:ext cx="4667400" cy="1143000"/>
              </a:xfrm>
              <a:prstGeom prst="roundRect">
                <a:avLst>
                  <a:gd fmla="val 10000" name="adj"/>
                </a:avLst>
              </a:prstGeom>
              <a:solidFill>
                <a:srgbClr val="F0FDFA"/>
              </a:solidFill>
              <a:ln cap="flat" cmpd="sng" w="14300">
                <a:solidFill>
                  <a:srgbClr val="99F6E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6" name="Google Shape;1036;p34"/>
              <p:cNvSpPr txBox="1"/>
              <p:nvPr/>
            </p:nvSpPr>
            <p:spPr>
              <a:xfrm>
                <a:off x="0" y="0"/>
                <a:ext cx="4667400" cy="1143000"/>
              </a:xfrm>
              <a:prstGeom prst="rect">
                <a:avLst/>
              </a:prstGeom>
              <a:noFill/>
              <a:ln>
                <a:noFill/>
              </a:ln>
            </p:spPr>
            <p:txBody>
              <a:bodyPr anchorCtr="0" anchor="ctr" bIns="190500" lIns="190500" spcFirstLastPara="1" rIns="190500" wrap="square" tIns="190500">
                <a:noAutofit/>
              </a:bodyPr>
              <a:lstStyle/>
              <a:p>
                <a:pPr indent="0" lvl="0" marL="0" rtl="0" algn="l">
                  <a:spcBef>
                    <a:spcPts val="0"/>
                  </a:spcBef>
                  <a:spcAft>
                    <a:spcPts val="0"/>
                  </a:spcAft>
                  <a:buNone/>
                </a:pPr>
                <a:r>
                  <a:rPr b="0" lang="en-US" sz="1200">
                    <a:solidFill>
                      <a:srgbClr val="0D9488"/>
                    </a:solidFill>
                    <a:latin typeface="Plus Jakarta Sans ExtraBold"/>
                    <a:ea typeface="Plus Jakarta Sans ExtraBold"/>
                    <a:cs typeface="Plus Jakarta Sans ExtraBold"/>
                    <a:sym typeface="Plus Jakarta Sans ExtraBold"/>
                  </a:rPr>
                  <a:t>MODEL CONTEXT PROTOCOL (MCP)</a:t>
                </a:r>
                <a:endParaRPr b="0" sz="12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950">
                    <a:solidFill>
                      <a:srgbClr val="115E59"/>
                    </a:solidFill>
                    <a:latin typeface="Plus Jakarta Sans SemiBold"/>
                    <a:ea typeface="Plus Jakarta Sans SemiBold"/>
                    <a:cs typeface="Plus Jakarta Sans SemiBold"/>
                    <a:sym typeface="Plus Jakarta Sans SemiBold"/>
                  </a:rPr>
                  <a:t>Monitoring: Sentry / Datadog</a:t>
                </a:r>
                <a:br>
                  <a:rPr b="0" lang="en-US" sz="950">
                    <a:solidFill>
                      <a:srgbClr val="115E59"/>
                    </a:solidFill>
                    <a:latin typeface="Plus Jakarta Sans SemiBold"/>
                    <a:ea typeface="Plus Jakarta Sans SemiBold"/>
                    <a:cs typeface="Plus Jakarta Sans SemiBold"/>
                    <a:sym typeface="Plus Jakarta Sans SemiBold"/>
                  </a:rPr>
                </a:br>
                <a:r>
                  <a:rPr b="0" lang="en-US" sz="950">
                    <a:solidFill>
                      <a:srgbClr val="0D9488"/>
                    </a:solidFill>
                    <a:latin typeface="Plus Jakarta Sans SemiBold"/>
                    <a:ea typeface="Plus Jakarta Sans SemiBold"/>
                    <a:cs typeface="Plus Jakarta Sans SemiBold"/>
                    <a:sym typeface="Plus Jakarta Sans SemiBold"/>
                  </a:rPr>
                  <a:t>DBs:</a:t>
                </a:r>
                <a:r>
                  <a:rPr b="0" lang="en-US" sz="950">
                    <a:solidFill>
                      <a:srgbClr val="115E59"/>
                    </a:solidFill>
                    <a:latin typeface="Plus Jakarta Sans SemiBold"/>
                    <a:ea typeface="Plus Jakarta Sans SemiBold"/>
                    <a:cs typeface="Plus Jakarta Sans SemiBold"/>
                    <a:sym typeface="Plus Jakarta Sans SemiBold"/>
                  </a:rPr>
                  <a:t> Postgres / Mongo</a:t>
                </a:r>
                <a:br>
                  <a:rPr b="0" lang="en-US" sz="950">
                    <a:solidFill>
                      <a:srgbClr val="115E59"/>
                    </a:solidFill>
                    <a:latin typeface="Plus Jakarta Sans SemiBold"/>
                    <a:ea typeface="Plus Jakarta Sans SemiBold"/>
                    <a:cs typeface="Plus Jakarta Sans SemiBold"/>
                    <a:sym typeface="Plus Jakarta Sans SemiBold"/>
                  </a:rPr>
                </a:br>
                <a:r>
                  <a:rPr b="0" lang="en-US" sz="950">
                    <a:solidFill>
                      <a:srgbClr val="0D9488"/>
                    </a:solidFill>
                    <a:latin typeface="Plus Jakarta Sans SemiBold"/>
                    <a:ea typeface="Plus Jakarta Sans SemiBold"/>
                    <a:cs typeface="Plus Jakarta Sans SemiBold"/>
                    <a:sym typeface="Plus Jakarta Sans SemiBold"/>
                  </a:rPr>
                  <a:t>Docs:</a:t>
                </a:r>
                <a:r>
                  <a:rPr b="0" lang="en-US" sz="950">
                    <a:solidFill>
                      <a:srgbClr val="115E59"/>
                    </a:solidFill>
                    <a:latin typeface="Plus Jakarta Sans SemiBold"/>
                    <a:ea typeface="Plus Jakarta Sans SemiBold"/>
                    <a:cs typeface="Plus Jakarta Sans SemiBold"/>
                    <a:sym typeface="Plus Jakarta Sans SemiBold"/>
                  </a:rPr>
                  <a:t> Notion / Confluence</a:t>
                </a:r>
                <a:endParaRPr b="0" sz="950">
                  <a:solidFill>
                    <a:srgbClr val="115E59"/>
                  </a:solidFill>
                  <a:latin typeface="Plus Jakarta Sans SemiBold"/>
                  <a:ea typeface="Plus Jakarta Sans SemiBold"/>
                  <a:cs typeface="Plus Jakarta Sans SemiBold"/>
                  <a:sym typeface="Plus Jakarta Sans SemiBold"/>
                </a:endParaRPr>
              </a:p>
            </p:txBody>
          </p:sp>
        </p:grpSp>
      </p:grpSp>
      <p:grpSp>
        <p:nvGrpSpPr>
          <p:cNvPr id="1037" name="Google Shape;1037;p34"/>
          <p:cNvGrpSpPr/>
          <p:nvPr/>
        </p:nvGrpSpPr>
        <p:grpSpPr>
          <a:xfrm>
            <a:off x="6096000" y="1238250"/>
            <a:ext cx="5524500" cy="4953000"/>
            <a:chOff x="0" y="0"/>
            <a:chExt cx="5524500" cy="4953000"/>
          </a:xfrm>
        </p:grpSpPr>
        <p:sp>
          <p:nvSpPr>
            <p:cNvPr id="1038" name="Google Shape;1038;p34"/>
            <p:cNvSpPr/>
            <p:nvPr/>
          </p:nvSpPr>
          <p:spPr>
            <a:xfrm>
              <a:off x="0" y="0"/>
              <a:ext cx="5524500" cy="4953000"/>
            </a:xfrm>
            <a:prstGeom prst="roundRect">
              <a:avLst>
                <a:gd fmla="val 3076"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9" name="Google Shape;1039;p34"/>
            <p:cNvSpPr/>
            <p:nvPr/>
          </p:nvSpPr>
          <p:spPr>
            <a:xfrm>
              <a:off x="0" y="0"/>
              <a:ext cx="5524500" cy="762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0" name="Google Shape;1040;p34"/>
            <p:cNvSpPr txBox="1"/>
            <p:nvPr/>
          </p:nvSpPr>
          <p:spPr>
            <a:xfrm>
              <a:off x="285750" y="285750"/>
              <a:ext cx="49530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0D9488"/>
                  </a:solidFill>
                  <a:latin typeface="Material Icons"/>
                  <a:ea typeface="Material Icons"/>
                  <a:cs typeface="Material Icons"/>
                  <a:sym typeface="Material Icons"/>
                </a:rPr>
                <a:t>hub</a:t>
              </a:r>
              <a:r>
                <a:rPr b="0" lang="en-US" sz="1400">
                  <a:solidFill>
                    <a:srgbClr val="0F172A"/>
                  </a:solidFill>
                  <a:latin typeface="Plus Jakarta Sans ExtraBold"/>
                  <a:ea typeface="Plus Jakarta Sans ExtraBold"/>
                  <a:cs typeface="Plus Jakarta Sans ExtraBold"/>
                  <a:sym typeface="Plus Jakarta Sans ExtraBold"/>
                </a:rPr>
                <a:t>Supported MCP Transports</a:t>
              </a:r>
              <a:endParaRPr b="0" sz="14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1125"/>
                </a:spcBef>
                <a:spcAft>
                  <a:spcPts val="0"/>
                </a:spcAft>
                <a:buNone/>
              </a:pPr>
              <a:r>
                <a:rPr b="0" lang="en-US" sz="1000">
                  <a:solidFill>
                    <a:srgbClr val="0D9488"/>
                  </a:solidFill>
                  <a:latin typeface="JetBrains Mono ExtraBold"/>
                  <a:ea typeface="JetBrains Mono ExtraBold"/>
                  <a:cs typeface="JetBrains Mono ExtraBold"/>
                  <a:sym typeface="JetBrains Mono ExtraBold"/>
                </a:rPr>
                <a:t>01</a:t>
              </a:r>
              <a:r>
                <a:rPr b="1" lang="en-US" sz="1000">
                  <a:solidFill>
                    <a:srgbClr val="0F172A"/>
                  </a:solidFill>
                  <a:latin typeface="Plus Jakarta Sans"/>
                  <a:ea typeface="Plus Jakarta Sans"/>
                  <a:cs typeface="Plus Jakarta Sans"/>
                  <a:sym typeface="Plus Jakarta Sans"/>
                </a:rPr>
                <a:t>STDIO:</a:t>
              </a:r>
              <a:r>
                <a:rPr b="0" lang="en-US" sz="1000">
                  <a:solidFill>
                    <a:srgbClr val="475569"/>
                  </a:solidFill>
                  <a:latin typeface="Plus Jakarta Sans Medium"/>
                  <a:ea typeface="Plus Jakarta Sans Medium"/>
                  <a:cs typeface="Plus Jakarta Sans Medium"/>
                  <a:sym typeface="Plus Jakarta Sans Medium"/>
                </a:rPr>
                <a:t>Local CLI-based servers (npx, uvx, Docker container actions).</a:t>
              </a:r>
              <a:endParaRPr sz="1000">
                <a:latin typeface="Plus Jakarta Sans"/>
                <a:ea typeface="Plus Jakarta Sans"/>
                <a:cs typeface="Plus Jakarta Sans"/>
                <a:sym typeface="Plus Jakarta Sans"/>
              </a:endParaRPr>
            </a:p>
            <a:p>
              <a:pPr indent="0" lvl="0" marL="0" rtl="0" algn="l">
                <a:spcBef>
                  <a:spcPts val="750"/>
                </a:spcBef>
                <a:spcAft>
                  <a:spcPts val="0"/>
                </a:spcAft>
                <a:buNone/>
              </a:pPr>
              <a:r>
                <a:rPr b="0" lang="en-US" sz="1000">
                  <a:solidFill>
                    <a:srgbClr val="0D9488"/>
                  </a:solidFill>
                  <a:latin typeface="JetBrains Mono ExtraBold"/>
                  <a:ea typeface="JetBrains Mono ExtraBold"/>
                  <a:cs typeface="JetBrains Mono ExtraBold"/>
                  <a:sym typeface="JetBrains Mono ExtraBold"/>
                </a:rPr>
                <a:t>02</a:t>
              </a:r>
              <a:r>
                <a:rPr b="1" lang="en-US" sz="1000">
                  <a:solidFill>
                    <a:srgbClr val="0F172A"/>
                  </a:solidFill>
                  <a:latin typeface="Plus Jakarta Sans"/>
                  <a:ea typeface="Plus Jakarta Sans"/>
                  <a:cs typeface="Plus Jakarta Sans"/>
                  <a:sym typeface="Plus Jakarta Sans"/>
                </a:rPr>
                <a:t>SSE:</a:t>
              </a:r>
              <a:r>
                <a:rPr b="0" lang="en-US" sz="1000">
                  <a:solidFill>
                    <a:srgbClr val="475569"/>
                  </a:solidFill>
                  <a:latin typeface="Plus Jakarta Sans Medium"/>
                  <a:ea typeface="Plus Jakarta Sans Medium"/>
                  <a:cs typeface="Plus Jakarta Sans Medium"/>
                  <a:sym typeface="Plus Jakarta Sans Medium"/>
                </a:rPr>
                <a:t>Remote connections using Server-Sent Events.</a:t>
              </a:r>
              <a:endParaRPr sz="1000">
                <a:latin typeface="Plus Jakarta Sans"/>
                <a:ea typeface="Plus Jakarta Sans"/>
                <a:cs typeface="Plus Jakarta Sans"/>
                <a:sym typeface="Plus Jakarta Sans"/>
              </a:endParaRPr>
            </a:p>
            <a:p>
              <a:pPr indent="0" lvl="0" marL="0" rtl="0" algn="l">
                <a:spcBef>
                  <a:spcPts val="750"/>
                </a:spcBef>
                <a:spcAft>
                  <a:spcPts val="0"/>
                </a:spcAft>
                <a:buNone/>
              </a:pPr>
              <a:r>
                <a:rPr b="0" lang="en-US" sz="1000">
                  <a:solidFill>
                    <a:srgbClr val="0D9488"/>
                  </a:solidFill>
                  <a:latin typeface="JetBrains Mono ExtraBold"/>
                  <a:ea typeface="JetBrains Mono ExtraBold"/>
                  <a:cs typeface="JetBrains Mono ExtraBold"/>
                  <a:sym typeface="JetBrains Mono ExtraBold"/>
                </a:rPr>
                <a:t>03</a:t>
              </a:r>
              <a:r>
                <a:rPr b="1" lang="en-US" sz="1000">
                  <a:solidFill>
                    <a:srgbClr val="0F172A"/>
                  </a:solidFill>
                  <a:latin typeface="Plus Jakarta Sans"/>
                  <a:ea typeface="Plus Jakarta Sans"/>
                  <a:cs typeface="Plus Jakarta Sans"/>
                  <a:sym typeface="Plus Jakarta Sans"/>
                </a:rPr>
                <a:t>HTTP:</a:t>
              </a:r>
              <a:r>
                <a:rPr b="0" lang="en-US" sz="1000">
                  <a:solidFill>
                    <a:srgbClr val="475569"/>
                  </a:solidFill>
                  <a:latin typeface="Plus Jakarta Sans Medium"/>
                  <a:ea typeface="Plus Jakarta Sans Medium"/>
                  <a:cs typeface="Plus Jakarta Sans Medium"/>
                  <a:sym typeface="Plus Jakarta Sans Medium"/>
                </a:rPr>
                <a:t>Streamable HTTP connections (ideal for scale environments).</a:t>
              </a:r>
              <a:endParaRPr sz="1000">
                <a:latin typeface="Plus Jakarta Sans"/>
                <a:ea typeface="Plus Jakarta Sans"/>
                <a:cs typeface="Plus Jakarta Sans"/>
                <a:sym typeface="Plus Jakarta Sans"/>
              </a:endParaRPr>
            </a:p>
          </p:txBody>
        </p:sp>
        <p:cxnSp>
          <p:nvCxnSpPr>
            <p:cNvPr id="1041" name="Google Shape;1041;p34"/>
            <p:cNvCxnSpPr/>
            <p:nvPr/>
          </p:nvCxnSpPr>
          <p:spPr>
            <a:xfrm>
              <a:off x="285750" y="2714625"/>
              <a:ext cx="4953000" cy="0"/>
            </a:xfrm>
            <a:prstGeom prst="straightConnector1">
              <a:avLst/>
            </a:prstGeom>
            <a:solidFill>
              <a:srgbClr val="FFFFFF"/>
            </a:solidFill>
            <a:ln cap="flat" cmpd="sng" w="14300">
              <a:solidFill>
                <a:srgbClr val="E2E8F0"/>
              </a:solidFill>
              <a:prstDash val="solid"/>
              <a:round/>
              <a:headEnd len="sm" w="sm" type="none"/>
              <a:tailEnd len="sm" w="sm" type="none"/>
            </a:ln>
          </p:spPr>
        </p:cxnSp>
        <p:sp>
          <p:nvSpPr>
            <p:cNvPr id="1042" name="Google Shape;1042;p34"/>
            <p:cNvSpPr txBox="1"/>
            <p:nvPr/>
          </p:nvSpPr>
          <p:spPr>
            <a:xfrm>
              <a:off x="285750" y="2952750"/>
              <a:ext cx="49530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800">
                  <a:solidFill>
                    <a:srgbClr val="3B82F6"/>
                  </a:solidFill>
                  <a:latin typeface="Material Icons"/>
                  <a:ea typeface="Material Icons"/>
                  <a:cs typeface="Material Icons"/>
                  <a:sym typeface="Material Icons"/>
                </a:rPr>
                <a:t>verified_user</a:t>
              </a:r>
              <a:r>
                <a:rPr b="0" lang="en-US" sz="1300">
                  <a:solidFill>
                    <a:srgbClr val="0F172A"/>
                  </a:solidFill>
                  <a:latin typeface="Plus Jakarta Sans ExtraBold"/>
                  <a:ea typeface="Plus Jakarta Sans ExtraBold"/>
                  <a:cs typeface="Plus Jakarta Sans ExtraBold"/>
                  <a:sym typeface="Plus Jakarta Sans ExtraBold"/>
                </a:rPr>
                <a:t>Corporate SSO Integration</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900"/>
                </a:spcBef>
                <a:spcAft>
                  <a:spcPts val="0"/>
                </a:spcAft>
                <a:buNone/>
              </a:pPr>
              <a:r>
                <a:rPr b="0" lang="en-US" sz="1050">
                  <a:solidFill>
                    <a:srgbClr val="475569"/>
                  </a:solidFill>
                  <a:latin typeface="Plus Jakarta Sans"/>
                  <a:ea typeface="Plus Jakarta Sans"/>
                  <a:cs typeface="Plus Jakarta Sans"/>
                  <a:sym typeface="Plus Jakarta Sans"/>
                </a:rPr>
                <a:t>Syncs identity systems (Entra ID, Okta groups) using SAML/OIDC. OAuth actions run via secure organization service accounts.</a:t>
              </a:r>
              <a:endParaRPr b="0" sz="1050">
                <a:solidFill>
                  <a:srgbClr val="475569"/>
                </a:solidFill>
                <a:latin typeface="Plus Jakarta Sans"/>
                <a:ea typeface="Plus Jakarta Sans"/>
                <a:cs typeface="Plus Jakarta Sans"/>
                <a:sym typeface="Plus Jakarta Sans"/>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6" name="Shape 1046"/>
        <p:cNvGrpSpPr/>
        <p:nvPr/>
      </p:nvGrpSpPr>
      <p:grpSpPr>
        <a:xfrm>
          <a:off x="0" y="0"/>
          <a:ext cx="0" cy="0"/>
          <a:chOff x="0" y="0"/>
          <a:chExt cx="0" cy="0"/>
        </a:xfrm>
      </p:grpSpPr>
      <p:sp>
        <p:nvSpPr>
          <p:cNvPr id="1047" name="Google Shape;1047;p35"/>
          <p:cNvSpPr txBox="1"/>
          <p:nvPr/>
        </p:nvSpPr>
        <p:spPr>
          <a:xfrm>
            <a:off x="571500" y="476250"/>
            <a:ext cx="11049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3200">
                <a:solidFill>
                  <a:srgbClr val="0F172A"/>
                </a:solidFill>
                <a:latin typeface="Plus Jakarta Sans ExtraBold"/>
                <a:ea typeface="Plus Jakarta Sans ExtraBold"/>
                <a:cs typeface="Plus Jakarta Sans ExtraBold"/>
                <a:sym typeface="Plus Jakarta Sans ExtraBold"/>
              </a:rPr>
              <a:t>ACU Compute Optimization</a:t>
            </a:r>
            <a:endParaRPr b="0" sz="3200">
              <a:solidFill>
                <a:srgbClr val="0F172A"/>
              </a:solidFill>
              <a:latin typeface="Plus Jakarta Sans ExtraBold"/>
              <a:ea typeface="Plus Jakarta Sans ExtraBold"/>
              <a:cs typeface="Plus Jakarta Sans ExtraBold"/>
              <a:sym typeface="Plus Jakarta Sans ExtraBold"/>
            </a:endParaRPr>
          </a:p>
        </p:txBody>
      </p:sp>
      <p:sp>
        <p:nvSpPr>
          <p:cNvPr id="1048" name="Google Shape;1048;p35"/>
          <p:cNvSpPr/>
          <p:nvPr/>
        </p:nvSpPr>
        <p:spPr>
          <a:xfrm>
            <a:off x="571500" y="1047750"/>
            <a:ext cx="11049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049" name="Google Shape;1049;p35"/>
          <p:cNvGrpSpPr/>
          <p:nvPr/>
        </p:nvGrpSpPr>
        <p:grpSpPr>
          <a:xfrm>
            <a:off x="571500" y="1333500"/>
            <a:ext cx="5334000" cy="3048000"/>
            <a:chOff x="0" y="0"/>
            <a:chExt cx="5334000" cy="3048000"/>
          </a:xfrm>
        </p:grpSpPr>
        <p:sp>
          <p:nvSpPr>
            <p:cNvPr id="1050" name="Google Shape;1050;p35"/>
            <p:cNvSpPr/>
            <p:nvPr/>
          </p:nvSpPr>
          <p:spPr>
            <a:xfrm>
              <a:off x="0" y="0"/>
              <a:ext cx="5334000" cy="3048000"/>
            </a:xfrm>
            <a:prstGeom prst="roundRect">
              <a:avLst>
                <a:gd fmla="val 3750" name="adj"/>
              </a:avLst>
            </a:prstGeom>
            <a:solidFill>
              <a:srgbClr val="FFFFFF"/>
            </a:solidFill>
            <a:ln cap="flat" cmpd="sng" w="19050">
              <a:solidFill>
                <a:srgbClr val="FEE2E2"/>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1" name="Google Shape;1051;p35"/>
            <p:cNvSpPr/>
            <p:nvPr/>
          </p:nvSpPr>
          <p:spPr>
            <a:xfrm>
              <a:off x="0" y="0"/>
              <a:ext cx="114300" cy="3048000"/>
            </a:xfrm>
            <a:custGeom>
              <a:rect b="b" l="l" r="r" t="t"/>
              <a:pathLst>
                <a:path extrusionOk="0" h="120000" w="120000">
                  <a:moveTo>
                    <a:pt x="0" y="4500"/>
                  </a:moveTo>
                  <a:cubicBezTo>
                    <a:pt x="0" y="2015"/>
                    <a:pt x="53726" y="0"/>
                    <a:pt x="120000" y="0"/>
                  </a:cubicBezTo>
                  <a:lnTo>
                    <a:pt x="120000" y="120000"/>
                  </a:lnTo>
                  <a:cubicBezTo>
                    <a:pt x="53726" y="120000"/>
                    <a:pt x="0" y="117985"/>
                    <a:pt x="0" y="115500"/>
                  </a:cubicBezTo>
                  <a:close/>
                </a:path>
              </a:pathLst>
            </a:custGeom>
            <a:solidFill>
              <a:srgbClr val="EF444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2" name="Google Shape;1052;p35"/>
            <p:cNvSpPr txBox="1"/>
            <p:nvPr/>
          </p:nvSpPr>
          <p:spPr>
            <a:xfrm>
              <a:off x="285750" y="228600"/>
              <a:ext cx="47625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00">
                  <a:solidFill>
                    <a:srgbClr val="EF4444"/>
                  </a:solidFill>
                  <a:latin typeface="Plus Jakarta Sans"/>
                  <a:ea typeface="Plus Jakarta Sans"/>
                  <a:cs typeface="Plus Jakarta Sans"/>
                  <a:sym typeface="Plus Jakarta Sans"/>
                </a:rPr>
                <a:t>Anti-Pattern</a:t>
              </a:r>
              <a:endParaRPr>
                <a:latin typeface="Plus Jakarta Sans"/>
                <a:ea typeface="Plus Jakarta Sans"/>
                <a:cs typeface="Plus Jakarta Sans"/>
                <a:sym typeface="Plus Jakarta Sans"/>
              </a:endParaRPr>
            </a:p>
            <a:p>
              <a:pPr indent="0" lvl="0" marL="0" rtl="0" algn="l">
                <a:spcBef>
                  <a:spcPts val="0"/>
                </a:spcBef>
                <a:spcAft>
                  <a:spcPts val="0"/>
                </a:spcAft>
                <a:buNone/>
              </a:pPr>
              <a:r>
                <a:rPr b="0" lang="en-US" sz="1600">
                  <a:solidFill>
                    <a:srgbClr val="0F172A"/>
                  </a:solidFill>
                  <a:latin typeface="Plus Jakarta Sans ExtraBold"/>
                  <a:ea typeface="Plus Jakarta Sans ExtraBold"/>
                  <a:cs typeface="Plus Jakarta Sans ExtraBold"/>
                  <a:sym typeface="Plus Jakarta Sans ExtraBold"/>
                </a:rPr>
                <a:t>Sprawling Tall-and-Deep Tasks</a:t>
              </a:r>
              <a:endParaRPr b="0" sz="16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i="1" lang="en-US" sz="1100">
                  <a:solidFill>
                    <a:srgbClr val="475569"/>
                  </a:solidFill>
                  <a:highlight>
                    <a:srgbClr val="F8FAFC"/>
                  </a:highlight>
                  <a:latin typeface="Plus Jakarta Sans"/>
                  <a:ea typeface="Plus Jakarta Sans"/>
                  <a:cs typeface="Plus Jakarta Sans"/>
                  <a:sym typeface="Plus Jakarta Sans"/>
                </a:rPr>
                <a:t>"Fix all our codebase linter bugs and improve overall testing code coverage."</a:t>
              </a:r>
              <a:endParaRPr i="1" sz="1100">
                <a:solidFill>
                  <a:srgbClr val="475569"/>
                </a:solidFill>
                <a:highlight>
                  <a:srgbClr val="F8FAFC"/>
                </a:highlight>
                <a:latin typeface="Plus Jakarta Sans"/>
                <a:ea typeface="Plus Jakarta Sans"/>
                <a:cs typeface="Plus Jakarta Sans"/>
                <a:sym typeface="Plus Jakarta Sans"/>
              </a:endParaRPr>
            </a:p>
            <a:p>
              <a:pPr indent="-298450" lvl="0" marL="457200" rtl="0" algn="l">
                <a:spcBef>
                  <a:spcPts val="15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Spawns endless codebase-wide explorations</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Dilutes container context memory</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Spends hours executing unguided loops</a:t>
              </a:r>
              <a:endParaRPr sz="1100">
                <a:solidFill>
                  <a:srgbClr val="64748B"/>
                </a:solidFill>
                <a:latin typeface="Plus Jakarta Sans"/>
                <a:ea typeface="Plus Jakarta Sans"/>
                <a:cs typeface="Plus Jakarta Sans"/>
                <a:sym typeface="Plus Jakarta Sans"/>
              </a:endParaRPr>
            </a:p>
          </p:txBody>
        </p:sp>
      </p:grpSp>
      <p:grpSp>
        <p:nvGrpSpPr>
          <p:cNvPr id="1053" name="Google Shape;1053;p35"/>
          <p:cNvGrpSpPr/>
          <p:nvPr/>
        </p:nvGrpSpPr>
        <p:grpSpPr>
          <a:xfrm>
            <a:off x="6286500" y="1333500"/>
            <a:ext cx="5334000" cy="3048000"/>
            <a:chOff x="0" y="0"/>
            <a:chExt cx="5334000" cy="3048000"/>
          </a:xfrm>
        </p:grpSpPr>
        <p:sp>
          <p:nvSpPr>
            <p:cNvPr id="1054" name="Google Shape;1054;p35"/>
            <p:cNvSpPr/>
            <p:nvPr/>
          </p:nvSpPr>
          <p:spPr>
            <a:xfrm>
              <a:off x="0" y="0"/>
              <a:ext cx="5334000" cy="3048000"/>
            </a:xfrm>
            <a:prstGeom prst="roundRect">
              <a:avLst>
                <a:gd fmla="val 3750" name="adj"/>
              </a:avLst>
            </a:prstGeom>
            <a:solidFill>
              <a:srgbClr val="FFFFFF"/>
            </a:solidFill>
            <a:ln cap="flat" cmpd="sng" w="19050">
              <a:solidFill>
                <a:srgbClr val="CCFB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5" name="Google Shape;1055;p35"/>
            <p:cNvSpPr/>
            <p:nvPr/>
          </p:nvSpPr>
          <p:spPr>
            <a:xfrm>
              <a:off x="0" y="0"/>
              <a:ext cx="114300" cy="3048000"/>
            </a:xfrm>
            <a:custGeom>
              <a:rect b="b" l="l" r="r" t="t"/>
              <a:pathLst>
                <a:path extrusionOk="0" h="120000" w="120000">
                  <a:moveTo>
                    <a:pt x="0" y="4500"/>
                  </a:moveTo>
                  <a:cubicBezTo>
                    <a:pt x="0" y="2015"/>
                    <a:pt x="53726" y="0"/>
                    <a:pt x="120000" y="0"/>
                  </a:cubicBezTo>
                  <a:lnTo>
                    <a:pt x="120000" y="120000"/>
                  </a:lnTo>
                  <a:cubicBezTo>
                    <a:pt x="53726" y="120000"/>
                    <a:pt x="0" y="117985"/>
                    <a:pt x="0" y="115500"/>
                  </a:cubicBez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6" name="Google Shape;1056;p35"/>
            <p:cNvSpPr txBox="1"/>
            <p:nvPr/>
          </p:nvSpPr>
          <p:spPr>
            <a:xfrm>
              <a:off x="285750" y="228600"/>
              <a:ext cx="47625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900">
                  <a:solidFill>
                    <a:srgbClr val="0D9488"/>
                  </a:solidFill>
                  <a:latin typeface="Plus Jakarta Sans"/>
                  <a:ea typeface="Plus Jakarta Sans"/>
                  <a:cs typeface="Plus Jakarta Sans"/>
                  <a:sym typeface="Plus Jakarta Sans"/>
                </a:rPr>
                <a:t>Optimized Approach</a:t>
              </a:r>
              <a:endParaRPr>
                <a:latin typeface="Plus Jakarta Sans"/>
                <a:ea typeface="Plus Jakarta Sans"/>
                <a:cs typeface="Plus Jakarta Sans"/>
                <a:sym typeface="Plus Jakarta Sans"/>
              </a:endParaRPr>
            </a:p>
            <a:p>
              <a:pPr indent="0" lvl="0" marL="0" rtl="0" algn="l">
                <a:spcBef>
                  <a:spcPts val="0"/>
                </a:spcBef>
                <a:spcAft>
                  <a:spcPts val="0"/>
                </a:spcAft>
                <a:buNone/>
              </a:pPr>
              <a:r>
                <a:rPr b="0" lang="en-US" sz="1600">
                  <a:solidFill>
                    <a:srgbClr val="0F172A"/>
                  </a:solidFill>
                  <a:latin typeface="Plus Jakarta Sans ExtraBold"/>
                  <a:ea typeface="Plus Jakarta Sans ExtraBold"/>
                  <a:cs typeface="Plus Jakarta Sans ExtraBold"/>
                  <a:sym typeface="Plus Jakarta Sans ExtraBold"/>
                </a:rPr>
                <a:t>Wide-and-Shallow Scoped Slices</a:t>
              </a:r>
              <a:endParaRPr b="0" sz="16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i="1" lang="en-US" sz="1100">
                  <a:solidFill>
                    <a:srgbClr val="475569"/>
                  </a:solidFill>
                  <a:highlight>
                    <a:srgbClr val="F8FAFC"/>
                  </a:highlight>
                  <a:latin typeface="Plus Jakarta Sans"/>
                  <a:ea typeface="Plus Jakarta Sans"/>
                  <a:cs typeface="Plus Jakarta Sans"/>
                  <a:sym typeface="Plus Jakarta Sans"/>
                </a:rPr>
                <a:t>"Fix UserService.getById Null Pointer. Test edge cases via standard test skills."</a:t>
              </a:r>
              <a:endParaRPr i="1" sz="1100">
                <a:solidFill>
                  <a:srgbClr val="475569"/>
                </a:solidFill>
                <a:highlight>
                  <a:srgbClr val="F8FAFC"/>
                </a:highlight>
                <a:latin typeface="Plus Jakarta Sans"/>
                <a:ea typeface="Plus Jakarta Sans"/>
                <a:cs typeface="Plus Jakarta Sans"/>
                <a:sym typeface="Plus Jakarta Sans"/>
              </a:endParaRPr>
            </a:p>
            <a:p>
              <a:pPr indent="-298450" lvl="0" marL="457200" rtl="0" algn="l">
                <a:spcBef>
                  <a:spcPts val="15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Keeps tasks under 90 mins of manual engineering</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Pre-baked environment snapshots boot in seconds</a:t>
              </a:r>
              <a:endParaRPr sz="1100">
                <a:solidFill>
                  <a:srgbClr val="64748B"/>
                </a:solidFill>
                <a:latin typeface="Plus Jakarta Sans"/>
                <a:ea typeface="Plus Jakarta Sans"/>
                <a:cs typeface="Plus Jakarta Sans"/>
                <a:sym typeface="Plus Jakarta Sans"/>
              </a:endParaRPr>
            </a:p>
            <a:p>
              <a:pPr indent="-298450" lvl="0" marL="457200" rtl="0" algn="l">
                <a:spcBef>
                  <a:spcPts val="600"/>
                </a:spcBef>
                <a:spcAft>
                  <a:spcPts val="0"/>
                </a:spcAft>
                <a:buClr>
                  <a:srgbClr val="64748B"/>
                </a:buClr>
                <a:buSzPts val="1100"/>
                <a:buFont typeface="Plus Jakarta Sans"/>
                <a:buChar char="●"/>
              </a:pPr>
              <a:r>
                <a:rPr b="0" lang="en-US" sz="1100">
                  <a:solidFill>
                    <a:srgbClr val="475569"/>
                  </a:solidFill>
                  <a:latin typeface="Plus Jakarta Sans Medium"/>
                  <a:ea typeface="Plus Jakarta Sans Medium"/>
                  <a:cs typeface="Plus Jakarta Sans Medium"/>
                  <a:sym typeface="Plus Jakarta Sans Medium"/>
                </a:rPr>
                <a:t>Targeted Knowledge matches precise triggers</a:t>
              </a:r>
              <a:endParaRPr sz="1100">
                <a:solidFill>
                  <a:srgbClr val="64748B"/>
                </a:solidFill>
                <a:latin typeface="Plus Jakarta Sans"/>
                <a:ea typeface="Plus Jakarta Sans"/>
                <a:cs typeface="Plus Jakarta Sans"/>
                <a:sym typeface="Plus Jakarta Sans"/>
              </a:endParaRPr>
            </a:p>
          </p:txBody>
        </p:sp>
      </p:grpSp>
      <p:grpSp>
        <p:nvGrpSpPr>
          <p:cNvPr id="1057" name="Google Shape;1057;p35"/>
          <p:cNvGrpSpPr/>
          <p:nvPr/>
        </p:nvGrpSpPr>
        <p:grpSpPr>
          <a:xfrm>
            <a:off x="571500" y="4667250"/>
            <a:ext cx="2619300" cy="1619100"/>
            <a:chOff x="0" y="0"/>
            <a:chExt cx="2619300" cy="1619100"/>
          </a:xfrm>
        </p:grpSpPr>
        <p:sp>
          <p:nvSpPr>
            <p:cNvPr id="1058" name="Google Shape;1058;p35"/>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9" name="Google Shape;1059;p35"/>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0" name="Google Shape;1060;p35"/>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1. Pre-Bake Environment</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Caches packages in blueprints to avoid startup downloads.</a:t>
              </a:r>
              <a:endParaRPr sz="1000">
                <a:solidFill>
                  <a:srgbClr val="475569"/>
                </a:solidFill>
                <a:latin typeface="Plus Jakarta Sans"/>
                <a:ea typeface="Plus Jakarta Sans"/>
                <a:cs typeface="Plus Jakarta Sans"/>
                <a:sym typeface="Plus Jakarta Sans"/>
              </a:endParaRPr>
            </a:p>
          </p:txBody>
        </p:sp>
      </p:grpSp>
      <p:grpSp>
        <p:nvGrpSpPr>
          <p:cNvPr id="1061" name="Google Shape;1061;p35"/>
          <p:cNvGrpSpPr/>
          <p:nvPr/>
        </p:nvGrpSpPr>
        <p:grpSpPr>
          <a:xfrm>
            <a:off x="3381375" y="4667250"/>
            <a:ext cx="2619300" cy="1619100"/>
            <a:chOff x="0" y="0"/>
            <a:chExt cx="2619300" cy="1619100"/>
          </a:xfrm>
        </p:grpSpPr>
        <p:sp>
          <p:nvSpPr>
            <p:cNvPr id="1062" name="Google Shape;1062;p35"/>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3" name="Google Shape;1063;p35"/>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4" name="Google Shape;1064;p35"/>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2. Reusable Skills</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Avoids recreating test or linter routines from scratch.</a:t>
              </a:r>
              <a:endParaRPr sz="1000">
                <a:solidFill>
                  <a:srgbClr val="475569"/>
                </a:solidFill>
                <a:latin typeface="Plus Jakarta Sans"/>
                <a:ea typeface="Plus Jakarta Sans"/>
                <a:cs typeface="Plus Jakarta Sans"/>
                <a:sym typeface="Plus Jakarta Sans"/>
              </a:endParaRPr>
            </a:p>
          </p:txBody>
        </p:sp>
      </p:grpSp>
      <p:grpSp>
        <p:nvGrpSpPr>
          <p:cNvPr id="1065" name="Google Shape;1065;p35"/>
          <p:cNvGrpSpPr/>
          <p:nvPr/>
        </p:nvGrpSpPr>
        <p:grpSpPr>
          <a:xfrm>
            <a:off x="6191250" y="4667250"/>
            <a:ext cx="2619300" cy="1619100"/>
            <a:chOff x="0" y="0"/>
            <a:chExt cx="2619300" cy="1619100"/>
          </a:xfrm>
        </p:grpSpPr>
        <p:sp>
          <p:nvSpPr>
            <p:cNvPr id="1066" name="Google Shape;1066;p35"/>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7" name="Google Shape;1067;p35"/>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8" name="Google Shape;1068;p35"/>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3. Parallel Decomposition</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Uses Coordinator Devins to split runs across child VMs.</a:t>
              </a:r>
              <a:endParaRPr sz="1000">
                <a:solidFill>
                  <a:srgbClr val="475569"/>
                </a:solidFill>
                <a:latin typeface="Plus Jakarta Sans"/>
                <a:ea typeface="Plus Jakarta Sans"/>
                <a:cs typeface="Plus Jakarta Sans"/>
                <a:sym typeface="Plus Jakarta Sans"/>
              </a:endParaRPr>
            </a:p>
          </p:txBody>
        </p:sp>
      </p:grpSp>
      <p:grpSp>
        <p:nvGrpSpPr>
          <p:cNvPr id="1069" name="Google Shape;1069;p35"/>
          <p:cNvGrpSpPr/>
          <p:nvPr/>
        </p:nvGrpSpPr>
        <p:grpSpPr>
          <a:xfrm>
            <a:off x="9001125" y="4667250"/>
            <a:ext cx="2619300" cy="1619100"/>
            <a:chOff x="0" y="0"/>
            <a:chExt cx="2619300" cy="1619100"/>
          </a:xfrm>
        </p:grpSpPr>
        <p:sp>
          <p:nvSpPr>
            <p:cNvPr id="1070" name="Google Shape;1070;p35"/>
            <p:cNvSpPr/>
            <p:nvPr/>
          </p:nvSpPr>
          <p:spPr>
            <a:xfrm>
              <a:off x="0" y="0"/>
              <a:ext cx="2619300" cy="1619100"/>
            </a:xfrm>
            <a:prstGeom prst="roundRect">
              <a:avLst>
                <a:gd fmla="val 47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1" name="Google Shape;1071;p35"/>
            <p:cNvSpPr/>
            <p:nvPr/>
          </p:nvSpPr>
          <p:spPr>
            <a:xfrm>
              <a:off x="0" y="0"/>
              <a:ext cx="2619300" cy="381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2" name="Google Shape;1072;p35"/>
            <p:cNvSpPr txBox="1"/>
            <p:nvPr/>
          </p:nvSpPr>
          <p:spPr>
            <a:xfrm>
              <a:off x="152400" y="190500"/>
              <a:ext cx="231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172A"/>
                  </a:solidFill>
                  <a:latin typeface="Plus Jakarta Sans ExtraBold"/>
                  <a:ea typeface="Plus Jakarta Sans ExtraBold"/>
                  <a:cs typeface="Plus Jakarta Sans ExtraBold"/>
                  <a:sym typeface="Plus Jakarta Sans ExtraBold"/>
                </a:rPr>
                <a:t>4. ACU Cost Budgets</a:t>
              </a:r>
              <a:endParaRPr b="0" sz="11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lang="en-US" sz="1000">
                  <a:solidFill>
                    <a:srgbClr val="475569"/>
                  </a:solidFill>
                  <a:latin typeface="Plus Jakarta Sans"/>
                  <a:ea typeface="Plus Jakarta Sans"/>
                  <a:cs typeface="Plus Jakarta Sans"/>
                  <a:sym typeface="Plus Jakarta Sans"/>
                </a:rPr>
                <a:t>Sets explicit limits per-organization &amp; per-PR review.</a:t>
              </a:r>
              <a:endParaRPr sz="1000">
                <a:solidFill>
                  <a:srgbClr val="475569"/>
                </a:solidFill>
                <a:latin typeface="Plus Jakarta Sans"/>
                <a:ea typeface="Plus Jakarta Sans"/>
                <a:cs typeface="Plus Jakarta Sans"/>
                <a:sym typeface="Plus Jakarta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6" name="Shape 1076"/>
        <p:cNvGrpSpPr/>
        <p:nvPr/>
      </p:nvGrpSpPr>
      <p:grpSpPr>
        <a:xfrm>
          <a:off x="0" y="0"/>
          <a:ext cx="0" cy="0"/>
          <a:chOff x="0" y="0"/>
          <a:chExt cx="0" cy="0"/>
        </a:xfrm>
      </p:grpSpPr>
      <p:grpSp>
        <p:nvGrpSpPr>
          <p:cNvPr id="1077" name="Google Shape;1077;p36"/>
          <p:cNvGrpSpPr/>
          <p:nvPr/>
        </p:nvGrpSpPr>
        <p:grpSpPr>
          <a:xfrm>
            <a:off x="571500" y="1333500"/>
            <a:ext cx="3429000" cy="2238300"/>
            <a:chOff x="0" y="0"/>
            <a:chExt cx="3429000" cy="2238300"/>
          </a:xfrm>
        </p:grpSpPr>
        <p:sp>
          <p:nvSpPr>
            <p:cNvPr id="1078" name="Google Shape;1078;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9" name="Google Shape;1079;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0" name="Google Shape;1080;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2563EB"/>
                  </a:solidFill>
                  <a:latin typeface="Material Icons"/>
                  <a:ea typeface="Material Icons"/>
                  <a:cs typeface="Material Icons"/>
                  <a:sym typeface="Material Icons"/>
                </a:rPr>
                <a:t>settings </a:t>
              </a:r>
              <a:r>
                <a:rPr b="0" lang="en-US" sz="1100">
                  <a:solidFill>
                    <a:srgbClr val="2563EB"/>
                  </a:solidFill>
                  <a:latin typeface="Plus Jakarta Sans ExtraBold"/>
                  <a:ea typeface="Plus Jakarta Sans ExtraBold"/>
                  <a:cs typeface="Plus Jakarta Sans ExtraBold"/>
                  <a:sym typeface="Plus Jakarta Sans ExtraBold"/>
                </a:rPr>
                <a:t>SETUP &amp; ENVIRONMENT</a:t>
              </a:r>
              <a:endParaRPr b="0" sz="2000">
                <a:solidFill>
                  <a:srgbClr val="2563EB"/>
                </a:solidFill>
                <a:latin typeface="Material Icons"/>
                <a:ea typeface="Material Icons"/>
                <a:cs typeface="Material Icons"/>
                <a:sym typeface="Material Icons"/>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Invest in environment setup first. Configure 3-tiered blueprints (Enterprise standard, Org lints, Repo scripts). Add versioned </a:t>
              </a:r>
              <a:r>
                <a:rPr b="0" lang="en-US" sz="1000">
                  <a:solidFill>
                    <a:srgbClr val="0F172A"/>
                  </a:solidFill>
                  <a:highlight>
                    <a:srgbClr val="F1F5F9"/>
                  </a:highlight>
                  <a:latin typeface="JetBrains Mono"/>
                  <a:ea typeface="JetBrains Mono"/>
                  <a:cs typeface="JetBrains Mono"/>
                  <a:sym typeface="JetBrains Mono"/>
                </a:rPr>
                <a:t>AGENTS.md</a:t>
              </a:r>
              <a:r>
                <a:rPr b="0" lang="en-US" sz="1100">
                  <a:solidFill>
                    <a:srgbClr val="475569"/>
                  </a:solidFill>
                  <a:latin typeface="Plus Jakarta Sans"/>
                  <a:ea typeface="Plus Jakarta Sans"/>
                  <a:cs typeface="Plus Jakarta Sans"/>
                  <a:sym typeface="Plus Jakarta Sans"/>
                </a:rPr>
                <a:t> context guidelines to all repositories.</a:t>
              </a:r>
              <a:endParaRPr b="0" sz="1100">
                <a:solidFill>
                  <a:srgbClr val="2563EB"/>
                </a:solidFill>
                <a:latin typeface="Material Icons"/>
                <a:ea typeface="Material Icons"/>
                <a:cs typeface="Material Icons"/>
                <a:sym typeface="Material Icons"/>
              </a:endParaRPr>
            </a:p>
          </p:txBody>
        </p:sp>
      </p:grpSp>
      <p:grpSp>
        <p:nvGrpSpPr>
          <p:cNvPr id="1081" name="Google Shape;1081;p36"/>
          <p:cNvGrpSpPr/>
          <p:nvPr/>
        </p:nvGrpSpPr>
        <p:grpSpPr>
          <a:xfrm>
            <a:off x="4381500" y="1333500"/>
            <a:ext cx="3429000" cy="2238300"/>
            <a:chOff x="0" y="0"/>
            <a:chExt cx="3429000" cy="2238300"/>
          </a:xfrm>
        </p:grpSpPr>
        <p:sp>
          <p:nvSpPr>
            <p:cNvPr id="1082" name="Google Shape;1082;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3" name="Google Shape;1083;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4" name="Google Shape;1084;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7C3AED"/>
                  </a:solidFill>
                  <a:latin typeface="Material Icons"/>
                  <a:ea typeface="Material Icons"/>
                  <a:cs typeface="Material Icons"/>
                  <a:sym typeface="Material Icons"/>
                </a:rPr>
                <a:t>psychology </a:t>
              </a:r>
              <a:r>
                <a:rPr b="0" lang="en-US" sz="1100">
                  <a:solidFill>
                    <a:srgbClr val="7C3AED"/>
                  </a:solidFill>
                  <a:latin typeface="Plus Jakarta Sans ExtraBold"/>
                  <a:ea typeface="Plus Jakarta Sans ExtraBold"/>
                  <a:cs typeface="Plus Jakarta Sans ExtraBold"/>
                  <a:sym typeface="Plus Jakarta Sans ExtraBold"/>
                </a:rPr>
                <a:t>KNOWLEDGE &amp; SKILLS</a:t>
              </a:r>
              <a:endParaRPr b="0" sz="2000">
                <a:solidFill>
                  <a:srgbClr val="7C3AED"/>
                </a:solidFill>
                <a:latin typeface="Material Icons"/>
                <a:ea typeface="Material Icons"/>
                <a:cs typeface="Material Icons"/>
                <a:sym typeface="Material Icons"/>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Use precise trigger descriptions for folder organization. Commit versioned </a:t>
              </a:r>
              <a:r>
                <a:rPr b="0" lang="en-US" sz="1000">
                  <a:solidFill>
                    <a:srgbClr val="0F172A"/>
                  </a:solidFill>
                  <a:highlight>
                    <a:srgbClr val="F1F5F9"/>
                  </a:highlight>
                  <a:latin typeface="JetBrains Mono"/>
                  <a:ea typeface="JetBrains Mono"/>
                  <a:cs typeface="JetBrains Mono"/>
                  <a:sym typeface="JetBrains Mono"/>
                </a:rPr>
                <a:t>SKILL.md</a:t>
              </a:r>
              <a:r>
                <a:rPr b="0" lang="en-US" sz="1100">
                  <a:solidFill>
                    <a:srgbClr val="475569"/>
                  </a:solidFill>
                  <a:latin typeface="Plus Jakarta Sans"/>
                  <a:ea typeface="Plus Jakarta Sans"/>
                  <a:cs typeface="Plus Jakarta Sans"/>
                  <a:sym typeface="Plus Jakarta Sans"/>
                </a:rPr>
                <a:t> procedures to prevent rebuild loops. Restrict sensitive deployments to explicit user verification.</a:t>
              </a:r>
              <a:endParaRPr b="0" sz="1100">
                <a:solidFill>
                  <a:srgbClr val="7C3AED"/>
                </a:solidFill>
                <a:latin typeface="Material Icons"/>
                <a:ea typeface="Material Icons"/>
                <a:cs typeface="Material Icons"/>
                <a:sym typeface="Material Icons"/>
              </a:endParaRPr>
            </a:p>
          </p:txBody>
        </p:sp>
      </p:grpSp>
      <p:grpSp>
        <p:nvGrpSpPr>
          <p:cNvPr id="1085" name="Google Shape;1085;p36"/>
          <p:cNvGrpSpPr/>
          <p:nvPr/>
        </p:nvGrpSpPr>
        <p:grpSpPr>
          <a:xfrm>
            <a:off x="8191500" y="1333500"/>
            <a:ext cx="3429000" cy="2238300"/>
            <a:chOff x="0" y="0"/>
            <a:chExt cx="3429000" cy="2238300"/>
          </a:xfrm>
        </p:grpSpPr>
        <p:sp>
          <p:nvSpPr>
            <p:cNvPr id="1086" name="Google Shape;1086;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7" name="Google Shape;1087;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8" name="Google Shape;1088;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0D9488"/>
                  </a:solidFill>
                  <a:latin typeface="Material Icons"/>
                  <a:ea typeface="Material Icons"/>
                  <a:cs typeface="Material Icons"/>
                  <a:sym typeface="Material Icons"/>
                </a:rPr>
                <a:t>smart_toy </a:t>
              </a:r>
              <a:r>
                <a:rPr b="0" lang="en-US" sz="1100">
                  <a:solidFill>
                    <a:srgbClr val="0D9488"/>
                  </a:solidFill>
                  <a:latin typeface="Plus Jakarta Sans ExtraBold"/>
                  <a:ea typeface="Plus Jakarta Sans ExtraBold"/>
                  <a:cs typeface="Plus Jakarta Sans ExtraBold"/>
                  <a:sym typeface="Plus Jakarta Sans ExtraBold"/>
                </a:rPr>
                <a:t>PLAYBOOKS &amp; AUTOMATIONS</a:t>
              </a:r>
              <a:endParaRPr b="0" sz="2000">
                <a:solidFill>
                  <a:srgbClr val="0D9488"/>
                </a:solidFill>
                <a:latin typeface="Material Icons"/>
                <a:ea typeface="Material Icons"/>
                <a:cs typeface="Material Icons"/>
                <a:sym typeface="Material Icons"/>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Write Procedures using imperative verbs (one step per line). Define explicit postcondition specifications. Set narrow conditions on triggers to avoid runaway automated tasks.</a:t>
              </a:r>
              <a:endParaRPr b="0" sz="1100">
                <a:solidFill>
                  <a:srgbClr val="0D9488"/>
                </a:solidFill>
                <a:latin typeface="Material Icons"/>
                <a:ea typeface="Material Icons"/>
                <a:cs typeface="Material Icons"/>
                <a:sym typeface="Material Icons"/>
              </a:endParaRPr>
            </a:p>
          </p:txBody>
        </p:sp>
      </p:grpSp>
      <p:grpSp>
        <p:nvGrpSpPr>
          <p:cNvPr id="1089" name="Google Shape;1089;p36"/>
          <p:cNvGrpSpPr/>
          <p:nvPr/>
        </p:nvGrpSpPr>
        <p:grpSpPr>
          <a:xfrm>
            <a:off x="571500" y="3857625"/>
            <a:ext cx="3429000" cy="2238300"/>
            <a:chOff x="0" y="0"/>
            <a:chExt cx="3429000" cy="2238300"/>
          </a:xfrm>
        </p:grpSpPr>
        <p:sp>
          <p:nvSpPr>
            <p:cNvPr id="1090" name="Google Shape;1090;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1" name="Google Shape;1091;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2" name="Google Shape;1092;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EA580C"/>
                  </a:solidFill>
                  <a:latin typeface="Material Icons"/>
                  <a:ea typeface="Material Icons"/>
                  <a:cs typeface="Material Icons"/>
                  <a:sym typeface="Material Icons"/>
                </a:rPr>
                <a:t>schedule </a:t>
              </a:r>
              <a:r>
                <a:rPr b="0" lang="en-US" sz="1100">
                  <a:solidFill>
                    <a:srgbClr val="EA580C"/>
                  </a:solidFill>
                  <a:latin typeface="Plus Jakarta Sans ExtraBold"/>
                  <a:ea typeface="Plus Jakarta Sans ExtraBold"/>
                  <a:cs typeface="Plus Jakarta Sans ExtraBold"/>
                  <a:sym typeface="Plus Jakarta Sans ExtraBold"/>
                </a:rPr>
                <a:t>SESSIONS &amp; SCOPING</a:t>
              </a:r>
              <a:endParaRPr b="0" sz="2000">
                <a:solidFill>
                  <a:srgbClr val="EA580C"/>
                </a:solidFill>
                <a:latin typeface="Material Icons"/>
                <a:ea typeface="Material Icons"/>
                <a:cs typeface="Material Icons"/>
                <a:sym typeface="Material Icons"/>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Scope tasks to take under 90 minutes of equivalent manual engineering work. Prefer wide-and-shallow parameters (migrations, test code sweeps) over tall-and-deep net-new features.</a:t>
              </a:r>
              <a:endParaRPr b="0" sz="1100">
                <a:solidFill>
                  <a:srgbClr val="EA580C"/>
                </a:solidFill>
                <a:latin typeface="Material Icons"/>
                <a:ea typeface="Material Icons"/>
                <a:cs typeface="Material Icons"/>
                <a:sym typeface="Material Icons"/>
              </a:endParaRPr>
            </a:p>
          </p:txBody>
        </p:sp>
      </p:grpSp>
      <p:grpSp>
        <p:nvGrpSpPr>
          <p:cNvPr id="1093" name="Google Shape;1093;p36"/>
          <p:cNvGrpSpPr/>
          <p:nvPr/>
        </p:nvGrpSpPr>
        <p:grpSpPr>
          <a:xfrm>
            <a:off x="4381500" y="3857625"/>
            <a:ext cx="3429000" cy="2238300"/>
            <a:chOff x="0" y="0"/>
            <a:chExt cx="3429000" cy="2238300"/>
          </a:xfrm>
        </p:grpSpPr>
        <p:sp>
          <p:nvSpPr>
            <p:cNvPr id="1094" name="Google Shape;1094;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5" name="Google Shape;1095;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4755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6" name="Google Shape;1096;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475569"/>
                  </a:solidFill>
                  <a:latin typeface="Material Icons"/>
                  <a:ea typeface="Material Icons"/>
                  <a:cs typeface="Material Icons"/>
                  <a:sym typeface="Material Icons"/>
                </a:rPr>
                <a:t>security </a:t>
              </a:r>
              <a:r>
                <a:rPr b="0" lang="en-US" sz="1100">
                  <a:solidFill>
                    <a:srgbClr val="475569"/>
                  </a:solidFill>
                  <a:latin typeface="Plus Jakarta Sans ExtraBold"/>
                  <a:ea typeface="Plus Jakarta Sans ExtraBold"/>
                  <a:cs typeface="Plus Jakarta Sans ExtraBold"/>
                  <a:sym typeface="Plus Jakarta Sans ExtraBold"/>
                </a:rPr>
                <a:t>SECURITY &amp; SECRETS</a:t>
              </a:r>
              <a:endParaRPr b="0" sz="2000">
                <a:solidFill>
                  <a:srgbClr val="475569"/>
                </a:solidFill>
                <a:latin typeface="Material Icons"/>
                <a:ea typeface="Material Icons"/>
                <a:cs typeface="Material Icons"/>
                <a:sym typeface="Material Icons"/>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Store critical tokens inside the secure Secrets dashboard—never hardcoded in blueprints or prompts. Enforce IP Access Lists and human review on PR merges.</a:t>
              </a:r>
              <a:endParaRPr b="0" sz="1100">
                <a:solidFill>
                  <a:srgbClr val="475569"/>
                </a:solidFill>
                <a:latin typeface="Material Icons"/>
                <a:ea typeface="Material Icons"/>
                <a:cs typeface="Material Icons"/>
                <a:sym typeface="Material Icons"/>
              </a:endParaRPr>
            </a:p>
          </p:txBody>
        </p:sp>
      </p:grpSp>
      <p:grpSp>
        <p:nvGrpSpPr>
          <p:cNvPr id="1097" name="Google Shape;1097;p36"/>
          <p:cNvGrpSpPr/>
          <p:nvPr/>
        </p:nvGrpSpPr>
        <p:grpSpPr>
          <a:xfrm>
            <a:off x="8191500" y="3857625"/>
            <a:ext cx="3429000" cy="2238300"/>
            <a:chOff x="0" y="0"/>
            <a:chExt cx="3429000" cy="2238300"/>
          </a:xfrm>
        </p:grpSpPr>
        <p:sp>
          <p:nvSpPr>
            <p:cNvPr id="1098" name="Google Shape;1098;p36"/>
            <p:cNvSpPr/>
            <p:nvPr/>
          </p:nvSpPr>
          <p:spPr>
            <a:xfrm>
              <a:off x="0" y="0"/>
              <a:ext cx="3429000" cy="2238300"/>
            </a:xfrm>
            <a:prstGeom prst="roundRect">
              <a:avLst>
                <a:gd fmla="val 6808"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9" name="Google Shape;1099;p36"/>
            <p:cNvSpPr/>
            <p:nvPr/>
          </p:nvSpPr>
          <p:spPr>
            <a:xfrm>
              <a:off x="0" y="0"/>
              <a:ext cx="3429000" cy="209700"/>
            </a:xfrm>
            <a:custGeom>
              <a:rect b="b" l="l" r="r" t="t"/>
              <a:pathLst>
                <a:path extrusionOk="0" h="120000" w="120000">
                  <a:moveTo>
                    <a:pt x="0" y="90000"/>
                  </a:moveTo>
                  <a:cubicBezTo>
                    <a:pt x="0" y="40275"/>
                    <a:pt x="1790" y="0"/>
                    <a:pt x="4000" y="0"/>
                  </a:cubicBezTo>
                  <a:lnTo>
                    <a:pt x="116000" y="0"/>
                  </a:lnTo>
                  <a:cubicBezTo>
                    <a:pt x="118210" y="0"/>
                    <a:pt x="120000" y="40275"/>
                    <a:pt x="120000" y="9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0" name="Google Shape;1100;p36"/>
            <p:cNvSpPr txBox="1"/>
            <p:nvPr/>
          </p:nvSpPr>
          <p:spPr>
            <a:xfrm>
              <a:off x="228600" y="342900"/>
              <a:ext cx="2971800" cy="1666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US" sz="2000">
                  <a:solidFill>
                    <a:srgbClr val="2563EB"/>
                  </a:solidFill>
                  <a:latin typeface="Material Icons"/>
                  <a:ea typeface="Material Icons"/>
                  <a:cs typeface="Material Icons"/>
                  <a:sym typeface="Material Icons"/>
                </a:rPr>
                <a:t>insights </a:t>
              </a:r>
              <a:r>
                <a:rPr b="0" lang="en-US" sz="1100">
                  <a:solidFill>
                    <a:srgbClr val="2563EB"/>
                  </a:solidFill>
                  <a:latin typeface="Plus Jakarta Sans ExtraBold"/>
                  <a:ea typeface="Plus Jakarta Sans ExtraBold"/>
                  <a:cs typeface="Plus Jakarta Sans ExtraBold"/>
                  <a:sym typeface="Plus Jakarta Sans ExtraBold"/>
                </a:rPr>
                <a:t>SCALING &amp; METRICS</a:t>
              </a:r>
              <a:endParaRPr b="0" sz="2000">
                <a:solidFill>
                  <a:srgbClr val="2563EB"/>
                </a:solidFill>
                <a:latin typeface="Material Icons"/>
                <a:ea typeface="Material Icons"/>
                <a:cs typeface="Material Icons"/>
                <a:sym typeface="Material Icons"/>
              </a:endParaRPr>
            </a:p>
            <a:p>
              <a:pPr indent="0" lvl="0" marL="0" rtl="0" algn="l">
                <a:spcBef>
                  <a:spcPts val="900"/>
                </a:spcBef>
                <a:spcAft>
                  <a:spcPts val="900"/>
                </a:spcAft>
                <a:buNone/>
              </a:pPr>
              <a:r>
                <a:rPr b="0" lang="en-US" sz="1100">
                  <a:solidFill>
                    <a:srgbClr val="475569"/>
                  </a:solidFill>
                  <a:latin typeface="Plus Jakarta Sans"/>
                  <a:ea typeface="Plus Jakarta Sans"/>
                  <a:cs typeface="Plus Jakarta Sans"/>
                  <a:sym typeface="Plus Jakarta Sans"/>
                </a:rPr>
                <a:t>Integrate identity directory SSO automatically. Set per-organization ACU limits, track metrics on custom dashboard sweeps, and run structured pilot phases first.</a:t>
              </a:r>
              <a:endParaRPr b="0" sz="1100">
                <a:solidFill>
                  <a:srgbClr val="2563EB"/>
                </a:solidFill>
                <a:latin typeface="Material Icons"/>
                <a:ea typeface="Material Icons"/>
                <a:cs typeface="Material Icons"/>
                <a:sym typeface="Material Icons"/>
              </a:endParaRPr>
            </a:p>
          </p:txBody>
        </p:sp>
      </p:grpSp>
      <p:sp>
        <p:nvSpPr>
          <p:cNvPr id="1101" name="Google Shape;1101;p36"/>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Enterprise Best Practices Dashboard</a:t>
            </a:r>
            <a:endParaRPr/>
          </a:p>
        </p:txBody>
      </p:sp>
      <p:sp>
        <p:nvSpPr>
          <p:cNvPr id="1102" name="Google Shape;1102;p36"/>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6" name="Shape 1106"/>
        <p:cNvGrpSpPr/>
        <p:nvPr/>
      </p:nvGrpSpPr>
      <p:grpSpPr>
        <a:xfrm>
          <a:off x="0" y="0"/>
          <a:ext cx="0" cy="0"/>
          <a:chOff x="0" y="0"/>
          <a:chExt cx="0" cy="0"/>
        </a:xfrm>
      </p:grpSpPr>
      <p:pic>
        <p:nvPicPr>
          <p:cNvPr descr="image.png" id="1107" name="Google Shape;1107;p37"/>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108" name="Google Shape;1108;p37"/>
          <p:cNvGrpSpPr/>
          <p:nvPr/>
        </p:nvGrpSpPr>
        <p:grpSpPr>
          <a:xfrm>
            <a:off x="571500" y="1333500"/>
            <a:ext cx="5715000" cy="3429075"/>
            <a:chOff x="571500" y="1333500"/>
            <a:chExt cx="5715000" cy="3429075"/>
          </a:xfrm>
        </p:grpSpPr>
        <p:sp>
          <p:nvSpPr>
            <p:cNvPr id="1109" name="Google Shape;1109;p37"/>
            <p:cNvSpPr/>
            <p:nvPr/>
          </p:nvSpPr>
          <p:spPr>
            <a:xfrm>
              <a:off x="571500" y="1333500"/>
              <a:ext cx="57150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0" name="Google Shape;1110;p37"/>
            <p:cNvSpPr txBox="1"/>
            <p:nvPr/>
          </p:nvSpPr>
          <p:spPr>
            <a:xfrm>
              <a:off x="571500" y="1333500"/>
              <a:ext cx="5715000" cy="285900"/>
            </a:xfrm>
            <a:prstGeom prst="rect">
              <a:avLst/>
            </a:prstGeom>
            <a:noFill/>
            <a:ln>
              <a:noFill/>
            </a:ln>
          </p:spPr>
          <p:txBody>
            <a:bodyPr anchorCtr="0" anchor="t" bIns="0" lIns="142875"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COBOL TO JAVA MODULE FLOW</a:t>
              </a:r>
              <a:endParaRPr b="1" sz="750">
                <a:solidFill>
                  <a:srgbClr val="7C3AED"/>
                </a:solidFill>
                <a:latin typeface="JetBrains Mono"/>
                <a:ea typeface="JetBrains Mono"/>
                <a:cs typeface="JetBrains Mono"/>
                <a:sym typeface="JetBrains Mono"/>
              </a:endParaRPr>
            </a:p>
          </p:txBody>
        </p:sp>
        <p:sp>
          <p:nvSpPr>
            <p:cNvPr id="1111" name="Google Shape;1111;p37"/>
            <p:cNvSpPr/>
            <p:nvPr/>
          </p:nvSpPr>
          <p:spPr>
            <a:xfrm>
              <a:off x="571500" y="1857375"/>
              <a:ext cx="5715000" cy="809700"/>
            </a:xfrm>
            <a:prstGeom prst="roundRect">
              <a:avLst>
                <a:gd fmla="val 941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2" name="Google Shape;1112;p37"/>
            <p:cNvSpPr/>
            <p:nvPr/>
          </p:nvSpPr>
          <p:spPr>
            <a:xfrm>
              <a:off x="571500" y="1857375"/>
              <a:ext cx="47700" cy="809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3" name="Google Shape;1113;p37"/>
            <p:cNvSpPr txBox="1"/>
            <p:nvPr/>
          </p:nvSpPr>
          <p:spPr>
            <a:xfrm>
              <a:off x="809625" y="1857375"/>
              <a:ext cx="5143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INPUTS</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Ask Devin indexes COBOL codebase, mapping business rules and scoping module files.</a:t>
              </a:r>
              <a:endParaRPr b="0" sz="975">
                <a:solidFill>
                  <a:srgbClr val="475569"/>
                </a:solidFill>
                <a:latin typeface="Plus Jakarta Sans Medium"/>
                <a:ea typeface="Plus Jakarta Sans Medium"/>
                <a:cs typeface="Plus Jakarta Sans Medium"/>
                <a:sym typeface="Plus Jakarta Sans Medium"/>
              </a:endParaRPr>
            </a:p>
          </p:txBody>
        </p:sp>
        <p:sp>
          <p:nvSpPr>
            <p:cNvPr id="1114" name="Google Shape;1114;p37"/>
            <p:cNvSpPr/>
            <p:nvPr/>
          </p:nvSpPr>
          <p:spPr>
            <a:xfrm>
              <a:off x="571500" y="2905125"/>
              <a:ext cx="5715000" cy="809700"/>
            </a:xfrm>
            <a:prstGeom prst="roundRect">
              <a:avLst>
                <a:gd fmla="val 941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5" name="Google Shape;1115;p37"/>
            <p:cNvSpPr/>
            <p:nvPr/>
          </p:nvSpPr>
          <p:spPr>
            <a:xfrm>
              <a:off x="571500" y="2905125"/>
              <a:ext cx="47700" cy="8097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6" name="Google Shape;1116;p37"/>
            <p:cNvSpPr txBox="1"/>
            <p:nvPr/>
          </p:nvSpPr>
          <p:spPr>
            <a:xfrm>
              <a:off x="809625" y="2905125"/>
              <a:ext cx="5143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PARALLEL</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Coordinator spawns child VMs. Each converts an isolated segment utilizing migration Playbooks.</a:t>
              </a:r>
              <a:endParaRPr b="0" sz="975">
                <a:solidFill>
                  <a:srgbClr val="475569"/>
                </a:solidFill>
                <a:latin typeface="Plus Jakarta Sans Medium"/>
                <a:ea typeface="Plus Jakarta Sans Medium"/>
                <a:cs typeface="Plus Jakarta Sans Medium"/>
                <a:sym typeface="Plus Jakarta Sans Medium"/>
              </a:endParaRPr>
            </a:p>
          </p:txBody>
        </p:sp>
        <p:sp>
          <p:nvSpPr>
            <p:cNvPr id="1117" name="Google Shape;1117;p37"/>
            <p:cNvSpPr/>
            <p:nvPr/>
          </p:nvSpPr>
          <p:spPr>
            <a:xfrm>
              <a:off x="571500" y="3952875"/>
              <a:ext cx="5715000" cy="809700"/>
            </a:xfrm>
            <a:prstGeom prst="roundRect">
              <a:avLst>
                <a:gd fmla="val 9411"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8" name="Google Shape;1118;p37"/>
            <p:cNvSpPr/>
            <p:nvPr/>
          </p:nvSpPr>
          <p:spPr>
            <a:xfrm>
              <a:off x="571500" y="3952875"/>
              <a:ext cx="47700" cy="8097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9" name="Google Shape;1119;p37"/>
            <p:cNvSpPr txBox="1"/>
            <p:nvPr/>
          </p:nvSpPr>
          <p:spPr>
            <a:xfrm>
              <a:off x="809625" y="3952875"/>
              <a:ext cx="5143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VERIFY</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Verifies code logic via Java build/test skills prior to raising PRs.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20" name="Google Shape;1120;p37"/>
          <p:cNvGrpSpPr/>
          <p:nvPr/>
        </p:nvGrpSpPr>
        <p:grpSpPr>
          <a:xfrm>
            <a:off x="7239000" y="1333500"/>
            <a:ext cx="4381500" cy="3429000"/>
            <a:chOff x="7239000" y="1333500"/>
            <a:chExt cx="4381500" cy="3429000"/>
          </a:xfrm>
        </p:grpSpPr>
        <p:sp>
          <p:nvSpPr>
            <p:cNvPr id="1121" name="Google Shape;1121;p37"/>
            <p:cNvSpPr/>
            <p:nvPr/>
          </p:nvSpPr>
          <p:spPr>
            <a:xfrm>
              <a:off x="7239000" y="1333500"/>
              <a:ext cx="4381500" cy="3429000"/>
            </a:xfrm>
            <a:prstGeom prst="roundRect">
              <a:avLst>
                <a:gd fmla="val 444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2" name="Google Shape;1122;p37"/>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3" name="Google Shape;1123;p37"/>
            <p:cNvSpPr/>
            <p:nvPr/>
          </p:nvSpPr>
          <p:spPr>
            <a:xfrm>
              <a:off x="8667750" y="1857375"/>
              <a:ext cx="15240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4" name="Google Shape;1124;p37"/>
            <p:cNvSpPr txBox="1"/>
            <p:nvPr/>
          </p:nvSpPr>
          <p:spPr>
            <a:xfrm>
              <a:off x="8667750" y="1857375"/>
              <a:ext cx="15240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PRODUCTION IMPACT</a:t>
              </a:r>
              <a:endParaRPr b="0" sz="750">
                <a:solidFill>
                  <a:srgbClr val="2563EB"/>
                </a:solidFill>
                <a:latin typeface="JetBrains Mono ExtraBold"/>
                <a:ea typeface="JetBrains Mono ExtraBold"/>
                <a:cs typeface="JetBrains Mono ExtraBold"/>
                <a:sym typeface="JetBrains Mono ExtraBold"/>
              </a:endParaRPr>
            </a:p>
          </p:txBody>
        </p:sp>
        <p:sp>
          <p:nvSpPr>
            <p:cNvPr id="1125" name="Google Shape;1125;p37"/>
            <p:cNvSpPr txBox="1"/>
            <p:nvPr/>
          </p:nvSpPr>
          <p:spPr>
            <a:xfrm>
              <a:off x="7524750" y="2286000"/>
              <a:ext cx="3810000" cy="952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5400">
                  <a:solidFill>
                    <a:srgbClr val="2563EB"/>
                  </a:solidFill>
                  <a:latin typeface="Plus Jakarta Sans ExtraBold"/>
                  <a:ea typeface="Plus Jakarta Sans ExtraBold"/>
                  <a:cs typeface="Plus Jakarta Sans ExtraBold"/>
                  <a:sym typeface="Plus Jakarta Sans ExtraBold"/>
                </a:rPr>
                <a:t>100%</a:t>
              </a:r>
              <a:endParaRPr b="0" sz="5400">
                <a:solidFill>
                  <a:srgbClr val="2563EB"/>
                </a:solidFill>
                <a:latin typeface="Plus Jakarta Sans ExtraBold"/>
                <a:ea typeface="Plus Jakarta Sans ExtraBold"/>
                <a:cs typeface="Plus Jakarta Sans ExtraBold"/>
                <a:sym typeface="Plus Jakarta Sans ExtraBold"/>
              </a:endParaRPr>
            </a:p>
          </p:txBody>
        </p:sp>
        <p:sp>
          <p:nvSpPr>
            <p:cNvPr id="1126" name="Google Shape;1126;p37"/>
            <p:cNvSpPr txBox="1"/>
            <p:nvPr/>
          </p:nvSpPr>
          <p:spPr>
            <a:xfrm>
              <a:off x="7524750" y="3286125"/>
              <a:ext cx="3810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Migrated Autonomously</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127" name="Google Shape;1127;p37"/>
            <p:cNvSpPr txBox="1"/>
            <p:nvPr/>
          </p:nvSpPr>
          <p:spPr>
            <a:xfrm>
              <a:off x="7620000" y="3667125"/>
              <a:ext cx="36195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Successful microservice modernization of legacy banking codebases. Mirrors real-world enterprise conversions (e.g., Nubank modules).</a:t>
              </a:r>
              <a:endParaRPr b="0" sz="975">
                <a:solidFill>
                  <a:srgbClr val="475569"/>
                </a:solidFill>
                <a:latin typeface="Plus Jakarta Sans"/>
                <a:ea typeface="Plus Jakarta Sans"/>
                <a:cs typeface="Plus Jakarta Sans"/>
                <a:sym typeface="Plus Jakarta Sans"/>
              </a:endParaRPr>
            </a:p>
          </p:txBody>
        </p:sp>
      </p:grpSp>
      <p:pic>
        <p:nvPicPr>
          <p:cNvPr descr="image.png" id="1128" name="Google Shape;1128;p37"/>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129" name="Google Shape;1129;p37"/>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Legacy Modernization</a:t>
            </a:r>
            <a:endParaRPr/>
          </a:p>
        </p:txBody>
      </p:sp>
      <p:sp>
        <p:nvSpPr>
          <p:cNvPr id="1130" name="Google Shape;1130;p37"/>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4" name="Shape 1134"/>
        <p:cNvGrpSpPr/>
        <p:nvPr/>
      </p:nvGrpSpPr>
      <p:grpSpPr>
        <a:xfrm>
          <a:off x="0" y="0"/>
          <a:ext cx="0" cy="0"/>
          <a:chOff x="0" y="0"/>
          <a:chExt cx="0" cy="0"/>
        </a:xfrm>
      </p:grpSpPr>
      <p:pic>
        <p:nvPicPr>
          <p:cNvPr descr="image.png" id="1135" name="Google Shape;1135;p38"/>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136" name="Google Shape;1136;p38"/>
          <p:cNvGrpSpPr/>
          <p:nvPr/>
        </p:nvGrpSpPr>
        <p:grpSpPr>
          <a:xfrm>
            <a:off x="571500" y="1333500"/>
            <a:ext cx="6191400" cy="285900"/>
            <a:chOff x="571500" y="1333500"/>
            <a:chExt cx="6191400" cy="285900"/>
          </a:xfrm>
        </p:grpSpPr>
        <p:sp>
          <p:nvSpPr>
            <p:cNvPr id="1137" name="Google Shape;1137;p38"/>
            <p:cNvSpPr/>
            <p:nvPr/>
          </p:nvSpPr>
          <p:spPr>
            <a:xfrm>
              <a:off x="571500" y="1333500"/>
              <a:ext cx="61914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8" name="Google Shape;1138;p38"/>
            <p:cNvSpPr txBox="1"/>
            <p:nvPr/>
          </p:nvSpPr>
          <p:spPr>
            <a:xfrm>
              <a:off x="571500" y="1333500"/>
              <a:ext cx="6191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CI/CD AUTO-REMEDIATION FLOW</a:t>
              </a:r>
              <a:endParaRPr b="1" sz="750">
                <a:solidFill>
                  <a:srgbClr val="7C3AED"/>
                </a:solidFill>
                <a:latin typeface="JetBrains Mono"/>
                <a:ea typeface="JetBrains Mono"/>
                <a:cs typeface="JetBrains Mono"/>
                <a:sym typeface="JetBrains Mono"/>
              </a:endParaRPr>
            </a:p>
          </p:txBody>
        </p:sp>
      </p:grpSp>
      <p:grpSp>
        <p:nvGrpSpPr>
          <p:cNvPr id="1139" name="Google Shape;1139;p38"/>
          <p:cNvGrpSpPr/>
          <p:nvPr/>
        </p:nvGrpSpPr>
        <p:grpSpPr>
          <a:xfrm>
            <a:off x="571500" y="1762125"/>
            <a:ext cx="6191400" cy="619200"/>
            <a:chOff x="571500" y="1762125"/>
            <a:chExt cx="6191400" cy="619200"/>
          </a:xfrm>
        </p:grpSpPr>
        <p:sp>
          <p:nvSpPr>
            <p:cNvPr id="1140" name="Google Shape;1140;p38"/>
            <p:cNvSpPr/>
            <p:nvPr/>
          </p:nvSpPr>
          <p:spPr>
            <a:xfrm>
              <a:off x="571500" y="176212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1" name="Google Shape;1141;p38"/>
            <p:cNvSpPr/>
            <p:nvPr/>
          </p:nvSpPr>
          <p:spPr>
            <a:xfrm>
              <a:off x="571500" y="1762125"/>
              <a:ext cx="47700" cy="6192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2" name="Google Shape;1142;p38"/>
            <p:cNvSpPr txBox="1"/>
            <p:nvPr/>
          </p:nvSpPr>
          <p:spPr>
            <a:xfrm>
              <a:off x="809625" y="176212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1. CI CHECK FAILS</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GitHub Action alerts. Automation webhook fires on failure.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43" name="Google Shape;1143;p38"/>
          <p:cNvGrpSpPr/>
          <p:nvPr/>
        </p:nvGrpSpPr>
        <p:grpSpPr>
          <a:xfrm>
            <a:off x="571500" y="2476500"/>
            <a:ext cx="6191400" cy="619200"/>
            <a:chOff x="571500" y="2476500"/>
            <a:chExt cx="6191400" cy="619200"/>
          </a:xfrm>
        </p:grpSpPr>
        <p:sp>
          <p:nvSpPr>
            <p:cNvPr id="1144" name="Google Shape;1144;p38"/>
            <p:cNvSpPr/>
            <p:nvPr/>
          </p:nvSpPr>
          <p:spPr>
            <a:xfrm>
              <a:off x="571500" y="247650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5" name="Google Shape;1145;p38"/>
            <p:cNvSpPr/>
            <p:nvPr/>
          </p:nvSpPr>
          <p:spPr>
            <a:xfrm>
              <a:off x="571500" y="2476500"/>
              <a:ext cx="47700" cy="6192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6" name="Google Shape;1146;p38"/>
            <p:cNvSpPr txBox="1"/>
            <p:nvPr/>
          </p:nvSpPr>
          <p:spPr>
            <a:xfrm>
              <a:off x="809625" y="247650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2. TRIAGE BOOT</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Sandbox VM boots, retrieves "CI failure" Knowledge runbooks.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47" name="Google Shape;1147;p38"/>
          <p:cNvGrpSpPr/>
          <p:nvPr/>
        </p:nvGrpSpPr>
        <p:grpSpPr>
          <a:xfrm>
            <a:off x="571500" y="3190875"/>
            <a:ext cx="6191400" cy="619200"/>
            <a:chOff x="571500" y="3190875"/>
            <a:chExt cx="6191400" cy="619200"/>
          </a:xfrm>
        </p:grpSpPr>
        <p:sp>
          <p:nvSpPr>
            <p:cNvPr id="1148" name="Google Shape;1148;p38"/>
            <p:cNvSpPr/>
            <p:nvPr/>
          </p:nvSpPr>
          <p:spPr>
            <a:xfrm>
              <a:off x="571500" y="319087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9" name="Google Shape;1149;p38"/>
            <p:cNvSpPr/>
            <p:nvPr/>
          </p:nvSpPr>
          <p:spPr>
            <a:xfrm>
              <a:off x="571500" y="3190875"/>
              <a:ext cx="47700" cy="6192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0" name="Google Shape;1150;p38"/>
            <p:cNvSpPr txBox="1"/>
            <p:nvPr/>
          </p:nvSpPr>
          <p:spPr>
            <a:xfrm>
              <a:off x="809625" y="319087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3. FIX &amp; TEST</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Resolves code paths, auto-runs `test-before-pr` verification.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51" name="Google Shape;1151;p38"/>
          <p:cNvGrpSpPr/>
          <p:nvPr/>
        </p:nvGrpSpPr>
        <p:grpSpPr>
          <a:xfrm>
            <a:off x="571500" y="3905250"/>
            <a:ext cx="6191400" cy="619200"/>
            <a:chOff x="571500" y="3905250"/>
            <a:chExt cx="6191400" cy="619200"/>
          </a:xfrm>
        </p:grpSpPr>
        <p:sp>
          <p:nvSpPr>
            <p:cNvPr id="1152" name="Google Shape;1152;p38"/>
            <p:cNvSpPr/>
            <p:nvPr/>
          </p:nvSpPr>
          <p:spPr>
            <a:xfrm>
              <a:off x="571500" y="390525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3" name="Google Shape;1153;p38"/>
            <p:cNvSpPr/>
            <p:nvPr/>
          </p:nvSpPr>
          <p:spPr>
            <a:xfrm>
              <a:off x="571500" y="3905250"/>
              <a:ext cx="47700" cy="619200"/>
            </a:xfrm>
            <a:prstGeom prst="roundRect">
              <a:avLst>
                <a:gd fmla="val 4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4" name="Google Shape;1154;p38"/>
            <p:cNvSpPr txBox="1"/>
            <p:nvPr/>
          </p:nvSpPr>
          <p:spPr>
            <a:xfrm>
              <a:off x="809625" y="390525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EA580C"/>
                  </a:solidFill>
                  <a:latin typeface="JetBrains Mono ExtraBold"/>
                  <a:ea typeface="JetBrains Mono ExtraBold"/>
                  <a:cs typeface="JetBrains Mono ExtraBold"/>
                  <a:sym typeface="JetBrains Mono ExtraBold"/>
                </a:rPr>
                <a:t>4. PR COMMIT</a:t>
              </a:r>
              <a:endParaRPr b="0" sz="825">
                <a:solidFill>
                  <a:srgbClr val="EA580C"/>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Pushes clean fix PR, auto-triggering Devin Review scans. [cite: 28]</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55" name="Google Shape;1155;p38"/>
          <p:cNvGrpSpPr/>
          <p:nvPr/>
        </p:nvGrpSpPr>
        <p:grpSpPr>
          <a:xfrm>
            <a:off x="7239000" y="1333500"/>
            <a:ext cx="4381500" cy="3190800"/>
            <a:chOff x="7239000" y="1333500"/>
            <a:chExt cx="4381500" cy="3190800"/>
          </a:xfrm>
        </p:grpSpPr>
        <p:sp>
          <p:nvSpPr>
            <p:cNvPr id="1156" name="Google Shape;1156;p38"/>
            <p:cNvSpPr/>
            <p:nvPr/>
          </p:nvSpPr>
          <p:spPr>
            <a:xfrm>
              <a:off x="7239000" y="1333500"/>
              <a:ext cx="4381500" cy="3190800"/>
            </a:xfrm>
            <a:prstGeom prst="roundRect">
              <a:avLst>
                <a:gd fmla="val 4776"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7" name="Google Shape;1157;p38"/>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8" name="Google Shape;1158;p38"/>
            <p:cNvSpPr/>
            <p:nvPr/>
          </p:nvSpPr>
          <p:spPr>
            <a:xfrm>
              <a:off x="8667750" y="1762125"/>
              <a:ext cx="15240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9" name="Google Shape;1159;p38"/>
            <p:cNvSpPr txBox="1"/>
            <p:nvPr/>
          </p:nvSpPr>
          <p:spPr>
            <a:xfrm>
              <a:off x="8667750" y="1762125"/>
              <a:ext cx="1524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ENTERPRISE VALUE</a:t>
              </a:r>
              <a:endParaRPr b="0" sz="750">
                <a:solidFill>
                  <a:srgbClr val="2563EB"/>
                </a:solidFill>
                <a:latin typeface="JetBrains Mono ExtraBold"/>
                <a:ea typeface="JetBrains Mono ExtraBold"/>
                <a:cs typeface="JetBrains Mono ExtraBold"/>
                <a:sym typeface="JetBrains Mono ExtraBold"/>
              </a:endParaRPr>
            </a:p>
          </p:txBody>
        </p:sp>
        <p:sp>
          <p:nvSpPr>
            <p:cNvPr id="1160" name="Google Shape;1160;p38"/>
            <p:cNvSpPr txBox="1"/>
            <p:nvPr/>
          </p:nvSpPr>
          <p:spPr>
            <a:xfrm>
              <a:off x="7524750" y="2143125"/>
              <a:ext cx="3810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5400">
                  <a:solidFill>
                    <a:srgbClr val="2563EB"/>
                  </a:solidFill>
                  <a:latin typeface="Plus Jakarta Sans ExtraBold"/>
                  <a:ea typeface="Plus Jakarta Sans ExtraBold"/>
                  <a:cs typeface="Plus Jakarta Sans ExtraBold"/>
                  <a:sym typeface="Plus Jakarta Sans ExtraBold"/>
                </a:rPr>
                <a:t>24/7</a:t>
              </a:r>
              <a:endParaRPr b="0" sz="5400">
                <a:solidFill>
                  <a:srgbClr val="2563EB"/>
                </a:solidFill>
                <a:latin typeface="Plus Jakarta Sans ExtraBold"/>
                <a:ea typeface="Plus Jakarta Sans ExtraBold"/>
                <a:cs typeface="Plus Jakarta Sans ExtraBold"/>
                <a:sym typeface="Plus Jakarta Sans ExtraBold"/>
              </a:endParaRPr>
            </a:p>
          </p:txBody>
        </p:sp>
        <p:sp>
          <p:nvSpPr>
            <p:cNvPr id="1161" name="Google Shape;1161;p38"/>
            <p:cNvSpPr txBox="1"/>
            <p:nvPr/>
          </p:nvSpPr>
          <p:spPr>
            <a:xfrm>
              <a:off x="7524750" y="3048000"/>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Autonomous Resolution</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162" name="Google Shape;1162;p38"/>
            <p:cNvSpPr txBox="1"/>
            <p:nvPr/>
          </p:nvSpPr>
          <p:spPr>
            <a:xfrm>
              <a:off x="7429500" y="3429000"/>
              <a:ext cx="4000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Engineers are no longer paged or blocked by routine linter failures, dependency breakages, or syntax compiler bugs. Devin intercepts, resolves, and verifies the fixes autonomously. [cite: 28]</a:t>
              </a:r>
              <a:endParaRPr b="0" sz="975">
                <a:solidFill>
                  <a:srgbClr val="475569"/>
                </a:solidFill>
                <a:latin typeface="Plus Jakarta Sans"/>
                <a:ea typeface="Plus Jakarta Sans"/>
                <a:cs typeface="Plus Jakarta Sans"/>
                <a:sym typeface="Plus Jakarta Sans"/>
              </a:endParaRPr>
            </a:p>
          </p:txBody>
        </p:sp>
      </p:grpSp>
      <p:pic>
        <p:nvPicPr>
          <p:cNvPr descr="image.png" id="1163" name="Google Shape;1163;p38"/>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164" name="Google Shape;1164;p38"/>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CI/CD Remediation</a:t>
            </a:r>
            <a:endParaRPr/>
          </a:p>
        </p:txBody>
      </p:sp>
      <p:sp>
        <p:nvSpPr>
          <p:cNvPr id="1165" name="Google Shape;1165;p38"/>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9" name="Shape 1169"/>
        <p:cNvGrpSpPr/>
        <p:nvPr/>
      </p:nvGrpSpPr>
      <p:grpSpPr>
        <a:xfrm>
          <a:off x="0" y="0"/>
          <a:ext cx="0" cy="0"/>
          <a:chOff x="0" y="0"/>
          <a:chExt cx="0" cy="0"/>
        </a:xfrm>
      </p:grpSpPr>
      <p:pic>
        <p:nvPicPr>
          <p:cNvPr descr="image.png" id="1170" name="Google Shape;1170;p39"/>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171" name="Google Shape;1171;p39"/>
          <p:cNvGrpSpPr/>
          <p:nvPr/>
        </p:nvGrpSpPr>
        <p:grpSpPr>
          <a:xfrm>
            <a:off x="571500" y="1333500"/>
            <a:ext cx="6191400" cy="285900"/>
            <a:chOff x="571500" y="1333500"/>
            <a:chExt cx="6191400" cy="285900"/>
          </a:xfrm>
        </p:grpSpPr>
        <p:sp>
          <p:nvSpPr>
            <p:cNvPr id="1172" name="Google Shape;1172;p39"/>
            <p:cNvSpPr/>
            <p:nvPr/>
          </p:nvSpPr>
          <p:spPr>
            <a:xfrm>
              <a:off x="571500" y="1333500"/>
              <a:ext cx="61914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3" name="Google Shape;1173;p39"/>
            <p:cNvSpPr txBox="1"/>
            <p:nvPr/>
          </p:nvSpPr>
          <p:spPr>
            <a:xfrm>
              <a:off x="571500" y="1333500"/>
              <a:ext cx="6191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HORIZONTAL TASK DECOMPOSITION LOOP</a:t>
              </a:r>
              <a:endParaRPr b="1" sz="750">
                <a:solidFill>
                  <a:srgbClr val="7C3AED"/>
                </a:solidFill>
                <a:latin typeface="JetBrains Mono"/>
                <a:ea typeface="JetBrains Mono"/>
                <a:cs typeface="JetBrains Mono"/>
                <a:sym typeface="JetBrains Mono"/>
              </a:endParaRPr>
            </a:p>
          </p:txBody>
        </p:sp>
      </p:grpSp>
      <p:pic>
        <p:nvPicPr>
          <p:cNvPr descr="image.png" id="1174" name="Google Shape;1174;p39"/>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grpSp>
        <p:nvGrpSpPr>
          <p:cNvPr id="1175" name="Google Shape;1175;p39"/>
          <p:cNvGrpSpPr/>
          <p:nvPr/>
        </p:nvGrpSpPr>
        <p:grpSpPr>
          <a:xfrm>
            <a:off x="571500" y="1762125"/>
            <a:ext cx="6191400" cy="762000"/>
            <a:chOff x="571500" y="1762125"/>
            <a:chExt cx="6191400" cy="762000"/>
          </a:xfrm>
        </p:grpSpPr>
        <p:sp>
          <p:nvSpPr>
            <p:cNvPr id="1176" name="Google Shape;1176;p39"/>
            <p:cNvSpPr/>
            <p:nvPr/>
          </p:nvSpPr>
          <p:spPr>
            <a:xfrm>
              <a:off x="571500" y="1762125"/>
              <a:ext cx="6191400" cy="762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7" name="Google Shape;1177;p39"/>
            <p:cNvSpPr/>
            <p:nvPr/>
          </p:nvSpPr>
          <p:spPr>
            <a:xfrm>
              <a:off x="571500" y="1762125"/>
              <a:ext cx="47700" cy="7620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8" name="Google Shape;1178;p39"/>
            <p:cNvSpPr txBox="1"/>
            <p:nvPr/>
          </p:nvSpPr>
          <p:spPr>
            <a:xfrm>
              <a:off x="809625" y="1762125"/>
              <a:ext cx="56199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1. QUERY &amp; DETECT</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Coordinator queries SonarQube database for linter failures.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79" name="Google Shape;1179;p39"/>
          <p:cNvGrpSpPr/>
          <p:nvPr/>
        </p:nvGrpSpPr>
        <p:grpSpPr>
          <a:xfrm>
            <a:off x="571500" y="2619375"/>
            <a:ext cx="6191400" cy="762000"/>
            <a:chOff x="571500" y="2619375"/>
            <a:chExt cx="6191400" cy="762000"/>
          </a:xfrm>
        </p:grpSpPr>
        <p:sp>
          <p:nvSpPr>
            <p:cNvPr id="1180" name="Google Shape;1180;p39"/>
            <p:cNvSpPr/>
            <p:nvPr/>
          </p:nvSpPr>
          <p:spPr>
            <a:xfrm>
              <a:off x="571500" y="2619375"/>
              <a:ext cx="6191400" cy="762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1" name="Google Shape;1181;p39"/>
            <p:cNvSpPr/>
            <p:nvPr/>
          </p:nvSpPr>
          <p:spPr>
            <a:xfrm>
              <a:off x="571500" y="2619375"/>
              <a:ext cx="47700" cy="7620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2" name="Google Shape;1182;p39"/>
            <p:cNvSpPr txBox="1"/>
            <p:nvPr/>
          </p:nvSpPr>
          <p:spPr>
            <a:xfrm>
              <a:off x="809625" y="2619375"/>
              <a:ext cx="56199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2. MODULAR PARTITION</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Groups issues by repository/complexity and schedules parallel workers.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83" name="Google Shape;1183;p39"/>
          <p:cNvGrpSpPr/>
          <p:nvPr/>
        </p:nvGrpSpPr>
        <p:grpSpPr>
          <a:xfrm>
            <a:off x="571500" y="3476625"/>
            <a:ext cx="6191400" cy="762000"/>
            <a:chOff x="571500" y="3476625"/>
            <a:chExt cx="6191400" cy="762000"/>
          </a:xfrm>
        </p:grpSpPr>
        <p:sp>
          <p:nvSpPr>
            <p:cNvPr id="1184" name="Google Shape;1184;p39"/>
            <p:cNvSpPr/>
            <p:nvPr/>
          </p:nvSpPr>
          <p:spPr>
            <a:xfrm>
              <a:off x="571500" y="3476625"/>
              <a:ext cx="6191400" cy="762000"/>
            </a:xfrm>
            <a:prstGeom prst="roundRect">
              <a:avLst>
                <a:gd fmla="val 10000"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5" name="Google Shape;1185;p39"/>
            <p:cNvSpPr/>
            <p:nvPr/>
          </p:nvSpPr>
          <p:spPr>
            <a:xfrm>
              <a:off x="571500" y="3476625"/>
              <a:ext cx="47700" cy="7620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6" name="Google Shape;1186;p39"/>
            <p:cNvSpPr txBox="1"/>
            <p:nvPr/>
          </p:nvSpPr>
          <p:spPr>
            <a:xfrm>
              <a:off x="809625" y="3476625"/>
              <a:ext cx="56199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3. FIX &amp; SHIP</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Child VMs resolve issues using Playbooks, verify with build skills, and raise PRs.</a:t>
              </a:r>
              <a:endParaRPr b="0" sz="975">
                <a:solidFill>
                  <a:srgbClr val="475569"/>
                </a:solidFill>
                <a:latin typeface="Plus Jakarta Sans Medium"/>
                <a:ea typeface="Plus Jakarta Sans Medium"/>
                <a:cs typeface="Plus Jakarta Sans Medium"/>
                <a:sym typeface="Plus Jakarta Sans Medium"/>
              </a:endParaRPr>
            </a:p>
          </p:txBody>
        </p:sp>
      </p:grpSp>
      <p:grpSp>
        <p:nvGrpSpPr>
          <p:cNvPr id="1187" name="Google Shape;1187;p39"/>
          <p:cNvGrpSpPr/>
          <p:nvPr/>
        </p:nvGrpSpPr>
        <p:grpSpPr>
          <a:xfrm>
            <a:off x="7239000" y="1333500"/>
            <a:ext cx="4381500" cy="3429000"/>
            <a:chOff x="7239000" y="1333500"/>
            <a:chExt cx="4381500" cy="3429000"/>
          </a:xfrm>
        </p:grpSpPr>
        <p:sp>
          <p:nvSpPr>
            <p:cNvPr id="1188" name="Google Shape;1188;p39"/>
            <p:cNvSpPr/>
            <p:nvPr/>
          </p:nvSpPr>
          <p:spPr>
            <a:xfrm>
              <a:off x="7239000" y="1333500"/>
              <a:ext cx="4381500" cy="3429000"/>
            </a:xfrm>
            <a:prstGeom prst="roundRect">
              <a:avLst>
                <a:gd fmla="val 4444"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9" name="Google Shape;1189;p39"/>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0" name="Google Shape;1190;p39"/>
            <p:cNvSpPr/>
            <p:nvPr/>
          </p:nvSpPr>
          <p:spPr>
            <a:xfrm>
              <a:off x="8667750" y="1857375"/>
              <a:ext cx="1524000" cy="247800"/>
            </a:xfrm>
            <a:prstGeom prst="roundRect">
              <a:avLst>
                <a:gd fmla="val 50000" name="adj"/>
              </a:avLst>
            </a:prstGeom>
            <a:solidFill>
              <a:srgbClr val="E6F4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1" name="Google Shape;1191;p39"/>
            <p:cNvSpPr txBox="1"/>
            <p:nvPr/>
          </p:nvSpPr>
          <p:spPr>
            <a:xfrm>
              <a:off x="8667750" y="1857375"/>
              <a:ext cx="1524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0D9488"/>
                  </a:solidFill>
                  <a:latin typeface="JetBrains Mono ExtraBold"/>
                  <a:ea typeface="JetBrains Mono ExtraBold"/>
                  <a:cs typeface="JetBrains Mono ExtraBold"/>
                  <a:sym typeface="JetBrains Mono ExtraBold"/>
                </a:rPr>
                <a:t>EFFICIENCY OUTPUT</a:t>
              </a:r>
              <a:endParaRPr b="0" sz="750">
                <a:solidFill>
                  <a:srgbClr val="0D9488"/>
                </a:solidFill>
                <a:latin typeface="JetBrains Mono ExtraBold"/>
                <a:ea typeface="JetBrains Mono ExtraBold"/>
                <a:cs typeface="JetBrains Mono ExtraBold"/>
                <a:sym typeface="JetBrains Mono ExtraBold"/>
              </a:endParaRPr>
            </a:p>
          </p:txBody>
        </p:sp>
        <p:sp>
          <p:nvSpPr>
            <p:cNvPr id="1192" name="Google Shape;1192;p39"/>
            <p:cNvSpPr txBox="1"/>
            <p:nvPr/>
          </p:nvSpPr>
          <p:spPr>
            <a:xfrm>
              <a:off x="7524750" y="2286000"/>
              <a:ext cx="3810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5400">
                  <a:solidFill>
                    <a:srgbClr val="0D9488"/>
                  </a:solidFill>
                  <a:latin typeface="Plus Jakarta Sans ExtraBold"/>
                  <a:ea typeface="Plus Jakarta Sans ExtraBold"/>
                  <a:cs typeface="Plus Jakarta Sans ExtraBold"/>
                  <a:sym typeface="Plus Jakarta Sans ExtraBold"/>
                </a:rPr>
                <a:t>6-12x</a:t>
              </a:r>
              <a:endParaRPr b="0" sz="5400">
                <a:solidFill>
                  <a:srgbClr val="0D9488"/>
                </a:solidFill>
                <a:latin typeface="Plus Jakarta Sans ExtraBold"/>
                <a:ea typeface="Plus Jakarta Sans ExtraBold"/>
                <a:cs typeface="Plus Jakarta Sans ExtraBold"/>
                <a:sym typeface="Plus Jakarta Sans ExtraBold"/>
              </a:endParaRPr>
            </a:p>
          </p:txBody>
        </p:sp>
        <p:sp>
          <p:nvSpPr>
            <p:cNvPr id="1193" name="Google Shape;1193;p39"/>
            <p:cNvSpPr txBox="1"/>
            <p:nvPr/>
          </p:nvSpPr>
          <p:spPr>
            <a:xfrm>
              <a:off x="7524750" y="3286125"/>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Velocity Uplift</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194" name="Google Shape;1194;p39"/>
            <p:cNvSpPr txBox="1"/>
            <p:nvPr/>
          </p:nvSpPr>
          <p:spPr>
            <a:xfrm>
              <a:off x="7620000" y="3667125"/>
              <a:ext cx="36195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Bulk clearance of linter errors across 20+ active repositories. Horizontal scaling clears backlogs without consuming high-focus team hours.</a:t>
              </a:r>
              <a:endParaRPr b="0" sz="975">
                <a:solidFill>
                  <a:srgbClr val="475569"/>
                </a:solidFill>
                <a:latin typeface="Plus Jakarta Sans"/>
                <a:ea typeface="Plus Jakarta Sans"/>
                <a:cs typeface="Plus Jakarta Sans"/>
                <a:sym typeface="Plus Jakarta Sans"/>
              </a:endParaRPr>
            </a:p>
          </p:txBody>
        </p:sp>
      </p:grpSp>
      <p:sp>
        <p:nvSpPr>
          <p:cNvPr id="1195" name="Google Shape;1195;p39"/>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Backlog Clearance</a:t>
            </a:r>
            <a:endParaRPr/>
          </a:p>
        </p:txBody>
      </p:sp>
      <p:sp>
        <p:nvSpPr>
          <p:cNvPr id="1196" name="Google Shape;1196;p39"/>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0" name="Shape 1200"/>
        <p:cNvGrpSpPr/>
        <p:nvPr/>
      </p:nvGrpSpPr>
      <p:grpSpPr>
        <a:xfrm>
          <a:off x="0" y="0"/>
          <a:ext cx="0" cy="0"/>
          <a:chOff x="0" y="0"/>
          <a:chExt cx="0" cy="0"/>
        </a:xfrm>
      </p:grpSpPr>
      <p:pic>
        <p:nvPicPr>
          <p:cNvPr descr="image.png" id="1201" name="Google Shape;1201;p40"/>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202" name="Google Shape;1202;p40"/>
          <p:cNvGrpSpPr/>
          <p:nvPr/>
        </p:nvGrpSpPr>
        <p:grpSpPr>
          <a:xfrm>
            <a:off x="571500" y="1333500"/>
            <a:ext cx="6191400" cy="285900"/>
            <a:chOff x="571500" y="1333500"/>
            <a:chExt cx="6191400" cy="285900"/>
          </a:xfrm>
        </p:grpSpPr>
        <p:sp>
          <p:nvSpPr>
            <p:cNvPr id="1203" name="Google Shape;1203;p40"/>
            <p:cNvSpPr/>
            <p:nvPr/>
          </p:nvSpPr>
          <p:spPr>
            <a:xfrm>
              <a:off x="571500" y="1333500"/>
              <a:ext cx="6191400" cy="285900"/>
            </a:xfrm>
            <a:prstGeom prst="roundRect">
              <a:avLst>
                <a:gd fmla="val 20000" name="adj"/>
              </a:avLst>
            </a:prstGeom>
            <a:solidFill>
              <a:srgbClr val="F3E8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4" name="Google Shape;1204;p40"/>
            <p:cNvSpPr txBox="1"/>
            <p:nvPr/>
          </p:nvSpPr>
          <p:spPr>
            <a:xfrm>
              <a:off x="571500" y="1333500"/>
              <a:ext cx="61914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750">
                  <a:solidFill>
                    <a:srgbClr val="7C3AED"/>
                  </a:solidFill>
                  <a:latin typeface="JetBrains Mono"/>
                  <a:ea typeface="JetBrains Mono"/>
                  <a:cs typeface="JetBrains Mono"/>
                  <a:sym typeface="JetBrains Mono"/>
                </a:rPr>
                <a:t>INCIDENT RESPONSE AUTOMATION FLOW</a:t>
              </a:r>
              <a:endParaRPr b="1" sz="750">
                <a:solidFill>
                  <a:srgbClr val="7C3AED"/>
                </a:solidFill>
                <a:latin typeface="JetBrains Mono"/>
                <a:ea typeface="JetBrains Mono"/>
                <a:cs typeface="JetBrains Mono"/>
                <a:sym typeface="JetBrains Mono"/>
              </a:endParaRPr>
            </a:p>
          </p:txBody>
        </p:sp>
      </p:grpSp>
      <p:grpSp>
        <p:nvGrpSpPr>
          <p:cNvPr id="1205" name="Google Shape;1205;p40"/>
          <p:cNvGrpSpPr/>
          <p:nvPr/>
        </p:nvGrpSpPr>
        <p:grpSpPr>
          <a:xfrm>
            <a:off x="571500" y="1762125"/>
            <a:ext cx="6191400" cy="619200"/>
            <a:chOff x="571500" y="1762125"/>
            <a:chExt cx="6191400" cy="619200"/>
          </a:xfrm>
        </p:grpSpPr>
        <p:sp>
          <p:nvSpPr>
            <p:cNvPr id="1206" name="Google Shape;1206;p40"/>
            <p:cNvSpPr/>
            <p:nvPr/>
          </p:nvSpPr>
          <p:spPr>
            <a:xfrm>
              <a:off x="571500" y="176212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7" name="Google Shape;1207;p40"/>
            <p:cNvSpPr/>
            <p:nvPr/>
          </p:nvSpPr>
          <p:spPr>
            <a:xfrm>
              <a:off x="571500" y="1762125"/>
              <a:ext cx="47700" cy="6192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8" name="Google Shape;1208;p40"/>
            <p:cNvSpPr txBox="1"/>
            <p:nvPr/>
          </p:nvSpPr>
          <p:spPr>
            <a:xfrm>
              <a:off x="809625" y="176212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2563EB"/>
                  </a:solidFill>
                  <a:latin typeface="JetBrains Mono ExtraBold"/>
                  <a:ea typeface="JetBrains Mono ExtraBold"/>
                  <a:cs typeface="JetBrains Mono ExtraBold"/>
                  <a:sym typeface="JetBrains Mono ExtraBold"/>
                </a:rPr>
                <a:t>1. INCIDENT ALERT</a:t>
              </a:r>
              <a:endParaRPr b="0" sz="825">
                <a:solidFill>
                  <a:srgbClr val="2563EB"/>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Slack 🚨 reaction on crash log triggers incident automation.</a:t>
              </a:r>
              <a:endParaRPr b="0" sz="825">
                <a:solidFill>
                  <a:srgbClr val="2563EB"/>
                </a:solidFill>
                <a:latin typeface="JetBrains Mono ExtraBold"/>
                <a:ea typeface="JetBrains Mono ExtraBold"/>
                <a:cs typeface="JetBrains Mono ExtraBold"/>
                <a:sym typeface="JetBrains Mono ExtraBold"/>
              </a:endParaRPr>
            </a:p>
          </p:txBody>
        </p:sp>
      </p:grpSp>
      <p:grpSp>
        <p:nvGrpSpPr>
          <p:cNvPr id="1209" name="Google Shape;1209;p40"/>
          <p:cNvGrpSpPr/>
          <p:nvPr/>
        </p:nvGrpSpPr>
        <p:grpSpPr>
          <a:xfrm>
            <a:off x="571500" y="2476500"/>
            <a:ext cx="6191400" cy="619200"/>
            <a:chOff x="571500" y="2476500"/>
            <a:chExt cx="6191400" cy="619200"/>
          </a:xfrm>
        </p:grpSpPr>
        <p:sp>
          <p:nvSpPr>
            <p:cNvPr id="1210" name="Google Shape;1210;p40"/>
            <p:cNvSpPr/>
            <p:nvPr/>
          </p:nvSpPr>
          <p:spPr>
            <a:xfrm>
              <a:off x="571500" y="247650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1" name="Google Shape;1211;p40"/>
            <p:cNvSpPr/>
            <p:nvPr/>
          </p:nvSpPr>
          <p:spPr>
            <a:xfrm>
              <a:off x="571500" y="2476500"/>
              <a:ext cx="47700" cy="619200"/>
            </a:xfrm>
            <a:prstGeom prst="roundRect">
              <a:avLst>
                <a:gd fmla="val 4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2" name="Google Shape;1212;p40"/>
            <p:cNvSpPr txBox="1"/>
            <p:nvPr/>
          </p:nvSpPr>
          <p:spPr>
            <a:xfrm>
              <a:off x="809625" y="247650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7C3AED"/>
                  </a:solidFill>
                  <a:latin typeface="JetBrains Mono ExtraBold"/>
                  <a:ea typeface="JetBrains Mono ExtraBold"/>
                  <a:cs typeface="JetBrains Mono ExtraBold"/>
                  <a:sym typeface="JetBrains Mono ExtraBold"/>
                </a:rPr>
                <a:t>2. QUERY SENTRY</a:t>
              </a:r>
              <a:endParaRPr b="0" sz="825">
                <a:solidFill>
                  <a:srgbClr val="7C3AED"/>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Devin queries Datadog &amp; Sentry MCP servers for logs.</a:t>
              </a:r>
              <a:endParaRPr b="0" sz="825">
                <a:solidFill>
                  <a:srgbClr val="7C3AED"/>
                </a:solidFill>
                <a:latin typeface="JetBrains Mono ExtraBold"/>
                <a:ea typeface="JetBrains Mono ExtraBold"/>
                <a:cs typeface="JetBrains Mono ExtraBold"/>
                <a:sym typeface="JetBrains Mono ExtraBold"/>
              </a:endParaRPr>
            </a:p>
          </p:txBody>
        </p:sp>
      </p:grpSp>
      <p:grpSp>
        <p:nvGrpSpPr>
          <p:cNvPr id="1213" name="Google Shape;1213;p40"/>
          <p:cNvGrpSpPr/>
          <p:nvPr/>
        </p:nvGrpSpPr>
        <p:grpSpPr>
          <a:xfrm>
            <a:off x="571500" y="3190875"/>
            <a:ext cx="6191400" cy="619200"/>
            <a:chOff x="571500" y="3190875"/>
            <a:chExt cx="6191400" cy="619200"/>
          </a:xfrm>
        </p:grpSpPr>
        <p:sp>
          <p:nvSpPr>
            <p:cNvPr id="1214" name="Google Shape;1214;p40"/>
            <p:cNvSpPr/>
            <p:nvPr/>
          </p:nvSpPr>
          <p:spPr>
            <a:xfrm>
              <a:off x="571500" y="3190875"/>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5" name="Google Shape;1215;p40"/>
            <p:cNvSpPr/>
            <p:nvPr/>
          </p:nvSpPr>
          <p:spPr>
            <a:xfrm>
              <a:off x="571500" y="3190875"/>
              <a:ext cx="47700" cy="619200"/>
            </a:xfrm>
            <a:prstGeom prst="roundRect">
              <a:avLst>
                <a:gd fmla="val 4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6" name="Google Shape;1216;p40"/>
            <p:cNvSpPr txBox="1"/>
            <p:nvPr/>
          </p:nvSpPr>
          <p:spPr>
            <a:xfrm>
              <a:off x="809625" y="3190875"/>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0D9488"/>
                  </a:solidFill>
                  <a:latin typeface="JetBrains Mono ExtraBold"/>
                  <a:ea typeface="JetBrains Mono ExtraBold"/>
                  <a:cs typeface="JetBrains Mono ExtraBold"/>
                  <a:sym typeface="JetBrains Mono ExtraBold"/>
                </a:rPr>
                <a:t>3. RUNBOOK MATCH</a:t>
              </a:r>
              <a:endParaRPr b="0" sz="825">
                <a:solidFill>
                  <a:srgbClr val="0D9488"/>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Matches "common outages" runbook, running read-only search skills.</a:t>
              </a:r>
              <a:endParaRPr b="0" sz="825">
                <a:solidFill>
                  <a:srgbClr val="0D9488"/>
                </a:solidFill>
                <a:latin typeface="JetBrains Mono ExtraBold"/>
                <a:ea typeface="JetBrains Mono ExtraBold"/>
                <a:cs typeface="JetBrains Mono ExtraBold"/>
                <a:sym typeface="JetBrains Mono ExtraBold"/>
              </a:endParaRPr>
            </a:p>
          </p:txBody>
        </p:sp>
      </p:grpSp>
      <p:grpSp>
        <p:nvGrpSpPr>
          <p:cNvPr id="1217" name="Google Shape;1217;p40"/>
          <p:cNvGrpSpPr/>
          <p:nvPr/>
        </p:nvGrpSpPr>
        <p:grpSpPr>
          <a:xfrm>
            <a:off x="571500" y="3905250"/>
            <a:ext cx="6191400" cy="619200"/>
            <a:chOff x="571500" y="3905250"/>
            <a:chExt cx="6191400" cy="619200"/>
          </a:xfrm>
        </p:grpSpPr>
        <p:sp>
          <p:nvSpPr>
            <p:cNvPr id="1218" name="Google Shape;1218;p40"/>
            <p:cNvSpPr/>
            <p:nvPr/>
          </p:nvSpPr>
          <p:spPr>
            <a:xfrm>
              <a:off x="571500" y="3905250"/>
              <a:ext cx="6191400" cy="619200"/>
            </a:xfrm>
            <a:prstGeom prst="roundRect">
              <a:avLst>
                <a:gd fmla="val 1230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9" name="Google Shape;1219;p40"/>
            <p:cNvSpPr/>
            <p:nvPr/>
          </p:nvSpPr>
          <p:spPr>
            <a:xfrm>
              <a:off x="571500" y="3905250"/>
              <a:ext cx="47700" cy="619200"/>
            </a:xfrm>
            <a:prstGeom prst="roundRect">
              <a:avLst>
                <a:gd fmla="val 40000"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0" name="Google Shape;1220;p40"/>
            <p:cNvSpPr txBox="1"/>
            <p:nvPr/>
          </p:nvSpPr>
          <p:spPr>
            <a:xfrm>
              <a:off x="809625" y="3905250"/>
              <a:ext cx="5810400" cy="619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25">
                  <a:solidFill>
                    <a:srgbClr val="EA580C"/>
                  </a:solidFill>
                  <a:latin typeface="JetBrains Mono ExtraBold"/>
                  <a:ea typeface="JetBrains Mono ExtraBold"/>
                  <a:cs typeface="JetBrains Mono ExtraBold"/>
                  <a:sym typeface="JetBrains Mono ExtraBold"/>
                </a:rPr>
                <a:t>4. SLACK SUMMARY</a:t>
              </a:r>
              <a:endParaRPr b="0" sz="825">
                <a:solidFill>
                  <a:srgbClr val="EA580C"/>
                </a:solidFill>
                <a:latin typeface="JetBrains Mono ExtraBold"/>
                <a:ea typeface="JetBrains Mono ExtraBold"/>
                <a:cs typeface="JetBrains Mono ExtraBold"/>
                <a:sym typeface="JetBrains Mono ExtraBold"/>
              </a:endParaRPr>
            </a:p>
            <a:p>
              <a:pPr indent="0" lvl="0" marL="0" rtl="0" algn="l">
                <a:spcBef>
                  <a:spcPts val="300"/>
                </a:spcBef>
                <a:spcAft>
                  <a:spcPts val="0"/>
                </a:spcAft>
                <a:buNone/>
              </a:pPr>
              <a:r>
                <a:rPr b="0" lang="en-US" sz="975">
                  <a:solidFill>
                    <a:srgbClr val="475569"/>
                  </a:solidFill>
                  <a:latin typeface="Plus Jakarta Sans Medium"/>
                  <a:ea typeface="Plus Jakarta Sans Medium"/>
                  <a:cs typeface="Plus Jakarta Sans Medium"/>
                  <a:sym typeface="Plus Jakarta Sans Medium"/>
                </a:rPr>
                <a:t>Posts error diagnosis, waiting for engineer fix authorizations.</a:t>
              </a:r>
              <a:endParaRPr b="0" sz="825">
                <a:solidFill>
                  <a:srgbClr val="EA580C"/>
                </a:solidFill>
                <a:latin typeface="JetBrains Mono ExtraBold"/>
                <a:ea typeface="JetBrains Mono ExtraBold"/>
                <a:cs typeface="JetBrains Mono ExtraBold"/>
                <a:sym typeface="JetBrains Mono ExtraBold"/>
              </a:endParaRPr>
            </a:p>
          </p:txBody>
        </p:sp>
      </p:grpSp>
      <p:grpSp>
        <p:nvGrpSpPr>
          <p:cNvPr id="1221" name="Google Shape;1221;p40"/>
          <p:cNvGrpSpPr/>
          <p:nvPr/>
        </p:nvGrpSpPr>
        <p:grpSpPr>
          <a:xfrm>
            <a:off x="7239000" y="1333500"/>
            <a:ext cx="4381500" cy="3190800"/>
            <a:chOff x="7239000" y="1333500"/>
            <a:chExt cx="4381500" cy="3190800"/>
          </a:xfrm>
        </p:grpSpPr>
        <p:sp>
          <p:nvSpPr>
            <p:cNvPr id="1222" name="Google Shape;1222;p40"/>
            <p:cNvSpPr/>
            <p:nvPr/>
          </p:nvSpPr>
          <p:spPr>
            <a:xfrm>
              <a:off x="7239000" y="1333500"/>
              <a:ext cx="4381500" cy="3190800"/>
            </a:xfrm>
            <a:prstGeom prst="roundRect">
              <a:avLst>
                <a:gd fmla="val 4776"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3" name="Google Shape;1223;p40"/>
            <p:cNvSpPr/>
            <p:nvPr/>
          </p:nvSpPr>
          <p:spPr>
            <a:xfrm>
              <a:off x="7239000" y="1333500"/>
              <a:ext cx="4381500" cy="228600"/>
            </a:xfrm>
            <a:custGeom>
              <a:rect b="b" l="l" r="r" t="t"/>
              <a:pathLst>
                <a:path extrusionOk="0" h="120000" w="120000">
                  <a:moveTo>
                    <a:pt x="0" y="80000"/>
                  </a:moveTo>
                  <a:cubicBezTo>
                    <a:pt x="0" y="35800"/>
                    <a:pt x="1868" y="0"/>
                    <a:pt x="4174" y="0"/>
                  </a:cubicBezTo>
                  <a:lnTo>
                    <a:pt x="115826" y="0"/>
                  </a:lnTo>
                  <a:cubicBezTo>
                    <a:pt x="11813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4" name="Google Shape;1224;p40"/>
            <p:cNvSpPr/>
            <p:nvPr/>
          </p:nvSpPr>
          <p:spPr>
            <a:xfrm>
              <a:off x="8667750" y="1762125"/>
              <a:ext cx="15240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5" name="Google Shape;1225;p40"/>
            <p:cNvSpPr txBox="1"/>
            <p:nvPr/>
          </p:nvSpPr>
          <p:spPr>
            <a:xfrm>
              <a:off x="8667750" y="1762125"/>
              <a:ext cx="1524000" cy="2478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INTERACTIVE SAFETY</a:t>
              </a:r>
              <a:endParaRPr b="0" sz="750">
                <a:solidFill>
                  <a:srgbClr val="2563EB"/>
                </a:solidFill>
                <a:latin typeface="JetBrains Mono ExtraBold"/>
                <a:ea typeface="JetBrains Mono ExtraBold"/>
                <a:cs typeface="JetBrains Mono ExtraBold"/>
                <a:sym typeface="JetBrains Mono ExtraBold"/>
              </a:endParaRPr>
            </a:p>
          </p:txBody>
        </p:sp>
        <p:sp>
          <p:nvSpPr>
            <p:cNvPr id="1226" name="Google Shape;1226;p40"/>
            <p:cNvSpPr txBox="1"/>
            <p:nvPr/>
          </p:nvSpPr>
          <p:spPr>
            <a:xfrm>
              <a:off x="7524750" y="2143125"/>
              <a:ext cx="3810000" cy="857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4600">
                  <a:solidFill>
                    <a:srgbClr val="2563EB"/>
                  </a:solidFill>
                  <a:latin typeface="Plus Jakarta Sans ExtraBold"/>
                  <a:ea typeface="Plus Jakarta Sans ExtraBold"/>
                  <a:cs typeface="Plus Jakarta Sans ExtraBold"/>
                  <a:sym typeface="Plus Jakarta Sans ExtraBold"/>
                </a:rPr>
                <a:t>Read-Only</a:t>
              </a:r>
              <a:endParaRPr b="0" sz="4600">
                <a:solidFill>
                  <a:srgbClr val="2563EB"/>
                </a:solidFill>
                <a:latin typeface="Plus Jakarta Sans ExtraBold"/>
                <a:ea typeface="Plus Jakarta Sans ExtraBold"/>
                <a:cs typeface="Plus Jakarta Sans ExtraBold"/>
                <a:sym typeface="Plus Jakarta Sans ExtraBold"/>
              </a:endParaRPr>
            </a:p>
          </p:txBody>
        </p:sp>
        <p:sp>
          <p:nvSpPr>
            <p:cNvPr id="1227" name="Google Shape;1227;p40"/>
            <p:cNvSpPr txBox="1"/>
            <p:nvPr/>
          </p:nvSpPr>
          <p:spPr>
            <a:xfrm>
              <a:off x="7524750" y="3048000"/>
              <a:ext cx="38100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350">
                  <a:solidFill>
                    <a:srgbClr val="0F172A"/>
                  </a:solidFill>
                  <a:latin typeface="Plus Jakarta Sans ExtraBold"/>
                  <a:ea typeface="Plus Jakarta Sans ExtraBold"/>
                  <a:cs typeface="Plus Jakarta Sans ExtraBold"/>
                  <a:sym typeface="Plus Jakarta Sans ExtraBold"/>
                </a:rPr>
                <a:t>Interactive Guardrails</a:t>
              </a:r>
              <a:endParaRPr b="0" sz="1350">
                <a:solidFill>
                  <a:srgbClr val="0F172A"/>
                </a:solidFill>
                <a:latin typeface="Plus Jakarta Sans ExtraBold"/>
                <a:ea typeface="Plus Jakarta Sans ExtraBold"/>
                <a:cs typeface="Plus Jakarta Sans ExtraBold"/>
                <a:sym typeface="Plus Jakarta Sans ExtraBold"/>
              </a:endParaRPr>
            </a:p>
          </p:txBody>
        </p:sp>
        <p:sp>
          <p:nvSpPr>
            <p:cNvPr id="1228" name="Google Shape;1228;p40"/>
            <p:cNvSpPr txBox="1"/>
            <p:nvPr/>
          </p:nvSpPr>
          <p:spPr>
            <a:xfrm>
              <a:off x="7429500" y="3429000"/>
              <a:ext cx="4000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975">
                  <a:solidFill>
                    <a:srgbClr val="475569"/>
                  </a:solidFill>
                  <a:latin typeface="Plus Jakarta Sans"/>
                  <a:ea typeface="Plus Jakarta Sans"/>
                  <a:cs typeface="Plus Jakarta Sans"/>
                  <a:sym typeface="Plus Jakarta Sans"/>
                </a:rPr>
                <a:t>Devin executes diagnostic read-only commands (</a:t>
              </a:r>
              <a:r>
                <a:rPr b="0" lang="en-US" sz="900">
                  <a:solidFill>
                    <a:srgbClr val="0F172A"/>
                  </a:solidFill>
                  <a:highlight>
                    <a:srgbClr val="F1F5F9"/>
                  </a:highlight>
                  <a:latin typeface="JetBrains Mono"/>
                  <a:ea typeface="JetBrains Mono"/>
                  <a:cs typeface="JetBrains Mono"/>
                  <a:sym typeface="JetBrains Mono"/>
                </a:rPr>
                <a:t>allowed-tools: Read, Grep, ListDir</a:t>
              </a:r>
              <a:r>
                <a:rPr b="0" lang="en-US" sz="975">
                  <a:solidFill>
                    <a:srgbClr val="475569"/>
                  </a:solidFill>
                  <a:latin typeface="Plus Jakarta Sans"/>
                  <a:ea typeface="Plus Jakarta Sans"/>
                  <a:cs typeface="Plus Jakarta Sans"/>
                  <a:sym typeface="Plus Jakarta Sans"/>
                </a:rPr>
                <a:t>), compiles root cause analysis, and posts outlines back to Slack before any write-actions run.</a:t>
              </a:r>
              <a:endParaRPr b="0" sz="975">
                <a:solidFill>
                  <a:srgbClr val="475569"/>
                </a:solidFill>
                <a:latin typeface="Plus Jakarta Sans"/>
                <a:ea typeface="Plus Jakarta Sans"/>
                <a:cs typeface="Plus Jakarta Sans"/>
                <a:sym typeface="Plus Jakarta Sans"/>
              </a:endParaRPr>
            </a:p>
          </p:txBody>
        </p:sp>
      </p:grpSp>
      <p:pic>
        <p:nvPicPr>
          <p:cNvPr descr="image.png" id="1229" name="Google Shape;1229;p40"/>
          <p:cNvPicPr preferRelativeResize="0"/>
          <p:nvPr/>
        </p:nvPicPr>
        <p:blipFill rotWithShape="1">
          <a:blip r:embed="rId4">
            <a:alphaModFix/>
          </a:blip>
          <a:srcRect b="0" l="0" r="0" t="0"/>
          <a:stretch/>
        </p:blipFill>
        <p:spPr>
          <a:xfrm>
            <a:off x="571500" y="457200"/>
            <a:ext cx="823168" cy="200025"/>
          </a:xfrm>
          <a:prstGeom prst="rect">
            <a:avLst/>
          </a:prstGeom>
          <a:noFill/>
          <a:ln>
            <a:noFill/>
          </a:ln>
        </p:spPr>
      </p:pic>
      <p:sp>
        <p:nvSpPr>
          <p:cNvPr id="1230" name="Google Shape;1230;p40"/>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Case Study: Incident Response</a:t>
            </a:r>
            <a:endParaRPr/>
          </a:p>
        </p:txBody>
      </p:sp>
      <p:sp>
        <p:nvSpPr>
          <p:cNvPr id="1231" name="Google Shape;1231;p40"/>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5" name="Shape 1235"/>
        <p:cNvGrpSpPr/>
        <p:nvPr/>
      </p:nvGrpSpPr>
      <p:grpSpPr>
        <a:xfrm>
          <a:off x="0" y="0"/>
          <a:ext cx="0" cy="0"/>
          <a:chOff x="0" y="0"/>
          <a:chExt cx="0" cy="0"/>
        </a:xfrm>
      </p:grpSpPr>
      <p:pic>
        <p:nvPicPr>
          <p:cNvPr descr="image.png" id="1236" name="Google Shape;1236;p4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37" name="Google Shape;1237;p41"/>
          <p:cNvPicPr preferRelativeResize="0"/>
          <p:nvPr/>
        </p:nvPicPr>
        <p:blipFill rotWithShape="1">
          <a:blip r:embed="rId4">
            <a:alphaModFix/>
          </a:blip>
          <a:srcRect b="0" l="0" r="0" t="0"/>
          <a:stretch/>
        </p:blipFill>
        <p:spPr>
          <a:xfrm>
            <a:off x="571500" y="2933700"/>
            <a:ext cx="5405437" cy="1647825"/>
          </a:xfrm>
          <a:prstGeom prst="rect">
            <a:avLst/>
          </a:prstGeom>
          <a:noFill/>
          <a:ln>
            <a:noFill/>
          </a:ln>
        </p:spPr>
      </p:pic>
      <p:pic>
        <p:nvPicPr>
          <p:cNvPr descr="image.png" id="1238" name="Google Shape;1238;p41"/>
          <p:cNvPicPr preferRelativeResize="0"/>
          <p:nvPr/>
        </p:nvPicPr>
        <p:blipFill rotWithShape="1">
          <a:blip r:embed="rId5">
            <a:alphaModFix/>
          </a:blip>
          <a:srcRect b="0" l="0" r="0" t="0"/>
          <a:stretch/>
        </p:blipFill>
        <p:spPr>
          <a:xfrm>
            <a:off x="6215062" y="2933700"/>
            <a:ext cx="5405437" cy="1647825"/>
          </a:xfrm>
          <a:prstGeom prst="rect">
            <a:avLst/>
          </a:prstGeom>
          <a:noFill/>
          <a:ln>
            <a:noFill/>
          </a:ln>
        </p:spPr>
      </p:pic>
      <p:pic>
        <p:nvPicPr>
          <p:cNvPr descr="image.png" id="1239" name="Google Shape;1239;p41"/>
          <p:cNvPicPr preferRelativeResize="0"/>
          <p:nvPr/>
        </p:nvPicPr>
        <p:blipFill rotWithShape="1">
          <a:blip r:embed="rId6">
            <a:alphaModFix/>
          </a:blip>
          <a:srcRect b="0" l="0" r="0" t="0"/>
          <a:stretch/>
        </p:blipFill>
        <p:spPr>
          <a:xfrm>
            <a:off x="571500" y="457200"/>
            <a:ext cx="895498" cy="200025"/>
          </a:xfrm>
          <a:prstGeom prst="rect">
            <a:avLst/>
          </a:prstGeom>
          <a:noFill/>
          <a:ln>
            <a:noFill/>
          </a:ln>
        </p:spPr>
      </p:pic>
      <p:sp>
        <p:nvSpPr>
          <p:cNvPr id="1240" name="Google Shape;1240;p41"/>
          <p:cNvSpPr txBox="1"/>
          <p:nvPr/>
        </p:nvSpPr>
        <p:spPr>
          <a:xfrm>
            <a:off x="1038225" y="3133725"/>
            <a:ext cx="4975621"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EF4444"/>
                </a:solidFill>
                <a:latin typeface="Plus Jakarta Sans"/>
                <a:ea typeface="Plus Jakarta Sans"/>
                <a:cs typeface="Plus Jakarta Sans"/>
                <a:sym typeface="Plus Jakarta Sans"/>
              </a:rPr>
              <a:t>Key Risks &amp; Anti-Patterns</a:t>
            </a:r>
            <a:endParaRPr/>
          </a:p>
        </p:txBody>
      </p:sp>
      <p:sp>
        <p:nvSpPr>
          <p:cNvPr id="1241" name="Google Shape;1241;p41"/>
          <p:cNvSpPr txBox="1"/>
          <p:nvPr/>
        </p:nvSpPr>
        <p:spPr>
          <a:xfrm>
            <a:off x="6681787" y="3133725"/>
            <a:ext cx="4975621" cy="1619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D9488"/>
                </a:solidFill>
                <a:latin typeface="Plus Jakarta Sans"/>
                <a:ea typeface="Plus Jakarta Sans"/>
                <a:cs typeface="Plus Jakarta Sans"/>
                <a:sym typeface="Plus Jakarta Sans"/>
              </a:rPr>
              <a:t>Standard Corrections</a:t>
            </a:r>
            <a:endParaRPr/>
          </a:p>
        </p:txBody>
      </p:sp>
      <p:pic>
        <p:nvPicPr>
          <p:cNvPr descr="image.png" id="1242" name="Google Shape;1242;p41"/>
          <p:cNvPicPr preferRelativeResize="0"/>
          <p:nvPr/>
        </p:nvPicPr>
        <p:blipFill rotWithShape="1">
          <a:blip r:embed="rId7">
            <a:alphaModFix/>
          </a:blip>
          <a:srcRect b="0" l="0" r="0" t="0"/>
          <a:stretch/>
        </p:blipFill>
        <p:spPr>
          <a:xfrm>
            <a:off x="800100" y="3143250"/>
            <a:ext cx="142875" cy="142875"/>
          </a:xfrm>
          <a:prstGeom prst="rect">
            <a:avLst/>
          </a:prstGeom>
          <a:noFill/>
          <a:ln>
            <a:noFill/>
          </a:ln>
        </p:spPr>
      </p:pic>
      <p:sp>
        <p:nvSpPr>
          <p:cNvPr id="1243" name="Google Shape;1243;p41"/>
          <p:cNvSpPr txBox="1"/>
          <p:nvPr/>
        </p:nvSpPr>
        <p:spPr>
          <a:xfrm>
            <a:off x="800100" y="34099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1. Monolithic Prompts:</a:t>
            </a:r>
            <a:r>
              <a:rPr b="0" i="0" lang="en-US" sz="900" u="none" cap="none" strike="noStrike">
                <a:solidFill>
                  <a:srgbClr val="475569"/>
                </a:solidFill>
                <a:latin typeface="Plus Jakarta Sans"/>
                <a:ea typeface="Plus Jakarta Sans"/>
                <a:cs typeface="Plus Jakarta Sans"/>
                <a:sym typeface="Plus Jakarta Sans"/>
              </a:rPr>
              <a:t> "Migrate entire codebase to TypeScript" causes context dilution.</a:t>
            </a:r>
            <a:endParaRPr/>
          </a:p>
        </p:txBody>
      </p:sp>
      <p:sp>
        <p:nvSpPr>
          <p:cNvPr id="1244" name="Google Shape;1244;p41"/>
          <p:cNvSpPr txBox="1"/>
          <p:nvPr/>
        </p:nvSpPr>
        <p:spPr>
          <a:xfrm>
            <a:off x="800100" y="36195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2. Raw Booting:</a:t>
            </a:r>
            <a:r>
              <a:rPr b="0" i="0" lang="en-US" sz="900" u="none" cap="none" strike="noStrike">
                <a:solidFill>
                  <a:srgbClr val="475569"/>
                </a:solidFill>
                <a:latin typeface="Plus Jakarta Sans"/>
                <a:ea typeface="Plus Jakarta Sans"/>
                <a:cs typeface="Plus Jakarta Sans"/>
                <a:sym typeface="Plus Jakarta Sans"/>
              </a:rPr>
              <a:t> Wastes ACUs downloading compiler packages mid-session.</a:t>
            </a:r>
            <a:endParaRPr/>
          </a:p>
        </p:txBody>
      </p:sp>
      <p:sp>
        <p:nvSpPr>
          <p:cNvPr id="1245" name="Google Shape;1245;p41"/>
          <p:cNvSpPr txBox="1"/>
          <p:nvPr/>
        </p:nvSpPr>
        <p:spPr>
          <a:xfrm>
            <a:off x="800100" y="38290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3. Bloated Knowledge:</a:t>
            </a:r>
            <a:r>
              <a:rPr b="0" i="0" lang="en-US" sz="900" u="none" cap="none" strike="noStrike">
                <a:solidFill>
                  <a:srgbClr val="475569"/>
                </a:solidFill>
                <a:latin typeface="Plus Jakarta Sans"/>
                <a:ea typeface="Plus Jakarta Sans"/>
                <a:cs typeface="Plus Jakarta Sans"/>
                <a:sym typeface="Plus Jakarta Sans"/>
              </a:rPr>
              <a:t> Monolithic files covering multiple flows degrade trigger matches.</a:t>
            </a:r>
            <a:endParaRPr/>
          </a:p>
        </p:txBody>
      </p:sp>
      <p:sp>
        <p:nvSpPr>
          <p:cNvPr id="1246" name="Google Shape;1246;p41"/>
          <p:cNvSpPr txBox="1"/>
          <p:nvPr/>
        </p:nvSpPr>
        <p:spPr>
          <a:xfrm>
            <a:off x="800100" y="40386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4. Broad Triggers:</a:t>
            </a:r>
            <a:r>
              <a:rPr b="0" i="0" lang="en-US" sz="900" u="none" cap="none" strike="noStrike">
                <a:solidFill>
                  <a:srgbClr val="475569"/>
                </a:solidFill>
                <a:latin typeface="Plus Jakarta Sans"/>
                <a:ea typeface="Plus Jakarta Sans"/>
                <a:cs typeface="Plus Jakarta Sans"/>
                <a:sym typeface="Plus Jakarta Sans"/>
              </a:rPr>
              <a:t> Launching sessions on every git commit creates runaway noise.</a:t>
            </a:r>
            <a:endParaRPr/>
          </a:p>
        </p:txBody>
      </p:sp>
      <p:sp>
        <p:nvSpPr>
          <p:cNvPr id="1247" name="Google Shape;1247;p41"/>
          <p:cNvSpPr txBox="1"/>
          <p:nvPr/>
        </p:nvSpPr>
        <p:spPr>
          <a:xfrm>
            <a:off x="800100" y="42481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5. Silent Commits:</a:t>
            </a:r>
            <a:r>
              <a:rPr b="0" i="0" lang="en-US" sz="900" u="none" cap="none" strike="noStrike">
                <a:solidFill>
                  <a:srgbClr val="475569"/>
                </a:solidFill>
                <a:latin typeface="Plus Jakarta Sans"/>
                <a:ea typeface="Plus Jakarta Sans"/>
                <a:cs typeface="Plus Jakarta Sans"/>
                <a:sym typeface="Plus Jakarta Sans"/>
              </a:rPr>
              <a:t> Tasks missing standard lints or build tests lead to regression leaks.</a:t>
            </a:r>
            <a:endParaRPr/>
          </a:p>
        </p:txBody>
      </p:sp>
      <p:pic>
        <p:nvPicPr>
          <p:cNvPr descr="image.png" id="1248" name="Google Shape;1248;p41"/>
          <p:cNvPicPr preferRelativeResize="0"/>
          <p:nvPr/>
        </p:nvPicPr>
        <p:blipFill rotWithShape="1">
          <a:blip r:embed="rId8">
            <a:alphaModFix/>
          </a:blip>
          <a:srcRect b="0" l="0" r="0" t="0"/>
          <a:stretch/>
        </p:blipFill>
        <p:spPr>
          <a:xfrm>
            <a:off x="6443662" y="3143250"/>
            <a:ext cx="142875" cy="142875"/>
          </a:xfrm>
          <a:prstGeom prst="rect">
            <a:avLst/>
          </a:prstGeom>
          <a:noFill/>
          <a:ln>
            <a:noFill/>
          </a:ln>
        </p:spPr>
      </p:pic>
      <p:sp>
        <p:nvSpPr>
          <p:cNvPr id="1249" name="Google Shape;1249;p41"/>
          <p:cNvSpPr txBox="1"/>
          <p:nvPr/>
        </p:nvSpPr>
        <p:spPr>
          <a:xfrm>
            <a:off x="6443662" y="34099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1. Narrow Scoping:</a:t>
            </a:r>
            <a:r>
              <a:rPr b="0" i="0" lang="en-US" sz="900" u="none" cap="none" strike="noStrike">
                <a:solidFill>
                  <a:srgbClr val="475569"/>
                </a:solidFill>
                <a:latin typeface="Plus Jakarta Sans"/>
                <a:ea typeface="Plus Jakarta Sans"/>
                <a:cs typeface="Plus Jakarta Sans"/>
                <a:sym typeface="Plus Jakarta Sans"/>
              </a:rPr>
              <a:t> Slice tasks into isolated blocks (files/endpoints) under 90 mins.</a:t>
            </a:r>
            <a:endParaRPr/>
          </a:p>
        </p:txBody>
      </p:sp>
      <p:sp>
        <p:nvSpPr>
          <p:cNvPr id="1250" name="Google Shape;1250;p41"/>
          <p:cNvSpPr txBox="1"/>
          <p:nvPr/>
        </p:nvSpPr>
        <p:spPr>
          <a:xfrm>
            <a:off x="6443662" y="36195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2. Snapshot Pre-baking:</a:t>
            </a:r>
            <a:r>
              <a:rPr b="0" i="0" lang="en-US" sz="900" u="none" cap="none" strike="noStrike">
                <a:solidFill>
                  <a:srgbClr val="475569"/>
                </a:solidFill>
                <a:latin typeface="Plus Jakarta Sans"/>
                <a:ea typeface="Plus Jakarta Sans"/>
                <a:cs typeface="Plus Jakarta Sans"/>
                <a:sym typeface="Plus Jakarta Sans"/>
              </a:rPr>
              <a:t> Configure Docker blueprint baselines so VMs boot ready.</a:t>
            </a:r>
            <a:endParaRPr/>
          </a:p>
        </p:txBody>
      </p:sp>
      <p:sp>
        <p:nvSpPr>
          <p:cNvPr id="1251" name="Google Shape;1251;p41"/>
          <p:cNvSpPr txBox="1"/>
          <p:nvPr/>
        </p:nvSpPr>
        <p:spPr>
          <a:xfrm>
            <a:off x="6443662" y="38290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3. Single-Purpose Entries:</a:t>
            </a:r>
            <a:r>
              <a:rPr b="0" i="0" lang="en-US" sz="900" u="none" cap="none" strike="noStrike">
                <a:solidFill>
                  <a:srgbClr val="475569"/>
                </a:solidFill>
                <a:latin typeface="Plus Jakarta Sans"/>
                <a:ea typeface="Plus Jakarta Sans"/>
                <a:cs typeface="Plus Jakarta Sans"/>
                <a:sym typeface="Plus Jakarta Sans"/>
              </a:rPr>
              <a:t> Split Knowledge folders into precise trigger runbooks.</a:t>
            </a:r>
            <a:endParaRPr/>
          </a:p>
        </p:txBody>
      </p:sp>
      <p:sp>
        <p:nvSpPr>
          <p:cNvPr id="1252" name="Google Shape;1252;p41"/>
          <p:cNvSpPr txBox="1"/>
          <p:nvPr/>
        </p:nvSpPr>
        <p:spPr>
          <a:xfrm>
            <a:off x="6443662" y="403860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4. Limit Budgets:</a:t>
            </a:r>
            <a:r>
              <a:rPr b="0" i="0" lang="en-US" sz="900" u="none" cap="none" strike="noStrike">
                <a:solidFill>
                  <a:srgbClr val="475569"/>
                </a:solidFill>
                <a:latin typeface="Plus Jakarta Sans"/>
                <a:ea typeface="Plus Jakarta Sans"/>
                <a:cs typeface="Plus Jakarta Sans"/>
                <a:sym typeface="Plus Jakarta Sans"/>
              </a:rPr>
              <a:t> Bind ACU limits and conditions per PR review or CRON sweep.</a:t>
            </a:r>
            <a:endParaRPr/>
          </a:p>
        </p:txBody>
      </p:sp>
      <p:sp>
        <p:nvSpPr>
          <p:cNvPr id="1253" name="Google Shape;1253;p41"/>
          <p:cNvSpPr txBox="1"/>
          <p:nvPr/>
        </p:nvSpPr>
        <p:spPr>
          <a:xfrm>
            <a:off x="6443662" y="4248150"/>
            <a:ext cx="4976812"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75569"/>
                </a:solidFill>
                <a:latin typeface="Plus Jakarta Sans"/>
                <a:ea typeface="Plus Jakarta Sans"/>
                <a:cs typeface="Plus Jakarta Sans"/>
                <a:sym typeface="Plus Jakarta Sans"/>
              </a:rPr>
              <a:t>5. Enforced Verification:</a:t>
            </a:r>
            <a:r>
              <a:rPr b="0" i="0" lang="en-US" sz="900" u="none" cap="none" strike="noStrike">
                <a:solidFill>
                  <a:srgbClr val="475569"/>
                </a:solidFill>
                <a:latin typeface="Plus Jakarta Sans"/>
                <a:ea typeface="Plus Jakarta Sans"/>
                <a:cs typeface="Plus Jakarta Sans"/>
                <a:sym typeface="Plus Jakarta Sans"/>
              </a:rPr>
              <a:t> Require test runs inside playbooks before creating PRs.</a:t>
            </a:r>
            <a:endParaRPr/>
          </a:p>
        </p:txBody>
      </p:sp>
      <p:sp>
        <p:nvSpPr>
          <p:cNvPr id="1254" name="Google Shape;1254;p41"/>
          <p:cNvSpPr txBox="1"/>
          <p:nvPr/>
        </p:nvSpPr>
        <p:spPr>
          <a:xfrm>
            <a:off x="571500" y="381000"/>
            <a:ext cx="11601450" cy="3714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Critical Anti-Patterns</a:t>
            </a:r>
            <a:endParaRPr/>
          </a:p>
        </p:txBody>
      </p:sp>
      <p:sp>
        <p:nvSpPr>
          <p:cNvPr id="1255" name="Google Shape;1255;p41"/>
          <p:cNvSpPr/>
          <p:nvPr/>
        </p:nvSpPr>
        <p:spPr>
          <a:xfrm>
            <a:off x="571500" y="847725"/>
            <a:ext cx="11049000" cy="1905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9" name="Shape 1259"/>
        <p:cNvGrpSpPr/>
        <p:nvPr/>
      </p:nvGrpSpPr>
      <p:grpSpPr>
        <a:xfrm>
          <a:off x="0" y="0"/>
          <a:ext cx="0" cy="0"/>
          <a:chOff x="0" y="0"/>
          <a:chExt cx="0" cy="0"/>
        </a:xfrm>
      </p:grpSpPr>
      <p:grpSp>
        <p:nvGrpSpPr>
          <p:cNvPr id="1260" name="Google Shape;1260;p42"/>
          <p:cNvGrpSpPr/>
          <p:nvPr/>
        </p:nvGrpSpPr>
        <p:grpSpPr>
          <a:xfrm>
            <a:off x="571500" y="1238250"/>
            <a:ext cx="11049150" cy="2857500"/>
            <a:chOff x="571500" y="1238250"/>
            <a:chExt cx="11049150" cy="2857500"/>
          </a:xfrm>
        </p:grpSpPr>
        <p:grpSp>
          <p:nvGrpSpPr>
            <p:cNvPr id="1261" name="Google Shape;1261;p42"/>
            <p:cNvGrpSpPr/>
            <p:nvPr/>
          </p:nvGrpSpPr>
          <p:grpSpPr>
            <a:xfrm>
              <a:off x="571500" y="1238250"/>
              <a:ext cx="3486300" cy="2857500"/>
              <a:chOff x="0" y="0"/>
              <a:chExt cx="3486300" cy="2857500"/>
            </a:xfrm>
          </p:grpSpPr>
          <p:sp>
            <p:nvSpPr>
              <p:cNvPr id="1262" name="Google Shape;1262;p42"/>
              <p:cNvSpPr/>
              <p:nvPr/>
            </p:nvSpPr>
            <p:spPr>
              <a:xfrm>
                <a:off x="0" y="0"/>
                <a:ext cx="3486300" cy="28575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3" name="Google Shape;1263;p42"/>
              <p:cNvSpPr/>
              <p:nvPr/>
            </p:nvSpPr>
            <p:spPr>
              <a:xfrm>
                <a:off x="0" y="0"/>
                <a:ext cx="3486300" cy="152400"/>
              </a:xfrm>
              <a:custGeom>
                <a:rect b="b" l="l" r="r" t="t"/>
                <a:pathLst>
                  <a:path extrusionOk="0" h="120000" w="120000">
                    <a:moveTo>
                      <a:pt x="0" y="90000"/>
                    </a:moveTo>
                    <a:cubicBezTo>
                      <a:pt x="0" y="40275"/>
                      <a:pt x="1761" y="0"/>
                      <a:pt x="3934" y="0"/>
                    </a:cubicBezTo>
                    <a:lnTo>
                      <a:pt x="116066" y="0"/>
                    </a:lnTo>
                    <a:cubicBezTo>
                      <a:pt x="118239" y="0"/>
                      <a:pt x="120000" y="40275"/>
                      <a:pt x="120000" y="9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4" name="Google Shape;1264;p42"/>
              <p:cNvSpPr txBox="1"/>
              <p:nvPr/>
            </p:nvSpPr>
            <p:spPr>
              <a:xfrm>
                <a:off x="228600" y="381000"/>
                <a:ext cx="3029100" cy="22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2563EB"/>
                    </a:solidFill>
                    <a:latin typeface="Material Icons"/>
                    <a:ea typeface="Material Icons"/>
                    <a:cs typeface="Material Icons"/>
                    <a:sym typeface="Material Icons"/>
                  </a:rPr>
                  <a:t>smart_toy</a:t>
                </a:r>
                <a:endParaRPr sz="2800">
                  <a:solidFill>
                    <a:srgbClr val="2563EB"/>
                  </a:solidFill>
                  <a:latin typeface="Material Icons"/>
                  <a:ea typeface="Material Icons"/>
                  <a:cs typeface="Material Icons"/>
                  <a:sym typeface="Material Icons"/>
                </a:endParaRPr>
              </a:p>
              <a:p>
                <a:pPr indent="0" lvl="0" marL="0" rtl="0" algn="l">
                  <a:spcBef>
                    <a:spcPts val="900"/>
                  </a:spcBef>
                  <a:spcAft>
                    <a:spcPts val="0"/>
                  </a:spcAft>
                  <a:buNone/>
                </a:pPr>
                <a:r>
                  <a:rPr b="0" lang="en-US" sz="1500">
                    <a:solidFill>
                      <a:srgbClr val="0F172A"/>
                    </a:solidFill>
                    <a:latin typeface="Plus Jakarta Sans ExtraBold"/>
                    <a:ea typeface="Plus Jakarta Sans ExtraBold"/>
                    <a:cs typeface="Plus Jakarta Sans ExtraBold"/>
                    <a:sym typeface="Plus Jakarta Sans ExtraBold"/>
                  </a:rPr>
                  <a:t>Agent, Not Copilot</a:t>
                </a:r>
                <a:endParaRPr b="0" sz="15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Mental model shift: Devin behaves as an active developer inside a secure VM, not an inline autocomplete tool. Task scoping is critical.</a:t>
                </a:r>
                <a:endParaRPr b="0" sz="1050">
                  <a:solidFill>
                    <a:srgbClr val="475569"/>
                  </a:solidFill>
                  <a:latin typeface="Plus Jakarta Sans"/>
                  <a:ea typeface="Plus Jakarta Sans"/>
                  <a:cs typeface="Plus Jakarta Sans"/>
                  <a:sym typeface="Plus Jakarta Sans"/>
                </a:endParaRPr>
              </a:p>
            </p:txBody>
          </p:sp>
        </p:grpSp>
        <p:grpSp>
          <p:nvGrpSpPr>
            <p:cNvPr id="1265" name="Google Shape;1265;p42"/>
            <p:cNvGrpSpPr/>
            <p:nvPr/>
          </p:nvGrpSpPr>
          <p:grpSpPr>
            <a:xfrm>
              <a:off x="4352925" y="1238250"/>
              <a:ext cx="3486300" cy="2857500"/>
              <a:chOff x="0" y="0"/>
              <a:chExt cx="3486300" cy="2857500"/>
            </a:xfrm>
          </p:grpSpPr>
          <p:sp>
            <p:nvSpPr>
              <p:cNvPr id="1266" name="Google Shape;1266;p42"/>
              <p:cNvSpPr/>
              <p:nvPr/>
            </p:nvSpPr>
            <p:spPr>
              <a:xfrm>
                <a:off x="0" y="0"/>
                <a:ext cx="3486300" cy="28575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7" name="Google Shape;1267;p42"/>
              <p:cNvSpPr/>
              <p:nvPr/>
            </p:nvSpPr>
            <p:spPr>
              <a:xfrm>
                <a:off x="0" y="0"/>
                <a:ext cx="3486300" cy="152400"/>
              </a:xfrm>
              <a:custGeom>
                <a:rect b="b" l="l" r="r" t="t"/>
                <a:pathLst>
                  <a:path extrusionOk="0" h="120000" w="120000">
                    <a:moveTo>
                      <a:pt x="0" y="90000"/>
                    </a:moveTo>
                    <a:cubicBezTo>
                      <a:pt x="0" y="40275"/>
                      <a:pt x="1761" y="0"/>
                      <a:pt x="3934" y="0"/>
                    </a:cubicBezTo>
                    <a:lnTo>
                      <a:pt x="116066" y="0"/>
                    </a:lnTo>
                    <a:cubicBezTo>
                      <a:pt x="118239" y="0"/>
                      <a:pt x="120000" y="40275"/>
                      <a:pt x="120000" y="90000"/>
                    </a:cubicBezTo>
                    <a:lnTo>
                      <a:pt x="120000" y="120000"/>
                    </a:lnTo>
                    <a:lnTo>
                      <a:pt x="0" y="120000"/>
                    </a:lnTo>
                    <a:close/>
                  </a:path>
                </a:pathLst>
              </a:cu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8" name="Google Shape;1268;p42"/>
              <p:cNvSpPr txBox="1"/>
              <p:nvPr/>
            </p:nvSpPr>
            <p:spPr>
              <a:xfrm>
                <a:off x="228600" y="381000"/>
                <a:ext cx="3029100" cy="22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7C3AED"/>
                    </a:solidFill>
                    <a:latin typeface="Material Icons"/>
                    <a:ea typeface="Material Icons"/>
                    <a:cs typeface="Material Icons"/>
                    <a:sym typeface="Material Icons"/>
                  </a:rPr>
                  <a:t>layers</a:t>
                </a:r>
                <a:endParaRPr sz="2800">
                  <a:solidFill>
                    <a:srgbClr val="7C3AED"/>
                  </a:solidFill>
                  <a:latin typeface="Material Icons"/>
                  <a:ea typeface="Material Icons"/>
                  <a:cs typeface="Material Icons"/>
                  <a:sym typeface="Material Icons"/>
                </a:endParaRPr>
              </a:p>
              <a:p>
                <a:pPr indent="0" lvl="0" marL="0" rtl="0" algn="l">
                  <a:spcBef>
                    <a:spcPts val="900"/>
                  </a:spcBef>
                  <a:spcAft>
                    <a:spcPts val="0"/>
                  </a:spcAft>
                  <a:buNone/>
                </a:pPr>
                <a:r>
                  <a:rPr b="0" lang="en-US" sz="1500">
                    <a:solidFill>
                      <a:srgbClr val="0F172A"/>
                    </a:solidFill>
                    <a:latin typeface="Plus Jakarta Sans ExtraBold"/>
                    <a:ea typeface="Plus Jakarta Sans ExtraBold"/>
                    <a:cs typeface="Plus Jakarta Sans ExtraBold"/>
                    <a:sym typeface="Plus Jakarta Sans ExtraBold"/>
                  </a:rPr>
                  <a:t>Snapshot Pre-Bakes</a:t>
                </a:r>
                <a:endParaRPr b="0" sz="15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Environment tuning is everything. Custom blueprints and pre-compiled snapshots represent the single highest-leverage improvement.</a:t>
                </a:r>
                <a:endParaRPr b="0" sz="1050">
                  <a:solidFill>
                    <a:srgbClr val="475569"/>
                  </a:solidFill>
                  <a:latin typeface="Plus Jakarta Sans"/>
                  <a:ea typeface="Plus Jakarta Sans"/>
                  <a:cs typeface="Plus Jakarta Sans"/>
                  <a:sym typeface="Plus Jakarta Sans"/>
                </a:endParaRPr>
              </a:p>
            </p:txBody>
          </p:sp>
        </p:grpSp>
        <p:grpSp>
          <p:nvGrpSpPr>
            <p:cNvPr id="1269" name="Google Shape;1269;p42"/>
            <p:cNvGrpSpPr/>
            <p:nvPr/>
          </p:nvGrpSpPr>
          <p:grpSpPr>
            <a:xfrm>
              <a:off x="8134350" y="1238250"/>
              <a:ext cx="3486300" cy="2857500"/>
              <a:chOff x="0" y="0"/>
              <a:chExt cx="3486300" cy="2857500"/>
            </a:xfrm>
          </p:grpSpPr>
          <p:sp>
            <p:nvSpPr>
              <p:cNvPr id="1270" name="Google Shape;1270;p42"/>
              <p:cNvSpPr/>
              <p:nvPr/>
            </p:nvSpPr>
            <p:spPr>
              <a:xfrm>
                <a:off x="0" y="0"/>
                <a:ext cx="3486300" cy="2857500"/>
              </a:xfrm>
              <a:prstGeom prst="roundRect">
                <a:avLst>
                  <a:gd fmla="val 4000"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1" name="Google Shape;1271;p42"/>
              <p:cNvSpPr/>
              <p:nvPr/>
            </p:nvSpPr>
            <p:spPr>
              <a:xfrm>
                <a:off x="0" y="0"/>
                <a:ext cx="3486300" cy="152400"/>
              </a:xfrm>
              <a:custGeom>
                <a:rect b="b" l="l" r="r" t="t"/>
                <a:pathLst>
                  <a:path extrusionOk="0" h="120000" w="120000">
                    <a:moveTo>
                      <a:pt x="0" y="90000"/>
                    </a:moveTo>
                    <a:cubicBezTo>
                      <a:pt x="0" y="40275"/>
                      <a:pt x="1761" y="0"/>
                      <a:pt x="3934" y="0"/>
                    </a:cubicBezTo>
                    <a:lnTo>
                      <a:pt x="116066" y="0"/>
                    </a:lnTo>
                    <a:cubicBezTo>
                      <a:pt x="118239" y="0"/>
                      <a:pt x="120000" y="40275"/>
                      <a:pt x="120000" y="90000"/>
                    </a:cubicBezTo>
                    <a:lnTo>
                      <a:pt x="120000" y="12000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2" name="Google Shape;1272;p42"/>
              <p:cNvSpPr txBox="1"/>
              <p:nvPr/>
            </p:nvSpPr>
            <p:spPr>
              <a:xfrm>
                <a:off x="228600" y="381000"/>
                <a:ext cx="3029100" cy="22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2800">
                    <a:solidFill>
                      <a:srgbClr val="0D9488"/>
                    </a:solidFill>
                    <a:latin typeface="Material Icons"/>
                    <a:ea typeface="Material Icons"/>
                    <a:cs typeface="Material Icons"/>
                    <a:sym typeface="Material Icons"/>
                  </a:rPr>
                  <a:t>psychology</a:t>
                </a:r>
                <a:endParaRPr sz="2800">
                  <a:solidFill>
                    <a:srgbClr val="0D9488"/>
                  </a:solidFill>
                  <a:latin typeface="Material Icons"/>
                  <a:ea typeface="Material Icons"/>
                  <a:cs typeface="Material Icons"/>
                  <a:sym typeface="Material Icons"/>
                </a:endParaRPr>
              </a:p>
              <a:p>
                <a:pPr indent="0" lvl="0" marL="0" rtl="0" algn="l">
                  <a:spcBef>
                    <a:spcPts val="900"/>
                  </a:spcBef>
                  <a:spcAft>
                    <a:spcPts val="0"/>
                  </a:spcAft>
                  <a:buNone/>
                </a:pPr>
                <a:r>
                  <a:rPr b="0" lang="en-US" sz="1500">
                    <a:solidFill>
                      <a:srgbClr val="0F172A"/>
                    </a:solidFill>
                    <a:latin typeface="Plus Jakarta Sans ExtraBold"/>
                    <a:ea typeface="Plus Jakarta Sans ExtraBold"/>
                    <a:cs typeface="Plus Jakarta Sans ExtraBold"/>
                    <a:sym typeface="Plus Jakarta Sans ExtraBold"/>
                  </a:rPr>
                  <a:t>Memory Compounds</a:t>
                </a:r>
                <a:endParaRPr b="0" sz="15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750"/>
                  </a:spcBef>
                  <a:spcAft>
                    <a:spcPts val="0"/>
                  </a:spcAft>
                  <a:buNone/>
                </a:pPr>
                <a:r>
                  <a:rPr b="0" lang="en-US" sz="1050">
                    <a:solidFill>
                      <a:srgbClr val="475569"/>
                    </a:solidFill>
                    <a:latin typeface="Plus Jakarta Sans"/>
                    <a:ea typeface="Plus Jakarta Sans"/>
                    <a:cs typeface="Plus Jakarta Sans"/>
                    <a:sym typeface="Plus Jakarta Sans"/>
                  </a:rPr>
                  <a:t>Persistent organization Knowledge, repository Skills, and Playbooks scale performance over time, transforming Devin into an institutional asset.</a:t>
                </a:r>
                <a:endParaRPr b="0" sz="1050">
                  <a:solidFill>
                    <a:srgbClr val="475569"/>
                  </a:solidFill>
                  <a:latin typeface="Plus Jakarta Sans"/>
                  <a:ea typeface="Plus Jakarta Sans"/>
                  <a:cs typeface="Plus Jakarta Sans"/>
                  <a:sym typeface="Plus Jakarta Sans"/>
                </a:endParaRPr>
              </a:p>
            </p:txBody>
          </p:sp>
        </p:grpSp>
      </p:grpSp>
      <p:grpSp>
        <p:nvGrpSpPr>
          <p:cNvPr id="1273" name="Google Shape;1273;p42"/>
          <p:cNvGrpSpPr/>
          <p:nvPr/>
        </p:nvGrpSpPr>
        <p:grpSpPr>
          <a:xfrm>
            <a:off x="571500" y="4381500"/>
            <a:ext cx="11049075" cy="1809600"/>
            <a:chOff x="571500" y="4381500"/>
            <a:chExt cx="11049075" cy="1809600"/>
          </a:xfrm>
        </p:grpSpPr>
        <p:grpSp>
          <p:nvGrpSpPr>
            <p:cNvPr id="1274" name="Google Shape;1274;p42"/>
            <p:cNvGrpSpPr/>
            <p:nvPr/>
          </p:nvGrpSpPr>
          <p:grpSpPr>
            <a:xfrm>
              <a:off x="571500" y="4381500"/>
              <a:ext cx="5381700" cy="1809600"/>
              <a:chOff x="0" y="0"/>
              <a:chExt cx="5381700" cy="1809600"/>
            </a:xfrm>
          </p:grpSpPr>
          <p:sp>
            <p:nvSpPr>
              <p:cNvPr id="1275" name="Google Shape;1275;p42"/>
              <p:cNvSpPr/>
              <p:nvPr/>
            </p:nvSpPr>
            <p:spPr>
              <a:xfrm>
                <a:off x="0" y="0"/>
                <a:ext cx="5381700" cy="1809600"/>
              </a:xfrm>
              <a:prstGeom prst="roundRect">
                <a:avLst>
                  <a:gd fmla="val 42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6" name="Google Shape;1276;p42"/>
              <p:cNvSpPr/>
              <p:nvPr/>
            </p:nvSpPr>
            <p:spPr>
              <a:xfrm>
                <a:off x="0" y="0"/>
                <a:ext cx="57300" cy="18096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7" name="Google Shape;1277;p42"/>
              <p:cNvSpPr txBox="1"/>
              <p:nvPr/>
            </p:nvSpPr>
            <p:spPr>
              <a:xfrm>
                <a:off x="228600" y="190500"/>
                <a:ext cx="4924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2563EB"/>
                    </a:solidFill>
                    <a:latin typeface="JetBrains Mono ExtraBold"/>
                    <a:ea typeface="JetBrains Mono ExtraBold"/>
                    <a:cs typeface="JetBrains Mono ExtraBold"/>
                    <a:sym typeface="JetBrains Mono ExtraBold"/>
                  </a:rPr>
                  <a:t>AUTOMATION &amp; SCALING</a:t>
                </a:r>
                <a:endParaRPr b="0" sz="850">
                  <a:solidFill>
                    <a:srgbClr val="2563EB"/>
                  </a:solidFill>
                  <a:latin typeface="JetBrains Mono ExtraBold"/>
                  <a:ea typeface="JetBrains Mono ExtraBold"/>
                  <a:cs typeface="JetBrains Mono ExtraBold"/>
                  <a:sym typeface="JetBrains Mono ExtraBold"/>
                </a:endParaRPr>
              </a:p>
              <a:p>
                <a:pPr indent="0" lvl="0" marL="0" rtl="0" algn="l">
                  <a:spcBef>
                    <a:spcPts val="600"/>
                  </a:spcBef>
                  <a:spcAft>
                    <a:spcPts val="0"/>
                  </a:spcAft>
                  <a:buNone/>
                </a:pPr>
                <a:r>
                  <a:rPr b="0" lang="en-US" sz="1100">
                    <a:solidFill>
                      <a:srgbClr val="475569"/>
                    </a:solidFill>
                    <a:latin typeface="Plus Jakarta Sans"/>
                    <a:ea typeface="Plus Jakarta Sans"/>
                    <a:cs typeface="Plus Jakarta Sans"/>
                    <a:sym typeface="Plus Jakarta Sans"/>
                  </a:rPr>
                  <a:t>Event-driven triggers operate 24/7 without manual run tasks. Spawning parallel child sessions converts weeks of migration sweeps into hours.</a:t>
                </a:r>
                <a:endParaRPr b="0" sz="1100">
                  <a:solidFill>
                    <a:srgbClr val="475569"/>
                  </a:solidFill>
                  <a:latin typeface="Plus Jakarta Sans"/>
                  <a:ea typeface="Plus Jakarta Sans"/>
                  <a:cs typeface="Plus Jakarta Sans"/>
                  <a:sym typeface="Plus Jakarta Sans"/>
                </a:endParaRPr>
              </a:p>
            </p:txBody>
          </p:sp>
        </p:grpSp>
        <p:grpSp>
          <p:nvGrpSpPr>
            <p:cNvPr id="1278" name="Google Shape;1278;p42"/>
            <p:cNvGrpSpPr/>
            <p:nvPr/>
          </p:nvGrpSpPr>
          <p:grpSpPr>
            <a:xfrm>
              <a:off x="6238875" y="4381500"/>
              <a:ext cx="5381700" cy="1809600"/>
              <a:chOff x="0" y="0"/>
              <a:chExt cx="5381700" cy="1809600"/>
            </a:xfrm>
          </p:grpSpPr>
          <p:sp>
            <p:nvSpPr>
              <p:cNvPr id="1279" name="Google Shape;1279;p42"/>
              <p:cNvSpPr/>
              <p:nvPr/>
            </p:nvSpPr>
            <p:spPr>
              <a:xfrm>
                <a:off x="0" y="0"/>
                <a:ext cx="5381700" cy="1809600"/>
              </a:xfrm>
              <a:prstGeom prst="roundRect">
                <a:avLst>
                  <a:gd fmla="val 421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0" name="Google Shape;1280;p42"/>
              <p:cNvSpPr/>
              <p:nvPr/>
            </p:nvSpPr>
            <p:spPr>
              <a:xfrm>
                <a:off x="0" y="0"/>
                <a:ext cx="57300" cy="18096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1" name="Google Shape;1281;p42"/>
              <p:cNvSpPr txBox="1"/>
              <p:nvPr/>
            </p:nvSpPr>
            <p:spPr>
              <a:xfrm>
                <a:off x="228600" y="190500"/>
                <a:ext cx="4924500" cy="1428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0D9488"/>
                    </a:solidFill>
                    <a:latin typeface="JetBrains Mono ExtraBold"/>
                    <a:ea typeface="JetBrains Mono ExtraBold"/>
                    <a:cs typeface="JetBrains Mono ExtraBold"/>
                    <a:sym typeface="JetBrains Mono ExtraBold"/>
                  </a:rPr>
                  <a:t>ENTERPRISE SECURITY</a:t>
                </a:r>
                <a:endParaRPr b="0" sz="850">
                  <a:solidFill>
                    <a:srgbClr val="0D9488"/>
                  </a:solidFill>
                  <a:latin typeface="JetBrains Mono ExtraBold"/>
                  <a:ea typeface="JetBrains Mono ExtraBold"/>
                  <a:cs typeface="JetBrains Mono ExtraBold"/>
                  <a:sym typeface="JetBrains Mono ExtraBold"/>
                </a:endParaRPr>
              </a:p>
              <a:p>
                <a:pPr indent="0" lvl="0" marL="0" rtl="0" algn="l">
                  <a:spcBef>
                    <a:spcPts val="600"/>
                  </a:spcBef>
                  <a:spcAft>
                    <a:spcPts val="0"/>
                  </a:spcAft>
                  <a:buNone/>
                </a:pPr>
                <a:r>
                  <a:rPr b="0" lang="en-US" sz="1100">
                    <a:solidFill>
                      <a:srgbClr val="475569"/>
                    </a:solidFill>
                    <a:latin typeface="Plus Jakarta Sans"/>
                    <a:ea typeface="Plus Jakarta Sans"/>
                    <a:cs typeface="Plus Jakarta Sans"/>
                    <a:sym typeface="Plus Jakarta Sans"/>
                  </a:rPr>
                  <a:t>SSO connections, RBAC customized roles, and IP Access filters provide secure environment compliance. Human review remains essential.</a:t>
                </a:r>
                <a:endParaRPr b="0" sz="1100">
                  <a:solidFill>
                    <a:srgbClr val="475569"/>
                  </a:solidFill>
                  <a:latin typeface="Plus Jakarta Sans"/>
                  <a:ea typeface="Plus Jakarta Sans"/>
                  <a:cs typeface="Plus Jakarta Sans"/>
                  <a:sym typeface="Plus Jakarta Sans"/>
                </a:endParaRPr>
              </a:p>
            </p:txBody>
          </p:sp>
        </p:grpSp>
      </p:grpSp>
      <p:sp>
        <p:nvSpPr>
          <p:cNvPr id="1282" name="Google Shape;1282;p42"/>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Key Takeaways</a:t>
            </a:r>
            <a:endParaRPr/>
          </a:p>
        </p:txBody>
      </p:sp>
      <p:sp>
        <p:nvSpPr>
          <p:cNvPr id="1283" name="Google Shape;1283;p42"/>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7" name="Shape 1287"/>
        <p:cNvGrpSpPr/>
        <p:nvPr/>
      </p:nvGrpSpPr>
      <p:grpSpPr>
        <a:xfrm>
          <a:off x="0" y="0"/>
          <a:ext cx="0" cy="0"/>
          <a:chOff x="0" y="0"/>
          <a:chExt cx="0" cy="0"/>
        </a:xfrm>
      </p:grpSpPr>
      <p:pic>
        <p:nvPicPr>
          <p:cNvPr descr="image.png" id="1288" name="Google Shape;1288;p43"/>
          <p:cNvPicPr preferRelativeResize="0"/>
          <p:nvPr/>
        </p:nvPicPr>
        <p:blipFill rotWithShape="1">
          <a:blip r:embed="rId3">
            <a:alphaModFix/>
          </a:blip>
          <a:srcRect b="0" l="0" r="0" t="0"/>
          <a:stretch/>
        </p:blipFill>
        <p:spPr>
          <a:xfrm>
            <a:off x="0" y="0"/>
            <a:ext cx="12192000" cy="6858000"/>
          </a:xfrm>
          <a:prstGeom prst="rect">
            <a:avLst/>
          </a:prstGeom>
          <a:noFill/>
          <a:ln>
            <a:noFill/>
          </a:ln>
        </p:spPr>
      </p:pic>
      <p:grpSp>
        <p:nvGrpSpPr>
          <p:cNvPr id="1289" name="Google Shape;1289;p43"/>
          <p:cNvGrpSpPr/>
          <p:nvPr/>
        </p:nvGrpSpPr>
        <p:grpSpPr>
          <a:xfrm>
            <a:off x="1790700" y="1447800"/>
            <a:ext cx="8610600" cy="152400"/>
            <a:chOff x="1790700" y="1447800"/>
            <a:chExt cx="8610600" cy="152400"/>
          </a:xfrm>
        </p:grpSpPr>
        <p:cxnSp>
          <p:nvCxnSpPr>
            <p:cNvPr id="1290" name="Google Shape;1290;p43"/>
            <p:cNvCxnSpPr/>
            <p:nvPr/>
          </p:nvCxnSpPr>
          <p:spPr>
            <a:xfrm>
              <a:off x="1866900" y="1524000"/>
              <a:ext cx="8458200" cy="0"/>
            </a:xfrm>
            <a:prstGeom prst="straightConnector1">
              <a:avLst/>
            </a:prstGeom>
            <a:solidFill>
              <a:srgbClr val="FFFFFF"/>
            </a:solidFill>
            <a:ln cap="flat" cmpd="sng" w="28575">
              <a:solidFill>
                <a:srgbClr val="E2E8F0"/>
              </a:solidFill>
              <a:prstDash val="solid"/>
              <a:round/>
              <a:headEnd len="sm" w="sm" type="none"/>
              <a:tailEnd len="sm" w="sm" type="none"/>
            </a:ln>
          </p:spPr>
        </p:cxnSp>
        <p:sp>
          <p:nvSpPr>
            <p:cNvPr id="1291" name="Google Shape;1291;p43"/>
            <p:cNvSpPr/>
            <p:nvPr/>
          </p:nvSpPr>
          <p:spPr>
            <a:xfrm>
              <a:off x="1790700" y="1447800"/>
              <a:ext cx="152400" cy="152400"/>
            </a:xfrm>
            <a:prstGeom prst="ellipse">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2" name="Google Shape;1292;p43"/>
            <p:cNvSpPr/>
            <p:nvPr/>
          </p:nvSpPr>
          <p:spPr>
            <a:xfrm>
              <a:off x="4610100" y="1447800"/>
              <a:ext cx="152400" cy="152400"/>
            </a:xfrm>
            <a:prstGeom prst="ellipse">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3" name="Google Shape;1293;p43"/>
            <p:cNvSpPr/>
            <p:nvPr/>
          </p:nvSpPr>
          <p:spPr>
            <a:xfrm>
              <a:off x="7429500" y="1447800"/>
              <a:ext cx="152400" cy="152400"/>
            </a:xfrm>
            <a:prstGeom prst="ellipse">
              <a:avLst/>
            </a:prstGeom>
            <a:solidFill>
              <a:srgbClr val="4F46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4" name="Google Shape;1294;p43"/>
            <p:cNvSpPr/>
            <p:nvPr/>
          </p:nvSpPr>
          <p:spPr>
            <a:xfrm>
              <a:off x="10248900" y="1447800"/>
              <a:ext cx="152400" cy="152400"/>
            </a:xfrm>
            <a:prstGeom prst="ellipse">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95" name="Google Shape;1295;p43"/>
          <p:cNvGrpSpPr/>
          <p:nvPr/>
        </p:nvGrpSpPr>
        <p:grpSpPr>
          <a:xfrm>
            <a:off x="571500" y="1809750"/>
            <a:ext cx="2590800" cy="3619500"/>
            <a:chOff x="0" y="0"/>
            <a:chExt cx="2590800" cy="3619500"/>
          </a:xfrm>
        </p:grpSpPr>
        <p:sp>
          <p:nvSpPr>
            <p:cNvPr id="1296" name="Google Shape;1296;p43"/>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7" name="Google Shape;1297;p43"/>
            <p:cNvSpPr/>
            <p:nvPr/>
          </p:nvSpPr>
          <p:spPr>
            <a:xfrm>
              <a:off x="0" y="0"/>
              <a:ext cx="2590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8" name="Google Shape;1298;p43"/>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2563EB"/>
                  </a:solidFill>
                  <a:latin typeface="Plus Jakarta Sans ExtraBold"/>
                  <a:ea typeface="Plus Jakarta Sans ExtraBold"/>
                  <a:cs typeface="Plus Jakarta Sans ExtraBold"/>
                  <a:sym typeface="Plus Jakarta Sans ExtraBold"/>
                </a:rPr>
                <a:t>01</a:t>
              </a:r>
              <a:endParaRPr b="0" sz="2800">
                <a:solidFill>
                  <a:srgbClr val="2563EB"/>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2563EB"/>
                  </a:solidFill>
                  <a:highlight>
                    <a:srgbClr val="EFF6FF"/>
                  </a:highlight>
                  <a:latin typeface="JetBrains Mono"/>
                  <a:ea typeface="JetBrains Mono"/>
                  <a:cs typeface="JetBrains Mono"/>
                  <a:sym typeface="JetBrains Mono"/>
                </a:rPr>
                <a:t>WEEKS 1 - 4</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Foundation</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Connect source control. Pre-bake environment snapshots. Deploy AGENTS.md rules. Run 2–5 pilot team devs.</a:t>
              </a:r>
              <a:endParaRPr b="0" sz="1000">
                <a:solidFill>
                  <a:srgbClr val="475569"/>
                </a:solidFill>
                <a:latin typeface="Plus Jakarta Sans"/>
                <a:ea typeface="Plus Jakarta Sans"/>
                <a:cs typeface="Plus Jakarta Sans"/>
                <a:sym typeface="Plus Jakarta Sans"/>
              </a:endParaRPr>
            </a:p>
          </p:txBody>
        </p:sp>
      </p:grpSp>
      <p:grpSp>
        <p:nvGrpSpPr>
          <p:cNvPr id="1299" name="Google Shape;1299;p43"/>
          <p:cNvGrpSpPr/>
          <p:nvPr/>
        </p:nvGrpSpPr>
        <p:grpSpPr>
          <a:xfrm>
            <a:off x="3390900" y="1809750"/>
            <a:ext cx="2590800" cy="3619500"/>
            <a:chOff x="0" y="0"/>
            <a:chExt cx="2590800" cy="3619500"/>
          </a:xfrm>
        </p:grpSpPr>
        <p:sp>
          <p:nvSpPr>
            <p:cNvPr id="1300" name="Google Shape;1300;p43"/>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1" name="Google Shape;1301;p43"/>
            <p:cNvSpPr/>
            <p:nvPr/>
          </p:nvSpPr>
          <p:spPr>
            <a:xfrm>
              <a:off x="0" y="0"/>
              <a:ext cx="2590800" cy="573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2" name="Google Shape;1302;p43"/>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7C3AED"/>
                  </a:solidFill>
                  <a:latin typeface="Plus Jakarta Sans ExtraBold"/>
                  <a:ea typeface="Plus Jakarta Sans ExtraBold"/>
                  <a:cs typeface="Plus Jakarta Sans ExtraBold"/>
                  <a:sym typeface="Plus Jakarta Sans ExtraBold"/>
                </a:rPr>
                <a:t>02</a:t>
              </a:r>
              <a:endParaRPr b="0" sz="2800">
                <a:solidFill>
                  <a:srgbClr val="7C3AED"/>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7C3AED"/>
                  </a:solidFill>
                  <a:highlight>
                    <a:srgbClr val="F3E8FF"/>
                  </a:highlight>
                  <a:latin typeface="JetBrains Mono"/>
                  <a:ea typeface="JetBrains Mono"/>
                  <a:cs typeface="JetBrains Mono"/>
                  <a:sym typeface="JetBrains Mono"/>
                </a:rPr>
                <a:t>WEEKS 5 - 8</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Workflow Integration</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Build task Playbooks. Setup automated CI check failure webhooks. Connect Datadog &amp; Sentry MCP triggers.</a:t>
              </a:r>
              <a:endParaRPr b="0" sz="1000">
                <a:solidFill>
                  <a:srgbClr val="475569"/>
                </a:solidFill>
                <a:latin typeface="Plus Jakarta Sans"/>
                <a:ea typeface="Plus Jakarta Sans"/>
                <a:cs typeface="Plus Jakarta Sans"/>
                <a:sym typeface="Plus Jakarta Sans"/>
              </a:endParaRPr>
            </a:p>
          </p:txBody>
        </p:sp>
      </p:grpSp>
      <p:grpSp>
        <p:nvGrpSpPr>
          <p:cNvPr id="1303" name="Google Shape;1303;p43"/>
          <p:cNvGrpSpPr/>
          <p:nvPr/>
        </p:nvGrpSpPr>
        <p:grpSpPr>
          <a:xfrm>
            <a:off x="6210300" y="1809750"/>
            <a:ext cx="2590800" cy="3619500"/>
            <a:chOff x="0" y="0"/>
            <a:chExt cx="2590800" cy="3619500"/>
          </a:xfrm>
        </p:grpSpPr>
        <p:sp>
          <p:nvSpPr>
            <p:cNvPr id="1304" name="Google Shape;1304;p43"/>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5" name="Google Shape;1305;p43"/>
            <p:cNvSpPr/>
            <p:nvPr/>
          </p:nvSpPr>
          <p:spPr>
            <a:xfrm>
              <a:off x="0" y="0"/>
              <a:ext cx="2590800" cy="57300"/>
            </a:xfrm>
            <a:prstGeom prst="roundRect">
              <a:avLst>
                <a:gd fmla="val 50000" name="adj"/>
              </a:avLst>
            </a:prstGeom>
            <a:solidFill>
              <a:srgbClr val="4F46E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6" name="Google Shape;1306;p43"/>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4F46E5"/>
                  </a:solidFill>
                  <a:latin typeface="Plus Jakarta Sans ExtraBold"/>
                  <a:ea typeface="Plus Jakarta Sans ExtraBold"/>
                  <a:cs typeface="Plus Jakarta Sans ExtraBold"/>
                  <a:sym typeface="Plus Jakarta Sans ExtraBold"/>
                </a:rPr>
                <a:t>03</a:t>
              </a:r>
              <a:endParaRPr b="0" sz="2800">
                <a:solidFill>
                  <a:srgbClr val="4F46E5"/>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4F46E5"/>
                  </a:solidFill>
                  <a:highlight>
                    <a:srgbClr val="EEF2FF"/>
                  </a:highlight>
                  <a:latin typeface="JetBrains Mono"/>
                  <a:ea typeface="JetBrains Mono"/>
                  <a:cs typeface="JetBrains Mono"/>
                  <a:sym typeface="JetBrains Mono"/>
                </a:rPr>
                <a:t>WEEKS 9 - 16</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Enterprise Rollout</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Configure global Enterprise blueprints. Bind identity SSO groups. Establish ACU limits per organization.</a:t>
              </a:r>
              <a:endParaRPr b="0" sz="1000">
                <a:solidFill>
                  <a:srgbClr val="475569"/>
                </a:solidFill>
                <a:latin typeface="Plus Jakarta Sans"/>
                <a:ea typeface="Plus Jakarta Sans"/>
                <a:cs typeface="Plus Jakarta Sans"/>
                <a:sym typeface="Plus Jakarta Sans"/>
              </a:endParaRPr>
            </a:p>
          </p:txBody>
        </p:sp>
      </p:grpSp>
      <p:grpSp>
        <p:nvGrpSpPr>
          <p:cNvPr id="1307" name="Google Shape;1307;p43"/>
          <p:cNvGrpSpPr/>
          <p:nvPr/>
        </p:nvGrpSpPr>
        <p:grpSpPr>
          <a:xfrm>
            <a:off x="9029700" y="1809750"/>
            <a:ext cx="2590800" cy="3619500"/>
            <a:chOff x="0" y="0"/>
            <a:chExt cx="2590800" cy="3619500"/>
          </a:xfrm>
        </p:grpSpPr>
        <p:sp>
          <p:nvSpPr>
            <p:cNvPr id="1308" name="Google Shape;1308;p43"/>
            <p:cNvSpPr/>
            <p:nvPr/>
          </p:nvSpPr>
          <p:spPr>
            <a:xfrm>
              <a:off x="0" y="0"/>
              <a:ext cx="2590800" cy="3619500"/>
            </a:xfrm>
            <a:prstGeom prst="roundRect">
              <a:avLst>
                <a:gd fmla="val 4411"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9" name="Google Shape;1309;p43"/>
            <p:cNvSpPr/>
            <p:nvPr/>
          </p:nvSpPr>
          <p:spPr>
            <a:xfrm>
              <a:off x="0" y="0"/>
              <a:ext cx="25908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0" name="Google Shape;1310;p43"/>
            <p:cNvSpPr txBox="1"/>
            <p:nvPr/>
          </p:nvSpPr>
          <p:spPr>
            <a:xfrm>
              <a:off x="0" y="57150"/>
              <a:ext cx="2590800" cy="3562200"/>
            </a:xfrm>
            <a:prstGeom prst="rect">
              <a:avLst/>
            </a:prstGeom>
            <a:noFill/>
            <a:ln>
              <a:noFill/>
            </a:ln>
          </p:spPr>
          <p:txBody>
            <a:bodyPr anchorCtr="0" anchor="t" bIns="228600" lIns="228600" spcFirstLastPara="1" rIns="228600" wrap="square" tIns="228600">
              <a:noAutofit/>
            </a:bodyPr>
            <a:lstStyle/>
            <a:p>
              <a:pPr indent="0" lvl="0" marL="0" rtl="0" algn="l">
                <a:spcBef>
                  <a:spcPts val="0"/>
                </a:spcBef>
                <a:spcAft>
                  <a:spcPts val="0"/>
                </a:spcAft>
                <a:buNone/>
              </a:pPr>
              <a:r>
                <a:rPr b="0" lang="en-US" sz="2800">
                  <a:solidFill>
                    <a:srgbClr val="0D9488"/>
                  </a:solidFill>
                  <a:latin typeface="Plus Jakarta Sans ExtraBold"/>
                  <a:ea typeface="Plus Jakarta Sans ExtraBold"/>
                  <a:cs typeface="Plus Jakarta Sans ExtraBold"/>
                  <a:sym typeface="Plus Jakarta Sans ExtraBold"/>
                </a:rPr>
                <a:t>04</a:t>
              </a:r>
              <a:endParaRPr b="0" sz="2800">
                <a:solidFill>
                  <a:srgbClr val="0D9488"/>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1" lang="en-US" sz="750">
                  <a:solidFill>
                    <a:srgbClr val="0D9488"/>
                  </a:solidFill>
                  <a:latin typeface="JetBrains Mono"/>
                  <a:ea typeface="JetBrains Mono"/>
                  <a:cs typeface="JetBrains Mono"/>
                  <a:sym typeface="JetBrains Mono"/>
                </a:rPr>
                <a:t>ONGOING</a:t>
              </a:r>
              <a:endParaRPr>
                <a:latin typeface="Plus Jakarta Sans"/>
                <a:ea typeface="Plus Jakarta Sans"/>
                <a:cs typeface="Plus Jakarta Sans"/>
                <a:sym typeface="Plus Jakarta Sans"/>
              </a:endParaRPr>
            </a:p>
            <a:p>
              <a:pPr indent="0" lvl="0" marL="0" rtl="0" algn="l">
                <a:spcBef>
                  <a:spcPts val="1500"/>
                </a:spcBef>
                <a:spcAft>
                  <a:spcPts val="0"/>
                </a:spcAft>
                <a:buNone/>
              </a:pPr>
              <a:r>
                <a:rPr b="0" lang="en-US" sz="1300">
                  <a:solidFill>
                    <a:srgbClr val="0F172A"/>
                  </a:solidFill>
                  <a:latin typeface="Plus Jakarta Sans ExtraBold"/>
                  <a:ea typeface="Plus Jakarta Sans ExtraBold"/>
                  <a:cs typeface="Plus Jakarta Sans ExtraBold"/>
                  <a:sym typeface="Plus Jakarta Sans ExtraBold"/>
                </a:rPr>
                <a:t>Scale &amp; Optimize</a:t>
              </a:r>
              <a:endParaRPr b="0" sz="1300">
                <a:solidFill>
                  <a:srgbClr val="0F172A"/>
                </a:solidFill>
                <a:latin typeface="Plus Jakarta Sans ExtraBold"/>
                <a:ea typeface="Plus Jakarta Sans ExtraBold"/>
                <a:cs typeface="Plus Jakarta Sans ExtraBold"/>
                <a:sym typeface="Plus Jakarta Sans ExtraBold"/>
              </a:endParaRPr>
            </a:p>
            <a:p>
              <a:pPr indent="0" lvl="0" marL="0" rtl="0" algn="l">
                <a:spcBef>
                  <a:spcPts val="600"/>
                </a:spcBef>
                <a:spcAft>
                  <a:spcPts val="0"/>
                </a:spcAft>
                <a:buNone/>
              </a:pPr>
              <a:r>
                <a:rPr b="0" lang="en-US" sz="1000">
                  <a:solidFill>
                    <a:srgbClr val="475569"/>
                  </a:solidFill>
                  <a:latin typeface="Plus Jakarta Sans"/>
                  <a:ea typeface="Plus Jakarta Sans"/>
                  <a:cs typeface="Plus Jakarta Sans"/>
                  <a:sym typeface="Plus Jakarta Sans"/>
                </a:rPr>
                <a:t>Orchestrate Managed Coordinator sessions for large sweeps. Refine Playbook specs based on failed logs.</a:t>
              </a:r>
              <a:endParaRPr b="0" sz="1000">
                <a:solidFill>
                  <a:srgbClr val="475569"/>
                </a:solidFill>
                <a:latin typeface="Plus Jakarta Sans"/>
                <a:ea typeface="Plus Jakarta Sans"/>
                <a:cs typeface="Plus Jakarta Sans"/>
                <a:sym typeface="Plus Jakarta Sans"/>
              </a:endParaRPr>
            </a:p>
          </p:txBody>
        </p:sp>
      </p:grpSp>
      <p:pic>
        <p:nvPicPr>
          <p:cNvPr descr="image.png" id="1311" name="Google Shape;1311;p43"/>
          <p:cNvPicPr preferRelativeResize="0"/>
          <p:nvPr/>
        </p:nvPicPr>
        <p:blipFill rotWithShape="1">
          <a:blip r:embed="rId4">
            <a:alphaModFix/>
          </a:blip>
          <a:srcRect b="0" l="0" r="0" t="0"/>
          <a:stretch/>
        </p:blipFill>
        <p:spPr>
          <a:xfrm>
            <a:off x="571500" y="457200"/>
            <a:ext cx="895498" cy="200025"/>
          </a:xfrm>
          <a:prstGeom prst="rect">
            <a:avLst/>
          </a:prstGeom>
          <a:noFill/>
          <a:ln>
            <a:noFill/>
          </a:ln>
        </p:spPr>
      </p:pic>
      <p:sp>
        <p:nvSpPr>
          <p:cNvPr id="1312" name="Google Shape;1312;p43"/>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Adoption Roadmap</a:t>
            </a:r>
            <a:endParaRPr/>
          </a:p>
        </p:txBody>
      </p:sp>
      <p:sp>
        <p:nvSpPr>
          <p:cNvPr id="1313" name="Google Shape;1313;p43"/>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7" name="Shape 1317"/>
        <p:cNvGrpSpPr/>
        <p:nvPr/>
      </p:nvGrpSpPr>
      <p:grpSpPr>
        <a:xfrm>
          <a:off x="0" y="0"/>
          <a:ext cx="0" cy="0"/>
          <a:chOff x="0" y="0"/>
          <a:chExt cx="0" cy="0"/>
        </a:xfrm>
      </p:grpSpPr>
      <p:pic>
        <p:nvPicPr>
          <p:cNvPr id="1318" name="Google Shape;1318;p44"/>
          <p:cNvPicPr preferRelativeResize="0"/>
          <p:nvPr/>
        </p:nvPicPr>
        <p:blipFill rotWithShape="1">
          <a:blip r:embed="rId4">
            <a:alphaModFix/>
          </a:blip>
          <a:srcRect b="0" l="524" r="524" t="0"/>
          <a:stretch/>
        </p:blipFill>
        <p:spPr>
          <a:xfrm>
            <a:off x="571500" y="457200"/>
            <a:ext cx="895500" cy="200100"/>
          </a:xfrm>
          <a:prstGeom prst="rect">
            <a:avLst/>
          </a:prstGeom>
          <a:noFill/>
          <a:ln>
            <a:noFill/>
          </a:ln>
        </p:spPr>
      </p:pic>
      <p:grpSp>
        <p:nvGrpSpPr>
          <p:cNvPr id="1319" name="Google Shape;1319;p44"/>
          <p:cNvGrpSpPr/>
          <p:nvPr/>
        </p:nvGrpSpPr>
        <p:grpSpPr>
          <a:xfrm>
            <a:off x="571500" y="1333500"/>
            <a:ext cx="6191400" cy="914400"/>
            <a:chOff x="0" y="0"/>
            <a:chExt cx="6191400" cy="914400"/>
          </a:xfrm>
        </p:grpSpPr>
        <p:sp>
          <p:nvSpPr>
            <p:cNvPr id="1320" name="Google Shape;1320;p44"/>
            <p:cNvSpPr/>
            <p:nvPr/>
          </p:nvSpPr>
          <p:spPr>
            <a:xfrm>
              <a:off x="0" y="0"/>
              <a:ext cx="61914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1" name="Google Shape;1321;p44"/>
            <p:cNvSpPr/>
            <p:nvPr/>
          </p:nvSpPr>
          <p:spPr>
            <a:xfrm>
              <a:off x="0" y="0"/>
              <a:ext cx="57300" cy="9144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2" name="Google Shape;1322;p44"/>
            <p:cNvSpPr txBox="1"/>
            <p:nvPr/>
          </p:nvSpPr>
          <p:spPr>
            <a:xfrm>
              <a:off x="228600" y="152400"/>
              <a:ext cx="5734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2563EB"/>
                  </a:solidFill>
                  <a:latin typeface="JetBrains Mono"/>
                  <a:ea typeface="JetBrains Mono"/>
                  <a:cs typeface="JetBrains Mono"/>
                  <a:sym typeface="JetBrains Mono"/>
                </a:rPr>
                <a:t>IDENTITY &amp; ROLE SECURITY (SSO)</a:t>
              </a:r>
              <a:endParaRPr b="1" sz="850">
                <a:solidFill>
                  <a:srgbClr val="2563EB"/>
                </a:solidFill>
                <a:latin typeface="JetBrains Mono"/>
                <a:ea typeface="JetBrains Mono"/>
                <a:cs typeface="JetBrains Mono"/>
                <a:sym typeface="JetBrains Mono"/>
              </a:endParaRPr>
            </a:p>
            <a:p>
              <a:pPr indent="0" lvl="0" marL="0" rtl="0" algn="l">
                <a:spcBef>
                  <a:spcPts val="300"/>
                </a:spcBef>
                <a:spcAft>
                  <a:spcPts val="0"/>
                </a:spcAft>
                <a:buNone/>
              </a:pPr>
              <a:r>
                <a:rPr b="0" lang="en-US" sz="1000">
                  <a:solidFill>
                    <a:srgbClr val="475569"/>
                  </a:solidFill>
                  <a:latin typeface="Plus Jakarta Sans"/>
                  <a:ea typeface="Plus Jakarta Sans"/>
                  <a:cs typeface="Plus Jakarta Sans"/>
                  <a:sym typeface="Plus Jakarta Sans"/>
                </a:rPr>
                <a:t>Entra ID / Okta group mappings automatically provision access. Role-Based Access Control regulates feature permissions.</a:t>
              </a:r>
              <a:endParaRPr b="0" sz="1000">
                <a:solidFill>
                  <a:srgbClr val="475569"/>
                </a:solidFill>
                <a:latin typeface="Plus Jakarta Sans"/>
                <a:ea typeface="Plus Jakarta Sans"/>
                <a:cs typeface="Plus Jakarta Sans"/>
                <a:sym typeface="Plus Jakarta Sans"/>
              </a:endParaRPr>
            </a:p>
          </p:txBody>
        </p:sp>
      </p:grpSp>
      <p:grpSp>
        <p:nvGrpSpPr>
          <p:cNvPr id="1323" name="Google Shape;1323;p44"/>
          <p:cNvGrpSpPr/>
          <p:nvPr/>
        </p:nvGrpSpPr>
        <p:grpSpPr>
          <a:xfrm>
            <a:off x="571500" y="2438400"/>
            <a:ext cx="6191400" cy="914400"/>
            <a:chOff x="0" y="0"/>
            <a:chExt cx="6191400" cy="914400"/>
          </a:xfrm>
        </p:grpSpPr>
        <p:sp>
          <p:nvSpPr>
            <p:cNvPr id="1324" name="Google Shape;1324;p44"/>
            <p:cNvSpPr/>
            <p:nvPr/>
          </p:nvSpPr>
          <p:spPr>
            <a:xfrm>
              <a:off x="0" y="0"/>
              <a:ext cx="61914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5" name="Google Shape;1325;p44"/>
            <p:cNvSpPr/>
            <p:nvPr/>
          </p:nvSpPr>
          <p:spPr>
            <a:xfrm>
              <a:off x="0" y="0"/>
              <a:ext cx="57300" cy="914400"/>
            </a:xfrm>
            <a:prstGeom prst="roundRect">
              <a:avLst>
                <a:gd fmla="val 50000" name="adj"/>
              </a:avLst>
            </a:prstGeom>
            <a:solidFill>
              <a:srgbClr val="7C3AED"/>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6" name="Google Shape;1326;p44"/>
            <p:cNvSpPr txBox="1"/>
            <p:nvPr/>
          </p:nvSpPr>
          <p:spPr>
            <a:xfrm>
              <a:off x="228600" y="152400"/>
              <a:ext cx="5734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7C3AED"/>
                  </a:solidFill>
                  <a:latin typeface="JetBrains Mono"/>
                  <a:ea typeface="JetBrains Mono"/>
                  <a:cs typeface="JetBrains Mono"/>
                  <a:sym typeface="JetBrains Mono"/>
                </a:rPr>
                <a:t>ADDITIVE ENVIRONMENT STACK</a:t>
              </a:r>
              <a:endParaRPr b="1" sz="850">
                <a:solidFill>
                  <a:srgbClr val="7C3AED"/>
                </a:solidFill>
                <a:latin typeface="JetBrains Mono"/>
                <a:ea typeface="JetBrains Mono"/>
                <a:cs typeface="JetBrains Mono"/>
                <a:sym typeface="JetBrains Mono"/>
              </a:endParaRPr>
            </a:p>
            <a:p>
              <a:pPr indent="0" lvl="0" marL="0" rtl="0" algn="l">
                <a:spcBef>
                  <a:spcPts val="300"/>
                </a:spcBef>
                <a:spcAft>
                  <a:spcPts val="0"/>
                </a:spcAft>
                <a:buNone/>
              </a:pPr>
              <a:r>
                <a:rPr b="0" lang="en-US" sz="1000">
                  <a:solidFill>
                    <a:srgbClr val="475569"/>
                  </a:solidFill>
                  <a:latin typeface="Plus Jakarta Sans"/>
                  <a:ea typeface="Plus Jakarta Sans"/>
                  <a:cs typeface="Plus Jakarta Sans"/>
                  <a:sym typeface="Plus Jakarta Sans"/>
                </a:rPr>
                <a:t>Global blueprints feed down to Org lints and Repo setups. Secrets remain housed in protected dashboards.</a:t>
              </a:r>
              <a:endParaRPr b="0" sz="1000">
                <a:solidFill>
                  <a:srgbClr val="475569"/>
                </a:solidFill>
                <a:latin typeface="Plus Jakarta Sans"/>
                <a:ea typeface="Plus Jakarta Sans"/>
                <a:cs typeface="Plus Jakarta Sans"/>
                <a:sym typeface="Plus Jakarta Sans"/>
              </a:endParaRPr>
            </a:p>
          </p:txBody>
        </p:sp>
      </p:grpSp>
      <p:grpSp>
        <p:nvGrpSpPr>
          <p:cNvPr id="1327" name="Google Shape;1327;p44"/>
          <p:cNvGrpSpPr/>
          <p:nvPr/>
        </p:nvGrpSpPr>
        <p:grpSpPr>
          <a:xfrm>
            <a:off x="571500" y="3543300"/>
            <a:ext cx="6191400" cy="914400"/>
            <a:chOff x="0" y="0"/>
            <a:chExt cx="6191400" cy="914400"/>
          </a:xfrm>
        </p:grpSpPr>
        <p:sp>
          <p:nvSpPr>
            <p:cNvPr id="1328" name="Google Shape;1328;p44"/>
            <p:cNvSpPr/>
            <p:nvPr/>
          </p:nvSpPr>
          <p:spPr>
            <a:xfrm>
              <a:off x="0" y="0"/>
              <a:ext cx="6191400" cy="914400"/>
            </a:xfrm>
            <a:prstGeom prst="roundRect">
              <a:avLst>
                <a:gd fmla="val 833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9" name="Google Shape;1329;p44"/>
            <p:cNvSpPr/>
            <p:nvPr/>
          </p:nvSpPr>
          <p:spPr>
            <a:xfrm>
              <a:off x="0" y="0"/>
              <a:ext cx="57300" cy="9144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0" name="Google Shape;1330;p44"/>
            <p:cNvSpPr txBox="1"/>
            <p:nvPr/>
          </p:nvSpPr>
          <p:spPr>
            <a:xfrm>
              <a:off x="228600" y="152400"/>
              <a:ext cx="5734200" cy="609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0D9488"/>
                  </a:solidFill>
                  <a:latin typeface="JetBrains Mono"/>
                  <a:ea typeface="JetBrains Mono"/>
                  <a:cs typeface="JetBrains Mono"/>
                  <a:sym typeface="JetBrains Mono"/>
                </a:rPr>
                <a:t>NETWORK &amp; COST GOVERNANCE</a:t>
              </a:r>
              <a:endParaRPr b="1" sz="850">
                <a:solidFill>
                  <a:srgbClr val="0D9488"/>
                </a:solidFill>
                <a:latin typeface="JetBrains Mono"/>
                <a:ea typeface="JetBrains Mono"/>
                <a:cs typeface="JetBrains Mono"/>
                <a:sym typeface="JetBrains Mono"/>
              </a:endParaRPr>
            </a:p>
            <a:p>
              <a:pPr indent="0" lvl="0" marL="0" rtl="0" algn="l">
                <a:spcBef>
                  <a:spcPts val="300"/>
                </a:spcBef>
                <a:spcAft>
                  <a:spcPts val="0"/>
                </a:spcAft>
                <a:buNone/>
              </a:pPr>
              <a:r>
                <a:rPr b="0" lang="en-US" sz="1000">
                  <a:solidFill>
                    <a:srgbClr val="475569"/>
                  </a:solidFill>
                  <a:latin typeface="Plus Jakarta Sans"/>
                  <a:ea typeface="Plus Jakarta Sans"/>
                  <a:cs typeface="Plus Jakarta Sans"/>
                  <a:sym typeface="Plus Jakarta Sans"/>
                </a:rPr>
                <a:t>IP Access lists configure private boundaries. Explicit ACU spend metrics manage billing quotas across products.</a:t>
              </a:r>
              <a:endParaRPr b="0" sz="1000">
                <a:solidFill>
                  <a:srgbClr val="475569"/>
                </a:solidFill>
                <a:latin typeface="Plus Jakarta Sans"/>
                <a:ea typeface="Plus Jakarta Sans"/>
                <a:cs typeface="Plus Jakarta Sans"/>
                <a:sym typeface="Plus Jakarta Sans"/>
              </a:endParaRPr>
            </a:p>
          </p:txBody>
        </p:sp>
      </p:grpSp>
      <p:grpSp>
        <p:nvGrpSpPr>
          <p:cNvPr id="1331" name="Google Shape;1331;p44"/>
          <p:cNvGrpSpPr/>
          <p:nvPr/>
        </p:nvGrpSpPr>
        <p:grpSpPr>
          <a:xfrm>
            <a:off x="7143750" y="1333500"/>
            <a:ext cx="4476900" cy="3124200"/>
            <a:chOff x="0" y="0"/>
            <a:chExt cx="4476900" cy="3124200"/>
          </a:xfrm>
        </p:grpSpPr>
        <p:sp>
          <p:nvSpPr>
            <p:cNvPr id="1332" name="Google Shape;1332;p44"/>
            <p:cNvSpPr/>
            <p:nvPr/>
          </p:nvSpPr>
          <p:spPr>
            <a:xfrm>
              <a:off x="0" y="0"/>
              <a:ext cx="4476900" cy="3124200"/>
            </a:xfrm>
            <a:prstGeom prst="roundRect">
              <a:avLst>
                <a:gd fmla="val 4878"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3" name="Google Shape;1333;p44"/>
            <p:cNvSpPr/>
            <p:nvPr/>
          </p:nvSpPr>
          <p:spPr>
            <a:xfrm>
              <a:off x="0" y="0"/>
              <a:ext cx="4476900" cy="228600"/>
            </a:xfrm>
            <a:custGeom>
              <a:rect b="b" l="l" r="r" t="t"/>
              <a:pathLst>
                <a:path extrusionOk="0" h="120000" w="120000">
                  <a:moveTo>
                    <a:pt x="0" y="80000"/>
                  </a:moveTo>
                  <a:cubicBezTo>
                    <a:pt x="0" y="35800"/>
                    <a:pt x="1828" y="0"/>
                    <a:pt x="4085" y="0"/>
                  </a:cubicBezTo>
                  <a:lnTo>
                    <a:pt x="115915" y="0"/>
                  </a:lnTo>
                  <a:cubicBezTo>
                    <a:pt x="118172" y="0"/>
                    <a:pt x="120000" y="35800"/>
                    <a:pt x="120000" y="80000"/>
                  </a:cubicBezTo>
                  <a:lnTo>
                    <a:pt x="120000" y="120000"/>
                  </a:lnTo>
                  <a:lnTo>
                    <a:pt x="0" y="120000"/>
                  </a:lnTo>
                  <a:close/>
                </a:path>
              </a:pathLst>
            </a:cu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4" name="Google Shape;1334;p44"/>
            <p:cNvSpPr/>
            <p:nvPr/>
          </p:nvSpPr>
          <p:spPr>
            <a:xfrm>
              <a:off x="1381125" y="457200"/>
              <a:ext cx="1714500" cy="247800"/>
            </a:xfrm>
            <a:prstGeom prst="roundRect">
              <a:avLst>
                <a:gd fmla="val 50000"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5" name="Google Shape;1335;p44"/>
            <p:cNvSpPr txBox="1"/>
            <p:nvPr/>
          </p:nvSpPr>
          <p:spPr>
            <a:xfrm>
              <a:off x="1381125" y="457200"/>
              <a:ext cx="17145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750">
                  <a:solidFill>
                    <a:srgbClr val="2563EB"/>
                  </a:solidFill>
                  <a:latin typeface="JetBrains Mono ExtraBold"/>
                  <a:ea typeface="JetBrains Mono ExtraBold"/>
                  <a:cs typeface="JetBrains Mono ExtraBold"/>
                  <a:sym typeface="JetBrains Mono ExtraBold"/>
                </a:rPr>
                <a:t>DEPLOY DEVIN SECURELY</a:t>
              </a:r>
              <a:endParaRPr b="0" sz="750">
                <a:solidFill>
                  <a:srgbClr val="2563EB"/>
                </a:solidFill>
                <a:latin typeface="JetBrains Mono ExtraBold"/>
                <a:ea typeface="JetBrains Mono ExtraBold"/>
                <a:cs typeface="JetBrains Mono ExtraBold"/>
                <a:sym typeface="JetBrains Mono ExtraBold"/>
              </a:endParaRPr>
            </a:p>
          </p:txBody>
        </p:sp>
        <p:sp>
          <p:nvSpPr>
            <p:cNvPr id="1336" name="Google Shape;1336;p44"/>
            <p:cNvSpPr txBox="1"/>
            <p:nvPr/>
          </p:nvSpPr>
          <p:spPr>
            <a:xfrm>
              <a:off x="381000" y="857250"/>
              <a:ext cx="3714900" cy="1428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250">
                  <a:solidFill>
                    <a:srgbClr val="0F172A"/>
                  </a:solidFill>
                  <a:latin typeface="Plus Jakarta Sans SemiBold"/>
                  <a:ea typeface="Plus Jakarta Sans SemiBold"/>
                  <a:cs typeface="Plus Jakarta Sans SemiBold"/>
                  <a:sym typeface="Plus Jakarta Sans SemiBold"/>
                </a:rPr>
                <a:t>Empower engineering velocity while maintaining complete repository governance, security controls, and resource optimization parameters.</a:t>
              </a:r>
              <a:endParaRPr b="0" sz="1250">
                <a:solidFill>
                  <a:srgbClr val="0F172A"/>
                </a:solidFill>
                <a:latin typeface="Plus Jakarta Sans SemiBold"/>
                <a:ea typeface="Plus Jakarta Sans SemiBold"/>
                <a:cs typeface="Plus Jakarta Sans SemiBold"/>
                <a:sym typeface="Plus Jakarta Sans SemiBold"/>
              </a:endParaRPr>
            </a:p>
          </p:txBody>
        </p:sp>
        <p:grpSp>
          <p:nvGrpSpPr>
            <p:cNvPr id="1337" name="Google Shape;1337;p44"/>
            <p:cNvGrpSpPr/>
            <p:nvPr/>
          </p:nvGrpSpPr>
          <p:grpSpPr>
            <a:xfrm>
              <a:off x="1285875" y="2476500"/>
              <a:ext cx="1924050" cy="190500"/>
              <a:chOff x="0" y="0"/>
              <a:chExt cx="1924050" cy="190500"/>
            </a:xfrm>
          </p:grpSpPr>
          <p:pic>
            <p:nvPicPr>
              <p:cNvPr id="1338" name="Google Shape;1338;p44"/>
              <p:cNvPicPr preferRelativeResize="0"/>
              <p:nvPr/>
            </p:nvPicPr>
            <p:blipFill rotWithShape="1">
              <a:blip r:embed="rId5">
                <a:alphaModFix/>
              </a:blip>
              <a:srcRect b="0" l="0" r="0" t="0"/>
              <a:stretch/>
            </p:blipFill>
            <p:spPr>
              <a:xfrm>
                <a:off x="0" y="28575"/>
                <a:ext cx="133500" cy="133500"/>
              </a:xfrm>
              <a:prstGeom prst="rect">
                <a:avLst/>
              </a:prstGeom>
              <a:noFill/>
              <a:ln>
                <a:noFill/>
              </a:ln>
            </p:spPr>
          </p:pic>
          <p:sp>
            <p:nvSpPr>
              <p:cNvPr id="1339" name="Google Shape;1339;p44"/>
              <p:cNvSpPr txBox="1"/>
              <p:nvPr/>
            </p:nvSpPr>
            <p:spPr>
              <a:xfrm>
                <a:off x="209550" y="0"/>
                <a:ext cx="1714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00">
                    <a:solidFill>
                      <a:srgbClr val="64748B"/>
                    </a:solidFill>
                    <a:latin typeface="JetBrains Mono"/>
                    <a:ea typeface="JetBrains Mono"/>
                    <a:cs typeface="JetBrains Mono"/>
                    <a:sym typeface="JetBrains Mono"/>
                  </a:rPr>
                  <a:t>SECURE CONTROL PLANE ACTIVE</a:t>
                </a:r>
                <a:endParaRPr b="1" sz="800">
                  <a:solidFill>
                    <a:srgbClr val="64748B"/>
                  </a:solidFill>
                  <a:latin typeface="JetBrains Mono"/>
                  <a:ea typeface="JetBrains Mono"/>
                  <a:cs typeface="JetBrains Mono"/>
                  <a:sym typeface="JetBrains Mono"/>
                </a:endParaRPr>
              </a:p>
            </p:txBody>
          </p:sp>
        </p:grpSp>
      </p:grpSp>
      <p:sp>
        <p:nvSpPr>
          <p:cNvPr id="1340" name="Google Shape;1340;p44"/>
          <p:cNvSpPr txBox="1"/>
          <p:nvPr/>
        </p:nvSpPr>
        <p:spPr>
          <a:xfrm>
            <a:off x="571500" y="381000"/>
            <a:ext cx="11601600" cy="3693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2400" u="none" cap="none" strike="noStrike">
                <a:solidFill>
                  <a:srgbClr val="0F172A"/>
                </a:solidFill>
                <a:latin typeface="Plus Jakarta Sans ExtraBold"/>
                <a:ea typeface="Plus Jakarta Sans ExtraBold"/>
                <a:cs typeface="Plus Jakarta Sans ExtraBold"/>
                <a:sym typeface="Plus Jakarta Sans ExtraBold"/>
              </a:rPr>
              <a:t>Unified Enterprise Blueprint</a:t>
            </a:r>
            <a:endParaRPr/>
          </a:p>
        </p:txBody>
      </p:sp>
      <p:sp>
        <p:nvSpPr>
          <p:cNvPr id="1341" name="Google Shape;1341;p44"/>
          <p:cNvSpPr/>
          <p:nvPr/>
        </p:nvSpPr>
        <p:spPr>
          <a:xfrm>
            <a:off x="571500" y="847725"/>
            <a:ext cx="11049000" cy="19200"/>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