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65445" y="3858290"/>
            <a:ext cx="2127199" cy="1501902"/>
          </a:xfrm>
          <a:custGeom>
            <a:avLst/>
            <a:gdLst/>
            <a:ahLst/>
            <a:cxnLst/>
            <a:rect l="0" t="0" r="0" b="0"/>
            <a:pathLst>
              <a:path w="2127199" h="1501902">
                <a:moveTo>
                  <a:pt x="0" y="695315"/>
                </a:moveTo>
                <a:lnTo>
                  <a:pt x="1195397" y="0"/>
                </a:lnTo>
                <a:lnTo>
                  <a:pt x="2127199" y="539877"/>
                </a:lnTo>
                <a:lnTo>
                  <a:pt x="460914" y="1501902"/>
                </a:lnTo>
                <a:lnTo>
                  <a:pt x="0" y="695315"/>
                </a:lnTo>
              </a:path>
            </a:pathLst>
          </a:custGeom>
          <a:solidFill>
            <a:srgbClr val="DE84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65445" y="3858290"/>
            <a:ext cx="2127195" cy="1501902"/>
          </a:xfrm>
          <a:custGeom>
            <a:avLst/>
            <a:gdLst/>
            <a:ahLst/>
            <a:cxnLst/>
            <a:rect l="0" t="0" r="0" b="0"/>
            <a:pathLst>
              <a:path w="2127195" h="1501902">
                <a:moveTo>
                  <a:pt x="0" y="695316"/>
                </a:moveTo>
                <a:lnTo>
                  <a:pt x="1195392" y="0"/>
                </a:lnTo>
                <a:lnTo>
                  <a:pt x="2127195" y="539878"/>
                </a:lnTo>
                <a:lnTo>
                  <a:pt x="460919" y="1501902"/>
                </a:lnTo>
                <a:lnTo>
                  <a:pt x="0" y="695316"/>
                </a:ln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60832" y="2783682"/>
            <a:ext cx="1666274" cy="1770411"/>
          </a:xfrm>
          <a:custGeom>
            <a:avLst/>
            <a:gdLst/>
            <a:ahLst/>
            <a:cxnLst/>
            <a:rect l="0" t="0" r="0" b="0"/>
            <a:pathLst>
              <a:path w="1666274" h="1770411">
                <a:moveTo>
                  <a:pt x="1199549" y="1770411"/>
                </a:moveTo>
                <a:lnTo>
                  <a:pt x="0" y="1076325"/>
                </a:lnTo>
                <a:lnTo>
                  <a:pt x="0" y="0"/>
                </a:lnTo>
                <a:lnTo>
                  <a:pt x="1666274" y="962025"/>
                </a:lnTo>
                <a:lnTo>
                  <a:pt x="1199549" y="1770411"/>
                </a:lnTo>
              </a:path>
            </a:pathLst>
          </a:custGeom>
          <a:solidFill>
            <a:srgbClr val="E0CB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60832" y="2783682"/>
            <a:ext cx="1666275" cy="1770416"/>
          </a:xfrm>
          <a:custGeom>
            <a:avLst/>
            <a:gdLst/>
            <a:ahLst/>
            <a:cxnLst/>
            <a:rect l="0" t="0" r="0" b="0"/>
            <a:pathLst>
              <a:path w="1666275" h="1770416">
                <a:moveTo>
                  <a:pt x="1199550" y="1770416"/>
                </a:moveTo>
                <a:lnTo>
                  <a:pt x="0" y="1076325"/>
                </a:lnTo>
                <a:lnTo>
                  <a:pt x="0" y="0"/>
                </a:lnTo>
                <a:lnTo>
                  <a:pt x="1666275" y="962025"/>
                </a:lnTo>
                <a:lnTo>
                  <a:pt x="1199550" y="1770416"/>
                </a:ln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27392" y="2478882"/>
            <a:ext cx="933450" cy="1924050"/>
          </a:xfrm>
          <a:custGeom>
            <a:avLst/>
            <a:gdLst/>
            <a:ahLst/>
            <a:cxnLst/>
            <a:rect l="0" t="0" r="0" b="0"/>
            <a:pathLst>
              <a:path w="933450" h="1924050">
                <a:moveTo>
                  <a:pt x="933450" y="0"/>
                </a:moveTo>
                <a:lnTo>
                  <a:pt x="933450" y="1381125"/>
                </a:lnTo>
                <a:lnTo>
                  <a:pt x="0" y="1924050"/>
                </a:lnTo>
                <a:lnTo>
                  <a:pt x="0" y="0"/>
                </a:lnTo>
                <a:lnTo>
                  <a:pt x="933450" y="0"/>
                </a:lnTo>
              </a:path>
            </a:pathLst>
          </a:custGeom>
          <a:solidFill>
            <a:srgbClr val="E55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27392" y="2478882"/>
            <a:ext cx="933450" cy="1924050"/>
          </a:xfrm>
          <a:custGeom>
            <a:avLst/>
            <a:gdLst/>
            <a:ahLst/>
            <a:cxnLst/>
            <a:rect l="0" t="0" r="0" b="0"/>
            <a:pathLst>
              <a:path w="933450" h="1924050">
                <a:moveTo>
                  <a:pt x="933450" y="0"/>
                </a:moveTo>
                <a:lnTo>
                  <a:pt x="933450" y="1381125"/>
                </a:lnTo>
                <a:lnTo>
                  <a:pt x="0" y="1924050"/>
                </a:lnTo>
                <a:lnTo>
                  <a:pt x="0" y="0"/>
                </a:lnTo>
                <a:lnTo>
                  <a:pt x="933450" y="0"/>
                </a:ln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15279" y="1497807"/>
            <a:ext cx="2431999" cy="3333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484848"/>
                </a:solidFill>
                <a:latin typeface="Roboto"/>
              </a:rPr>
              <a:t>AlertStudio User Roles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1542" y="2721769"/>
            <a:ext cx="557507" cy="2800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E55753"/>
                </a:solidFill>
                <a:latin typeface="Roboto"/>
              </a:rPr>
              <a:t>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041" y="3059907"/>
            <a:ext cx="1519980" cy="8001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484848"/>
                </a:solidFill>
                <a:latin typeface="Roboto"/>
              </a:rPr>
              <a:t>Maintains AlertStudio,
grants permissions, and
oversees agent
execution.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3441" y="3407569"/>
            <a:ext cx="861488" cy="2800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0CB15"/>
                </a:solidFill>
                <a:latin typeface="Roboto"/>
              </a:rPr>
              <a:t>Developer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3441" y="3745707"/>
            <a:ext cx="1401518" cy="8001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84848"/>
                </a:solidFill>
                <a:latin typeface="Roboto"/>
              </a:rPr>
              <a:t>Builds and previews
content, starts
workflows. Uses drag-
and-drop editor.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024" y="4207669"/>
            <a:ext cx="1272997" cy="2800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DE8431"/>
                </a:solidFill>
                <a:latin typeface="Roboto"/>
              </a:rPr>
              <a:t>Product 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0585" y="4545807"/>
            <a:ext cx="1358503" cy="8001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484848"/>
                </a:solidFill>
                <a:latin typeface="Roboto"/>
              </a:rPr>
              <a:t>Creates message
specifications and
reviews/approves
content or templates.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6691" y="2707482"/>
            <a:ext cx="449692" cy="447672"/>
          </a:xfrm>
          <a:custGeom>
            <a:avLst/>
            <a:gdLst/>
            <a:ahLst/>
            <a:cxnLst/>
            <a:rect l="0" t="0" r="0" b="0"/>
            <a:pathLst>
              <a:path w="449692" h="447672">
                <a:moveTo>
                  <a:pt x="310762" y="324459"/>
                </a:moveTo>
                <a:cubicBezTo>
                  <a:pt x="310762" y="339578"/>
                  <a:pt x="323018" y="351834"/>
                  <a:pt x="338137" y="351834"/>
                </a:cubicBezTo>
                <a:cubicBezTo>
                  <a:pt x="353256" y="351834"/>
                  <a:pt x="365512" y="339578"/>
                  <a:pt x="365512" y="324459"/>
                </a:cubicBezTo>
                <a:cubicBezTo>
                  <a:pt x="365512" y="309340"/>
                  <a:pt x="353256" y="297084"/>
                  <a:pt x="338137" y="297084"/>
                </a:cubicBezTo>
                <a:cubicBezTo>
                  <a:pt x="323018" y="297084"/>
                  <a:pt x="310762" y="309340"/>
                  <a:pt x="310762" y="324459"/>
                </a:cubicBezTo>
                <a:close/>
                <a:moveTo>
                  <a:pt x="0" y="0"/>
                </a:moveTo>
                <a:moveTo>
                  <a:pt x="361397" y="218522"/>
                </a:moveTo>
                <a:lnTo>
                  <a:pt x="369474" y="245040"/>
                </a:lnTo>
                <a:cubicBezTo>
                  <a:pt x="372229" y="254171"/>
                  <a:pt x="381592" y="259602"/>
                  <a:pt x="390886" y="257460"/>
                </a:cubicBezTo>
                <a:lnTo>
                  <a:pt x="417785" y="251231"/>
                </a:lnTo>
                <a:cubicBezTo>
                  <a:pt x="428242" y="248874"/>
                  <a:pt x="439015" y="253606"/>
                  <a:pt x="444354" y="262902"/>
                </a:cubicBezTo>
                <a:cubicBezTo>
                  <a:pt x="449692" y="272197"/>
                  <a:pt x="448351" y="283887"/>
                  <a:pt x="441045" y="291731"/>
                </a:cubicBezTo>
                <a:lnTo>
                  <a:pt x="422224" y="312019"/>
                </a:lnTo>
                <a:cubicBezTo>
                  <a:pt x="415784" y="319019"/>
                  <a:pt x="415784" y="329785"/>
                  <a:pt x="422224" y="336784"/>
                </a:cubicBezTo>
                <a:lnTo>
                  <a:pt x="441045" y="357073"/>
                </a:lnTo>
                <a:cubicBezTo>
                  <a:pt x="448351" y="364917"/>
                  <a:pt x="449692" y="376607"/>
                  <a:pt x="444354" y="385902"/>
                </a:cubicBezTo>
                <a:cubicBezTo>
                  <a:pt x="439015" y="395198"/>
                  <a:pt x="428242" y="399930"/>
                  <a:pt x="417785" y="397573"/>
                </a:cubicBezTo>
                <a:lnTo>
                  <a:pt x="390886" y="391344"/>
                </a:lnTo>
                <a:cubicBezTo>
                  <a:pt x="381596" y="389267"/>
                  <a:pt x="372283" y="394735"/>
                  <a:pt x="369569" y="403860"/>
                </a:cubicBezTo>
                <a:lnTo>
                  <a:pt x="361492" y="430377"/>
                </a:lnTo>
                <a:cubicBezTo>
                  <a:pt x="358405" y="440644"/>
                  <a:pt x="348953" y="447672"/>
                  <a:pt x="338232" y="447672"/>
                </a:cubicBezTo>
                <a:cubicBezTo>
                  <a:pt x="327512" y="447672"/>
                  <a:pt x="318059" y="440644"/>
                  <a:pt x="314972" y="430377"/>
                </a:cubicBezTo>
                <a:lnTo>
                  <a:pt x="306800" y="403860"/>
                </a:lnTo>
                <a:cubicBezTo>
                  <a:pt x="304045" y="394728"/>
                  <a:pt x="294682" y="389297"/>
                  <a:pt x="285388" y="391439"/>
                </a:cubicBezTo>
                <a:lnTo>
                  <a:pt x="258489" y="397668"/>
                </a:lnTo>
                <a:cubicBezTo>
                  <a:pt x="248032" y="400025"/>
                  <a:pt x="237259" y="395293"/>
                  <a:pt x="231920" y="385998"/>
                </a:cubicBezTo>
                <a:cubicBezTo>
                  <a:pt x="226582" y="376702"/>
                  <a:pt x="227923" y="365012"/>
                  <a:pt x="235229" y="357168"/>
                </a:cubicBezTo>
                <a:lnTo>
                  <a:pt x="254050" y="336880"/>
                </a:lnTo>
                <a:cubicBezTo>
                  <a:pt x="260490" y="329881"/>
                  <a:pt x="260490" y="319114"/>
                  <a:pt x="254050" y="312115"/>
                </a:cubicBezTo>
                <a:lnTo>
                  <a:pt x="235229" y="291826"/>
                </a:lnTo>
                <a:cubicBezTo>
                  <a:pt x="227923" y="283982"/>
                  <a:pt x="226582" y="272292"/>
                  <a:pt x="231920" y="262997"/>
                </a:cubicBezTo>
                <a:cubicBezTo>
                  <a:pt x="237259" y="253701"/>
                  <a:pt x="248032" y="248969"/>
                  <a:pt x="258489" y="251326"/>
                </a:cubicBezTo>
                <a:lnTo>
                  <a:pt x="285388" y="257556"/>
                </a:lnTo>
                <a:cubicBezTo>
                  <a:pt x="294682" y="259697"/>
                  <a:pt x="304045" y="254266"/>
                  <a:pt x="306800" y="245135"/>
                </a:cubicBezTo>
                <a:lnTo>
                  <a:pt x="314877" y="218617"/>
                </a:lnTo>
                <a:cubicBezTo>
                  <a:pt x="317943" y="208344"/>
                  <a:pt x="327381" y="201297"/>
                  <a:pt x="338102" y="201275"/>
                </a:cubicBezTo>
                <a:cubicBezTo>
                  <a:pt x="348822" y="201253"/>
                  <a:pt x="358289" y="208262"/>
                  <a:pt x="361397" y="218522"/>
                </a:cubicBezTo>
                <a:close/>
                <a:moveTo>
                  <a:pt x="200025" y="314325"/>
                </a:moveTo>
                <a:lnTo>
                  <a:pt x="9525" y="314325"/>
                </a:lnTo>
                <a:cubicBezTo>
                  <a:pt x="9782" y="292560"/>
                  <a:pt x="14312" y="271058"/>
                  <a:pt x="22860" y="251040"/>
                </a:cubicBezTo>
                <a:cubicBezTo>
                  <a:pt x="32194" y="232352"/>
                  <a:pt x="71227" y="219398"/>
                  <a:pt x="120224" y="201263"/>
                </a:cubicBezTo>
                <a:cubicBezTo>
                  <a:pt x="133464" y="196348"/>
                  <a:pt x="131292" y="161772"/>
                  <a:pt x="125425" y="155314"/>
                </a:cubicBezTo>
                <a:cubicBezTo>
                  <a:pt x="106494" y="134845"/>
                  <a:pt x="97207" y="107265"/>
                  <a:pt x="99898" y="79514"/>
                </a:cubicBezTo>
                <a:cubicBezTo>
                  <a:pt x="98200" y="61860"/>
                  <a:pt x="103917" y="44295"/>
                  <a:pt x="115680" y="31021"/>
                </a:cubicBezTo>
                <a:cubicBezTo>
                  <a:pt x="127443" y="17748"/>
                  <a:pt x="144194" y="9961"/>
                  <a:pt x="161925" y="9525"/>
                </a:cubicBezTo>
                <a:cubicBezTo>
                  <a:pt x="179655" y="9961"/>
                  <a:pt x="196406" y="17748"/>
                  <a:pt x="208169" y="31021"/>
                </a:cubicBezTo>
                <a:cubicBezTo>
                  <a:pt x="219932" y="44295"/>
                  <a:pt x="225649" y="61860"/>
                  <a:pt x="223951" y="79514"/>
                </a:cubicBezTo>
                <a:cubicBezTo>
                  <a:pt x="226663" y="107254"/>
                  <a:pt x="217403" y="134832"/>
                  <a:pt x="198501" y="155314"/>
                </a:cubicBezTo>
                <a:cubicBezTo>
                  <a:pt x="192633" y="161772"/>
                  <a:pt x="190461" y="196348"/>
                  <a:pt x="203701" y="201263"/>
                </a:cubicBezTo>
                <a:cubicBezTo>
                  <a:pt x="212350" y="204463"/>
                  <a:pt x="220675" y="207492"/>
                  <a:pt x="228600" y="210445"/>
                </a:cubicBez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98116" y="3493294"/>
            <a:ext cx="438150" cy="257175"/>
          </a:xfrm>
          <a:custGeom>
            <a:avLst/>
            <a:gdLst/>
            <a:ahLst/>
            <a:cxnLst/>
            <a:rect l="0" t="0" r="0" b="0"/>
            <a:pathLst>
              <a:path w="438150" h="257175">
                <a:moveTo>
                  <a:pt x="438150" y="66675"/>
                </a:moveTo>
                <a:lnTo>
                  <a:pt x="438150" y="200025"/>
                </a:lnTo>
                <a:lnTo>
                  <a:pt x="381000" y="219075"/>
                </a:lnTo>
                <a:lnTo>
                  <a:pt x="381000" y="47625"/>
                </a:lnTo>
                <a:lnTo>
                  <a:pt x="314325" y="28575"/>
                </a:lnTo>
                <a:lnTo>
                  <a:pt x="314325" y="238125"/>
                </a:lnTo>
                <a:lnTo>
                  <a:pt x="257175" y="257175"/>
                </a:lnTo>
                <a:lnTo>
                  <a:pt x="257175" y="9525"/>
                </a:lnTo>
                <a:lnTo>
                  <a:pt x="219075" y="0"/>
                </a:lnTo>
                <a:lnTo>
                  <a:pt x="180975" y="9525"/>
                </a:lnTo>
                <a:lnTo>
                  <a:pt x="180975" y="257175"/>
                </a:lnTo>
                <a:lnTo>
                  <a:pt x="123825" y="238125"/>
                </a:lnTo>
                <a:lnTo>
                  <a:pt x="123825" y="28575"/>
                </a:lnTo>
                <a:lnTo>
                  <a:pt x="57150" y="47625"/>
                </a:lnTo>
                <a:lnTo>
                  <a:pt x="57150" y="219075"/>
                </a:lnTo>
                <a:lnTo>
                  <a:pt x="0" y="200025"/>
                </a:lnTo>
                <a:lnTo>
                  <a:pt x="0" y="66675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526216" y="4202907"/>
            <a:ext cx="438150" cy="438169"/>
          </a:xfrm>
          <a:custGeom>
            <a:avLst/>
            <a:gdLst/>
            <a:ahLst/>
            <a:cxnLst/>
            <a:rect l="0" t="0" r="0" b="0"/>
            <a:pathLst>
              <a:path w="438150" h="438169">
                <a:moveTo>
                  <a:pt x="190500" y="438150"/>
                </a:moveTo>
                <a:lnTo>
                  <a:pt x="19050" y="438150"/>
                </a:lnTo>
                <a:cubicBezTo>
                  <a:pt x="8528" y="438150"/>
                  <a:pt x="0" y="429621"/>
                  <a:pt x="0" y="419100"/>
                </a:cubicBezTo>
                <a:lnTo>
                  <a:pt x="0" y="19050"/>
                </a:lnTo>
                <a:cubicBezTo>
                  <a:pt x="0" y="8528"/>
                  <a:pt x="8528" y="0"/>
                  <a:pt x="19050" y="0"/>
                </a:cubicBezTo>
                <a:lnTo>
                  <a:pt x="272281" y="0"/>
                </a:lnTo>
                <a:cubicBezTo>
                  <a:pt x="277336" y="6"/>
                  <a:pt x="282181" y="2020"/>
                  <a:pt x="285750" y="5600"/>
                </a:cubicBezTo>
                <a:lnTo>
                  <a:pt x="356368" y="76200"/>
                </a:lnTo>
                <a:cubicBezTo>
                  <a:pt x="359941" y="79771"/>
                  <a:pt x="361948" y="84616"/>
                  <a:pt x="361950" y="89668"/>
                </a:cubicBezTo>
                <a:lnTo>
                  <a:pt x="361950" y="152400"/>
                </a:lnTo>
                <a:moveTo>
                  <a:pt x="162725" y="285368"/>
                </a:moveTo>
                <a:cubicBezTo>
                  <a:pt x="113931" y="280868"/>
                  <a:pt x="76513" y="240081"/>
                  <a:pt x="76225" y="191081"/>
                </a:cubicBezTo>
                <a:cubicBezTo>
                  <a:pt x="75937" y="142081"/>
                  <a:pt x="112873" y="100857"/>
                  <a:pt x="161610" y="95783"/>
                </a:cubicBezTo>
                <a:cubicBezTo>
                  <a:pt x="210348" y="90709"/>
                  <a:pt x="254983" y="123441"/>
                  <a:pt x="264795" y="171450"/>
                </a:cubicBezTo>
                <a:moveTo>
                  <a:pt x="209550" y="190519"/>
                </a:moveTo>
                <a:lnTo>
                  <a:pt x="171450" y="190519"/>
                </a:lnTo>
                <a:lnTo>
                  <a:pt x="171450" y="133369"/>
                </a:lnTo>
                <a:moveTo>
                  <a:pt x="209550" y="323869"/>
                </a:moveTo>
                <a:cubicBezTo>
                  <a:pt x="209550" y="386995"/>
                  <a:pt x="260723" y="438169"/>
                  <a:pt x="323850" y="438169"/>
                </a:cubicBezTo>
                <a:cubicBezTo>
                  <a:pt x="386976" y="438169"/>
                  <a:pt x="438150" y="386995"/>
                  <a:pt x="438150" y="323869"/>
                </a:cubicBezTo>
                <a:cubicBezTo>
                  <a:pt x="438150" y="260742"/>
                  <a:pt x="386976" y="209569"/>
                  <a:pt x="323850" y="209569"/>
                </a:cubicBezTo>
                <a:cubicBezTo>
                  <a:pt x="260723" y="209569"/>
                  <a:pt x="209550" y="260742"/>
                  <a:pt x="209550" y="323869"/>
                </a:cubicBezTo>
                <a:close/>
                <a:moveTo>
                  <a:pt x="374789" y="290626"/>
                </a:moveTo>
                <a:lnTo>
                  <a:pt x="319449" y="364426"/>
                </a:lnTo>
                <a:cubicBezTo>
                  <a:pt x="316959" y="367737"/>
                  <a:pt x="313156" y="369807"/>
                  <a:pt x="309024" y="370099"/>
                </a:cubicBezTo>
                <a:cubicBezTo>
                  <a:pt x="304891" y="370391"/>
                  <a:pt x="300834" y="368878"/>
                  <a:pt x="297903" y="365950"/>
                </a:cubicBezTo>
                <a:lnTo>
                  <a:pt x="269328" y="337375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